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9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9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9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9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9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9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9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9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9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00.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01.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0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0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0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105.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0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0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0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09.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10.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1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112.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113.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114.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115.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116.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117.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118.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119.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120.xml" ContentType="application/vnd.openxmlformats-officedocument.presentationml.notesSlide+xml"/>
  <Override PartName="/ppt/tags/tag70.xml" ContentType="application/vnd.openxmlformats-officedocument.presentationml.tags+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7" r:id="rId2"/>
    <p:sldMasterId id="2147483683" r:id="rId3"/>
  </p:sldMasterIdLst>
  <p:notesMasterIdLst>
    <p:notesMasterId r:id="rId196"/>
  </p:notesMasterIdLst>
  <p:handoutMasterIdLst>
    <p:handoutMasterId r:id="rId197"/>
  </p:handoutMasterIdLst>
  <p:sldIdLst>
    <p:sldId id="256" r:id="rId4"/>
    <p:sldId id="259" r:id="rId5"/>
    <p:sldId id="322" r:id="rId6"/>
    <p:sldId id="342" r:id="rId7"/>
    <p:sldId id="258" r:id="rId8"/>
    <p:sldId id="330" r:id="rId9"/>
    <p:sldId id="409" r:id="rId10"/>
    <p:sldId id="405" r:id="rId11"/>
    <p:sldId id="334" r:id="rId12"/>
    <p:sldId id="331" r:id="rId13"/>
    <p:sldId id="332" r:id="rId14"/>
    <p:sldId id="333" r:id="rId15"/>
    <p:sldId id="336" r:id="rId16"/>
    <p:sldId id="339" r:id="rId17"/>
    <p:sldId id="340" r:id="rId18"/>
    <p:sldId id="341" r:id="rId19"/>
    <p:sldId id="343" r:id="rId20"/>
    <p:sldId id="344" r:id="rId21"/>
    <p:sldId id="345" r:id="rId22"/>
    <p:sldId id="346" r:id="rId23"/>
    <p:sldId id="349" r:id="rId24"/>
    <p:sldId id="350" r:id="rId25"/>
    <p:sldId id="351" r:id="rId26"/>
    <p:sldId id="353" r:id="rId27"/>
    <p:sldId id="352" r:id="rId28"/>
    <p:sldId id="355" r:id="rId29"/>
    <p:sldId id="356" r:id="rId30"/>
    <p:sldId id="347" r:id="rId31"/>
    <p:sldId id="348"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 id="374" r:id="rId47"/>
    <p:sldId id="393" r:id="rId48"/>
    <p:sldId id="375" r:id="rId49"/>
    <p:sldId id="377" r:id="rId50"/>
    <p:sldId id="378" r:id="rId51"/>
    <p:sldId id="379" r:id="rId52"/>
    <p:sldId id="380" r:id="rId53"/>
    <p:sldId id="381" r:id="rId54"/>
    <p:sldId id="382" r:id="rId55"/>
    <p:sldId id="383" r:id="rId56"/>
    <p:sldId id="384" r:id="rId57"/>
    <p:sldId id="385" r:id="rId58"/>
    <p:sldId id="386" r:id="rId59"/>
    <p:sldId id="389" r:id="rId60"/>
    <p:sldId id="390" r:id="rId61"/>
    <p:sldId id="391" r:id="rId62"/>
    <p:sldId id="392" r:id="rId63"/>
    <p:sldId id="387" r:id="rId64"/>
    <p:sldId id="388" r:id="rId65"/>
    <p:sldId id="410" r:id="rId66"/>
    <p:sldId id="394" r:id="rId67"/>
    <p:sldId id="395" r:id="rId68"/>
    <p:sldId id="411" r:id="rId69"/>
    <p:sldId id="425" r:id="rId70"/>
    <p:sldId id="413" r:id="rId71"/>
    <p:sldId id="414" r:id="rId72"/>
    <p:sldId id="412" r:id="rId73"/>
    <p:sldId id="415" r:id="rId74"/>
    <p:sldId id="416" r:id="rId75"/>
    <p:sldId id="417" r:id="rId76"/>
    <p:sldId id="418" r:id="rId77"/>
    <p:sldId id="419" r:id="rId78"/>
    <p:sldId id="421" r:id="rId79"/>
    <p:sldId id="420" r:id="rId80"/>
    <p:sldId id="424" r:id="rId81"/>
    <p:sldId id="423" r:id="rId82"/>
    <p:sldId id="422" r:id="rId83"/>
    <p:sldId id="427" r:id="rId84"/>
    <p:sldId id="426" r:id="rId85"/>
    <p:sldId id="429" r:id="rId86"/>
    <p:sldId id="430" r:id="rId87"/>
    <p:sldId id="431" r:id="rId88"/>
    <p:sldId id="432" r:id="rId89"/>
    <p:sldId id="433" r:id="rId90"/>
    <p:sldId id="428" r:id="rId91"/>
    <p:sldId id="435" r:id="rId92"/>
    <p:sldId id="436" r:id="rId93"/>
    <p:sldId id="434" r:id="rId94"/>
    <p:sldId id="438" r:id="rId95"/>
    <p:sldId id="437" r:id="rId96"/>
    <p:sldId id="440" r:id="rId97"/>
    <p:sldId id="442" r:id="rId98"/>
    <p:sldId id="443" r:id="rId99"/>
    <p:sldId id="445" r:id="rId100"/>
    <p:sldId id="444" r:id="rId101"/>
    <p:sldId id="439" r:id="rId102"/>
    <p:sldId id="446" r:id="rId103"/>
    <p:sldId id="447" r:id="rId104"/>
    <p:sldId id="399" r:id="rId105"/>
    <p:sldId id="400" r:id="rId106"/>
    <p:sldId id="402" r:id="rId107"/>
    <p:sldId id="403" r:id="rId108"/>
    <p:sldId id="448" r:id="rId109"/>
    <p:sldId id="449" r:id="rId110"/>
    <p:sldId id="450" r:id="rId111"/>
    <p:sldId id="451" r:id="rId112"/>
    <p:sldId id="452" r:id="rId113"/>
    <p:sldId id="453" r:id="rId114"/>
    <p:sldId id="462" r:id="rId115"/>
    <p:sldId id="463" r:id="rId116"/>
    <p:sldId id="464" r:id="rId117"/>
    <p:sldId id="465" r:id="rId118"/>
    <p:sldId id="466" r:id="rId119"/>
    <p:sldId id="467" r:id="rId120"/>
    <p:sldId id="468" r:id="rId121"/>
    <p:sldId id="469" r:id="rId122"/>
    <p:sldId id="470" r:id="rId123"/>
    <p:sldId id="471" r:id="rId124"/>
    <p:sldId id="472" r:id="rId125"/>
    <p:sldId id="473" r:id="rId126"/>
    <p:sldId id="474" r:id="rId127"/>
    <p:sldId id="475" r:id="rId128"/>
    <p:sldId id="476" r:id="rId129"/>
    <p:sldId id="477" r:id="rId130"/>
    <p:sldId id="478" r:id="rId131"/>
    <p:sldId id="479" r:id="rId132"/>
    <p:sldId id="480" r:id="rId133"/>
    <p:sldId id="481" r:id="rId134"/>
    <p:sldId id="482" r:id="rId135"/>
    <p:sldId id="483" r:id="rId136"/>
    <p:sldId id="484" r:id="rId137"/>
    <p:sldId id="485" r:id="rId138"/>
    <p:sldId id="486" r:id="rId139"/>
    <p:sldId id="487" r:id="rId140"/>
    <p:sldId id="488" r:id="rId141"/>
    <p:sldId id="489" r:id="rId142"/>
    <p:sldId id="490" r:id="rId143"/>
    <p:sldId id="491" r:id="rId144"/>
    <p:sldId id="492" r:id="rId145"/>
    <p:sldId id="494" r:id="rId146"/>
    <p:sldId id="493" r:id="rId147"/>
    <p:sldId id="495" r:id="rId148"/>
    <p:sldId id="496" r:id="rId149"/>
    <p:sldId id="497" r:id="rId150"/>
    <p:sldId id="498" r:id="rId151"/>
    <p:sldId id="324" r:id="rId152"/>
    <p:sldId id="260" r:id="rId153"/>
    <p:sldId id="454" r:id="rId154"/>
    <p:sldId id="455" r:id="rId155"/>
    <p:sldId id="456" r:id="rId156"/>
    <p:sldId id="458" r:id="rId157"/>
    <p:sldId id="459" r:id="rId158"/>
    <p:sldId id="457" r:id="rId159"/>
    <p:sldId id="359" r:id="rId160"/>
    <p:sldId id="357" r:id="rId161"/>
    <p:sldId id="323" r:id="rId162"/>
    <p:sldId id="325" r:id="rId163"/>
    <p:sldId id="404" r:id="rId164"/>
    <p:sldId id="358" r:id="rId165"/>
    <p:sldId id="328" r:id="rId166"/>
    <p:sldId id="257" r:id="rId167"/>
    <p:sldId id="329" r:id="rId168"/>
    <p:sldId id="327" r:id="rId169"/>
    <p:sldId id="320" r:id="rId170"/>
    <p:sldId id="261" r:id="rId171"/>
    <p:sldId id="265" r:id="rId172"/>
    <p:sldId id="264" r:id="rId173"/>
    <p:sldId id="319" r:id="rId174"/>
    <p:sldId id="266" r:id="rId175"/>
    <p:sldId id="268" r:id="rId176"/>
    <p:sldId id="270" r:id="rId177"/>
    <p:sldId id="271" r:id="rId178"/>
    <p:sldId id="272" r:id="rId179"/>
    <p:sldId id="273" r:id="rId180"/>
    <p:sldId id="274" r:id="rId181"/>
    <p:sldId id="275" r:id="rId182"/>
    <p:sldId id="276" r:id="rId183"/>
    <p:sldId id="277" r:id="rId184"/>
    <p:sldId id="279" r:id="rId185"/>
    <p:sldId id="315" r:id="rId186"/>
    <p:sldId id="316" r:id="rId187"/>
    <p:sldId id="317" r:id="rId188"/>
    <p:sldId id="318" r:id="rId189"/>
    <p:sldId id="312" r:id="rId190"/>
    <p:sldId id="313" r:id="rId191"/>
    <p:sldId id="286" r:id="rId192"/>
    <p:sldId id="338" r:id="rId193"/>
    <p:sldId id="287" r:id="rId194"/>
    <p:sldId id="314" r:id="rId195"/>
  </p:sldIdLst>
  <p:sldSz cx="12192000" cy="6858000"/>
  <p:notesSz cx="6858000" cy="9144000"/>
  <p:custDataLst>
    <p:tags r:id="rId19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60000" autoAdjust="0"/>
  </p:normalViewPr>
  <p:slideViewPr>
    <p:cSldViewPr snapToGrid="0">
      <p:cViewPr varScale="1">
        <p:scale>
          <a:sx n="68" d="100"/>
          <a:sy n="68" d="100"/>
        </p:scale>
        <p:origin x="2118" y="-84"/>
      </p:cViewPr>
      <p:guideLst/>
    </p:cSldViewPr>
  </p:slideViewPr>
  <p:outlineViewPr>
    <p:cViewPr>
      <p:scale>
        <a:sx n="33" d="100"/>
        <a:sy n="33" d="100"/>
      </p:scale>
      <p:origin x="0" y="-16158"/>
    </p:cViewPr>
  </p:outlineViewPr>
  <p:notesTextViewPr>
    <p:cViewPr>
      <p:scale>
        <a:sx n="1" d="1"/>
        <a:sy n="1" d="1"/>
      </p:scale>
      <p:origin x="0" y="0"/>
    </p:cViewPr>
  </p:notesTextViewPr>
  <p:sorterViewPr>
    <p:cViewPr>
      <p:scale>
        <a:sx n="75" d="100"/>
        <a:sy n="75" d="100"/>
      </p:scale>
      <p:origin x="0" y="-22116"/>
    </p:cViewPr>
  </p:sorterViewPr>
  <p:notesViewPr>
    <p:cSldViewPr snapToGrid="0">
      <p:cViewPr varScale="1">
        <p:scale>
          <a:sx n="86" d="100"/>
          <a:sy n="86" d="100"/>
        </p:scale>
        <p:origin x="3864" y="102"/>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196" Type="http://schemas.openxmlformats.org/officeDocument/2006/relationships/notesMaster" Target="notesMasters/notesMaster1.xml"/><Relationship Id="rId200" Type="http://schemas.openxmlformats.org/officeDocument/2006/relationships/viewProps" Target="view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144" Type="http://schemas.openxmlformats.org/officeDocument/2006/relationships/slide" Target="slides/slide141.xml"/><Relationship Id="rId149" Type="http://schemas.openxmlformats.org/officeDocument/2006/relationships/slide" Target="slides/slide14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160" Type="http://schemas.openxmlformats.org/officeDocument/2006/relationships/slide" Target="slides/slide157.xml"/><Relationship Id="rId165" Type="http://schemas.openxmlformats.org/officeDocument/2006/relationships/slide" Target="slides/slide162.xml"/><Relationship Id="rId181" Type="http://schemas.openxmlformats.org/officeDocument/2006/relationships/slide" Target="slides/slide178.xml"/><Relationship Id="rId186" Type="http://schemas.openxmlformats.org/officeDocument/2006/relationships/slide" Target="slides/slide183.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slide" Target="slides/slide152.xml"/><Relationship Id="rId171" Type="http://schemas.openxmlformats.org/officeDocument/2006/relationships/slide" Target="slides/slide168.xml"/><Relationship Id="rId176" Type="http://schemas.openxmlformats.org/officeDocument/2006/relationships/slide" Target="slides/slide173.xml"/><Relationship Id="rId192" Type="http://schemas.openxmlformats.org/officeDocument/2006/relationships/slide" Target="slides/slide189.xml"/><Relationship Id="rId197" Type="http://schemas.openxmlformats.org/officeDocument/2006/relationships/handoutMaster" Target="handoutMasters/handoutMaster1.xml"/><Relationship Id="rId201" Type="http://schemas.openxmlformats.org/officeDocument/2006/relationships/theme" Target="theme/theme1.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61" Type="http://schemas.openxmlformats.org/officeDocument/2006/relationships/slide" Target="slides/slide158.xml"/><Relationship Id="rId166" Type="http://schemas.openxmlformats.org/officeDocument/2006/relationships/slide" Target="slides/slide163.xml"/><Relationship Id="rId182" Type="http://schemas.openxmlformats.org/officeDocument/2006/relationships/slide" Target="slides/slide179.xml"/><Relationship Id="rId187" Type="http://schemas.openxmlformats.org/officeDocument/2006/relationships/slide" Target="slides/slide184.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tags" Target="tags/tag1.xml"/><Relationship Id="rId172" Type="http://schemas.openxmlformats.org/officeDocument/2006/relationships/slide" Target="slides/slide169.xml"/><Relationship Id="rId193" Type="http://schemas.openxmlformats.org/officeDocument/2006/relationships/slide" Target="slides/slide190.xml"/><Relationship Id="rId202" Type="http://schemas.openxmlformats.org/officeDocument/2006/relationships/tableStyles" Target="tableStyle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183" Type="http://schemas.openxmlformats.org/officeDocument/2006/relationships/slide" Target="slides/slide180.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199"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189" Type="http://schemas.openxmlformats.org/officeDocument/2006/relationships/slide" Target="slides/slide186.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190" Type="http://schemas.openxmlformats.org/officeDocument/2006/relationships/slide" Target="slides/slide187.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A078E92-7961-90C2-2A96-CDD482D5D4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7A224242-44D3-9C94-884C-8B70116A09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628A69F-41C2-4901-A9E7-3ADC26C3C7CD}" type="datetimeFigureOut">
              <a:rPr lang="fr-FR" smtClean="0"/>
              <a:t>06/10/2026</a:t>
            </a:fld>
            <a:endParaRPr lang="fr-FR"/>
          </a:p>
        </p:txBody>
      </p:sp>
      <p:sp>
        <p:nvSpPr>
          <p:cNvPr id="4" name="Espace réservé du pied de page 3">
            <a:extLst>
              <a:ext uri="{FF2B5EF4-FFF2-40B4-BE49-F238E27FC236}">
                <a16:creationId xmlns:a16="http://schemas.microsoft.com/office/drawing/2014/main" id="{61506AAC-02D0-FABB-5BEF-DD2175F032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Tree>
    <p:extLst>
      <p:ext uri="{BB962C8B-B14F-4D97-AF65-F5344CB8AC3E}">
        <p14:creationId xmlns:p14="http://schemas.microsoft.com/office/powerpoint/2010/main" val="2647228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FED54-D5B0-44A4-B6B4-7581747E578D}" type="datetimeFigureOut">
              <a:rPr lang="fr-FR" smtClean="0"/>
              <a:t>06/10/2026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566C4-01F3-4123-8288-ED37D6941B76}" type="slidenum">
              <a:rPr lang="fr-FR" smtClean="0"/>
              <a:t>‹N°›</a:t>
            </a:fld>
            <a:endParaRPr lang="fr-FR"/>
          </a:p>
        </p:txBody>
      </p:sp>
    </p:spTree>
    <p:extLst>
      <p:ext uri="{BB962C8B-B14F-4D97-AF65-F5344CB8AC3E}">
        <p14:creationId xmlns:p14="http://schemas.microsoft.com/office/powerpoint/2010/main" val="306354580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115753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buNone/>
            </a:pPr>
            <a:r>
              <a:rPr lang="fr-FR" dirty="0"/>
              <a:t>Imaginez un assistant absolument brillant, qui a lu des millions de livres, d'articles, de contrats, de rapports d'expertise, de forums de discussion — bref, qui a lu une bibliothèque quasi infinie. </a:t>
            </a:r>
          </a:p>
          <a:p>
            <a:pPr marL="171450" indent="-171450" rtl="0">
              <a:buFont typeface="Arial" panose="020B0604020202020204" pitchFamily="34" charset="0"/>
              <a:buChar char="•"/>
            </a:pPr>
            <a:r>
              <a:rPr lang="fr-FR" dirty="0"/>
              <a:t>Il connaît un nombre incalculable de sujets, </a:t>
            </a:r>
          </a:p>
          <a:p>
            <a:pPr marL="171450" indent="-171450" rtl="0">
              <a:buFont typeface="Arial" panose="020B0604020202020204" pitchFamily="34" charset="0"/>
              <a:buChar char="•"/>
            </a:pPr>
            <a:r>
              <a:rPr lang="fr-FR" dirty="0"/>
              <a:t>Il sait s'exprimer avec beaucoup d’aisance, </a:t>
            </a:r>
          </a:p>
          <a:p>
            <a:pPr marL="171450" indent="-171450" rtl="0">
              <a:buFont typeface="Arial" panose="020B0604020202020204" pitchFamily="34" charset="0"/>
              <a:buChar char="•"/>
            </a:pPr>
            <a:r>
              <a:rPr lang="fr-FR" dirty="0"/>
              <a:t>Il peut vous parler d'immobilier, de droit, de médecine ou de cuisine avec la même fluidité.</a:t>
            </a:r>
          </a:p>
          <a:p>
            <a:pPr rtl="0">
              <a:buNone/>
            </a:pPr>
            <a:endParaRPr lang="fr-FR" dirty="0"/>
          </a:p>
          <a:p>
            <a:pPr rtl="0">
              <a:buNone/>
            </a:pPr>
            <a:r>
              <a:rPr lang="fr-FR" dirty="0"/>
              <a:t>Mais voilà le hic : cet assistant n'a </a:t>
            </a:r>
            <a:r>
              <a:rPr lang="fr-FR" b="1" dirty="0"/>
              <a:t>jamais mis les pieds dehors</a:t>
            </a:r>
            <a:r>
              <a:rPr lang="fr-FR" dirty="0"/>
              <a:t>. </a:t>
            </a:r>
          </a:p>
          <a:p>
            <a:pPr rtl="0">
              <a:buNone/>
            </a:pPr>
            <a:endParaRPr lang="fr-FR" dirty="0"/>
          </a:p>
          <a:p>
            <a:pPr rtl="0">
              <a:buNone/>
            </a:pPr>
            <a:r>
              <a:rPr lang="fr-FR" dirty="0"/>
              <a:t>Il n'a jamais visité un bien, </a:t>
            </a:r>
          </a:p>
          <a:p>
            <a:pPr rtl="0">
              <a:buNone/>
            </a:pPr>
            <a:r>
              <a:rPr lang="fr-FR" dirty="0"/>
              <a:t>jamais serré la main d'un client, </a:t>
            </a:r>
          </a:p>
          <a:p>
            <a:pPr rtl="0">
              <a:buNone/>
            </a:pPr>
            <a:r>
              <a:rPr lang="fr-FR" dirty="0"/>
              <a:t>jamais senti l'odeur d'humidité dans une cave ou remarqué la fissure suspecte au-dessus d'une porte. Il n'a pas de vécu, pas d'intuition de terrain, pas de "sixième sens" du métier.</a:t>
            </a:r>
          </a:p>
          <a:p>
            <a:pPr rtl="0">
              <a:buNone/>
            </a:pPr>
            <a:endParaRPr lang="fr-FR" dirty="0"/>
          </a:p>
          <a:p>
            <a:pPr rtl="0">
              <a:buNone/>
            </a:pPr>
            <a:r>
              <a:rPr lang="fr-FR" dirty="0"/>
              <a:t>C'est exactement ça, un modèle de langage : </a:t>
            </a:r>
            <a:r>
              <a:rPr lang="fr-FR" b="1" dirty="0"/>
              <a:t>une culture immense, mais sans expérience du réel</a:t>
            </a:r>
            <a:r>
              <a:rPr lang="fr-FR" dirty="0"/>
              <a:t>. Il devine le mot le plus probable à écrire ensuite, un peu comme un joueur d'échecs surdoué qui prédit les coups suivants — sauf qu'ici, le jeu, c'est le langage.</a:t>
            </a:r>
          </a:p>
          <a:p>
            <a:endParaRPr lang="fr-FR" dirty="0"/>
          </a:p>
          <a:p>
            <a:endParaRPr lang="fr-FR" dirty="0"/>
          </a:p>
          <a:p>
            <a:r>
              <a:rPr lang="fr-FR" dirty="0"/>
              <a:t>Qu'est-ce qu'un LLM ?</a:t>
            </a:r>
          </a:p>
          <a:p>
            <a:pPr lvl="0"/>
            <a:r>
              <a:rPr lang="fr-FR" b="1" dirty="0"/>
              <a:t>Définition</a:t>
            </a:r>
            <a:r>
              <a:rPr lang="fr-FR" dirty="0"/>
              <a:t> : Le sigle signifie </a:t>
            </a:r>
            <a:r>
              <a:rPr lang="fr-FR" i="1" dirty="0"/>
              <a:t>Large </a:t>
            </a:r>
            <a:r>
              <a:rPr lang="fr-FR" i="1" dirty="0" err="1"/>
              <a:t>Language</a:t>
            </a:r>
            <a:r>
              <a:rPr lang="fr-FR" i="1" dirty="0"/>
              <a:t> Model</a:t>
            </a:r>
            <a:r>
              <a:rPr lang="fr-FR" dirty="0"/>
              <a:t> en anglais. C'est un modèle d'apprentissage profond (</a:t>
            </a:r>
            <a:r>
              <a:rPr lang="fr-FR" i="1" dirty="0"/>
              <a:t>Deep </a:t>
            </a:r>
            <a:r>
              <a:rPr lang="fr-FR" i="1" dirty="0" err="1"/>
              <a:t>learning</a:t>
            </a:r>
            <a:r>
              <a:rPr lang="fr-FR" dirty="0"/>
              <a:t>) qui utilise des milliards de paramètres numériques.</a:t>
            </a:r>
          </a:p>
          <a:p>
            <a:pPr lvl="0"/>
            <a:r>
              <a:rPr lang="fr-FR" b="1" dirty="0"/>
              <a:t>Langage naturel</a:t>
            </a:r>
            <a:r>
              <a:rPr lang="fr-FR" dirty="0"/>
              <a:t> : Il traite les langues parlées par les humains (comme le français) et non les langages de programmation rigides</a:t>
            </a:r>
          </a:p>
          <a:p>
            <a:r>
              <a:rPr lang="fr-FR" dirty="0"/>
              <a:t>Comment ça fonctionne ?</a:t>
            </a:r>
          </a:p>
          <a:p>
            <a:pPr lvl="0"/>
            <a:r>
              <a:rPr lang="fr-FR" b="1" dirty="0"/>
              <a:t>Entraînement massif</a:t>
            </a:r>
            <a:r>
              <a:rPr lang="fr-FR" dirty="0"/>
              <a:t> : Le modèle analyse d'immenses quantités de textes provenant d'Internet, de livres et d'articles.</a:t>
            </a:r>
          </a:p>
          <a:p>
            <a:pPr lvl="0"/>
            <a:r>
              <a:rPr lang="fr-FR" b="1" dirty="0"/>
              <a:t>Prédiction statistique</a:t>
            </a:r>
            <a:r>
              <a:rPr lang="fr-FR" dirty="0"/>
              <a:t> : Il fonctionne en calculant et en devinant quel est le mot le plus logique à placer à la suite dans une phrase.</a:t>
            </a:r>
          </a:p>
          <a:p>
            <a:pPr lvl="0"/>
            <a:r>
              <a:rPr lang="fr-FR" b="1" dirty="0"/>
              <a:t>Les </a:t>
            </a:r>
            <a:r>
              <a:rPr lang="fr-FR" b="1" i="1" dirty="0" err="1"/>
              <a:t>Tokens</a:t>
            </a:r>
            <a:r>
              <a:rPr lang="fr-FR" dirty="0"/>
              <a:t> : L'IA découpe les mots en de plus petites unités appelées </a:t>
            </a:r>
            <a:r>
              <a:rPr lang="fr-FR" i="1" dirty="0" err="1"/>
              <a:t>tokens</a:t>
            </a:r>
            <a:r>
              <a:rPr lang="fr-FR" dirty="0"/>
              <a:t> pour traiter l'information</a:t>
            </a:r>
          </a:p>
          <a:p>
            <a:r>
              <a:rPr lang="fr-FR" dirty="0"/>
              <a:t>Les </a:t>
            </a:r>
            <a:r>
              <a:rPr lang="fr-FR" b="1" dirty="0"/>
              <a:t>données synthétiques</a:t>
            </a:r>
            <a:r>
              <a:rPr lang="fr-FR" dirty="0"/>
              <a:t> sont des données générées artificiellement par un algorithme ou une autre IA, plutôt que d'être collectées à partir d'activités humaines réelles ou du monde physique.</a:t>
            </a:r>
          </a:p>
          <a:p>
            <a:pPr lvl="0"/>
            <a:endParaRPr lang="fr-FR" dirty="0"/>
          </a:p>
          <a:p>
            <a:endParaRPr lang="fr-FR" dirty="0"/>
          </a:p>
          <a:p>
            <a:endParaRPr lang="fr-FR" dirty="0"/>
          </a:p>
        </p:txBody>
      </p:sp>
    </p:spTree>
    <p:extLst>
      <p:ext uri="{BB962C8B-B14F-4D97-AF65-F5344CB8AC3E}">
        <p14:creationId xmlns:p14="http://schemas.microsoft.com/office/powerpoint/2010/main" val="1787735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tableur ou une base DVF, c'est comme une calculette très puissante et un dossier archivé au carré.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Vous lui donnez une formule, elle vous donne toujours exactement le même résultat, dans le même ordre, sans jamais dévier. Vous cherchez le prix moyen au m² à Aix-en-Provence en 2023, la base DVF vous ressort une donnée officielle, vérifiable, traçable — comme un notaire qui ressort l'acte exact du bon tiroir.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L'IA générative, elle, fonctionne autrement : c'est un conteur, pas un archiviste. Demandez-lui deux fois la même chose, elle ne vous répondra jamais mot pour mot pareil — un peu comme un collègue expérimenté qui vous raconterait deux fois la même anecdote de vente, avec des mots différents à chaque fois, mais l'esprit conservé.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Autre image utile : le tableur, c'est un rail de train — il va exactement là où les rails sont posés, ni plus ni moins. L'IA générative, c'est plutôt un guide de randonnée bavard — il connaît globalement le terrain, peut improviser un itinéraire, discuter avec vous en chemin… mais il peut aussi, parfois, se tromper de sentier avec beaucoup d'assurance, sans vous prévenir qu'il s'est </a:t>
            </a:r>
            <a:r>
              <a:rPr lang="fr-FR" dirty="0" err="1"/>
              <a:t>perdu.Le</a:t>
            </a:r>
            <a:r>
              <a:rPr lang="fr-FR" dirty="0"/>
              <a:t> point de vigilance essentiel pour vos experts : une base DVF ne "invente" jamais un prix — elle le sort d'un registre réel. Une IA générative, elle, peut produire une réponse qui sonne juste sans être vérifiée — comme un vendeur très convaincant qui n'a pourtant jamais visité le bien dont il vous parle. D'où la règle d'or à transmettre : utiliser l'IA générative pour rédiger, reformuler, structurer — mais toujours vérifier les chiffres et les faits dans les sources officielles.</a:t>
            </a:r>
          </a:p>
          <a:p>
            <a:endParaRPr lang="fr-FR" dirty="0"/>
          </a:p>
        </p:txBody>
      </p:sp>
    </p:spTree>
    <p:extLst>
      <p:ext uri="{BB962C8B-B14F-4D97-AF65-F5344CB8AC3E}">
        <p14:creationId xmlns:p14="http://schemas.microsoft.com/office/powerpoint/2010/main" val="858429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Ce que l'IA fait très bien : reformuler, structurer, synthétiser, argumenter</a:t>
            </a:r>
            <a:endParaRPr lang="fr-FR" dirty="0"/>
          </a:p>
          <a:p>
            <a:r>
              <a:rPr lang="fr-FR" dirty="0"/>
              <a:t>Imaginez un </a:t>
            </a:r>
            <a:r>
              <a:rPr lang="fr-FR" b="1" dirty="0"/>
              <a:t>rédacteur de talent, toujours disponible, jamais fatigué, qui ne panique jamais devant la page blanche</a:t>
            </a:r>
            <a:r>
              <a:rPr lang="fr-FR" dirty="0"/>
              <a:t>. </a:t>
            </a:r>
          </a:p>
          <a:p>
            <a:endParaRPr lang="fr-FR" dirty="0"/>
          </a:p>
          <a:p>
            <a:r>
              <a:rPr lang="fr-FR" dirty="0"/>
              <a:t>Toutefois, ce n'est pas lui qui a l'expertise du bien immobilier — </a:t>
            </a:r>
          </a:p>
          <a:p>
            <a:endParaRPr lang="fr-FR" dirty="0"/>
          </a:p>
          <a:p>
            <a:r>
              <a:rPr lang="fr-FR" dirty="0"/>
              <a:t>Qu’est ce que vous allez faire ? Vous allez lui  donner vos idées en vrac, même mal dégrossies, et il vous les rend polies, claires, bien ordonnées. </a:t>
            </a:r>
          </a:p>
          <a:p>
            <a:endParaRPr lang="fr-FR" dirty="0"/>
          </a:p>
          <a:p>
            <a:r>
              <a:rPr lang="fr-FR" dirty="0"/>
              <a:t>C'est exactement le rôle que l'IA générative excelle à jouer.</a:t>
            </a:r>
          </a:p>
          <a:p>
            <a:endParaRPr lang="fr-FR" dirty="0"/>
          </a:p>
          <a:p>
            <a:r>
              <a:rPr lang="fr-FR" dirty="0"/>
              <a:t>Quatre talents précis, quatre images :</a:t>
            </a:r>
          </a:p>
          <a:p>
            <a:endParaRPr lang="fr-FR" dirty="0"/>
          </a:p>
          <a:p>
            <a:r>
              <a:rPr lang="fr-FR" b="1" dirty="0"/>
              <a:t>Reformuler</a:t>
            </a:r>
            <a:r>
              <a:rPr lang="fr-FR" dirty="0"/>
              <a:t>, c'est comme un </a:t>
            </a:r>
            <a:r>
              <a:rPr lang="fr-FR" b="1" dirty="0"/>
              <a:t>traducteur de registre</a:t>
            </a:r>
            <a:r>
              <a:rPr lang="fr-FR" dirty="0"/>
              <a:t>. Vous avez une phrase trop technique pour un client, trop familière pour un rapport officiel ? L'IA la retravaille dans le bon ton — un peu comme on adapterait son langage entre une conversation au comptoir et une plaidoirie au tribunal, sans changer le fond du message.</a:t>
            </a:r>
          </a:p>
          <a:p>
            <a:r>
              <a:rPr lang="fr-FR" b="1" dirty="0"/>
              <a:t>Structurer</a:t>
            </a:r>
            <a:r>
              <a:rPr lang="fr-FR" dirty="0"/>
              <a:t>, c'est comme un </a:t>
            </a:r>
            <a:r>
              <a:rPr lang="fr-FR" b="1" dirty="0"/>
              <a:t>architecte d'intérieur du texte</a:t>
            </a:r>
            <a:r>
              <a:rPr lang="fr-FR" dirty="0"/>
              <a:t>. Vous avez toutes vos idées, mais elles s'entassent en vrac dans une pièce ? L'IA les range par catégories, crée des titres, des paragraphes logiques — comme on organiserait un salon en zones claires : coin lecture, coin repas, plutôt qu'un joyeux bazar de meubles.</a:t>
            </a:r>
          </a:p>
          <a:p>
            <a:r>
              <a:rPr lang="fr-FR" b="1" dirty="0"/>
              <a:t>Synthétiser</a:t>
            </a:r>
            <a:r>
              <a:rPr lang="fr-FR" dirty="0"/>
              <a:t>, c'est comme </a:t>
            </a:r>
            <a:r>
              <a:rPr lang="fr-FR" b="1" dirty="0"/>
              <a:t>presser un fruit pour en extraire le jus</a:t>
            </a:r>
            <a:r>
              <a:rPr lang="fr-FR" dirty="0"/>
              <a:t>. Vous avez vingt pages de rapport d'expertise ou un long échange de mails ? L'IA en extrait l'essentiel en quelques lignes — sans vous obliger à mâcher toute la pulpe pour en tirer la saveur.</a:t>
            </a:r>
          </a:p>
          <a:p>
            <a:r>
              <a:rPr lang="fr-FR" b="1" dirty="0"/>
              <a:t>Argumenter</a:t>
            </a:r>
            <a:r>
              <a:rPr lang="fr-FR" dirty="0"/>
              <a:t>, c'est comme un </a:t>
            </a:r>
            <a:r>
              <a:rPr lang="fr-FR" b="1" dirty="0"/>
              <a:t>avocat qui prépare votre plaidoirie</a:t>
            </a:r>
            <a:r>
              <a:rPr lang="fr-FR" dirty="0"/>
              <a:t>. Vous savez ce que vous voulez défendre — un prix, une position, une recommandation — mais les mots ne viennent pas assez solides ? L'IA vous construit une trame d'arguments cohérente, avec un fil logique clair, points forts en tête.</a:t>
            </a:r>
          </a:p>
          <a:p>
            <a:r>
              <a:rPr lang="fr-FR" b="1" dirty="0"/>
              <a:t>Le fil rouge à retenir pour vos stagiaires</a:t>
            </a:r>
            <a:r>
              <a:rPr lang="fr-FR" dirty="0"/>
              <a:t> : dans ces quatre tâches, l'IA ne </a:t>
            </a:r>
            <a:r>
              <a:rPr lang="fr-FR" i="1" dirty="0"/>
              <a:t>décide</a:t>
            </a:r>
            <a:r>
              <a:rPr lang="fr-FR" dirty="0"/>
              <a:t> jamais rien — elle </a:t>
            </a:r>
            <a:r>
              <a:rPr lang="fr-FR" i="1" dirty="0"/>
              <a:t>met en forme</a:t>
            </a:r>
            <a:r>
              <a:rPr lang="fr-FR" dirty="0"/>
              <a:t> ce que vous lui apportez. C'est un formidable outil de communication, à condition que </a:t>
            </a:r>
            <a:r>
              <a:rPr lang="fr-FR" b="1" dirty="0"/>
              <a:t>le contenu, le jugement et la vérité des faits restent entre les mains de l'expert</a:t>
            </a:r>
            <a:r>
              <a:rPr lang="fr-FR" dirty="0"/>
              <a:t>.</a:t>
            </a:r>
          </a:p>
          <a:p>
            <a:endParaRPr lang="fr-FR" dirty="0"/>
          </a:p>
          <a:p>
            <a:r>
              <a:rPr lang="fr-FR" b="1" dirty="0"/>
              <a:t>Ce que l'IA ne fait pas : vérifier un cadastre, calculer une surface réelle, engager la responsabilité professionnelle</a:t>
            </a:r>
            <a:endParaRPr lang="fr-FR" dirty="0"/>
          </a:p>
          <a:p>
            <a:r>
              <a:rPr lang="fr-FR" dirty="0"/>
              <a:t>Reprenons notre personnage-bibliothèque de tout à l'heure : brillant, cultivé, mais </a:t>
            </a:r>
            <a:r>
              <a:rPr lang="fr-FR" b="1" dirty="0"/>
              <a:t>assis derrière sa vitre, sans jamais mettre un pied dehors</a:t>
            </a:r>
            <a:r>
              <a:rPr lang="fr-FR" dirty="0"/>
              <a:t>. Voici précisément trois portes qu'il ne peut pas franchir.</a:t>
            </a:r>
          </a:p>
          <a:p>
            <a:r>
              <a:rPr lang="fr-FR" b="1" dirty="0"/>
              <a:t>Vérifier un cadastre</a:t>
            </a:r>
            <a:r>
              <a:rPr lang="fr-FR" dirty="0"/>
              <a:t>, c'est aller consulter un </a:t>
            </a:r>
            <a:r>
              <a:rPr lang="fr-FR" b="1" dirty="0"/>
              <a:t>registre officiel, daté, tamponné, opposable</a:t>
            </a:r>
            <a:r>
              <a:rPr lang="fr-FR" dirty="0"/>
              <a:t>. L'IA peut vous </a:t>
            </a:r>
            <a:r>
              <a:rPr lang="fr-FR" i="1" dirty="0"/>
              <a:t>décrire</a:t>
            </a:r>
            <a:r>
              <a:rPr lang="fr-FR" dirty="0"/>
              <a:t> ce qu'est un cadastre, vous expliquer comment le lire — mais elle n'a pas accès en direct au registre à jour, et surtout, elle ne peut pas engager sa signature dessus. C'est comme demander à notre rédacteur brillant de témoigner devant notaire sur un acte qu'il n'a jamais vu : il peut vous en parler intelligemment, mais son avis n'a aucune valeur d'acte.</a:t>
            </a:r>
          </a:p>
          <a:p>
            <a:r>
              <a:rPr lang="fr-FR" b="1" dirty="0"/>
              <a:t>Calculer une surface réelle</a:t>
            </a:r>
            <a:r>
              <a:rPr lang="fr-FR" dirty="0"/>
              <a:t>, c'est un geste de </a:t>
            </a:r>
            <a:r>
              <a:rPr lang="fr-FR" b="1" dirty="0"/>
              <a:t>métreur qui pose son mètre-laser contre le mur</a:t>
            </a:r>
            <a:r>
              <a:rPr lang="fr-FR" dirty="0"/>
              <a:t>. L'IA n'a ni yeux, ni mètre, ni les pieds dans le bien. Elle peut vous rappeler la méthode de calcul Carrez, vous aider à formuler le rapport — mais elle ne mesure rien elle-même. Un peu comme un professeur de géométrie brillant, qui explique parfaitement le théorème de Pythagore… sans jamais avoir arpenté le terrain qu'on lui demande de chiffrer.</a:t>
            </a:r>
          </a:p>
          <a:p>
            <a:r>
              <a:rPr lang="fr-FR" b="1" dirty="0"/>
              <a:t>Engager la responsabilité professionnelle</a:t>
            </a:r>
            <a:r>
              <a:rPr lang="fr-FR" dirty="0"/>
              <a:t>, c'est la différence entre </a:t>
            </a:r>
            <a:r>
              <a:rPr lang="fr-FR" b="1" dirty="0"/>
              <a:t>un conseiller et un signataire</a:t>
            </a:r>
            <a:r>
              <a:rPr lang="fr-FR" dirty="0"/>
              <a:t>. Quand l'expert immobilier appose sa signature sur un rapport, c'est </a:t>
            </a:r>
            <a:r>
              <a:rPr lang="fr-FR" i="1" dirty="0"/>
              <a:t>lui</a:t>
            </a:r>
            <a:r>
              <a:rPr lang="fr-FR" dirty="0"/>
              <a:t> qui répond juridiquement en cas d'erreur — son assurance, sa réputation, sa carte professionnelle sont en jeu. L'IA, elle, n'a ni assurance, ni carte professionnelle, ni existence juridique. C'est comme un stagiaire très doué qui vous souffle d'excellentes idées en coulisses : utile, brillant même — mais ce n'est jamais lui qui signe le rapport à la fin.</a:t>
            </a:r>
          </a:p>
          <a:p>
            <a:endParaRPr lang="fr-FR" dirty="0"/>
          </a:p>
          <a:p>
            <a:r>
              <a:rPr lang="fr-FR" b="1" dirty="0"/>
              <a:t>Le message clé pour vos stagiaires</a:t>
            </a:r>
            <a:r>
              <a:rPr lang="fr-FR" dirty="0"/>
              <a:t> : l'IA peut </a:t>
            </a:r>
            <a:r>
              <a:rPr lang="fr-FR" i="1" dirty="0"/>
              <a:t>préparer le terrain</a:t>
            </a:r>
            <a:r>
              <a:rPr lang="fr-FR" dirty="0"/>
              <a:t>, jamais </a:t>
            </a:r>
            <a:r>
              <a:rPr lang="fr-FR" i="1" dirty="0"/>
              <a:t>l'arpenter à votre place</a:t>
            </a:r>
            <a:r>
              <a:rPr lang="fr-FR" dirty="0"/>
              <a:t>. Elle est une plume, pas une signature.</a:t>
            </a:r>
          </a:p>
          <a:p>
            <a:r>
              <a:rPr lang="fr-FR" dirty="0"/>
              <a:t>À gauche, le côté chaleureux : la main violette avec son stylo lumineux transforme les papiers en vrac en document bien structuré — c'est l'IA dans son rôle de rédacteur.</a:t>
            </a:r>
          </a:p>
          <a:p>
            <a:r>
              <a:rPr lang="fr-FR" dirty="0"/>
              <a:t>À droite, le côté terrain : le mètre laser posé sur la vraie maison, le cadastre officiel tamponné, et la signature barrée d'une grande croix rouge — trois gestes que l'IA ne peut tout simplement pas accomplir, car ils exigent une présence physique, un accès officiel, ou un engagement juridique personnel.</a:t>
            </a:r>
          </a:p>
          <a:p>
            <a:r>
              <a:rPr lang="fr-FR" dirty="0"/>
              <a:t>C'est le contraste à garder en tête pour vos stagiaires : </a:t>
            </a:r>
            <a:r>
              <a:rPr lang="fr-FR" b="1" dirty="0"/>
              <a:t>d'un côté le clavier, de l'autre le terrain et la signature — deux mondes que l'IA ne confond jamais, et que l'expert ne doit pas confondre non plus.</a:t>
            </a:r>
            <a:endParaRPr lang="fr-FR" dirty="0"/>
          </a:p>
          <a:p>
            <a:endParaRPr lang="fr-FR" dirty="0"/>
          </a:p>
          <a:p>
            <a:endParaRPr lang="fr-FR" dirty="0"/>
          </a:p>
          <a:p>
            <a:endParaRPr lang="fr-FR" dirty="0"/>
          </a:p>
        </p:txBody>
      </p:sp>
    </p:spTree>
    <p:extLst>
      <p:ext uri="{BB962C8B-B14F-4D97-AF65-F5344CB8AC3E}">
        <p14:creationId xmlns:p14="http://schemas.microsoft.com/office/powerpoint/2010/main" val="2363629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i="1" dirty="0"/>
              <a:t>"Quelle est la valeur vénale d'un appartement de 80 m² à Marseille ?"</a:t>
            </a:r>
            <a:br>
              <a:rPr lang="fr-FR" dirty="0"/>
            </a:br>
            <a:r>
              <a:rPr lang="fr-FR" dirty="0"/>
              <a:t>→ L'IA donnera une fourchette générique tirée de ses données d'entraînement. C'est l'occasion parfaite d'illustrer la limite sur les prix actuels et l'absence de connaissance locale.</a:t>
            </a:r>
          </a:p>
          <a:p>
            <a:r>
              <a:rPr lang="fr-FR" b="1" i="1" dirty="0"/>
              <a:t>"Rédige un paragraphe d'introduction pour un rapport d'expertise judiciaire."</a:t>
            </a:r>
            <a:br>
              <a:rPr lang="fr-FR" dirty="0"/>
            </a:br>
            <a:r>
              <a:rPr lang="fr-FR" dirty="0"/>
              <a:t>→ L'IA produira quelque chose d'utilisable. On peut montrer comment l'affiner avec des précisions sur le type de mission, la juridiction, le bien.</a:t>
            </a:r>
          </a:p>
          <a:p>
            <a:r>
              <a:rPr lang="fr-FR" b="1" i="1" dirty="0"/>
              <a:t>"Quelles sont les méthodes d'évaluation immobilière reconnues par les tribunaux ?"</a:t>
            </a:r>
            <a:br>
              <a:rPr lang="fr-FR" dirty="0"/>
            </a:br>
            <a:r>
              <a:rPr lang="fr-FR" dirty="0"/>
              <a:t>→ La réponse sera solide sur le plan méthodologique. C'est l'occasion de montrer la compétence de l'IA sur les questions de doctrine et de cadre professionnel.</a:t>
            </a:r>
          </a:p>
          <a:p>
            <a:r>
              <a:rPr lang="fr-FR" b="1" dirty="0"/>
              <a:t>"Comment calcule-t-on la surface Carrez d'un bien avec mezzanine ?"</a:t>
            </a:r>
            <a:br>
              <a:rPr lang="fr-FR" dirty="0"/>
            </a:br>
            <a:r>
              <a:rPr lang="fr-FR" dirty="0"/>
              <a:t>→ L'IA rappellera correctement la règle (hauteur sous plafond ≥ 1,80 m, exclusion des surfaces sous 1,80 m). C'est l'occasion de montrer que la </a:t>
            </a:r>
            <a:r>
              <a:rPr lang="fr-FR" i="1" dirty="0"/>
              <a:t>règle</a:t>
            </a:r>
            <a:r>
              <a:rPr lang="fr-FR" dirty="0"/>
              <a:t> est bien maîtrisée, mais que son </a:t>
            </a:r>
            <a:r>
              <a:rPr lang="fr-FR" i="1" dirty="0"/>
              <a:t>application concrète sur un bien réel</a:t>
            </a:r>
            <a:r>
              <a:rPr lang="fr-FR" dirty="0"/>
              <a:t> reste entièrement entre les mains de l'expert — l'IA ne mesure rien elle-même.</a:t>
            </a:r>
          </a:p>
          <a:p>
            <a:r>
              <a:rPr lang="fr-FR" b="1" dirty="0"/>
              <a:t>"Quelle est la différence entre valeur vénale et valeur locative ?"</a:t>
            </a:r>
            <a:br>
              <a:rPr lang="fr-FR" dirty="0"/>
            </a:br>
            <a:r>
              <a:rPr lang="fr-FR" dirty="0"/>
              <a:t>→ Réponse généralement solide et bien structurée, car c'est une question de définition et de doctrine. Bon exemple pour montrer que l'IA excelle sur les notions théoriques stabilisées.</a:t>
            </a:r>
          </a:p>
          <a:p>
            <a:r>
              <a:rPr lang="fr-FR" b="1" dirty="0"/>
              <a:t>"Rédige une lettre de mission pour une expertise amiable contradictoire."</a:t>
            </a:r>
            <a:br>
              <a:rPr lang="fr-FR" dirty="0"/>
            </a:br>
            <a:r>
              <a:rPr lang="fr-FR" dirty="0"/>
              <a:t>→ L'IA produira un modèle générique correct sur la forme, mais probablement incomplet ou imprécis sur des mentions obligatoires spécifiques (assurance RC pro, délais, base légale exacte selon le type de mission). Utile pour montrer qu'un document "prêt à l'emploi" de l'IA doit toujours être relu à l'aune des obligations professionnelles réelles.</a:t>
            </a:r>
          </a:p>
          <a:p>
            <a:r>
              <a:rPr lang="fr-FR" b="1" dirty="0"/>
              <a:t>"Quels sont les diagnostics obligatoires pour la vente d'un bien construit avant 1949 ?"</a:t>
            </a:r>
            <a:br>
              <a:rPr lang="fr-FR" dirty="0"/>
            </a:br>
            <a:r>
              <a:rPr lang="fr-FR" dirty="0"/>
              <a:t>→ Réponse souvent correcte sur le principe (plomb, amiante, etc.), mais le risque est que la liste ou les seuils réglementaires cités datent de l'entraînement de l'IA et non de la réglementation en vigueur au jour J. Très bon cas pour illustrer la nécessité de vérifier la date et l'actualité de l'information.</a:t>
            </a:r>
          </a:p>
          <a:p>
            <a:r>
              <a:rPr lang="fr-FR" b="1" dirty="0"/>
              <a:t>"Comment justifier un abattement pour vétusté dans un rapport d'expertise ?"</a:t>
            </a:r>
            <a:br>
              <a:rPr lang="fr-FR" dirty="0"/>
            </a:br>
            <a:r>
              <a:rPr lang="fr-FR" dirty="0"/>
              <a:t>→ L'IA donnera une méthodologie générale plausible (grille d'abattement, coefficients par poste de travaux), mais sans lien avec les barèmes ou usages propres à une juridiction ou une compagnie d'assurance précise. Bon exemple pour montrer la différence entre "logique générale correcte" et "pratique de la profession sur le terrain".</a:t>
            </a:r>
          </a:p>
          <a:p>
            <a:r>
              <a:rPr lang="fr-FR" b="1" dirty="0"/>
              <a:t>"Un expert immobilier peut-il être tenu responsable en cas d'erreur de surface ?"</a:t>
            </a:r>
            <a:br>
              <a:rPr lang="fr-FR" dirty="0"/>
            </a:br>
            <a:r>
              <a:rPr lang="fr-FR" dirty="0"/>
              <a:t>→ Réponse juridique probablement globalement juste sur le principe (responsabilité civile professionnelle), mais formulée de façon générale, sans nuance selon le type de mission ou la jurisprudence récente. Parfait pour insister : une réponse juridique de l'IA n'a jamais valeur de conseil juridique opposable.</a:t>
            </a:r>
          </a:p>
          <a:p>
            <a:r>
              <a:rPr lang="fr-FR" b="1" dirty="0"/>
              <a:t>"Peux-tu me faire un tableau comparatif de trois biens que je vais visiter cette semaine ?"</a:t>
            </a:r>
            <a:br>
              <a:rPr lang="fr-FR" dirty="0"/>
            </a:br>
            <a:r>
              <a:rPr lang="fr-FR" dirty="0"/>
              <a:t>→ L'IA structurera très bien un tableau vide à remplir (colonnes : surface, prix, état, DPE, atouts, points de vigilance) — mais elle ne peut évidemment pas remplir les données réelles des biens. Bon exemple pour illustrer sa force en </a:t>
            </a:r>
            <a:r>
              <a:rPr lang="fr-FR" i="1" dirty="0"/>
              <a:t>mise en forme</a:t>
            </a:r>
            <a:r>
              <a:rPr lang="fr-FR" dirty="0"/>
              <a:t> plutôt qu'en </a:t>
            </a:r>
            <a:r>
              <a:rPr lang="fr-FR" i="1" dirty="0"/>
              <a:t>connaissance du dossier</a:t>
            </a:r>
            <a:r>
              <a:rPr lang="fr-FR" dirty="0"/>
              <a:t>.</a:t>
            </a:r>
          </a:p>
          <a:p>
            <a:r>
              <a:rPr lang="fr-FR" b="1" dirty="0"/>
              <a:t>"Explique-moi la méthode par comparaison en évaluation immobilière comme si j'étais un client non initié."</a:t>
            </a:r>
            <a:br>
              <a:rPr lang="fr-FR" dirty="0"/>
            </a:br>
            <a:r>
              <a:rPr lang="fr-FR" dirty="0"/>
              <a:t>→ L'IA sera généralement très bonne, car c'est exactement son terrain de force : vulgariser une notion technique déjà bien documentée. Bon exemple positif à montrer en contraste des précédents.</a:t>
            </a:r>
          </a:p>
          <a:p>
            <a:r>
              <a:rPr lang="fr-FR" b="1" dirty="0"/>
              <a:t>"Quel est le DPE moyen des logements construits dans les années 1970 dans ma région ?"</a:t>
            </a:r>
            <a:br>
              <a:rPr lang="fr-FR" dirty="0"/>
            </a:br>
            <a:r>
              <a:rPr lang="fr-FR" dirty="0"/>
              <a:t>→ Réponse vague ou approximative, car hors du domaine de connaissances vérifiées et localisées de l'IA. Bon cas pour reparler de la différence avec une base de données officielle (comme DVF ou l'Observatoire DPE).</a:t>
            </a:r>
          </a:p>
          <a:p>
            <a:endParaRPr lang="fr-FR" dirty="0"/>
          </a:p>
          <a:p>
            <a:endParaRPr lang="fr-FR" dirty="0"/>
          </a:p>
        </p:txBody>
      </p:sp>
    </p:spTree>
    <p:extLst>
      <p:ext uri="{BB962C8B-B14F-4D97-AF65-F5344CB8AC3E}">
        <p14:creationId xmlns:p14="http://schemas.microsoft.com/office/powerpoint/2010/main" val="3727465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i="1" dirty="0"/>
              <a:t>"Quelle est la valeur vénale d'un appartement de 80 m² à Marseille ?"</a:t>
            </a:r>
            <a:br>
              <a:rPr lang="fr-FR" dirty="0"/>
            </a:br>
            <a:r>
              <a:rPr lang="fr-FR" dirty="0"/>
              <a:t>→ L'IA donnera une fourchette générique tirée de ses données d'entraînement. C'est l'occasion parfaite d'illustrer la limite sur les prix actuels et l'absence de connaissance locale.</a:t>
            </a:r>
          </a:p>
          <a:p>
            <a:r>
              <a:rPr lang="fr-FR" b="1" i="1" dirty="0"/>
              <a:t>"Rédige un paragraphe d'introduction pour un rapport d'expertise judiciaire."</a:t>
            </a:r>
            <a:br>
              <a:rPr lang="fr-FR" dirty="0"/>
            </a:br>
            <a:r>
              <a:rPr lang="fr-FR" dirty="0"/>
              <a:t>→ L'IA produira quelque chose d'utilisable. On peut montrer comment l'affiner avec des précisions sur le type de mission, la juridiction, le bien.</a:t>
            </a:r>
          </a:p>
          <a:p>
            <a:r>
              <a:rPr lang="fr-FR" b="1" i="1" dirty="0"/>
              <a:t>"Quelles sont les méthodes d'évaluation immobilière reconnues par les tribunaux ?"</a:t>
            </a:r>
            <a:br>
              <a:rPr lang="fr-FR" dirty="0"/>
            </a:br>
            <a:r>
              <a:rPr lang="fr-FR" dirty="0"/>
              <a:t>→ La réponse sera solide sur le plan méthodologique. C'est l'occasion de montrer la compétence de l'IA sur les questions de doctrine et de cadre professionnel.</a:t>
            </a:r>
          </a:p>
          <a:p>
            <a:r>
              <a:rPr lang="fr-FR" b="1" dirty="0"/>
              <a:t>"Comment calcule-t-on la surface Carrez d'un bien avec mezzanine ?"</a:t>
            </a:r>
            <a:br>
              <a:rPr lang="fr-FR" dirty="0"/>
            </a:br>
            <a:r>
              <a:rPr lang="fr-FR" dirty="0"/>
              <a:t>→ L'IA rappellera correctement la règle (hauteur sous plafond ≥ 1,80 m, exclusion des surfaces sous 1,80 m). C'est l'occasion de montrer que la </a:t>
            </a:r>
            <a:r>
              <a:rPr lang="fr-FR" i="1" dirty="0"/>
              <a:t>règle</a:t>
            </a:r>
            <a:r>
              <a:rPr lang="fr-FR" dirty="0"/>
              <a:t> est bien maîtrisée, mais que son </a:t>
            </a:r>
            <a:r>
              <a:rPr lang="fr-FR" i="1" dirty="0"/>
              <a:t>application concrète sur un bien réel</a:t>
            </a:r>
            <a:r>
              <a:rPr lang="fr-FR" dirty="0"/>
              <a:t> reste entièrement entre les mains de l'expert — l'IA ne mesure rien elle-même.</a:t>
            </a:r>
          </a:p>
          <a:p>
            <a:r>
              <a:rPr lang="fr-FR" b="1" dirty="0"/>
              <a:t>"Quelle est la différence entre valeur vénale et valeur locative ?"</a:t>
            </a:r>
            <a:br>
              <a:rPr lang="fr-FR" dirty="0"/>
            </a:br>
            <a:r>
              <a:rPr lang="fr-FR" dirty="0"/>
              <a:t>→ Réponse généralement solide et bien structurée, car c'est une question de définition et de doctrine. Bon exemple pour montrer que l'IA excelle sur les notions théoriques stabilisées.</a:t>
            </a:r>
          </a:p>
          <a:p>
            <a:r>
              <a:rPr lang="fr-FR" b="1" dirty="0"/>
              <a:t>"Rédige une lettre de mission pour une expertise amiable contradictoire."</a:t>
            </a:r>
            <a:br>
              <a:rPr lang="fr-FR" dirty="0"/>
            </a:br>
            <a:r>
              <a:rPr lang="fr-FR" dirty="0"/>
              <a:t>→ L'IA produira un modèle générique correct sur la forme, mais probablement incomplet ou imprécis sur des mentions obligatoires spécifiques (assurance RC pro, délais, base légale exacte selon le type de mission). Utile pour montrer qu'un document "prêt à l'emploi" de l'IA doit toujours être relu à l'aune des obligations professionnelles réelles.</a:t>
            </a:r>
          </a:p>
          <a:p>
            <a:r>
              <a:rPr lang="fr-FR" b="1" dirty="0"/>
              <a:t>"Quels sont les diagnostics obligatoires pour la vente d'un bien construit avant 1949 ?"</a:t>
            </a:r>
            <a:br>
              <a:rPr lang="fr-FR" dirty="0"/>
            </a:br>
            <a:r>
              <a:rPr lang="fr-FR" dirty="0"/>
              <a:t>→ Réponse souvent correcte sur le principe (plomb, amiante, etc.), mais le risque est que la liste ou les seuils réglementaires cités datent de l'entraînement de l'IA et non de la réglementation en vigueur au jour J. Très bon cas pour illustrer la nécessité de vérifier la date et l'actualité de l'information.</a:t>
            </a:r>
          </a:p>
          <a:p>
            <a:r>
              <a:rPr lang="fr-FR" b="1" dirty="0"/>
              <a:t>"Comment justifier un abattement pour vétusté dans un rapport d'expertise ?"</a:t>
            </a:r>
            <a:br>
              <a:rPr lang="fr-FR" dirty="0"/>
            </a:br>
            <a:r>
              <a:rPr lang="fr-FR" dirty="0"/>
              <a:t>→ L'IA donnera une méthodologie générale plausible (grille d'abattement, coefficients par poste de travaux), mais sans lien avec les barèmes ou usages propres à une juridiction ou une compagnie d'assurance précise. Bon exemple pour montrer la différence entre "logique générale correcte" et "pratique de la profession sur le terrain".</a:t>
            </a:r>
          </a:p>
          <a:p>
            <a:r>
              <a:rPr lang="fr-FR" b="1" dirty="0"/>
              <a:t>"Un expert immobilier peut-il être tenu responsable en cas d'erreur de surface ?"</a:t>
            </a:r>
            <a:br>
              <a:rPr lang="fr-FR" dirty="0"/>
            </a:br>
            <a:r>
              <a:rPr lang="fr-FR" dirty="0"/>
              <a:t>→ Réponse juridique probablement globalement juste sur le principe (responsabilité civile professionnelle), mais formulée de façon générale, sans nuance selon le type de mission ou la jurisprudence récente. Parfait pour insister : une réponse juridique de l'IA n'a jamais valeur de conseil juridique opposable.</a:t>
            </a:r>
          </a:p>
          <a:p>
            <a:r>
              <a:rPr lang="fr-FR" b="1" dirty="0"/>
              <a:t>"Peux-tu me faire un tableau comparatif de trois biens que je vais visiter cette semaine ?"</a:t>
            </a:r>
            <a:br>
              <a:rPr lang="fr-FR" dirty="0"/>
            </a:br>
            <a:r>
              <a:rPr lang="fr-FR" dirty="0"/>
              <a:t>→ L'IA structurera très bien un tableau vide à remplir (colonnes : surface, prix, état, DPE, atouts, points de vigilance) — mais elle ne peut évidemment pas remplir les données réelles des biens. Bon exemple pour illustrer sa force en </a:t>
            </a:r>
            <a:r>
              <a:rPr lang="fr-FR" i="1" dirty="0"/>
              <a:t>mise en forme</a:t>
            </a:r>
            <a:r>
              <a:rPr lang="fr-FR" dirty="0"/>
              <a:t> plutôt qu'en </a:t>
            </a:r>
            <a:r>
              <a:rPr lang="fr-FR" i="1" dirty="0"/>
              <a:t>connaissance du dossier</a:t>
            </a:r>
            <a:r>
              <a:rPr lang="fr-FR" dirty="0"/>
              <a:t>.</a:t>
            </a:r>
          </a:p>
          <a:p>
            <a:r>
              <a:rPr lang="fr-FR" b="1" dirty="0"/>
              <a:t>"Explique-moi la méthode par comparaison en évaluation immobilière comme si j'étais un client non initié."</a:t>
            </a:r>
            <a:br>
              <a:rPr lang="fr-FR" dirty="0"/>
            </a:br>
            <a:r>
              <a:rPr lang="fr-FR" dirty="0"/>
              <a:t>→ L'IA sera généralement très bonne, car c'est exactement son terrain de force : vulgariser une notion technique déjà bien documentée. Bon exemple positif à montrer en contraste des précédents.</a:t>
            </a:r>
          </a:p>
          <a:p>
            <a:r>
              <a:rPr lang="fr-FR" b="1" dirty="0"/>
              <a:t>"Quel est le DPE moyen des logements construits dans les années 1970 dans ma région ?"</a:t>
            </a:r>
            <a:br>
              <a:rPr lang="fr-FR" dirty="0"/>
            </a:br>
            <a:r>
              <a:rPr lang="fr-FR" dirty="0"/>
              <a:t>→ Réponse vague ou approximative, car hors du domaine de connaissances vérifiées et localisées de l'IA. Bon cas pour reparler de la différence avec une base de données officielle (comme DVF ou l'Observatoire DPE).</a:t>
            </a:r>
          </a:p>
          <a:p>
            <a:endParaRPr lang="fr-FR" dirty="0"/>
          </a:p>
          <a:p>
            <a:endParaRPr lang="fr-FR" dirty="0"/>
          </a:p>
          <a:p>
            <a:endParaRPr lang="fr-FR" dirty="0"/>
          </a:p>
        </p:txBody>
      </p:sp>
    </p:spTree>
    <p:extLst>
      <p:ext uri="{BB962C8B-B14F-4D97-AF65-F5344CB8AC3E}">
        <p14:creationId xmlns:p14="http://schemas.microsoft.com/office/powerpoint/2010/main" val="3761376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t>Cette distinction est </a:t>
            </a:r>
            <a:r>
              <a:rPr lang="fr-FR" sz="1200" b="1" dirty="0"/>
              <a:t>très importante pour l’expert</a:t>
            </a:r>
            <a:r>
              <a:rPr lang="fr-FR" sz="1200" dirty="0"/>
              <a:t>.</a:t>
            </a:r>
          </a:p>
          <a:p>
            <a:endParaRPr lang="fr-FR" sz="1200" dirty="0"/>
          </a:p>
          <a:p>
            <a:r>
              <a:rPr lang="fr-FR" sz="1200" dirty="0"/>
              <a:t>Par exemple :</a:t>
            </a:r>
          </a:p>
          <a:p>
            <a:r>
              <a:rPr lang="fr-FR" sz="1200" b="1" dirty="0"/>
              <a:t>« Reformule mes notes »</a:t>
            </a:r>
            <a:endParaRPr lang="fr-FR" sz="1200" dirty="0"/>
          </a:p>
          <a:p>
            <a:r>
              <a:rPr lang="fr-FR" sz="1200" dirty="0"/>
              <a:t>n'autorise pas l'IA à compléter les informations manquantes.</a:t>
            </a:r>
          </a:p>
          <a:p>
            <a:endParaRPr lang="fr-FR" sz="1200" dirty="0"/>
          </a:p>
          <a:p>
            <a:r>
              <a:rPr lang="fr-FR" sz="1200" dirty="0"/>
              <a:t>Alors que :</a:t>
            </a:r>
          </a:p>
          <a:p>
            <a:r>
              <a:rPr lang="fr-FR" sz="1200" b="1" dirty="0"/>
              <a:t>« Analyse mes observations et propose des hypothèses »</a:t>
            </a:r>
            <a:endParaRPr lang="fr-FR" sz="1200" dirty="0"/>
          </a:p>
          <a:p>
            <a:r>
              <a:rPr lang="fr-FR" sz="1200" dirty="0"/>
              <a:t>l'autorise à aller plus loin — à condition que les hypothèses soient clairement identifiées comme telles.</a:t>
            </a:r>
          </a:p>
          <a:p>
            <a:endParaRPr lang="fr-FR" dirty="0"/>
          </a:p>
        </p:txBody>
      </p:sp>
    </p:spTree>
    <p:extLst>
      <p:ext uri="{BB962C8B-B14F-4D97-AF65-F5344CB8AC3E}">
        <p14:creationId xmlns:p14="http://schemas.microsoft.com/office/powerpoint/2010/main" val="1321111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190964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50000"/>
              </a:lnSpc>
            </a:pPr>
            <a:r>
              <a:rPr lang="fr-FR" dirty="0">
                <a:latin typeface="Figtree"/>
              </a:rPr>
              <a:t>Nous allons passer en revu 3 prompts</a:t>
            </a:r>
          </a:p>
          <a:p>
            <a:pPr>
              <a:lnSpc>
                <a:spcPct val="150000"/>
              </a:lnSpc>
            </a:pPr>
            <a:r>
              <a:rPr lang="fr-FR" dirty="0">
                <a:latin typeface="Figtree"/>
              </a:rPr>
              <a:t>Et démontrer l’incidence que notre demande a sur la production de l’IA </a:t>
            </a:r>
          </a:p>
          <a:p>
            <a:r>
              <a:rPr lang="fr-FR" sz="1200" dirty="0">
                <a:latin typeface="Figtree"/>
              </a:rPr>
              <a:t>Le mauvais prompt</a:t>
            </a:r>
          </a:p>
          <a:p>
            <a:r>
              <a:rPr lang="fr-FR" sz="1200" b="1" dirty="0">
                <a:latin typeface="Figtree"/>
              </a:rPr>
              <a:t>	« Décris cet appartement pour mon rapport. »</a:t>
            </a:r>
          </a:p>
          <a:p>
            <a:endParaRPr lang="fr-FR" sz="1200" dirty="0">
              <a:latin typeface="Figtree"/>
            </a:endParaRPr>
          </a:p>
          <a:p>
            <a:r>
              <a:rPr lang="fr-FR" sz="1200" dirty="0">
                <a:latin typeface="Figtree"/>
              </a:rPr>
              <a:t>ensuite :</a:t>
            </a:r>
          </a:p>
          <a:p>
            <a:r>
              <a:rPr lang="fr-FR" sz="1200" b="1" dirty="0">
                <a:latin typeface="Figtree"/>
              </a:rPr>
              <a:t>	« Tu es un rédacteur professionnel… »</a:t>
            </a:r>
          </a:p>
          <a:p>
            <a:endParaRPr lang="fr-FR" sz="1200" dirty="0">
              <a:latin typeface="Figtree"/>
            </a:endParaRPr>
          </a:p>
          <a:p>
            <a:r>
              <a:rPr lang="fr-FR" sz="1200" dirty="0">
                <a:latin typeface="Figtree"/>
              </a:rPr>
              <a:t>puis :</a:t>
            </a:r>
          </a:p>
          <a:p>
            <a:r>
              <a:rPr lang="fr-FR" sz="1200" b="1" dirty="0">
                <a:latin typeface="Figtree"/>
              </a:rPr>
              <a:t>	« Tu es un expert immobilier intervenant dans le cadre d'une expertise judiciaire… »</a:t>
            </a:r>
          </a:p>
          <a:p>
            <a:pPr>
              <a:lnSpc>
                <a:spcPct val="150000"/>
              </a:lnSpc>
            </a:pPr>
            <a:endParaRPr lang="fr-FR" dirty="0">
              <a:latin typeface="Figtree"/>
            </a:endParaRPr>
          </a:p>
          <a:p>
            <a:pPr>
              <a:lnSpc>
                <a:spcPct val="150000"/>
              </a:lnSpc>
            </a:pPr>
            <a:endParaRPr lang="fr-FR" dirty="0">
              <a:latin typeface="Figtree"/>
            </a:endParaRPr>
          </a:p>
          <a:p>
            <a:pPr>
              <a:lnSpc>
                <a:spcPct val="150000"/>
              </a:lnSpc>
            </a:pPr>
            <a:r>
              <a:rPr lang="fr-FR" dirty="0">
                <a:latin typeface="Figtree"/>
              </a:rPr>
              <a:t>La réponse ne sera pas nécessairement meilleure </a:t>
            </a:r>
          </a:p>
          <a:p>
            <a:pPr>
              <a:lnSpc>
                <a:spcPct val="150000"/>
              </a:lnSpc>
            </a:pPr>
            <a:r>
              <a:rPr lang="fr-FR" dirty="0">
                <a:latin typeface="Figtree"/>
              </a:rPr>
              <a:t>uniquement parce que le rôle est plus précis, mais </a:t>
            </a:r>
            <a:r>
              <a:rPr lang="fr-FR" b="1" dirty="0">
                <a:latin typeface="Figtree"/>
              </a:rPr>
              <a:t>le cadre de production change</a:t>
            </a:r>
            <a:endParaRPr lang="fr-FR" dirty="0">
              <a:latin typeface="Figtree"/>
            </a:endParaRPr>
          </a:p>
          <a:p>
            <a:endParaRPr lang="fr-FR" dirty="0"/>
          </a:p>
        </p:txBody>
      </p:sp>
    </p:spTree>
    <p:extLst>
      <p:ext uri="{BB962C8B-B14F-4D97-AF65-F5344CB8AC3E}">
        <p14:creationId xmlns:p14="http://schemas.microsoft.com/office/powerpoint/2010/main" val="1489976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Démonstration : l'effet d'un prompt insuffisant</a:t>
            </a:r>
          </a:p>
          <a:p>
            <a:endParaRPr lang="fr-FR" dirty="0"/>
          </a:p>
          <a:p>
            <a:r>
              <a:rPr lang="fr-FR" b="1" dirty="0"/>
              <a:t>Ce que produit l'IA avec ce prompt vague</a:t>
            </a:r>
          </a:p>
          <a:p>
            <a:r>
              <a:rPr lang="fr-FR" i="1" dirty="0"/>
              <a:t>Prompt envoyé :</a:t>
            </a:r>
            <a:r>
              <a:rPr lang="fr-FR" dirty="0"/>
              <a:t> </a:t>
            </a:r>
            <a:r>
              <a:rPr lang="fr-FR" b="1" dirty="0"/>
              <a:t>« </a:t>
            </a:r>
            <a:r>
              <a:rPr lang="fr-FR" b="1" dirty="0">
                <a:solidFill>
                  <a:schemeClr val="accent2">
                    <a:lumMod val="75000"/>
                  </a:schemeClr>
                </a:solidFill>
              </a:rPr>
              <a:t>Décris cet appartement pour mon rapport</a:t>
            </a:r>
            <a:r>
              <a:rPr lang="fr-FR" b="1" dirty="0"/>
              <a:t>. »</a:t>
            </a:r>
            <a:endParaRPr lang="fr-FR" dirty="0"/>
          </a:p>
          <a:p>
            <a:r>
              <a:rPr lang="fr-FR" dirty="0"/>
              <a:t>Voici ce que Claude ou </a:t>
            </a:r>
            <a:r>
              <a:rPr lang="fr-FR" dirty="0" err="1"/>
              <a:t>ChatGPT</a:t>
            </a:r>
            <a:r>
              <a:rPr lang="fr-FR" dirty="0"/>
              <a:t> génère réellement face à ce prompt — sans aucune information fournie :</a:t>
            </a:r>
          </a:p>
          <a:p>
            <a:endParaRPr lang="fr-FR" b="1" dirty="0"/>
          </a:p>
          <a:p>
            <a:r>
              <a:rPr lang="fr-FR" b="1" dirty="0"/>
              <a:t>Comment trouvez vous cette présentation ?</a:t>
            </a:r>
            <a:br>
              <a:rPr lang="fr-FR" b="1" dirty="0"/>
            </a:br>
            <a:endParaRPr lang="fr-FR" b="1" dirty="0"/>
          </a:p>
          <a:p>
            <a:r>
              <a:rPr lang="fr-FR" b="1" dirty="0"/>
              <a:t>Qu'est-ce qui manque dans cette demande ?</a:t>
            </a:r>
            <a:endParaRPr lang="fr-FR" dirty="0"/>
          </a:p>
          <a:p>
            <a:r>
              <a:rPr lang="fr-FR" dirty="0"/>
              <a:t>Faire rechercher :</a:t>
            </a:r>
          </a:p>
          <a:p>
            <a:pPr lvl="0"/>
            <a:r>
              <a:rPr lang="fr-FR" dirty="0"/>
              <a:t>pour qui ? </a:t>
            </a:r>
          </a:p>
          <a:p>
            <a:pPr lvl="0"/>
            <a:r>
              <a:rPr lang="fr-FR" dirty="0"/>
              <a:t>pour quel document ? </a:t>
            </a:r>
          </a:p>
          <a:p>
            <a:pPr lvl="0"/>
            <a:r>
              <a:rPr lang="fr-FR" dirty="0"/>
              <a:t>quel ton ? </a:t>
            </a:r>
          </a:p>
          <a:p>
            <a:pPr lvl="0"/>
            <a:r>
              <a:rPr lang="fr-FR" dirty="0"/>
              <a:t>quelle longueur ? </a:t>
            </a:r>
          </a:p>
          <a:p>
            <a:pPr lvl="0"/>
            <a:r>
              <a:rPr lang="fr-FR" dirty="0"/>
              <a:t>quelles informations privilégier ? </a:t>
            </a:r>
          </a:p>
          <a:p>
            <a:pPr lvl="0"/>
            <a:r>
              <a:rPr lang="fr-FR" dirty="0"/>
              <a:t>peut-on compléter les informations ? </a:t>
            </a:r>
          </a:p>
          <a:p>
            <a:pPr lvl="0"/>
            <a:r>
              <a:rPr lang="fr-FR" dirty="0"/>
              <a:t>doit-on analyser ou simplement décrire ? </a:t>
            </a:r>
          </a:p>
          <a:p>
            <a:pPr lvl="0"/>
            <a:r>
              <a:rPr lang="fr-FR" dirty="0"/>
              <a:t>que faire des informations incertaines ?</a:t>
            </a:r>
          </a:p>
          <a:p>
            <a:endParaRPr lang="fr-FR" dirty="0"/>
          </a:p>
          <a:p>
            <a:r>
              <a:rPr lang="fr-FR" dirty="0"/>
              <a:t>Que constatez vous ? </a:t>
            </a:r>
          </a:p>
          <a:p>
            <a:r>
              <a:rPr lang="fr-FR" dirty="0"/>
              <a:t>Peut on dire que cette présentation est valable ? </a:t>
            </a:r>
          </a:p>
          <a:p>
            <a:r>
              <a:rPr lang="fr-FR" dirty="0"/>
              <a:t>Non ? Pourquoi ?</a:t>
            </a:r>
          </a:p>
          <a:p>
            <a:endParaRPr lang="fr-FR" dirty="0"/>
          </a:p>
        </p:txBody>
      </p:sp>
    </p:spTree>
    <p:extLst>
      <p:ext uri="{BB962C8B-B14F-4D97-AF65-F5344CB8AC3E}">
        <p14:creationId xmlns:p14="http://schemas.microsoft.com/office/powerpoint/2010/main" val="3573712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solidFill>
                  <a:srgbClr val="FF0000"/>
                </a:solidFill>
              </a:rPr>
              <a:t>ROUGE : Données entièrement inventées</a:t>
            </a:r>
          </a:p>
          <a:p>
            <a:r>
              <a:rPr lang="fr-FR" dirty="0"/>
              <a:t>L'IA ne connaît pas le bien. Elle n'a reçu aucune information : ni surface, ni étage, ni état, ni équipements. Elle a tout fabriqué — cuisine équipée, salle de bains moderne, belle exposition — sans aucun fondement. Dans un rapport judiciaire, chaque affirmation doit être vérifiable. Un expert contradicteur ou un juge peut contester n'importe laquelle de ces assertions : elles sont indéfendables.</a:t>
            </a:r>
          </a:p>
          <a:p>
            <a:endParaRPr lang="fr-FR" b="1" dirty="0">
              <a:solidFill>
                <a:schemeClr val="accent4">
                  <a:lumMod val="75000"/>
                </a:schemeClr>
              </a:solidFill>
            </a:endParaRPr>
          </a:p>
          <a:p>
            <a:r>
              <a:rPr lang="fr-FR" b="1" dirty="0">
                <a:solidFill>
                  <a:schemeClr val="accent4">
                    <a:lumMod val="75000"/>
                  </a:schemeClr>
                </a:solidFill>
              </a:rPr>
              <a:t>BLEU CIEL : Ton commercial incompatible avec un rapport d'expertise</a:t>
            </a:r>
          </a:p>
          <a:p>
            <a:r>
              <a:rPr lang="fr-FR" dirty="0"/>
              <a:t>« Bon standing », « finitions soignées », « parties communes accueillantes », « logement idéal » — ce sont des formules d'annonce immobilière, pas de rapport d'expert. Un juge qui lit ce type de formulation doute immédiatement de la neutralité et du sérieux du rédacteur. Le ton d'un rapport judiciaire est factuel, sobre, sans appréciation valorisante non étayée.</a:t>
            </a:r>
          </a:p>
          <a:p>
            <a:endParaRPr lang="fr-FR" b="1" dirty="0">
              <a:solidFill>
                <a:srgbClr val="0070C0"/>
              </a:solidFill>
            </a:endParaRPr>
          </a:p>
          <a:p>
            <a:r>
              <a:rPr lang="fr-FR" b="1" dirty="0">
                <a:solidFill>
                  <a:srgbClr val="0070C0"/>
                </a:solidFill>
              </a:rPr>
              <a:t>BLEU FONCE : Vague / inutilisable</a:t>
            </a:r>
            <a:r>
              <a:rPr lang="fr-FR" dirty="0"/>
              <a:t>— aucune donnée utilisable</a:t>
            </a:r>
          </a:p>
          <a:p>
            <a:r>
              <a:rPr lang="fr-FR" dirty="0"/>
              <a:t>« Superficie généreuse », « plusieurs chambres » — sans chiffre, sans précision, sans surface, ces formulations ne permettent aucun calcul de valeur. Le rapport d'expertise doit pouvoir servir de base à la fixation d'un prix : une description sans données chiffrées est inutilisable à cette fin.</a:t>
            </a:r>
          </a:p>
          <a:p>
            <a:endParaRPr lang="fr-FR" b="1" dirty="0">
              <a:solidFill>
                <a:srgbClr val="00B050"/>
              </a:solidFill>
            </a:endParaRPr>
          </a:p>
          <a:p>
            <a:r>
              <a:rPr lang="fr-FR" b="1" dirty="0">
                <a:solidFill>
                  <a:srgbClr val="00B050"/>
                </a:solidFill>
              </a:rPr>
              <a:t>VERT : Jugements subjectifs non étayés</a:t>
            </a:r>
          </a:p>
          <a:p>
            <a:r>
              <a:rPr lang="fr-FR" dirty="0"/>
              <a:t>« Bien de qualité », « ensoleillement optimal », « bien entretenu » — ces affirmations sont des appréciations que l'expert doit étayer par des constats de visite précis. Les formuler sans les justifier expose l'expert à une contestation simple : « comment avez-vous mesuré l'ensoleillement ? sur quelle base qualifiez-vous le bien d'entretenu ? »</a:t>
            </a:r>
          </a:p>
          <a:p>
            <a:endParaRPr lang="fr-FR" dirty="0"/>
          </a:p>
          <a:p>
            <a:br>
              <a:rPr lang="fr-FR" dirty="0"/>
            </a:br>
            <a:endParaRPr lang="fr-FR" dirty="0"/>
          </a:p>
          <a:p>
            <a:r>
              <a:rPr lang="fr-FR" b="1" dirty="0"/>
              <a:t>Pourquoi c'est inutilisable : l'analyse point par point---</a:t>
            </a:r>
          </a:p>
          <a:p>
            <a:r>
              <a:rPr lang="fr-FR" b="1" dirty="0"/>
              <a:t>Ce que cette démonstration enseigne</a:t>
            </a:r>
          </a:p>
          <a:p>
            <a:endParaRPr lang="fr-FR" b="1" dirty="0"/>
          </a:p>
          <a:p>
            <a:r>
              <a:rPr lang="fr-FR" dirty="0"/>
              <a:t>Le problème n'est pas que l'IA a mal travaillé. </a:t>
            </a:r>
            <a:r>
              <a:rPr lang="fr-FR" b="1" dirty="0"/>
              <a:t>Elle a parfaitement exécuté ce qu'on lui a demandé.</a:t>
            </a:r>
            <a:r>
              <a:rPr lang="fr-FR" dirty="0"/>
              <a:t> On lui a dit "décris cet appartement" sans lui donner d'appartement à décrire — elle en a inventé un, avec le ton qu'elle juge approprié à une "description d'appartement", c'est-à-dire le ton d'une annonce immobilière.</a:t>
            </a:r>
          </a:p>
          <a:p>
            <a:endParaRPr lang="fr-FR" dirty="0"/>
          </a:p>
          <a:p>
            <a:r>
              <a:rPr lang="fr-FR" dirty="0"/>
              <a:t>C'est le principe fondamental à retenir : </a:t>
            </a:r>
            <a:r>
              <a:rPr lang="fr-FR" b="1" dirty="0"/>
              <a:t>l'IA optimise pour la forme de la demande, pas pour vos contraintes professionnelles</a:t>
            </a:r>
            <a:r>
              <a:rPr lang="fr-FR" dirty="0"/>
              <a:t>. Si vous demandez une "description", elle produit une description au sens courant du terme. Si vous lui demandez une "description sobre et technique pour un rapport judiciaire, à partir de ces notes de visite précises", elle produit quelque chose de radicalement différent — et directement utilisable.</a:t>
            </a:r>
          </a:p>
          <a:p>
            <a:endParaRPr lang="fr-FR" dirty="0"/>
          </a:p>
          <a:p>
            <a:r>
              <a:rPr lang="fr-FR" dirty="0"/>
              <a:t>La qualité de la sortie est entièrement déterminée par la qualité de l'entrée. Ce que vous venez de voir est la démonstration la plus simple et la plus convaincante de ce principe.</a:t>
            </a:r>
          </a:p>
          <a:p>
            <a:endParaRPr lang="fr-FR" dirty="0"/>
          </a:p>
          <a:p>
            <a:endParaRPr lang="fr-FR" dirty="0"/>
          </a:p>
        </p:txBody>
      </p:sp>
    </p:spTree>
    <p:extLst>
      <p:ext uri="{BB962C8B-B14F-4D97-AF65-F5344CB8AC3E}">
        <p14:creationId xmlns:p14="http://schemas.microsoft.com/office/powerpoint/2010/main" val="1488324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C2289-1611-67DE-91D9-543834E9D45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5A9656-BC71-176F-A1C3-29DB83999A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DAF4FF-9AFE-FF88-9CEB-932FF9711A42}"/>
              </a:ext>
            </a:extLst>
          </p:cNvPr>
          <p:cNvSpPr>
            <a:spLocks noGrp="1"/>
          </p:cNvSpPr>
          <p:nvPr>
            <p:ph type="body" idx="1"/>
          </p:nvPr>
        </p:nvSpPr>
        <p:spPr/>
        <p:txBody>
          <a:bodyPr/>
          <a:lstStyle/>
          <a:p>
            <a:pPr>
              <a:lnSpc>
                <a:spcPct val="150000"/>
              </a:lnSpc>
            </a:pPr>
            <a:r>
              <a:rPr lang="fr-FR" dirty="0"/>
              <a:t>Commenter :</a:t>
            </a:r>
          </a:p>
          <a:p>
            <a:pPr>
              <a:lnSpc>
                <a:spcPct val="150000"/>
              </a:lnSpc>
            </a:pPr>
            <a:r>
              <a:rPr lang="fr-FR" dirty="0"/>
              <a:t> </a:t>
            </a:r>
          </a:p>
          <a:p>
            <a:pPr marL="171450" indent="-171450">
              <a:lnSpc>
                <a:spcPct val="150000"/>
              </a:lnSpc>
              <a:buFont typeface="Arial" panose="020B0604020202020204" pitchFamily="34" charset="0"/>
              <a:buChar char="•"/>
            </a:pPr>
            <a:r>
              <a:rPr lang="fr-FR" dirty="0"/>
              <a:t>Nous allons proposer à l’IA un prompt avec un contexte</a:t>
            </a:r>
          </a:p>
          <a:p>
            <a:pPr marL="171450" indent="-171450">
              <a:lnSpc>
                <a:spcPct val="150000"/>
              </a:lnSpc>
              <a:buFont typeface="Arial" panose="020B0604020202020204" pitchFamily="34" charset="0"/>
              <a:buChar char="•"/>
            </a:pPr>
            <a:endParaRPr lang="fr-FR" dirty="0"/>
          </a:p>
          <a:p>
            <a:pPr marL="171450" indent="-171450">
              <a:lnSpc>
                <a:spcPct val="150000"/>
              </a:lnSpc>
              <a:buFont typeface="Arial" panose="020B0604020202020204" pitchFamily="34" charset="0"/>
              <a:buChar char="•"/>
            </a:pPr>
            <a:r>
              <a:rPr lang="fr-FR" dirty="0"/>
              <a:t>Plus structuré et précis que le premier prompt</a:t>
            </a:r>
          </a:p>
        </p:txBody>
      </p:sp>
    </p:spTree>
    <p:extLst>
      <p:ext uri="{BB962C8B-B14F-4D97-AF65-F5344CB8AC3E}">
        <p14:creationId xmlns:p14="http://schemas.microsoft.com/office/powerpoint/2010/main" val="2505484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5006-D871-D786-4270-E4C95BCABA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2C86BE-E76A-76DE-4040-76F7648BF32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1AF1A17-B1E6-1AE1-4157-80802E6DB5A7}"/>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Résultat a commenter en groupe :</a:t>
            </a:r>
          </a:p>
          <a:p>
            <a:endParaRPr lang="fr-FR"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bonne base, structurée et sobre. </a:t>
            </a:r>
          </a:p>
          <a:p>
            <a:pPr marL="171450" indent="-171450">
              <a:buFont typeface="Arial" panose="020B0604020202020204" pitchFamily="34" charset="0"/>
              <a:buChar char="•"/>
            </a:pPr>
            <a:endParaRPr lang="fr-FR"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Quelques formulations à affiner, mais directement intégrable avec une relecture rapide.</a:t>
            </a:r>
            <a:endParaRPr lang="fr-FR" dirty="0"/>
          </a:p>
        </p:txBody>
      </p:sp>
    </p:spTree>
    <p:extLst>
      <p:ext uri="{BB962C8B-B14F-4D97-AF65-F5344CB8AC3E}">
        <p14:creationId xmlns:p14="http://schemas.microsoft.com/office/powerpoint/2010/main" val="2183161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B0FC8-8EB3-2838-56FB-6187EFA13B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34BFC6-C808-936A-514E-9D061DC9B8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C3058D8-FB76-07F8-2D4D-0B3320C83BEB}"/>
              </a:ext>
            </a:extLst>
          </p:cNvPr>
          <p:cNvSpPr>
            <a:spLocks noGrp="1"/>
          </p:cNvSpPr>
          <p:nvPr>
            <p:ph type="body" idx="1"/>
          </p:nvPr>
        </p:nvSpPr>
        <p:spPr/>
        <p:txBody>
          <a:bodyPr/>
          <a:lstStyle/>
          <a:p>
            <a:pPr>
              <a:lnSpc>
                <a:spcPct val="150000"/>
              </a:lnSpc>
            </a:pPr>
            <a:r>
              <a:rPr lang="fr-FR" sz="1200" b="1" dirty="0">
                <a:solidFill>
                  <a:srgbClr val="00B050"/>
                </a:solidFill>
              </a:rPr>
              <a:t>Ce que ce prompt fait bien</a:t>
            </a:r>
          </a:p>
          <a:p>
            <a:pPr>
              <a:lnSpc>
                <a:spcPct val="150000"/>
              </a:lnSpc>
            </a:pPr>
            <a:endParaRPr lang="fr-FR" sz="1200" b="1" dirty="0">
              <a:solidFill>
                <a:srgbClr val="00B050"/>
              </a:solidFill>
            </a:endParaRPr>
          </a:p>
          <a:p>
            <a:pPr marL="342900" indent="-342900">
              <a:buFont typeface="Arial" panose="020B0604020202020204" pitchFamily="34" charset="0"/>
              <a:buChar char="•"/>
            </a:pPr>
            <a:r>
              <a:rPr lang="fr-FR" sz="1200" dirty="0"/>
              <a:t>Toutes les données fournies sont présentes — aucune information inventée</a:t>
            </a:r>
          </a:p>
          <a:p>
            <a:pPr marL="342900" indent="-342900">
              <a:buFont typeface="Arial" panose="020B0604020202020204" pitchFamily="34" charset="0"/>
              <a:buChar char="•"/>
            </a:pPr>
            <a:r>
              <a:rPr lang="fr-FR" sz="1200" dirty="0"/>
              <a:t>Ton sobre, aucune formule commerciale, aucun superlatif</a:t>
            </a:r>
          </a:p>
          <a:p>
            <a:pPr marL="342900" indent="-342900">
              <a:buFont typeface="Arial" panose="020B0604020202020204" pitchFamily="34" charset="0"/>
              <a:buChar char="•"/>
            </a:pPr>
            <a:r>
              <a:rPr lang="fr-FR" sz="1200" dirty="0"/>
              <a:t>Les surfaces sont citées avec précision (22 m², 11 m², 9 m²)</a:t>
            </a:r>
          </a:p>
          <a:p>
            <a:pPr marL="342900" indent="-342900">
              <a:buFont typeface="Arial" panose="020B0604020202020204" pitchFamily="34" charset="0"/>
              <a:buChar char="•"/>
            </a:pPr>
            <a:r>
              <a:rPr lang="fr-FR" sz="1200" dirty="0"/>
              <a:t>L'état vétuste de la salle de bains est mentionné sans atténuation</a:t>
            </a:r>
          </a:p>
          <a:p>
            <a:pPr marL="342900" indent="-342900">
              <a:buFont typeface="Arial" panose="020B0604020202020204" pitchFamily="34" charset="0"/>
              <a:buChar char="•"/>
            </a:pPr>
            <a:r>
              <a:rPr lang="fr-FR" sz="1200" dirty="0"/>
              <a:t>L'absence d'ascenseur est intégrée comme facteur défavorable</a:t>
            </a:r>
          </a:p>
          <a:p>
            <a:pPr marL="342900" indent="-342900">
              <a:buFont typeface="Arial" panose="020B0604020202020204" pitchFamily="34" charset="0"/>
              <a:buChar char="•"/>
            </a:pPr>
            <a:r>
              <a:rPr lang="fr-FR" sz="1200" dirty="0"/>
              <a:t>Longueur respectée — 148 mots dans la cible</a:t>
            </a:r>
          </a:p>
          <a:p>
            <a:endParaRPr lang="fr-FR" dirty="0"/>
          </a:p>
        </p:txBody>
      </p:sp>
    </p:spTree>
    <p:extLst>
      <p:ext uri="{BB962C8B-B14F-4D97-AF65-F5344CB8AC3E}">
        <p14:creationId xmlns:p14="http://schemas.microsoft.com/office/powerpoint/2010/main" val="1888768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65C1-F276-310A-DD60-780BF641FD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63D147B-6FBA-EC17-8AB3-8F4846EF678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B3FEEC-5C1B-2736-3ADC-5A019F101B5A}"/>
              </a:ext>
            </a:extLst>
          </p:cNvPr>
          <p:cNvSpPr>
            <a:spLocks noGrp="1"/>
          </p:cNvSpPr>
          <p:nvPr>
            <p:ph type="body" idx="1"/>
          </p:nvPr>
        </p:nvSpPr>
        <p:spPr/>
        <p:txBody>
          <a:bodyPr/>
          <a:lstStyle/>
          <a:p>
            <a:pPr>
              <a:lnSpc>
                <a:spcPct val="150000"/>
              </a:lnSpc>
            </a:pPr>
            <a:r>
              <a:rPr lang="fr-FR" sz="1800" b="1" dirty="0">
                <a:solidFill>
                  <a:srgbClr val="FF0000"/>
                </a:solidFill>
              </a:rPr>
              <a:t>Ce qui manque encore</a:t>
            </a:r>
          </a:p>
          <a:p>
            <a:pPr marL="342900" indent="-342900">
              <a:buFont typeface="Arial" panose="020B0604020202020204" pitchFamily="34" charset="0"/>
              <a:buChar char="•"/>
            </a:pPr>
            <a:r>
              <a:rPr lang="fr-FR" sz="1200" dirty="0"/>
              <a:t>Pas de structure en deux parties distinctes (</a:t>
            </a:r>
            <a:r>
              <a:rPr lang="fr-FR" sz="1200" b="1" dirty="0"/>
              <a:t>situation générale / état intérieur</a:t>
            </a:r>
            <a:r>
              <a:rPr lang="fr-FR" sz="1200" dirty="0"/>
              <a:t>) — le tout est mélangé</a:t>
            </a:r>
          </a:p>
          <a:p>
            <a:pPr marL="342900" indent="-342900">
              <a:buFont typeface="Arial" panose="020B0604020202020204" pitchFamily="34" charset="0"/>
              <a:buChar char="•"/>
            </a:pPr>
            <a:r>
              <a:rPr lang="fr-FR" sz="1200" b="1" dirty="0"/>
              <a:t>Aucune mention de l'immeuble lui-même </a:t>
            </a:r>
            <a:r>
              <a:rPr lang="fr-FR" sz="1200" dirty="0"/>
              <a:t>(haussmannien ? qualité des parties communes ?)</a:t>
            </a:r>
          </a:p>
          <a:p>
            <a:pPr marL="342900" indent="-342900">
              <a:buFont typeface="Arial" panose="020B0604020202020204" pitchFamily="34" charset="0"/>
              <a:buChar char="•"/>
            </a:pPr>
            <a:r>
              <a:rPr lang="fr-FR" sz="1200" dirty="0"/>
              <a:t>Le double vitrage partiel n'est pas </a:t>
            </a:r>
            <a:r>
              <a:rPr lang="fr-FR" sz="1200" b="1" dirty="0"/>
              <a:t>suffisamment qualifié </a:t>
            </a:r>
            <a:r>
              <a:rPr lang="fr-FR" sz="1200" dirty="0"/>
              <a:t>— quelles menuiseries restent en simple vitrage ?</a:t>
            </a:r>
          </a:p>
          <a:p>
            <a:pPr marL="342900" indent="-342900">
              <a:buFont typeface="Arial" panose="020B0604020202020204" pitchFamily="34" charset="0"/>
              <a:buChar char="•"/>
            </a:pPr>
            <a:r>
              <a:rPr lang="fr-FR" sz="1200" b="1" dirty="0"/>
              <a:t>Pas de mention </a:t>
            </a:r>
            <a:r>
              <a:rPr lang="fr-FR" sz="1200" dirty="0"/>
              <a:t>de </a:t>
            </a:r>
            <a:r>
              <a:rPr lang="fr-FR" sz="1200" b="1" dirty="0"/>
              <a:t>l'orientation</a:t>
            </a:r>
            <a:r>
              <a:rPr lang="fr-FR" sz="1200" dirty="0"/>
              <a:t> ni de la </a:t>
            </a:r>
            <a:r>
              <a:rPr lang="fr-FR" sz="1200" b="1" dirty="0"/>
              <a:t>luminosité</a:t>
            </a:r>
            <a:r>
              <a:rPr lang="fr-FR" sz="1200" dirty="0"/>
              <a:t>, pourtant pertinentes dans un rapport</a:t>
            </a:r>
          </a:p>
          <a:p>
            <a:pPr marL="342900" indent="-342900">
              <a:buFont typeface="Arial" panose="020B0604020202020204" pitchFamily="34" charset="0"/>
              <a:buChar char="•"/>
            </a:pPr>
            <a:r>
              <a:rPr lang="fr-FR" sz="1200" b="1" dirty="0"/>
              <a:t>Absence du rôle de l'expert </a:t>
            </a:r>
            <a:r>
              <a:rPr lang="fr-FR" sz="1200" dirty="0"/>
              <a:t>en en-tête du prompt — l'IA n'est pas placée dans un cadre judiciaire, ce qui se ressent dans le texte</a:t>
            </a:r>
          </a:p>
          <a:p>
            <a:pPr marL="342900" indent="-342900">
              <a:buFont typeface="Arial" panose="020B0604020202020204" pitchFamily="34" charset="0"/>
              <a:buChar char="•"/>
            </a:pPr>
            <a:r>
              <a:rPr lang="fr-FR" sz="1200" b="1" dirty="0"/>
              <a:t>Pas adapté à un rapport contradictoire </a:t>
            </a:r>
            <a:r>
              <a:rPr lang="fr-FR" sz="1200" dirty="0"/>
              <a:t>: manque de prudence rédactionnelle - "j'ai constaté" aurait été préférable plutôt que de rédiger des affirmations générales)</a:t>
            </a:r>
          </a:p>
          <a:p>
            <a:endParaRPr lang="fr-FR" b="1" dirty="0"/>
          </a:p>
          <a:p>
            <a:endParaRPr lang="fr-FR" b="1" dirty="0"/>
          </a:p>
          <a:p>
            <a:r>
              <a:rPr lang="fr-FR" b="1" dirty="0"/>
              <a:t>Ce que cette démonstration enseigne </a:t>
            </a:r>
          </a:p>
          <a:p>
            <a:endParaRPr lang="fr-FR" b="1" dirty="0"/>
          </a:p>
          <a:p>
            <a:r>
              <a:rPr lang="fr-FR" dirty="0"/>
              <a:t>Vous voyez que l'IA n'est pas inutile avec un prompt imprécis : elle nous aide bien et produit quelque chose de correct, sobre, sans faute. </a:t>
            </a:r>
          </a:p>
          <a:p>
            <a:endParaRPr lang="fr-FR" dirty="0"/>
          </a:p>
          <a:p>
            <a:r>
              <a:rPr lang="fr-FR" dirty="0"/>
              <a:t>Vous voyez aussi que la différence entre un résultat "correct" et un résultat "directement intégrable dans un rapport judiciaire" sont deux choses différentes.</a:t>
            </a:r>
          </a:p>
          <a:p>
            <a:endParaRPr lang="fr-FR" dirty="0"/>
          </a:p>
          <a:p>
            <a:r>
              <a:rPr lang="fr-FR" b="1" dirty="0"/>
              <a:t>Quelles sont les trois lacunes les plus importantes que vous relevez ?</a:t>
            </a:r>
          </a:p>
          <a:p>
            <a:endParaRPr lang="fr-FR" dirty="0"/>
          </a:p>
          <a:p>
            <a:r>
              <a:rPr lang="fr-FR" b="1" dirty="0"/>
              <a:t>La première est l'absence de rôle assigné. </a:t>
            </a:r>
          </a:p>
          <a:p>
            <a:r>
              <a:rPr lang="fr-FR" dirty="0"/>
              <a:t>Sans la phrase "Tu es expert immobilier agréé", l'IA adopte un registre généraliste. Elle écrit comme un bon rédacteur, pas comme un expert de cour d'appel. Le registre judiciaire — la prudence des formulations, le "j'ai constaté", le soin à ne rien affirmer sans base — ne s'active pas spontanément.</a:t>
            </a:r>
          </a:p>
          <a:p>
            <a:endParaRPr lang="fr-FR" dirty="0"/>
          </a:p>
          <a:p>
            <a:r>
              <a:rPr lang="fr-FR" b="1" dirty="0"/>
              <a:t>La deuxième est l'absence de structure imposée. </a:t>
            </a:r>
          </a:p>
          <a:p>
            <a:r>
              <a:rPr lang="fr-FR" dirty="0"/>
              <a:t>L'IA a fusionné la situation générale et l’état intérieur dans un flux continu. </a:t>
            </a:r>
          </a:p>
          <a:p>
            <a:r>
              <a:rPr lang="fr-FR" dirty="0"/>
              <a:t>Dans un rapport, ces deux blocs ont des fonctions distinctes : </a:t>
            </a:r>
          </a:p>
          <a:p>
            <a:pPr marL="171450" indent="-171450">
              <a:buFont typeface="Arial" panose="020B0604020202020204" pitchFamily="34" charset="0"/>
              <a:buChar char="•"/>
            </a:pPr>
            <a:r>
              <a:rPr lang="fr-FR" dirty="0"/>
              <a:t>le premier situe le bien objectivement, </a:t>
            </a:r>
          </a:p>
          <a:p>
            <a:pPr marL="171450" indent="-171450">
              <a:buFont typeface="Arial" panose="020B0604020202020204" pitchFamily="34" charset="0"/>
              <a:buChar char="•"/>
            </a:pPr>
            <a:r>
              <a:rPr lang="fr-FR" dirty="0"/>
              <a:t>le second rend compte de la visite. </a:t>
            </a:r>
          </a:p>
          <a:p>
            <a:r>
              <a:rPr lang="fr-FR" dirty="0"/>
              <a:t>Les mélanger rend le document moins lisible pour un juge ou un expert contradicteur.</a:t>
            </a:r>
          </a:p>
          <a:p>
            <a:endParaRPr lang="fr-FR" dirty="0"/>
          </a:p>
          <a:p>
            <a:r>
              <a:rPr lang="fr-FR" b="1" dirty="0"/>
              <a:t>La troisième est la formulation des constats</a:t>
            </a:r>
            <a:r>
              <a:rPr lang="fr-FR" dirty="0"/>
              <a:t>. </a:t>
            </a:r>
          </a:p>
          <a:p>
            <a:r>
              <a:rPr lang="fr-FR" dirty="0"/>
              <a:t>"L'appartement bénéficie d'une belle exposition" (prompt 1) </a:t>
            </a:r>
          </a:p>
          <a:p>
            <a:r>
              <a:rPr lang="fr-FR" dirty="0"/>
              <a:t>est devenu : "L'appartement ne bénéficie pas d'ascenseur" (prompt 2) — le rendu a fait des progrès réels. </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Mais un rapport judiciaire doit privilégier une formulation qui ancre le constat dans la visite physique de l'expert afin de le rendre opposable.</a:t>
            </a:r>
          </a:p>
          <a:p>
            <a:r>
              <a:rPr lang="fr-FR" dirty="0"/>
              <a:t>Exemple : préférable d’écrire </a:t>
            </a:r>
            <a:r>
              <a:rPr lang="fr-FR" i="1" dirty="0"/>
              <a:t>"j'ai constaté l'absence d'ascenseur desservant l'étage"</a:t>
            </a:r>
          </a:p>
        </p:txBody>
      </p:sp>
    </p:spTree>
    <p:extLst>
      <p:ext uri="{BB962C8B-B14F-4D97-AF65-F5344CB8AC3E}">
        <p14:creationId xmlns:p14="http://schemas.microsoft.com/office/powerpoint/2010/main" val="3774440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DED21-8D4B-AEA1-E14D-B0A4723D8C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FC7AD1-910B-39A1-F832-D21A2F7558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1EBF46-1586-6F49-B157-4959D4383036}"/>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Ce qu'apporte le niveau 3</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Le rôle assigné, </a:t>
            </a:r>
          </a:p>
          <a:p>
            <a:r>
              <a:rPr lang="fr-FR" sz="1200" b="0" i="0" kern="1200" dirty="0">
                <a:solidFill>
                  <a:schemeClr val="tx1"/>
                </a:solidFill>
                <a:effectLst/>
                <a:latin typeface="+mn-lt"/>
                <a:ea typeface="+mn-ea"/>
                <a:cs typeface="+mn-cs"/>
              </a:rPr>
              <a:t>la structure en deux paragraphes </a:t>
            </a:r>
          </a:p>
          <a:p>
            <a:r>
              <a:rPr lang="fr-FR" sz="1200" b="0" i="0" kern="1200" dirty="0">
                <a:solidFill>
                  <a:schemeClr val="tx1"/>
                </a:solidFill>
                <a:effectLst/>
                <a:latin typeface="+mn-lt"/>
                <a:ea typeface="+mn-ea"/>
                <a:cs typeface="+mn-cs"/>
              </a:rPr>
              <a:t>et la contrainte de rédiger à la  "première personne pour les constats" produit un texte directement intégrable dans un rapport judiciaire sans correction.</a:t>
            </a:r>
            <a:endParaRPr lang="fr-FR" dirty="0"/>
          </a:p>
        </p:txBody>
      </p:sp>
    </p:spTree>
    <p:extLst>
      <p:ext uri="{BB962C8B-B14F-4D97-AF65-F5344CB8AC3E}">
        <p14:creationId xmlns:p14="http://schemas.microsoft.com/office/powerpoint/2010/main" val="3948479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91FC0-3F76-3E28-1F27-BBE62B5E0A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6D4E86-BF7A-078A-CC0E-D7F2BB574E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4EDC0AA-2622-7BC2-B912-1B2BD4C1BFFC}"/>
              </a:ext>
            </a:extLst>
          </p:cNvPr>
          <p:cNvSpPr>
            <a:spLocks noGrp="1"/>
          </p:cNvSpPr>
          <p:nvPr>
            <p:ph type="body" idx="1"/>
          </p:nvPr>
        </p:nvSpPr>
        <p:spPr/>
        <p:txBody>
          <a:bodyPr/>
          <a:lstStyle/>
          <a:p>
            <a:r>
              <a:rPr lang="fr-FR" sz="1400" b="1" dirty="0"/>
              <a:t>Notes de visite simulées — ce que l'expert a relevé sur place</a:t>
            </a:r>
          </a:p>
          <a:p>
            <a:r>
              <a:rPr lang="fr-FR" sz="1200" i="1" dirty="0"/>
              <a:t>(Ce sont les données brutes que vous auriez prises lors de votre visite, avant de les passer à l’IA)</a:t>
            </a:r>
          </a:p>
          <a:p>
            <a:endParaRPr lang="fr-FR" dirty="0"/>
          </a:p>
        </p:txBody>
      </p:sp>
    </p:spTree>
    <p:extLst>
      <p:ext uri="{BB962C8B-B14F-4D97-AF65-F5344CB8AC3E}">
        <p14:creationId xmlns:p14="http://schemas.microsoft.com/office/powerpoint/2010/main" val="3220945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5324C-2178-F049-AA76-2CB99B5294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61C237-2C94-4043-A13F-3D1F661CDD6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FD89AC-0E58-1148-0AC3-CF2A5B23F0B7}"/>
              </a:ext>
            </a:extLst>
          </p:cNvPr>
          <p:cNvSpPr>
            <a:spLocks noGrp="1"/>
          </p:cNvSpPr>
          <p:nvPr>
            <p:ph type="body" idx="1"/>
          </p:nvPr>
        </p:nvSpPr>
        <p:spPr/>
        <p:txBody>
          <a:bodyPr/>
          <a:lstStyle/>
          <a:p>
            <a:r>
              <a:rPr lang="fr-FR" b="1" dirty="0"/>
              <a:t>Décompte : 272 mots</a:t>
            </a:r>
            <a:r>
              <a:rPr lang="fr-FR" dirty="0"/>
              <a:t> — légèrement au-delà de la cible de 180 mots, parce que les notes de visite étaient riches. </a:t>
            </a:r>
          </a:p>
          <a:p>
            <a:endParaRPr lang="fr-FR" dirty="0"/>
          </a:p>
          <a:p>
            <a:r>
              <a:rPr lang="fr-FR" dirty="0"/>
              <a:t>En formation, c'est l'occasion d'une leçon supplémentaire : ajouter à l’IA la contrainte "150 à 180 mots maximum — si les notes sont abondantes, hiérarchise les éléments les plus pertinents pour la valorisation"</a:t>
            </a:r>
            <a:endParaRPr lang="fr-FR" sz="1200" kern="1200" dirty="0">
              <a:solidFill>
                <a:schemeClr val="tx1"/>
              </a:solidFill>
              <a:latin typeface="+mn-lt"/>
              <a:ea typeface="+mn-ea"/>
              <a:cs typeface="+mn-cs"/>
            </a:endParaRPr>
          </a:p>
          <a:p>
            <a:endParaRPr lang="fr-FR" dirty="0"/>
          </a:p>
        </p:txBody>
      </p:sp>
    </p:spTree>
    <p:extLst>
      <p:ext uri="{BB962C8B-B14F-4D97-AF65-F5344CB8AC3E}">
        <p14:creationId xmlns:p14="http://schemas.microsoft.com/office/powerpoint/2010/main" val="1964138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31120-3FD5-5A48-F6B0-E6BE8A88A0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11E118-5238-CAB1-488A-5156360B9C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025E4E-1140-55D4-08F6-64A85DCB34CD}"/>
              </a:ext>
            </a:extLst>
          </p:cNvPr>
          <p:cNvSpPr>
            <a:spLocks noGrp="1"/>
          </p:cNvSpPr>
          <p:nvPr>
            <p:ph type="body" idx="1"/>
          </p:nvPr>
        </p:nvSpPr>
        <p:spPr/>
        <p:txBody>
          <a:bodyPr/>
          <a:lstStyle/>
          <a:p>
            <a:pPr rtl="0"/>
            <a:r>
              <a:rPr lang="fr-FR" b="1" dirty="0"/>
              <a:t>Ce que l'annotation révèle — le commentaire à faire en salle</a:t>
            </a:r>
          </a:p>
          <a:p>
            <a:pPr rtl="0"/>
            <a:endParaRPr lang="fr-FR" b="1" dirty="0"/>
          </a:p>
          <a:p>
            <a:pPr rtl="0"/>
            <a:r>
              <a:rPr lang="fr-FR" dirty="0"/>
              <a:t>Nous allons commenter chaque couleur une par une. C'est le moment le plus dense pédagogiquement du module 2.</a:t>
            </a:r>
          </a:p>
          <a:p>
            <a:pPr rtl="0"/>
            <a:endParaRPr lang="fr-FR" dirty="0"/>
          </a:p>
          <a:p>
            <a:pPr rtl="0"/>
            <a:r>
              <a:rPr lang="fr-FR" b="1" dirty="0"/>
              <a:t>Les ancrages dans la visite (vert)</a:t>
            </a:r>
            <a:r>
              <a:rPr lang="fr-FR" dirty="0"/>
              <a:t> sont la colonne vertébrale du rapport judiciaire. Chaque "j'ai constaté", "j'ai relevé", "j'ai observé" ancre le constat dans la visite physique de l'expert et le rend opposable. Un expert contradicteur peut contester une affirmation générale — il ne peut pas contester ce que vous avez consigné avoir vu. Notez que l'IA a produit ces formulations à la première personne parce que le prompt l'y contraignait explicitement. Sans cette consigne, elle aurait écrit "la salle de bains présente" au lieu de "j'ai constaté que la salle de bains présente".</a:t>
            </a:r>
          </a:p>
          <a:p>
            <a:pPr rtl="0"/>
            <a:endParaRPr lang="fr-FR" dirty="0"/>
          </a:p>
          <a:p>
            <a:pPr rtl="0"/>
            <a:r>
              <a:rPr lang="fr-FR" b="1" dirty="0"/>
              <a:t>Les données chiffrées vérifiables (bleu)</a:t>
            </a:r>
            <a:r>
              <a:rPr lang="fr-FR" dirty="0"/>
              <a:t> sont le fil conducteur qui relie la description à la valorisation. Chaque surface, chaque étiquette, chaque date doit pouvoir être retrouvée dans les pièces du dossier. L'IA a repris exactement les chiffres fournis dans les notes — c'est ce qu'on lui demande. Si une surface était fausse dans les notes, elle serait fausse dans la description : vérifier vos notes avant de les passer à l'IA reste la responsabilité de l'expert.</a:t>
            </a:r>
          </a:p>
          <a:p>
            <a:pPr rtl="0"/>
            <a:endParaRPr lang="fr-FR" dirty="0"/>
          </a:p>
          <a:p>
            <a:pPr rtl="0"/>
            <a:r>
              <a:rPr lang="fr-FR" b="1" dirty="0"/>
              <a:t>Les facteurs de valeur qualifiés (orange)</a:t>
            </a:r>
            <a:r>
              <a:rPr lang="fr-FR" dirty="0"/>
              <a:t> sont les éléments qui alimenteront directement la section valorisation. Le parquet d'époque en bon état, les moulures conservées, le double vitrage partiel, l'absence d'ascenseur — chacun de ces points sera repris dans les ajustements de valeur. La description et la valorisation doivent se répondre : ce qui est mentionné ici doit être chiffré là-bas.</a:t>
            </a:r>
          </a:p>
          <a:p>
            <a:pPr rtl="0"/>
            <a:endParaRPr lang="fr-FR" dirty="0"/>
          </a:p>
          <a:p>
            <a:pPr rtl="0"/>
            <a:r>
              <a:rPr lang="fr-FR" b="1" dirty="0"/>
              <a:t>La structure judiciaire (</a:t>
            </a:r>
            <a:r>
              <a:rPr lang="fr-FR" b="1" dirty="0" err="1"/>
              <a:t>fushia</a:t>
            </a:r>
            <a:r>
              <a:rPr lang="fr-FR" b="1" dirty="0"/>
              <a:t>)</a:t>
            </a:r>
            <a:r>
              <a:rPr lang="fr-FR" dirty="0"/>
              <a:t> désigne les formulations qui signalent un document à vocation contradictoire : "nécessite une remise en état complète", "appelle une rénovation" — ce sont des conclusions de constat, pas des opinions. Elles sont défendables parce qu'elles s'appuient sur des observations détaillées listées juste avant.</a:t>
            </a:r>
          </a:p>
          <a:p>
            <a:pPr rtl="0"/>
            <a:endParaRPr lang="fr-FR" dirty="0"/>
          </a:p>
          <a:p>
            <a:pPr rtl="0"/>
            <a:r>
              <a:rPr lang="fr-FR" dirty="0"/>
              <a:t>Le score final parle de lui-même : deux paragraphes distincts, zéro superlatif, zéro formule commerciale, six ancrages dans la visite, huit données chiffrées. C'est exactement ce qu'un juge ou un expert contradicteur attend d'une section descriptive.</a:t>
            </a:r>
          </a:p>
          <a:p>
            <a:endParaRPr lang="fr-FR" dirty="0"/>
          </a:p>
        </p:txBody>
      </p:sp>
    </p:spTree>
    <p:extLst>
      <p:ext uri="{BB962C8B-B14F-4D97-AF65-F5344CB8AC3E}">
        <p14:creationId xmlns:p14="http://schemas.microsoft.com/office/powerpoint/2010/main" val="2369106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C9181-CFE5-BEF0-2137-CAA3B7B757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12EFB2-2D14-CF24-FBE6-5911DBFADE3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060545-E1F8-FD31-AA00-3601BEFB749E}"/>
              </a:ext>
            </a:extLst>
          </p:cNvPr>
          <p:cNvSpPr>
            <a:spLocks noGrp="1"/>
          </p:cNvSpPr>
          <p:nvPr>
            <p:ph type="body" idx="1"/>
          </p:nvPr>
        </p:nvSpPr>
        <p:spPr/>
        <p:txBody>
          <a:bodyPr/>
          <a:lstStyle/>
          <a:p>
            <a:r>
              <a:rPr lang="fr-FR" b="1" dirty="0"/>
              <a:t>Conseil pratique à donner aux stagiaires :</a:t>
            </a:r>
            <a:r>
              <a:rPr lang="fr-FR" dirty="0"/>
              <a:t> créez un document personnel — un simple fichier texte ou une note — où vous stockez vos prompts modèles. </a:t>
            </a:r>
          </a:p>
          <a:p>
            <a:endParaRPr lang="fr-FR" dirty="0"/>
          </a:p>
          <a:p>
            <a:r>
              <a:rPr lang="fr-FR" dirty="0"/>
              <a:t>Adaptez-les au fil de vos dossiers. </a:t>
            </a:r>
          </a:p>
          <a:p>
            <a:endParaRPr lang="fr-FR" dirty="0"/>
          </a:p>
          <a:p>
            <a:r>
              <a:rPr lang="fr-FR" dirty="0"/>
              <a:t>En 3 mois de pratique, vous aurez votre propre bibliothèque de prompts calibrés pour votre façon de travailler.</a:t>
            </a:r>
          </a:p>
          <a:p>
            <a:endParaRPr lang="fr-FR" dirty="0"/>
          </a:p>
        </p:txBody>
      </p:sp>
    </p:spTree>
    <p:extLst>
      <p:ext uri="{BB962C8B-B14F-4D97-AF65-F5344CB8AC3E}">
        <p14:creationId xmlns:p14="http://schemas.microsoft.com/office/powerpoint/2010/main" val="40302288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B37D-F22A-1039-7A18-C81D1BF409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818E0D2-249B-F215-D584-5AB1F5FA9D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9DE656-DCB5-418D-D491-085AAEBBC995}"/>
              </a:ext>
            </a:extLst>
          </p:cNvPr>
          <p:cNvSpPr>
            <a:spLocks noGrp="1"/>
          </p:cNvSpPr>
          <p:nvPr>
            <p:ph type="body" idx="1"/>
          </p:nvPr>
        </p:nvSpPr>
        <p:spPr/>
        <p:txBody>
          <a:bodyPr/>
          <a:lstStyle/>
          <a:p>
            <a:r>
              <a:rPr lang="fr-FR" b="1" dirty="0"/>
              <a:t>Conseil pratique à donner aux stagiaires :</a:t>
            </a:r>
            <a:r>
              <a:rPr lang="fr-FR" dirty="0"/>
              <a:t> créez un document personnel — un simple fichier texte ou une note — où vous stockez vos prompts modèles. </a:t>
            </a:r>
          </a:p>
          <a:p>
            <a:endParaRPr lang="fr-FR" dirty="0"/>
          </a:p>
          <a:p>
            <a:r>
              <a:rPr lang="fr-FR" dirty="0"/>
              <a:t>Adaptez-les au fil de vos dossiers. </a:t>
            </a:r>
          </a:p>
          <a:p>
            <a:endParaRPr lang="fr-FR" dirty="0"/>
          </a:p>
          <a:p>
            <a:r>
              <a:rPr lang="fr-FR" dirty="0"/>
              <a:t>En 3 mois de pratique, vous aurez votre propre bibliothèque de prompts calibrés pour votre façon de travailler.</a:t>
            </a:r>
          </a:p>
          <a:p>
            <a:endParaRPr lang="fr-FR" dirty="0"/>
          </a:p>
        </p:txBody>
      </p:sp>
    </p:spTree>
    <p:extLst>
      <p:ext uri="{BB962C8B-B14F-4D97-AF65-F5344CB8AC3E}">
        <p14:creationId xmlns:p14="http://schemas.microsoft.com/office/powerpoint/2010/main" val="1249051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A47B-40DE-04DB-806E-8AA4A26FEF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1B5BA3-4307-FBE1-3DBB-70F647B9C3D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E2A70CC-1B6C-C219-D004-E20B547F7A58}"/>
              </a:ext>
            </a:extLst>
          </p:cNvPr>
          <p:cNvSpPr>
            <a:spLocks noGrp="1"/>
          </p:cNvSpPr>
          <p:nvPr>
            <p:ph type="body" idx="1"/>
          </p:nvPr>
        </p:nvSpPr>
        <p:spPr/>
        <p:txBody>
          <a:bodyPr/>
          <a:lstStyle/>
          <a:p>
            <a:r>
              <a:rPr lang="fr-FR" b="1" dirty="0"/>
              <a:t>Conseil pratique à donner aux stagiaires :</a:t>
            </a:r>
            <a:r>
              <a:rPr lang="fr-FR" dirty="0"/>
              <a:t> créez un document personnel — un simple fichier texte ou une note — où vous stockez vos prompts modèles. </a:t>
            </a:r>
          </a:p>
          <a:p>
            <a:endParaRPr lang="fr-FR" dirty="0"/>
          </a:p>
          <a:p>
            <a:r>
              <a:rPr lang="fr-FR" dirty="0"/>
              <a:t>Adaptez-les au fil de vos dossiers. </a:t>
            </a:r>
          </a:p>
          <a:p>
            <a:endParaRPr lang="fr-FR" dirty="0"/>
          </a:p>
          <a:p>
            <a:r>
              <a:rPr lang="fr-FR" dirty="0"/>
              <a:t>En 3 mois de pratique, vous aurez votre propre bibliothèque de prompts calibrés pour votre façon de travailler.</a:t>
            </a:r>
          </a:p>
          <a:p>
            <a:endParaRPr lang="fr-FR" dirty="0"/>
          </a:p>
        </p:txBody>
      </p:sp>
    </p:spTree>
    <p:extLst>
      <p:ext uri="{BB962C8B-B14F-4D97-AF65-F5344CB8AC3E}">
        <p14:creationId xmlns:p14="http://schemas.microsoft.com/office/powerpoint/2010/main" val="35733779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AD1AE-DDC1-051B-A739-A34E06F45C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AF60A3-E016-EC33-5EDA-EF4D9BA40F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9F1F99-9BCC-5C0D-6205-1CED8895D8E5}"/>
              </a:ext>
            </a:extLst>
          </p:cNvPr>
          <p:cNvSpPr>
            <a:spLocks noGrp="1"/>
          </p:cNvSpPr>
          <p:nvPr>
            <p:ph type="body" idx="1"/>
          </p:nvPr>
        </p:nvSpPr>
        <p:spPr/>
        <p:txBody>
          <a:bodyPr/>
          <a:lstStyle/>
          <a:p>
            <a:r>
              <a:rPr lang="fr-FR" b="1" dirty="0"/>
              <a:t>Conseil pratique à donner aux stagiaires :</a:t>
            </a:r>
            <a:r>
              <a:rPr lang="fr-FR" dirty="0"/>
              <a:t> créez un document personnel — un simple fichier texte ou une note — où vous stockez vos prompts modèles. </a:t>
            </a:r>
          </a:p>
          <a:p>
            <a:endParaRPr lang="fr-FR" dirty="0"/>
          </a:p>
          <a:p>
            <a:r>
              <a:rPr lang="fr-FR" dirty="0"/>
              <a:t>Adaptez-les au fil de vos dossiers. </a:t>
            </a:r>
          </a:p>
          <a:p>
            <a:endParaRPr lang="fr-FR" dirty="0"/>
          </a:p>
          <a:p>
            <a:r>
              <a:rPr lang="fr-FR" dirty="0"/>
              <a:t>En 3 mois de pratique, vous aurez votre propre bibliothèque de prompts calibrés pour votre façon de travailler.</a:t>
            </a:r>
          </a:p>
        </p:txBody>
      </p:sp>
    </p:spTree>
    <p:extLst>
      <p:ext uri="{BB962C8B-B14F-4D97-AF65-F5344CB8AC3E}">
        <p14:creationId xmlns:p14="http://schemas.microsoft.com/office/powerpoint/2010/main" val="3933738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96C42-0DE8-D1FB-4B67-F04D12A6F9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D3BD5B-936E-2C35-2325-0A0200A5C1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EBE5B82-D21E-E3EB-7A16-EB26D71385B3}"/>
              </a:ext>
            </a:extLst>
          </p:cNvPr>
          <p:cNvSpPr>
            <a:spLocks noGrp="1"/>
          </p:cNvSpPr>
          <p:nvPr>
            <p:ph type="body" idx="1"/>
          </p:nvPr>
        </p:nvSpPr>
        <p:spPr/>
        <p:txBody>
          <a:bodyPr/>
          <a:lstStyle/>
          <a:p>
            <a:r>
              <a:rPr lang="fr-FR" dirty="0"/>
              <a:t>Les outils IA les plus récents (Claude et GPT-4o notamment) peuvent analyser directement des images. </a:t>
            </a:r>
          </a:p>
          <a:p>
            <a:endParaRPr lang="fr-FR" dirty="0"/>
          </a:p>
          <a:p>
            <a:r>
              <a:rPr lang="fr-FR" dirty="0"/>
              <a:t>Pour un expert immobilier, cela ouvre deux usages concrets.</a:t>
            </a:r>
          </a:p>
          <a:p>
            <a:endParaRPr lang="fr-FR" dirty="0"/>
          </a:p>
          <a:p>
            <a:pPr rtl="0"/>
            <a:r>
              <a:rPr lang="fr-FR" b="1" dirty="0"/>
              <a:t>Ce que l'IA voit bien :</a:t>
            </a:r>
            <a:r>
              <a:rPr lang="fr-FR" dirty="0"/>
              <a:t> matériaux apparents, état général, fissures visibles, menuiseries, type de revêtements, désordres évidents.</a:t>
            </a:r>
          </a:p>
          <a:p>
            <a:pPr rtl="0"/>
            <a:endParaRPr lang="fr-FR" dirty="0"/>
          </a:p>
          <a:p>
            <a:pPr rtl="0"/>
            <a:r>
              <a:rPr lang="fr-FR" b="1" dirty="0"/>
              <a:t>Ce que l'IA ne voit pas :</a:t>
            </a:r>
            <a:r>
              <a:rPr lang="fr-FR" dirty="0"/>
              <a:t> profondeur d'une fissure, humidité non visible, vices cachés, conformité aux normes. L'analyse photo reste un premier niveau d'observation — elle ne remplace pas la visite.</a:t>
            </a:r>
          </a:p>
        </p:txBody>
      </p:sp>
    </p:spTree>
    <p:extLst>
      <p:ext uri="{BB962C8B-B14F-4D97-AF65-F5344CB8AC3E}">
        <p14:creationId xmlns:p14="http://schemas.microsoft.com/office/powerpoint/2010/main" val="359089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module traite de la partie la plus délicate de l'expertise : </a:t>
            </a:r>
            <a:r>
              <a:rPr lang="fr-FR" b="1" dirty="0"/>
              <a:t>la justification de la valeur par le marché. </a:t>
            </a:r>
          </a:p>
          <a:p>
            <a:endParaRPr lang="fr-FR" dirty="0"/>
          </a:p>
          <a:p>
            <a:r>
              <a:rPr lang="fr-FR" dirty="0"/>
              <a:t>C'est là que l'IA apporte le plus de valeur ajoutée en termes de temps gagné — et là aussi où les risques d'erreur sont les plus élevés. </a:t>
            </a:r>
          </a:p>
          <a:p>
            <a:endParaRPr lang="fr-FR" dirty="0"/>
          </a:p>
          <a:p>
            <a:r>
              <a:rPr lang="fr-FR" dirty="0"/>
              <a:t>L'objectif est d'apprendre à </a:t>
            </a:r>
            <a:r>
              <a:rPr lang="fr-FR" b="1" dirty="0"/>
              <a:t>combiner données fiables et IA </a:t>
            </a:r>
            <a:r>
              <a:rPr lang="fr-FR" dirty="0"/>
              <a:t>pour produire une analyse de marché argumentée, vérifiable et professionnellement défendable.</a:t>
            </a:r>
          </a:p>
        </p:txBody>
      </p:sp>
    </p:spTree>
    <p:extLst>
      <p:ext uri="{BB962C8B-B14F-4D97-AF65-F5344CB8AC3E}">
        <p14:creationId xmlns:p14="http://schemas.microsoft.com/office/powerpoint/2010/main" val="493147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Avant d'impliquer l’IA dans l’analyse et la collecte des données du marché, il faut que je pose une règle absolue : </a:t>
            </a:r>
            <a:r>
              <a:rPr lang="fr-FR" b="1"/>
              <a:t>l'IA ne doit jamais être la source des données de marché</a:t>
            </a:r>
            <a:r>
              <a:rPr lang="fr-FR"/>
              <a:t>. </a:t>
            </a:r>
          </a:p>
          <a:p>
            <a:endParaRPr lang="fr-FR"/>
          </a:p>
          <a:p>
            <a:r>
              <a:rPr lang="fr-FR"/>
              <a:t>Elle les interprète, les synthétise, les rédige — mais les chiffres viennent toujours de sources vérifiables. </a:t>
            </a:r>
          </a:p>
          <a:p>
            <a:endParaRPr lang="fr-FR"/>
          </a:p>
          <a:p>
            <a:endParaRPr lang="fr-FR" dirty="0"/>
          </a:p>
        </p:txBody>
      </p:sp>
    </p:spTree>
    <p:extLst>
      <p:ext uri="{BB962C8B-B14F-4D97-AF65-F5344CB8AC3E}">
        <p14:creationId xmlns:p14="http://schemas.microsoft.com/office/powerpoint/2010/main" val="3031657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DVF</a:t>
            </a:r>
            <a:r>
              <a:rPr lang="fr-FR" dirty="0"/>
              <a:t> : </a:t>
            </a:r>
            <a:r>
              <a:rPr lang="fr-FR" sz="1200" b="1" i="0" kern="1200" dirty="0">
                <a:solidFill>
                  <a:schemeClr val="tx1"/>
                </a:solidFill>
                <a:effectLst/>
                <a:latin typeface="+mn-lt"/>
                <a:ea typeface="+mn-ea"/>
                <a:cs typeface="+mn-cs"/>
              </a:rPr>
              <a:t>Demande de Valeur Foncière</a:t>
            </a:r>
          </a:p>
          <a:p>
            <a:endParaRPr lang="fr-FR" sz="1200" b="1"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Dans le slide suivant je vais vous montrer ce que l’IA m’a conseillé d’utiliser comme source de données, pour collecter des données utiles à mon rapport.</a:t>
            </a:r>
            <a:endParaRPr lang="fr-FR" b="0" dirty="0"/>
          </a:p>
        </p:txBody>
      </p:sp>
    </p:spTree>
    <p:extLst>
      <p:ext uri="{BB962C8B-B14F-4D97-AF65-F5344CB8AC3E}">
        <p14:creationId xmlns:p14="http://schemas.microsoft.com/office/powerpoint/2010/main" val="2092657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E0C2D-13DA-7B0D-8FE4-A2897A45AB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917515C-4C61-C175-4F9D-525B00E6AC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88DCAFB-ACE1-C0CA-94C4-98764AAA6C97}"/>
              </a:ext>
            </a:extLst>
          </p:cNvPr>
          <p:cNvSpPr>
            <a:spLocks noGrp="1"/>
          </p:cNvSpPr>
          <p:nvPr>
            <p:ph type="body" idx="1"/>
          </p:nvPr>
        </p:nvSpPr>
        <p:spPr/>
        <p:txBody>
          <a:bodyPr/>
          <a:lstStyle/>
          <a:p>
            <a:r>
              <a:rPr lang="fr-FR" dirty="0"/>
              <a:t>Tour d’horizon des sources de données utilisées</a:t>
            </a:r>
          </a:p>
          <a:p>
            <a:endParaRPr lang="fr-FR" dirty="0"/>
          </a:p>
          <a:p>
            <a:r>
              <a:rPr lang="fr-FR" dirty="0"/>
              <a:t> des L’IA me recommande d’utiliser DVF Etalab sans hésiter — c'est selon elle visiblement l'interface la plus rapide à prendre en main et la seule qui permette un export CSV direct exploitable par l'IA</a:t>
            </a:r>
            <a:endParaRPr lang="fr-FR" b="1" dirty="0"/>
          </a:p>
          <a:p>
            <a:endParaRPr lang="fr-FR" b="1" dirty="0"/>
          </a:p>
          <a:p>
            <a:r>
              <a:rPr lang="fr-FR" b="1" dirty="0"/>
              <a:t>DVF</a:t>
            </a:r>
            <a:r>
              <a:rPr lang="fr-FR" dirty="0"/>
              <a:t> : </a:t>
            </a:r>
            <a:r>
              <a:rPr lang="fr-FR" sz="1200" b="1" i="0" kern="1200" dirty="0">
                <a:solidFill>
                  <a:schemeClr val="tx1"/>
                </a:solidFill>
                <a:effectLst/>
                <a:latin typeface="+mn-lt"/>
                <a:ea typeface="+mn-ea"/>
                <a:cs typeface="+mn-cs"/>
              </a:rPr>
              <a:t>Demande de Valeur Foncière</a:t>
            </a:r>
          </a:p>
          <a:p>
            <a:endParaRPr lang="fr-FR" sz="1200" b="1"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Dans le slide suivant je vais vous montrer rapidement ce que l’IA m’a conseillé d’utiliser pour collecter des données utiles à mon rapport.</a:t>
            </a:r>
            <a:endParaRPr lang="fr-FR" b="0" dirty="0"/>
          </a:p>
        </p:txBody>
      </p:sp>
    </p:spTree>
    <p:extLst>
      <p:ext uri="{BB962C8B-B14F-4D97-AF65-F5344CB8AC3E}">
        <p14:creationId xmlns:p14="http://schemas.microsoft.com/office/powerpoint/2010/main" val="4043091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9E87-07D2-A537-60A7-B4B20C98BB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818A931-E02B-5C87-7B76-63FE336CC2E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D376D5-B6B8-2B1F-3154-C9DB480D499E}"/>
              </a:ext>
            </a:extLst>
          </p:cNvPr>
          <p:cNvSpPr>
            <a:spLocks noGrp="1"/>
          </p:cNvSpPr>
          <p:nvPr>
            <p:ph type="body" idx="1"/>
          </p:nvPr>
        </p:nvSpPr>
        <p:spPr/>
        <p:txBody>
          <a:bodyPr/>
          <a:lstStyle/>
          <a:p>
            <a:endParaRPr lang="fr-FR" b="0" dirty="0"/>
          </a:p>
        </p:txBody>
      </p:sp>
    </p:spTree>
    <p:extLst>
      <p:ext uri="{BB962C8B-B14F-4D97-AF65-F5344CB8AC3E}">
        <p14:creationId xmlns:p14="http://schemas.microsoft.com/office/powerpoint/2010/main" val="33469609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88089-51F0-A2F5-7904-D91477FE6BF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79A75C-5742-6473-D76C-9477E7E9F6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E37D2A-6591-4CC6-0B05-E76B23B682DD}"/>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ETAPE 1 : ACCEDER AUX DONNEES</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1</a:t>
            </a:r>
          </a:p>
          <a:p>
            <a:r>
              <a:rPr lang="fr-FR" sz="1200" b="0" i="0" kern="1200" dirty="0">
                <a:solidFill>
                  <a:schemeClr val="tx1"/>
                </a:solidFill>
                <a:effectLst/>
                <a:latin typeface="+mn-lt"/>
                <a:ea typeface="+mn-ea"/>
                <a:cs typeface="+mn-cs"/>
              </a:rPr>
              <a:t>Ouvrir DVF Etalab et centrer la carte</a:t>
            </a:r>
          </a:p>
          <a:p>
            <a:r>
              <a:rPr lang="fr-FR" sz="1200" b="0" i="0" kern="1200" dirty="0">
                <a:solidFill>
                  <a:schemeClr val="tx1"/>
                </a:solidFill>
                <a:effectLst/>
                <a:latin typeface="+mn-lt"/>
                <a:ea typeface="+mn-ea"/>
                <a:cs typeface="+mn-cs"/>
              </a:rPr>
              <a:t>Dans la barre de recherche en haut, taper l'adresse du bien expertisé — par exemple rue Keller, Paris 11. La carte se centre automatiquement sur ce secteur.</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2</a:t>
            </a:r>
          </a:p>
          <a:p>
            <a:r>
              <a:rPr lang="fr-FR" sz="1200" b="0" i="0" kern="1200" dirty="0">
                <a:solidFill>
                  <a:schemeClr val="tx1"/>
                </a:solidFill>
                <a:effectLst/>
                <a:latin typeface="+mn-lt"/>
                <a:ea typeface="+mn-ea"/>
                <a:cs typeface="+mn-cs"/>
              </a:rPr>
              <a:t>Appliquer quelques  filtres quand cela est possible</a:t>
            </a:r>
          </a:p>
          <a:p>
            <a:r>
              <a:rPr lang="fr-FR" sz="1200" b="0" i="0" kern="1200" dirty="0">
                <a:solidFill>
                  <a:schemeClr val="tx1"/>
                </a:solidFill>
                <a:effectLst/>
                <a:latin typeface="+mn-lt"/>
                <a:ea typeface="+mn-ea"/>
                <a:cs typeface="+mn-cs"/>
              </a:rPr>
              <a:t>type de local Appartement, la période Janvier 2023 — Décembre 2024, et si disponible la surface 55 à 85 m² pour cibler des biens comparables au T3 de 68 m².</a:t>
            </a:r>
          </a:p>
          <a:p>
            <a:r>
              <a:rPr lang="fr-FR" sz="1200" b="0" i="1" kern="1200" dirty="0">
                <a:solidFill>
                  <a:schemeClr val="tx1"/>
                </a:solidFill>
                <a:effectLst/>
                <a:latin typeface="+mn-lt"/>
                <a:ea typeface="+mn-ea"/>
                <a:cs typeface="+mn-cs"/>
              </a:rPr>
              <a:t>Ne pas filtrer trop strictement au départ — mieux vaut avoir 20 résultats à trier que 3 transactions sur un périmètre trop étroit.</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3</a:t>
            </a:r>
          </a:p>
          <a:p>
            <a:r>
              <a:rPr lang="fr-FR" sz="1200" b="0" i="0" kern="1200" dirty="0">
                <a:solidFill>
                  <a:schemeClr val="tx1"/>
                </a:solidFill>
                <a:effectLst/>
                <a:latin typeface="+mn-lt"/>
                <a:ea typeface="+mn-ea"/>
                <a:cs typeface="+mn-cs"/>
              </a:rPr>
              <a:t>Lire et sélectionner les transactions</a:t>
            </a:r>
          </a:p>
          <a:p>
            <a:r>
              <a:rPr lang="fr-FR" sz="1200" b="0" i="0" kern="1200" dirty="0">
                <a:solidFill>
                  <a:schemeClr val="tx1"/>
                </a:solidFill>
                <a:effectLst/>
                <a:latin typeface="+mn-lt"/>
                <a:ea typeface="+mn-ea"/>
                <a:cs typeface="+mn-cs"/>
              </a:rPr>
              <a:t>Chaque point sur la carte représente une transaction. Cliquer dessus affiche : adresse approximative, date de vente, surface, prix total et prix au m². Sélectionner les 10 à 15 transactions les plus proches et les plus comparables à mon bien.</a:t>
            </a:r>
          </a:p>
          <a:p>
            <a:r>
              <a:rPr lang="fr-FR" sz="1200" b="0" i="1" kern="1200" dirty="0">
                <a:solidFill>
                  <a:schemeClr val="tx1"/>
                </a:solidFill>
                <a:effectLst/>
                <a:latin typeface="+mn-lt"/>
                <a:ea typeface="+mn-ea"/>
                <a:cs typeface="+mn-cs"/>
              </a:rPr>
              <a:t>Écarter les transactions atypiques : prix manifestement sous-évalués , biens avec cave ou parking inclus dans le prix sans distinction, très grandes surfaces qui tirent la moyenne.</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4</a:t>
            </a:r>
          </a:p>
          <a:p>
            <a:r>
              <a:rPr lang="fr-FR" sz="1200" b="0" i="0" kern="1200" dirty="0">
                <a:solidFill>
                  <a:schemeClr val="tx1"/>
                </a:solidFill>
                <a:effectLst/>
                <a:latin typeface="+mn-lt"/>
                <a:ea typeface="+mn-ea"/>
                <a:cs typeface="+mn-cs"/>
              </a:rPr>
              <a:t>Exporter en CSV</a:t>
            </a:r>
          </a:p>
          <a:p>
            <a:r>
              <a:rPr lang="fr-FR" sz="1200" b="0" i="0" kern="1200" dirty="0">
                <a:solidFill>
                  <a:schemeClr val="tx1"/>
                </a:solidFill>
                <a:effectLst/>
                <a:latin typeface="+mn-lt"/>
                <a:ea typeface="+mn-ea"/>
                <a:cs typeface="+mn-cs"/>
              </a:rPr>
              <a:t>Cliquer sur "Télécharger les données" ou "Export CSV" (bouton en bas du panneau résultats). Le fichier téléchargé contient toutes les transactions visibles à l'écran avec leurs données complètes : identifiant, commune, code postal, type de local, surface réelle bâtie, valeur foncière, date de mutation.</a:t>
            </a:r>
          </a:p>
          <a:p>
            <a:endParaRPr lang="fr-FR" b="0" dirty="0"/>
          </a:p>
        </p:txBody>
      </p:sp>
    </p:spTree>
    <p:extLst>
      <p:ext uri="{BB962C8B-B14F-4D97-AF65-F5344CB8AC3E}">
        <p14:creationId xmlns:p14="http://schemas.microsoft.com/office/powerpoint/2010/main" val="40655446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72E23-3DCC-8F8C-976D-8DD606339E3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B5CEAA-4ACB-DCF7-4D60-EBB0DC39195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831CF0C-4167-C0DE-34C4-117F1D670F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ETAPE 2 : COLLECTE DES DONNEES</a:t>
            </a:r>
          </a:p>
          <a:p>
            <a:endParaRPr lang="fr-FR" dirty="0"/>
          </a:p>
          <a:p>
            <a:endParaRPr lang="fr-FR" dirty="0"/>
          </a:p>
          <a:p>
            <a:r>
              <a:rPr lang="fr-FR" dirty="0"/>
              <a:t>Le fichier DVF téléchargé depuis data.gouv.fr contient jusqu'à 43 colonnes. </a:t>
            </a:r>
          </a:p>
          <a:p>
            <a:r>
              <a:rPr lang="fr-FR" dirty="0"/>
              <a:t>Beaucoup concernent les lots de copropriété, les dépendances, et les données fiscales brutes — des informations utiles pour l'administration fiscale, pas pour un expert immobilier.</a:t>
            </a:r>
          </a:p>
          <a:p>
            <a:endParaRPr lang="fr-FR" b="0" dirty="0"/>
          </a:p>
          <a:p>
            <a:pPr rtl="0"/>
            <a:r>
              <a:rPr lang="fr-FR" b="1" dirty="0"/>
              <a:t>Nous allons appliquer une formule </a:t>
            </a:r>
            <a:r>
              <a:rPr lang="fr-FR" b="1" dirty="0" err="1"/>
              <a:t>excel</a:t>
            </a:r>
            <a:r>
              <a:rPr lang="fr-FR" b="1" dirty="0"/>
              <a:t> toute simple que je vais vous donner</a:t>
            </a:r>
          </a:p>
          <a:p>
            <a:pPr rtl="0"/>
            <a:r>
              <a:rPr lang="fr-FR" dirty="0"/>
              <a:t>Une fois le CSV ouvert dans Excel, voici les trois manipulations à faire systématiquement avant de passer les données à l'IA :</a:t>
            </a:r>
          </a:p>
          <a:p>
            <a:pPr rtl="0"/>
            <a:endParaRPr lang="fr-FR" dirty="0"/>
          </a:p>
          <a:p>
            <a:pPr rtl="0"/>
            <a:r>
              <a:rPr lang="fr-FR" b="1" dirty="0"/>
              <a:t>Étape 1 — Calculer le prix au m² :</a:t>
            </a:r>
            <a:r>
              <a:rPr lang="fr-FR" dirty="0"/>
              <a:t> en supposant que </a:t>
            </a:r>
            <a:r>
              <a:rPr lang="fr-FR" sz="1200" kern="1200" dirty="0" err="1">
                <a:solidFill>
                  <a:schemeClr val="tx1"/>
                </a:solidFill>
                <a:latin typeface="+mn-lt"/>
                <a:ea typeface="+mn-ea"/>
                <a:cs typeface="+mn-cs"/>
              </a:rPr>
              <a:t>valeur_fonciere</a:t>
            </a:r>
            <a:r>
              <a:rPr lang="fr-FR" dirty="0"/>
              <a:t> est en colonne D et </a:t>
            </a:r>
            <a:r>
              <a:rPr lang="fr-FR" sz="1200" kern="1200" dirty="0" err="1">
                <a:solidFill>
                  <a:schemeClr val="tx1"/>
                </a:solidFill>
                <a:latin typeface="+mn-lt"/>
                <a:ea typeface="+mn-ea"/>
                <a:cs typeface="+mn-cs"/>
              </a:rPr>
              <a:t>surface_reelle_bati</a:t>
            </a:r>
            <a:r>
              <a:rPr lang="fr-FR" dirty="0"/>
              <a:t> en colonne I, ajouter une colonne K avec la formule </a:t>
            </a:r>
            <a:r>
              <a:rPr lang="fr-FR" sz="1200" kern="1200" dirty="0">
                <a:solidFill>
                  <a:schemeClr val="tx1"/>
                </a:solidFill>
                <a:latin typeface="+mn-lt"/>
                <a:ea typeface="+mn-ea"/>
                <a:cs typeface="+mn-cs"/>
              </a:rPr>
              <a:t>=D2/I2</a:t>
            </a:r>
            <a:r>
              <a:rPr lang="fr-FR" dirty="0"/>
              <a:t> et formater en nombre entier. C'est la colonne la plus importante de tout le tableau.</a:t>
            </a:r>
          </a:p>
          <a:p>
            <a:pPr rtl="0"/>
            <a:endParaRPr lang="fr-FR" dirty="0"/>
          </a:p>
          <a:p>
            <a:pPr rtl="0"/>
            <a:r>
              <a:rPr lang="fr-FR" b="1" dirty="0"/>
              <a:t>Étape 2 — Filtrer les ventes non comparables :</a:t>
            </a:r>
            <a:r>
              <a:rPr lang="fr-FR" dirty="0"/>
              <a:t> utiliser le filtre automatique (</a:t>
            </a:r>
            <a:r>
              <a:rPr lang="fr-FR" dirty="0" err="1"/>
              <a:t>Ctrl+Maj+L</a:t>
            </a:r>
            <a:r>
              <a:rPr lang="fr-FR" dirty="0"/>
              <a:t>) sur </a:t>
            </a:r>
            <a:r>
              <a:rPr lang="fr-FR" sz="1200" kern="1200" dirty="0" err="1">
                <a:solidFill>
                  <a:schemeClr val="tx1"/>
                </a:solidFill>
                <a:latin typeface="+mn-lt"/>
                <a:ea typeface="+mn-ea"/>
                <a:cs typeface="+mn-cs"/>
              </a:rPr>
              <a:t>type_local</a:t>
            </a:r>
            <a:r>
              <a:rPr lang="fr-FR" dirty="0"/>
              <a:t> pour ne garder que "Appartement", sur </a:t>
            </a:r>
            <a:r>
              <a:rPr lang="fr-FR" sz="1200" kern="1200" dirty="0" err="1">
                <a:solidFill>
                  <a:schemeClr val="tx1"/>
                </a:solidFill>
                <a:latin typeface="+mn-lt"/>
                <a:ea typeface="+mn-ea"/>
                <a:cs typeface="+mn-cs"/>
              </a:rPr>
              <a:t>nature_mutation</a:t>
            </a:r>
            <a:r>
              <a:rPr lang="fr-FR" dirty="0"/>
              <a:t> pour ne garder que "Vente", et sur </a:t>
            </a:r>
            <a:r>
              <a:rPr lang="fr-FR" sz="1200" kern="1200" dirty="0" err="1">
                <a:solidFill>
                  <a:schemeClr val="tx1"/>
                </a:solidFill>
                <a:latin typeface="+mn-lt"/>
                <a:ea typeface="+mn-ea"/>
                <a:cs typeface="+mn-cs"/>
              </a:rPr>
              <a:t>nombre_pieces_principales</a:t>
            </a:r>
            <a:r>
              <a:rPr lang="fr-FR" dirty="0"/>
              <a:t> pour cibler ±1 pièce par rapport au bien expertisé.</a:t>
            </a:r>
          </a:p>
          <a:p>
            <a:pPr rtl="0"/>
            <a:endParaRPr lang="fr-FR" dirty="0"/>
          </a:p>
          <a:p>
            <a:pPr rtl="0"/>
            <a:r>
              <a:rPr lang="fr-FR" b="1" dirty="0"/>
              <a:t>Étape 3 — Écarter les aberrations :</a:t>
            </a:r>
            <a:r>
              <a:rPr lang="fr-FR" dirty="0"/>
              <a:t> trier par prix au m² croissant. Les valeurs inférieures à 60% ou supérieures à 140% de la médiane visuelle sont souvent des ventes atypiques (succession, vente en viager, lot avec cave de grande surface comptabilisée). Les supprimer du tableau avant de le passer à l'IA.</a:t>
            </a:r>
          </a:p>
          <a:p>
            <a:endParaRPr lang="fr-FR" b="0" dirty="0"/>
          </a:p>
        </p:txBody>
      </p:sp>
    </p:spTree>
    <p:extLst>
      <p:ext uri="{BB962C8B-B14F-4D97-AF65-F5344CB8AC3E}">
        <p14:creationId xmlns:p14="http://schemas.microsoft.com/office/powerpoint/2010/main" val="34770322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1FB9-E383-838C-26AC-DB09D46601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95BBD9-F239-D5AD-76AD-D843D6E1B5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2C8A37-308B-E455-5344-E8CC986202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ETAPE 3 : </a:t>
            </a:r>
            <a:r>
              <a:rPr lang="fr-FR" b="1" dirty="0"/>
              <a:t>Le tableau nettoyé prêt à coller dans l'IA</a:t>
            </a:r>
            <a:endParaRPr lang="fr-FR" sz="1200" b="1" i="0" kern="1200" dirty="0">
              <a:solidFill>
                <a:schemeClr val="tx1"/>
              </a:solidFill>
              <a:effectLst/>
              <a:latin typeface="+mn-lt"/>
              <a:ea typeface="+mn-ea"/>
              <a:cs typeface="+mn-cs"/>
            </a:endParaRPr>
          </a:p>
          <a:p>
            <a:pPr rtl="0"/>
            <a:endParaRPr lang="fr-FR" b="1" dirty="0"/>
          </a:p>
          <a:p>
            <a:pPr rtl="0"/>
            <a:endParaRPr lang="fr-FR" b="1" dirty="0"/>
          </a:p>
          <a:p>
            <a:pPr rtl="0"/>
            <a:r>
              <a:rPr lang="fr-FR" b="1" dirty="0"/>
              <a:t>Étape 1 — Calculer le prix au m² :</a:t>
            </a:r>
            <a:r>
              <a:rPr lang="fr-FR" dirty="0"/>
              <a:t> en supposant que </a:t>
            </a:r>
            <a:r>
              <a:rPr lang="fr-FR" sz="1200" kern="1200" dirty="0" err="1">
                <a:solidFill>
                  <a:schemeClr val="tx1"/>
                </a:solidFill>
                <a:latin typeface="+mn-lt"/>
                <a:ea typeface="+mn-ea"/>
                <a:cs typeface="+mn-cs"/>
              </a:rPr>
              <a:t>valeur_fonciere</a:t>
            </a:r>
            <a:r>
              <a:rPr lang="fr-FR" dirty="0"/>
              <a:t> est en colonne D et </a:t>
            </a:r>
            <a:r>
              <a:rPr lang="fr-FR" sz="1200" kern="1200" dirty="0" err="1">
                <a:solidFill>
                  <a:schemeClr val="tx1"/>
                </a:solidFill>
                <a:latin typeface="+mn-lt"/>
                <a:ea typeface="+mn-ea"/>
                <a:cs typeface="+mn-cs"/>
              </a:rPr>
              <a:t>surface_reelle_bati</a:t>
            </a:r>
            <a:r>
              <a:rPr lang="fr-FR" dirty="0"/>
              <a:t> en colonne I, ajouter une colonne K avec la formule </a:t>
            </a:r>
            <a:r>
              <a:rPr lang="fr-FR" sz="1200" kern="1200" dirty="0">
                <a:solidFill>
                  <a:schemeClr val="tx1"/>
                </a:solidFill>
                <a:latin typeface="+mn-lt"/>
                <a:ea typeface="+mn-ea"/>
                <a:cs typeface="+mn-cs"/>
              </a:rPr>
              <a:t>=D2/I2</a:t>
            </a:r>
            <a:r>
              <a:rPr lang="fr-FR" dirty="0"/>
              <a:t> et formater en nombre entier. C'est la colonne la plus importante de tout le tableau.</a:t>
            </a:r>
          </a:p>
          <a:p>
            <a:pPr rtl="0"/>
            <a:endParaRPr lang="fr-FR" dirty="0"/>
          </a:p>
          <a:p>
            <a:pPr rtl="0"/>
            <a:r>
              <a:rPr lang="fr-FR" b="1" dirty="0"/>
              <a:t>Étape 2 — Filtrer les ventes non comparables :</a:t>
            </a:r>
            <a:r>
              <a:rPr lang="fr-FR" dirty="0"/>
              <a:t> utiliser le filtre automatique (</a:t>
            </a:r>
            <a:r>
              <a:rPr lang="fr-FR" dirty="0" err="1"/>
              <a:t>Ctrl+Maj+L</a:t>
            </a:r>
            <a:r>
              <a:rPr lang="fr-FR" dirty="0"/>
              <a:t>) </a:t>
            </a:r>
          </a:p>
          <a:p>
            <a:pPr rtl="0"/>
            <a:r>
              <a:rPr lang="fr-FR" dirty="0"/>
              <a:t>sur </a:t>
            </a:r>
            <a:r>
              <a:rPr lang="fr-FR" sz="1200" kern="1200" dirty="0" err="1">
                <a:solidFill>
                  <a:schemeClr val="tx1"/>
                </a:solidFill>
                <a:latin typeface="+mn-lt"/>
                <a:ea typeface="+mn-ea"/>
                <a:cs typeface="+mn-cs"/>
              </a:rPr>
              <a:t>type_local</a:t>
            </a:r>
            <a:r>
              <a:rPr lang="fr-FR" dirty="0"/>
              <a:t> pour ne garder que "Appartement", </a:t>
            </a:r>
          </a:p>
          <a:p>
            <a:pPr rtl="0"/>
            <a:r>
              <a:rPr lang="fr-FR" dirty="0"/>
              <a:t>sur </a:t>
            </a:r>
            <a:r>
              <a:rPr lang="fr-FR" sz="1200" kern="1200" dirty="0" err="1">
                <a:solidFill>
                  <a:schemeClr val="tx1"/>
                </a:solidFill>
                <a:latin typeface="+mn-lt"/>
                <a:ea typeface="+mn-ea"/>
                <a:cs typeface="+mn-cs"/>
              </a:rPr>
              <a:t>nature_mutation</a:t>
            </a:r>
            <a:r>
              <a:rPr lang="fr-FR" dirty="0"/>
              <a:t> pour ne garder que "Vente", </a:t>
            </a:r>
          </a:p>
          <a:p>
            <a:pPr rtl="0"/>
            <a:r>
              <a:rPr lang="fr-FR" dirty="0"/>
              <a:t>et sur </a:t>
            </a:r>
            <a:r>
              <a:rPr lang="fr-FR" sz="1200" kern="1200" dirty="0" err="1">
                <a:solidFill>
                  <a:schemeClr val="tx1"/>
                </a:solidFill>
                <a:latin typeface="+mn-lt"/>
                <a:ea typeface="+mn-ea"/>
                <a:cs typeface="+mn-cs"/>
              </a:rPr>
              <a:t>nombre_pieces_principales</a:t>
            </a:r>
            <a:r>
              <a:rPr lang="fr-FR" dirty="0"/>
              <a:t> pour cibler ±1 pièce par rapport au bien expertisé.</a:t>
            </a:r>
          </a:p>
          <a:p>
            <a:pPr rtl="0"/>
            <a:endParaRPr lang="fr-FR" dirty="0"/>
          </a:p>
          <a:p>
            <a:pPr rtl="0"/>
            <a:r>
              <a:rPr lang="fr-FR" b="1" dirty="0"/>
              <a:t>Étape 3 — Écarter les aberrations :</a:t>
            </a:r>
            <a:r>
              <a:rPr lang="fr-FR" dirty="0"/>
              <a:t> trier par prix au m² croissant. Les valeurs inférieures à 60% ou supérieures à 140% de la médiane visuelle sont souvent des ventes atypiques (succession, vente en viager, lot avec cave de grande surface comptabilisée). Les supprimer du tableau avant de le passer à l'IA.</a:t>
            </a:r>
          </a:p>
          <a:p>
            <a:endParaRPr lang="fr-FR" b="0" dirty="0"/>
          </a:p>
          <a:p>
            <a:r>
              <a:rPr lang="fr-FR" sz="1800" b="1" dirty="0"/>
              <a:t>STOP sur Colonne Etage et Etat (hallucination)</a:t>
            </a:r>
          </a:p>
          <a:p>
            <a:endParaRPr lang="fr-FR" b="0" dirty="0"/>
          </a:p>
          <a:p>
            <a:pPr rtl="0"/>
            <a:r>
              <a:rPr lang="fr-FR" dirty="0"/>
              <a:t>Je ne l'ai pas déterminé. La colonne "État" du tableau de comparables de la slide 6 est une </a:t>
            </a:r>
            <a:r>
              <a:rPr lang="fr-FR" b="1" dirty="0"/>
              <a:t>fiction pédagogique</a:t>
            </a:r>
            <a:r>
              <a:rPr lang="fr-FR" dirty="0"/>
              <a:t> que j'ai construite pour les besoins de la démonstration.</a:t>
            </a:r>
          </a:p>
          <a:p>
            <a:pPr rtl="0"/>
            <a:r>
              <a:rPr lang="fr-FR" dirty="0"/>
              <a:t>Le fichier DVF ne contient effectivement pas de colonne "état du bien". Il donne la date, l'adresse approximative, la surface, le prix total — et c'est tout. La qualification vétuste / courant / rénové n'existe nulle part dans les données DVF brutes.</a:t>
            </a:r>
            <a:br>
              <a:rPr lang="fr-FR" dirty="0"/>
            </a:br>
            <a:endParaRPr lang="fr-FR" dirty="0"/>
          </a:p>
          <a:p>
            <a:pPr rtl="0"/>
            <a:r>
              <a:rPr lang="fr-FR" b="1" dirty="0"/>
              <a:t>Ce que cela implique pour votre formation</a:t>
            </a:r>
          </a:p>
          <a:p>
            <a:pPr rtl="0"/>
            <a:r>
              <a:rPr lang="fr-FR" dirty="0"/>
              <a:t>C'est un point important à signaler à vos stagiaires, </a:t>
            </a:r>
          </a:p>
          <a:p>
            <a:pPr rtl="0"/>
            <a:endParaRPr lang="fr-FR" dirty="0"/>
          </a:p>
          <a:p>
            <a:pPr rtl="0"/>
            <a:r>
              <a:rPr lang="fr-FR" b="1" dirty="0"/>
              <a:t>*Ce que DVF donne réellement :</a:t>
            </a:r>
            <a:endParaRPr lang="fr-FR" dirty="0"/>
          </a:p>
          <a:p>
            <a:pPr lvl="0" rtl="0"/>
            <a:r>
              <a:rPr lang="fr-FR" dirty="0"/>
              <a:t>Date de mutation</a:t>
            </a:r>
          </a:p>
          <a:p>
            <a:pPr lvl="0" rtl="0"/>
            <a:r>
              <a:rPr lang="fr-FR" dirty="0"/>
              <a:t>Adresse approximative</a:t>
            </a:r>
          </a:p>
          <a:p>
            <a:pPr lvl="0" rtl="0"/>
            <a:r>
              <a:rPr lang="fr-FR" dirty="0"/>
              <a:t>Surface réelle bâtie</a:t>
            </a:r>
          </a:p>
          <a:p>
            <a:pPr lvl="0" rtl="0"/>
            <a:r>
              <a:rPr lang="fr-FR" dirty="0"/>
              <a:t>Valeur foncière</a:t>
            </a:r>
          </a:p>
          <a:p>
            <a:pPr lvl="0" rtl="0"/>
            <a:r>
              <a:rPr lang="fr-FR" dirty="0"/>
              <a:t>Type de local</a:t>
            </a:r>
          </a:p>
          <a:p>
            <a:pPr lvl="0" rtl="0"/>
            <a:r>
              <a:rPr lang="fr-FR" dirty="0"/>
              <a:t>Nombre de pièces principales</a:t>
            </a:r>
          </a:p>
          <a:p>
            <a:pPr rtl="0"/>
            <a:r>
              <a:rPr lang="fr-FR" b="1" dirty="0"/>
              <a:t>Ce que DVF ne donne pas :</a:t>
            </a:r>
            <a:endParaRPr lang="fr-FR" dirty="0"/>
          </a:p>
          <a:p>
            <a:pPr lvl="0" rtl="0"/>
            <a:r>
              <a:rPr lang="fr-FR" dirty="0"/>
              <a:t>État du bien</a:t>
            </a:r>
          </a:p>
          <a:p>
            <a:pPr lvl="0" rtl="0"/>
            <a:r>
              <a:rPr lang="fr-FR" dirty="0"/>
              <a:t>Étage</a:t>
            </a:r>
          </a:p>
          <a:p>
            <a:pPr lvl="0" rtl="0"/>
            <a:r>
              <a:rPr lang="fr-FR" dirty="0"/>
              <a:t>Présence d'ascenseur</a:t>
            </a:r>
          </a:p>
          <a:p>
            <a:pPr lvl="0" rtl="0"/>
            <a:r>
              <a:rPr lang="fr-FR" dirty="0"/>
              <a:t>Orientation</a:t>
            </a:r>
          </a:p>
          <a:p>
            <a:pPr lvl="0" rtl="0"/>
            <a:r>
              <a:rPr lang="fr-FR" dirty="0"/>
              <a:t>Qualité des prestations</a:t>
            </a:r>
          </a:p>
          <a:p>
            <a:pPr lvl="0" rtl="0"/>
            <a:endParaRPr lang="fr-FR" dirty="0"/>
          </a:p>
          <a:p>
            <a:pPr rtl="0"/>
            <a:r>
              <a:rPr lang="fr-FR" dirty="0"/>
              <a:t>La colonne "état" dans un tableau de comparables professionnel vient de trois sources complémentaires que l'expert doit croiser manuellement.</a:t>
            </a:r>
          </a:p>
          <a:p>
            <a:pPr rtl="0"/>
            <a:endParaRPr lang="fr-FR" dirty="0"/>
          </a:p>
          <a:p>
            <a:pPr rtl="0"/>
            <a:r>
              <a:rPr lang="fr-FR" b="1" dirty="0"/>
              <a:t>Source 1 — La base notariale PERVAL ou BIEN.</a:t>
            </a:r>
            <a:r>
              <a:rPr lang="fr-FR" dirty="0"/>
              <a:t> Contrairement à DVF, ces bases contiennent des qualificatifs fins sur l'état, le standing et les caractéristiques du bien. C'est leur valeur ajoutée principale par rapport à DVF. L'accès se fait via les chambres notariales ou par abonnement.</a:t>
            </a:r>
          </a:p>
          <a:p>
            <a:pPr rtl="0"/>
            <a:r>
              <a:rPr lang="fr-FR" b="1" dirty="0"/>
              <a:t>Source 2 — Les annonces immobilières archivées.</a:t>
            </a:r>
            <a:r>
              <a:rPr lang="fr-FR" dirty="0"/>
              <a:t> Pour une transaction récente, il est souvent possible de retrouver l'annonce de vente sur </a:t>
            </a:r>
            <a:r>
              <a:rPr lang="fr-FR" dirty="0" err="1"/>
              <a:t>SeLoger</a:t>
            </a:r>
            <a:r>
              <a:rPr lang="fr-FR" dirty="0"/>
              <a:t>, </a:t>
            </a:r>
            <a:r>
              <a:rPr lang="fr-FR" dirty="0" err="1"/>
              <a:t>Leboncoin</a:t>
            </a:r>
            <a:r>
              <a:rPr lang="fr-FR" dirty="0"/>
              <a:t> ou PAP via une recherche par adresse. L'annonce donne l'état déclaré par le vendeur, les photos, l'étage, la présence d'ascenseur. C'est une source complémentaire utile, non officielle, mais praticable.</a:t>
            </a:r>
          </a:p>
          <a:p>
            <a:pPr rtl="0"/>
            <a:r>
              <a:rPr lang="fr-FR" b="1" dirty="0"/>
              <a:t>Source 3 — Le jugement de l'expert sur le secteur.</a:t>
            </a:r>
            <a:r>
              <a:rPr lang="fr-FR" dirty="0"/>
              <a:t> Un expert qui travaille régulièrement sur le 11e arrondissement sait que rue Keller les immeubles de 1930 sans ravalement récent ont un état courant à vétuste, et que les biens rénovés se concentrent sur certains axes plus demandés. Ce jugement de marché local, fruit de l'expérience, est ce qui permet de qualifier les comparables quand les données objectives manquent.</a:t>
            </a:r>
          </a:p>
          <a:p>
            <a:endParaRPr lang="fr-FR" b="0" dirty="0"/>
          </a:p>
          <a:p>
            <a:endParaRPr lang="fr-FR" b="0" dirty="0"/>
          </a:p>
          <a:p>
            <a:r>
              <a:rPr lang="fr-FR" sz="1200" b="1" u="none" strike="noStrike" kern="1200" dirty="0">
                <a:solidFill>
                  <a:schemeClr val="tx1"/>
                </a:solidFill>
                <a:effectLst/>
                <a:latin typeface="+mn-lt"/>
                <a:ea typeface="+mn-ea"/>
                <a:cs typeface="+mn-cs"/>
              </a:rPr>
              <a:t>Critère</a:t>
            </a:r>
          </a:p>
          <a:p>
            <a:r>
              <a:rPr lang="fr-FR" sz="1200" b="1" u="none" strike="noStrike" kern="1200" dirty="0">
                <a:solidFill>
                  <a:schemeClr val="tx1"/>
                </a:solidFill>
                <a:effectLst/>
                <a:latin typeface="+mn-lt"/>
                <a:ea typeface="+mn-ea"/>
                <a:cs typeface="+mn-cs"/>
              </a:rPr>
              <a:t>		Base DVF (Gratuit / Public)		Base </a:t>
            </a:r>
            <a:r>
              <a:rPr lang="fr-FR" sz="1200" b="1" u="none" strike="noStrike" kern="1200" dirty="0" err="1">
                <a:solidFill>
                  <a:schemeClr val="tx1"/>
                </a:solidFill>
                <a:effectLst/>
                <a:latin typeface="+mn-lt"/>
                <a:ea typeface="+mn-ea"/>
                <a:cs typeface="+mn-cs"/>
              </a:rPr>
              <a:t>Perval</a:t>
            </a:r>
            <a:r>
              <a:rPr lang="fr-FR" sz="1200" b="1" u="none" strike="noStrike" kern="1200" dirty="0">
                <a:solidFill>
                  <a:schemeClr val="tx1"/>
                </a:solidFill>
                <a:effectLst/>
                <a:latin typeface="+mn-lt"/>
                <a:ea typeface="+mn-ea"/>
                <a:cs typeface="+mn-cs"/>
              </a:rPr>
              <a:t> (Payant / Notaires &amp; Pros)</a:t>
            </a:r>
          </a:p>
          <a:p>
            <a:r>
              <a:rPr lang="fr-FR" sz="1200" b="1" u="none" strike="noStrike" kern="1200" dirty="0">
                <a:solidFill>
                  <a:schemeClr val="tx1"/>
                </a:solidFill>
                <a:effectLst/>
                <a:latin typeface="+mn-lt"/>
                <a:ea typeface="+mn-ea"/>
                <a:cs typeface="+mn-cs"/>
              </a:rPr>
              <a:t>Prix réel de vente	Oui</a:t>
            </a:r>
            <a:r>
              <a:rPr lang="fr-FR" sz="1200" b="0" u="none" strike="noStrike" kern="1200" dirty="0">
                <a:solidFill>
                  <a:schemeClr val="tx1"/>
                </a:solidFill>
                <a:effectLst/>
                <a:latin typeface="+mn-lt"/>
                <a:ea typeface="+mn-ea"/>
                <a:cs typeface="+mn-cs"/>
              </a:rPr>
              <a:t> (valeur foncière)		</a:t>
            </a:r>
            <a:r>
              <a:rPr lang="fr-FR" sz="1200" b="1" u="none" strike="noStrike" kern="1200" dirty="0">
                <a:solidFill>
                  <a:schemeClr val="tx1"/>
                </a:solidFill>
                <a:effectLst/>
                <a:latin typeface="+mn-lt"/>
                <a:ea typeface="+mn-ea"/>
                <a:cs typeface="+mn-cs"/>
              </a:rPr>
              <a:t>Oui</a:t>
            </a:r>
            <a:r>
              <a:rPr lang="fr-FR" sz="1200" b="0" u="none" strike="noStrike" kern="1200" dirty="0">
                <a:solidFill>
                  <a:schemeClr val="tx1"/>
                </a:solidFill>
                <a:effectLst/>
                <a:latin typeface="+mn-lt"/>
                <a:ea typeface="+mn-ea"/>
                <a:cs typeface="+mn-cs"/>
              </a:rPr>
              <a:t> (prix net vendeur certifié)</a:t>
            </a:r>
          </a:p>
          <a:p>
            <a:r>
              <a:rPr lang="fr-FR" sz="1200" b="1" u="none" strike="noStrike" kern="1200" dirty="0">
                <a:solidFill>
                  <a:schemeClr val="tx1"/>
                </a:solidFill>
                <a:effectLst/>
                <a:latin typeface="+mn-lt"/>
                <a:ea typeface="+mn-ea"/>
                <a:cs typeface="+mn-cs"/>
              </a:rPr>
              <a:t>Étage</a:t>
            </a:r>
            <a:r>
              <a:rPr lang="fr-FR" sz="1200" b="0" u="none" strike="noStrike" kern="1200" dirty="0">
                <a:solidFill>
                  <a:schemeClr val="tx1"/>
                </a:solidFill>
                <a:effectLst/>
                <a:latin typeface="+mn-lt"/>
                <a:ea typeface="+mn-ea"/>
                <a:cs typeface="+mn-cs"/>
              </a:rPr>
              <a:t>❌ 		Non			</a:t>
            </a:r>
            <a:r>
              <a:rPr lang="fr-FR" sz="1200" b="1" u="none" strike="noStrike" kern="1200" dirty="0">
                <a:solidFill>
                  <a:schemeClr val="tx1"/>
                </a:solidFill>
                <a:effectLst/>
                <a:latin typeface="+mn-lt"/>
                <a:ea typeface="+mn-ea"/>
                <a:cs typeface="+mn-cs"/>
              </a:rPr>
              <a:t>Oui</a:t>
            </a:r>
            <a:endParaRPr lang="fr-FR" sz="1200" b="0" u="none" strike="noStrike" kern="1200" dirty="0">
              <a:solidFill>
                <a:schemeClr val="tx1"/>
              </a:solidFill>
              <a:effectLst/>
              <a:latin typeface="+mn-lt"/>
              <a:ea typeface="+mn-ea"/>
              <a:cs typeface="+mn-cs"/>
            </a:endParaRPr>
          </a:p>
          <a:p>
            <a:r>
              <a:rPr lang="fr-FR" sz="1200" b="1" u="none" strike="noStrike" kern="1200" dirty="0">
                <a:solidFill>
                  <a:schemeClr val="tx1"/>
                </a:solidFill>
                <a:effectLst/>
                <a:latin typeface="+mn-lt"/>
                <a:ea typeface="+mn-ea"/>
                <a:cs typeface="+mn-cs"/>
              </a:rPr>
              <a:t>Ascenseur</a:t>
            </a:r>
            <a:r>
              <a:rPr lang="fr-FR" sz="1200" b="0" u="none" strike="noStrike" kern="1200" dirty="0">
                <a:solidFill>
                  <a:schemeClr val="tx1"/>
                </a:solidFill>
                <a:effectLst/>
                <a:latin typeface="+mn-lt"/>
                <a:ea typeface="+mn-ea"/>
                <a:cs typeface="+mn-cs"/>
              </a:rPr>
              <a:t>❌ 		Non			</a:t>
            </a:r>
            <a:r>
              <a:rPr lang="fr-FR" sz="1200" b="1" u="none" strike="noStrike" kern="1200" dirty="0">
                <a:solidFill>
                  <a:schemeClr val="tx1"/>
                </a:solidFill>
                <a:effectLst/>
                <a:latin typeface="+mn-lt"/>
                <a:ea typeface="+mn-ea"/>
                <a:cs typeface="+mn-cs"/>
              </a:rPr>
              <a:t>Oui</a:t>
            </a:r>
            <a:endParaRPr lang="fr-FR" sz="1200" b="0" u="none" strike="noStrike" kern="1200" dirty="0">
              <a:solidFill>
                <a:schemeClr val="tx1"/>
              </a:solidFill>
              <a:effectLst/>
              <a:latin typeface="+mn-lt"/>
              <a:ea typeface="+mn-ea"/>
              <a:cs typeface="+mn-cs"/>
            </a:endParaRPr>
          </a:p>
          <a:p>
            <a:r>
              <a:rPr lang="fr-FR" sz="1200" b="1" u="none" strike="noStrike" kern="1200" dirty="0">
                <a:solidFill>
                  <a:schemeClr val="tx1"/>
                </a:solidFill>
                <a:effectLst/>
                <a:latin typeface="+mn-lt"/>
                <a:ea typeface="+mn-ea"/>
                <a:cs typeface="+mn-cs"/>
              </a:rPr>
              <a:t>État général</a:t>
            </a:r>
            <a:r>
              <a:rPr lang="fr-FR" sz="1200" b="0" u="none" strike="noStrike" kern="1200" dirty="0">
                <a:solidFill>
                  <a:schemeClr val="tx1"/>
                </a:solidFill>
                <a:effectLst/>
                <a:latin typeface="+mn-lt"/>
                <a:ea typeface="+mn-ea"/>
                <a:cs typeface="+mn-cs"/>
              </a:rPr>
              <a:t>❌ 	Non			</a:t>
            </a:r>
            <a:r>
              <a:rPr lang="fr-FR" sz="1200" b="1" u="none" strike="noStrike" kern="1200" dirty="0">
                <a:solidFill>
                  <a:schemeClr val="tx1"/>
                </a:solidFill>
                <a:effectLst/>
                <a:latin typeface="+mn-lt"/>
                <a:ea typeface="+mn-ea"/>
                <a:cs typeface="+mn-cs"/>
              </a:rPr>
              <a:t>Oui</a:t>
            </a:r>
            <a:r>
              <a:rPr lang="fr-FR" sz="1200" b="0" u="none" strike="noStrike" kern="1200" dirty="0">
                <a:solidFill>
                  <a:schemeClr val="tx1"/>
                </a:solidFill>
                <a:effectLst/>
                <a:latin typeface="+mn-lt"/>
                <a:ea typeface="+mn-ea"/>
                <a:cs typeface="+mn-cs"/>
              </a:rPr>
              <a:t> (vétusté, état d'usage)</a:t>
            </a:r>
          </a:p>
          <a:p>
            <a:r>
              <a:rPr lang="fr-FR" sz="1200" b="1" u="none" strike="noStrike" kern="1200" dirty="0">
                <a:solidFill>
                  <a:schemeClr val="tx1"/>
                </a:solidFill>
                <a:effectLst/>
                <a:latin typeface="+mn-lt"/>
                <a:ea typeface="+mn-ea"/>
                <a:cs typeface="+mn-cs"/>
              </a:rPr>
              <a:t>Annexes spécifiques</a:t>
            </a:r>
            <a:r>
              <a:rPr lang="fr-FR" sz="1200" b="0" u="none" strike="noStrike" kern="1200" dirty="0">
                <a:solidFill>
                  <a:schemeClr val="tx1"/>
                </a:solidFill>
                <a:effectLst/>
                <a:latin typeface="+mn-lt"/>
                <a:ea typeface="+mn-ea"/>
                <a:cs typeface="+mn-cs"/>
              </a:rPr>
              <a:t>❌ 	Non			</a:t>
            </a:r>
            <a:r>
              <a:rPr lang="fr-FR" sz="1200" b="1" u="none" strike="noStrike" kern="1200" dirty="0">
                <a:solidFill>
                  <a:schemeClr val="tx1"/>
                </a:solidFill>
                <a:effectLst/>
                <a:latin typeface="+mn-lt"/>
                <a:ea typeface="+mn-ea"/>
                <a:cs typeface="+mn-cs"/>
              </a:rPr>
              <a:t>Oui</a:t>
            </a:r>
            <a:r>
              <a:rPr lang="fr-FR" sz="1200" b="0" u="none" strike="noStrike" kern="1200" dirty="0">
                <a:solidFill>
                  <a:schemeClr val="tx1"/>
                </a:solidFill>
                <a:effectLst/>
                <a:latin typeface="+mn-lt"/>
                <a:ea typeface="+mn-ea"/>
                <a:cs typeface="+mn-cs"/>
              </a:rPr>
              <a:t> (présence de balcon, terrasse, cave)</a:t>
            </a:r>
          </a:p>
          <a:p>
            <a:r>
              <a:rPr lang="fr-FR" sz="1200" b="1" u="none" strike="noStrike" kern="1200" dirty="0">
                <a:solidFill>
                  <a:schemeClr val="tx1"/>
                </a:solidFill>
                <a:effectLst/>
                <a:latin typeface="+mn-lt"/>
                <a:ea typeface="+mn-ea"/>
                <a:cs typeface="+mn-cs"/>
              </a:rPr>
              <a:t>Performance (DPE)</a:t>
            </a:r>
            <a:r>
              <a:rPr lang="fr-FR" sz="1200" b="0" u="none" strike="noStrike" kern="1200" dirty="0">
                <a:solidFill>
                  <a:schemeClr val="tx1"/>
                </a:solidFill>
                <a:effectLst/>
                <a:latin typeface="+mn-lt"/>
                <a:ea typeface="+mn-ea"/>
                <a:cs typeface="+mn-cs"/>
              </a:rPr>
              <a:t>❌ 	Non			</a:t>
            </a:r>
            <a:r>
              <a:rPr lang="fr-FR" sz="1200" b="1" u="none" strike="noStrike" kern="1200" dirty="0">
                <a:solidFill>
                  <a:schemeClr val="tx1"/>
                </a:solidFill>
                <a:effectLst/>
                <a:latin typeface="+mn-lt"/>
                <a:ea typeface="+mn-ea"/>
                <a:cs typeface="+mn-cs"/>
              </a:rPr>
              <a:t>Oui</a:t>
            </a:r>
            <a:r>
              <a:rPr lang="fr-FR" sz="1200" b="0" u="none" strike="noStrike" kern="1200" dirty="0">
                <a:solidFill>
                  <a:schemeClr val="tx1"/>
                </a:solidFill>
                <a:effectLst/>
                <a:latin typeface="+mn-lt"/>
                <a:ea typeface="+mn-ea"/>
                <a:cs typeface="+mn-cs"/>
              </a:rPr>
              <a:t> (étiquette énergétique)</a:t>
            </a:r>
          </a:p>
          <a:p>
            <a:endParaRPr lang="fr-FR" sz="1200" b="0" u="none" strike="noStrike" kern="1200" dirty="0">
              <a:solidFill>
                <a:schemeClr val="tx1"/>
              </a:solidFill>
              <a:effectLst/>
              <a:latin typeface="+mn-lt"/>
              <a:ea typeface="+mn-ea"/>
              <a:cs typeface="+mn-cs"/>
            </a:endParaRPr>
          </a:p>
          <a:p>
            <a:endParaRPr lang="fr-FR" sz="1200" b="0" u="none" strike="noStrike" kern="1200" dirty="0">
              <a:solidFill>
                <a:schemeClr val="tx1"/>
              </a:solidFill>
              <a:effectLst/>
              <a:latin typeface="+mn-lt"/>
              <a:ea typeface="+mn-ea"/>
              <a:cs typeface="+mn-cs"/>
            </a:endParaRPr>
          </a:p>
          <a:p>
            <a:pPr rtl="0"/>
            <a:r>
              <a:rPr lang="fr-FR" b="1" dirty="0"/>
              <a:t>Ce que cela enseigne sur l'usage de l'IA</a:t>
            </a:r>
          </a:p>
          <a:p>
            <a:pPr rtl="0"/>
            <a:r>
              <a:rPr lang="fr-FR" dirty="0"/>
              <a:t>Ce point est lui-même une leçon pédagogique sur l’IA </a:t>
            </a:r>
          </a:p>
          <a:p>
            <a:pPr rtl="0"/>
            <a:endParaRPr lang="fr-FR" dirty="0"/>
          </a:p>
          <a:p>
            <a:pPr rtl="0"/>
            <a:r>
              <a:rPr lang="fr-FR" dirty="0"/>
              <a:t>Quand vous avez demandé à l'IA de produire un tableau de comparables pour illustrer la formation, elle a produit un tableau vraisemblable avec une colonne "état" — parce que c'est ce qu'elle associe à un tableau de comparables professionnel. Elle a rempli une lacune des données réelles avec ce qui semblait logique. C'est exactement le comportement d'hallucination bénigne que vous devez identifier </a:t>
            </a:r>
            <a:r>
              <a:rPr lang="fr-FR" b="1" dirty="0"/>
              <a:t>: l'IA produit quelque chose de cohérent et d'utilisable en apparence, mais dont la source n'est pas vérifiable.</a:t>
            </a:r>
          </a:p>
          <a:p>
            <a:pPr rtl="0"/>
            <a:r>
              <a:rPr lang="fr-FR" dirty="0"/>
              <a:t>La leçon est directement transposable à la pratique : si vous demandez à l'IA de compléter un tableau de comparables dont certaines colonnes sont vides, elle va les remplir avec des données plausibles. Ces données ne sont pas fiables. La règle reste identique — tout chiffre, toute qualification produite par l'IA doit être vérifiée contre une source réelle avant d'entrer dans le rapport.</a:t>
            </a:r>
          </a:p>
          <a:p>
            <a:endParaRPr lang="fr-FR" sz="1200" b="0" u="none" strike="noStrike" kern="1200" dirty="0">
              <a:solidFill>
                <a:schemeClr val="tx1"/>
              </a:solidFill>
              <a:effectLst/>
              <a:latin typeface="+mn-lt"/>
              <a:ea typeface="+mn-ea"/>
              <a:cs typeface="+mn-cs"/>
            </a:endParaRPr>
          </a:p>
          <a:p>
            <a:endParaRPr lang="fr-FR" b="0" dirty="0"/>
          </a:p>
          <a:p>
            <a:endParaRPr lang="fr-FR" b="0" dirty="0"/>
          </a:p>
        </p:txBody>
      </p:sp>
    </p:spTree>
    <p:extLst>
      <p:ext uri="{BB962C8B-B14F-4D97-AF65-F5344CB8AC3E}">
        <p14:creationId xmlns:p14="http://schemas.microsoft.com/office/powerpoint/2010/main" val="37320699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02DE-0542-567D-5085-0E4B17E0EC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524718-324D-DE37-9013-7AAEC6CE0E7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F1462FB-DB9E-CB86-BB3A-E54C3B6DF6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ETAPE 4 : </a:t>
            </a:r>
            <a:r>
              <a:rPr lang="fr-FR" b="1" dirty="0"/>
              <a:t>Le prompt complet prêt à l'emploi</a:t>
            </a:r>
            <a:endParaRPr lang="fr-FR" sz="1200" b="1" i="0" kern="1200" dirty="0">
              <a:solidFill>
                <a:schemeClr val="tx1"/>
              </a:solidFill>
              <a:effectLst/>
              <a:latin typeface="+mn-lt"/>
              <a:ea typeface="+mn-ea"/>
              <a:cs typeface="+mn-cs"/>
            </a:endParaRPr>
          </a:p>
          <a:p>
            <a:pPr rtl="0"/>
            <a:endParaRPr lang="fr-FR" b="1" dirty="0"/>
          </a:p>
          <a:p>
            <a:pPr rtl="0"/>
            <a:r>
              <a:rPr lang="fr-FR" dirty="0"/>
              <a:t>Voici la structure exacte du prompt à utiliser, tableau inclus. Tout s'enchaîne dans la même zone de texte — le contexte en haut, le tableau au milieu, la consigne en bas.</a:t>
            </a:r>
          </a:p>
          <a:p>
            <a:pPr rtl="0"/>
            <a:endParaRPr lang="fr-FR" b="0" dirty="0"/>
          </a:p>
          <a:p>
            <a:pPr rtl="0"/>
            <a:r>
              <a:rPr lang="fr-FR" b="1" dirty="0"/>
              <a:t>Ce que l'IA fait avec ce prompt — et ce que vous devez vérifier</a:t>
            </a:r>
          </a:p>
          <a:p>
            <a:pPr rtl="0"/>
            <a:r>
              <a:rPr lang="fr-FR" dirty="0"/>
              <a:t>La consigne "détaille tes calculs avant de rédiger" est la plus importante. Elle force l'IA à montrer son raisonnement, ce qui vous permet de contrôler chaque chiffre avant qu'il n'entre dans le rapport.</a:t>
            </a:r>
          </a:p>
          <a:p>
            <a:pPr rtl="0"/>
            <a:r>
              <a:rPr lang="fr-FR" dirty="0"/>
              <a:t>L'IA va d'abord afficher quelque chose comme :</a:t>
            </a:r>
          </a:p>
          <a:p>
            <a:pPr rtl="0"/>
            <a:endParaRPr lang="fr-FR" b="0" dirty="0"/>
          </a:p>
        </p:txBody>
      </p:sp>
    </p:spTree>
    <p:extLst>
      <p:ext uri="{BB962C8B-B14F-4D97-AF65-F5344CB8AC3E}">
        <p14:creationId xmlns:p14="http://schemas.microsoft.com/office/powerpoint/2010/main" val="3532165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403B7-6051-9AD1-C469-91CA7F11D7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E8ADF5-B550-CF56-8A4B-6394C1ABB1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D76D396-B2DD-B557-1E86-1501A8F7397A}"/>
              </a:ext>
            </a:extLst>
          </p:cNvPr>
          <p:cNvSpPr>
            <a:spLocks noGrp="1"/>
          </p:cNvSpPr>
          <p:nvPr>
            <p:ph type="body" idx="1"/>
          </p:nvPr>
        </p:nvSpPr>
        <p:spPr/>
        <p:txBody>
          <a:bodyPr/>
          <a:lstStyle/>
          <a:p>
            <a:r>
              <a:rPr lang="fr-FR" sz="1200" dirty="0"/>
              <a:t>Vous êtes l'expert et vous allez signer le document donc…</a:t>
            </a:r>
          </a:p>
          <a:p>
            <a:endParaRPr lang="fr-FR" sz="1200" dirty="0"/>
          </a:p>
          <a:p>
            <a:r>
              <a:rPr lang="fr-FR" dirty="0"/>
              <a:t>guider les stagiaires dans la vérification : </a:t>
            </a:r>
          </a:p>
          <a:p>
            <a:endParaRPr lang="fr-FR" dirty="0"/>
          </a:p>
          <a:p>
            <a:r>
              <a:rPr lang="fr-FR" b="1" dirty="0"/>
              <a:t>les chiffres correspondent-ils au tableau ? </a:t>
            </a:r>
          </a:p>
          <a:p>
            <a:r>
              <a:rPr lang="fr-FR" b="1" dirty="0"/>
              <a:t>Les ajustements sont-ils justifiés ? </a:t>
            </a:r>
          </a:p>
          <a:p>
            <a:r>
              <a:rPr lang="fr-FR" b="1" dirty="0"/>
              <a:t>Que faudrait-il modifier ?</a:t>
            </a:r>
          </a:p>
          <a:p>
            <a:endParaRPr lang="fr-FR" sz="1200" dirty="0"/>
          </a:p>
          <a:p>
            <a:r>
              <a:rPr lang="fr-FR" sz="1200" dirty="0"/>
              <a:t>Vérifiez systématiquement que les chiffres du paragraphe correspondent exactement aux calculs affichés —</a:t>
            </a:r>
          </a:p>
          <a:p>
            <a:r>
              <a:rPr lang="fr-FR" sz="1200" dirty="0"/>
              <a:t> l'IA fait parfois des écarts entre les deux blocs, surtout sur les arrondis. C'est le seul contrôle indispensable avant d'intégrer la section dans le rapport.</a:t>
            </a:r>
          </a:p>
        </p:txBody>
      </p:sp>
    </p:spTree>
    <p:extLst>
      <p:ext uri="{BB962C8B-B14F-4D97-AF65-F5344CB8AC3E}">
        <p14:creationId xmlns:p14="http://schemas.microsoft.com/office/powerpoint/2010/main" val="25220652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0408A-B97E-9178-F6EE-A7E68BB1E1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87D75DE-B679-7340-3F4A-0FD6C675EED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6BAC8BF-342C-352F-E57C-C701A2C027FD}"/>
              </a:ext>
            </a:extLst>
          </p:cNvPr>
          <p:cNvSpPr>
            <a:spLocks noGrp="1"/>
          </p:cNvSpPr>
          <p:nvPr>
            <p:ph type="body" idx="1"/>
          </p:nvPr>
        </p:nvSpPr>
        <p:spPr/>
        <p:txBody>
          <a:bodyPr/>
          <a:lstStyle/>
          <a:p>
            <a:endParaRPr lang="fr-FR" sz="1200" dirty="0"/>
          </a:p>
        </p:txBody>
      </p:sp>
    </p:spTree>
    <p:extLst>
      <p:ext uri="{BB962C8B-B14F-4D97-AF65-F5344CB8AC3E}">
        <p14:creationId xmlns:p14="http://schemas.microsoft.com/office/powerpoint/2010/main" val="3510669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3D168-EA79-8654-8905-7AFFDDD982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D768C6-5AC1-CDB8-DB47-A9855CC7AA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36B34D-64C2-B15A-927A-E4C99C3EE0EE}"/>
              </a:ext>
            </a:extLst>
          </p:cNvPr>
          <p:cNvSpPr>
            <a:spLocks noGrp="1"/>
          </p:cNvSpPr>
          <p:nvPr>
            <p:ph type="body" idx="1"/>
          </p:nvPr>
        </p:nvSpPr>
        <p:spPr/>
        <p:txBody>
          <a:bodyPr/>
          <a:lstStyle/>
          <a:p>
            <a:endParaRPr lang="fr-FR" sz="1200" dirty="0"/>
          </a:p>
        </p:txBody>
      </p:sp>
    </p:spTree>
    <p:extLst>
      <p:ext uri="{BB962C8B-B14F-4D97-AF65-F5344CB8AC3E}">
        <p14:creationId xmlns:p14="http://schemas.microsoft.com/office/powerpoint/2010/main" val="25969182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0F9BD-1C2F-EAE8-4182-57072AE321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CEA6CA-CDBC-AC3E-1E66-2D4B784360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B000B1-5DB2-B250-435C-FA7946244171}"/>
              </a:ext>
            </a:extLst>
          </p:cNvPr>
          <p:cNvSpPr>
            <a:spLocks noGrp="1"/>
          </p:cNvSpPr>
          <p:nvPr>
            <p:ph type="body" idx="1"/>
          </p:nvPr>
        </p:nvSpPr>
        <p:spPr/>
        <p:txBody>
          <a:bodyPr/>
          <a:lstStyle/>
          <a:p>
            <a:r>
              <a:rPr lang="fr-FR" dirty="0"/>
              <a:t>L'IA va répondre avec confiance en citant des chiffres tirés de ses données d'entraînement, qui peuvent avoir 18 à 24 mois de retard et varier de 5 à 15% par rapport au marché actuel. </a:t>
            </a:r>
          </a:p>
          <a:p>
            <a:endParaRPr lang="fr-FR" dirty="0"/>
          </a:p>
          <a:p>
            <a:r>
              <a:rPr lang="fr-FR" dirty="0"/>
              <a:t>Ces chiffres ne sont pas vérifiables, pas référençables, et ne peuvent pas figurer dans un rapport professionnel. La règle est simple : </a:t>
            </a:r>
            <a:r>
              <a:rPr lang="fr-FR" b="1" dirty="0"/>
              <a:t>si vous ne lui avez pas fourni les données, n'utilisez pas les chiffres qu'elle cite.</a:t>
            </a:r>
            <a:endParaRPr lang="fr-FR" sz="1200" dirty="0"/>
          </a:p>
        </p:txBody>
      </p:sp>
    </p:spTree>
    <p:extLst>
      <p:ext uri="{BB962C8B-B14F-4D97-AF65-F5344CB8AC3E}">
        <p14:creationId xmlns:p14="http://schemas.microsoft.com/office/powerpoint/2010/main" val="20612449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C0AE9-0AF7-B2F2-DAA9-13EFE56694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2E7EA6-7847-FD75-5D0F-7944106294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57BFC8-89F8-9ADA-3FB5-4C4A4D11AD77}"/>
              </a:ext>
            </a:extLst>
          </p:cNvPr>
          <p:cNvSpPr>
            <a:spLocks noGrp="1"/>
          </p:cNvSpPr>
          <p:nvPr>
            <p:ph type="body" idx="1"/>
          </p:nvPr>
        </p:nvSpPr>
        <p:spPr/>
        <p:txBody>
          <a:bodyPr/>
          <a:lstStyle/>
          <a:p>
            <a:r>
              <a:rPr lang="fr-FR" dirty="0"/>
              <a:t>L'IA calcule parfois mal les moyennes ou médianes sur des petits jeux de données, surtout si le tableau est présenté de façon peu structurée. Vérifiez systématiquement tout calcul produit par l'IA avec une calculatrice ou un tableur. Le prompt peut inclure la consigne : </a:t>
            </a:r>
            <a:r>
              <a:rPr lang="fr-FR" i="1" dirty="0"/>
              <a:t>« Détaille tes calculs étape par étape avant de rédiger. »</a:t>
            </a:r>
            <a:r>
              <a:rPr lang="fr-FR" dirty="0"/>
              <a:t> — cela force l'IA à montrer son raisonnement et rend les erreurs détectables.</a:t>
            </a:r>
            <a:endParaRPr lang="fr-FR" sz="1200" dirty="0"/>
          </a:p>
        </p:txBody>
      </p:sp>
    </p:spTree>
    <p:extLst>
      <p:ext uri="{BB962C8B-B14F-4D97-AF65-F5344CB8AC3E}">
        <p14:creationId xmlns:p14="http://schemas.microsoft.com/office/powerpoint/2010/main" val="883912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9732-A378-94A5-72DF-0EC970E4E5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EE9356-1020-0CE3-CD4B-AD3E8781B5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0CC5BE3-EA3E-922C-95BD-8DA65144BAAA}"/>
              </a:ext>
            </a:extLst>
          </p:cNvPr>
          <p:cNvSpPr>
            <a:spLocks noGrp="1"/>
          </p:cNvSpPr>
          <p:nvPr>
            <p:ph type="body" idx="1"/>
          </p:nvPr>
        </p:nvSpPr>
        <p:spPr/>
        <p:txBody>
          <a:bodyPr/>
          <a:lstStyle/>
          <a:p>
            <a:r>
              <a:rPr lang="fr-FR" dirty="0"/>
              <a:t>L'IA peut proposer des abattements ou majorations (par exemple : </a:t>
            </a:r>
            <a:r>
              <a:rPr lang="fr-FR" i="1" dirty="0"/>
              <a:t>« l'absence d'ascenseur justifie une décote de 8% »</a:t>
            </a:r>
            <a:r>
              <a:rPr lang="fr-FR" dirty="0"/>
              <a:t>) sans que ces chiffres soient issus d'une méthodologie vérifiable. Ces pourcentages sont des ordres de grandeur statistiques généraux — ils doivent être validés par votre expérience du marché local et jamais présentés comme certains dans un rapport.</a:t>
            </a:r>
            <a:endParaRPr lang="fr-FR" sz="1200" dirty="0"/>
          </a:p>
        </p:txBody>
      </p:sp>
    </p:spTree>
    <p:extLst>
      <p:ext uri="{BB962C8B-B14F-4D97-AF65-F5344CB8AC3E}">
        <p14:creationId xmlns:p14="http://schemas.microsoft.com/office/powerpoint/2010/main" val="28533607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CD7D7-D7B5-BC33-1F54-89B36FCEBE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CA56A3-3F12-80A5-55F3-A9C2553D472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61942E8-64BD-35F9-A52C-18813542EF84}"/>
              </a:ext>
            </a:extLst>
          </p:cNvPr>
          <p:cNvSpPr>
            <a:spLocks noGrp="1"/>
          </p:cNvSpPr>
          <p:nvPr>
            <p:ph type="body" idx="1"/>
          </p:nvPr>
        </p:nvSpPr>
        <p:spPr/>
        <p:txBody>
          <a:bodyPr/>
          <a:lstStyle/>
          <a:p>
            <a:pPr rtl="0"/>
            <a:r>
              <a:rPr lang="fr-FR" dirty="0"/>
              <a:t>Après avoir appris à décrire un bien (module 2) et à analyser le marché (module 3), </a:t>
            </a:r>
          </a:p>
          <a:p>
            <a:pPr rtl="0"/>
            <a:r>
              <a:rPr lang="fr-FR" dirty="0"/>
              <a:t>Vous avez maintenant toutes les compétences pour produire un rapport complet. </a:t>
            </a:r>
          </a:p>
          <a:p>
            <a:pPr rtl="0"/>
            <a:endParaRPr lang="fr-FR" dirty="0"/>
          </a:p>
          <a:p>
            <a:pPr rtl="0"/>
            <a:r>
              <a:rPr lang="fr-FR" dirty="0"/>
              <a:t>L'enjeu n'est plus d'utiliser l'IA ponctuellement — c'est d'en faire un véritable co-rédacteur structuré tout au long du document.</a:t>
            </a:r>
          </a:p>
        </p:txBody>
      </p:sp>
    </p:spTree>
    <p:extLst>
      <p:ext uri="{BB962C8B-B14F-4D97-AF65-F5344CB8AC3E}">
        <p14:creationId xmlns:p14="http://schemas.microsoft.com/office/powerpoint/2010/main" val="16961517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52AFE-93D2-AD3A-750A-DBCC2E003E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E51515-D87E-C5B2-926A-738299BA359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8CE4247-2761-E1CA-5236-D5D336C6C210}"/>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9605207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FEFB-2A4A-6032-FBF4-6AD36374116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877F08-B1D4-5CBD-F69C-1E6F2E260F1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0D376F6-B4F9-35F2-3A53-B8F4BE6624B7}"/>
              </a:ext>
            </a:extLst>
          </p:cNvPr>
          <p:cNvSpPr>
            <a:spLocks noGrp="1"/>
          </p:cNvSpPr>
          <p:nvPr>
            <p:ph type="body" idx="1"/>
          </p:nvPr>
        </p:nvSpPr>
        <p:spPr/>
        <p:txBody>
          <a:bodyPr/>
          <a:lstStyle/>
          <a:p>
            <a:r>
              <a:rPr lang="fr-FR" dirty="0"/>
              <a:t>Voici la structure type d’un rapport d’expertise amiable :</a:t>
            </a:r>
          </a:p>
          <a:p>
            <a:r>
              <a:rPr lang="fr-FR" dirty="0"/>
              <a:t>Les pourcentages affichés ont une signification purement à titre informatif</a:t>
            </a:r>
          </a:p>
          <a:p>
            <a:r>
              <a:rPr lang="fr-FR" dirty="0"/>
              <a:t>Les pourcentages bleus et verts expriment le niveau d'implication de l’IA par rapport à la nature de la tâche :</a:t>
            </a:r>
          </a:p>
          <a:p>
            <a:r>
              <a:rPr lang="fr-FR" dirty="0"/>
              <a:t>En effet, décrire un bien à partir de notes brutes relevé par l’expert, est une tâche de rédaction pure, où l'IA excelle. (90% d’implication)</a:t>
            </a:r>
          </a:p>
          <a:p>
            <a:r>
              <a:rPr lang="fr-FR" dirty="0"/>
              <a:t>Fixer la valeur vénale d’un bien, est un jugement professionnel fondé sur une visite réelle et une expérience de marché — </a:t>
            </a:r>
          </a:p>
          <a:p>
            <a:endParaRPr lang="fr-FR" dirty="0"/>
          </a:p>
          <a:p>
            <a:r>
              <a:rPr lang="fr-FR" dirty="0"/>
              <a:t>l'IA peut préparer la conclusion, mais c'est tout de même l'expert qui jusqu’à preuve du contraire, la valide et la signe.</a:t>
            </a:r>
          </a:p>
          <a:p>
            <a:endParaRPr lang="fr-FR" dirty="0"/>
          </a:p>
          <a:p>
            <a:r>
              <a:rPr lang="fr-FR" dirty="0"/>
              <a:t>-----------------------------</a:t>
            </a:r>
          </a:p>
          <a:p>
            <a:r>
              <a:rPr lang="fr-FR" dirty="0"/>
              <a:t>Avant de lancer le moindre prompt, la stratégie est simple : </a:t>
            </a:r>
          </a:p>
          <a:p>
            <a:r>
              <a:rPr lang="fr-FR" dirty="0"/>
              <a:t>J’introduis une donnée nouvelle qui va faire toute la différence entre les bons et les moins bons rapports d’expertise.</a:t>
            </a:r>
          </a:p>
          <a:p>
            <a:r>
              <a:rPr lang="fr-FR" dirty="0"/>
              <a:t> </a:t>
            </a:r>
          </a:p>
          <a:p>
            <a:r>
              <a:rPr lang="fr-FR" dirty="0"/>
              <a:t>Définir pour l’IA, son périmètre de travail en lui donnant avant tout démarrage d’analyse, une vision complète du rapport à produire. </a:t>
            </a:r>
          </a:p>
          <a:p>
            <a:endParaRPr lang="fr-FR" dirty="0"/>
          </a:p>
          <a:p>
            <a:r>
              <a:rPr lang="fr-FR" dirty="0"/>
              <a:t>Un expert qui demande à l’IA « rédige la section X » sans avoir fourni le contexte global obtient une section orpheline, sans cohérence avec le reste du document. </a:t>
            </a:r>
          </a:p>
          <a:p>
            <a:endParaRPr lang="fr-FR" dirty="0"/>
          </a:p>
          <a:p>
            <a:r>
              <a:rPr lang="fr-FR" dirty="0"/>
              <a:t>La bonne pratique est de commencer chaque rapport d’expertise par un </a:t>
            </a:r>
            <a:r>
              <a:rPr lang="fr-FR" sz="1600" b="1" dirty="0"/>
              <a:t>prompt d'initialisation.</a:t>
            </a:r>
          </a:p>
        </p:txBody>
      </p:sp>
    </p:spTree>
    <p:extLst>
      <p:ext uri="{BB962C8B-B14F-4D97-AF65-F5344CB8AC3E}">
        <p14:creationId xmlns:p14="http://schemas.microsoft.com/office/powerpoint/2010/main" val="11531838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28546-87C9-733A-84F0-2149BEFAD6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45DAB9-46D1-77AB-9265-D67180C603D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CA12884-8F53-0926-6616-4ADF3132BED5}"/>
              </a:ext>
            </a:extLst>
          </p:cNvPr>
          <p:cNvSpPr>
            <a:spLocks noGrp="1"/>
          </p:cNvSpPr>
          <p:nvPr>
            <p:ph type="body" idx="1"/>
          </p:nvPr>
        </p:nvSpPr>
        <p:spPr/>
        <p:txBody>
          <a:bodyPr/>
          <a:lstStyle/>
          <a:p>
            <a:r>
              <a:rPr lang="fr-FR" dirty="0"/>
              <a:t>Voici la structure type d’un rapport d’expertise :</a:t>
            </a:r>
          </a:p>
          <a:p>
            <a:r>
              <a:rPr lang="fr-FR" dirty="0"/>
              <a:t>Les pourcentages affichés ont une signification purement à titre informatif</a:t>
            </a:r>
          </a:p>
          <a:p>
            <a:r>
              <a:rPr lang="fr-FR" dirty="0"/>
              <a:t>Les pourcentages bleus et verts expriment le niveau d'implication de l’IA par rapport à la nature de la tâche :</a:t>
            </a:r>
          </a:p>
          <a:p>
            <a:r>
              <a:rPr lang="fr-FR" dirty="0"/>
              <a:t>En effet, décrire un bien à partir de notes brutes relevé par l’expert, est une tâche de rédaction pure, où l'IA excelle. (90% d’implication)</a:t>
            </a:r>
          </a:p>
          <a:p>
            <a:r>
              <a:rPr lang="fr-FR" dirty="0"/>
              <a:t>Fixer la valeur vénale d’un bien, est un jugement professionnel fondé sur une visite réelle et une expérience de marché — </a:t>
            </a:r>
          </a:p>
          <a:p>
            <a:endParaRPr lang="fr-FR" dirty="0"/>
          </a:p>
          <a:p>
            <a:r>
              <a:rPr lang="fr-FR" dirty="0"/>
              <a:t>l'IA peut préparer la conclusion, mais c'est tout de même l'expert qui jusqu’à preuve du contraire, la valide et la signe.</a:t>
            </a:r>
          </a:p>
          <a:p>
            <a:endParaRPr lang="fr-FR" dirty="0"/>
          </a:p>
          <a:p>
            <a:r>
              <a:rPr lang="fr-FR" dirty="0"/>
              <a:t>-----------------------------</a:t>
            </a:r>
          </a:p>
          <a:p>
            <a:r>
              <a:rPr lang="fr-FR" dirty="0"/>
              <a:t>Avant de lancer le moindre prompt, la stratégie est simple : </a:t>
            </a:r>
          </a:p>
          <a:p>
            <a:r>
              <a:rPr lang="fr-FR" dirty="0"/>
              <a:t>J’introduis une donnée nouvelle qui va faire toute la différence entre les bons et les moins bons rapports d’expertise.</a:t>
            </a:r>
          </a:p>
          <a:p>
            <a:r>
              <a:rPr lang="fr-FR" dirty="0"/>
              <a:t> </a:t>
            </a:r>
          </a:p>
          <a:p>
            <a:r>
              <a:rPr lang="fr-FR" dirty="0"/>
              <a:t>Définir pour l’IA, son périmètre de travail en lui donnant avant tout démarrage d’analyse, une vision complète du rapport à produire. </a:t>
            </a:r>
          </a:p>
          <a:p>
            <a:endParaRPr lang="fr-FR" dirty="0"/>
          </a:p>
          <a:p>
            <a:r>
              <a:rPr lang="fr-FR" dirty="0"/>
              <a:t>Un expert qui demande à l’IA « rédige la section X » sans avoir fourni le contexte global obtient une section orpheline, sans cohérence avec le reste du document. </a:t>
            </a:r>
          </a:p>
          <a:p>
            <a:endParaRPr lang="fr-FR" dirty="0"/>
          </a:p>
          <a:p>
            <a:r>
              <a:rPr lang="fr-FR" dirty="0"/>
              <a:t>La bonne pratique est de commencer chaque rapport d’expertise par un </a:t>
            </a:r>
            <a:r>
              <a:rPr lang="fr-FR" sz="1600" b="1" dirty="0"/>
              <a:t>prompt d'initialisation.</a:t>
            </a:r>
          </a:p>
        </p:txBody>
      </p:sp>
    </p:spTree>
    <p:extLst>
      <p:ext uri="{BB962C8B-B14F-4D97-AF65-F5344CB8AC3E}">
        <p14:creationId xmlns:p14="http://schemas.microsoft.com/office/powerpoint/2010/main" val="2471054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09E11-14DC-0616-B9EE-85A78037A8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84B201-6105-C792-9F40-2800C383D23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F5BB356-E929-A872-9BCA-CF0C1E8DCDEC}"/>
              </a:ext>
            </a:extLst>
          </p:cNvPr>
          <p:cNvSpPr>
            <a:spLocks noGrp="1"/>
          </p:cNvSpPr>
          <p:nvPr>
            <p:ph type="body" idx="1"/>
          </p:nvPr>
        </p:nvSpPr>
        <p:spPr/>
        <p:txBody>
          <a:bodyPr/>
          <a:lstStyle/>
          <a:p>
            <a:r>
              <a:rPr lang="fr-FR" b="1" dirty="0"/>
              <a:t>Le prompt d’initialisation amiable :</a:t>
            </a:r>
          </a:p>
          <a:p>
            <a:endParaRPr lang="fr-FR" dirty="0"/>
          </a:p>
          <a:p>
            <a:r>
              <a:rPr lang="fr-FR" dirty="0"/>
              <a:t>La meilleure pratique est de </a:t>
            </a:r>
            <a:r>
              <a:rPr lang="fr-FR" b="1" dirty="0"/>
              <a:t>commencer chaque dossier </a:t>
            </a:r>
          </a:p>
          <a:p>
            <a:r>
              <a:rPr lang="fr-FR" dirty="0"/>
              <a:t>par un </a:t>
            </a:r>
            <a:r>
              <a:rPr lang="fr-FR" b="1" dirty="0"/>
              <a:t>prompt d'initialisation </a:t>
            </a:r>
          </a:p>
          <a:p>
            <a:r>
              <a:rPr lang="fr-FR" dirty="0"/>
              <a:t>Cela place l'IA dans le </a:t>
            </a:r>
            <a:r>
              <a:rPr lang="fr-FR" b="1" dirty="0"/>
              <a:t>contexte complet </a:t>
            </a:r>
            <a:r>
              <a:rPr lang="fr-FR" dirty="0"/>
              <a:t>du rapport. </a:t>
            </a:r>
          </a:p>
          <a:p>
            <a:r>
              <a:rPr lang="fr-FR" dirty="0"/>
              <a:t>ça évite de répéter les informations à chaque section </a:t>
            </a:r>
          </a:p>
          <a:p>
            <a:r>
              <a:rPr lang="fr-FR" dirty="0"/>
              <a:t>et cela assure la cohérence de ton et de style tout au long du document.</a:t>
            </a:r>
          </a:p>
          <a:p>
            <a:endParaRPr lang="fr-FR" sz="1600" b="1" dirty="0"/>
          </a:p>
          <a:p>
            <a:r>
              <a:rPr lang="fr-FR" sz="1600" b="1" dirty="0"/>
              <a:t>------</a:t>
            </a:r>
          </a:p>
          <a:p>
            <a:endParaRPr lang="fr-FR" sz="1600" b="1" dirty="0"/>
          </a:p>
          <a:p>
            <a:r>
              <a:rPr lang="fr-FR" sz="1600" b="1" dirty="0"/>
              <a:t>Pourquoi cette confirmation est utile :</a:t>
            </a:r>
            <a:r>
              <a:rPr lang="fr-FR" sz="1600" dirty="0"/>
              <a:t> </a:t>
            </a:r>
          </a:p>
          <a:p>
            <a:r>
              <a:rPr lang="fr-FR" sz="1600" dirty="0"/>
              <a:t>elle valide que l'IA a intégré les deux contraintes critiques </a:t>
            </a:r>
          </a:p>
          <a:p>
            <a:r>
              <a:rPr lang="fr-FR" sz="1600" dirty="0"/>
              <a:t>— le contexte amiable et l'absence de registre judiciaire. </a:t>
            </a:r>
          </a:p>
          <a:p>
            <a:r>
              <a:rPr lang="fr-FR" sz="1600" dirty="0"/>
              <a:t>Si la confirmation contient "l'expert soussigné" ou toute formule judiciaire, c'est le signal que le prompt d'init n'a pas été assez explicite. </a:t>
            </a:r>
          </a:p>
          <a:p>
            <a:r>
              <a:rPr lang="fr-FR" sz="1600" dirty="0"/>
              <a:t>Corrigez avant de produire quoi que ce soit.</a:t>
            </a:r>
            <a:br>
              <a:rPr lang="fr-FR" sz="1600" dirty="0"/>
            </a:br>
            <a:r>
              <a:rPr lang="fr-FR" sz="1600" dirty="0"/>
              <a:t>On gagne un temps considérable et on évite les incohérences entre sections.</a:t>
            </a:r>
            <a:endParaRPr lang="fr-FR" sz="1600" b="1" dirty="0"/>
          </a:p>
        </p:txBody>
      </p:sp>
    </p:spTree>
    <p:extLst>
      <p:ext uri="{BB962C8B-B14F-4D97-AF65-F5344CB8AC3E}">
        <p14:creationId xmlns:p14="http://schemas.microsoft.com/office/powerpoint/2010/main" val="33200683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FCEF8-1236-3DAC-05BB-AD7A3E168C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065C71-D79C-D14C-9E74-8E28B2D2DC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358C9C0-1919-2767-9A7F-848CF3E7634D}"/>
              </a:ext>
            </a:extLst>
          </p:cNvPr>
          <p:cNvSpPr>
            <a:spLocks noGrp="1"/>
          </p:cNvSpPr>
          <p:nvPr>
            <p:ph type="body" idx="1"/>
          </p:nvPr>
        </p:nvSpPr>
        <p:spPr/>
        <p:txBody>
          <a:bodyPr/>
          <a:lstStyle/>
          <a:p>
            <a:r>
              <a:rPr lang="fr-FR" b="1" dirty="0"/>
              <a:t>Le prompt d’initialisation judiciaire :</a:t>
            </a:r>
          </a:p>
          <a:p>
            <a:endParaRPr lang="fr-FR" dirty="0"/>
          </a:p>
          <a:p>
            <a:r>
              <a:rPr lang="fr-FR" sz="1600" b="1" dirty="0"/>
              <a:t>------</a:t>
            </a:r>
          </a:p>
          <a:p>
            <a:endParaRPr lang="fr-FR" sz="1600" b="1" dirty="0"/>
          </a:p>
          <a:p>
            <a:r>
              <a:rPr lang="fr-FR" sz="1600" b="1" dirty="0"/>
              <a:t>Pourquoi cette approche fonctionne :</a:t>
            </a:r>
            <a:r>
              <a:rPr lang="fr-FR" sz="1600" dirty="0"/>
              <a:t> l'IA maintient le contexte du dossier tout au long de la conversation. </a:t>
            </a:r>
          </a:p>
          <a:p>
            <a:pPr marL="285750" indent="-285750">
              <a:buFont typeface="Arial" panose="020B0604020202020204" pitchFamily="34" charset="0"/>
              <a:buChar char="•"/>
            </a:pPr>
            <a:r>
              <a:rPr lang="fr-FR" sz="1600" dirty="0"/>
              <a:t>Chaque prompt de section devient alors très court, car l'IA sait déjà qui elle est, </a:t>
            </a:r>
          </a:p>
          <a:p>
            <a:pPr marL="285750" indent="-285750">
              <a:buFont typeface="Arial" panose="020B0604020202020204" pitchFamily="34" charset="0"/>
              <a:buChar char="•"/>
            </a:pPr>
            <a:r>
              <a:rPr lang="fr-FR" sz="1600" dirty="0"/>
              <a:t>pour quel bien, elle travaille, </a:t>
            </a:r>
          </a:p>
          <a:p>
            <a:pPr marL="285750" indent="-285750">
              <a:buFont typeface="Arial" panose="020B0604020202020204" pitchFamily="34" charset="0"/>
              <a:buChar char="•"/>
            </a:pPr>
            <a:r>
              <a:rPr lang="fr-FR" sz="1600" dirty="0"/>
              <a:t>et quel ton adopter. </a:t>
            </a:r>
          </a:p>
          <a:p>
            <a:br>
              <a:rPr lang="fr-FR" sz="1600" dirty="0"/>
            </a:br>
            <a:r>
              <a:rPr lang="fr-FR" sz="1600" dirty="0"/>
              <a:t>On gagne un temps considérable et on évite les incohérences entre sections.</a:t>
            </a:r>
            <a:endParaRPr lang="fr-FR" sz="1600" b="1" dirty="0"/>
          </a:p>
        </p:txBody>
      </p:sp>
    </p:spTree>
    <p:extLst>
      <p:ext uri="{BB962C8B-B14F-4D97-AF65-F5344CB8AC3E}">
        <p14:creationId xmlns:p14="http://schemas.microsoft.com/office/powerpoint/2010/main" val="28253019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F2D42-29B6-5A79-3064-E98F0EDE5C5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F755FE-5F4A-47AE-0749-C67E614ADB4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1A221F1-E9DA-CC6F-9735-8B29A5204BF9}"/>
              </a:ext>
            </a:extLst>
          </p:cNvPr>
          <p:cNvSpPr>
            <a:spLocks noGrp="1"/>
          </p:cNvSpPr>
          <p:nvPr>
            <p:ph type="body" idx="1"/>
          </p:nvPr>
        </p:nvSpPr>
        <p:spPr/>
        <p:txBody>
          <a:bodyPr/>
          <a:lstStyle/>
          <a:p>
            <a:r>
              <a:rPr lang="fr-FR" b="1" dirty="0"/>
              <a:t>Pourquoi cette confirmation est utile en formation :</a:t>
            </a:r>
            <a:r>
              <a:rPr lang="fr-FR" dirty="0"/>
              <a:t> </a:t>
            </a:r>
          </a:p>
          <a:p>
            <a:endParaRPr lang="fr-FR" dirty="0"/>
          </a:p>
          <a:p>
            <a:r>
              <a:rPr lang="fr-FR" dirty="0"/>
              <a:t>elle montre que l'IA a bien lu et intégré toutes les données. </a:t>
            </a:r>
          </a:p>
          <a:p>
            <a:endParaRPr lang="fr-FR" dirty="0"/>
          </a:p>
          <a:p>
            <a:r>
              <a:rPr lang="fr-FR" dirty="0"/>
              <a:t>Si la confirmation contient une erreur — mauvaise adresse, mauvais type de bien, mauvaise date — c'est le moment de corriger avant de produire quoi que ce soit. </a:t>
            </a:r>
          </a:p>
          <a:p>
            <a:endParaRPr lang="fr-FR" dirty="0"/>
          </a:p>
          <a:p>
            <a:r>
              <a:rPr lang="fr-FR" dirty="0"/>
              <a:t>Corriger l'initialisation coûte 10 secondes ; corriger huit sections mal fondées coûte 30 minutes.</a:t>
            </a:r>
          </a:p>
        </p:txBody>
      </p:sp>
    </p:spTree>
    <p:extLst>
      <p:ext uri="{BB962C8B-B14F-4D97-AF65-F5344CB8AC3E}">
        <p14:creationId xmlns:p14="http://schemas.microsoft.com/office/powerpoint/2010/main" val="31411925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0BE01-5B99-4391-E655-E5C2D2D3B3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3E80DA-CB04-5C15-98A8-9FE6B4DAAE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F064472-0010-2B0E-C9FA-FED70D2DE587}"/>
              </a:ext>
            </a:extLst>
          </p:cNvPr>
          <p:cNvSpPr>
            <a:spLocks noGrp="1"/>
          </p:cNvSpPr>
          <p:nvPr>
            <p:ph type="body" idx="1"/>
          </p:nvPr>
        </p:nvSpPr>
        <p:spPr/>
        <p:txBody>
          <a:bodyPr/>
          <a:lstStyle/>
          <a:p>
            <a:r>
              <a:rPr lang="fr-FR" b="1" dirty="0"/>
              <a:t>Le prompt </a:t>
            </a:r>
          </a:p>
          <a:p>
            <a:r>
              <a:rPr lang="fr-FR" b="1" dirty="0"/>
              <a:t>Cadre et objet de la mission (AMIABLE)</a:t>
            </a:r>
          </a:p>
          <a:p>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C'est la section la plus différente du judiciaire.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Pas d'ordonnance, pas de chambre civile, pas de parties en qualité procédurale. La section se construit autour de la lettre de mission et des pièces communiquées.</a:t>
            </a:r>
          </a:p>
          <a:p>
            <a:endParaRPr lang="fr-FR" b="1" dirty="0"/>
          </a:p>
          <a:p>
            <a:endParaRPr lang="fr-FR" dirty="0"/>
          </a:p>
        </p:txBody>
      </p:sp>
    </p:spTree>
    <p:extLst>
      <p:ext uri="{BB962C8B-B14F-4D97-AF65-F5344CB8AC3E}">
        <p14:creationId xmlns:p14="http://schemas.microsoft.com/office/powerpoint/2010/main" val="22714490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4291-6568-2775-E40C-95F297B050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42476A0-F976-133F-F17E-DCA0CBE5217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AC556D2-DA33-170A-9AA9-2A7246B3C535}"/>
              </a:ext>
            </a:extLst>
          </p:cNvPr>
          <p:cNvSpPr>
            <a:spLocks noGrp="1"/>
          </p:cNvSpPr>
          <p:nvPr>
            <p:ph type="body" idx="1"/>
          </p:nvPr>
        </p:nvSpPr>
        <p:spPr/>
        <p:txBody>
          <a:bodyPr/>
          <a:lstStyle/>
          <a:p>
            <a:r>
              <a:rPr lang="fr-FR" sz="1200" b="1" dirty="0">
                <a:latin typeface="Figtree"/>
              </a:rPr>
              <a:t>Analyse du résultat :</a:t>
            </a:r>
            <a:endParaRPr lang="fr-FR" dirty="0"/>
          </a:p>
          <a:p>
            <a:r>
              <a:rPr lang="fr-FR" b="1" dirty="0"/>
              <a:t>Cadre et objet de la mission (AMIABLE)</a:t>
            </a:r>
          </a:p>
          <a:p>
            <a:endParaRPr lang="fr-FR" b="1" dirty="0"/>
          </a:p>
          <a:p>
            <a:r>
              <a:rPr lang="fr-FR" sz="1200" b="1" kern="1200" dirty="0">
                <a:solidFill>
                  <a:schemeClr val="tx1"/>
                </a:solidFill>
                <a:effectLst/>
                <a:latin typeface="+mn-lt"/>
                <a:ea typeface="+mn-ea"/>
                <a:cs typeface="+mn-cs"/>
              </a:rPr>
              <a:t>Trois points à commenter </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Le ton est sobre et direct, sans formalisme judiciaire. "Un notaire exerçant à Paris m'a confié la mission" — formulation professionnelle, claire, adaptée à un rapport remis à un mandant privé. Comparez avec la version judiciaire : "Par ordonnance du Tribunal judiciaire, l'expert soussigné a été commis aux fins de..." — le contraste illustre immédiatement la différence de registre.</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La liste des pièces est complète et vérifiable. C'est le seul élément de cette section qui ne peut venir que du dossier réel — l'IA l'a correctement mis en forme à partir des données fournies dans le prompt.</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L'identité du notaire est protégée. "Un notaire exerçant à Paris" — la règle de confidentialité est respectée. Son nom complet et les coordonnées de son étude figureront dans l'en-tête du rapport, pas dans le corps du texte passé dans l'IA</a:t>
            </a:r>
            <a:endParaRPr lang="fr-FR" b="1" dirty="0"/>
          </a:p>
          <a:p>
            <a:endParaRPr lang="fr-FR" dirty="0"/>
          </a:p>
        </p:txBody>
      </p:sp>
    </p:spTree>
    <p:extLst>
      <p:ext uri="{BB962C8B-B14F-4D97-AF65-F5344CB8AC3E}">
        <p14:creationId xmlns:p14="http://schemas.microsoft.com/office/powerpoint/2010/main" val="2599507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13957-C14B-7497-5446-DD7708A493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278B4C8-DC42-2C05-0E16-13DCD0D8B9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AB02701-58DF-D00B-C22F-F9DB12740969}"/>
              </a:ext>
            </a:extLst>
          </p:cNvPr>
          <p:cNvSpPr>
            <a:spLocks noGrp="1"/>
          </p:cNvSpPr>
          <p:nvPr>
            <p:ph type="body" idx="1"/>
          </p:nvPr>
        </p:nvSpPr>
        <p:spPr/>
        <p:txBody>
          <a:bodyPr/>
          <a:lstStyle/>
          <a:p>
            <a:r>
              <a:rPr lang="fr-FR" b="1" dirty="0"/>
              <a:t>Le prompt </a:t>
            </a:r>
          </a:p>
          <a:p>
            <a:r>
              <a:rPr lang="fr-FR" b="1" dirty="0"/>
              <a:t>Mission et cadre juridique (JUDICIAIRE)</a:t>
            </a:r>
          </a:p>
          <a:p>
            <a:endParaRPr lang="fr-FR" dirty="0"/>
          </a:p>
        </p:txBody>
      </p:sp>
    </p:spTree>
    <p:extLst>
      <p:ext uri="{BB962C8B-B14F-4D97-AF65-F5344CB8AC3E}">
        <p14:creationId xmlns:p14="http://schemas.microsoft.com/office/powerpoint/2010/main" val="28699880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D97D4-8C27-9865-84E7-6333CD6B21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CDD24A-73EA-5924-A77F-963D02A4421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5EF91D-9F56-6444-8107-B9C26314CA33}"/>
              </a:ext>
            </a:extLst>
          </p:cNvPr>
          <p:cNvSpPr>
            <a:spLocks noGrp="1"/>
          </p:cNvSpPr>
          <p:nvPr>
            <p:ph type="body" idx="1"/>
          </p:nvPr>
        </p:nvSpPr>
        <p:spPr/>
        <p:txBody>
          <a:bodyPr/>
          <a:lstStyle/>
          <a:p>
            <a:r>
              <a:rPr lang="fr-FR" b="1" dirty="0"/>
              <a:t>Le prompt </a:t>
            </a:r>
          </a:p>
          <a:p>
            <a:r>
              <a:rPr lang="fr-FR" b="1" dirty="0"/>
              <a:t>Mission et cadre juridique (JUDICIAIRE)</a:t>
            </a:r>
          </a:p>
          <a:p>
            <a:endParaRPr lang="fr-FR" dirty="0"/>
          </a:p>
          <a:p>
            <a:pPr rtl="0"/>
            <a:r>
              <a:rPr lang="fr-FR" b="1" dirty="0"/>
              <a:t>Les trois points à vérifier impérativement avant d'intégrer le texte dans votre rapport</a:t>
            </a:r>
          </a:p>
          <a:p>
            <a:pPr rtl="0"/>
            <a:r>
              <a:rPr lang="fr-FR" dirty="0"/>
              <a:t>Cette section contient des données juridiques que l'IA ne peut pas inventer — elle les recopie depuis ce que vous lui avez fourni. </a:t>
            </a:r>
          </a:p>
          <a:p>
            <a:pPr rtl="0"/>
            <a:r>
              <a:rPr lang="fr-FR" dirty="0"/>
              <a:t>S’il y a des erreurs elles ne viennent donc pas d'hallucinations, mais de données mal saisies dans le prompt. </a:t>
            </a:r>
          </a:p>
          <a:p>
            <a:pPr rtl="0"/>
            <a:endParaRPr lang="fr-FR" dirty="0"/>
          </a:p>
          <a:p>
            <a:pPr rtl="0"/>
            <a:r>
              <a:rPr lang="fr-FR" b="1" dirty="0"/>
              <a:t>Vérifiez systématiquement :</a:t>
            </a:r>
          </a:p>
          <a:p>
            <a:pPr rtl="0"/>
            <a:r>
              <a:rPr lang="fr-FR" dirty="0"/>
              <a:t>Le numéro de dossier doit être exact à la virgule — c'est l'identifiant du dossier judiciaire. Une erreur ici est une erreur dans le rapport officiel.</a:t>
            </a:r>
          </a:p>
          <a:p>
            <a:pPr rtl="0"/>
            <a:r>
              <a:rPr lang="fr-FR" dirty="0"/>
              <a:t>La qualité du magistrat ordonnateur doit correspondre à la réalité de l'ordonnance — "Juge des référés", "Juge de l'exécution", "Président de la chambre civile" ne sont pas interchangeables.</a:t>
            </a:r>
          </a:p>
          <a:p>
            <a:pPr rtl="0"/>
            <a:r>
              <a:rPr lang="fr-FR" dirty="0"/>
              <a:t>La liste des présents à la visite doit refléter exactement le procès-verbal de convocation que vous avez établi ce jour-là — c'est un point de contradictoire qui peut être soulevé lors d'un dire.</a:t>
            </a:r>
          </a:p>
          <a:p>
            <a:endParaRPr lang="fr-FR" dirty="0"/>
          </a:p>
        </p:txBody>
      </p:sp>
    </p:spTree>
    <p:extLst>
      <p:ext uri="{BB962C8B-B14F-4D97-AF65-F5344CB8AC3E}">
        <p14:creationId xmlns:p14="http://schemas.microsoft.com/office/powerpoint/2010/main" val="11168554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D3960-48AA-A2D7-861A-D7FC7F0780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10CEE6-CF93-2F80-91D9-9693F27C4DF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5405B2-6474-9283-FCA5-AAA91B124781}"/>
              </a:ext>
            </a:extLst>
          </p:cNvPr>
          <p:cNvSpPr>
            <a:spLocks noGrp="1"/>
          </p:cNvSpPr>
          <p:nvPr>
            <p:ph type="body" idx="1"/>
          </p:nvPr>
        </p:nvSpPr>
        <p:spPr/>
        <p:txBody>
          <a:bodyPr/>
          <a:lstStyle/>
          <a:p>
            <a:r>
              <a:rPr lang="fr-FR" b="1" dirty="0"/>
              <a:t>Le prompt - </a:t>
            </a:r>
            <a:r>
              <a:rPr lang="fr-FR" sz="1200" b="1" dirty="0">
                <a:highlight>
                  <a:srgbClr val="FFFF00"/>
                </a:highlight>
                <a:latin typeface="Figtree"/>
              </a:rPr>
              <a:t>Bien urbain</a:t>
            </a:r>
            <a:endParaRPr lang="fr-FR" b="1" dirty="0"/>
          </a:p>
          <a:p>
            <a:pPr algn="l"/>
            <a:r>
              <a:rPr lang="fr-FR" sz="1200" b="1" dirty="0">
                <a:solidFill>
                  <a:schemeClr val="tx2">
                    <a:alpha val="60000"/>
                  </a:schemeClr>
                </a:solidFill>
                <a:latin typeface="Figtree" pitchFamily="2" charset="0"/>
              </a:rPr>
              <a:t>Situation géographique et environnement</a:t>
            </a:r>
          </a:p>
          <a:p>
            <a:pPr algn="l"/>
            <a:r>
              <a:rPr lang="fr-FR" sz="1200" b="1" dirty="0">
                <a:solidFill>
                  <a:schemeClr val="tx2">
                    <a:alpha val="60000"/>
                  </a:schemeClr>
                </a:solidFill>
                <a:latin typeface="Figtree" pitchFamily="2" charset="0"/>
              </a:rPr>
              <a:t>Valable pour les deux types de profils d’experts</a:t>
            </a:r>
          </a:p>
          <a:p>
            <a:endParaRPr lang="fr-FR" b="1" dirty="0"/>
          </a:p>
          <a:p>
            <a:pPr rtl="0"/>
            <a:r>
              <a:rPr lang="fr-FR" dirty="0"/>
              <a:t>C'est l'une des sections où l'IA apporte le plus de valeur ajoutée immédiate. </a:t>
            </a:r>
          </a:p>
          <a:p>
            <a:pPr rtl="0"/>
            <a:r>
              <a:rPr lang="fr-FR" dirty="0"/>
              <a:t>Elle ne dépend pas de la visite — elle s'appuie sur des informations objectives, géographiques et urbanistiques que l'IA connaît bien pour les villes françaises, et que l'expert peut compléter en quelques lignes de notes. C'est souvent la section que les experts rédigent le plus vite avec l'IA, et celle qui libère le plus de temps dès les premières utilisations.</a:t>
            </a:r>
          </a:p>
          <a:p>
            <a:br>
              <a:rPr lang="fr-FR" dirty="0"/>
            </a:br>
            <a:endParaRPr lang="fr-FR" dirty="0"/>
          </a:p>
          <a:p>
            <a:pPr rtl="0"/>
            <a:r>
              <a:rPr lang="fr-FR" b="1" dirty="0"/>
              <a:t>Ce que l'expert doit avoir sous la main</a:t>
            </a:r>
          </a:p>
          <a:p>
            <a:pPr rtl="0"/>
            <a:r>
              <a:rPr lang="fr-FR" dirty="0"/>
              <a:t>Trois sources suffisent pour nourrir ce prompt :</a:t>
            </a:r>
          </a:p>
          <a:p>
            <a:pPr lvl="0" rtl="0"/>
            <a:endParaRPr lang="fr-FR" dirty="0"/>
          </a:p>
          <a:p>
            <a:pPr lvl="0" rtl="0"/>
            <a:r>
              <a:rPr lang="fr-FR" dirty="0"/>
              <a:t>Ses propres observations lors du trajet et de l'arrivée sur place (environnement immédiat, qualité de la rue, nuisances éventuelles)</a:t>
            </a:r>
          </a:p>
          <a:p>
            <a:pPr lvl="0" rtl="0"/>
            <a:endParaRPr lang="fr-FR" dirty="0"/>
          </a:p>
          <a:p>
            <a:pPr lvl="0" rtl="0"/>
            <a:r>
              <a:rPr lang="fr-FR" dirty="0"/>
              <a:t>Le nom de la commune et du quartier, suffisants pour que l'IA complète le contexte géographique général</a:t>
            </a:r>
          </a:p>
          <a:p>
            <a:pPr lvl="0" rtl="0"/>
            <a:endParaRPr lang="fr-FR" dirty="0"/>
          </a:p>
          <a:p>
            <a:pPr lvl="0" rtl="0"/>
            <a:r>
              <a:rPr lang="fr-FR" dirty="0"/>
              <a:t>Les données d'accessibilité : transports en commun à proximité, distances aux équipements principaux si relevées</a:t>
            </a:r>
          </a:p>
          <a:p>
            <a:pPr rtl="0"/>
            <a:endParaRPr lang="fr-FR" dirty="0"/>
          </a:p>
          <a:p>
            <a:pPr rtl="0"/>
            <a:r>
              <a:rPr lang="fr-FR" dirty="0"/>
              <a:t>L'IA peut compléter les informations générales sur le quartier à partir de sa connaissance — mais l'expert doit vérifier et corriger tout ce qui concerne l'environnement immédiat, que seule la visite permet d'observer.</a:t>
            </a:r>
          </a:p>
          <a:p>
            <a:endParaRPr lang="fr-FR" b="1" dirty="0"/>
          </a:p>
          <a:p>
            <a:r>
              <a:rPr lang="fr-FR" sz="1200" b="1" i="0" kern="1200" dirty="0">
                <a:solidFill>
                  <a:schemeClr val="tx1"/>
                </a:solidFill>
                <a:effectLst/>
                <a:latin typeface="+mn-lt"/>
                <a:ea typeface="+mn-ea"/>
                <a:cs typeface="+mn-cs"/>
              </a:rPr>
              <a:t>Le § 2 </a:t>
            </a:r>
            <a:r>
              <a:rPr lang="fr-FR" sz="1200" b="0" i="0" kern="1200" dirty="0">
                <a:solidFill>
                  <a:schemeClr val="tx1"/>
                </a:solidFill>
                <a:effectLst/>
                <a:latin typeface="+mn-lt"/>
                <a:ea typeface="+mn-ea"/>
                <a:cs typeface="+mn-cs"/>
              </a:rPr>
              <a:t>doit s'appuyer sur les observations de visite pour l'environnement immédiat. </a:t>
            </a:r>
          </a:p>
          <a:p>
            <a:r>
              <a:rPr lang="fr-FR" sz="1200" b="0" i="0" kern="1200" dirty="0">
                <a:solidFill>
                  <a:schemeClr val="tx1"/>
                </a:solidFill>
                <a:effectLst/>
                <a:latin typeface="+mn-lt"/>
                <a:ea typeface="+mn-ea"/>
                <a:cs typeface="+mn-cs"/>
              </a:rPr>
              <a:t>L'IA peut compléter les données générales sur le quartier (histoire, positionnement dans la ville) à partir de sa connaissance — l'expert vérifie et corrige.</a:t>
            </a:r>
            <a:endParaRPr lang="fr-FR" b="1" dirty="0"/>
          </a:p>
          <a:p>
            <a:endParaRPr lang="fr-FR" dirty="0"/>
          </a:p>
        </p:txBody>
      </p:sp>
    </p:spTree>
    <p:extLst>
      <p:ext uri="{BB962C8B-B14F-4D97-AF65-F5344CB8AC3E}">
        <p14:creationId xmlns:p14="http://schemas.microsoft.com/office/powerpoint/2010/main" val="24134529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AB5B9-A4D7-4E01-CA3C-CF6FDEC261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3AA6AE-B6D3-3D54-CE5A-598A5BDC7AF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1290CC2-6F72-00BA-566F-A1307644D4B8}"/>
              </a:ext>
            </a:extLst>
          </p:cNvPr>
          <p:cNvSpPr>
            <a:spLocks noGrp="1"/>
          </p:cNvSpPr>
          <p:nvPr>
            <p:ph type="body" idx="1"/>
          </p:nvPr>
        </p:nvSpPr>
        <p:spPr/>
        <p:txBody>
          <a:bodyPr/>
          <a:lstStyle/>
          <a:p>
            <a:r>
              <a:rPr lang="fr-FR" b="1" dirty="0"/>
              <a:t>Le prompt - </a:t>
            </a:r>
            <a:r>
              <a:rPr lang="fr-FR" sz="1800" b="1" dirty="0">
                <a:highlight>
                  <a:srgbClr val="FFFF00"/>
                </a:highlight>
                <a:latin typeface="Figtree"/>
              </a:rPr>
              <a:t>Bien péri-urbain / rural</a:t>
            </a:r>
            <a:endParaRPr lang="fr-FR" sz="1600" b="1" dirty="0"/>
          </a:p>
          <a:p>
            <a:pPr algn="l"/>
            <a:r>
              <a:rPr lang="fr-FR" sz="1200" b="1" dirty="0">
                <a:solidFill>
                  <a:schemeClr val="tx2">
                    <a:alpha val="60000"/>
                  </a:schemeClr>
                </a:solidFill>
                <a:latin typeface="Figtree" pitchFamily="2" charset="0"/>
              </a:rPr>
              <a:t>Situation géographique et environnement</a:t>
            </a:r>
          </a:p>
          <a:p>
            <a:pPr algn="l"/>
            <a:r>
              <a:rPr lang="fr-FR" sz="1200" b="1" dirty="0">
                <a:solidFill>
                  <a:schemeClr val="tx2">
                    <a:alpha val="60000"/>
                  </a:schemeClr>
                </a:solidFill>
                <a:latin typeface="Figtree" pitchFamily="2" charset="0"/>
              </a:rPr>
              <a:t>Valable pour les deux types de profils d’experts</a:t>
            </a:r>
          </a:p>
          <a:p>
            <a:endParaRPr lang="fr-FR" b="1" dirty="0"/>
          </a:p>
          <a:p>
            <a:pPr rtl="0"/>
            <a:r>
              <a:rPr lang="fr-FR" sz="1200" b="0" i="0" kern="1200" dirty="0">
                <a:solidFill>
                  <a:schemeClr val="tx1"/>
                </a:solidFill>
                <a:effectLst/>
                <a:latin typeface="+mn-lt"/>
                <a:ea typeface="+mn-ea"/>
                <a:cs typeface="+mn-cs"/>
              </a:rPr>
              <a:t>Pour les biens péri-urbains, la desserte routière est souvent plus déterminante pour la valeur </a:t>
            </a:r>
          </a:p>
          <a:p>
            <a:pPr rtl="0"/>
            <a:r>
              <a:rPr lang="fr-FR" sz="1200" b="0" i="0" kern="1200" dirty="0">
                <a:solidFill>
                  <a:schemeClr val="tx1"/>
                </a:solidFill>
                <a:effectLst/>
                <a:latin typeface="+mn-lt"/>
                <a:ea typeface="+mn-ea"/>
                <a:cs typeface="+mn-cs"/>
              </a:rPr>
              <a:t>que les transports en commun. </a:t>
            </a:r>
          </a:p>
          <a:p>
            <a:pPr rtl="0"/>
            <a:endParaRPr lang="fr-FR" sz="1200" b="0" i="0" kern="1200" dirty="0">
              <a:solidFill>
                <a:schemeClr val="tx1"/>
              </a:solidFill>
              <a:effectLst/>
              <a:latin typeface="+mn-lt"/>
              <a:ea typeface="+mn-ea"/>
              <a:cs typeface="+mn-cs"/>
            </a:endParaRPr>
          </a:p>
          <a:p>
            <a:pPr rtl="0"/>
            <a:r>
              <a:rPr lang="fr-FR" sz="1200" b="0" i="0" kern="1200" dirty="0">
                <a:solidFill>
                  <a:schemeClr val="tx1"/>
                </a:solidFill>
                <a:effectLst/>
                <a:latin typeface="+mn-lt"/>
                <a:ea typeface="+mn-ea"/>
                <a:cs typeface="+mn-cs"/>
              </a:rPr>
              <a:t>Insistez sur ce point dans les données fournies.</a:t>
            </a:r>
            <a:endParaRPr lang="fr-FR" dirty="0"/>
          </a:p>
        </p:txBody>
      </p:sp>
    </p:spTree>
    <p:extLst>
      <p:ext uri="{BB962C8B-B14F-4D97-AF65-F5344CB8AC3E}">
        <p14:creationId xmlns:p14="http://schemas.microsoft.com/office/powerpoint/2010/main" val="23316385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84267-96FD-2589-741B-9DD73B8C5B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86FAB72-2499-171A-54B7-FB2D7D84270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977674-F4AD-284F-9F18-0186FA02871D}"/>
              </a:ext>
            </a:extLst>
          </p:cNvPr>
          <p:cNvSpPr>
            <a:spLocks noGrp="1"/>
          </p:cNvSpPr>
          <p:nvPr>
            <p:ph type="body" idx="1"/>
          </p:nvPr>
        </p:nvSpPr>
        <p:spPr/>
        <p:txBody>
          <a:bodyPr/>
          <a:lstStyle/>
          <a:p>
            <a:r>
              <a:rPr lang="fr-FR" b="1" dirty="0"/>
              <a:t>Le prompt - </a:t>
            </a:r>
            <a:r>
              <a:rPr lang="fr-FR" sz="1800" b="1" dirty="0">
                <a:highlight>
                  <a:srgbClr val="FFFF00"/>
                </a:highlight>
                <a:latin typeface="Figtree"/>
              </a:rPr>
              <a:t>Bien péri-urbain / rural</a:t>
            </a:r>
            <a:endParaRPr lang="fr-FR" sz="1600" b="1" dirty="0"/>
          </a:p>
          <a:p>
            <a:pPr algn="l"/>
            <a:r>
              <a:rPr lang="fr-FR" sz="1200" b="1" dirty="0">
                <a:solidFill>
                  <a:schemeClr val="tx2">
                    <a:alpha val="60000"/>
                  </a:schemeClr>
                </a:solidFill>
                <a:latin typeface="Figtree" pitchFamily="2" charset="0"/>
              </a:rPr>
              <a:t>Situation géographique et environnement</a:t>
            </a:r>
          </a:p>
          <a:p>
            <a:pPr algn="l"/>
            <a:r>
              <a:rPr lang="fr-FR" sz="1200" b="1" dirty="0">
                <a:solidFill>
                  <a:schemeClr val="tx2">
                    <a:alpha val="60000"/>
                  </a:schemeClr>
                </a:solidFill>
                <a:latin typeface="Figtree" pitchFamily="2" charset="0"/>
              </a:rPr>
              <a:t>Valable pour les deux types de profils d’experts</a:t>
            </a:r>
          </a:p>
          <a:p>
            <a:endParaRPr lang="fr-FR" b="1" dirty="0"/>
          </a:p>
          <a:p>
            <a:pPr rtl="0"/>
            <a:r>
              <a:rPr lang="fr-FR" sz="1200" b="0" i="0" kern="1200" dirty="0">
                <a:solidFill>
                  <a:schemeClr val="tx1"/>
                </a:solidFill>
                <a:effectLst/>
                <a:latin typeface="+mn-lt"/>
                <a:ea typeface="+mn-ea"/>
                <a:cs typeface="+mn-cs"/>
              </a:rPr>
              <a:t>Pour les locaux commerciaux, la visibilité et le flux piétonnier sont des facteurs de valeur déterminants. </a:t>
            </a:r>
          </a:p>
          <a:p>
            <a:pPr rtl="0"/>
            <a:r>
              <a:rPr lang="fr-FR" sz="1200" b="0" i="0" kern="1200" dirty="0">
                <a:solidFill>
                  <a:schemeClr val="tx1"/>
                </a:solidFill>
                <a:effectLst/>
                <a:latin typeface="+mn-lt"/>
                <a:ea typeface="+mn-ea"/>
                <a:cs typeface="+mn-cs"/>
              </a:rPr>
              <a:t>Ces éléments ne peuvent être évalués que par l'expert lors de la visite — l'IA les met en forme mais ne les invente pas.</a:t>
            </a:r>
            <a:endParaRPr lang="fr-FR" dirty="0"/>
          </a:p>
        </p:txBody>
      </p:sp>
    </p:spTree>
    <p:extLst>
      <p:ext uri="{BB962C8B-B14F-4D97-AF65-F5344CB8AC3E}">
        <p14:creationId xmlns:p14="http://schemas.microsoft.com/office/powerpoint/2010/main" val="28869739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2812-7AAC-2CA2-56A5-6D90B3C0CA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993F1B-D859-AA8A-5C1F-4153654D59F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D4EE55A-7D39-FCEB-CFA2-A1F708F73A66}"/>
              </a:ext>
            </a:extLst>
          </p:cNvPr>
          <p:cNvSpPr>
            <a:spLocks noGrp="1"/>
          </p:cNvSpPr>
          <p:nvPr>
            <p:ph type="body" idx="1"/>
          </p:nvPr>
        </p:nvSpPr>
        <p:spPr/>
        <p:txBody>
          <a:bodyPr/>
          <a:lstStyle/>
          <a:p>
            <a:r>
              <a:rPr lang="fr-FR" b="1" dirty="0"/>
              <a:t>Le prompt - </a:t>
            </a:r>
            <a:r>
              <a:rPr lang="fr-FR" sz="1200" b="1" dirty="0">
                <a:highlight>
                  <a:srgbClr val="FFFF00"/>
                </a:highlight>
                <a:latin typeface="Figtree"/>
              </a:rPr>
              <a:t>Bien urbain</a:t>
            </a:r>
            <a:endParaRPr lang="fr-FR" b="1" dirty="0"/>
          </a:p>
          <a:p>
            <a:pPr algn="l"/>
            <a:r>
              <a:rPr lang="fr-FR" sz="1200" b="1" dirty="0">
                <a:solidFill>
                  <a:schemeClr val="tx2">
                    <a:alpha val="60000"/>
                  </a:schemeClr>
                </a:solidFill>
                <a:latin typeface="Figtree" pitchFamily="2" charset="0"/>
              </a:rPr>
              <a:t>Situation géographique et environnement</a:t>
            </a:r>
          </a:p>
          <a:p>
            <a:pPr algn="l"/>
            <a:r>
              <a:rPr lang="fr-FR" sz="1200" b="1" dirty="0">
                <a:solidFill>
                  <a:schemeClr val="tx2">
                    <a:alpha val="60000"/>
                  </a:schemeClr>
                </a:solidFill>
                <a:latin typeface="Figtree" pitchFamily="2" charset="0"/>
              </a:rPr>
              <a:t>Valable pour les deux types de profils d’experts</a:t>
            </a:r>
          </a:p>
          <a:p>
            <a:endParaRPr lang="fr-FR" dirty="0"/>
          </a:p>
          <a:p>
            <a:pPr rtl="0"/>
            <a:r>
              <a:rPr lang="fr-FR" b="1" dirty="0"/>
              <a:t>L'analyse de ce résultat : ce que l'IA a bien fait, ce qu'il faut vérifier sur la base du dossier suivant : </a:t>
            </a:r>
          </a:p>
          <a:p>
            <a:pPr rtl="0"/>
            <a:endParaRPr lang="fr-FR" b="1" dirty="0"/>
          </a:p>
          <a:p>
            <a:pPr rtl="0"/>
            <a:r>
              <a:rPr lang="fr-FR" dirty="0"/>
              <a:t>T4 Lyon  : rue Boileau, quartier résidentiel calme du 6e arrondissement, immeuble haussmannien, métro Foch à 400 m, commerces rue de </a:t>
            </a:r>
            <a:r>
              <a:rPr lang="fr-FR" dirty="0" err="1"/>
              <a:t>Sèze</a:t>
            </a:r>
            <a:r>
              <a:rPr lang="fr-FR" dirty="0"/>
              <a:t> à 200 m, aucune nuisance constatée</a:t>
            </a:r>
            <a:endParaRPr lang="fr-FR" b="1" dirty="0"/>
          </a:p>
          <a:p>
            <a:pPr rtl="0"/>
            <a:endParaRPr lang="fr-FR" b="1" dirty="0"/>
          </a:p>
          <a:p>
            <a:pPr rtl="0"/>
            <a:r>
              <a:rPr lang="fr-FR" b="1" dirty="0">
                <a:solidFill>
                  <a:schemeClr val="accent4">
                    <a:lumMod val="75000"/>
                  </a:schemeClr>
                </a:solidFill>
              </a:rPr>
              <a:t>ORANGE – donnée produite par l’IA : Ce que l'IA a produit seule et correctement :</a:t>
            </a:r>
            <a:r>
              <a:rPr lang="fr-FR" dirty="0">
                <a:solidFill>
                  <a:schemeClr val="accent4">
                    <a:lumMod val="75000"/>
                  </a:schemeClr>
                </a:solidFill>
              </a:rPr>
              <a:t> la qualification du 6e arrondissement comme secteur haussmannien de rive gauche, la proximité du parc de la Tête d'Or, la référence au boulevard des Belges comme axe tertiaire. Ce sont des données générales sur Lyon 6e que l'IA connaît bien — elles enrichissent la section sans qu'il soit nécessaire de les fournir dans le prompt.</a:t>
            </a:r>
          </a:p>
          <a:p>
            <a:pPr rtl="0"/>
            <a:endParaRPr lang="fr-FR" dirty="0"/>
          </a:p>
          <a:p>
            <a:pPr rtl="0"/>
            <a:r>
              <a:rPr lang="fr-FR" b="1" dirty="0"/>
              <a:t>VERT – données fournies : Ce que l'IA a tiré des données fournies :</a:t>
            </a:r>
            <a:r>
              <a:rPr lang="fr-FR" dirty="0"/>
              <a:t> le caractère calme de la rue, l'absence de nuisance, la distance au métro et aux commerces. </a:t>
            </a:r>
          </a:p>
          <a:p>
            <a:pPr rtl="0"/>
            <a:r>
              <a:rPr lang="fr-FR" dirty="0"/>
              <a:t>Ces éléments viennent directement des observations de visite de l'expert </a:t>
            </a:r>
          </a:p>
          <a:p>
            <a:pPr rtl="0"/>
            <a:endParaRPr lang="fr-FR" dirty="0"/>
          </a:p>
          <a:p>
            <a:pPr rtl="0"/>
            <a:r>
              <a:rPr lang="fr-FR" b="1" dirty="0"/>
              <a:t>BLEU - Ce que l'expert doit vérifier :</a:t>
            </a:r>
            <a:r>
              <a:rPr lang="fr-FR" dirty="0"/>
              <a:t> la phrase "l'un des secteurs les plus recherchés de l'agglomération lyonnaise" est une appréciation générale que l'IA a produite d'elle-même. </a:t>
            </a:r>
          </a:p>
          <a:p>
            <a:pPr rtl="0"/>
            <a:r>
              <a:rPr lang="fr-FR" dirty="0"/>
              <a:t>Elle est probablement juste, mais elle appelle une vérification : est-ce défendable dans un rapport contradictoire ? </a:t>
            </a:r>
          </a:p>
          <a:p>
            <a:pPr rtl="0"/>
            <a:endParaRPr lang="fr-FR" dirty="0"/>
          </a:p>
          <a:p>
            <a:pPr rtl="0"/>
            <a:r>
              <a:rPr lang="fr-FR" dirty="0"/>
              <a:t>Si oui, on la garde. </a:t>
            </a:r>
          </a:p>
          <a:p>
            <a:pPr rtl="0"/>
            <a:r>
              <a:rPr lang="fr-FR" dirty="0"/>
              <a:t>Si un expert contradicteur pourrait la contester, on la remplace par une formulation plus neutre comme "secteur à forte demande résidentielle". </a:t>
            </a:r>
          </a:p>
          <a:p>
            <a:pPr rtl="0"/>
            <a:r>
              <a:rPr lang="fr-FR" dirty="0"/>
              <a:t>La dernière phrase — "facteur neutre à légèrement favorable" — est une conclusion de valeur que l'expert doit confirmer ou corriger selon son propre jugement.</a:t>
            </a:r>
          </a:p>
          <a:p>
            <a:br>
              <a:rPr lang="fr-FR" dirty="0"/>
            </a:br>
            <a:endParaRPr lang="fr-FR" dirty="0"/>
          </a:p>
          <a:p>
            <a:pPr rtl="0"/>
            <a:r>
              <a:rPr lang="fr-FR" b="1" dirty="0"/>
              <a:t>Le piège spécifique à cette section : la connaissance géographique datée de l'IA</a:t>
            </a:r>
          </a:p>
          <a:p>
            <a:pPr rtl="0"/>
            <a:r>
              <a:rPr lang="fr-FR" dirty="0"/>
              <a:t>C'est le point de vigilance le plus important pour la section 2. </a:t>
            </a:r>
          </a:p>
          <a:p>
            <a:pPr rtl="0"/>
            <a:r>
              <a:rPr lang="fr-FR" dirty="0"/>
              <a:t>L'IA connaît bien les grandes villes françaises — Lyon, Paris, Marseille, Bordeaux, Nantes — et leurs quartiers principaux. </a:t>
            </a:r>
          </a:p>
          <a:p>
            <a:pPr rtl="0"/>
            <a:r>
              <a:rPr lang="fr-FR" dirty="0"/>
              <a:t>Mais sa connaissance s'arrête à sa date d'entraînement. </a:t>
            </a:r>
          </a:p>
          <a:p>
            <a:pPr rtl="0"/>
            <a:r>
              <a:rPr lang="fr-FR" dirty="0"/>
              <a:t>Pour des éléments susceptibles d'avoir changé récemment — une nouvelle ligne de tramway, un quartier en cours de réhabilitation, un projet urbain en cours — l'IA peut donner des informations inexactes ou obsolètes.</a:t>
            </a:r>
          </a:p>
          <a:p>
            <a:pPr rtl="0"/>
            <a:r>
              <a:rPr lang="fr-FR" dirty="0"/>
              <a:t>La règle pratique à connaitre : pour tout ce qui concerne l'environnement immédiat observable lors de la visite, faites confiance à vos notes. </a:t>
            </a:r>
          </a:p>
          <a:p>
            <a:pPr rtl="0"/>
            <a:r>
              <a:rPr lang="fr-FR" dirty="0"/>
              <a:t>Pour tout ce qui concerne le contexte général de la ville et du quartier, utilisez l'IA mais vérifiez les éléments factuels avant de signer.</a:t>
            </a:r>
          </a:p>
          <a:p>
            <a:endParaRPr lang="fr-FR" dirty="0"/>
          </a:p>
        </p:txBody>
      </p:sp>
    </p:spTree>
    <p:extLst>
      <p:ext uri="{BB962C8B-B14F-4D97-AF65-F5344CB8AC3E}">
        <p14:creationId xmlns:p14="http://schemas.microsoft.com/office/powerpoint/2010/main" val="11926725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01B32-4A49-E0FA-0CEB-7F555DE836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52DE38-8F55-12C9-A4CA-94221971FAB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805453-1820-6832-9983-EDD3FCA45FEA}"/>
              </a:ext>
            </a:extLst>
          </p:cNvPr>
          <p:cNvSpPr>
            <a:spLocks noGrp="1"/>
          </p:cNvSpPr>
          <p:nvPr>
            <p:ph type="body" idx="1"/>
          </p:nvPr>
        </p:nvSpPr>
        <p:spPr/>
        <p:txBody>
          <a:bodyPr/>
          <a:lstStyle/>
          <a:p>
            <a:pPr rtl="0"/>
            <a:r>
              <a:rPr lang="fr-FR" dirty="0"/>
              <a:t>C'est la section la plus risquée si elle est mal utilisée avec l'IA, et la plus efficace si elle est bien utilisée. </a:t>
            </a:r>
          </a:p>
          <a:p>
            <a:pPr rtl="0"/>
            <a:endParaRPr lang="fr-FR" dirty="0"/>
          </a:p>
          <a:p>
            <a:pPr rtl="0"/>
            <a:r>
              <a:rPr lang="fr-FR" dirty="0"/>
              <a:t>La raison : contrairement aux sections 1 et 2 où l'IA peut compléter utilement les informations générales, ici </a:t>
            </a:r>
            <a:r>
              <a:rPr lang="fr-FR" b="1" dirty="0"/>
              <a:t>tout doit venir des pièces du dossier</a:t>
            </a:r>
            <a:r>
              <a:rPr lang="fr-FR" dirty="0"/>
              <a:t>. </a:t>
            </a:r>
          </a:p>
          <a:p>
            <a:pPr rtl="0"/>
            <a:endParaRPr lang="fr-FR" dirty="0"/>
          </a:p>
          <a:p>
            <a:pPr rtl="0"/>
            <a:r>
              <a:rPr lang="fr-FR" dirty="0"/>
              <a:t>L'IA ne connaît pas le règlement de copropriété de votre immeuble, ne sait pas si le bien est en zone U ou AU </a:t>
            </a:r>
            <a:r>
              <a:rPr lang="fr-FR" dirty="0" err="1"/>
              <a:t>au</a:t>
            </a:r>
            <a:r>
              <a:rPr lang="fr-FR" dirty="0"/>
              <a:t> PLU, et ignore si une servitude grève la parcelle. </a:t>
            </a:r>
          </a:p>
          <a:p>
            <a:pPr rtl="0"/>
            <a:endParaRPr lang="fr-FR" dirty="0"/>
          </a:p>
          <a:p>
            <a:pPr rtl="0"/>
            <a:r>
              <a:rPr lang="fr-FR" dirty="0"/>
              <a:t>Si vous ne lui donnez pas ces informations, elle les inventera avec assurance — et c'est le type d'erreur le plus dangereux dans un rapport.</a:t>
            </a:r>
          </a:p>
          <a:p>
            <a:pPr rtl="0"/>
            <a:endParaRPr lang="fr-FR" dirty="0"/>
          </a:p>
          <a:p>
            <a:pPr rtl="0"/>
            <a:r>
              <a:rPr lang="fr-FR" dirty="0"/>
              <a:t>La règle absolue pour cette section : </a:t>
            </a:r>
            <a:r>
              <a:rPr lang="fr-FR" b="1" dirty="0"/>
              <a:t>fournir, ne pas demander</a:t>
            </a:r>
            <a:r>
              <a:rPr lang="fr-FR" dirty="0"/>
              <a:t>.</a:t>
            </a:r>
          </a:p>
          <a:p>
            <a:endParaRPr lang="fr-FR" dirty="0"/>
          </a:p>
        </p:txBody>
      </p:sp>
    </p:spTree>
    <p:extLst>
      <p:ext uri="{BB962C8B-B14F-4D97-AF65-F5344CB8AC3E}">
        <p14:creationId xmlns:p14="http://schemas.microsoft.com/office/powerpoint/2010/main" val="22358059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2852737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E7741-93F5-DC0A-7097-37DC6980C4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A2BF40C-B098-971A-8DF1-F37A67F2075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2692792-1EC6-BED9-4296-F1633FBFFF7F}"/>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8059643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3BC08-3437-62F4-EBD5-8B34833B80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912F91-5690-2006-EDBA-20AD72D01FF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EBA60C-2C31-E52C-79DB-EB6B30941386}"/>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5520205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BBA1E-24A9-DAF9-9A17-A90A40B2EA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05DD4A-3340-DD63-77B2-C16BA1263FE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ADE9572-7B0B-01CD-0BD0-29FF90F14BCD}"/>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0585020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AEB5-7996-CE5E-7ECA-AA5E224E82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A425B5-1723-E6A5-5297-7427B2F8D0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6006C24-5F61-0D34-9FAF-C068A24D8313}"/>
              </a:ext>
            </a:extLst>
          </p:cNvPr>
          <p:cNvSpPr>
            <a:spLocks noGrp="1"/>
          </p:cNvSpPr>
          <p:nvPr>
            <p:ph type="body" idx="1"/>
          </p:nvPr>
        </p:nvSpPr>
        <p:spPr/>
        <p:txBody>
          <a:bodyPr/>
          <a:lstStyle/>
          <a:p>
            <a:pPr rtl="0"/>
            <a:r>
              <a:rPr lang="fr-FR" b="1" dirty="0"/>
              <a:t>Ce que cette section démontre en formation</a:t>
            </a:r>
          </a:p>
          <a:p>
            <a:pPr rtl="0"/>
            <a:endParaRPr lang="fr-FR" b="1" dirty="0"/>
          </a:p>
          <a:p>
            <a:pPr rtl="0"/>
            <a:r>
              <a:rPr lang="fr-FR" b="1" dirty="0"/>
              <a:t>VERT ;</a:t>
            </a:r>
            <a:r>
              <a:rPr lang="fr-FR" b="0" dirty="0"/>
              <a:t> données fournies</a:t>
            </a:r>
          </a:p>
          <a:p>
            <a:pPr rtl="0"/>
            <a:r>
              <a:rPr lang="fr-FR" b="1" dirty="0"/>
              <a:t>ROUGE : La règle absolue a parfaitement fonctionné.</a:t>
            </a:r>
            <a:r>
              <a:rPr lang="fr-FR" dirty="0"/>
              <a:t> Les quatre formules "non communiqué" sont placées exactement là où il le faut : hypothèques, conditions de l'indivision, diagnostics non fournis. Sans la règle explicite dans le prompt, l'IA aurait rempli ces blancs avec des données plausibles mais inventées — typiquement "aucune inscription hypothécaire" présentée comme un fait vérifié plutôt que comme une absence de communication. La nuance est juridiquement importante.</a:t>
            </a:r>
          </a:p>
          <a:p>
            <a:pPr rtl="0"/>
            <a:r>
              <a:rPr lang="fr-FR" b="1" dirty="0"/>
              <a:t>VIOLET : La référence à la loi de 1965 est un bonus utile.</a:t>
            </a:r>
            <a:r>
              <a:rPr lang="fr-FR" dirty="0"/>
              <a:t> L'IA l'a ajoutée spontanément — elle est exacte et renforce le registre judiciaire du §2. C'est le type d'enrichissement qu'on accepte sans hésitation dans cette section, car c'est une référence légale stable et vérifiable.</a:t>
            </a:r>
          </a:p>
          <a:p>
            <a:pPr rtl="0"/>
            <a:r>
              <a:rPr lang="fr-FR" b="1" dirty="0"/>
              <a:t>BLEU : Les deux points bleus appellent une vérification de 2 minutes chacun.</a:t>
            </a:r>
            <a:r>
              <a:rPr lang="fr-FR" dirty="0"/>
              <a:t> La phrase sur les conditions de l'indivision en §1 est une initiative de l'IA qui précise le périmètre de la mission — utile mais à valider qu'elle est cohérente avec les termes exacts de l'ordonnance. La qualification "habitat-commerces" pour la zone UA en §3 est probablement exacte pour Lyon mais mérite une vérification dans le règlement PLU en ligne avant de la signer.</a:t>
            </a:r>
          </a:p>
          <a:p>
            <a:pPr rtl="0"/>
            <a:r>
              <a:rPr lang="fr-FR" dirty="0"/>
              <a:t>Le rapport avance section par section. Sections 1, 2 et 3 sont rédigées et annotées. La section 4 — description physique — s'appuie directement sur les notes de visite du dossier de cas et sera la plus longue à produire. Le bouton ci-dessus l'enchaîne directement.</a:t>
            </a:r>
          </a:p>
        </p:txBody>
      </p:sp>
    </p:spTree>
    <p:extLst>
      <p:ext uri="{BB962C8B-B14F-4D97-AF65-F5344CB8AC3E}">
        <p14:creationId xmlns:p14="http://schemas.microsoft.com/office/powerpoint/2010/main" val="41404758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9DD58-E259-D22A-73F3-637C50AF78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B73209-C56D-410B-031B-6157B4B2AAD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86F161C-C8A5-434A-07F6-09A6CC7F6267}"/>
              </a:ext>
            </a:extLst>
          </p:cNvPr>
          <p:cNvSpPr>
            <a:spLocks noGrp="1"/>
          </p:cNvSpPr>
          <p:nvPr>
            <p:ph type="body" idx="1"/>
          </p:nvPr>
        </p:nvSpPr>
        <p:spPr/>
        <p:txBody>
          <a:bodyPr/>
          <a:lstStyle/>
          <a:p>
            <a:r>
              <a:rPr lang="fr-FR" sz="1200" b="1" kern="1200" dirty="0">
                <a:solidFill>
                  <a:schemeClr val="tx1"/>
                </a:solidFill>
                <a:effectLst/>
                <a:latin typeface="+mn-lt"/>
                <a:ea typeface="+mn-ea"/>
                <a:cs typeface="+mn-cs"/>
              </a:rPr>
              <a:t>① Rôle</a:t>
            </a:r>
          </a:p>
          <a:p>
            <a:r>
              <a:rPr lang="fr-FR" sz="1200" kern="1200" dirty="0">
                <a:solidFill>
                  <a:schemeClr val="tx1"/>
                </a:solidFill>
                <a:effectLst/>
                <a:latin typeface="+mn-lt"/>
                <a:ea typeface="+mn-ea"/>
                <a:cs typeface="+mn-cs"/>
              </a:rPr>
              <a:t>La section 4 décrit le bien tel qu'il a été observé lors de la visite : distribution, surfaces, état des éléments. </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C'est la section où l'IA apporte le gain de temps le plus immédiat — elle transforme des notes de visite brutes en prose structurée en quelques secondes. </a:t>
            </a:r>
          </a:p>
          <a:p>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Niveau d'implication IA : 90%.</a:t>
            </a:r>
          </a:p>
          <a:p>
            <a:endParaRPr lang="fr-FR" dirty="0"/>
          </a:p>
          <a:p>
            <a:r>
              <a:rPr lang="fr-FR" sz="1200" b="1" kern="1200" dirty="0">
                <a:solidFill>
                  <a:schemeClr val="tx1"/>
                </a:solidFill>
                <a:effectLst/>
                <a:latin typeface="+mn-lt"/>
                <a:ea typeface="+mn-ea"/>
                <a:cs typeface="+mn-cs"/>
              </a:rPr>
              <a:t>② Données à rassembler</a:t>
            </a:r>
          </a:p>
          <a:p>
            <a:r>
              <a:rPr lang="fr-FR" sz="1200" b="1" kern="1200" dirty="0">
                <a:solidFill>
                  <a:schemeClr val="tx1"/>
                </a:solidFill>
                <a:effectLst/>
                <a:latin typeface="+mn-lt"/>
                <a:ea typeface="+mn-ea"/>
                <a:cs typeface="+mn-cs"/>
              </a:rPr>
              <a:t>DONNÉES À RASSEMBLER</a:t>
            </a:r>
            <a:endParaRPr lang="fr-FR" sz="120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Notes de visite complètes (brutes — l'IA les met en forme)</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Surface totale et surface Carrez si applicable</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Étage et présence ou absence d'ascenseur</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Distribution pièce par pièce avec surfaces estimées</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État de chaque élément : revêtements, menuiseries, équipements</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Éléments techniques : chauffage, VMC, eau chaude, électricité</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Points faibles identifiés lors de la visite</a:t>
            </a:r>
          </a:p>
          <a:p>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a:p>
            <a:endParaRPr lang="fr-FR" dirty="0"/>
          </a:p>
        </p:txBody>
      </p:sp>
    </p:spTree>
    <p:extLst>
      <p:ext uri="{BB962C8B-B14F-4D97-AF65-F5344CB8AC3E}">
        <p14:creationId xmlns:p14="http://schemas.microsoft.com/office/powerpoint/2010/main" val="10175008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C01E2-E612-8946-11BF-0E91C0AD6F1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CCC592-BCD6-7F4F-B10C-0EE6916EE0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1E3C2B-4380-11EB-F6A0-C9B7D6C88F74}"/>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7016422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9320-AAC6-1FA8-0D1E-7FAD61267A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C6E28F-E1E6-FD98-DC8A-132E732E50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2713F0-07EF-369A-9147-4785DDA418C7}"/>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1843893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48764-3D29-F4EB-D633-7A809C72DE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5FF468E-03D9-EE25-3293-005F9159106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0737AF5-4A28-56EE-51E9-FBE2F2E321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① Rôle</a:t>
            </a:r>
          </a:p>
          <a:p>
            <a:r>
              <a:rPr lang="fr-FR" sz="1200" kern="1200" dirty="0">
                <a:solidFill>
                  <a:schemeClr val="tx1"/>
                </a:solidFill>
                <a:effectLst/>
                <a:latin typeface="+mn-lt"/>
                <a:ea typeface="+mn-ea"/>
                <a:cs typeface="+mn-cs"/>
              </a:rPr>
              <a:t>La section 5 consigne les désordres observés lors de la visite, propose des hypothèses d'origine prudentes, et liste les travaux nécessaires avec une estimation indicative. C'est la section où le risque de surqualification par l'IA est le plus élevé. Les constats doivent rester strictement dans le champ de l'observable. </a:t>
            </a:r>
          </a:p>
          <a:p>
            <a:endParaRPr lang="fr-FR" sz="120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② Données à rassembler</a:t>
            </a:r>
          </a:p>
          <a:p>
            <a:r>
              <a:rPr lang="fr-FR" sz="1200" b="1" kern="1200" dirty="0">
                <a:solidFill>
                  <a:schemeClr val="tx1"/>
                </a:solidFill>
                <a:effectLst/>
                <a:latin typeface="+mn-lt"/>
                <a:ea typeface="+mn-ea"/>
                <a:cs typeface="+mn-cs"/>
              </a:rPr>
              <a:t>  ▌ DONNÉES À RASSEMBLER</a:t>
            </a:r>
            <a:endParaRPr lang="fr-FR" sz="120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État général du bien (vétuste / courant / bon / très bon)</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Liste des éléments en bon état (factuel)</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Désordres relevés : localisation précise, surface estimée, aspect</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Hypothèse d'origine si observable (pas de diagnostic)</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Liste des travaux nécessaires</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Estimation indicative si disponible (fourchette en €)</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Mention sapiteur si désordres dépassent la compétence de l'expert</a:t>
            </a:r>
          </a:p>
          <a:p>
            <a:endParaRPr lang="fr-FR" dirty="0"/>
          </a:p>
        </p:txBody>
      </p:sp>
    </p:spTree>
    <p:extLst>
      <p:ext uri="{BB962C8B-B14F-4D97-AF65-F5344CB8AC3E}">
        <p14:creationId xmlns:p14="http://schemas.microsoft.com/office/powerpoint/2010/main" val="6001714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84783-197C-8CC5-FB1B-2ED1E93204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6EE0E0E-8AC0-163E-32F1-7FA660D890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7CB678-1EF0-62A8-A56E-65D8B46F5D8D}"/>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0077762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3DEA-425C-23C9-29D3-19729DC44E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317FFD9-F61C-5227-6A20-18F018E4B1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0D5F80B-D6C9-5A98-9CB5-D70654613C07}"/>
              </a:ext>
            </a:extLst>
          </p:cNvPr>
          <p:cNvSpPr>
            <a:spLocks noGrp="1"/>
          </p:cNvSpPr>
          <p:nvPr>
            <p:ph type="body" idx="1"/>
          </p:nvPr>
        </p:nvSpPr>
        <p:spPr/>
        <p:txBody>
          <a:bodyPr/>
          <a:lstStyle/>
          <a:p>
            <a:pPr rtl="0"/>
            <a:r>
              <a:rPr lang="fr-FR" b="1" dirty="0"/>
              <a:t>Les quatre points de vigilance spécifiques à cette section</a:t>
            </a:r>
          </a:p>
          <a:p>
            <a:pPr rtl="0"/>
            <a:r>
              <a:rPr lang="fr-FR" b="1" dirty="0"/>
              <a:t>Premier point — la qualification des désordres.</a:t>
            </a:r>
            <a:r>
              <a:rPr lang="fr-FR" dirty="0"/>
              <a:t> C'est le risque le plus élevé de toute la section. L'IA a tendance à surqualifier : une fissure devient "structurelle", une trace d'humidité devient "humidité ascensionnelle", un plancher qui grince devient "déformation des solives". Ces qualifications techniques impliquent des diagnostics que l'expert n'a pas nécessairement faits lors d'une simple visite. Le prompt impose la prudence — "susceptible de résulter", "sans examen approfondi" — et l'expert doit vérifier que ces formulations sont bien présentes dans la section générée. Si l'IA a surqualifié, reformulez immédiatement.</a:t>
            </a:r>
          </a:p>
          <a:p>
            <a:pPr rtl="0"/>
            <a:endParaRPr lang="fr-FR" dirty="0"/>
          </a:p>
          <a:p>
            <a:pPr rtl="0"/>
            <a:r>
              <a:rPr lang="fr-FR" b="1" dirty="0"/>
              <a:t>Deuxième point — les chiffrages de travaux.</a:t>
            </a:r>
            <a:r>
              <a:rPr lang="fr-FR" dirty="0"/>
              <a:t> L'IA produit des fourchettes plausibles sur la base de coûts moyens nationaux. Elles peuvent être correctes ou totalement inadaptées au contexte local. La règle est systématique : toute estimation chiffrée doit être qualifiée d'"indicative, non contractuelle, à affiner par devis d'entreprise". Cette formule protège l'expert d'une contestation sur le montant des travaux — ce n'est pas son rôle de chiffrer avec précision, c'est celui des corps de métier.</a:t>
            </a:r>
          </a:p>
          <a:p>
            <a:pPr rtl="0"/>
            <a:endParaRPr lang="fr-FR" dirty="0"/>
          </a:p>
          <a:p>
            <a:pPr rtl="0"/>
            <a:r>
              <a:rPr lang="fr-FR" b="1" dirty="0"/>
              <a:t>Troisième point — la mention du sapiteur.</a:t>
            </a:r>
            <a:r>
              <a:rPr lang="fr-FR" dirty="0"/>
              <a:t> Lorsque des désordres dépassent les compétences de l'expert immobilier — pathologies structurelles, présence de plomb ou d'amiante, désordres électriques, pollution des sols — la section 5 doit explicitement mentionner que l'analyse dépasse le cadre de la présente expertise et qu'un sapiteur spécialisé devrait être désigné. L'IA ne propose pas cette mention spontanément : c'est à l'expert de l'ajouter dans ses notes de visite avant de les passer au prompt.</a:t>
            </a:r>
          </a:p>
          <a:p>
            <a:pPr rtl="0"/>
            <a:endParaRPr lang="fr-FR" dirty="0"/>
          </a:p>
          <a:p>
            <a:pPr rtl="0"/>
            <a:r>
              <a:rPr lang="fr-FR" b="1" dirty="0"/>
              <a:t>Quatrième point — la cohérence avec la valorisation.</a:t>
            </a:r>
            <a:r>
              <a:rPr lang="fr-FR" dirty="0"/>
              <a:t> Chaque désordre mentionné en section 5 doit se retrouver comme facteur d'ajustement en section 7. Si la trace d'humidité figure en section 5, elle doit justifier une décote en section 7. L'IA ne fait pas ce lien automatiquement entre les sections — c'est le prompt de cohérence interne (module 4, partie 4) qui le détecte lors de la relecture finale.</a:t>
            </a:r>
          </a:p>
          <a:p>
            <a:endParaRPr lang="fr-FR" dirty="0"/>
          </a:p>
        </p:txBody>
      </p:sp>
    </p:spTree>
    <p:extLst>
      <p:ext uri="{BB962C8B-B14F-4D97-AF65-F5344CB8AC3E}">
        <p14:creationId xmlns:p14="http://schemas.microsoft.com/office/powerpoint/2010/main" val="65640117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05A50-E878-9D6A-0734-10ABF5C628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CA3ED5-1525-CC7A-168C-7F1FAFE7D3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5EEFE2-BB69-7550-1563-C8DCB82052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① Rôle</a:t>
            </a:r>
          </a:p>
          <a:p>
            <a:r>
              <a:rPr lang="fr-FR" sz="1200" kern="1200" dirty="0">
                <a:solidFill>
                  <a:schemeClr val="tx1"/>
                </a:solidFill>
                <a:effectLst/>
                <a:latin typeface="+mn-lt"/>
                <a:ea typeface="+mn-ea"/>
                <a:cs typeface="+mn-cs"/>
              </a:rPr>
              <a:t>La section 6 présente les références de marché retenues et leur analyse. L'IA ne doit jamais être la source des données de marché — elle les interprète et les rédige. Les données viennent de DVF, des bases notariales ou d'autres sources vérifiables</a:t>
            </a:r>
          </a:p>
          <a:p>
            <a:endParaRPr lang="fr-FR" sz="120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② Données à rassembler</a:t>
            </a:r>
          </a:p>
          <a:p>
            <a:r>
              <a:rPr lang="fr-FR" sz="1200" b="1" kern="1200" dirty="0">
                <a:solidFill>
                  <a:schemeClr val="tx1"/>
                </a:solidFill>
                <a:effectLst/>
                <a:latin typeface="+mn-lt"/>
                <a:ea typeface="+mn-ea"/>
                <a:cs typeface="+mn-cs"/>
              </a:rPr>
              <a:t>  ▌ DONNÉES À RASSEMBLER</a:t>
            </a:r>
            <a:endParaRPr lang="fr-FR" sz="120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Tableau de comparables issu de DVF / PERVAL / BIEN    (surface, prix total, prix/m², date, adresse approx., état)</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Périmètre géographique retenu pour la recherche</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Période d'observation (mois début – mois fin)</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Calculs préalables : fourchette, moyenne, médiane</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Analyse par état si plusieurs catégories présentes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Tree>
    <p:extLst>
      <p:ext uri="{BB962C8B-B14F-4D97-AF65-F5344CB8AC3E}">
        <p14:creationId xmlns:p14="http://schemas.microsoft.com/office/powerpoint/2010/main" val="16324035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F2C4-778D-E297-E662-C8C334A765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09E69D-1507-81B5-4427-390F78E6242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1CFB44-2FB1-B692-0AFD-30F40A016B38}"/>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6273604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2995A-34FA-7BE1-69A6-52CA9ADB6C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C43108-C2F2-C5B6-3504-D13357C4F8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B2BAEF0-0648-AA1D-6896-25D40E58ECFB}"/>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7746447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FF23-BA23-A849-2032-FB18DE6B87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8939B1-A874-EE1E-2562-59E2A972368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5EFA804-45C4-70D4-7379-8AA79DBFB7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① Rôle</a:t>
            </a:r>
          </a:p>
          <a:p>
            <a:r>
              <a:rPr lang="fr-FR" sz="1200" kern="1200" dirty="0">
                <a:solidFill>
                  <a:schemeClr val="tx1"/>
                </a:solidFill>
                <a:effectLst/>
                <a:latin typeface="+mn-lt"/>
                <a:ea typeface="+mn-ea"/>
                <a:cs typeface="+mn-cs"/>
              </a:rPr>
              <a:t>La section 7 justifie le choix méthodologique et applique la méthode retenue avec des ajustements motivés. </a:t>
            </a:r>
          </a:p>
          <a:p>
            <a:r>
              <a:rPr lang="fr-FR" sz="1200" kern="1200" dirty="0">
                <a:solidFill>
                  <a:schemeClr val="tx1"/>
                </a:solidFill>
                <a:effectLst/>
                <a:latin typeface="+mn-lt"/>
                <a:ea typeface="+mn-ea"/>
                <a:cs typeface="+mn-cs"/>
              </a:rPr>
              <a:t>C'est la section que les experts contradicteurs et les juges lisent en priorité. Elle engage directement la crédibilité professionnelle de l'expert. </a:t>
            </a:r>
          </a:p>
          <a:p>
            <a:endParaRPr lang="fr-FR" sz="1200" kern="1200" dirty="0">
              <a:solidFill>
                <a:schemeClr val="tx1"/>
              </a:solidFill>
              <a:effectLst/>
              <a:latin typeface="+mn-lt"/>
              <a:ea typeface="+mn-ea"/>
              <a:cs typeface="+mn-cs"/>
            </a:endParaRPr>
          </a:p>
          <a:p>
            <a:pPr rtl="0"/>
            <a:r>
              <a:rPr lang="fr-FR" b="1" dirty="0"/>
              <a:t>Pourquoi cette section est stratégique</a:t>
            </a:r>
            <a:endParaRPr lang="fr-FR" dirty="0"/>
          </a:p>
          <a:p>
            <a:pPr rtl="0"/>
            <a:r>
              <a:rPr lang="fr-FR" dirty="0"/>
              <a:t>Elle doit répondre à une question simple : pourquoi avez-vous choisi cette méthode plutôt qu'une autre, et comment avez-vous appliqué les ajustements ?</a:t>
            </a:r>
          </a:p>
          <a:p>
            <a:pPr rtl="0"/>
            <a:endParaRPr lang="fr-FR" dirty="0"/>
          </a:p>
          <a:p>
            <a:pPr rtl="0"/>
            <a:r>
              <a:rPr lang="fr-FR" dirty="0"/>
              <a:t> Une section 7 faible — méthode choisie sans justification, ajustements sans motivation, calcul opaque — fragilise l'ensemble du rapport même si la valeur retenue est juste. </a:t>
            </a:r>
          </a:p>
          <a:p>
            <a:pPr rtl="0"/>
            <a:endParaRPr lang="fr-FR" dirty="0"/>
          </a:p>
          <a:p>
            <a:pPr rtl="0"/>
            <a:r>
              <a:rPr lang="fr-FR" dirty="0"/>
              <a:t>L'IA excelle ici car c'est une tâche d'argumentation structurée à partir de données que l'expert lui fournit.</a:t>
            </a:r>
          </a:p>
          <a:p>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 ▌ DONNÉES À RASSEMBLER</a:t>
            </a:r>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  Méthode retenue et motif du choix</a:t>
            </a:r>
          </a:p>
          <a:p>
            <a:r>
              <a:rPr lang="fr-FR" sz="1200" kern="1200" dirty="0">
                <a:solidFill>
                  <a:schemeClr val="tx1"/>
                </a:solidFill>
                <a:effectLst/>
                <a:latin typeface="+mn-lt"/>
                <a:ea typeface="+mn-ea"/>
                <a:cs typeface="+mn-cs"/>
              </a:rPr>
              <a:t>  Méthodes écartées et motifs d'écartement</a:t>
            </a:r>
          </a:p>
          <a:p>
            <a:r>
              <a:rPr lang="fr-FR" sz="1200" kern="1200" dirty="0">
                <a:solidFill>
                  <a:schemeClr val="tx1"/>
                </a:solidFill>
                <a:effectLst/>
                <a:latin typeface="+mn-lt"/>
                <a:ea typeface="+mn-ea"/>
                <a:cs typeface="+mn-cs"/>
              </a:rPr>
              <a:t>  Données de marché : fourchette, médiane, moyenne (de Section 6)</a:t>
            </a:r>
          </a:p>
          <a:p>
            <a:r>
              <a:rPr lang="fr-FR" sz="1200" kern="1200" dirty="0">
                <a:solidFill>
                  <a:schemeClr val="tx1"/>
                </a:solidFill>
                <a:effectLst/>
                <a:latin typeface="+mn-lt"/>
                <a:ea typeface="+mn-ea"/>
                <a:cs typeface="+mn-cs"/>
              </a:rPr>
              <a:t>  Ajustements retenus par l'expert : facteur + pourcentage + motif</a:t>
            </a:r>
          </a:p>
          <a:p>
            <a:r>
              <a:rPr lang="fr-FR" sz="1200" kern="1200" dirty="0">
                <a:solidFill>
                  <a:schemeClr val="tx1"/>
                </a:solidFill>
                <a:effectLst/>
                <a:latin typeface="+mn-lt"/>
                <a:ea typeface="+mn-ea"/>
                <a:cs typeface="+mn-cs"/>
              </a:rPr>
              <a:t>  Prix unitaire arrêté par l'expert (décision non délégable à l'IA)</a:t>
            </a:r>
          </a:p>
          <a:p>
            <a:r>
              <a:rPr lang="fr-FR" sz="1200" kern="1200" dirty="0">
                <a:solidFill>
                  <a:schemeClr val="tx1"/>
                </a:solidFill>
                <a:effectLst/>
                <a:latin typeface="+mn-lt"/>
                <a:ea typeface="+mn-ea"/>
                <a:cs typeface="+mn-cs"/>
              </a:rPr>
              <a:t>  Surface retenue pour le calcul</a:t>
            </a:r>
          </a:p>
          <a:p>
            <a:r>
              <a:rPr lang="fr-FR" sz="1200" kern="1200" dirty="0">
                <a:solidFill>
                  <a:schemeClr val="tx1"/>
                </a:solidFill>
                <a:effectLst/>
                <a:latin typeface="+mn-lt"/>
                <a:ea typeface="+mn-ea"/>
                <a:cs typeface="+mn-cs"/>
              </a:rPr>
              <a:t>  Palier d'arrondi retenu (5 000 € ou 10 000 €)</a:t>
            </a:r>
            <a:endParaRPr lang="fr-FR" dirty="0"/>
          </a:p>
        </p:txBody>
      </p:sp>
    </p:spTree>
    <p:extLst>
      <p:ext uri="{BB962C8B-B14F-4D97-AF65-F5344CB8AC3E}">
        <p14:creationId xmlns:p14="http://schemas.microsoft.com/office/powerpoint/2010/main" val="21367828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7486-7F62-DA93-4C04-A5101859A8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9500CD-2834-22E3-F36F-27A67F84A1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F48744-CDAF-878E-1895-2E6801F342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① Rôle</a:t>
            </a:r>
          </a:p>
          <a:p>
            <a:r>
              <a:rPr lang="fr-FR" sz="1200" kern="1200" dirty="0">
                <a:solidFill>
                  <a:schemeClr val="tx1"/>
                </a:solidFill>
                <a:effectLst/>
                <a:latin typeface="+mn-lt"/>
                <a:ea typeface="+mn-ea"/>
                <a:cs typeface="+mn-cs"/>
              </a:rPr>
              <a:t>La section 7 </a:t>
            </a:r>
            <a:r>
              <a:rPr lang="fr-FR" sz="1200" b="1" kern="1200" dirty="0">
                <a:solidFill>
                  <a:schemeClr val="tx1"/>
                </a:solidFill>
                <a:effectLst/>
                <a:latin typeface="+mn-lt"/>
                <a:ea typeface="+mn-ea"/>
                <a:cs typeface="+mn-cs"/>
              </a:rPr>
              <a:t>amiable</a:t>
            </a:r>
            <a:r>
              <a:rPr lang="fr-FR" sz="1200" kern="1200" dirty="0">
                <a:solidFill>
                  <a:schemeClr val="tx1"/>
                </a:solidFill>
                <a:effectLst/>
                <a:latin typeface="+mn-lt"/>
                <a:ea typeface="+mn-ea"/>
                <a:cs typeface="+mn-cs"/>
              </a:rPr>
              <a:t> couvre </a:t>
            </a:r>
            <a:r>
              <a:rPr lang="fr-FR" sz="1200" b="1" kern="1200" dirty="0">
                <a:solidFill>
                  <a:schemeClr val="tx1"/>
                </a:solidFill>
                <a:effectLst/>
                <a:latin typeface="+mn-lt"/>
                <a:ea typeface="+mn-ea"/>
                <a:cs typeface="+mn-cs"/>
              </a:rPr>
              <a:t>les mêmes éléments que le judiciaire </a:t>
            </a:r>
            <a:r>
              <a:rPr lang="fr-FR" sz="1200" kern="1200" dirty="0">
                <a:solidFill>
                  <a:schemeClr val="tx1"/>
                </a:solidFill>
                <a:effectLst/>
                <a:latin typeface="+mn-lt"/>
                <a:ea typeface="+mn-ea"/>
                <a:cs typeface="+mn-cs"/>
              </a:rPr>
              <a:t>(méthode choisie, méthodes écartées, ajustements motivés, calcul) avec un ton plus direct et moins contraint formellement. </a:t>
            </a:r>
          </a:p>
          <a:p>
            <a:r>
              <a:rPr lang="fr-FR" sz="1200" kern="1200" dirty="0">
                <a:solidFill>
                  <a:schemeClr val="tx1"/>
                </a:solidFill>
                <a:effectLst/>
                <a:latin typeface="+mn-lt"/>
                <a:ea typeface="+mn-ea"/>
                <a:cs typeface="+mn-cs"/>
              </a:rPr>
              <a:t>La rigueur méthodologique est identique. Les ajustements restent ceux de l'expert</a:t>
            </a:r>
          </a:p>
          <a:p>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 ▌ DONNÉES À RASSEMBLER SONT LES MËMES QUE POUR L’EXPERTISE JUDICIAIRE :</a:t>
            </a:r>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  Méthode retenue et motif du choix</a:t>
            </a:r>
          </a:p>
          <a:p>
            <a:r>
              <a:rPr lang="fr-FR" sz="1200" kern="1200" dirty="0">
                <a:solidFill>
                  <a:schemeClr val="tx1"/>
                </a:solidFill>
                <a:effectLst/>
                <a:latin typeface="+mn-lt"/>
                <a:ea typeface="+mn-ea"/>
                <a:cs typeface="+mn-cs"/>
              </a:rPr>
              <a:t>  Méthodes écartées et motifs d'écartement</a:t>
            </a:r>
          </a:p>
          <a:p>
            <a:r>
              <a:rPr lang="fr-FR" sz="1200" kern="1200" dirty="0">
                <a:solidFill>
                  <a:schemeClr val="tx1"/>
                </a:solidFill>
                <a:effectLst/>
                <a:latin typeface="+mn-lt"/>
                <a:ea typeface="+mn-ea"/>
                <a:cs typeface="+mn-cs"/>
              </a:rPr>
              <a:t>  Données de marché : fourchette, médiane, moyenne (de Section 6)</a:t>
            </a:r>
          </a:p>
          <a:p>
            <a:r>
              <a:rPr lang="fr-FR" sz="1200" kern="1200" dirty="0">
                <a:solidFill>
                  <a:schemeClr val="tx1"/>
                </a:solidFill>
                <a:effectLst/>
                <a:latin typeface="+mn-lt"/>
                <a:ea typeface="+mn-ea"/>
                <a:cs typeface="+mn-cs"/>
              </a:rPr>
              <a:t>  Ajustements retenus par l'expert : facteur + pourcentage + motif</a:t>
            </a:r>
          </a:p>
          <a:p>
            <a:r>
              <a:rPr lang="fr-FR" sz="1200" kern="1200" dirty="0">
                <a:solidFill>
                  <a:schemeClr val="tx1"/>
                </a:solidFill>
                <a:effectLst/>
                <a:latin typeface="+mn-lt"/>
                <a:ea typeface="+mn-ea"/>
                <a:cs typeface="+mn-cs"/>
              </a:rPr>
              <a:t>  Prix unitaire arrêté par l'expert (décision non délégable à l'IA)</a:t>
            </a:r>
          </a:p>
          <a:p>
            <a:r>
              <a:rPr lang="fr-FR" sz="1200" kern="1200" dirty="0">
                <a:solidFill>
                  <a:schemeClr val="tx1"/>
                </a:solidFill>
                <a:effectLst/>
                <a:latin typeface="+mn-lt"/>
                <a:ea typeface="+mn-ea"/>
                <a:cs typeface="+mn-cs"/>
              </a:rPr>
              <a:t>  Surface retenue pour le calcul</a:t>
            </a:r>
          </a:p>
          <a:p>
            <a:r>
              <a:rPr lang="fr-FR" sz="1200" kern="1200" dirty="0">
                <a:solidFill>
                  <a:schemeClr val="tx1"/>
                </a:solidFill>
                <a:effectLst/>
                <a:latin typeface="+mn-lt"/>
                <a:ea typeface="+mn-ea"/>
                <a:cs typeface="+mn-cs"/>
              </a:rPr>
              <a:t>  Palier d'arrondi retenu (5 000 € ou 10 000 €)</a:t>
            </a:r>
            <a:endParaRPr lang="fr-FR" dirty="0"/>
          </a:p>
        </p:txBody>
      </p:sp>
    </p:spTree>
    <p:extLst>
      <p:ext uri="{BB962C8B-B14F-4D97-AF65-F5344CB8AC3E}">
        <p14:creationId xmlns:p14="http://schemas.microsoft.com/office/powerpoint/2010/main" val="39451026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170C-CA11-FC61-FDFD-F872E5E0DB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168210-5C3C-92B1-0330-04E277285E5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5B448A-3A7E-32E0-FDE2-548F57A608BA}"/>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1473084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C3127-88CF-2EA7-3B3F-AC09F32F15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DE792C-E550-426D-A0A0-2F895CAF262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15259C2-7168-C8C5-B863-D5FA861E5685}"/>
              </a:ext>
            </a:extLst>
          </p:cNvPr>
          <p:cNvSpPr>
            <a:spLocks noGrp="1"/>
          </p:cNvSpPr>
          <p:nvPr>
            <p:ph type="body" idx="1"/>
          </p:nvPr>
        </p:nvSpPr>
        <p:spPr/>
        <p:txBody>
          <a:bodyPr/>
          <a:lstStyle/>
          <a:p>
            <a:pPr rtl="0"/>
            <a:r>
              <a:rPr lang="fr-FR" b="1" dirty="0"/>
              <a:t>Les trois points de vigilance spécifiques à la section 7</a:t>
            </a:r>
          </a:p>
          <a:p>
            <a:pPr rtl="0"/>
            <a:endParaRPr lang="fr-FR" b="1" dirty="0"/>
          </a:p>
          <a:p>
            <a:pPr rtl="0"/>
            <a:r>
              <a:rPr lang="fr-FR" b="1" dirty="0"/>
              <a:t>Premier point — les ajustements sont de l'expert, pas de l'IA.</a:t>
            </a:r>
            <a:r>
              <a:rPr lang="fr-FR" dirty="0"/>
              <a:t> C'est le point le plus important de toute la section. L'IA peut proposer spontanément des ajustements si on ne lui en fournit pas — elle produit des pourcentages plausibles tirés de statistiques générales. Ces chiffres ne sont pas défendables en expertise contradictoire car ils ne sont ancrés dans aucune donnée de marché locale. La règle absolue : l'expert arrête les ajustements avant de lancer le prompt, les motive dans ses notes, et les fournit explicitement à l'IA. L'IA les met en forme, elle ne les invente pas.</a:t>
            </a:r>
          </a:p>
          <a:p>
            <a:pPr rtl="0"/>
            <a:endParaRPr lang="fr-FR" dirty="0"/>
          </a:p>
          <a:p>
            <a:pPr rtl="0"/>
            <a:r>
              <a:rPr lang="fr-FR" b="1" dirty="0"/>
              <a:t>Deuxième point — les méthodes écartées doivent être justifiées.</a:t>
            </a:r>
            <a:r>
              <a:rPr lang="fr-FR" dirty="0"/>
              <a:t> Un rapport qui dit seulement "j'ai retenu la méthode par comparaison" sans expliquer pourquoi les autres méthodes ont été écartées est contestable. Un expert contradicteur peut argumenter que la capitalisation aurait donné une valeur différente — et si l'expert principal n'a pas expliqué pourquoi il ne l'a pas utilisée, il n'a pas de réponse. Le prompt impose cette justification dans le §1 — vérifiez qu'elle est bien présente et spécifique au cas traité.</a:t>
            </a:r>
          </a:p>
          <a:p>
            <a:pPr rtl="0"/>
            <a:endParaRPr lang="fr-FR" dirty="0"/>
          </a:p>
          <a:p>
            <a:pPr rtl="0"/>
            <a:r>
              <a:rPr lang="fr-FR" b="1" dirty="0"/>
              <a:t>Troisième point — le calcul final doit être transparent et vérifiable.</a:t>
            </a:r>
            <a:r>
              <a:rPr lang="fr-FR" dirty="0"/>
              <a:t> La formule surface × prix unitaire = valeur avant arrondi doit apparaître explicitement, avec les trois chiffres lisibles. Un juge ou un expert contradicteur doit pouvoir vérifier le calcul en 10 secondes. L'IA le produit naturellement quand le prompt le lui impose — vérifiez que les chiffres correspondent exactement aux données que vous lui avez fournies, et que la valeur en lettres est cohérente avec la valeur en chiffres.</a:t>
            </a:r>
          </a:p>
          <a:p>
            <a:endParaRPr lang="fr-FR" dirty="0"/>
          </a:p>
        </p:txBody>
      </p:sp>
    </p:spTree>
    <p:extLst>
      <p:ext uri="{BB962C8B-B14F-4D97-AF65-F5344CB8AC3E}">
        <p14:creationId xmlns:p14="http://schemas.microsoft.com/office/powerpoint/2010/main" val="211900789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E71B0-3E88-3F84-B69F-541C8C7C53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565D26-EC75-DD24-97C2-E16E75665EC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93ABA0-8A51-E8F9-4126-1102239595B8}"/>
              </a:ext>
            </a:extLst>
          </p:cNvPr>
          <p:cNvSpPr>
            <a:spLocks noGrp="1"/>
          </p:cNvSpPr>
          <p:nvPr>
            <p:ph type="body" idx="1"/>
          </p:nvPr>
        </p:nvSpPr>
        <p:spPr/>
        <p:txBody>
          <a:bodyPr/>
          <a:lstStyle/>
          <a:p>
            <a:pPr rtl="0"/>
            <a:r>
              <a:rPr lang="fr-FR" b="1" dirty="0"/>
              <a:t>Les cinq éléments obligatoires de la conclusion</a:t>
            </a:r>
          </a:p>
          <a:p>
            <a:pPr rtl="0"/>
            <a:endParaRPr lang="fr-FR" b="1" dirty="0"/>
          </a:p>
          <a:p>
            <a:pPr rtl="0"/>
            <a:r>
              <a:rPr lang="fr-FR" b="1" dirty="0"/>
              <a:t>Pourquoi cette section mérite une attention particulière</a:t>
            </a:r>
          </a:p>
          <a:p>
            <a:pPr rtl="0"/>
            <a:endParaRPr lang="fr-FR" dirty="0"/>
          </a:p>
          <a:p>
            <a:pPr rtl="0"/>
            <a:r>
              <a:rPr lang="fr-FR" dirty="0"/>
              <a:t>La conclusion est la seule section que lisent systématiquement toutes les parties — le juge, les avocats, les parties elles-mêmes, et l'expert contradicteur s'il en est désigné un. </a:t>
            </a:r>
          </a:p>
          <a:p>
            <a:pPr rtl="0"/>
            <a:endParaRPr lang="fr-FR" dirty="0"/>
          </a:p>
          <a:p>
            <a:pPr rtl="0"/>
            <a:r>
              <a:rPr lang="fr-FR" dirty="0"/>
              <a:t>Elle doit être irréprochable sur la forme : valeur en chiffres et en lettres, date de valeur explicite, qualification de la valeur (libre, occupée, sous conditions), réserves éventuelles, et formule de certification. </a:t>
            </a:r>
          </a:p>
          <a:p>
            <a:pPr rtl="0"/>
            <a:endParaRPr lang="fr-FR" dirty="0"/>
          </a:p>
          <a:p>
            <a:pPr rtl="0"/>
            <a:r>
              <a:rPr lang="fr-FR" dirty="0"/>
              <a:t>C'est aussi la section où l'IA intervient le moins sur le fond — la valeur est arrêtée par l'expert, pas proposée par l'outil — et le plus sur la forme, qui est très normée.</a:t>
            </a:r>
          </a:p>
          <a:p>
            <a:pPr rtl="0"/>
            <a:endParaRPr lang="fr-FR" dirty="0"/>
          </a:p>
          <a:p>
            <a:pPr rtl="0"/>
            <a:r>
              <a:rPr lang="fr-FR" dirty="0"/>
              <a:t>La règle d'or : </a:t>
            </a:r>
            <a:r>
              <a:rPr lang="fr-FR" b="1" dirty="0"/>
              <a:t>une conclusion de valeur vénale doit tenir en un seul paragraphe. Si elle déborde, c'est qu'elle contient des éléments qui appartiennent à la section 7.</a:t>
            </a:r>
            <a:endParaRPr lang="fr-FR" dirty="0"/>
          </a:p>
        </p:txBody>
      </p:sp>
    </p:spTree>
    <p:extLst>
      <p:ext uri="{BB962C8B-B14F-4D97-AF65-F5344CB8AC3E}">
        <p14:creationId xmlns:p14="http://schemas.microsoft.com/office/powerpoint/2010/main" val="9378309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025E5-A32A-F3D4-8817-BB3F8404B4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13A409-05EE-29D2-B02B-6FD378CF24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D08ACFA-0D7B-2E25-B4DD-6694EFA8B3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3 variantes selon le contexte : </a:t>
            </a:r>
            <a:r>
              <a:rPr lang="fr-FR" b="1" dirty="0">
                <a:solidFill>
                  <a:schemeClr val="accent3">
                    <a:lumMod val="75000"/>
                  </a:schemeClr>
                </a:solidFill>
              </a:rPr>
              <a:t>Conclusion sans réserve </a:t>
            </a:r>
            <a:r>
              <a:rPr lang="fr-FR" b="1" dirty="0"/>
              <a:t>– Avec réserves – Valeur  occupée</a:t>
            </a:r>
          </a:p>
          <a:p>
            <a:r>
              <a:rPr lang="fr-FR" sz="1200" b="1" kern="1200" dirty="0">
                <a:solidFill>
                  <a:schemeClr val="tx1"/>
                </a:solidFill>
                <a:effectLst/>
                <a:latin typeface="+mn-lt"/>
                <a:ea typeface="+mn-ea"/>
                <a:cs typeface="+mn-cs"/>
              </a:rPr>
              <a:t> </a:t>
            </a:r>
          </a:p>
          <a:p>
            <a:endParaRPr lang="fr-FR" sz="1200" b="1"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 DONNÉES À RASSEMBLER</a:t>
            </a:r>
            <a:endParaRPr lang="fr-FR" sz="1200" kern="1200" dirty="0">
              <a:solidFill>
                <a:schemeClr val="tx1"/>
              </a:solidFill>
              <a:effectLst/>
              <a:latin typeface="+mn-lt"/>
              <a:ea typeface="+mn-ea"/>
              <a:cs typeface="+mn-cs"/>
            </a:endParaRP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Valeur avant arrondi (issue du calcul section 7)</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Palier d'arrondi retenu (5 000 € ou 10 000 €)</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Valeur arrêtée après arrondi</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Date de valeur</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Qualification : libre / occupée / sous conditions</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Réserves éventuelles (ou "aucune réserve")</a:t>
            </a:r>
          </a:p>
          <a:p>
            <a:pPr marL="171450" indent="-171450">
              <a:buFont typeface="Arial" panose="020B0604020202020204" pitchFamily="34" charset="0"/>
              <a:buChar char="•"/>
            </a:pPr>
            <a:r>
              <a:rPr lang="fr-FR" sz="1200" kern="1200" dirty="0">
                <a:solidFill>
                  <a:schemeClr val="tx1"/>
                </a:solidFill>
                <a:effectLst/>
                <a:latin typeface="+mn-lt"/>
                <a:ea typeface="+mn-ea"/>
                <a:cs typeface="+mn-cs"/>
              </a:rPr>
              <a:t>  Date de l'ordonnance (pour la formule de certification)</a:t>
            </a:r>
          </a:p>
          <a:p>
            <a:endParaRPr lang="fr-FR" sz="1200" kern="1200" dirty="0">
              <a:solidFill>
                <a:schemeClr val="tx1"/>
              </a:solidFill>
              <a:effectLst/>
              <a:latin typeface="+mn-lt"/>
              <a:ea typeface="+mn-ea"/>
              <a:cs typeface="+mn-cs"/>
            </a:endParaRPr>
          </a:p>
          <a:p>
            <a:endParaRPr lang="fr-FR" dirty="0"/>
          </a:p>
        </p:txBody>
      </p:sp>
    </p:spTree>
    <p:extLst>
      <p:ext uri="{BB962C8B-B14F-4D97-AF65-F5344CB8AC3E}">
        <p14:creationId xmlns:p14="http://schemas.microsoft.com/office/powerpoint/2010/main" val="26035161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D221-845A-DF44-4135-CA95486554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81AD73-214E-7DC4-0355-1227F9874B5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62026D-4DAA-4C31-7441-9C4908A8D2A7}"/>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La version avec réserves est plus fréquente qu'on ne le croit — elle protège l'expert sur les éléments qu'il n'a pas pu vérifier directement. Une réserve bien formulée est une force, pas une faiblesse.</a:t>
            </a:r>
            <a:endParaRPr lang="fr-FR" dirty="0"/>
          </a:p>
        </p:txBody>
      </p:sp>
    </p:spTree>
    <p:extLst>
      <p:ext uri="{BB962C8B-B14F-4D97-AF65-F5344CB8AC3E}">
        <p14:creationId xmlns:p14="http://schemas.microsoft.com/office/powerpoint/2010/main" val="168495275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73D1-6CAA-E115-3DE1-DCB4C83BA7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44D1A6-77DD-6C88-5DA9-8DA9B487F9F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5B40BB-1245-CEA0-B98F-36731B73E491}"/>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La décote d'occupation est fournie par l'expert — l'IA la met en forme. Elle varie généralement de 10% à 30% selon le type de bail, le loyer pratiqué par rapport au marché, et la durée restante. Sa justification doit figurer en section 7.</a:t>
            </a:r>
            <a:endParaRPr lang="fr-FR" dirty="0"/>
          </a:p>
        </p:txBody>
      </p:sp>
    </p:spTree>
    <p:extLst>
      <p:ext uri="{BB962C8B-B14F-4D97-AF65-F5344CB8AC3E}">
        <p14:creationId xmlns:p14="http://schemas.microsoft.com/office/powerpoint/2010/main" val="32563505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5151A-D70F-92DD-1D9E-FC3C22D2B1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E87CC4-9BF2-ACEF-4A66-722FCB106B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9D1ACEA-47FC-AC6D-ECF2-5ED840815418}"/>
              </a:ext>
            </a:extLst>
          </p:cNvPr>
          <p:cNvSpPr>
            <a:spLocks noGrp="1"/>
          </p:cNvSpPr>
          <p:nvPr>
            <p:ph type="body" idx="1"/>
          </p:nvPr>
        </p:nvSpPr>
        <p:spPr/>
        <p:txBody>
          <a:bodyPr/>
          <a:lstStyle/>
          <a:p>
            <a:r>
              <a:rPr lang="fr-FR" dirty="0"/>
              <a:t>Les 5 éléments obligatoires sont présents : </a:t>
            </a:r>
          </a:p>
          <a:p>
            <a:r>
              <a:rPr lang="fr-FR" dirty="0"/>
              <a:t>A vérifier tout de même</a:t>
            </a:r>
          </a:p>
          <a:p>
            <a:endParaRPr lang="fr-FR" dirty="0"/>
          </a:p>
          <a:p>
            <a:r>
              <a:rPr lang="fr-FR" sz="1200" b="1" dirty="0">
                <a:solidFill>
                  <a:schemeClr val="bg1"/>
                </a:solidFill>
                <a:highlight>
                  <a:srgbClr val="FF0000"/>
                </a:highlight>
                <a:latin typeface="Courier New" panose="02070309020205020404" pitchFamily="49" charset="0"/>
                <a:cs typeface="Courier New" panose="02070309020205020404" pitchFamily="49" charset="0"/>
              </a:rPr>
              <a:t>— Valeur en chiffres ET en lettres (obligatoire)</a:t>
            </a:r>
          </a:p>
          <a:p>
            <a:r>
              <a:rPr lang="fr-FR" sz="1200" b="1" dirty="0">
                <a:solidFill>
                  <a:schemeClr val="bg1"/>
                </a:solidFill>
                <a:highlight>
                  <a:srgbClr val="FF0000"/>
                </a:highlight>
                <a:latin typeface="Courier New" panose="02070309020205020404" pitchFamily="49" charset="0"/>
                <a:cs typeface="Courier New" panose="02070309020205020404" pitchFamily="49" charset="0"/>
              </a:rPr>
              <a:t>— Date de valeur explicite</a:t>
            </a:r>
          </a:p>
          <a:p>
            <a:r>
              <a:rPr lang="fr-FR" sz="1200" b="1" dirty="0">
                <a:solidFill>
                  <a:schemeClr val="bg1"/>
                </a:solidFill>
                <a:highlight>
                  <a:srgbClr val="FF0000"/>
                </a:highlight>
                <a:latin typeface="Courier New" panose="02070309020205020404" pitchFamily="49" charset="0"/>
                <a:cs typeface="Courier New" panose="02070309020205020404" pitchFamily="49" charset="0"/>
              </a:rPr>
              <a:t>— Qualification libre / occupée</a:t>
            </a:r>
          </a:p>
          <a:p>
            <a:r>
              <a:rPr lang="fr-FR" sz="1200" b="1" dirty="0">
                <a:solidFill>
                  <a:schemeClr val="bg1"/>
                </a:solidFill>
                <a:highlight>
                  <a:srgbClr val="FF0000"/>
                </a:highlight>
                <a:latin typeface="Courier New" panose="02070309020205020404" pitchFamily="49" charset="0"/>
                <a:cs typeface="Courier New" panose="02070309020205020404" pitchFamily="49" charset="0"/>
              </a:rPr>
              <a:t>— Formule de certification en dernière phrase (normée, ne pas modifier - </a:t>
            </a:r>
            <a:r>
              <a:rPr lang="fr-FR" dirty="0">
                <a:highlight>
                  <a:srgbClr val="FF0000"/>
                </a:highlight>
              </a:rPr>
              <a:t>L'IA peut la reformuler spontanément — "Je certifie par la présente", "Le soussigné atteste" — ces variantes sont moins robustes juridiquement</a:t>
            </a:r>
            <a:r>
              <a:rPr lang="fr-FR" sz="1200" b="1" dirty="0">
                <a:solidFill>
                  <a:schemeClr val="bg1"/>
                </a:solidFill>
                <a:highlight>
                  <a:srgbClr val="FF0000"/>
                </a:highlight>
                <a:latin typeface="Courier New" panose="02070309020205020404" pitchFamily="49" charset="0"/>
                <a:cs typeface="Courier New" panose="02070309020205020404" pitchFamily="49" charset="0"/>
              </a:rPr>
              <a:t>)</a:t>
            </a:r>
          </a:p>
          <a:p>
            <a:r>
              <a:rPr lang="fr-FR" sz="1200" b="1" dirty="0">
                <a:solidFill>
                  <a:schemeClr val="bg1"/>
                </a:solidFill>
                <a:highlight>
                  <a:srgbClr val="FF0000"/>
                </a:highlight>
                <a:latin typeface="Courier New" panose="02070309020205020404" pitchFamily="49" charset="0"/>
                <a:cs typeface="Courier New" panose="02070309020205020404" pitchFamily="49" charset="0"/>
              </a:rPr>
              <a:t>— Un seul paragraphe — ne pas déborder</a:t>
            </a:r>
          </a:p>
          <a:p>
            <a:endParaRPr lang="fr-FR" dirty="0"/>
          </a:p>
        </p:txBody>
      </p:sp>
    </p:spTree>
    <p:extLst>
      <p:ext uri="{BB962C8B-B14F-4D97-AF65-F5344CB8AC3E}">
        <p14:creationId xmlns:p14="http://schemas.microsoft.com/office/powerpoint/2010/main" val="309472808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E7776-1385-E8AD-E8F6-8477C02A05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406B23-C7D8-DC17-2DDB-6972764E1F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F920B8-40E8-AA1A-CE94-021A8E2CBC06}"/>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04389373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4621F-66F6-C543-14CF-B29C2D10E6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A5A59C-AB50-69E6-C3BD-9E0C5844D87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22E1EB0-28E6-5CF6-2CF3-CA2FCA6BC35C}"/>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7838554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04C5E-4888-FF30-031B-9DE846DF7D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638672-CF97-49E9-CF35-5F07B6E0531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FC5F6F-284F-E148-A5CB-F5A85E5E2553}"/>
              </a:ext>
            </a:extLst>
          </p:cNvPr>
          <p:cNvSpPr>
            <a:spLocks noGrp="1"/>
          </p:cNvSpPr>
          <p:nvPr>
            <p:ph type="body" idx="1"/>
          </p:nvPr>
        </p:nvSpPr>
        <p:spPr/>
        <p:txBody>
          <a:bodyPr/>
          <a:lstStyle/>
          <a:p>
            <a:pPr rtl="0"/>
            <a:r>
              <a:rPr lang="fr-FR" sz="1600" dirty="0"/>
              <a:t>C'est le troisième usage de l'IA, souvent négligé : </a:t>
            </a:r>
            <a:r>
              <a:rPr lang="fr-FR" sz="1600" b="1" dirty="0"/>
              <a:t>la relecture du rapport une fois rédigé</a:t>
            </a:r>
            <a:r>
              <a:rPr lang="fr-FR" sz="1600" dirty="0"/>
              <a:t>. </a:t>
            </a:r>
          </a:p>
          <a:p>
            <a:pPr rtl="0"/>
            <a:endParaRPr lang="fr-FR" sz="1600" dirty="0"/>
          </a:p>
          <a:p>
            <a:pPr rtl="0"/>
            <a:r>
              <a:rPr lang="fr-FR" sz="1600" dirty="0"/>
              <a:t>Après avoir assemblé toutes les sections, on peut demander à l'IA d'effectuer plusieurs types de contrôles.</a:t>
            </a:r>
          </a:p>
          <a:p>
            <a:pPr rtl="0"/>
            <a:r>
              <a:rPr lang="fr-FR" sz="1600" dirty="0"/>
              <a:t>Je vais vous montrer les quatre prompts de relecture à utiliser comme outils permanents :</a:t>
            </a:r>
          </a:p>
          <a:p>
            <a:endParaRPr lang="fr-FR" sz="1600" b="1" dirty="0"/>
          </a:p>
        </p:txBody>
      </p:sp>
    </p:spTree>
    <p:extLst>
      <p:ext uri="{BB962C8B-B14F-4D97-AF65-F5344CB8AC3E}">
        <p14:creationId xmlns:p14="http://schemas.microsoft.com/office/powerpoint/2010/main" val="8799334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A061B-6956-6C02-7BDB-1339792939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4E00B1-63F2-117B-B766-A2FF1FA134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8AEF61-698B-4368-978E-28772D9CD621}"/>
              </a:ext>
            </a:extLst>
          </p:cNvPr>
          <p:cNvSpPr>
            <a:spLocks noGrp="1"/>
          </p:cNvSpPr>
          <p:nvPr>
            <p:ph type="body" idx="1"/>
          </p:nvPr>
        </p:nvSpPr>
        <p:spPr/>
        <p:txBody>
          <a:bodyPr/>
          <a:lstStyle/>
          <a:p>
            <a:endParaRPr lang="fr-FR" sz="1600" b="1" dirty="0"/>
          </a:p>
        </p:txBody>
      </p:sp>
    </p:spTree>
    <p:extLst>
      <p:ext uri="{BB962C8B-B14F-4D97-AF65-F5344CB8AC3E}">
        <p14:creationId xmlns:p14="http://schemas.microsoft.com/office/powerpoint/2010/main" val="383099023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9F4ED-1ED8-9D96-CB09-193895E719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D16819-AD48-E5A0-B8A5-F6E0E917483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225D59D-7CB0-2ECE-6C40-8D4CD637F276}"/>
              </a:ext>
            </a:extLst>
          </p:cNvPr>
          <p:cNvSpPr>
            <a:spLocks noGrp="1"/>
          </p:cNvSpPr>
          <p:nvPr>
            <p:ph type="body" idx="1"/>
          </p:nvPr>
        </p:nvSpPr>
        <p:spPr/>
        <p:txBody>
          <a:bodyPr/>
          <a:lstStyle/>
          <a:p>
            <a:endParaRPr lang="fr-FR" sz="1600" b="1" dirty="0"/>
          </a:p>
        </p:txBody>
      </p:sp>
    </p:spTree>
    <p:extLst>
      <p:ext uri="{BB962C8B-B14F-4D97-AF65-F5344CB8AC3E}">
        <p14:creationId xmlns:p14="http://schemas.microsoft.com/office/powerpoint/2010/main" val="5155774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9F9F-5F5E-C69A-2BDD-0FD2316A70D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40A1555-D8B5-05CB-65AA-7C6607E475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62A927-33CC-DEC1-A528-529E72CD3FD5}"/>
              </a:ext>
            </a:extLst>
          </p:cNvPr>
          <p:cNvSpPr>
            <a:spLocks noGrp="1"/>
          </p:cNvSpPr>
          <p:nvPr>
            <p:ph type="body" idx="1"/>
          </p:nvPr>
        </p:nvSpPr>
        <p:spPr/>
        <p:txBody>
          <a:bodyPr/>
          <a:lstStyle/>
          <a:p>
            <a:endParaRPr lang="fr-FR" sz="1600" b="1" dirty="0"/>
          </a:p>
        </p:txBody>
      </p:sp>
    </p:spTree>
    <p:extLst>
      <p:ext uri="{BB962C8B-B14F-4D97-AF65-F5344CB8AC3E}">
        <p14:creationId xmlns:p14="http://schemas.microsoft.com/office/powerpoint/2010/main" val="4169955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225A4-859A-11CF-1936-B31BF1164B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5876033-F596-9713-2F72-10A6491046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69E438D-517F-DE1A-DB39-6C72C7DD695E}"/>
              </a:ext>
            </a:extLst>
          </p:cNvPr>
          <p:cNvSpPr>
            <a:spLocks noGrp="1"/>
          </p:cNvSpPr>
          <p:nvPr>
            <p:ph type="body" idx="1"/>
          </p:nvPr>
        </p:nvSpPr>
        <p:spPr/>
        <p:txBody>
          <a:bodyPr/>
          <a:lstStyle/>
          <a:p>
            <a:pPr rtl="0"/>
            <a:r>
              <a:rPr lang="fr-FR" sz="1600" b="1" dirty="0"/>
              <a:t>Construire sa bibliothèque de prompts personnelle (5 min)</a:t>
            </a:r>
          </a:p>
          <a:p>
            <a:pPr rtl="0"/>
            <a:r>
              <a:rPr lang="fr-FR" sz="1600" dirty="0"/>
              <a:t>Vous disposez maintenant des briques de base pour rédiger un rapport complet. </a:t>
            </a:r>
          </a:p>
          <a:p>
            <a:pPr rtl="0"/>
            <a:endParaRPr lang="fr-FR" sz="1600" dirty="0"/>
          </a:p>
          <a:p>
            <a:pPr rtl="0"/>
            <a:r>
              <a:rPr lang="fr-FR" sz="1600" dirty="0"/>
              <a:t>Le conseil final :</a:t>
            </a:r>
          </a:p>
          <a:p>
            <a:pPr rtl="0"/>
            <a:endParaRPr lang="fr-FR" sz="1600" dirty="0"/>
          </a:p>
          <a:p>
            <a:pPr rtl="0"/>
            <a:r>
              <a:rPr lang="fr-FR" sz="1600" dirty="0"/>
              <a:t>Créez un document partagé ou un fichier texte personnel avec vos prompts organisés par section. Après chaque dossier, notez ce qui a bien fonctionné et ce que vous avez dû corriger. En 10 dossiers de pratique, vous disposerez d'une bibliothèque de prompts calibrée à votre façon de travailler, votre type de biens habituel, et votre style rédactionnel.</a:t>
            </a:r>
          </a:p>
          <a:p>
            <a:endParaRPr lang="fr-FR" sz="1600" b="1" dirty="0"/>
          </a:p>
        </p:txBody>
      </p:sp>
    </p:spTree>
    <p:extLst>
      <p:ext uri="{BB962C8B-B14F-4D97-AF65-F5344CB8AC3E}">
        <p14:creationId xmlns:p14="http://schemas.microsoft.com/office/powerpoint/2010/main" val="285588942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1A648-96CB-0D7B-49FB-4C418F37E2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8C97D1-7B11-F525-918A-DDF9526E94C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AECB462-902F-9C61-95D4-38397EF3E480}"/>
              </a:ext>
            </a:extLst>
          </p:cNvPr>
          <p:cNvSpPr>
            <a:spLocks noGrp="1"/>
          </p:cNvSpPr>
          <p:nvPr>
            <p:ph type="body" idx="1"/>
          </p:nvPr>
        </p:nvSpPr>
        <p:spPr/>
        <p:txBody>
          <a:bodyPr/>
          <a:lstStyle/>
          <a:p>
            <a:endParaRPr lang="fr-FR" sz="1600" b="1" dirty="0"/>
          </a:p>
        </p:txBody>
      </p:sp>
    </p:spTree>
    <p:extLst>
      <p:ext uri="{BB962C8B-B14F-4D97-AF65-F5344CB8AC3E}">
        <p14:creationId xmlns:p14="http://schemas.microsoft.com/office/powerpoint/2010/main" val="122193111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59D77-72DF-196E-3650-375E606941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84ED01-E91F-AFA1-DC17-B9BB6F64CA2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738FEA-A458-BA98-4E64-32A794A996D9}"/>
              </a:ext>
            </a:extLst>
          </p:cNvPr>
          <p:cNvSpPr>
            <a:spLocks noGrp="1"/>
          </p:cNvSpPr>
          <p:nvPr>
            <p:ph type="body" idx="1"/>
          </p:nvPr>
        </p:nvSpPr>
        <p:spPr/>
        <p:txBody>
          <a:bodyPr/>
          <a:lstStyle/>
          <a:p>
            <a:pPr rtl="0"/>
            <a:r>
              <a:rPr lang="fr-FR" sz="1600" dirty="0"/>
              <a:t>La mission est volontairement simple et fréquente : une </a:t>
            </a:r>
            <a:r>
              <a:rPr lang="fr-FR" sz="1600" b="1" dirty="0"/>
              <a:t>succession amiable</a:t>
            </a:r>
            <a:r>
              <a:rPr lang="fr-FR" sz="1600" dirty="0"/>
              <a:t>, commandée par un </a:t>
            </a:r>
            <a:r>
              <a:rPr lang="fr-FR" sz="1600" b="1" dirty="0"/>
              <a:t>notaire</a:t>
            </a:r>
            <a:r>
              <a:rPr lang="fr-FR" sz="1600" dirty="0"/>
              <a:t>, pour un </a:t>
            </a:r>
            <a:r>
              <a:rPr lang="fr-FR" sz="1600" b="1" dirty="0"/>
              <a:t>appartement courant </a:t>
            </a:r>
            <a:r>
              <a:rPr lang="fr-FR" sz="1600" dirty="0"/>
              <a:t>dans un secteur parisien </a:t>
            </a:r>
            <a:r>
              <a:rPr lang="fr-FR" sz="1600" b="1" dirty="0"/>
              <a:t>bien documenté</a:t>
            </a:r>
            <a:r>
              <a:rPr lang="fr-FR" sz="1600" dirty="0"/>
              <a:t>.</a:t>
            </a:r>
          </a:p>
          <a:p>
            <a:pPr rtl="0"/>
            <a:endParaRPr lang="fr-FR" sz="1600" dirty="0"/>
          </a:p>
          <a:p>
            <a:pPr marL="342900" indent="-342900" rtl="0">
              <a:buFont typeface="+mj-lt"/>
              <a:buAutoNum type="arabicPeriod"/>
            </a:pPr>
            <a:r>
              <a:rPr lang="fr-FR" sz="1600" dirty="0"/>
              <a:t>Pas de complexité juridique particulière, </a:t>
            </a:r>
          </a:p>
          <a:p>
            <a:pPr marL="342900" indent="-342900" rtl="0">
              <a:buFont typeface="+mj-lt"/>
              <a:buAutoNum type="arabicPeriod"/>
            </a:pPr>
            <a:r>
              <a:rPr lang="fr-FR" sz="1600" dirty="0"/>
              <a:t>pas de désordre structurel majeur, </a:t>
            </a:r>
          </a:p>
          <a:p>
            <a:pPr marL="342900" indent="-342900" rtl="0">
              <a:buFont typeface="+mj-lt"/>
              <a:buAutoNum type="arabicPeriod"/>
            </a:pPr>
            <a:r>
              <a:rPr lang="fr-FR" sz="1600" dirty="0"/>
              <a:t>un marché de comparables est disponible.</a:t>
            </a:r>
          </a:p>
          <a:p>
            <a:pPr rtl="0"/>
            <a:endParaRPr lang="fr-FR" sz="1600" dirty="0"/>
          </a:p>
          <a:p>
            <a:pPr rtl="0"/>
            <a:endParaRPr lang="fr-FR" sz="1600" dirty="0"/>
          </a:p>
          <a:p>
            <a:pPr rtl="0"/>
            <a:r>
              <a:rPr lang="fr-FR" sz="1600" dirty="0"/>
              <a:t>Il y a trois éléments spécifiques à ce contexte amiable qui vont influencer vos prompts. </a:t>
            </a:r>
          </a:p>
          <a:p>
            <a:pPr rtl="0"/>
            <a:r>
              <a:rPr lang="fr-FR" sz="1600" b="1" dirty="0"/>
              <a:t>Premièrement</a:t>
            </a:r>
            <a:r>
              <a:rPr lang="fr-FR" sz="1600" dirty="0"/>
              <a:t>, le mandant est un notaire — vous lui remettez le rapport directement, il en est l'unique destinataire et utilisateur. </a:t>
            </a:r>
          </a:p>
          <a:p>
            <a:pPr rtl="0"/>
            <a:r>
              <a:rPr lang="fr-FR" sz="1600" b="1" dirty="0"/>
              <a:t>Deuxièmement</a:t>
            </a:r>
            <a:r>
              <a:rPr lang="fr-FR" sz="1600" dirty="0"/>
              <a:t>, il n'y a pas d'ordonnance — votre section de cadrage va s'appuyer sur la lettre de mission ou l'échange de mails avec l'étude notariale. </a:t>
            </a:r>
          </a:p>
          <a:p>
            <a:pPr rtl="0"/>
            <a:r>
              <a:rPr lang="fr-FR" sz="1600" b="1" dirty="0"/>
              <a:t>Troisièmement</a:t>
            </a:r>
            <a:r>
              <a:rPr lang="fr-FR" sz="1600" dirty="0"/>
              <a:t>, la valeur vénale que vous allez produire sera utilisée dans une déclaration de succession — elle a une portée fiscale directe. </a:t>
            </a:r>
          </a:p>
          <a:p>
            <a:pPr rtl="0"/>
            <a:endParaRPr lang="fr-FR" sz="1600" dirty="0"/>
          </a:p>
          <a:p>
            <a:pPr rtl="0"/>
            <a:r>
              <a:rPr lang="fr-FR" sz="1600" dirty="0"/>
              <a:t>La rigueur de l'avis de valeur n'est donc pas moins importante que dans le judiciaire, même si le ton est différent.</a:t>
            </a:r>
          </a:p>
        </p:txBody>
      </p:sp>
    </p:spTree>
    <p:extLst>
      <p:ext uri="{BB962C8B-B14F-4D97-AF65-F5344CB8AC3E}">
        <p14:creationId xmlns:p14="http://schemas.microsoft.com/office/powerpoint/2010/main" val="205652937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44FA-676C-7360-C74B-57FEF049EF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BF8818-02DD-10A8-3F50-2D5789F5FA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0B28AD2-4C3F-70DE-FAA4-6A39DCBE86C1}"/>
              </a:ext>
            </a:extLst>
          </p:cNvPr>
          <p:cNvSpPr>
            <a:spLocks noGrp="1"/>
          </p:cNvSpPr>
          <p:nvPr>
            <p:ph type="body" idx="1"/>
          </p:nvPr>
        </p:nvSpPr>
        <p:spPr/>
        <p:txBody>
          <a:bodyPr/>
          <a:lstStyle/>
          <a:p>
            <a:pPr rtl="0"/>
            <a:r>
              <a:rPr lang="fr-FR" sz="1600" dirty="0"/>
              <a:t>La lettre de mission est le </a:t>
            </a:r>
            <a:r>
              <a:rPr lang="fr-FR" sz="1600" b="1" dirty="0"/>
              <a:t>point de départ</a:t>
            </a:r>
          </a:p>
          <a:p>
            <a:pPr rtl="0"/>
            <a:r>
              <a:rPr lang="fr-FR" sz="1600" dirty="0"/>
              <a:t>— elle remplace l'ordonnance du tribunal. </a:t>
            </a:r>
          </a:p>
          <a:p>
            <a:pPr rtl="0"/>
            <a:endParaRPr lang="fr-FR" sz="1600" dirty="0"/>
          </a:p>
          <a:p>
            <a:pPr rtl="0"/>
            <a:r>
              <a:rPr lang="fr-FR" sz="1600" dirty="0"/>
              <a:t>C'est elle qui définit l'objet de votre mission, la date de valeur retenue, et le délai de remise. </a:t>
            </a:r>
          </a:p>
          <a:p>
            <a:pPr rtl="0"/>
            <a:endParaRPr lang="fr-FR" sz="1600" dirty="0"/>
          </a:p>
          <a:p>
            <a:pPr rtl="0"/>
            <a:r>
              <a:rPr lang="fr-FR" sz="1600" b="1" dirty="0"/>
              <a:t>Nous allons extraire les éléments essentiels avant de lancer vos prompts. </a:t>
            </a:r>
          </a:p>
          <a:p>
            <a:pPr rtl="0"/>
            <a:endParaRPr lang="fr-FR" sz="1600" dirty="0"/>
          </a:p>
          <a:p>
            <a:pPr rtl="0"/>
            <a:r>
              <a:rPr lang="fr-FR" sz="1600" b="1" dirty="0"/>
              <a:t>Dans notre cas nous avons quoi ?: </a:t>
            </a:r>
          </a:p>
          <a:p>
            <a:pPr rtl="0"/>
            <a:r>
              <a:rPr lang="fr-FR" sz="1600" dirty="0"/>
              <a:t>le mandant est le notaire, </a:t>
            </a:r>
          </a:p>
          <a:p>
            <a:pPr rtl="0"/>
            <a:r>
              <a:rPr lang="fr-FR" sz="1600" dirty="0"/>
              <a:t>l'objet est la valeur vénale dans le cadre d'une succession, </a:t>
            </a:r>
          </a:p>
          <a:p>
            <a:pPr rtl="0"/>
            <a:r>
              <a:rPr lang="fr-FR" sz="1600" dirty="0"/>
              <a:t>la date de valeur est celle de la visite. </a:t>
            </a:r>
          </a:p>
          <a:p>
            <a:pPr rtl="0"/>
            <a:endParaRPr lang="fr-FR" sz="1600" dirty="0"/>
          </a:p>
          <a:p>
            <a:pPr rtl="0"/>
            <a:r>
              <a:rPr lang="fr-FR" sz="1600" dirty="0"/>
              <a:t>Ces trois éléments vont alimenter directement votre tout premier prompt que l’on appelle ….. </a:t>
            </a:r>
            <a:r>
              <a:rPr lang="fr-FR" sz="1600" b="1" dirty="0"/>
              <a:t>Le prompt d'initialisation !!!</a:t>
            </a:r>
            <a:endParaRPr lang="fr-FR" sz="1600" dirty="0"/>
          </a:p>
          <a:p>
            <a:pPr rtl="0"/>
            <a:endParaRPr lang="fr-FR" sz="1600" dirty="0"/>
          </a:p>
          <a:p>
            <a:pPr rtl="0"/>
            <a:r>
              <a:rPr lang="fr-FR" sz="1600" dirty="0"/>
              <a:t>La liste des pièces communiquées est également fondamentale. </a:t>
            </a:r>
          </a:p>
          <a:p>
            <a:pPr rtl="0"/>
            <a:endParaRPr lang="fr-FR" sz="1600" dirty="0"/>
          </a:p>
          <a:p>
            <a:pPr rtl="0"/>
            <a:r>
              <a:rPr lang="fr-FR" sz="1600" dirty="0"/>
              <a:t>Remarquez qu'elle conditionne ce que vous pouvez affirmer dans votre rapport — et donc, ce que vous pouvez donner à l’IA.</a:t>
            </a:r>
          </a:p>
          <a:p>
            <a:pPr rtl="0"/>
            <a:endParaRPr lang="fr-FR" sz="1600" dirty="0"/>
          </a:p>
          <a:p>
            <a:pPr rtl="0"/>
            <a:r>
              <a:rPr lang="fr-FR" sz="1600" dirty="0"/>
              <a:t>Par exemple : </a:t>
            </a:r>
            <a:r>
              <a:rPr lang="fr-FR" sz="1600" b="1" dirty="0"/>
              <a:t>L'acte de propriété vous donne quoi comme information ???</a:t>
            </a:r>
          </a:p>
          <a:p>
            <a:pPr rtl="0"/>
            <a:r>
              <a:rPr lang="fr-FR" sz="1600" dirty="0"/>
              <a:t>la surface et le régime. </a:t>
            </a:r>
          </a:p>
          <a:p>
            <a:pPr rtl="0"/>
            <a:endParaRPr lang="fr-FR" sz="1600" dirty="0"/>
          </a:p>
          <a:p>
            <a:pPr rtl="0"/>
            <a:r>
              <a:rPr lang="fr-FR" sz="1600" b="1" dirty="0"/>
              <a:t>Le règlement de copropriété vous donne ??? </a:t>
            </a:r>
          </a:p>
          <a:p>
            <a:pPr rtl="0"/>
            <a:r>
              <a:rPr lang="fr-FR" sz="1600" dirty="0"/>
              <a:t>les tantièmes. </a:t>
            </a:r>
          </a:p>
          <a:p>
            <a:pPr rtl="0"/>
            <a:endParaRPr lang="fr-FR" sz="1600" dirty="0"/>
          </a:p>
          <a:p>
            <a:pPr rtl="0"/>
            <a:r>
              <a:rPr lang="fr-FR" sz="1600" b="1" dirty="0"/>
              <a:t>Les PV d’AG ???</a:t>
            </a:r>
          </a:p>
          <a:p>
            <a:pPr rtl="0"/>
            <a:r>
              <a:rPr lang="fr-FR" sz="1600" dirty="0"/>
              <a:t>vous informe des travaux votés. </a:t>
            </a:r>
          </a:p>
          <a:p>
            <a:pPr rtl="0"/>
            <a:endParaRPr lang="fr-FR" sz="1600" dirty="0"/>
          </a:p>
          <a:p>
            <a:pPr rtl="0"/>
            <a:r>
              <a:rPr lang="fr-FR" sz="1600" b="1" dirty="0"/>
              <a:t>Le DPE </a:t>
            </a:r>
            <a:r>
              <a:rPr lang="fr-FR" sz="1600" dirty="0"/>
              <a:t>vous donne l'étiquette énergétique. </a:t>
            </a:r>
          </a:p>
          <a:p>
            <a:pPr rtl="0"/>
            <a:endParaRPr lang="fr-FR" sz="1600" dirty="0"/>
          </a:p>
          <a:p>
            <a:pPr rtl="0"/>
            <a:r>
              <a:rPr lang="fr-FR" sz="1600" b="1" dirty="0"/>
              <a:t>Si une pièce n'est pas dans cette liste ???</a:t>
            </a:r>
          </a:p>
          <a:p>
            <a:pPr rtl="0"/>
            <a:r>
              <a:rPr lang="fr-FR" sz="1600" dirty="0"/>
              <a:t>la règle que vous avez apprise dans les modules précédents s'applique : </a:t>
            </a:r>
            <a:r>
              <a:rPr lang="fr-FR" sz="1600" b="1" dirty="0"/>
              <a:t>"non communiqué à l'expert à la date de sa visite.« </a:t>
            </a:r>
          </a:p>
          <a:p>
            <a:pPr rtl="0"/>
            <a:endParaRPr lang="fr-FR" sz="1600" b="1" dirty="0"/>
          </a:p>
          <a:p>
            <a:pPr rtl="0"/>
            <a:r>
              <a:rPr lang="fr-FR" sz="1600" dirty="0"/>
              <a:t>Notez également que dans ce dossier, il n'y a pas d'état hypothécaire — c'est normal dans une mission amiable de succession courante. </a:t>
            </a:r>
          </a:p>
          <a:p>
            <a:pPr rtl="0"/>
            <a:r>
              <a:rPr lang="fr-FR" sz="1600" dirty="0"/>
              <a:t>Si la question des hypothèques est pertinente pour la valeur, vous pourrez la mentionnez en réserve, mais pas comme un fait vérifié.</a:t>
            </a:r>
          </a:p>
        </p:txBody>
      </p:sp>
    </p:spTree>
    <p:extLst>
      <p:ext uri="{BB962C8B-B14F-4D97-AF65-F5344CB8AC3E}">
        <p14:creationId xmlns:p14="http://schemas.microsoft.com/office/powerpoint/2010/main" val="15880156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D513A-83A1-5B04-2570-853E457485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029C25-0A1C-541D-8B1C-2648A5B14F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637B9D-F097-F9B2-32F0-CCDD4BFD2193}"/>
              </a:ext>
            </a:extLst>
          </p:cNvPr>
          <p:cNvSpPr>
            <a:spLocks noGrp="1"/>
          </p:cNvSpPr>
          <p:nvPr>
            <p:ph type="body" idx="1"/>
          </p:nvPr>
        </p:nvSpPr>
        <p:spPr/>
        <p:txBody>
          <a:bodyPr/>
          <a:lstStyle/>
          <a:p>
            <a:pPr rtl="0"/>
            <a:r>
              <a:rPr lang="fr-FR" sz="1600" dirty="0"/>
              <a:t>Ces notes de visite sont présentées dans leur forme brute — telles que vous les avez prises sur le terrain, dans votre carnet ou sur votre application mobile. </a:t>
            </a:r>
          </a:p>
          <a:p>
            <a:pPr rtl="0"/>
            <a:r>
              <a:rPr lang="fr-FR" sz="1600" dirty="0"/>
              <a:t>Abréviations, majuscules pour les points critiques, ordre de visite pièce par pièce, chiffres sans mise en forme. C'est exactement ce que vous allez coller dans vos prompts.</a:t>
            </a:r>
          </a:p>
          <a:p>
            <a:pPr rtl="0"/>
            <a:endParaRPr lang="fr-FR" sz="1600" dirty="0"/>
          </a:p>
          <a:p>
            <a:pPr rtl="0"/>
            <a:r>
              <a:rPr lang="fr-FR" sz="1600" dirty="0"/>
              <a:t>C'est ici que réside l'un des gains les plus immédiats de l'IA : vous n'avez plus besoin de transformer mentalement vos notes de visite en prose au moment de les saisir dans votre logiciel. </a:t>
            </a:r>
          </a:p>
          <a:p>
            <a:pPr rtl="0"/>
            <a:r>
              <a:rPr lang="fr-FR" sz="1600" dirty="0"/>
              <a:t>Vous collez vos notes brutes dans le prompt, vous ajoutez les instructions de rédaction, et l'IA produit la section descriptive. </a:t>
            </a:r>
          </a:p>
          <a:p>
            <a:pPr rtl="0"/>
            <a:endParaRPr lang="fr-FR" sz="1600" dirty="0"/>
          </a:p>
          <a:p>
            <a:pPr rtl="0"/>
            <a:r>
              <a:rPr lang="fr-FR" sz="1600" dirty="0"/>
              <a:t>Ce qui prenait 20 à 30 minutes de mise en forme prend maintenant 2 minutes.</a:t>
            </a:r>
          </a:p>
          <a:p>
            <a:pPr rtl="0"/>
            <a:endParaRPr lang="fr-FR" sz="1600" dirty="0"/>
          </a:p>
          <a:p>
            <a:pPr rtl="0"/>
            <a:r>
              <a:rPr lang="fr-FR" sz="1600" b="1" dirty="0"/>
              <a:t>Regardons ensemble ce que ces notes contiennent sur le plan de l'expertise. </a:t>
            </a:r>
          </a:p>
          <a:p>
            <a:pPr rtl="0"/>
            <a:endParaRPr lang="fr-FR" sz="1600" dirty="0"/>
          </a:p>
          <a:p>
            <a:pPr rtl="0"/>
            <a:r>
              <a:rPr lang="fr-FR" sz="1600" dirty="0"/>
              <a:t>Trois éléments vont être particulièrement importants dans la suite du rapport.</a:t>
            </a:r>
          </a:p>
          <a:p>
            <a:pPr rtl="0"/>
            <a:endParaRPr lang="fr-FR" sz="1600" dirty="0"/>
          </a:p>
          <a:p>
            <a:pPr rtl="0"/>
            <a:r>
              <a:rPr lang="fr-FR" sz="1600" b="1" dirty="0"/>
              <a:t>Premièrement</a:t>
            </a:r>
            <a:r>
              <a:rPr lang="fr-FR" sz="1600" dirty="0"/>
              <a:t>, la salle de bains — les lettres majuscules ne sont pas anodines, "REMISE EN ÉTAT COMPLÈTE NÉCESSAIRE" </a:t>
            </a:r>
          </a:p>
          <a:p>
            <a:pPr rtl="0"/>
            <a:r>
              <a:rPr lang="fr-FR" sz="1600" dirty="0"/>
              <a:t>C’est un constat fort qui doit se retrouver dans la description, dans l'état du bien, et dans les ajustements de valeur. </a:t>
            </a:r>
          </a:p>
          <a:p>
            <a:pPr rtl="0"/>
            <a:endParaRPr lang="fr-FR" sz="1600" dirty="0"/>
          </a:p>
          <a:p>
            <a:pPr rtl="0"/>
            <a:r>
              <a:rPr lang="fr-FR" sz="1600" b="1" dirty="0"/>
              <a:t>Deuxièmement</a:t>
            </a:r>
            <a:r>
              <a:rPr lang="fr-FR" sz="1600" dirty="0"/>
              <a:t>, le double vitrage partiel — deux pièces en simple vitrage, dont la cuisine et la chambre 2 sur cour. </a:t>
            </a:r>
          </a:p>
          <a:p>
            <a:pPr rtl="0"/>
            <a:r>
              <a:rPr lang="fr-FR" sz="1600" dirty="0"/>
              <a:t>Ce n'est pas un désordre structurel mais c'est un facteur de valeur négatif qui doit être tracé. </a:t>
            </a:r>
          </a:p>
          <a:p>
            <a:pPr rtl="0"/>
            <a:endParaRPr lang="fr-FR" sz="1600" dirty="0"/>
          </a:p>
          <a:p>
            <a:pPr rtl="0"/>
            <a:r>
              <a:rPr lang="fr-FR" sz="1600" b="1" dirty="0"/>
              <a:t>Troisièmement</a:t>
            </a:r>
            <a:r>
              <a:rPr lang="fr-FR" sz="1600" dirty="0"/>
              <a:t>, la chaudière de 2009 — elle a 17 ans, elle est  fonctionnelle mais en fin de vie prévisible.</a:t>
            </a:r>
          </a:p>
          <a:p>
            <a:pPr rtl="0"/>
            <a:endParaRPr lang="fr-FR" sz="1600" dirty="0"/>
          </a:p>
          <a:p>
            <a:pPr rtl="0"/>
            <a:r>
              <a:rPr lang="fr-FR" sz="1600" dirty="0"/>
              <a:t>Ces trois éléments forment le fil conducteur de votre rapport : </a:t>
            </a:r>
            <a:r>
              <a:rPr lang="fr-FR" sz="1600" b="1" dirty="0"/>
              <a:t>description, état, ajustements</a:t>
            </a:r>
            <a:r>
              <a:rPr lang="fr-FR" sz="1600" dirty="0"/>
              <a:t>. </a:t>
            </a:r>
          </a:p>
          <a:p>
            <a:pPr rtl="0"/>
            <a:r>
              <a:rPr lang="fr-FR" sz="1600" dirty="0"/>
              <a:t>L'IA va les reprendre dans chacune de ses sections, parce que vous les avez correctement identifiés dans vos notes — et c'est là que se situe votre valeur ajoutée d'expert, pas dans la rédaction.</a:t>
            </a:r>
          </a:p>
        </p:txBody>
      </p:sp>
    </p:spTree>
    <p:extLst>
      <p:ext uri="{BB962C8B-B14F-4D97-AF65-F5344CB8AC3E}">
        <p14:creationId xmlns:p14="http://schemas.microsoft.com/office/powerpoint/2010/main" val="360921103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6C9A1-055C-28F7-1F06-DDDFD0E1DAF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E83AEB-ADD5-A40E-BC4E-F431889CECC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0AC7DB0-C787-38EF-F194-459C0C1F7F11}"/>
              </a:ext>
            </a:extLst>
          </p:cNvPr>
          <p:cNvSpPr>
            <a:spLocks noGrp="1"/>
          </p:cNvSpPr>
          <p:nvPr>
            <p:ph type="body" idx="1"/>
          </p:nvPr>
        </p:nvSpPr>
        <p:spPr/>
        <p:txBody>
          <a:bodyPr/>
          <a:lstStyle/>
          <a:p>
            <a:pPr rtl="0"/>
            <a:r>
              <a:rPr lang="fr-FR" sz="1600" dirty="0"/>
              <a:t>Ce tableau est la colonne vertébrale de votre analyse de marché. </a:t>
            </a:r>
          </a:p>
          <a:p>
            <a:pPr rtl="0"/>
            <a:r>
              <a:rPr lang="fr-FR" sz="1600" dirty="0"/>
              <a:t>Il a été constitué à partir des données DVF sur le même secteur du 11e arrondissement de Paris, en filtrant sur les appartements T2-T3 vendus entre janvier et août 2024 dans un rayon cohérent autour de la rue Keller. </a:t>
            </a:r>
          </a:p>
          <a:p>
            <a:pPr rtl="0"/>
            <a:endParaRPr lang="fr-FR" sz="1600" dirty="0"/>
          </a:p>
          <a:p>
            <a:pPr rtl="0"/>
            <a:r>
              <a:rPr lang="fr-FR" sz="1600" dirty="0"/>
              <a:t>Vous reconnaissez ce tableau — il a été utilisé dans le module 3 pour illustrer le workflow DVF complet.</a:t>
            </a:r>
          </a:p>
          <a:p>
            <a:pPr rtl="0"/>
            <a:endParaRPr lang="fr-FR" sz="1600" dirty="0"/>
          </a:p>
          <a:p>
            <a:pPr rtl="0"/>
            <a:r>
              <a:rPr lang="fr-FR" sz="1600" b="1" dirty="0"/>
              <a:t>Trois observations </a:t>
            </a:r>
            <a:r>
              <a:rPr lang="fr-FR" sz="1600" dirty="0"/>
              <a:t>:</a:t>
            </a:r>
          </a:p>
          <a:p>
            <a:pPr rtl="0"/>
            <a:r>
              <a:rPr lang="fr-FR" sz="1600" dirty="0"/>
              <a:t>.</a:t>
            </a:r>
          </a:p>
          <a:p>
            <a:pPr rtl="0"/>
            <a:r>
              <a:rPr lang="fr-FR" sz="1600" b="1" dirty="0"/>
              <a:t>Première observation </a:t>
            </a:r>
            <a:r>
              <a:rPr lang="fr-FR" sz="1600" dirty="0"/>
              <a:t>: la dispersion est significative — 8 720 € contre 9 614 €/m², (ligne C8 contre C02) soit près de 900 € d'écart entre le bas et le haut de fourchette. </a:t>
            </a:r>
          </a:p>
          <a:p>
            <a:pPr rtl="0"/>
            <a:r>
              <a:rPr lang="fr-FR" sz="1600" dirty="0"/>
              <a:t>Cette dispersion n'est pas un problème, c'est une réalité de marché que votre analyse doit expliquer. </a:t>
            </a:r>
          </a:p>
          <a:p>
            <a:pPr rtl="0"/>
            <a:r>
              <a:rPr lang="fr-FR" sz="1600" dirty="0"/>
              <a:t>L'IA va vous aider à la formaliser — mais au départ, c'est vous qui avez sélectionné et qui avez écarté les atypiques.</a:t>
            </a:r>
          </a:p>
          <a:p>
            <a:pPr rtl="0"/>
            <a:endParaRPr lang="fr-FR" sz="1600" dirty="0"/>
          </a:p>
          <a:p>
            <a:pPr rtl="0"/>
            <a:r>
              <a:rPr lang="fr-FR" sz="1600" b="1" dirty="0"/>
              <a:t>Deuxième observation </a:t>
            </a:r>
            <a:r>
              <a:rPr lang="fr-FR" sz="1600" dirty="0"/>
              <a:t>: la colonne "état" est la variable explicative principale. </a:t>
            </a:r>
          </a:p>
          <a:p>
            <a:pPr rtl="0"/>
            <a:r>
              <a:rPr lang="fr-FR" sz="1600" dirty="0"/>
              <a:t>Les biens vétustes se concentrent en bas de fourchette autour de 8 700-8 800 €/m², les biens courants au milieu autour de 9 100-9 300 €, les biens rénovés en haut à 9 500-9 600 €. </a:t>
            </a:r>
          </a:p>
          <a:p>
            <a:pPr rtl="0"/>
            <a:endParaRPr lang="fr-FR" sz="1600" dirty="0"/>
          </a:p>
          <a:p>
            <a:pPr rtl="0"/>
            <a:r>
              <a:rPr lang="fr-FR" sz="1600" b="1" dirty="0"/>
              <a:t>Notre T3 rue Keller, avec sa salle de bains vétuste et son double vitrage partiel, se positionne dans la partie basse des biens courants — ce raisonnement là, c'est VOUS qui l'arrêtez, pas l’IA.</a:t>
            </a:r>
          </a:p>
          <a:p>
            <a:pPr rtl="0"/>
            <a:endParaRPr lang="fr-FR" sz="1600" dirty="0"/>
          </a:p>
          <a:p>
            <a:pPr rtl="0"/>
            <a:r>
              <a:rPr lang="fr-FR" sz="1600" b="1" dirty="0"/>
              <a:t>Troisième observation </a:t>
            </a:r>
            <a:r>
              <a:rPr lang="fr-FR" sz="1600" dirty="0"/>
              <a:t>sur la méthode : vous avez en bas de slide la fourchette, la médiane et la moyenne déjà calculées. </a:t>
            </a:r>
          </a:p>
          <a:p>
            <a:pPr rtl="0"/>
            <a:r>
              <a:rPr lang="fr-FR" sz="1600" dirty="0"/>
              <a:t>Comment les obtenir ? vous demanderez à l'IA de recalculer ces chiffres à partir du tableau brut — et vous comparerez ses résultats aux vôtres. </a:t>
            </a:r>
          </a:p>
          <a:p>
            <a:pPr rtl="0"/>
            <a:endParaRPr lang="fr-FR" sz="1600" dirty="0"/>
          </a:p>
          <a:p>
            <a:pPr rtl="0"/>
            <a:r>
              <a:rPr lang="fr-FR" sz="1600" dirty="0"/>
              <a:t>C'est la vérification obligatoire que nous avons vue dans le module 3.</a:t>
            </a:r>
          </a:p>
        </p:txBody>
      </p:sp>
    </p:spTree>
    <p:extLst>
      <p:ext uri="{BB962C8B-B14F-4D97-AF65-F5344CB8AC3E}">
        <p14:creationId xmlns:p14="http://schemas.microsoft.com/office/powerpoint/2010/main" val="228998488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24589-09B8-E605-C4CC-EA598BEADBC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6DF10D-48C0-7760-5B51-1EEE1EB4F31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E020BD-452F-8B9E-4DBD-4DC0D8D9BC8B}"/>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244934905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EA23B-0FCF-B4A8-B8AE-5990E32F39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48FB0F-AD78-9952-9CAC-F5254D5580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1900ED7-326C-1938-A115-441973398F3D}"/>
              </a:ext>
            </a:extLst>
          </p:cNvPr>
          <p:cNvSpPr>
            <a:spLocks noGrp="1"/>
          </p:cNvSpPr>
          <p:nvPr>
            <p:ph type="body" idx="1"/>
          </p:nvPr>
        </p:nvSpPr>
        <p:spPr/>
        <p:txBody>
          <a:bodyPr/>
          <a:lstStyle/>
          <a:p>
            <a:pPr rtl="0"/>
            <a:r>
              <a:rPr lang="fr-FR" sz="1600" b="1" dirty="0"/>
              <a:t>REPONSE : </a:t>
            </a:r>
            <a:br>
              <a:rPr lang="fr-FR" sz="1600" b="1" dirty="0"/>
            </a:br>
            <a:r>
              <a:rPr lang="fr-FR" sz="1600" b="1" dirty="0"/>
              <a:t>Le Prompt  d’initialisation </a:t>
            </a:r>
          </a:p>
          <a:p>
            <a:pPr rtl="0"/>
            <a:endParaRPr lang="fr-FR" sz="1600" b="1" dirty="0"/>
          </a:p>
          <a:p>
            <a:pPr rtl="0"/>
            <a:r>
              <a:rPr lang="fr-FR" sz="1600" dirty="0"/>
              <a:t>La meilleure pratique est de commencer chaque dossier par un prompt d'initialisation qui place l'IA dans le contexte complet du rapport. </a:t>
            </a:r>
          </a:p>
          <a:p>
            <a:pPr rtl="0"/>
            <a:r>
              <a:rPr lang="fr-FR" sz="1600" dirty="0"/>
              <a:t>Cela évite de répéter les informations à chaque section et vous assure la cohérence de ton et de style tout au long du document.</a:t>
            </a:r>
          </a:p>
        </p:txBody>
      </p:sp>
    </p:spTree>
    <p:extLst>
      <p:ext uri="{BB962C8B-B14F-4D97-AF65-F5344CB8AC3E}">
        <p14:creationId xmlns:p14="http://schemas.microsoft.com/office/powerpoint/2010/main" val="98206989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E3E0C-DBAC-0D5D-E358-870156AB0B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7A7255-A5D6-6FC4-38F7-6B8FBF695E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620AB25-3840-E776-73D4-CBDE03215C6D}"/>
              </a:ext>
            </a:extLst>
          </p:cNvPr>
          <p:cNvSpPr>
            <a:spLocks noGrp="1"/>
          </p:cNvSpPr>
          <p:nvPr>
            <p:ph type="body" idx="1"/>
          </p:nvPr>
        </p:nvSpPr>
        <p:spPr/>
        <p:txBody>
          <a:bodyPr/>
          <a:lstStyle/>
          <a:p>
            <a:r>
              <a:rPr lang="fr-FR" sz="1600" b="1" dirty="0">
                <a:latin typeface="Courier New" panose="02070309020205020404" pitchFamily="49" charset="0"/>
                <a:cs typeface="Courier New" panose="02070309020205020404" pitchFamily="49" charset="0"/>
              </a:rPr>
              <a:t>PROMPT A SAISIR EN LIVE </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Tu es expert immobilier.</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Dossier</a:t>
            </a:r>
            <a:r>
              <a:rPr lang="fr-FR" sz="1600" dirty="0">
                <a:latin typeface="Courier New" panose="02070309020205020404" pitchFamily="49" charset="0"/>
                <a:cs typeface="Courier New" panose="02070309020205020404" pitchFamily="49" charset="0"/>
              </a:rPr>
              <a:t> : T3 68 m², 3e étage sans ascenseur, rue Keller Paris 11e, immeuble 1932.</a:t>
            </a:r>
          </a:p>
          <a:p>
            <a:r>
              <a:rPr lang="fr-FR" sz="1600" b="1" dirty="0">
                <a:latin typeface="Courier New" panose="02070309020205020404" pitchFamily="49" charset="0"/>
                <a:cs typeface="Courier New" panose="02070309020205020404" pitchFamily="49" charset="0"/>
              </a:rPr>
              <a:t>Mission amiable </a:t>
            </a:r>
            <a:r>
              <a:rPr lang="fr-FR" sz="1600" dirty="0">
                <a:latin typeface="Courier New" panose="02070309020205020404" pitchFamily="49" charset="0"/>
                <a:cs typeface="Courier New" panose="02070309020205020404" pitchFamily="49" charset="0"/>
              </a:rPr>
              <a:t>: valeur vénale succession, </a:t>
            </a:r>
          </a:p>
          <a:p>
            <a:r>
              <a:rPr lang="fr-FR" sz="1600" b="1" dirty="0">
                <a:latin typeface="Courier New" panose="02070309020205020404" pitchFamily="49" charset="0"/>
                <a:cs typeface="Courier New" panose="02070309020205020404" pitchFamily="49" charset="0"/>
              </a:rPr>
              <a:t>Mandant</a:t>
            </a:r>
            <a:r>
              <a:rPr lang="fr-FR" sz="1600" dirty="0">
                <a:latin typeface="Courier New" panose="02070309020205020404" pitchFamily="49" charset="0"/>
                <a:cs typeface="Courier New" panose="02070309020205020404" pitchFamily="49" charset="0"/>
              </a:rPr>
              <a:t> : notaire Paris 11e.</a:t>
            </a:r>
          </a:p>
          <a:p>
            <a:r>
              <a:rPr lang="fr-FR" sz="1600" b="1" dirty="0">
                <a:latin typeface="Courier New" panose="02070309020205020404" pitchFamily="49" charset="0"/>
                <a:cs typeface="Courier New" panose="02070309020205020404" pitchFamily="49" charset="0"/>
              </a:rPr>
              <a:t>Date de valeur </a:t>
            </a:r>
            <a:r>
              <a:rPr lang="fr-FR" sz="1600" dirty="0">
                <a:latin typeface="Courier New" panose="02070309020205020404" pitchFamily="49" charset="0"/>
                <a:cs typeface="Courier New" panose="02070309020205020404" pitchFamily="49" charset="0"/>
              </a:rPr>
              <a:t>: 16 octobre 2026</a:t>
            </a:r>
          </a:p>
          <a:p>
            <a:r>
              <a:rPr lang="fr-FR" sz="1600" dirty="0">
                <a:latin typeface="Courier New" panose="02070309020205020404" pitchFamily="49" charset="0"/>
                <a:cs typeface="Courier New" panose="02070309020205020404" pitchFamily="49" charset="0"/>
              </a:rPr>
              <a:t>Bien occupé par les héritiers.</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TON ET RÈGLES POUR TOUTES LES SECTIONS :</a:t>
            </a:r>
          </a:p>
          <a:p>
            <a:r>
              <a:rPr lang="fr-FR" sz="1600" dirty="0">
                <a:latin typeface="Courier New" panose="02070309020205020404" pitchFamily="49" charset="0"/>
                <a:cs typeface="Courier New" panose="02070309020205020404" pitchFamily="49" charset="0"/>
              </a:rPr>
              <a:t>- Sobre et professionnel</a:t>
            </a:r>
          </a:p>
          <a:p>
            <a:r>
              <a:rPr lang="fr-FR" sz="1600" dirty="0">
                <a:latin typeface="Courier New" panose="02070309020205020404" pitchFamily="49" charset="0"/>
                <a:cs typeface="Courier New" panose="02070309020205020404" pitchFamily="49" charset="0"/>
              </a:rPr>
              <a:t>- Pas de registre judiciaire</a:t>
            </a:r>
          </a:p>
          <a:p>
            <a:r>
              <a:rPr lang="fr-FR" sz="1600" dirty="0">
                <a:latin typeface="Courier New" panose="02070309020205020404" pitchFamily="49" charset="0"/>
                <a:cs typeface="Courier New" panose="02070309020205020404" pitchFamily="49" charset="0"/>
              </a:rPr>
              <a:t>- Première personne pour les constats</a:t>
            </a:r>
          </a:p>
          <a:p>
            <a:r>
              <a:rPr lang="fr-FR" sz="1600" dirty="0">
                <a:latin typeface="Courier New" panose="02070309020205020404" pitchFamily="49" charset="0"/>
                <a:cs typeface="Courier New" panose="02070309020205020404" pitchFamily="49" charset="0"/>
              </a:rPr>
              <a:t>- Ne rien inventer / éléments non communiqués : «non-communiqué»</a:t>
            </a:r>
          </a:p>
          <a:p>
            <a:r>
              <a:rPr lang="fr-FR" sz="1600" dirty="0">
                <a:latin typeface="Courier New" panose="02070309020205020404" pitchFamily="49" charset="0"/>
                <a:cs typeface="Courier New" panose="02070309020205020404" pitchFamily="49" charset="0"/>
              </a:rPr>
              <a:t>- Pas de formule de certification</a:t>
            </a:r>
          </a:p>
          <a:p>
            <a:endParaRPr lang="fr-FR" sz="1600" dirty="0">
              <a:latin typeface="Courier New" panose="02070309020205020404" pitchFamily="49" charset="0"/>
              <a:cs typeface="Courier New" panose="02070309020205020404" pitchFamily="49" charset="0"/>
            </a:endParaRPr>
          </a:p>
          <a:p>
            <a:r>
              <a:rPr lang="fr-FR" sz="1600" b="1" i="1" dirty="0">
                <a:latin typeface="Courier New" panose="02070309020205020404" pitchFamily="49" charset="0"/>
                <a:cs typeface="Courier New" panose="02070309020205020404" pitchFamily="49" charset="0"/>
              </a:rPr>
              <a:t>Confirme ta compréhension en 3 lignes, puis attends mes instructions.</a:t>
            </a:r>
          </a:p>
          <a:p>
            <a:r>
              <a:rPr lang="fr-FR" sz="1600" b="1" i="1" dirty="0">
                <a:latin typeface="Courier New" panose="02070309020205020404" pitchFamily="49" charset="0"/>
                <a:cs typeface="Courier New" panose="02070309020205020404" pitchFamily="49" charset="0"/>
              </a:rPr>
              <a:t>------------</a:t>
            </a:r>
          </a:p>
          <a:p>
            <a:endParaRPr lang="fr-FR" sz="1600" b="1" i="1" dirty="0">
              <a:latin typeface="Courier New" panose="02070309020205020404" pitchFamily="49" charset="0"/>
              <a:cs typeface="Courier New" panose="02070309020205020404" pitchFamily="49" charset="0"/>
            </a:endParaRPr>
          </a:p>
          <a:p>
            <a:pPr rtl="0"/>
            <a:r>
              <a:rPr lang="fr-FR" sz="1600" b="1" dirty="0"/>
              <a:t>Ce que Claude produit — à projeter en direct</a:t>
            </a:r>
          </a:p>
          <a:p>
            <a:pPr rtl="0"/>
            <a:r>
              <a:rPr lang="fr-FR" sz="1600" i="1" dirty="0"/>
              <a:t>J'ai bien pris en compte le dossier. Il s'agit d'une expertise amiable portant sur un appartement T3 de 68 m², situé au 3e étage sans ascenseur d'un immeuble de rapport de 1932, rue Keller dans le 11e arrondissement de Paris, en état courant avec une salle de bains vétuste. La mission consiste à estimer la valeur vénale libre du bien à la date du 14 octobre 2024, dans le cadre d'une succession, pour le compte d'un notaire mandant.</a:t>
            </a:r>
          </a:p>
          <a:p>
            <a:br>
              <a:rPr lang="fr-FR" sz="1600" dirty="0"/>
            </a:br>
            <a:endParaRPr lang="fr-FR" sz="1600" dirty="0"/>
          </a:p>
          <a:p>
            <a:pPr rtl="0"/>
            <a:r>
              <a:rPr lang="fr-FR" sz="1600" b="1" dirty="0"/>
              <a:t>Ce que vous dites à ce moment</a:t>
            </a:r>
          </a:p>
          <a:p>
            <a:pPr rtl="0"/>
            <a:r>
              <a:rPr lang="fr-FR" sz="1600" dirty="0"/>
              <a:t>Trois phrases orales, debout, en regardant la salle :</a:t>
            </a:r>
          </a:p>
          <a:p>
            <a:pPr rtl="0"/>
            <a:r>
              <a:rPr lang="fr-FR" sz="1600" i="1" dirty="0"/>
              <a:t>"Regardez ce que l'IA vient de produire en 4 secondes. </a:t>
            </a:r>
          </a:p>
          <a:p>
            <a:pPr rtl="0"/>
            <a:r>
              <a:rPr lang="fr-FR" sz="1600" i="1" dirty="0"/>
              <a:t>Elle a tout intégré — le type de mission, le bien, les règles de ton, la date de valeur. </a:t>
            </a:r>
          </a:p>
          <a:p>
            <a:pPr rtl="0"/>
            <a:r>
              <a:rPr lang="fr-FR" sz="1600" i="1" dirty="0"/>
              <a:t>À partir de maintenant, toutes les sections que je vais lui demander de rédiger seront cohérentes avec ce contexte. </a:t>
            </a:r>
          </a:p>
          <a:p>
            <a:pPr rtl="0"/>
            <a:endParaRPr lang="fr-FR" sz="1600" i="1" dirty="0"/>
          </a:p>
          <a:p>
            <a:pPr rtl="0"/>
            <a:r>
              <a:rPr lang="fr-FR" sz="1600" i="1" dirty="0"/>
              <a:t>C'est ça, le prompt d'initialisation — c'est la fondation. Si elle est solide, tout le rapport l'est."</a:t>
            </a:r>
            <a:endParaRPr lang="fr-FR" sz="1600" dirty="0"/>
          </a:p>
          <a:p>
            <a:endParaRPr lang="fr-FR" sz="1600" b="1"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1389577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4DACE-3838-36B0-618B-655AE4A369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AD4A2B-BE89-B04C-219E-119A25D51E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A7DA81A-181C-8B51-57DB-26D7BBFE1B99}"/>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207032647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DBF43-B9D0-DF72-A016-883576DDFF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9EAB33-D61F-AF6D-22DE-7BE12FF5CF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47BAECD-D1F7-21CA-7949-C1625BFA7F8F}"/>
              </a:ext>
            </a:extLst>
          </p:cNvPr>
          <p:cNvSpPr>
            <a:spLocks noGrp="1"/>
          </p:cNvSpPr>
          <p:nvPr>
            <p:ph type="body" idx="1"/>
          </p:nvPr>
        </p:nvSpPr>
        <p:spPr/>
        <p:txBody>
          <a:bodyPr/>
          <a:lstStyle/>
          <a:p>
            <a:pPr rtl="0"/>
            <a:r>
              <a:rPr lang="fr-FR" sz="1600" b="1" dirty="0"/>
              <a:t>Bonne réponse : FAUX</a:t>
            </a:r>
          </a:p>
          <a:p>
            <a:pPr rtl="0"/>
            <a:endParaRPr lang="fr-FR" sz="1600" dirty="0"/>
          </a:p>
          <a:p>
            <a:pPr rtl="0"/>
            <a:r>
              <a:rPr lang="fr-FR" sz="1600" b="1" dirty="0"/>
              <a:t>Votre commentaire :</a:t>
            </a:r>
            <a:r>
              <a:rPr lang="fr-FR" sz="1600" dirty="0"/>
              <a:t> C'est normal — et c'est voulu. On ne saisit jamais le nom du mandant dans l'IA. "Notaire Paris 11e" suffit. C'est votre première règle de confidentialité en action.</a:t>
            </a:r>
          </a:p>
        </p:txBody>
      </p:sp>
    </p:spTree>
    <p:extLst>
      <p:ext uri="{BB962C8B-B14F-4D97-AF65-F5344CB8AC3E}">
        <p14:creationId xmlns:p14="http://schemas.microsoft.com/office/powerpoint/2010/main" val="311307332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D243-7721-1B0E-E0D7-DDC8C6D5790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C06831-81BF-89F1-7780-3650C4F90E4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A068385-6024-B237-724F-56392F35EAE4}"/>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327994592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7386-F8BB-7591-5826-CBDED90587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043B2C-206A-1CB0-5317-A836BE7BA70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72B3CAE-7706-0575-4836-492EB223E0F0}"/>
              </a:ext>
            </a:extLst>
          </p:cNvPr>
          <p:cNvSpPr>
            <a:spLocks noGrp="1"/>
          </p:cNvSpPr>
          <p:nvPr>
            <p:ph type="body" idx="1"/>
          </p:nvPr>
        </p:nvSpPr>
        <p:spPr/>
        <p:txBody>
          <a:bodyPr/>
          <a:lstStyle/>
          <a:p>
            <a:pPr rtl="0"/>
            <a:r>
              <a:rPr lang="fr-FR" sz="1600" b="1" dirty="0"/>
              <a:t>Bonne réponse : B</a:t>
            </a:r>
            <a:endParaRPr lang="fr-FR" sz="1600" dirty="0"/>
          </a:p>
          <a:p>
            <a:pPr rtl="0"/>
            <a:r>
              <a:rPr lang="fr-FR" sz="1600" b="1" dirty="0"/>
              <a:t>Votre commentaire oral :</a:t>
            </a:r>
            <a:r>
              <a:rPr lang="fr-FR" sz="1600" dirty="0"/>
              <a:t> On rédige toujours dans l'ordre. </a:t>
            </a:r>
          </a:p>
          <a:p>
            <a:pPr rtl="0"/>
            <a:endParaRPr lang="fr-FR" sz="1600" dirty="0"/>
          </a:p>
          <a:p>
            <a:pPr rtl="0"/>
            <a:r>
              <a:rPr lang="fr-FR" sz="1600" b="1" dirty="0"/>
              <a:t>Le cadre de mission </a:t>
            </a:r>
            <a:r>
              <a:rPr lang="fr-FR" sz="1600" dirty="0"/>
              <a:t>pose le contexte du rapport — qui mandate, pour quoi, sur quel bien, à quelle date. </a:t>
            </a:r>
          </a:p>
          <a:p>
            <a:pPr rtl="0"/>
            <a:endParaRPr lang="fr-FR" sz="1600" dirty="0"/>
          </a:p>
          <a:p>
            <a:pPr rtl="0"/>
            <a:r>
              <a:rPr lang="fr-FR" sz="1600" dirty="0"/>
              <a:t>C'est la première section que le notaire ou le mandant va lire. </a:t>
            </a:r>
          </a:p>
          <a:p>
            <a:pPr rtl="0"/>
            <a:endParaRPr lang="fr-FR" sz="1600" dirty="0"/>
          </a:p>
          <a:p>
            <a:pPr rtl="0"/>
            <a:r>
              <a:rPr lang="fr-FR" sz="1600" dirty="0"/>
              <a:t>Elle doit être sobre, précise, et sans aucune formule judiciaire si l’on n'est pas sur une expertise judiciaire</a:t>
            </a:r>
          </a:p>
          <a:p>
            <a:pPr rtl="0"/>
            <a:endParaRPr lang="fr-FR" sz="1600" dirty="0"/>
          </a:p>
          <a:p>
            <a:pPr rtl="0"/>
            <a:r>
              <a:rPr lang="fr-FR" sz="16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latin typeface="Courier New" panose="02070309020205020404" pitchFamily="49" charset="0"/>
                <a:cs typeface="Courier New" panose="02070309020205020404" pitchFamily="49" charset="0"/>
              </a:rPr>
              <a:t>PROMPT A SAISIR EN LIVE </a:t>
            </a:r>
          </a:p>
          <a:p>
            <a:pPr rtl="0"/>
            <a:endParaRPr lang="fr-FR" sz="1600" dirty="0"/>
          </a:p>
          <a:p>
            <a:pPr rtl="0"/>
            <a:r>
              <a:rPr lang="fr-FR" sz="1600" b="1" dirty="0"/>
              <a:t>[Contexte en mémoire : T3 68 m²</a:t>
            </a:r>
          </a:p>
          <a:p>
            <a:pPr rtl="0"/>
            <a:r>
              <a:rPr lang="fr-FR" sz="1600" b="1" dirty="0"/>
              <a:t>rue Keller Paris 11e, succession]</a:t>
            </a:r>
          </a:p>
          <a:p>
            <a:pPr rtl="0"/>
            <a:endParaRPr lang="fr-FR" sz="1600" dirty="0"/>
          </a:p>
          <a:p>
            <a:pPr rtl="0"/>
            <a:r>
              <a:rPr lang="fr-FR" sz="1600" dirty="0"/>
              <a:t>Rédige la section "Cadre et objet de la mission".</a:t>
            </a:r>
          </a:p>
          <a:p>
            <a:pPr rtl="0"/>
            <a:r>
              <a:rPr lang="fr-FR" sz="1600" dirty="0"/>
              <a:t>Prose sobre, 80 à 100 mots,</a:t>
            </a:r>
          </a:p>
          <a:p>
            <a:pPr rtl="0"/>
            <a:r>
              <a:rPr lang="fr-FR" sz="1600" dirty="0"/>
              <a:t>un seul paragraphe.</a:t>
            </a:r>
          </a:p>
          <a:p>
            <a:pPr rtl="0"/>
            <a:endParaRPr lang="fr-FR" sz="1600" dirty="0"/>
          </a:p>
          <a:p>
            <a:pPr rtl="0"/>
            <a:r>
              <a:rPr lang="fr-FR" sz="1600" b="1" dirty="0"/>
              <a:t>DONNÉES :</a:t>
            </a:r>
          </a:p>
          <a:p>
            <a:pPr rtl="0"/>
            <a:r>
              <a:rPr lang="fr-FR" sz="1600" dirty="0"/>
              <a:t>Mandant : notaire Paris 11e</a:t>
            </a:r>
          </a:p>
          <a:p>
            <a:pPr rtl="0"/>
            <a:r>
              <a:rPr lang="fr-FR" sz="1600" dirty="0"/>
              <a:t>Mission : valeur vénale — succession</a:t>
            </a:r>
          </a:p>
          <a:p>
            <a:pPr rtl="0"/>
            <a:r>
              <a:rPr lang="fr-FR" sz="1600" dirty="0"/>
              <a:t>Bien : appartement T3, rue Keller, Paris 11e</a:t>
            </a:r>
          </a:p>
          <a:p>
            <a:pPr rtl="0"/>
            <a:r>
              <a:rPr lang="fr-FR" sz="1600" dirty="0"/>
              <a:t>Date de visite : 16 octobre 2026</a:t>
            </a:r>
          </a:p>
          <a:p>
            <a:pPr rtl="0"/>
            <a:r>
              <a:rPr lang="fr-FR" sz="1600" dirty="0"/>
              <a:t>Date de valeur : 16 octobre 2026</a:t>
            </a:r>
          </a:p>
          <a:p>
            <a:pPr rtl="0"/>
            <a:r>
              <a:rPr lang="fr-FR" sz="1600" dirty="0"/>
              <a:t>Pièces : acte de propriété 2009,</a:t>
            </a:r>
          </a:p>
          <a:p>
            <a:pPr rtl="0"/>
            <a:r>
              <a:rPr lang="fr-FR" sz="1600" dirty="0"/>
              <a:t>  règlement copropriété, PV AG 2022-2023,</a:t>
            </a:r>
          </a:p>
          <a:p>
            <a:pPr rtl="0"/>
            <a:r>
              <a:rPr lang="fr-FR" sz="1600" dirty="0"/>
              <a:t>  DPE étiquette E, plans, relevé charges</a:t>
            </a:r>
          </a:p>
          <a:p>
            <a:pPr rtl="0"/>
            <a:r>
              <a:rPr lang="fr-FR" sz="1600" dirty="0"/>
              <a:t>Occupation : libre</a:t>
            </a:r>
          </a:p>
          <a:p>
            <a:pPr rtl="0"/>
            <a:endParaRPr lang="fr-FR" sz="1600" dirty="0"/>
          </a:p>
          <a:p>
            <a:pPr rtl="0"/>
            <a:r>
              <a:rPr lang="fr-FR" sz="1600" dirty="0"/>
              <a:t>--------------</a:t>
            </a:r>
          </a:p>
          <a:p>
            <a:pPr rtl="0"/>
            <a:endParaRPr lang="fr-FR" sz="1600" dirty="0"/>
          </a:p>
          <a:p>
            <a:pPr rtl="0"/>
            <a:r>
              <a:rPr lang="fr-FR" sz="1600" b="1" dirty="0"/>
              <a:t>Ce que Claude produit — à projeter en direct</a:t>
            </a:r>
          </a:p>
          <a:p>
            <a:pPr rtl="0"/>
            <a:endParaRPr lang="fr-FR" sz="1600" b="1" dirty="0"/>
          </a:p>
          <a:p>
            <a:pPr rtl="0"/>
            <a:r>
              <a:rPr lang="fr-FR" sz="1600" b="1" dirty="0"/>
              <a:t>Cadre et objet de la mission</a:t>
            </a:r>
            <a:endParaRPr lang="fr-FR" sz="1600" dirty="0"/>
          </a:p>
          <a:p>
            <a:pPr rtl="0"/>
            <a:r>
              <a:rPr lang="fr-FR" sz="1600" dirty="0"/>
              <a:t>Dans le cadre d'une succession, un notaire exerçant à Paris m'a confié la mission d'estimer la valeur vénale de l'appartement situé rue Keller, dans le 11e arrondissement de Paris, à la date du 14 octobre 2024. J'ai procédé à la visite des lieux le 16 octobre 2026. Le bien était libre à la date de la visite. Les pièces suivantes m'ont été communiquées : acte de propriété (2009), règlement de copropriété, procès-verbaux d'assemblée générale 2022 et 2023, diagnostic de performance énergétique (étiquette E), plans de l'appartement, relevé de charges annuelles.</a:t>
            </a:r>
          </a:p>
          <a:p>
            <a:pPr rtl="0"/>
            <a:endParaRPr lang="fr-FR" sz="1600" dirty="0"/>
          </a:p>
          <a:p>
            <a:pPr rtl="0"/>
            <a:r>
              <a:rPr lang="fr-FR" sz="1600" dirty="0"/>
              <a:t>-------------------</a:t>
            </a:r>
          </a:p>
          <a:p>
            <a:pPr rtl="0"/>
            <a:endParaRPr lang="fr-FR" sz="1600" dirty="0"/>
          </a:p>
        </p:txBody>
      </p:sp>
    </p:spTree>
    <p:extLst>
      <p:ext uri="{BB962C8B-B14F-4D97-AF65-F5344CB8AC3E}">
        <p14:creationId xmlns:p14="http://schemas.microsoft.com/office/powerpoint/2010/main" val="14025667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104AA-A60C-6362-66CB-E3AAF29BD5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46DFCDF-749D-C7B5-7F3A-AEF0C09E55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2DDBFB-DF84-91C0-5B8F-E887DA73E94D}"/>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30884866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95C6-7D1C-72AB-3B5B-8679AE9EFD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CC990E-6AA3-E578-9675-8C688CA2B3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315DE7-8D17-7006-8C6C-C3BB7DEBD9FD}"/>
              </a:ext>
            </a:extLst>
          </p:cNvPr>
          <p:cNvSpPr>
            <a:spLocks noGrp="1"/>
          </p:cNvSpPr>
          <p:nvPr>
            <p:ph type="body" idx="1"/>
          </p:nvPr>
        </p:nvSpPr>
        <p:spPr/>
        <p:txBody>
          <a:bodyPr/>
          <a:lstStyle/>
          <a:p>
            <a:pPr rtl="0"/>
            <a:r>
              <a:rPr lang="fr-FR" sz="1600" b="1" dirty="0"/>
              <a:t>Votre commentaire :</a:t>
            </a:r>
            <a:r>
              <a:rPr lang="fr-FR" sz="1600" dirty="0"/>
              <a:t> Cette formule est réservée au judiciaire. </a:t>
            </a:r>
          </a:p>
          <a:p>
            <a:pPr rtl="0"/>
            <a:endParaRPr lang="fr-FR" sz="1600" dirty="0"/>
          </a:p>
          <a:p>
            <a:pPr rtl="0"/>
            <a:r>
              <a:rPr lang="fr-FR" sz="1600" dirty="0"/>
              <a:t>Dans l'amiable, l'IA écrit "m'a confié la mission" — direct, sobre, professionnel. </a:t>
            </a:r>
          </a:p>
          <a:p>
            <a:pPr rtl="0"/>
            <a:endParaRPr lang="fr-FR" sz="1600" dirty="0"/>
          </a:p>
          <a:p>
            <a:pPr rtl="0"/>
            <a:r>
              <a:rPr lang="fr-FR" sz="1600" dirty="0"/>
              <a:t>Si cette formule judiciaire apparaît dans votre rapport amiable, c'est que le prompt d'initialisation n'était pas assez explicite sur le registre attendu.</a:t>
            </a:r>
          </a:p>
        </p:txBody>
      </p:sp>
    </p:spTree>
    <p:extLst>
      <p:ext uri="{BB962C8B-B14F-4D97-AF65-F5344CB8AC3E}">
        <p14:creationId xmlns:p14="http://schemas.microsoft.com/office/powerpoint/2010/main" val="135081532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2950C-A132-309E-75DC-98E07E7AB81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E10762-6746-2DB4-2185-D6ABD19D443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79EA2AC-2FB8-96F5-84CB-62130D8DA053}"/>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11345305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D0825-5428-B318-8016-8B78A94F5CE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64DC2C-2772-7C11-40FA-E3171B641FE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D9DFC6-9ABF-1363-EAE4-365D245C11D2}"/>
              </a:ext>
            </a:extLst>
          </p:cNvPr>
          <p:cNvSpPr>
            <a:spLocks noGrp="1"/>
          </p:cNvSpPr>
          <p:nvPr>
            <p:ph type="body" idx="1"/>
          </p:nvPr>
        </p:nvSpPr>
        <p:spPr/>
        <p:txBody>
          <a:bodyPr/>
          <a:lstStyle/>
          <a:p>
            <a:pPr rtl="0"/>
            <a:r>
              <a:rPr lang="fr-FR" sz="1600" b="1" dirty="0"/>
              <a:t>Bonne réponse : C</a:t>
            </a:r>
          </a:p>
          <a:p>
            <a:pPr rtl="0"/>
            <a:endParaRPr lang="fr-FR" sz="1600" dirty="0"/>
          </a:p>
          <a:p>
            <a:pPr rtl="0"/>
            <a:r>
              <a:rPr lang="fr-FR" sz="1600" b="1" dirty="0"/>
              <a:t>Votre commentaire :</a:t>
            </a:r>
            <a:r>
              <a:rPr lang="fr-FR" sz="1600" dirty="0"/>
              <a:t> La section est complète — mandant, objet, bien, date, pièces, occupation. </a:t>
            </a:r>
          </a:p>
          <a:p>
            <a:pPr rtl="0"/>
            <a:endParaRPr lang="fr-FR" sz="1600" dirty="0"/>
          </a:p>
          <a:p>
            <a:pPr rtl="0"/>
            <a:r>
              <a:rPr lang="fr-FR" sz="1600" dirty="0"/>
              <a:t>Le nom du notaire ne figure pas, et c'est normal : règle de confidentialité. </a:t>
            </a:r>
          </a:p>
          <a:p>
            <a:pPr rtl="0"/>
            <a:endParaRPr lang="fr-FR" sz="1600" dirty="0"/>
          </a:p>
          <a:p>
            <a:pPr rtl="0"/>
            <a:r>
              <a:rPr lang="fr-FR" sz="1600" dirty="0"/>
              <a:t>La date de l'ordonnance n'existe pas en amiable. </a:t>
            </a:r>
          </a:p>
          <a:p>
            <a:pPr rtl="0"/>
            <a:endParaRPr lang="fr-FR" sz="1600" dirty="0"/>
          </a:p>
          <a:p>
            <a:pPr rtl="0"/>
            <a:r>
              <a:rPr lang="fr-FR" sz="1600" dirty="0"/>
              <a:t>La valeur appartient à la dernière section du rapport</a:t>
            </a:r>
          </a:p>
          <a:p>
            <a:pPr rtl="0"/>
            <a:endParaRPr lang="fr-FR" sz="1600" dirty="0"/>
          </a:p>
          <a:p>
            <a:pPr rtl="0"/>
            <a:r>
              <a:rPr lang="fr-FR" sz="1600" dirty="0"/>
              <a:t>Tout est à sa place.</a:t>
            </a:r>
          </a:p>
        </p:txBody>
      </p:sp>
    </p:spTree>
    <p:extLst>
      <p:ext uri="{BB962C8B-B14F-4D97-AF65-F5344CB8AC3E}">
        <p14:creationId xmlns:p14="http://schemas.microsoft.com/office/powerpoint/2010/main" val="76995036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0FC94-8650-7569-F445-BCAD3D7985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E7BD07C-125B-8C67-D196-1867DD9213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9509FE-D2FE-4F65-71E1-1F1CC342F482}"/>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381347043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47B0E-0888-12C3-BB1F-2F00B1E580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F4333C-B988-B541-8BDE-2D45241353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8E2A47-2D9A-AB5A-9F5C-259C3420F6D5}"/>
              </a:ext>
            </a:extLst>
          </p:cNvPr>
          <p:cNvSpPr>
            <a:spLocks noGrp="1"/>
          </p:cNvSpPr>
          <p:nvPr>
            <p:ph type="body" idx="1"/>
          </p:nvPr>
        </p:nvSpPr>
        <p:spPr/>
        <p:txBody>
          <a:bodyPr/>
          <a:lstStyle/>
          <a:p>
            <a:pPr rtl="0"/>
            <a:r>
              <a:rPr lang="fr-FR" sz="1600" b="1" dirty="0"/>
              <a:t>Bonne réponse : B</a:t>
            </a:r>
            <a:endParaRPr lang="fr-FR" sz="1600" dirty="0"/>
          </a:p>
          <a:p>
            <a:pPr rtl="0"/>
            <a:r>
              <a:rPr lang="fr-FR" sz="1600" b="1" dirty="0"/>
              <a:t>Votre commentaire oral :</a:t>
            </a:r>
            <a:r>
              <a:rPr lang="fr-FR" sz="1600" dirty="0"/>
              <a:t> C'est l'un des gains les plus immédiats de l'IA. </a:t>
            </a:r>
          </a:p>
          <a:p>
            <a:pPr rtl="0"/>
            <a:endParaRPr lang="fr-FR" sz="1600" dirty="0"/>
          </a:p>
          <a:p>
            <a:pPr rtl="0"/>
            <a:r>
              <a:rPr lang="fr-FR" sz="1600" dirty="0"/>
              <a:t>Vous collez vos notes brutes — abréviations, ordre de visite, chiffres sans mise en forme — et l'IA en fait une prose structurée et professionnelle. </a:t>
            </a:r>
          </a:p>
          <a:p>
            <a:pPr rtl="0"/>
            <a:endParaRPr lang="fr-FR" sz="1600" dirty="0"/>
          </a:p>
          <a:p>
            <a:pPr rtl="0"/>
            <a:r>
              <a:rPr lang="fr-FR" sz="1600" dirty="0"/>
              <a:t>Vous n'avez pas à reformuler vos notes pour les rendre "lisibles". </a:t>
            </a:r>
          </a:p>
          <a:p>
            <a:pPr rtl="0"/>
            <a:r>
              <a:rPr lang="fr-FR" sz="1600" dirty="0"/>
              <a:t>Collez-les telles quelles.</a:t>
            </a:r>
          </a:p>
          <a:p>
            <a:pPr rtl="0"/>
            <a:endParaRPr lang="fr-FR"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Ce que vous collez dans Claude en live</a:t>
            </a:r>
          </a:p>
          <a:p>
            <a:pPr rtl="0"/>
            <a:endParaRPr lang="fr-FR" sz="1600" dirty="0"/>
          </a:p>
          <a:p>
            <a:pPr rtl="0"/>
            <a:r>
              <a:rPr lang="fr-FR" sz="1600" dirty="0"/>
              <a:t>[Contexte en mémoire : T3 68 m²</a:t>
            </a:r>
          </a:p>
          <a:p>
            <a:pPr rtl="0"/>
            <a:r>
              <a:rPr lang="fr-FR" sz="1600" dirty="0"/>
              <a:t>rue Keller Paris 11e, succession]</a:t>
            </a:r>
          </a:p>
          <a:p>
            <a:pPr rtl="0"/>
            <a:endParaRPr lang="fr-FR" sz="1600" dirty="0"/>
          </a:p>
          <a:p>
            <a:pPr rtl="0"/>
            <a:r>
              <a:rPr lang="fr-FR" sz="1600" dirty="0"/>
              <a:t>Rédige la section "Description physique</a:t>
            </a:r>
          </a:p>
          <a:p>
            <a:pPr rtl="0"/>
            <a:r>
              <a:rPr lang="fr-FR" sz="1600" dirty="0"/>
              <a:t>du bien". Prose sobre, 200 à 250 mots,</a:t>
            </a:r>
          </a:p>
          <a:p>
            <a:pPr rtl="0"/>
            <a:r>
              <a:rPr lang="fr-FR" sz="1600" dirty="0"/>
              <a:t>deux paragraphes :</a:t>
            </a:r>
          </a:p>
          <a:p>
            <a:pPr rtl="0"/>
            <a:r>
              <a:rPr lang="fr-FR" sz="1600" dirty="0"/>
              <a:t>§1 — Situation dans l'immeuble</a:t>
            </a:r>
          </a:p>
          <a:p>
            <a:pPr rtl="0"/>
            <a:r>
              <a:rPr lang="fr-FR" sz="1600" dirty="0"/>
              <a:t>§2 — Distribution et état des éléments</a:t>
            </a:r>
          </a:p>
          <a:p>
            <a:pPr rtl="0"/>
            <a:endParaRPr lang="fr-FR" sz="1600" dirty="0"/>
          </a:p>
          <a:p>
            <a:pPr rtl="0"/>
            <a:r>
              <a:rPr lang="fr-FR" sz="1600" dirty="0"/>
              <a:t>Première personne pour les constats.</a:t>
            </a:r>
          </a:p>
          <a:p>
            <a:pPr rtl="0"/>
            <a:r>
              <a:rPr lang="fr-FR" sz="1600" dirty="0"/>
              <a:t>Mentionner explicitement les points faibles.</a:t>
            </a:r>
          </a:p>
          <a:p>
            <a:pPr rtl="0"/>
            <a:r>
              <a:rPr lang="fr-FR" sz="1600" dirty="0"/>
              <a:t>Ton sobre non judiciaire.</a:t>
            </a:r>
          </a:p>
          <a:p>
            <a:pPr rtl="0"/>
            <a:endParaRPr lang="fr-FR" sz="1600" dirty="0"/>
          </a:p>
          <a:p>
            <a:pPr rtl="0"/>
            <a:r>
              <a:rPr lang="fr-FR" sz="1600" dirty="0"/>
              <a:t>NOTES DE VISITE :</a:t>
            </a:r>
          </a:p>
          <a:p>
            <a:pPr rtl="0"/>
            <a:r>
              <a:rPr lang="fr-FR" sz="1600" dirty="0"/>
              <a:t>Immeuble pierre de taille 1932, 6 étages,</a:t>
            </a:r>
          </a:p>
          <a:p>
            <a:pPr rtl="0"/>
            <a:r>
              <a:rPr lang="fr-FR" sz="1600" dirty="0"/>
              <a:t>bon état PC, hall carrelé époque,</a:t>
            </a:r>
          </a:p>
          <a:p>
            <a:pPr rtl="0"/>
            <a:r>
              <a:rPr lang="fr-FR" sz="1600" dirty="0"/>
              <a:t>ferronnerie origine, pas ascenseur, cave SS.</a:t>
            </a:r>
          </a:p>
          <a:p>
            <a:pPr rtl="0"/>
            <a:r>
              <a:rPr lang="fr-FR" sz="1600" dirty="0"/>
              <a:t>Appt 3e étage sur rue.</a:t>
            </a:r>
          </a:p>
          <a:p>
            <a:pPr rtl="0"/>
            <a:r>
              <a:rPr lang="fr-FR" sz="1600" dirty="0"/>
              <a:t>Entrée 4m² parquet bon état.</a:t>
            </a:r>
          </a:p>
          <a:p>
            <a:pPr rtl="0"/>
            <a:r>
              <a:rPr lang="fr-FR" sz="1600" dirty="0"/>
              <a:t>Séjour 22m² parquet moulures</a:t>
            </a:r>
          </a:p>
          <a:p>
            <a:pPr rtl="0"/>
            <a:r>
              <a:rPr lang="fr-FR" sz="1600" dirty="0"/>
              <a:t>2 fenêtres rue DV récent.</a:t>
            </a:r>
          </a:p>
          <a:p>
            <a:pPr rtl="0"/>
            <a:r>
              <a:rPr lang="fr-FR" sz="1600" dirty="0"/>
              <a:t>Ch1 11m² parquet fenêtre rue DV.</a:t>
            </a:r>
          </a:p>
          <a:p>
            <a:pPr rtl="0"/>
            <a:r>
              <a:rPr lang="fr-FR" sz="1600" dirty="0"/>
              <a:t>Ch2 9m² parquet fenêtre cour SV origine.</a:t>
            </a:r>
          </a:p>
          <a:p>
            <a:pPr rtl="0"/>
            <a:r>
              <a:rPr lang="fr-FR" sz="1600" dirty="0"/>
              <a:t>Cuisine 5m² carrelage 70</a:t>
            </a:r>
          </a:p>
          <a:p>
            <a:pPr rtl="0"/>
            <a:r>
              <a:rPr lang="fr-FR" sz="1600" dirty="0"/>
              <a:t>équipements vétustes SV.</a:t>
            </a:r>
          </a:p>
          <a:p>
            <a:pPr rtl="0"/>
            <a:r>
              <a:rPr lang="fr-FR" sz="1600" dirty="0"/>
              <a:t>SDB 4m² baignoire fonte robinetterie HS</a:t>
            </a:r>
          </a:p>
          <a:p>
            <a:pPr rtl="0"/>
            <a:r>
              <a:rPr lang="fr-FR" sz="1600" dirty="0"/>
              <a:t>carrelage décollé pas VMC fenêtre obturée</a:t>
            </a:r>
          </a:p>
          <a:p>
            <a:pPr rtl="0"/>
            <a:r>
              <a:rPr lang="fr-FR" sz="1600" dirty="0"/>
              <a:t>remise en état complète nécessaire.</a:t>
            </a:r>
          </a:p>
          <a:p>
            <a:pPr rtl="0"/>
            <a:r>
              <a:rPr lang="fr-FR" sz="1600" dirty="0"/>
              <a:t>WC 2m² correct.</a:t>
            </a:r>
          </a:p>
          <a:p>
            <a:pPr rtl="0"/>
            <a:r>
              <a:rPr lang="fr-FR" sz="1600" dirty="0"/>
              <a:t>DPE E 265 kWh. Chaudière gaz </a:t>
            </a:r>
            <a:r>
              <a:rPr lang="fr-FR" sz="1600" dirty="0" err="1"/>
              <a:t>indiv</a:t>
            </a:r>
            <a:r>
              <a:rPr lang="fr-FR" sz="1600" dirty="0"/>
              <a:t> 2009.</a:t>
            </a:r>
          </a:p>
          <a:p>
            <a:pPr rtl="0"/>
            <a:endParaRPr lang="fr-FR" sz="1600" dirty="0"/>
          </a:p>
          <a:p>
            <a:pPr rtl="0"/>
            <a:endParaRPr lang="fr-FR" sz="1600" dirty="0"/>
          </a:p>
        </p:txBody>
      </p:sp>
    </p:spTree>
    <p:extLst>
      <p:ext uri="{BB962C8B-B14F-4D97-AF65-F5344CB8AC3E}">
        <p14:creationId xmlns:p14="http://schemas.microsoft.com/office/powerpoint/2010/main" val="91885597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38BB8-CA4C-A757-6710-70D9AC76C34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E09BA9-4112-4121-55BF-C21BE569D55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F42A3B-CCC1-2B8F-D362-ECB2743C9F33}"/>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233520415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B938A-4A8B-0121-0A18-BF2BEB2611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26DF81-EB07-F1A3-FCDD-11E463675C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70780C5-D806-CB14-48CB-782D2A202394}"/>
              </a:ext>
            </a:extLst>
          </p:cNvPr>
          <p:cNvSpPr>
            <a:spLocks noGrp="1"/>
          </p:cNvSpPr>
          <p:nvPr>
            <p:ph type="body" idx="1"/>
          </p:nvPr>
        </p:nvSpPr>
        <p:spPr/>
        <p:txBody>
          <a:bodyPr/>
          <a:lstStyle/>
          <a:p>
            <a:pPr rtl="0"/>
            <a:r>
              <a:rPr lang="fr-FR" sz="1600" b="1" dirty="0"/>
              <a:t>Bonne réponse : FAUX</a:t>
            </a:r>
          </a:p>
          <a:p>
            <a:pPr rtl="0"/>
            <a:endParaRPr lang="fr-FR" sz="1600" dirty="0"/>
          </a:p>
          <a:p>
            <a:pPr rtl="0"/>
            <a:r>
              <a:rPr lang="fr-FR" sz="1600" b="1" dirty="0"/>
              <a:t>Votre commentaire :</a:t>
            </a:r>
          </a:p>
          <a:p>
            <a:pPr rtl="0"/>
            <a:endParaRPr lang="fr-FR" sz="1600" b="1" dirty="0"/>
          </a:p>
          <a:p>
            <a:pPr rtl="0"/>
            <a:r>
              <a:rPr lang="fr-FR" sz="1600" dirty="0"/>
              <a:t> L'IA a écrit "nécessite une remise en état complète" — formulation forte, non atténuée, directement défendable. </a:t>
            </a:r>
          </a:p>
          <a:p>
            <a:pPr rtl="0"/>
            <a:endParaRPr lang="fr-FR" sz="1600" dirty="0"/>
          </a:p>
          <a:p>
            <a:pPr rtl="0"/>
            <a:r>
              <a:rPr lang="fr-FR" sz="1600" dirty="0"/>
              <a:t>C'est parce que le prompt lui demandait explicitement de "mentionner les points faibles". </a:t>
            </a:r>
          </a:p>
          <a:p>
            <a:pPr rtl="0"/>
            <a:endParaRPr lang="fr-FR" sz="1600" dirty="0"/>
          </a:p>
          <a:p>
            <a:pPr rtl="0"/>
            <a:r>
              <a:rPr lang="fr-FR" sz="1600" dirty="0"/>
              <a:t>Sans cette instruction, l'IA peut glisser vers "présente quelques signes de vétusté". </a:t>
            </a:r>
          </a:p>
          <a:p>
            <a:pPr rtl="0"/>
            <a:endParaRPr lang="fr-FR" sz="1600" dirty="0"/>
          </a:p>
          <a:p>
            <a:pPr rtl="0"/>
            <a:r>
              <a:rPr lang="fr-FR" sz="1600" dirty="0"/>
              <a:t>Un mot dans le prompt, une différence majeure dans le rapport.</a:t>
            </a:r>
          </a:p>
          <a:p>
            <a:pPr rtl="0"/>
            <a:endParaRPr lang="fr-FR" sz="1600" dirty="0"/>
          </a:p>
        </p:txBody>
      </p:sp>
    </p:spTree>
    <p:extLst>
      <p:ext uri="{BB962C8B-B14F-4D97-AF65-F5344CB8AC3E}">
        <p14:creationId xmlns:p14="http://schemas.microsoft.com/office/powerpoint/2010/main" val="1525813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BA66-7D99-EE14-AA9F-916C4E0FB58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9B1BFD-C27A-6C16-7BF3-75DF9CFDA4F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ADBE6B0-711E-C003-BB31-F091516FDC89}"/>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298798850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84F94-D4D6-5CB7-6440-886747C950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820C5B-1265-CB83-348B-79F1176B1A3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8D06290-B392-73CF-5ABB-639DD1B59FBA}"/>
              </a:ext>
            </a:extLst>
          </p:cNvPr>
          <p:cNvSpPr>
            <a:spLocks noGrp="1"/>
          </p:cNvSpPr>
          <p:nvPr>
            <p:ph type="body" idx="1"/>
          </p:nvPr>
        </p:nvSpPr>
        <p:spPr/>
        <p:txBody>
          <a:bodyPr/>
          <a:lstStyle/>
          <a:p>
            <a:pPr rtl="0"/>
            <a:r>
              <a:rPr lang="fr-FR" sz="1600" b="1" dirty="0"/>
              <a:t>Bonne réponse : C</a:t>
            </a:r>
          </a:p>
          <a:p>
            <a:pPr rtl="0"/>
            <a:endParaRPr lang="fr-FR" sz="1600" dirty="0"/>
          </a:p>
          <a:p>
            <a:pPr rtl="0"/>
            <a:r>
              <a:rPr lang="fr-FR" sz="1600" b="1" dirty="0"/>
              <a:t>Votre commentaire :</a:t>
            </a:r>
            <a:r>
              <a:rPr lang="fr-FR" sz="1600" dirty="0"/>
              <a:t> Deux ancrages dans la visite — "j'ai constaté" en §1, "j'ai relevé" en §2. </a:t>
            </a:r>
          </a:p>
          <a:p>
            <a:pPr rtl="0"/>
            <a:endParaRPr lang="fr-FR" sz="1600" dirty="0"/>
          </a:p>
          <a:p>
            <a:pPr rtl="0"/>
            <a:r>
              <a:rPr lang="fr-FR" sz="1600" dirty="0"/>
              <a:t>Ce sont les marqueurs qui rendent chaque constat opposable. </a:t>
            </a:r>
          </a:p>
          <a:p>
            <a:pPr rtl="0"/>
            <a:endParaRPr lang="fr-FR" sz="1600" dirty="0"/>
          </a:p>
          <a:p>
            <a:pPr rtl="0"/>
            <a:r>
              <a:rPr lang="fr-FR" sz="1600" dirty="0"/>
              <a:t>L'IA les a produits parce que le prompt d'initialisation </a:t>
            </a:r>
            <a:r>
              <a:rPr lang="fr-FR" sz="1600" b="1" dirty="0"/>
              <a:t>lui demandait la première personne pour les constats. </a:t>
            </a:r>
          </a:p>
          <a:p>
            <a:pPr rtl="0"/>
            <a:endParaRPr lang="fr-FR" sz="1600" dirty="0"/>
          </a:p>
          <a:p>
            <a:pPr rtl="0"/>
            <a:r>
              <a:rPr lang="fr-FR" sz="1600" dirty="0"/>
              <a:t>C'est la </a:t>
            </a:r>
            <a:r>
              <a:rPr lang="fr-FR" sz="1600" b="1" dirty="0"/>
              <a:t>prompt d’initialisation </a:t>
            </a:r>
            <a:r>
              <a:rPr lang="fr-FR" sz="1600" dirty="0"/>
              <a:t>posée en début de session qui travaille pour vous ici.</a:t>
            </a:r>
          </a:p>
          <a:p>
            <a:pPr rtl="0"/>
            <a:endParaRPr lang="fr-FR" sz="1600" dirty="0"/>
          </a:p>
        </p:txBody>
      </p:sp>
    </p:spTree>
    <p:extLst>
      <p:ext uri="{BB962C8B-B14F-4D97-AF65-F5344CB8AC3E}">
        <p14:creationId xmlns:p14="http://schemas.microsoft.com/office/powerpoint/2010/main" val="420841072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D0629-859D-FDE2-BA28-21039590AD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9381A6-9542-F8F4-DDB5-EB519FE5B68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561EBC1-A31D-E038-E9A3-9AE8DEA40A1A}"/>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309400724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7973B-65F1-DB37-9F0D-16DA9EFE22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5BC20B-73AB-F930-A069-E97EF0E2A5C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D95C1D2-2191-8C72-B0A1-5127596E35D0}"/>
              </a:ext>
            </a:extLst>
          </p:cNvPr>
          <p:cNvSpPr>
            <a:spLocks noGrp="1"/>
          </p:cNvSpPr>
          <p:nvPr>
            <p:ph type="body" idx="1"/>
          </p:nvPr>
        </p:nvSpPr>
        <p:spPr/>
        <p:txBody>
          <a:bodyPr/>
          <a:lstStyle/>
          <a:p>
            <a:pPr rtl="0"/>
            <a:r>
              <a:rPr lang="fr-FR" sz="1600" b="1" dirty="0"/>
              <a:t>Bonne réponse : B</a:t>
            </a:r>
          </a:p>
          <a:p>
            <a:pPr rtl="0"/>
            <a:endParaRPr lang="fr-FR" sz="1600" dirty="0"/>
          </a:p>
          <a:p>
            <a:pPr rtl="0"/>
            <a:r>
              <a:rPr lang="fr-FR" sz="1600" b="1" dirty="0"/>
              <a:t>Votre commentaire oral :</a:t>
            </a:r>
            <a:r>
              <a:rPr lang="fr-FR" sz="1600" dirty="0"/>
              <a:t> C'est la règle absolue de toute la formation. </a:t>
            </a:r>
          </a:p>
          <a:p>
            <a:pPr rtl="0"/>
            <a:endParaRPr lang="fr-FR" sz="1600" dirty="0"/>
          </a:p>
          <a:p>
            <a:pPr rtl="0"/>
            <a:r>
              <a:rPr lang="fr-FR" sz="1600" dirty="0"/>
              <a:t>L'IA ne connaît pas les prix actuels de votre marché local — ses données ont 18 à 24 mois de retard. </a:t>
            </a:r>
          </a:p>
          <a:p>
            <a:pPr rtl="0"/>
            <a:endParaRPr lang="fr-FR" sz="1600" dirty="0"/>
          </a:p>
          <a:p>
            <a:pPr rtl="0"/>
            <a:r>
              <a:rPr lang="fr-FR" sz="1600" dirty="0"/>
              <a:t>Si vous lui demandez les prix sans lui fournir de tableau, elle vous donnera des chiffres périmés avec une confiance trompeuse. </a:t>
            </a:r>
          </a:p>
          <a:p>
            <a:pPr rtl="0"/>
            <a:endParaRPr lang="fr-FR" sz="1600" dirty="0"/>
          </a:p>
          <a:p>
            <a:pPr rtl="0"/>
            <a:r>
              <a:rPr lang="fr-FR" sz="1600" dirty="0"/>
              <a:t>Les données viennent toujours de vous. L'IA les analyse et les rédige.</a:t>
            </a:r>
          </a:p>
          <a:p>
            <a:pPr rtl="0"/>
            <a:endParaRPr lang="fr-FR" sz="1600" dirty="0"/>
          </a:p>
          <a:p>
            <a:pPr rtl="0"/>
            <a:r>
              <a:rPr lang="fr-FR" sz="1600" b="1" dirty="0"/>
              <a:t>Ce que vous collez dans Claude en liv</a:t>
            </a:r>
          </a:p>
          <a:p>
            <a:pPr rtl="0"/>
            <a:r>
              <a:rPr lang="fr-FR" sz="1600" dirty="0"/>
              <a:t>[Contexte en mémoire : T3 68 m²</a:t>
            </a:r>
          </a:p>
          <a:p>
            <a:pPr rtl="0"/>
            <a:r>
              <a:rPr lang="fr-FR" sz="1600" dirty="0"/>
              <a:t>rue Keller Paris 11e, succession]</a:t>
            </a:r>
          </a:p>
          <a:p>
            <a:pPr rtl="0"/>
            <a:endParaRPr lang="fr-FR" sz="1600" dirty="0"/>
          </a:p>
          <a:p>
            <a:pPr rtl="0"/>
            <a:r>
              <a:rPr lang="fr-FR" sz="1600" dirty="0"/>
              <a:t>Voici mon tableau de comparables</a:t>
            </a:r>
          </a:p>
          <a:p>
            <a:pPr rtl="0"/>
            <a:r>
              <a:rPr lang="fr-FR" sz="1600" dirty="0"/>
              <a:t>DVF Paris 11e, T2-T3, </a:t>
            </a:r>
            <a:r>
              <a:rPr lang="fr-FR" sz="1600" dirty="0" err="1"/>
              <a:t>janv</a:t>
            </a:r>
            <a:r>
              <a:rPr lang="fr-FR" sz="1600" dirty="0"/>
              <a:t>–août 2024 :</a:t>
            </a:r>
          </a:p>
          <a:p>
            <a:pPr rtl="0"/>
            <a:endParaRPr lang="fr-FR" sz="1600" dirty="0"/>
          </a:p>
          <a:p>
            <a:pPr rtl="0"/>
            <a:r>
              <a:rPr lang="fr-FR" sz="1600" dirty="0"/>
              <a:t>C-01 | Rue Roquette | 64m² | 9 100€/m² | </a:t>
            </a:r>
            <a:r>
              <a:rPr lang="fr-FR" sz="1600" dirty="0" err="1"/>
              <a:t>Fév</a:t>
            </a:r>
            <a:r>
              <a:rPr lang="fr-FR" sz="1600" dirty="0"/>
              <a:t> 24 | Courant</a:t>
            </a:r>
          </a:p>
          <a:p>
            <a:pPr rtl="0"/>
            <a:r>
              <a:rPr lang="fr-FR" sz="1600" dirty="0"/>
              <a:t>C-02 | Av Ledru-Rollin | 71m² | 9 614€/m² | Mar 24 | Rénové</a:t>
            </a:r>
          </a:p>
          <a:p>
            <a:pPr rtl="0"/>
            <a:r>
              <a:rPr lang="fr-FR" sz="1600" dirty="0"/>
              <a:t>C-03 | Rue Folie Méricourt | 58m² | 8 849€/m² | Jan 24 | Courant</a:t>
            </a:r>
          </a:p>
          <a:p>
            <a:pPr rtl="0"/>
            <a:r>
              <a:rPr lang="fr-FR" sz="1600" dirty="0"/>
              <a:t>C-04 | Rue Oberkampf | 75m² | 9 500€/m² | </a:t>
            </a:r>
            <a:r>
              <a:rPr lang="fr-FR" sz="1600" dirty="0" err="1"/>
              <a:t>Avr</a:t>
            </a:r>
            <a:r>
              <a:rPr lang="fr-FR" sz="1600" dirty="0"/>
              <a:t> 24 | Rénové</a:t>
            </a:r>
          </a:p>
          <a:p>
            <a:pPr rtl="0"/>
            <a:r>
              <a:rPr lang="fr-FR" sz="1600" dirty="0"/>
              <a:t>C-05 | Rue Saint-Maur | 62m² | 8 780€/m² | Jan 24 | Vétuste</a:t>
            </a:r>
          </a:p>
          <a:p>
            <a:pPr rtl="0"/>
            <a:r>
              <a:rPr lang="fr-FR" sz="1600" dirty="0"/>
              <a:t>C-06 | Rue Charonne | 69m² | 9 300€/m² | Mai 24 | Courant</a:t>
            </a:r>
          </a:p>
          <a:p>
            <a:pPr rtl="0"/>
            <a:r>
              <a:rPr lang="fr-FR" sz="1600" dirty="0"/>
              <a:t>C-07 | Bd Voltaire | 80m² | 9 550€/m² | Jun 24 | Rénové</a:t>
            </a:r>
          </a:p>
          <a:p>
            <a:pPr rtl="0"/>
            <a:r>
              <a:rPr lang="fr-FR" sz="1600" dirty="0"/>
              <a:t>C-08 | Rue Keller | 55m² | 8 720€/m² | </a:t>
            </a:r>
            <a:r>
              <a:rPr lang="fr-FR" sz="1600" dirty="0" err="1"/>
              <a:t>Fév</a:t>
            </a:r>
            <a:r>
              <a:rPr lang="fr-FR" sz="1600" dirty="0"/>
              <a:t> 24 | Vétuste</a:t>
            </a:r>
          </a:p>
          <a:p>
            <a:pPr rtl="0"/>
            <a:r>
              <a:rPr lang="fr-FR" sz="1600" dirty="0"/>
              <a:t>C-09 | Rue Croix </a:t>
            </a:r>
            <a:r>
              <a:rPr lang="fr-FR" sz="1600" dirty="0" err="1"/>
              <a:t>Faubin</a:t>
            </a:r>
            <a:r>
              <a:rPr lang="fr-FR" sz="1600" dirty="0"/>
              <a:t> | 67m² | 9 250€/m² | Jul 24 | Courant</a:t>
            </a:r>
          </a:p>
          <a:p>
            <a:pPr rtl="0"/>
            <a:r>
              <a:rPr lang="fr-FR" sz="1600" dirty="0"/>
              <a:t>C-10 | Rue Sedaine | 73m² | 9 517€/m² | </a:t>
            </a:r>
            <a:r>
              <a:rPr lang="fr-FR" sz="1600" dirty="0" err="1"/>
              <a:t>Aoû</a:t>
            </a:r>
            <a:r>
              <a:rPr lang="fr-FR" sz="1600" dirty="0"/>
              <a:t> 24 | Courant</a:t>
            </a:r>
          </a:p>
          <a:p>
            <a:pPr rtl="0"/>
            <a:endParaRPr lang="fr-FR" sz="1600" dirty="0"/>
          </a:p>
          <a:p>
            <a:pPr rtl="0"/>
            <a:r>
              <a:rPr lang="fr-FR" sz="1600" dirty="0"/>
              <a:t>ÉTAPE 1 : calcule fourchette, moyenne</a:t>
            </a:r>
          </a:p>
          <a:p>
            <a:pPr rtl="0"/>
            <a:r>
              <a:rPr lang="fr-FR" sz="1600" dirty="0"/>
              <a:t>et médiane. Détaille les calculs.</a:t>
            </a:r>
          </a:p>
          <a:p>
            <a:pPr rtl="0"/>
            <a:r>
              <a:rPr lang="fr-FR" sz="1600" dirty="0"/>
              <a:t>ÉTAPE 2 : rédige le paragraphe</a:t>
            </a:r>
          </a:p>
          <a:p>
            <a:pPr rtl="0"/>
            <a:r>
              <a:rPr lang="fr-FR" sz="1600" dirty="0"/>
              <a:t>"Analyse de marché", 200 à 230 mots,</a:t>
            </a:r>
          </a:p>
          <a:p>
            <a:pPr rtl="0"/>
            <a:r>
              <a:rPr lang="fr-FR" sz="1600" dirty="0"/>
              <a:t>ton professionnel non judiciaire.</a:t>
            </a:r>
          </a:p>
          <a:p>
            <a:pPr rtl="0"/>
            <a:endParaRPr lang="fr-FR" sz="1600" dirty="0"/>
          </a:p>
          <a:p>
            <a:pPr rtl="0"/>
            <a:endParaRPr lang="fr-FR" sz="1600" dirty="0"/>
          </a:p>
          <a:p>
            <a:pPr rtl="0"/>
            <a:r>
              <a:rPr lang="fr-FR" sz="1600" b="1" dirty="0"/>
              <a:t>Ce que Claude produit — à projeter en direct</a:t>
            </a:r>
          </a:p>
          <a:p>
            <a:pPr rtl="0"/>
            <a:endParaRPr lang="fr-FR" sz="1600" b="1" dirty="0"/>
          </a:p>
          <a:p>
            <a:pPr rtl="0"/>
            <a:r>
              <a:rPr lang="fr-FR" sz="1600" b="1" dirty="0"/>
              <a:t>CALCULS :</a:t>
            </a:r>
            <a:br>
              <a:rPr lang="fr-FR" sz="1600" dirty="0"/>
            </a:br>
            <a:r>
              <a:rPr lang="fr-FR" sz="1600" dirty="0"/>
              <a:t>Fourchette : 8 720 € à 9 614 €/m²</a:t>
            </a:r>
            <a:br>
              <a:rPr lang="fr-FR" sz="1600" dirty="0"/>
            </a:br>
            <a:r>
              <a:rPr lang="fr-FR" sz="1600" dirty="0"/>
              <a:t>Moyenne : 91 800 ÷ 10 = 9 180 €/m²</a:t>
            </a:r>
            <a:br>
              <a:rPr lang="fr-FR" sz="1600" dirty="0"/>
            </a:br>
            <a:r>
              <a:rPr lang="fr-FR" sz="1600" dirty="0"/>
              <a:t>Médiane : (9 250 + 9 300) ÷ 2 = 9 275 €/m²</a:t>
            </a:r>
            <a:br>
              <a:rPr lang="fr-FR" sz="1600" dirty="0"/>
            </a:br>
            <a:r>
              <a:rPr lang="fr-FR" sz="1600" dirty="0"/>
              <a:t>Vétuste : </a:t>
            </a:r>
            <a:r>
              <a:rPr lang="fr-FR" sz="1600" dirty="0" err="1"/>
              <a:t>moy</a:t>
            </a:r>
            <a:r>
              <a:rPr lang="fr-FR" sz="1600" dirty="0"/>
              <a:t>. 8 750 €/m²</a:t>
            </a:r>
            <a:br>
              <a:rPr lang="fr-FR" sz="1600" dirty="0"/>
            </a:br>
            <a:r>
              <a:rPr lang="fr-FR" sz="1600" dirty="0"/>
              <a:t>Courant : </a:t>
            </a:r>
            <a:r>
              <a:rPr lang="fr-FR" sz="1600" dirty="0" err="1"/>
              <a:t>moy</a:t>
            </a:r>
            <a:r>
              <a:rPr lang="fr-FR" sz="1600" dirty="0"/>
              <a:t>. 9 203 €/m²</a:t>
            </a:r>
            <a:br>
              <a:rPr lang="fr-FR" sz="1600" dirty="0"/>
            </a:br>
            <a:r>
              <a:rPr lang="fr-FR" sz="1600" dirty="0"/>
              <a:t>Rénové : </a:t>
            </a:r>
            <a:r>
              <a:rPr lang="fr-FR" sz="1600" dirty="0" err="1"/>
              <a:t>moy</a:t>
            </a:r>
            <a:r>
              <a:rPr lang="fr-FR" sz="1600" dirty="0"/>
              <a:t>. 9 555 €/m²</a:t>
            </a:r>
          </a:p>
          <a:p>
            <a:pPr rtl="0"/>
            <a:endParaRPr lang="fr-FR" sz="1600" dirty="0"/>
          </a:p>
          <a:p>
            <a:pPr rtl="0"/>
            <a:endParaRPr lang="fr-FR" sz="1600" dirty="0"/>
          </a:p>
          <a:p>
            <a:pPr rtl="0"/>
            <a:r>
              <a:rPr lang="fr-FR" sz="1600" b="1" dirty="0"/>
              <a:t>Analyse de marché et références de comparaison</a:t>
            </a:r>
            <a:endParaRPr lang="fr-FR" sz="1600" dirty="0"/>
          </a:p>
          <a:p>
            <a:pPr rtl="0"/>
            <a:r>
              <a:rPr lang="fr-FR" sz="1600" dirty="0"/>
              <a:t>L'analyse de marché a été conduite sur un échantillon de dix transactions portant sur des appartements de type T2 à T3 situés dans le 11e arrondissement de Paris, réalisées entre janvier et août 2024. Les données ont été collectées à partir des fichiers DVF et de la base notariale PERVAL, sur un périmètre limité au secteur Bastille–Ledru-Rollin.</a:t>
            </a:r>
          </a:p>
          <a:p>
            <a:pPr rtl="0"/>
            <a:r>
              <a:rPr lang="fr-FR" sz="1600" dirty="0"/>
              <a:t>Les dix ventes retenues font ressortir une fourchette de 8 720 à 9 614 €/m², avec une moyenne de 9 180 €/m² et une médiane de 9 275 €/m². L'analyse par état révèle une segmentation nette : les biens vétustes se positionnent autour de 8 750 €/m², les biens courants à 9 203 €/m² en moyenne, et les biens rénovés à 9 555 €/m², soit un écart d'environ 9% entre courant et rénové.</a:t>
            </a:r>
          </a:p>
          <a:p>
            <a:pPr rtl="0"/>
            <a:r>
              <a:rPr lang="fr-FR" sz="1600" dirty="0"/>
              <a:t>L'appartement expertisé, T3 de 68 m² en état courant avec une salle de bains vétuste et un double vitrage partiel, se positionne dans la partie basse de la fourchette des biens courants. Ces éléments sont pris en compte dans les ajustements de la section suivante.</a:t>
            </a:r>
          </a:p>
          <a:p>
            <a:pPr rtl="0"/>
            <a:endParaRPr lang="fr-FR" sz="1600" dirty="0"/>
          </a:p>
          <a:p>
            <a:pPr rtl="0"/>
            <a:endParaRPr lang="fr-FR" sz="1600" dirty="0"/>
          </a:p>
        </p:txBody>
      </p:sp>
    </p:spTree>
    <p:extLst>
      <p:ext uri="{BB962C8B-B14F-4D97-AF65-F5344CB8AC3E}">
        <p14:creationId xmlns:p14="http://schemas.microsoft.com/office/powerpoint/2010/main" val="64292485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2BD48-2D37-2A38-5754-183931AAF5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5DAA07-876E-1D6B-A5C3-4D871E677D3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D2B28C-4E96-9193-2143-0FA49C136221}"/>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199172401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3444-F642-9563-6F1A-3BAC10BD6F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EEBF04-A948-9686-0E64-6FBEDF03D17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B534EB-06CF-1DA2-65DA-D25512BDCB52}"/>
              </a:ext>
            </a:extLst>
          </p:cNvPr>
          <p:cNvSpPr>
            <a:spLocks noGrp="1"/>
          </p:cNvSpPr>
          <p:nvPr>
            <p:ph type="body" idx="1"/>
          </p:nvPr>
        </p:nvSpPr>
        <p:spPr/>
        <p:txBody>
          <a:bodyPr/>
          <a:lstStyle/>
          <a:p>
            <a:pPr rtl="0"/>
            <a:r>
              <a:rPr lang="fr-FR" sz="1600" b="1" dirty="0"/>
              <a:t>Bonne réponse : B</a:t>
            </a:r>
          </a:p>
          <a:p>
            <a:pPr rtl="0"/>
            <a:endParaRPr lang="fr-FR" sz="1600" dirty="0"/>
          </a:p>
          <a:p>
            <a:pPr rtl="0"/>
            <a:r>
              <a:rPr lang="fr-FR" sz="1600" b="1" dirty="0"/>
              <a:t>Votre commentaire :</a:t>
            </a:r>
            <a:r>
              <a:rPr lang="fr-FR" sz="1600" dirty="0"/>
              <a:t> C'est une instruction délibérée dans le prompt — "détaille les calculs". Elle force l'IA à montrer son raisonnement. Vous vérifiez la médiane, la moyenne, les segmentations par état avant qu'un seul chiffre n'entre dans le rapport. Un chiffre faux dans l'analyse de marché d'une déclaration de succession peut avoir des conséquences fiscales directes.</a:t>
            </a:r>
          </a:p>
          <a:p>
            <a:pPr rtl="0"/>
            <a:endParaRPr lang="fr-FR" sz="1600" dirty="0"/>
          </a:p>
        </p:txBody>
      </p:sp>
    </p:spTree>
    <p:extLst>
      <p:ext uri="{BB962C8B-B14F-4D97-AF65-F5344CB8AC3E}">
        <p14:creationId xmlns:p14="http://schemas.microsoft.com/office/powerpoint/2010/main" val="43450497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AC46-4310-B12C-E240-7C8777DFFB1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B07157-33D1-7540-6BBC-067EA9CE3E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C10EC8-C605-DD40-C452-7A0DB8B9BE8A}"/>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419764936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E498-DE00-7BEF-AD03-04E7AC58B1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487BF4E-485E-069E-CEF6-8FD1097B007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D67BB4-7162-D1C3-F571-B96F92BCF250}"/>
              </a:ext>
            </a:extLst>
          </p:cNvPr>
          <p:cNvSpPr>
            <a:spLocks noGrp="1"/>
          </p:cNvSpPr>
          <p:nvPr>
            <p:ph type="body" idx="1"/>
          </p:nvPr>
        </p:nvSpPr>
        <p:spPr/>
        <p:txBody>
          <a:bodyPr/>
          <a:lstStyle/>
          <a:p>
            <a:pPr rtl="0"/>
            <a:r>
              <a:rPr lang="fr-FR" sz="1600" b="1" dirty="0"/>
              <a:t>Votre commentaire oral :</a:t>
            </a:r>
            <a:r>
              <a:rPr lang="fr-FR" sz="1600" dirty="0"/>
              <a:t> C'est la frontière la plus importante de toute la formation. L'IA calcule les moyennes, rédige les ajustements, met en forme le calcul — mais le prix unitaire est arrêté par vous, avant de lancer le prompt. C'est une décision d'expertise ancrée dans votre connaissance du marché local. Elle ne se délègue pas.</a:t>
            </a:r>
          </a:p>
          <a:p>
            <a:pPr rtl="0"/>
            <a:endParaRPr lang="fr-FR"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t>Ce que vous collez dans Claude en live</a:t>
            </a:r>
          </a:p>
          <a:p>
            <a:pPr rtl="0"/>
            <a:endParaRPr lang="fr-FR" sz="1600" dirty="0"/>
          </a:p>
          <a:p>
            <a:pPr rtl="0"/>
            <a:endParaRPr lang="fr-FR" sz="1600" dirty="0"/>
          </a:p>
          <a:p>
            <a:pPr rtl="0"/>
            <a:r>
              <a:rPr lang="fr-FR" sz="1600" dirty="0"/>
              <a:t>[Contexte en mémoire : T3 68 m²</a:t>
            </a:r>
          </a:p>
          <a:p>
            <a:pPr rtl="0"/>
            <a:r>
              <a:rPr lang="fr-FR" sz="1600" dirty="0"/>
              <a:t>rue Keller Paris 11e, succession]</a:t>
            </a:r>
          </a:p>
          <a:p>
            <a:pPr rtl="0"/>
            <a:endParaRPr lang="fr-FR" sz="1600" dirty="0"/>
          </a:p>
          <a:p>
            <a:pPr rtl="0"/>
            <a:r>
              <a:rPr lang="fr-FR" sz="1600" dirty="0"/>
              <a:t>Rédige la section "Approche</a:t>
            </a:r>
          </a:p>
          <a:p>
            <a:pPr rtl="0"/>
            <a:r>
              <a:rPr lang="fr-FR" sz="1600" dirty="0"/>
              <a:t>méthodologique et valorisation"</a:t>
            </a:r>
          </a:p>
          <a:p>
            <a:pPr rtl="0"/>
            <a:r>
              <a:rPr lang="fr-FR" sz="1600" dirty="0"/>
              <a:t>puis l'avis de valeur.</a:t>
            </a:r>
          </a:p>
          <a:p>
            <a:pPr rtl="0"/>
            <a:r>
              <a:rPr lang="fr-FR" sz="1600" dirty="0"/>
              <a:t>Prose directe, 200 mots + 70 mots.</a:t>
            </a:r>
          </a:p>
          <a:p>
            <a:pPr rtl="0"/>
            <a:r>
              <a:rPr lang="fr-FR" sz="1600" dirty="0"/>
              <a:t>Ton professionnel non judiciaire.</a:t>
            </a:r>
          </a:p>
          <a:p>
            <a:pPr rtl="0"/>
            <a:r>
              <a:rPr lang="fr-FR" sz="1600" dirty="0"/>
              <a:t>Pas de formule de certification.</a:t>
            </a:r>
          </a:p>
          <a:p>
            <a:pPr rtl="0"/>
            <a:endParaRPr lang="fr-FR" sz="1600" dirty="0"/>
          </a:p>
          <a:p>
            <a:pPr rtl="0"/>
            <a:r>
              <a:rPr lang="fr-FR" sz="1600" dirty="0"/>
              <a:t>MARCHÉ :</a:t>
            </a:r>
          </a:p>
          <a:p>
            <a:pPr rtl="0"/>
            <a:r>
              <a:rPr lang="fr-FR" sz="1600" dirty="0"/>
              <a:t>Fourchette 8 720–9 614 €/m²</a:t>
            </a:r>
          </a:p>
          <a:p>
            <a:pPr rtl="0"/>
            <a:r>
              <a:rPr lang="fr-FR" sz="1600" dirty="0"/>
              <a:t>Médiane 9 275 €/m²</a:t>
            </a:r>
          </a:p>
          <a:p>
            <a:pPr rtl="0"/>
            <a:endParaRPr lang="fr-FR" sz="1600" dirty="0"/>
          </a:p>
          <a:p>
            <a:pPr rtl="0"/>
            <a:r>
              <a:rPr lang="fr-FR" sz="1600" dirty="0"/>
              <a:t>MÉTHODES ÉCARTÉES :</a:t>
            </a:r>
          </a:p>
          <a:p>
            <a:pPr rtl="0"/>
            <a:r>
              <a:rPr lang="fr-FR" sz="1600" dirty="0"/>
              <a:t>Capitalisation : bien non locatif</a:t>
            </a:r>
          </a:p>
          <a:p>
            <a:pPr rtl="0"/>
            <a:r>
              <a:rPr lang="fr-FR" sz="1600" dirty="0"/>
              <a:t>Coût remplacement : marché disponible</a:t>
            </a:r>
          </a:p>
          <a:p>
            <a:pPr rtl="0"/>
            <a:endParaRPr lang="fr-FR" sz="1600" dirty="0"/>
          </a:p>
          <a:p>
            <a:pPr rtl="0"/>
            <a:r>
              <a:rPr lang="fr-FR" sz="1600" dirty="0"/>
              <a:t>AJUSTEMENTS :</a:t>
            </a:r>
          </a:p>
          <a:p>
            <a:pPr rtl="0"/>
            <a:r>
              <a:rPr lang="fr-FR" sz="1600" dirty="0"/>
              <a:t>– 3% : 3e étage sans ascenseur</a:t>
            </a:r>
          </a:p>
          <a:p>
            <a:pPr rtl="0"/>
            <a:r>
              <a:rPr lang="fr-FR" sz="1600" dirty="0"/>
              <a:t>– 4% : SDB vétuste — remise en état</a:t>
            </a:r>
          </a:p>
          <a:p>
            <a:pPr rtl="0"/>
            <a:r>
              <a:rPr lang="fr-FR" sz="1600" dirty="0"/>
              <a:t>– 2% : double vitrage partiel</a:t>
            </a:r>
          </a:p>
          <a:p>
            <a:pPr rtl="0"/>
            <a:r>
              <a:rPr lang="fr-FR" sz="1600" dirty="0"/>
              <a:t>+ 1% : parquet ancien bon état</a:t>
            </a:r>
          </a:p>
          <a:p>
            <a:pPr rtl="0"/>
            <a:endParaRPr lang="fr-FR" sz="1600" dirty="0"/>
          </a:p>
          <a:p>
            <a:pPr rtl="0"/>
            <a:r>
              <a:rPr lang="fr-FR" sz="1600" dirty="0"/>
              <a:t>PRIX RETENU : 8 820 €/m²</a:t>
            </a:r>
          </a:p>
          <a:p>
            <a:pPr rtl="0"/>
            <a:r>
              <a:rPr lang="fr-FR" sz="1600" dirty="0"/>
              <a:t>SURFACE : 68 m²</a:t>
            </a:r>
          </a:p>
          <a:p>
            <a:pPr rtl="0"/>
            <a:r>
              <a:rPr lang="fr-FR" sz="1600" dirty="0"/>
              <a:t>ARRONDI : 5 000 € (Vous arrondissez au palier de </a:t>
            </a:r>
            <a:r>
              <a:rPr lang="fr-FR" sz="1600" b="1" dirty="0"/>
              <a:t>5 000 €</a:t>
            </a:r>
            <a:r>
              <a:rPr lang="fr-FR" sz="1600" dirty="0"/>
              <a:t> le plus proche.)</a:t>
            </a:r>
          </a:p>
          <a:p>
            <a:pPr rtl="0"/>
            <a:br>
              <a:rPr lang="fr-FR" sz="1600" dirty="0"/>
            </a:br>
            <a:r>
              <a:rPr lang="fr-FR" sz="1600" dirty="0"/>
              <a:t>(justification du </a:t>
            </a:r>
            <a:r>
              <a:rPr lang="fr-FR" sz="1600" b="1" dirty="0"/>
              <a:t>calcul concret)</a:t>
            </a:r>
          </a:p>
          <a:p>
            <a:pPr rtl="0"/>
            <a:r>
              <a:rPr lang="fr-FR" sz="1600" dirty="0"/>
              <a:t>Le prix unitaire retenu est </a:t>
            </a:r>
            <a:r>
              <a:rPr lang="fr-FR" sz="1600" b="1" dirty="0"/>
              <a:t>8 820 €/m²</a:t>
            </a:r>
            <a:r>
              <a:rPr lang="fr-FR" sz="1600" dirty="0"/>
              <a:t>.</a:t>
            </a:r>
            <a:br>
              <a:rPr lang="fr-FR" sz="1600" dirty="0"/>
            </a:br>
            <a:r>
              <a:rPr lang="fr-FR" sz="1600" dirty="0"/>
              <a:t>La surface est </a:t>
            </a:r>
            <a:r>
              <a:rPr lang="fr-FR" sz="1600" b="1" dirty="0"/>
              <a:t>68 m²</a:t>
            </a:r>
            <a:r>
              <a:rPr lang="fr-FR" sz="1600" dirty="0"/>
              <a:t>.</a:t>
            </a:r>
          </a:p>
          <a:p>
            <a:pPr rtl="0"/>
            <a:r>
              <a:rPr lang="fr-FR" sz="1600" dirty="0"/>
              <a:t>8 820 × 68 = </a:t>
            </a:r>
            <a:r>
              <a:rPr lang="fr-FR" sz="1600" b="1" dirty="0"/>
              <a:t>599 760 €</a:t>
            </a:r>
            <a:r>
              <a:rPr lang="fr-FR" sz="1600" dirty="0"/>
              <a:t> — c'est la valeur brute avant arrondi.</a:t>
            </a:r>
          </a:p>
          <a:p>
            <a:pPr rtl="0"/>
            <a:r>
              <a:rPr lang="fr-FR" sz="1600" dirty="0"/>
              <a:t>Vous arrondissez au palier de </a:t>
            </a:r>
            <a:r>
              <a:rPr lang="fr-FR" sz="1600" b="1" dirty="0"/>
              <a:t>5 000 €</a:t>
            </a:r>
            <a:r>
              <a:rPr lang="fr-FR" sz="1600" dirty="0"/>
              <a:t> le plus proche.</a:t>
            </a:r>
          </a:p>
          <a:p>
            <a:pPr rtl="0"/>
            <a:r>
              <a:rPr lang="fr-FR" sz="1600" dirty="0"/>
              <a:t>599 760 € → arrondi à </a:t>
            </a:r>
            <a:r>
              <a:rPr lang="fr-FR" sz="1600" b="1" dirty="0"/>
              <a:t>600 000 €</a:t>
            </a:r>
          </a:p>
          <a:p>
            <a:pPr rtl="0"/>
            <a:endParaRPr lang="fr-FR" sz="1600" b="1" dirty="0"/>
          </a:p>
          <a:p>
            <a:pPr rtl="0"/>
            <a:r>
              <a:rPr lang="fr-FR" sz="1600" dirty="0"/>
              <a:t>Quand vous écrivez "arrondi : 5 000 €" dans le prompt, vous dites à l'IA : </a:t>
            </a:r>
            <a:r>
              <a:rPr lang="fr-FR" sz="1600" i="1" dirty="0"/>
              <a:t>arrondis la valeur finale au multiple de 5 000 € le plus proche</a:t>
            </a:r>
            <a:r>
              <a:rPr lang="fr-FR" sz="1600" dirty="0"/>
              <a:t>. Elle fait le calcul et conclut à 600 000 €.</a:t>
            </a:r>
          </a:p>
          <a:p>
            <a:pPr rtl="0"/>
            <a:endParaRPr lang="fr-FR" sz="1600" dirty="0"/>
          </a:p>
          <a:p>
            <a:pPr rtl="0"/>
            <a:endParaRPr lang="fr-FR" sz="1600" dirty="0"/>
          </a:p>
          <a:p>
            <a:pPr rtl="0"/>
            <a:endParaRPr lang="fr-FR" sz="1600" dirty="0"/>
          </a:p>
          <a:p>
            <a:pPr rtl="0"/>
            <a:r>
              <a:rPr lang="fr-FR" sz="1600" b="1" dirty="0"/>
              <a:t>Ce que Claude produit — à projeter en direct</a:t>
            </a:r>
          </a:p>
          <a:p>
            <a:pPr rtl="0"/>
            <a:r>
              <a:rPr lang="fr-FR" sz="1600" b="1" dirty="0"/>
              <a:t>Approche méthodologique et valorisation</a:t>
            </a:r>
            <a:endParaRPr lang="fr-FR" sz="1600" dirty="0"/>
          </a:p>
          <a:p>
            <a:pPr rtl="0"/>
            <a:r>
              <a:rPr lang="fr-FR" sz="1600" dirty="0"/>
              <a:t>La méthode retenue est celle de la comparaison directe par le marché, consistant à rapprocher le bien expertisé de transactions récentes portant sur des biens comparables. Cette méthode est la plus adaptée aux biens résidentiels courants disposant d'un marché actif, ce qui est le cas du 11e arrondissement de Paris. La capitalisation du revenu a été écartée, le bien n'étant pas destiné à la location. Le coût de remplacement n'est pas adapté à un immeuble ancien disposant de références de marché suffisantes.</a:t>
            </a:r>
          </a:p>
          <a:p>
            <a:pPr rtl="0"/>
            <a:r>
              <a:rPr lang="fr-FR" sz="1600" dirty="0"/>
              <a:t>L'analyse des comparables fait ressortir une fourchette de 8 720 à 9 614 €/m² et une médiane de 9 275 €/m². J'ai retenu les ajustements suivants : décote de 3% pour la situation au 3e étage sans ascenseur ; décote de 4% au titre de l'état vétuste de la salle de bains nécessitant une remise en état complète ; décote de 2% pour le double vitrage partiel ; majoration de 1% pour le parquet en chêne ancien conservé en bon état. Ces ajustements conduisent à retenir un prix unitaire de 8 820 €/m². Appliqué à la surface de 68 m², ce prix conduit à une valeur avant arrondi de 599 760 €, arrondie à 600 000 € (six cent mille euros).</a:t>
            </a:r>
          </a:p>
          <a:p>
            <a:pPr rtl="0"/>
            <a:r>
              <a:rPr lang="fr-FR" sz="1600" b="1" dirty="0"/>
              <a:t>Avis de valeur</a:t>
            </a:r>
            <a:endParaRPr lang="fr-FR" sz="1600" dirty="0"/>
          </a:p>
          <a:p>
            <a:pPr rtl="0"/>
            <a:r>
              <a:rPr lang="fr-FR" sz="1600" dirty="0"/>
              <a:t>Au regard des éléments développés dans le présent rapport et des données de marché collectées sur le secteur du 11e arrondissement de Paris, j'estime la valeur vénale libre de l'appartement situé rue Keller, Paris 11e, à la date du 14 octobre 2024, à la somme de 600 000 € (six cent mille euros). Cette valeur peut servir de base à l'établissement de la déclaration de succession. Aucune réserve particulière n'a été identifiée.</a:t>
            </a:r>
          </a:p>
          <a:p>
            <a:pPr rtl="0"/>
            <a:endParaRPr lang="fr-FR" sz="1600" dirty="0"/>
          </a:p>
        </p:txBody>
      </p:sp>
    </p:spTree>
    <p:extLst>
      <p:ext uri="{BB962C8B-B14F-4D97-AF65-F5344CB8AC3E}">
        <p14:creationId xmlns:p14="http://schemas.microsoft.com/office/powerpoint/2010/main" val="367571785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9ADE4-5B63-2415-D233-4A69CCA951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FD3C41-2BE3-6C2E-37DC-812FEC74DBC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8078B4-BE86-7B23-B081-1FC8DB958F00}"/>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133382696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E3CC2-5684-60EE-7FDF-70BB62AF15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AA8402-1A97-40B5-8D53-DEB01011405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3EEC39-85E6-1462-8350-D71AE839AC87}"/>
              </a:ext>
            </a:extLst>
          </p:cNvPr>
          <p:cNvSpPr>
            <a:spLocks noGrp="1"/>
          </p:cNvSpPr>
          <p:nvPr>
            <p:ph type="body" idx="1"/>
          </p:nvPr>
        </p:nvSpPr>
        <p:spPr/>
        <p:txBody>
          <a:bodyPr/>
          <a:lstStyle/>
          <a:p>
            <a:pPr rtl="0"/>
            <a:r>
              <a:rPr lang="fr-FR" sz="1600" b="1" dirty="0"/>
              <a:t>Bonne réponse : C</a:t>
            </a:r>
            <a:endParaRPr lang="fr-FR" sz="1600" dirty="0"/>
          </a:p>
          <a:p>
            <a:pPr rtl="0"/>
            <a:r>
              <a:rPr lang="fr-FR" sz="1600" b="1" dirty="0"/>
              <a:t>Votre commentaire :</a:t>
            </a:r>
            <a:r>
              <a:rPr lang="fr-FR" sz="1600" dirty="0"/>
              <a:t> La formule "En foi de quoi j'ai dressé le présent rapport que je certifie exact et sincère" est réservée au judiciaire. Dans l'amiable, elle n'existe pas. Si elle apparaît dans votre rapport amiable, c'est un glissement de registre immédiatement visible par votre mandant notaire. Le prompt d'initialisation l'a correctement évitée — parce que vous lui avez donné l'instruction explicite dès le départ.</a:t>
            </a:r>
          </a:p>
          <a:p>
            <a:pPr rtl="0"/>
            <a:endParaRPr lang="fr-FR" sz="1600" dirty="0"/>
          </a:p>
        </p:txBody>
      </p:sp>
    </p:spTree>
    <p:extLst>
      <p:ext uri="{BB962C8B-B14F-4D97-AF65-F5344CB8AC3E}">
        <p14:creationId xmlns:p14="http://schemas.microsoft.com/office/powerpoint/2010/main" val="121844790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825F0-89C7-8C56-CD32-5349F88C5F2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40B01FB-3770-B117-29CE-BBB68CF169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256B52-D63F-E72F-A4F4-5AB693ADBA05}"/>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96717483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3609E-EC5D-FEAF-B632-47BF123BD9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390D4D-02B2-7062-D130-884C302BD91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882461-8F51-6E20-CABF-C58B6F3B5128}"/>
              </a:ext>
            </a:extLst>
          </p:cNvPr>
          <p:cNvSpPr>
            <a:spLocks noGrp="1"/>
          </p:cNvSpPr>
          <p:nvPr>
            <p:ph type="body" idx="1"/>
          </p:nvPr>
        </p:nvSpPr>
        <p:spPr/>
        <p:txBody>
          <a:bodyPr/>
          <a:lstStyle/>
          <a:p>
            <a:pPr rtl="0"/>
            <a:r>
              <a:rPr lang="fr-FR" sz="1600" b="1" dirty="0"/>
              <a:t>Votre commentaire oral :</a:t>
            </a:r>
            <a:r>
              <a:rPr lang="fr-FR" sz="1600" dirty="0"/>
              <a:t> C'est le filet de sécurité final. Vous collez le rapport assemblé dans Claude et vous lui demandez de détecter les incohérences entre sections — surface utilisée dans le calcul, chiffres contradictoires, points faibles non traduits en ajustements, formules judiciaires parasites. Ce contrôle prend 30 secondes et peut détecter une erreur qui fragiliserait tout le rapport.</a:t>
            </a:r>
          </a:p>
          <a:p>
            <a:pPr rtl="0"/>
            <a:endParaRPr lang="fr-FR" sz="1600" dirty="0"/>
          </a:p>
          <a:p>
            <a:pPr rtl="0"/>
            <a:r>
              <a:rPr lang="fr-FR" sz="1600" dirty="0"/>
              <a:t>[Contexte en mémoire : T3 68 m²</a:t>
            </a:r>
          </a:p>
          <a:p>
            <a:pPr rtl="0"/>
            <a:r>
              <a:rPr lang="fr-FR" sz="1600" dirty="0"/>
              <a:t>rue Keller Paris 11e, succession]</a:t>
            </a:r>
          </a:p>
          <a:p>
            <a:pPr rtl="0"/>
            <a:endParaRPr lang="fr-FR" sz="1600" dirty="0"/>
          </a:p>
          <a:p>
            <a:pPr rtl="0"/>
            <a:r>
              <a:rPr lang="fr-FR" sz="1600" dirty="0"/>
              <a:t>Voici mon rapport amiable assemblé :</a:t>
            </a:r>
          </a:p>
          <a:p>
            <a:pPr rtl="0"/>
            <a:endParaRPr lang="fr-FR" sz="1600" dirty="0"/>
          </a:p>
          <a:p>
            <a:pPr rtl="0"/>
            <a:r>
              <a:rPr lang="fr-FR" sz="1600" dirty="0"/>
              <a:t>[Section 1 — Cadre et mission]</a:t>
            </a:r>
          </a:p>
          <a:p>
            <a:pPr rtl="0"/>
            <a:r>
              <a:rPr lang="fr-FR" sz="1600" dirty="0"/>
              <a:t>Dans le cadre d'une succession, un notaire</a:t>
            </a:r>
          </a:p>
          <a:p>
            <a:pPr rtl="0"/>
            <a:r>
              <a:rPr lang="fr-FR" sz="1600" dirty="0"/>
              <a:t>exerçant à Paris m'a confié la mission</a:t>
            </a:r>
          </a:p>
          <a:p>
            <a:pPr rtl="0"/>
            <a:r>
              <a:rPr lang="fr-FR" sz="1600" dirty="0"/>
              <a:t>d'estimer la valeur vénale de l'appartement</a:t>
            </a:r>
          </a:p>
          <a:p>
            <a:pPr rtl="0"/>
            <a:r>
              <a:rPr lang="fr-FR" sz="1600" dirty="0"/>
              <a:t>situé rue Keller, Paris 11e, à la date du</a:t>
            </a:r>
          </a:p>
          <a:p>
            <a:pPr rtl="0"/>
            <a:r>
              <a:rPr lang="fr-FR" sz="1600" dirty="0"/>
              <a:t>14 octobre 2024.</a:t>
            </a:r>
          </a:p>
          <a:p>
            <a:pPr rtl="0"/>
            <a:endParaRPr lang="fr-FR" sz="1600" dirty="0"/>
          </a:p>
          <a:p>
            <a:pPr rtl="0"/>
            <a:r>
              <a:rPr lang="fr-FR" sz="1600" dirty="0"/>
              <a:t>[Section 4 — Description]</a:t>
            </a:r>
          </a:p>
          <a:p>
            <a:pPr rtl="0"/>
            <a:r>
              <a:rPr lang="fr-FR" sz="1600" dirty="0"/>
              <a:t>L'appartement développe une superficie</a:t>
            </a:r>
          </a:p>
          <a:p>
            <a:pPr rtl="0"/>
            <a:r>
              <a:rPr lang="fr-FR" sz="1600" dirty="0"/>
              <a:t>de 68 m² et comprend...</a:t>
            </a:r>
          </a:p>
          <a:p>
            <a:pPr rtl="0"/>
            <a:r>
              <a:rPr lang="fr-FR" sz="1600" dirty="0"/>
              <a:t>La salle de bains présente quelques</a:t>
            </a:r>
          </a:p>
          <a:p>
            <a:pPr rtl="0"/>
            <a:r>
              <a:rPr lang="fr-FR" sz="1600" dirty="0"/>
              <a:t>signes de vétusté.</a:t>
            </a:r>
          </a:p>
          <a:p>
            <a:pPr rtl="0"/>
            <a:endParaRPr lang="fr-FR" sz="1600" dirty="0"/>
          </a:p>
          <a:p>
            <a:pPr rtl="0"/>
            <a:r>
              <a:rPr lang="fr-FR" sz="1600" dirty="0"/>
              <a:t>[Section 7 — Valorisation]</a:t>
            </a:r>
          </a:p>
          <a:p>
            <a:pPr rtl="0"/>
            <a:r>
              <a:rPr lang="fr-FR" sz="1600" dirty="0"/>
              <a:t>Décote de 4% au titre de l'état vétuste</a:t>
            </a:r>
          </a:p>
          <a:p>
            <a:pPr rtl="0"/>
            <a:r>
              <a:rPr lang="fr-FR" sz="1600" dirty="0"/>
              <a:t>de la salle de bains nécessitant une</a:t>
            </a:r>
          </a:p>
          <a:p>
            <a:pPr rtl="0"/>
            <a:r>
              <a:rPr lang="fr-FR" sz="1600" dirty="0"/>
              <a:t>remise en état complète.</a:t>
            </a:r>
          </a:p>
          <a:p>
            <a:pPr rtl="0"/>
            <a:r>
              <a:rPr lang="fr-FR" sz="1600" dirty="0"/>
              <a:t>Prix : 8 820 €/m² × 68 m² = 599 760 €</a:t>
            </a:r>
          </a:p>
          <a:p>
            <a:pPr rtl="0"/>
            <a:endParaRPr lang="fr-FR" sz="1600" dirty="0"/>
          </a:p>
          <a:p>
            <a:pPr rtl="0"/>
            <a:r>
              <a:rPr lang="fr-FR" sz="1600" dirty="0"/>
              <a:t>[Section 8 — Avis de valeur]</a:t>
            </a:r>
          </a:p>
          <a:p>
            <a:pPr rtl="0"/>
            <a:r>
              <a:rPr lang="fr-FR" sz="1600" dirty="0"/>
              <a:t>Valeur vénale libre : 600 000 €</a:t>
            </a:r>
          </a:p>
          <a:p>
            <a:pPr rtl="0"/>
            <a:r>
              <a:rPr lang="fr-FR" sz="1600" dirty="0"/>
              <a:t>En foi de quoi j'ai dressé le présent</a:t>
            </a:r>
          </a:p>
          <a:p>
            <a:pPr rtl="0"/>
            <a:r>
              <a:rPr lang="fr-FR" sz="1600" dirty="0"/>
              <a:t>rapport que je certifie exact et sincère.</a:t>
            </a:r>
          </a:p>
          <a:p>
            <a:pPr rtl="0"/>
            <a:endParaRPr lang="fr-FR" sz="1600" dirty="0"/>
          </a:p>
          <a:p>
            <a:pPr rtl="0"/>
            <a:r>
              <a:rPr lang="fr-FR" sz="1600" dirty="0"/>
              <a:t>Contrôle en trois points :</a:t>
            </a:r>
          </a:p>
          <a:p>
            <a:pPr rtl="0"/>
            <a:r>
              <a:rPr lang="fr-FR" sz="1600" dirty="0"/>
              <a:t>1. Cohérence des chiffres</a:t>
            </a:r>
          </a:p>
          <a:p>
            <a:pPr rtl="0"/>
            <a:r>
              <a:rPr lang="fr-FR" sz="1600" dirty="0"/>
              <a:t>2. Formulations de registre judiciaire</a:t>
            </a:r>
          </a:p>
          <a:p>
            <a:pPr rtl="0"/>
            <a:r>
              <a:rPr lang="fr-FR" sz="1600" dirty="0"/>
              <a:t>3. Contradictions entre sections</a:t>
            </a:r>
          </a:p>
          <a:p>
            <a:pPr rtl="0"/>
            <a:r>
              <a:rPr lang="fr-FR" sz="1600" dirty="0"/>
              <a:t>Format : problème / section / correction.</a:t>
            </a:r>
          </a:p>
          <a:p>
            <a:pPr rtl="0"/>
            <a:endParaRPr lang="fr-FR" sz="1600" dirty="0"/>
          </a:p>
          <a:p>
            <a:pPr rtl="0"/>
            <a:endParaRPr lang="fr-FR" sz="1600" dirty="0"/>
          </a:p>
          <a:p>
            <a:pPr rtl="0"/>
            <a:r>
              <a:rPr lang="fr-FR" sz="1600" b="1" dirty="0"/>
              <a:t>Ce que Claude produit — à projeter en direct</a:t>
            </a:r>
          </a:p>
          <a:p>
            <a:pPr rtl="0"/>
            <a:r>
              <a:rPr lang="fr-FR" sz="1600" b="1" dirty="0"/>
              <a:t>Contrôle qualité — 3 points détectés :</a:t>
            </a:r>
            <a:endParaRPr lang="fr-FR" sz="1600" dirty="0"/>
          </a:p>
          <a:p>
            <a:pPr rtl="0"/>
            <a:r>
              <a:rPr lang="fr-FR" sz="1600" b="1" dirty="0"/>
              <a:t>Problème 1 — Contradiction entre S4 et S7</a:t>
            </a:r>
            <a:br>
              <a:rPr lang="fr-FR" sz="1600" dirty="0"/>
            </a:br>
            <a:r>
              <a:rPr lang="fr-FR" sz="1600" dirty="0"/>
              <a:t>Section 4 : "la salle de bains présente quelques signes de vétusté"</a:t>
            </a:r>
            <a:br>
              <a:rPr lang="fr-FR" sz="1600" dirty="0"/>
            </a:br>
            <a:r>
              <a:rPr lang="fr-FR" sz="1600" dirty="0"/>
              <a:t>Section 7 : "état vétuste nécessitant une remise en état complète"</a:t>
            </a:r>
            <a:br>
              <a:rPr lang="fr-FR" sz="1600" dirty="0"/>
            </a:br>
            <a:r>
              <a:rPr lang="fr-FR" sz="1600" dirty="0"/>
              <a:t>Ces deux formulations sont contradictoires. La section 4 atténue un désordre que la section 7 qualifie fortement. Correction : remplacer en S4 par "la salle de bains nécessite une remise en état complète".</a:t>
            </a:r>
          </a:p>
          <a:p>
            <a:pPr rtl="0"/>
            <a:r>
              <a:rPr lang="fr-FR" sz="1600" b="1" dirty="0"/>
              <a:t>Problème 2 — Formule judiciaire en section 8</a:t>
            </a:r>
            <a:br>
              <a:rPr lang="fr-FR" sz="1600" dirty="0"/>
            </a:br>
            <a:r>
              <a:rPr lang="fr-FR" sz="1600" dirty="0"/>
              <a:t>"En foi de quoi j'ai dressé le présent rapport que je certifie exact et sincère" est une formule de certification judiciaire. Elle n'a pas sa place dans un rapport amiable. Correction : supprimer cette phrase.</a:t>
            </a:r>
          </a:p>
          <a:p>
            <a:pPr rtl="0"/>
            <a:r>
              <a:rPr lang="fr-FR" sz="1600" b="1" dirty="0"/>
              <a:t>Problème 3 — Cohérence des chiffres</a:t>
            </a:r>
            <a:br>
              <a:rPr lang="fr-FR" sz="1600" dirty="0"/>
            </a:br>
            <a:r>
              <a:rPr lang="fr-FR" sz="1600" dirty="0"/>
              <a:t>8 820 € × 68 m² = 599 760 € avant arrondi → 600 000 € au palier de 5 000 €. Cohérence confirmée.</a:t>
            </a:r>
          </a:p>
          <a:p>
            <a:pPr rtl="0"/>
            <a:endParaRPr lang="fr-FR" sz="1600" dirty="0"/>
          </a:p>
        </p:txBody>
      </p:sp>
    </p:spTree>
    <p:extLst>
      <p:ext uri="{BB962C8B-B14F-4D97-AF65-F5344CB8AC3E}">
        <p14:creationId xmlns:p14="http://schemas.microsoft.com/office/powerpoint/2010/main" val="383330590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B8AF8-BAC3-ADCC-7DC6-9D88C625FFD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DF88F8-CE94-641C-752E-D8C659794E5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5A564A-53D4-D6E4-7B89-FFBBA74FB081}"/>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167655348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66130-5800-BF3B-FD5D-6068C4DE6A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0501C7-3F17-01A3-4B05-CFAA998ADA7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D4A125-A135-E36F-D7DB-71C3865BA16A}"/>
              </a:ext>
            </a:extLst>
          </p:cNvPr>
          <p:cNvSpPr>
            <a:spLocks noGrp="1"/>
          </p:cNvSpPr>
          <p:nvPr>
            <p:ph type="body" idx="1"/>
          </p:nvPr>
        </p:nvSpPr>
        <p:spPr/>
        <p:txBody>
          <a:bodyPr/>
          <a:lstStyle/>
          <a:p>
            <a:pPr rtl="0"/>
            <a:r>
              <a:rPr lang="fr-FR" sz="1600" b="1" dirty="0"/>
              <a:t>Bonne réponse : C</a:t>
            </a:r>
            <a:endParaRPr lang="fr-FR" sz="1600" dirty="0"/>
          </a:p>
          <a:p>
            <a:pPr rtl="0"/>
            <a:r>
              <a:rPr lang="fr-FR" sz="1600" b="1" dirty="0"/>
              <a:t>Votre commentaire oral :</a:t>
            </a:r>
            <a:r>
              <a:rPr lang="fr-FR" sz="1600" dirty="0"/>
              <a:t> 45 à 50 minutes pour un rapport de 8 sections, argumenté, cohérent, directement </a:t>
            </a:r>
            <a:r>
              <a:rPr lang="fr-FR" sz="1600" dirty="0" err="1"/>
              <a:t>remettable</a:t>
            </a:r>
            <a:r>
              <a:rPr lang="fr-FR" sz="1600" dirty="0"/>
              <a:t> au notaire après une relecture de 15 minutes. Sans l'IA, la même production demande 3 à 5 heures pour un expert non entraîné à la rédaction rapide. Ce n'est pas un exercice de formation — c'est ce que vous venez de voir se construire en direct devant vous.</a:t>
            </a:r>
          </a:p>
          <a:p>
            <a:pPr rtl="0"/>
            <a:endParaRPr lang="fr-FR" sz="1600" dirty="0"/>
          </a:p>
        </p:txBody>
      </p:sp>
    </p:spTree>
    <p:extLst>
      <p:ext uri="{BB962C8B-B14F-4D97-AF65-F5344CB8AC3E}">
        <p14:creationId xmlns:p14="http://schemas.microsoft.com/office/powerpoint/2010/main" val="85278359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CA671-9F3A-401F-0702-9CC9ECFF09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E57303-A148-0735-D06B-FF2B75CD12C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739AD0-1AD4-65CD-3937-8C13B112C990}"/>
              </a:ext>
            </a:extLst>
          </p:cNvPr>
          <p:cNvSpPr>
            <a:spLocks noGrp="1"/>
          </p:cNvSpPr>
          <p:nvPr>
            <p:ph type="body" idx="1"/>
          </p:nvPr>
        </p:nvSpPr>
        <p:spPr/>
        <p:txBody>
          <a:bodyPr/>
          <a:lstStyle/>
          <a:p>
            <a:pPr rtl="0"/>
            <a:r>
              <a:rPr lang="fr-FR" sz="1600" dirty="0"/>
              <a:t>Regardez ce nuage. Les mots qui ressortent le plus fort sont ceux que vous avez intégrés. </a:t>
            </a:r>
          </a:p>
          <a:p>
            <a:pPr rtl="0"/>
            <a:endParaRPr lang="fr-FR" sz="1600" dirty="0"/>
          </a:p>
          <a:p>
            <a:pPr rtl="0"/>
            <a:r>
              <a:rPr lang="fr-FR" sz="1600" dirty="0"/>
              <a:t>Si "vérification" ou "responsabilité" dominent, c'est que le message central est passé. </a:t>
            </a:r>
          </a:p>
          <a:p>
            <a:pPr rtl="0"/>
            <a:endParaRPr lang="fr-FR" sz="1600" dirty="0"/>
          </a:p>
          <a:p>
            <a:pPr rtl="0"/>
            <a:r>
              <a:rPr lang="fr-FR" sz="1600" dirty="0"/>
              <a:t>Si "prompt" ou "initialisation" dominent, c'est que vous repartez avec les outils. </a:t>
            </a:r>
          </a:p>
          <a:p>
            <a:pPr rtl="0"/>
            <a:endParaRPr lang="fr-FR" sz="1600" dirty="0"/>
          </a:p>
          <a:p>
            <a:pPr rtl="0"/>
            <a:r>
              <a:rPr lang="fr-FR" sz="1600" dirty="0"/>
              <a:t>Dans les deux cas c'est une bonne réponse — parce que dans votre pratique, les deux vont ensemble. </a:t>
            </a:r>
          </a:p>
          <a:p>
            <a:pPr rtl="0"/>
            <a:endParaRPr lang="fr-FR" sz="1600" dirty="0"/>
          </a:p>
          <a:p>
            <a:pPr rtl="0"/>
            <a:r>
              <a:rPr lang="fr-FR" sz="1600" dirty="0"/>
              <a:t>Un bon prompt sans vérification ne vaut rien. Une vérification sans bon prompt ne produit rien d'intéressant à vérifier.</a:t>
            </a:r>
          </a:p>
        </p:txBody>
      </p:sp>
    </p:spTree>
    <p:extLst>
      <p:ext uri="{BB962C8B-B14F-4D97-AF65-F5344CB8AC3E}">
        <p14:creationId xmlns:p14="http://schemas.microsoft.com/office/powerpoint/2010/main" val="178247650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692B9-9DE8-B651-F39D-F1076C1C15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71F58C1-FD0C-261A-C828-68F5390BEB4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4896F0-1087-E881-1A7C-21C11D9E5F1C}"/>
              </a:ext>
            </a:extLst>
          </p:cNvPr>
          <p:cNvSpPr>
            <a:spLocks noGrp="1"/>
          </p:cNvSpPr>
          <p:nvPr>
            <p:ph type="body" idx="1"/>
          </p:nvPr>
        </p:nvSpPr>
        <p:spPr/>
        <p:txBody>
          <a:bodyPr/>
          <a:lstStyle/>
          <a:p>
            <a:pPr rtl="0"/>
            <a:endParaRPr lang="fr-FR" sz="1600" dirty="0"/>
          </a:p>
        </p:txBody>
      </p:sp>
    </p:spTree>
    <p:extLst>
      <p:ext uri="{BB962C8B-B14F-4D97-AF65-F5344CB8AC3E}">
        <p14:creationId xmlns:p14="http://schemas.microsoft.com/office/powerpoint/2010/main" val="371376737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B1306-0796-40E1-AA39-70FE918BF63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9F3B3A-139B-A627-8359-5B699892460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D62C72-06B7-6EF8-E08B-4BA41F36BEB8}"/>
              </a:ext>
            </a:extLst>
          </p:cNvPr>
          <p:cNvSpPr>
            <a:spLocks noGrp="1"/>
          </p:cNvSpPr>
          <p:nvPr>
            <p:ph type="body" idx="1"/>
          </p:nvPr>
        </p:nvSpPr>
        <p:spPr/>
        <p:txBody>
          <a:bodyPr/>
          <a:lstStyle/>
          <a:p>
            <a:endParaRPr lang="fr-FR" sz="1600" b="1" dirty="0"/>
          </a:p>
        </p:txBody>
      </p:sp>
    </p:spTree>
    <p:extLst>
      <p:ext uri="{BB962C8B-B14F-4D97-AF65-F5344CB8AC3E}">
        <p14:creationId xmlns:p14="http://schemas.microsoft.com/office/powerpoint/2010/main" val="164714188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950B-DDED-E48F-9D0E-EC02CB36640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6AAEEF-0C08-2D0A-B97F-2043D906578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7181A0-2D7F-D56D-7F5B-8BD8125B6BCC}"/>
              </a:ext>
            </a:extLst>
          </p:cNvPr>
          <p:cNvSpPr>
            <a:spLocks noGrp="1"/>
          </p:cNvSpPr>
          <p:nvPr>
            <p:ph type="body" idx="1"/>
          </p:nvPr>
        </p:nvSpPr>
        <p:spPr/>
        <p:txBody>
          <a:bodyPr/>
          <a:lstStyle/>
          <a:p>
            <a:pPr rtl="0"/>
            <a:r>
              <a:rPr lang="fr-FR" sz="1600" b="1" dirty="0"/>
              <a:t>Première position </a:t>
            </a:r>
            <a:r>
              <a:rPr lang="fr-FR" sz="1600" dirty="0"/>
              <a:t>: l'IA est un outil d'aide à la décision, pas un substitut. Elle dit textuellement que ces technologies "ne doivent être considérées que comme des outils d'aide à la décision" et qu'elles "ne peuvent remplacer l'expertise humaine". C'est mot pour mot ce que vous avez pratiqué aujourd'hui.</a:t>
            </a:r>
          </a:p>
          <a:p>
            <a:pPr rtl="0"/>
            <a:endParaRPr lang="fr-FR" sz="1600" dirty="0"/>
          </a:p>
          <a:p>
            <a:pPr rtl="0"/>
            <a:r>
              <a:rPr lang="fr-FR" sz="1600" b="1" dirty="0"/>
              <a:t>Deuxième position </a:t>
            </a:r>
            <a:r>
              <a:rPr lang="fr-FR" sz="1600" dirty="0"/>
              <a:t>: l'expert conserve la responsabilité pleine et entière. La Charte exige qu'il "maintienne un contrôle étroit sur les processus d'analyse, valide les résultats obtenus et s'assure que sa démarche reste transparente, explicable et justifiable". Vérification des calculs, règle de non-invention, prompts de relecture qualité — tout ce que vous avez fait aujourd'hui répond exactement à cette exigence.</a:t>
            </a:r>
          </a:p>
          <a:p>
            <a:pPr rtl="0"/>
            <a:endParaRPr lang="fr-FR" sz="1600" dirty="0"/>
          </a:p>
          <a:p>
            <a:pPr rtl="0"/>
            <a:r>
              <a:rPr lang="fr-FR" sz="1600" b="1" dirty="0"/>
              <a:t>Troisième position </a:t>
            </a:r>
            <a:r>
              <a:rPr lang="fr-FR" sz="1600" dirty="0"/>
              <a:t>: la protection des données et le RGPD. La Charte impose à l'expert d'être vigilant sur la confidentialité des données saisies dans les plateformes technologiques, leur localisation géographique, leur durée de conservation. Les règles que nous avons posées — anonymisation des parties, adresse sans numéro, nom du notaire absent du prompt — sont des réponses directes à cette obligation.</a:t>
            </a:r>
          </a:p>
          <a:p>
            <a:pPr rtl="0"/>
            <a:endParaRPr lang="fr-FR" sz="1600" dirty="0"/>
          </a:p>
          <a:p>
            <a:pPr rtl="0"/>
            <a:r>
              <a:rPr lang="fr-FR" sz="1600" b="1" dirty="0"/>
              <a:t>Quatrième position</a:t>
            </a:r>
            <a:r>
              <a:rPr lang="fr-FR" sz="1600" dirty="0"/>
              <a:t>, la plus nouvelle : la transparence envers le client. La Charte impose désormais une obligation d'information des clients sur l'utilisation d'outils IA dans le processus d'évaluation. Vous devez informer votre mandant que vous avez utilisé l'IA. Pas pour vous justifier — pour être transparent. Nous y reviendrons dans le bloc suivant.</a:t>
            </a:r>
          </a:p>
          <a:p>
            <a:pPr rtl="0"/>
            <a:endParaRPr lang="fr-FR" sz="1600" dirty="0"/>
          </a:p>
        </p:txBody>
      </p:sp>
    </p:spTree>
    <p:extLst>
      <p:ext uri="{BB962C8B-B14F-4D97-AF65-F5344CB8AC3E}">
        <p14:creationId xmlns:p14="http://schemas.microsoft.com/office/powerpoint/2010/main" val="298746845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DF04B-AA69-6FBE-ABF7-1FEAF0474A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AA70E5-E4ED-975E-55A3-B9802967CE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8540786-5D3D-B987-7F32-736B9FB8F1B1}"/>
              </a:ext>
            </a:extLst>
          </p:cNvPr>
          <p:cNvSpPr>
            <a:spLocks noGrp="1"/>
          </p:cNvSpPr>
          <p:nvPr>
            <p:ph type="body" idx="1"/>
          </p:nvPr>
        </p:nvSpPr>
        <p:spPr/>
        <p:txBody>
          <a:bodyPr/>
          <a:lstStyle/>
          <a:p>
            <a:pPr rtl="0"/>
            <a:r>
              <a:rPr lang="fr-FR" sz="1600" dirty="0"/>
              <a:t>Quel que soit l'outil utilisé — stylo, logiciel métier ou intelligence artificielle — votre </a:t>
            </a:r>
            <a:r>
              <a:rPr lang="fr-FR" sz="1600" b="1" dirty="0"/>
              <a:t>responsabilité civile professionnelle est entière, identique, non partageable. </a:t>
            </a:r>
          </a:p>
          <a:p>
            <a:pPr rtl="0"/>
            <a:endParaRPr lang="fr-FR" sz="1600" b="1" dirty="0"/>
          </a:p>
          <a:p>
            <a:pPr rtl="0"/>
            <a:r>
              <a:rPr lang="fr-FR" sz="1600" dirty="0"/>
              <a:t>Un chiffre faux que vous n'avez pas vérifié, une contradiction entre sections que vous n'avez pas détectée, une formule inventée non-contrôlée — c'est votre rapport, c'est votre signature, c'est votre responsabilité.</a:t>
            </a:r>
          </a:p>
          <a:p>
            <a:pPr rtl="0"/>
            <a:endParaRPr lang="fr-FR" sz="1600" dirty="0"/>
          </a:p>
          <a:p>
            <a:pPr rtl="0"/>
            <a:r>
              <a:rPr lang="fr-FR" sz="1600" dirty="0"/>
              <a:t>L'IA ne sera jamais convoquée devant un tribunal. Vous, si.</a:t>
            </a:r>
          </a:p>
          <a:p>
            <a:pPr rtl="0"/>
            <a:endParaRPr lang="fr-FR" sz="1600" dirty="0"/>
          </a:p>
        </p:txBody>
      </p:sp>
    </p:spTree>
    <p:extLst>
      <p:ext uri="{BB962C8B-B14F-4D97-AF65-F5344CB8AC3E}">
        <p14:creationId xmlns:p14="http://schemas.microsoft.com/office/powerpoint/2010/main" val="183418550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3EF54-AE30-3244-24D7-31119110EA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941700F-D811-34A2-5E23-36DA2EAFC5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F4D7D6-249B-4F3A-285C-4606F88DB1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1/ Noms des parties, adresse exacte, identité du notaire — rien de tout ça n'entre dans l'IA. On anonymise avant de coller.</a:t>
            </a:r>
          </a:p>
          <a:p>
            <a:pPr rtl="0"/>
            <a:endParaRPr lang="fr-FR"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2/ Moyenne, médiane, prix au m², valeur finale — tout se contrôle à la calculatrice avant d'entrer dans le rapport. L'IA calcule parfois mal. Vous, vous vérifiez toujours.</a:t>
            </a:r>
          </a:p>
          <a:p>
            <a:pPr rtl="0"/>
            <a:endParaRPr lang="fr-FR"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3/ La Charte l'impose désormais explicitement. Une mention courte en section 1 de votre rapport suffit. Nous vous en avons fourni le texte standardisé — il ne vous reste qu'à le copier-coller.</a:t>
            </a:r>
          </a:p>
          <a:p>
            <a:pPr rtl="0"/>
            <a:endParaRPr lang="fr-FR" sz="1600" dirty="0"/>
          </a:p>
        </p:txBody>
      </p:sp>
    </p:spTree>
    <p:extLst>
      <p:ext uri="{BB962C8B-B14F-4D97-AF65-F5344CB8AC3E}">
        <p14:creationId xmlns:p14="http://schemas.microsoft.com/office/powerpoint/2010/main" val="368429197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82A1-ECC1-CE7A-FCC4-AB49D876DCD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C222C4-DE2F-B940-BC86-610DEEDD51E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2A2B8CC-E7FB-1840-4DF4-199E4C65B617}"/>
              </a:ext>
            </a:extLst>
          </p:cNvPr>
          <p:cNvSpPr>
            <a:spLocks noGrp="1"/>
          </p:cNvSpPr>
          <p:nvPr>
            <p:ph type="body" idx="1"/>
          </p:nvPr>
        </p:nvSpPr>
        <p:spPr/>
        <p:txBody>
          <a:bodyPr/>
          <a:lstStyle/>
          <a:p>
            <a:pPr rtl="0"/>
            <a:r>
              <a:rPr lang="fr-FR" sz="1600" dirty="0"/>
              <a:t>Ces six actions sont les vôtres. </a:t>
            </a:r>
          </a:p>
          <a:p>
            <a:pPr rtl="0"/>
            <a:r>
              <a:rPr lang="fr-FR" sz="1600" dirty="0"/>
              <a:t>Elles le resteront. </a:t>
            </a:r>
          </a:p>
          <a:p>
            <a:pPr rtl="0"/>
            <a:r>
              <a:rPr lang="fr-FR" sz="1600" dirty="0"/>
              <a:t>Et c'est précisément pour ça que vous </a:t>
            </a:r>
            <a:r>
              <a:rPr lang="fr-FR" sz="1600" dirty="0" err="1"/>
              <a:t>oeuvrez</a:t>
            </a:r>
            <a:r>
              <a:rPr lang="fr-FR" sz="1600" dirty="0"/>
              <a:t> en tant qu'experts.</a:t>
            </a:r>
          </a:p>
        </p:txBody>
      </p:sp>
    </p:spTree>
    <p:extLst>
      <p:ext uri="{BB962C8B-B14F-4D97-AF65-F5344CB8AC3E}">
        <p14:creationId xmlns:p14="http://schemas.microsoft.com/office/powerpoint/2010/main" val="207181136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7632-7818-EC84-6B6F-5ACD3963040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C2D7CF-D327-0B10-1BC7-279AA39D36F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B44684-BB17-AEC5-A73C-7ED25043E4B7}"/>
              </a:ext>
            </a:extLst>
          </p:cNvPr>
          <p:cNvSpPr>
            <a:spLocks noGrp="1"/>
          </p:cNvSpPr>
          <p:nvPr>
            <p:ph type="body" idx="1"/>
          </p:nvPr>
        </p:nvSpPr>
        <p:spPr/>
        <p:txBody>
          <a:bodyPr/>
          <a:lstStyle/>
          <a:p>
            <a:pPr rtl="0"/>
            <a:r>
              <a:rPr lang="fr-FR" sz="1600" dirty="0"/>
              <a:t>Ce que vous faisiez en trois heures, vous le ferez en cinquante minutes.</a:t>
            </a:r>
          </a:p>
          <a:p>
            <a:pPr rtl="0"/>
            <a:r>
              <a:rPr lang="fr-FR" sz="1600" dirty="0"/>
              <a:t>Le temps gagné n'est pas du temps volé à votre métier. </a:t>
            </a:r>
          </a:p>
          <a:p>
            <a:pPr rtl="0"/>
            <a:r>
              <a:rPr lang="fr-FR" sz="1600" dirty="0"/>
              <a:t>C'est du temps rendu à ce qui ne peut pas être délégué — la visite, le jugement, l'expertise.</a:t>
            </a:r>
          </a:p>
        </p:txBody>
      </p:sp>
    </p:spTree>
    <p:extLst>
      <p:ext uri="{BB962C8B-B14F-4D97-AF65-F5344CB8AC3E}">
        <p14:creationId xmlns:p14="http://schemas.microsoft.com/office/powerpoint/2010/main" val="60483698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A1546-6730-A79A-89B6-BCCA52E817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1D0AD3-C236-DBF1-F5E5-11A7B9CA9E2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A0B0B21-9450-5BBF-AA98-9C8256DA4AC4}"/>
              </a:ext>
            </a:extLst>
          </p:cNvPr>
          <p:cNvSpPr>
            <a:spLocks noGrp="1"/>
          </p:cNvSpPr>
          <p:nvPr>
            <p:ph type="body" idx="1"/>
          </p:nvPr>
        </p:nvSpPr>
        <p:spPr/>
        <p:txBody>
          <a:bodyPr/>
          <a:lstStyle/>
          <a:p>
            <a:pPr rtl="0"/>
            <a:r>
              <a:rPr lang="fr-FR" sz="1600" dirty="0"/>
              <a:t>Les quatre différences réelles sont surlignées. </a:t>
            </a:r>
          </a:p>
          <a:p>
            <a:pPr rtl="0"/>
            <a:endParaRPr lang="fr-FR" sz="1600" dirty="0"/>
          </a:p>
          <a:p>
            <a:pPr rtl="0"/>
            <a:r>
              <a:rPr lang="fr-FR" sz="1600" dirty="0"/>
              <a:t>La </a:t>
            </a:r>
            <a:r>
              <a:rPr lang="fr-FR" sz="1600" b="1" dirty="0"/>
              <a:t>première</a:t>
            </a:r>
            <a:r>
              <a:rPr lang="fr-FR" sz="1600" dirty="0"/>
              <a:t> concerne le </a:t>
            </a:r>
            <a:r>
              <a:rPr lang="fr-FR" sz="1600" b="1" dirty="0"/>
              <a:t>rôle</a:t>
            </a:r>
            <a:r>
              <a:rPr lang="fr-FR" sz="1600" dirty="0"/>
              <a:t> assigné à l'IA : </a:t>
            </a:r>
          </a:p>
          <a:p>
            <a:pPr rtl="0"/>
            <a:r>
              <a:rPr lang="fr-FR" sz="1600" dirty="0"/>
              <a:t>dans le judiciaire, vous précisez "agréé par la cour d'appel de [ville]" — cette mention active chez l'IA un registre très formel, très normatif. </a:t>
            </a:r>
          </a:p>
          <a:p>
            <a:pPr rtl="0"/>
            <a:r>
              <a:rPr lang="fr-FR" sz="1600" dirty="0"/>
              <a:t>Dans l'amiable, vous écrivez simplement "expert immobilier" — l'IA adopte un ton professionnel mais moins contraint. </a:t>
            </a:r>
          </a:p>
          <a:p>
            <a:pPr rtl="0"/>
            <a:endParaRPr lang="fr-FR" sz="1600" dirty="0"/>
          </a:p>
          <a:p>
            <a:pPr rtl="0"/>
            <a:r>
              <a:rPr lang="fr-FR" sz="1600" dirty="0"/>
              <a:t>C'est un ajustement de deux mots qui change sensiblement la tonalité de toutes les sections produites.</a:t>
            </a:r>
          </a:p>
          <a:p>
            <a:pPr rtl="0"/>
            <a:endParaRPr lang="fr-FR" sz="1600" dirty="0"/>
          </a:p>
          <a:p>
            <a:pPr rtl="0"/>
            <a:r>
              <a:rPr lang="fr-FR" sz="1600" dirty="0"/>
              <a:t>La </a:t>
            </a:r>
            <a:r>
              <a:rPr lang="fr-FR" sz="1600" b="1" dirty="0"/>
              <a:t>deuxième</a:t>
            </a:r>
            <a:r>
              <a:rPr lang="fr-FR" sz="1600" dirty="0"/>
              <a:t> différence concerne le mandant. </a:t>
            </a:r>
          </a:p>
          <a:p>
            <a:pPr rtl="0"/>
            <a:r>
              <a:rPr lang="fr-FR" sz="1600" dirty="0"/>
              <a:t>Dans le judiciaire, c'est une ordonnance d'un tribunal avec une chambre identifiée. </a:t>
            </a:r>
          </a:p>
          <a:p>
            <a:pPr rtl="0"/>
            <a:r>
              <a:rPr lang="fr-FR" sz="1600" dirty="0"/>
              <a:t>Dans l'amiable, c'est une lettre de mission d'un notaire — vous mentionnez sa qualité mais pas son nom complet, pour respecter la règle de confidentialité.</a:t>
            </a:r>
          </a:p>
          <a:p>
            <a:pPr rtl="0"/>
            <a:endParaRPr lang="fr-FR" sz="1600" dirty="0"/>
          </a:p>
          <a:p>
            <a:pPr rtl="0"/>
            <a:r>
              <a:rPr lang="fr-FR" sz="1600" dirty="0"/>
              <a:t>La </a:t>
            </a:r>
            <a:r>
              <a:rPr lang="fr-FR" sz="1600" b="1" dirty="0"/>
              <a:t>troisième</a:t>
            </a:r>
            <a:r>
              <a:rPr lang="fr-FR" sz="1600" dirty="0"/>
              <a:t> différence porte sur le ton. "</a:t>
            </a:r>
            <a:r>
              <a:rPr lang="fr-FR" sz="1600" b="1" dirty="0"/>
              <a:t>Judiciaire strict</a:t>
            </a:r>
            <a:r>
              <a:rPr lang="fr-FR" sz="1600" dirty="0"/>
              <a:t>" dans le premier cas impose des formulations très normées.</a:t>
            </a:r>
          </a:p>
          <a:p>
            <a:pPr rtl="0"/>
            <a:r>
              <a:rPr lang="fr-FR" sz="1600" dirty="0"/>
              <a:t> "Sobre et professionnel" dans le second laisse à l'IA plus de latitude dans la formulation — ce qui produit un rapport lisible, clair, mais sans la rigidité du registre de cour.</a:t>
            </a:r>
          </a:p>
          <a:p>
            <a:pPr rtl="0"/>
            <a:endParaRPr lang="fr-FR" sz="1600" dirty="0"/>
          </a:p>
          <a:p>
            <a:pPr rtl="0"/>
            <a:r>
              <a:rPr lang="fr-FR" sz="1600" dirty="0"/>
              <a:t>La </a:t>
            </a:r>
            <a:r>
              <a:rPr lang="fr-FR" sz="1600" b="1" dirty="0"/>
              <a:t>quatrième</a:t>
            </a:r>
            <a:r>
              <a:rPr lang="fr-FR" sz="1600" dirty="0"/>
              <a:t> différence est la plus importante sur le plan formel : l'absence de formule de certification. </a:t>
            </a:r>
          </a:p>
          <a:p>
            <a:pPr rtl="0"/>
            <a:r>
              <a:rPr lang="fr-FR" sz="1600" dirty="0"/>
              <a:t>Dans le judiciaire, cette formule est obligatoire et normée. </a:t>
            </a:r>
          </a:p>
          <a:p>
            <a:pPr rtl="0"/>
            <a:r>
              <a:rPr lang="fr-FR" sz="1600" dirty="0"/>
              <a:t>Dans l'amiable, elle n'existe pas — votre rapport se termine par la valeur retenue et vos coordonnées d'expert. </a:t>
            </a:r>
          </a:p>
          <a:p>
            <a:pPr rtl="0"/>
            <a:endParaRPr lang="fr-FR" sz="1600" dirty="0"/>
          </a:p>
          <a:p>
            <a:pPr rtl="0"/>
            <a:r>
              <a:rPr lang="fr-FR" sz="1600" dirty="0"/>
              <a:t>Si vous laissez l'IA produire une formule de certification dans un rapport amiable, vous créez une confusion de registre qui peut surprendre votre mandant notaire.</a:t>
            </a:r>
          </a:p>
          <a:p>
            <a:pPr rtl="0"/>
            <a:endParaRPr lang="fr-FR" sz="1600" dirty="0"/>
          </a:p>
          <a:p>
            <a:pPr rtl="0"/>
            <a:r>
              <a:rPr lang="fr-FR" sz="1600" dirty="0"/>
              <a:t>Ce qui ne change pas : </a:t>
            </a:r>
            <a:r>
              <a:rPr lang="fr-FR" sz="1600" b="1" dirty="0"/>
              <a:t>la première personne pour les constats de visite, la règle de non-invention, et la structure section par section</a:t>
            </a:r>
            <a:r>
              <a:rPr lang="fr-FR" sz="1600" dirty="0"/>
              <a:t>. Le cœur du workflow reste identique.</a:t>
            </a:r>
          </a:p>
          <a:p>
            <a:pPr rtl="0"/>
            <a:endParaRPr lang="fr-FR" sz="1600" dirty="0"/>
          </a:p>
        </p:txBody>
      </p:sp>
    </p:spTree>
    <p:extLst>
      <p:ext uri="{BB962C8B-B14F-4D97-AF65-F5344CB8AC3E}">
        <p14:creationId xmlns:p14="http://schemas.microsoft.com/office/powerpoint/2010/main" val="312893232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FA94-70D1-5D73-6562-D8E340983F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8D8019-E22F-5AB6-8746-F25E6BA832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29C129-EAD8-8937-6AE4-D849C4FEE1FB}"/>
              </a:ext>
            </a:extLst>
          </p:cNvPr>
          <p:cNvSpPr>
            <a:spLocks noGrp="1"/>
          </p:cNvSpPr>
          <p:nvPr>
            <p:ph type="body" idx="1"/>
          </p:nvPr>
        </p:nvSpPr>
        <p:spPr/>
        <p:txBody>
          <a:bodyPr/>
          <a:lstStyle/>
          <a:p>
            <a:pPr rtl="0"/>
            <a:r>
              <a:rPr lang="fr-FR" sz="1600" dirty="0"/>
              <a:t>Commencez par observer la </a:t>
            </a:r>
            <a:r>
              <a:rPr lang="fr-FR" sz="1600" b="1" dirty="0"/>
              <a:t>confirmation en trois lignes</a:t>
            </a:r>
            <a:r>
              <a:rPr lang="fr-FR" sz="1600" dirty="0"/>
              <a:t>. </a:t>
            </a:r>
          </a:p>
          <a:p>
            <a:pPr rtl="0"/>
            <a:r>
              <a:rPr lang="fr-FR" sz="1600" dirty="0"/>
              <a:t>L'IA reformule le dossier dans ses propres mots — c'est le signal qu'elle a bien intégré le contexte. </a:t>
            </a:r>
          </a:p>
          <a:p>
            <a:pPr rtl="0"/>
            <a:endParaRPr lang="fr-FR" sz="1600" dirty="0"/>
          </a:p>
          <a:p>
            <a:pPr rtl="0"/>
            <a:r>
              <a:rPr lang="fr-FR" sz="1600" b="1" dirty="0"/>
              <a:t>Deux</a:t>
            </a:r>
            <a:r>
              <a:rPr lang="fr-FR" sz="1600" dirty="0"/>
              <a:t> </a:t>
            </a:r>
            <a:r>
              <a:rPr lang="fr-FR" sz="1600" b="1" dirty="0"/>
              <a:t>éléments à vérifier </a:t>
            </a:r>
            <a:r>
              <a:rPr lang="fr-FR" sz="1600" dirty="0"/>
              <a:t>systématiquement dans cette confirmation : </a:t>
            </a:r>
          </a:p>
          <a:p>
            <a:pPr rtl="0"/>
            <a:r>
              <a:rPr lang="fr-FR" sz="1600" dirty="0"/>
              <a:t>la nature de la mission (succession amiable, pas judiciaire) </a:t>
            </a:r>
          </a:p>
          <a:p>
            <a:pPr rtl="0"/>
            <a:r>
              <a:rPr lang="fr-FR" sz="1600" dirty="0"/>
              <a:t>et la date de valeur. </a:t>
            </a:r>
          </a:p>
          <a:p>
            <a:pPr rtl="0"/>
            <a:endParaRPr lang="fr-FR" sz="1600" dirty="0"/>
          </a:p>
          <a:p>
            <a:pPr rtl="0"/>
            <a:r>
              <a:rPr lang="fr-FR" sz="1600" dirty="0"/>
              <a:t>Si l'un des deux est inexact dans la confirmation, corrigez avant de continuer — car une erreur dans l'initialisation aurait pour effet de se propager dans toutes les autres sections.</a:t>
            </a:r>
          </a:p>
        </p:txBody>
      </p:sp>
    </p:spTree>
    <p:extLst>
      <p:ext uri="{BB962C8B-B14F-4D97-AF65-F5344CB8AC3E}">
        <p14:creationId xmlns:p14="http://schemas.microsoft.com/office/powerpoint/2010/main" val="1795373194"/>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4A2E2-9C21-7873-BB01-23DD0AC779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2B533AE-9CB7-2956-2B22-E16DAE4EA1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F9B76B8-1E8B-ECE9-3C5F-54F628479371}"/>
              </a:ext>
            </a:extLst>
          </p:cNvPr>
          <p:cNvSpPr>
            <a:spLocks noGrp="1"/>
          </p:cNvSpPr>
          <p:nvPr>
            <p:ph type="body" idx="1"/>
          </p:nvPr>
        </p:nvSpPr>
        <p:spPr/>
        <p:txBody>
          <a:bodyPr/>
          <a:lstStyle/>
          <a:p>
            <a:pPr rtl="0"/>
            <a:endParaRPr lang="fr-FR" sz="1600" dirty="0"/>
          </a:p>
          <a:p>
            <a:pPr rtl="0"/>
            <a:r>
              <a:rPr lang="fr-FR" sz="1600" dirty="0"/>
              <a:t>Regardez maintenant la section cadre produite,</a:t>
            </a:r>
          </a:p>
          <a:p>
            <a:pPr rtl="0"/>
            <a:endParaRPr lang="fr-FR" sz="1600" b="1" dirty="0"/>
          </a:p>
          <a:p>
            <a:pPr rtl="0"/>
            <a:r>
              <a:rPr lang="fr-FR" sz="1600" b="1" dirty="0"/>
              <a:t>Trois différences sautent aux yeux.</a:t>
            </a:r>
          </a:p>
          <a:p>
            <a:pPr rtl="0"/>
            <a:endParaRPr lang="fr-FR" sz="1600" dirty="0"/>
          </a:p>
          <a:p>
            <a:pPr rtl="0"/>
            <a:r>
              <a:rPr lang="fr-FR" sz="1600" b="1" dirty="0"/>
              <a:t>Premièrement</a:t>
            </a:r>
            <a:r>
              <a:rPr lang="fr-FR" sz="1600" dirty="0"/>
              <a:t>, l'IA écrit "</a:t>
            </a:r>
            <a:r>
              <a:rPr lang="fr-FR" sz="1600" i="1" dirty="0"/>
              <a:t>Maître [X], notaire à Paris, m'a confié la mission</a:t>
            </a:r>
            <a:r>
              <a:rPr lang="fr-FR" sz="1600" dirty="0"/>
              <a:t>" — formulation directe et professionnelle, sans la solennité de "l'expert soussigné a été commis". </a:t>
            </a:r>
          </a:p>
          <a:p>
            <a:pPr rtl="0"/>
            <a:r>
              <a:rPr lang="fr-FR" sz="1600" dirty="0"/>
              <a:t>Le ton est celui d'une lettre professionnelle, ce n’est pas celui d’un document de procédure.</a:t>
            </a:r>
          </a:p>
          <a:p>
            <a:pPr rtl="0"/>
            <a:endParaRPr lang="fr-FR" sz="1600" dirty="0"/>
          </a:p>
          <a:p>
            <a:pPr rtl="0"/>
            <a:r>
              <a:rPr lang="fr-FR" sz="1600" b="1" dirty="0"/>
              <a:t>Deuxièmement</a:t>
            </a:r>
            <a:r>
              <a:rPr lang="fr-FR" sz="1600" dirty="0"/>
              <a:t>, la mention "</a:t>
            </a:r>
            <a:r>
              <a:rPr lang="fr-FR" sz="1600" i="1" dirty="0"/>
              <a:t>signalé comme occupé par les héritiers</a:t>
            </a:r>
            <a:r>
              <a:rPr lang="fr-FR" sz="1600" dirty="0"/>
              <a:t>" — l'IA a repris cette information du prompt et elle l'a intégrée naturellement. </a:t>
            </a:r>
          </a:p>
          <a:p>
            <a:pPr rtl="0"/>
            <a:r>
              <a:rPr lang="fr-FR" sz="1600" dirty="0"/>
              <a:t>C'est important pour la suite : </a:t>
            </a:r>
            <a:r>
              <a:rPr lang="fr-FR" sz="1600" b="1" dirty="0"/>
              <a:t>l'occupation par les héritiers peut avoir une incidence sur la valeur, et elle doit figurer dans le rapport.</a:t>
            </a:r>
          </a:p>
          <a:p>
            <a:pPr rtl="0"/>
            <a:endParaRPr lang="fr-FR" sz="1600" dirty="0"/>
          </a:p>
          <a:p>
            <a:pPr rtl="0"/>
            <a:r>
              <a:rPr lang="fr-FR" sz="1600" b="1" dirty="0"/>
              <a:t>Troisièmement</a:t>
            </a:r>
            <a:r>
              <a:rPr lang="fr-FR" sz="1600" dirty="0"/>
              <a:t>, la liste des pièces sera reportée en bas de paragraphe, mais peu aussi </a:t>
            </a:r>
            <a:r>
              <a:rPr lang="fr-FR" sz="1600" dirty="0" err="1"/>
              <a:t>etre</a:t>
            </a:r>
            <a:r>
              <a:rPr lang="fr-FR" sz="1600" dirty="0"/>
              <a:t> compléter manuellement si besoin</a:t>
            </a:r>
          </a:p>
          <a:p>
            <a:pPr rtl="0"/>
            <a:r>
              <a:rPr lang="fr-FR" sz="1600" dirty="0"/>
              <a:t>C'est le seul élément que l'IA ne peut pas inventer, et elle le signale correctement par un espace réservé.</a:t>
            </a:r>
          </a:p>
          <a:p>
            <a:pPr rtl="0"/>
            <a:endParaRPr lang="fr-FR" sz="1600" dirty="0"/>
          </a:p>
          <a:p>
            <a:pPr rtl="0"/>
            <a:r>
              <a:rPr lang="fr-FR" sz="1600" dirty="0"/>
              <a:t>Comme vous le voyez, cette section, pose le contexte du rapport et elle libère ainsi toute la session suivante pour les sections de fond.</a:t>
            </a:r>
          </a:p>
          <a:p>
            <a:pPr rtl="0"/>
            <a:endParaRPr lang="fr-FR" sz="1600" dirty="0"/>
          </a:p>
        </p:txBody>
      </p:sp>
    </p:spTree>
    <p:extLst>
      <p:ext uri="{BB962C8B-B14F-4D97-AF65-F5344CB8AC3E}">
        <p14:creationId xmlns:p14="http://schemas.microsoft.com/office/powerpoint/2010/main" val="85319644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97DC5-7DBA-83DE-287A-F151C154DE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292AFEB-83D9-8B52-0318-41116A0CB06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C8A18D2-0998-B256-4F14-51C67F57F619}"/>
              </a:ext>
            </a:extLst>
          </p:cNvPr>
          <p:cNvSpPr>
            <a:spLocks noGrp="1"/>
          </p:cNvSpPr>
          <p:nvPr>
            <p:ph type="body" idx="1"/>
          </p:nvPr>
        </p:nvSpPr>
        <p:spPr/>
        <p:txBody>
          <a:bodyPr/>
          <a:lstStyle/>
          <a:p>
            <a:pPr rtl="0"/>
            <a:r>
              <a:rPr lang="fr-FR" sz="1600" b="1" dirty="0"/>
              <a:t>A partir de ce prompt</a:t>
            </a:r>
          </a:p>
          <a:p>
            <a:pPr rtl="0"/>
            <a:endParaRPr lang="fr-FR" sz="1600" dirty="0"/>
          </a:p>
          <a:p>
            <a:pPr rtl="0"/>
            <a:r>
              <a:rPr lang="fr-FR" sz="1600" dirty="0"/>
              <a:t>C’est là que vous allez mesurer le gain de temps le plus immédiat. </a:t>
            </a:r>
          </a:p>
          <a:p>
            <a:pPr rtl="0"/>
            <a:r>
              <a:rPr lang="fr-FR" sz="1600" dirty="0"/>
              <a:t>Les notes brutes que vous voyez à gauche sont volontairement peu lisibles — abréviations, pas de ponctuation, ordre de visite brut. </a:t>
            </a:r>
          </a:p>
          <a:p>
            <a:pPr rtl="0"/>
            <a:endParaRPr lang="fr-FR" sz="1600" dirty="0"/>
          </a:p>
          <a:p>
            <a:pPr rtl="0"/>
            <a:r>
              <a:rPr lang="fr-FR" sz="1600" dirty="0"/>
              <a:t>C'est peut être ainsi que vous prenez vos notes sur le terrain.</a:t>
            </a:r>
          </a:p>
          <a:p>
            <a:pPr rtl="0"/>
            <a:endParaRPr lang="fr-FR" sz="1600" dirty="0"/>
          </a:p>
          <a:p>
            <a:pPr rtl="0"/>
            <a:r>
              <a:rPr lang="fr-FR" sz="1600" b="1" dirty="0"/>
              <a:t>Signalez au groupe </a:t>
            </a:r>
            <a:r>
              <a:rPr lang="fr-FR" sz="1600" dirty="0"/>
              <a:t>que :</a:t>
            </a:r>
          </a:p>
          <a:p>
            <a:pPr rtl="0"/>
            <a:r>
              <a:rPr lang="fr-FR" sz="1600" dirty="0"/>
              <a:t>ces notes ne sont pas "nettoyées" avant d'être collées dans l'IA. </a:t>
            </a:r>
          </a:p>
          <a:p>
            <a:pPr rtl="0"/>
            <a:r>
              <a:rPr lang="fr-FR" sz="1600" dirty="0"/>
              <a:t>C'est intentionnel. </a:t>
            </a:r>
          </a:p>
          <a:p>
            <a:pPr rtl="0"/>
            <a:endParaRPr lang="fr-FR" sz="1600" dirty="0"/>
          </a:p>
          <a:p>
            <a:pPr rtl="0"/>
            <a:r>
              <a:rPr lang="fr-FR" sz="1600" dirty="0"/>
              <a:t>L'IA est parfaitement capable de lire des notes abrégées et d'en produire une prose structurée. </a:t>
            </a:r>
          </a:p>
          <a:p>
            <a:pPr rtl="0"/>
            <a:endParaRPr lang="fr-FR" sz="1600" dirty="0"/>
          </a:p>
          <a:p>
            <a:pPr rtl="0"/>
            <a:r>
              <a:rPr lang="fr-FR" sz="1600" dirty="0"/>
              <a:t>Vous n'avez pas à reformuler vos notes pour les rendre "lisibles par l'IA" — </a:t>
            </a:r>
            <a:r>
              <a:rPr lang="fr-FR" sz="1600" b="1" dirty="0"/>
              <a:t>collez-les telles quelles.</a:t>
            </a:r>
          </a:p>
          <a:p>
            <a:pPr rtl="0"/>
            <a:endParaRPr lang="fr-FR" sz="1600" dirty="0"/>
          </a:p>
          <a:p>
            <a:pPr rtl="0"/>
            <a:r>
              <a:rPr lang="fr-FR" sz="1600" dirty="0"/>
              <a:t>Nous demandons : Deux paragraphes fonctionnels, clairs, professionnels.</a:t>
            </a:r>
          </a:p>
          <a:p>
            <a:pPr rtl="0"/>
            <a:endParaRPr lang="fr-FR" sz="1600" dirty="0"/>
          </a:p>
          <a:p>
            <a:pPr rtl="0"/>
            <a:r>
              <a:rPr lang="fr-FR" sz="1600" b="1" dirty="0"/>
              <a:t>Le point faible </a:t>
            </a:r>
            <a:r>
              <a:rPr lang="fr-FR" sz="1600" dirty="0"/>
              <a:t>à surveiller </a:t>
            </a:r>
          </a:p>
          <a:p>
            <a:pPr rtl="0"/>
            <a:r>
              <a:rPr lang="fr-FR" sz="1600" dirty="0"/>
              <a:t>la salle de bains. </a:t>
            </a:r>
          </a:p>
          <a:p>
            <a:pPr rtl="0"/>
            <a:r>
              <a:rPr lang="fr-FR" sz="1600" dirty="0"/>
              <a:t>L'IA doit mentionner explicitement l'état vétuste — baignoire fonte ancienne, robinetterie hors d'âge, carrelage décollé, absence de VMC. </a:t>
            </a:r>
          </a:p>
          <a:p>
            <a:pPr rtl="0"/>
            <a:r>
              <a:rPr lang="fr-FR" sz="1600" dirty="0"/>
              <a:t>Si l'IA atténue ces éléments ou les minimise, c'est une erreur que vous devez corriger. </a:t>
            </a:r>
          </a:p>
          <a:p>
            <a:pPr rtl="0"/>
            <a:endParaRPr lang="fr-FR" sz="1600" dirty="0"/>
          </a:p>
          <a:p>
            <a:pPr rtl="0"/>
            <a:r>
              <a:rPr lang="fr-FR" sz="1600" b="1" dirty="0"/>
              <a:t>La règle reste identique </a:t>
            </a:r>
            <a:r>
              <a:rPr lang="fr-FR" sz="1600" dirty="0"/>
              <a:t>: un point faible constaté lors de la visite doit être mentionné sans atténuation dans le rapport.</a:t>
            </a:r>
          </a:p>
          <a:p>
            <a:pPr rtl="0"/>
            <a:endParaRPr lang="fr-FR" sz="1600" dirty="0"/>
          </a:p>
        </p:txBody>
      </p:sp>
    </p:spTree>
    <p:extLst>
      <p:ext uri="{BB962C8B-B14F-4D97-AF65-F5344CB8AC3E}">
        <p14:creationId xmlns:p14="http://schemas.microsoft.com/office/powerpoint/2010/main" val="248643503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186D4-6D09-893A-A840-507CB71A7E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58CF97-5882-FB79-E438-7B55B554F3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B00C2D-7219-62CD-B6BB-73463DF09140}"/>
              </a:ext>
            </a:extLst>
          </p:cNvPr>
          <p:cNvSpPr>
            <a:spLocks noGrp="1"/>
          </p:cNvSpPr>
          <p:nvPr>
            <p:ph type="body" idx="1"/>
          </p:nvPr>
        </p:nvSpPr>
        <p:spPr/>
        <p:txBody>
          <a:bodyPr/>
          <a:lstStyle/>
          <a:p>
            <a:pPr rtl="0"/>
            <a:r>
              <a:rPr lang="fr-FR" sz="1600" b="1" dirty="0"/>
              <a:t>A partir de ce prompt</a:t>
            </a:r>
          </a:p>
          <a:p>
            <a:pPr rtl="0"/>
            <a:endParaRPr lang="fr-FR" sz="1600" dirty="0"/>
          </a:p>
          <a:p>
            <a:pPr rtl="0"/>
            <a:r>
              <a:rPr lang="fr-FR" sz="1600" dirty="0"/>
              <a:t>C’est là que vous allez mesurer le gain de temps le plus immédiat. </a:t>
            </a:r>
          </a:p>
          <a:p>
            <a:pPr rtl="0"/>
            <a:r>
              <a:rPr lang="fr-FR" sz="1600" dirty="0"/>
              <a:t>Les notes brutes que vous voyez à gauche sont volontairement peu lisibles — abréviations, pas de ponctuation, ordre de visite brut. </a:t>
            </a:r>
          </a:p>
          <a:p>
            <a:pPr rtl="0"/>
            <a:endParaRPr lang="fr-FR" sz="1600" dirty="0"/>
          </a:p>
          <a:p>
            <a:pPr rtl="0"/>
            <a:r>
              <a:rPr lang="fr-FR" sz="1600" dirty="0"/>
              <a:t>C'est peut être ainsi que vous prenez vos notes sur le terrain.</a:t>
            </a:r>
          </a:p>
          <a:p>
            <a:pPr rtl="0"/>
            <a:endParaRPr lang="fr-FR" sz="1600" dirty="0"/>
          </a:p>
          <a:p>
            <a:pPr rtl="0"/>
            <a:r>
              <a:rPr lang="fr-FR" sz="1600" b="1" dirty="0"/>
              <a:t>Signalez au groupe </a:t>
            </a:r>
            <a:r>
              <a:rPr lang="fr-FR" sz="1600" dirty="0"/>
              <a:t>que :</a:t>
            </a:r>
          </a:p>
          <a:p>
            <a:pPr rtl="0"/>
            <a:r>
              <a:rPr lang="fr-FR" sz="1600" dirty="0"/>
              <a:t>ces notes ne sont pas "nettoyées" avant d'être collées dans l'IA. </a:t>
            </a:r>
          </a:p>
          <a:p>
            <a:pPr rtl="0"/>
            <a:r>
              <a:rPr lang="fr-FR" sz="1600" dirty="0"/>
              <a:t>C'est intentionnel. </a:t>
            </a:r>
          </a:p>
          <a:p>
            <a:pPr rtl="0"/>
            <a:endParaRPr lang="fr-FR" sz="1600" dirty="0"/>
          </a:p>
          <a:p>
            <a:pPr rtl="0"/>
            <a:r>
              <a:rPr lang="fr-FR" sz="1600" dirty="0"/>
              <a:t>L'IA est parfaitement capable de lire des notes abrégées et d'en produire une prose structurée. </a:t>
            </a:r>
          </a:p>
          <a:p>
            <a:pPr rtl="0"/>
            <a:endParaRPr lang="fr-FR" sz="1600" dirty="0"/>
          </a:p>
          <a:p>
            <a:pPr rtl="0"/>
            <a:r>
              <a:rPr lang="fr-FR" sz="1600" dirty="0"/>
              <a:t>Vous n'avez pas à reformuler vos notes pour les rendre "lisibles par l'IA" — </a:t>
            </a:r>
            <a:r>
              <a:rPr lang="fr-FR" sz="1600" b="1" dirty="0"/>
              <a:t>collez-les telles quelles.</a:t>
            </a:r>
          </a:p>
          <a:p>
            <a:pPr rtl="0"/>
            <a:endParaRPr lang="fr-FR" sz="1600" dirty="0"/>
          </a:p>
          <a:p>
            <a:pPr rtl="0"/>
            <a:r>
              <a:rPr lang="fr-FR" sz="1600" dirty="0"/>
              <a:t>Nous demandons : Deux paragraphes fonctionnels, clairs, professionnels.</a:t>
            </a:r>
          </a:p>
          <a:p>
            <a:pPr rtl="0"/>
            <a:endParaRPr lang="fr-FR" sz="1600" dirty="0"/>
          </a:p>
          <a:p>
            <a:pPr rtl="0"/>
            <a:r>
              <a:rPr lang="fr-FR" sz="1600" b="1" dirty="0"/>
              <a:t>Le point faible </a:t>
            </a:r>
            <a:r>
              <a:rPr lang="fr-FR" sz="1600" dirty="0"/>
              <a:t>à surveiller </a:t>
            </a:r>
          </a:p>
          <a:p>
            <a:pPr rtl="0"/>
            <a:r>
              <a:rPr lang="fr-FR" sz="1600" dirty="0"/>
              <a:t>la salle de bains. </a:t>
            </a:r>
          </a:p>
          <a:p>
            <a:pPr rtl="0"/>
            <a:r>
              <a:rPr lang="fr-FR" sz="1600" dirty="0"/>
              <a:t>L'IA doit mentionner explicitement l'état vétuste — baignoire fonte ancienne, robinetterie hors d'âge, carrelage décollé, absence de VMC. </a:t>
            </a:r>
          </a:p>
          <a:p>
            <a:pPr rtl="0"/>
            <a:r>
              <a:rPr lang="fr-FR" sz="1600" dirty="0"/>
              <a:t>Si l'IA atténue ces éléments ou les minimise, c'est une erreur que vous devez corriger. </a:t>
            </a:r>
          </a:p>
          <a:p>
            <a:pPr rtl="0"/>
            <a:endParaRPr lang="fr-FR" sz="1600" dirty="0"/>
          </a:p>
          <a:p>
            <a:pPr rtl="0"/>
            <a:r>
              <a:rPr lang="fr-FR" sz="1600" b="1" dirty="0"/>
              <a:t>La règle reste identique </a:t>
            </a:r>
            <a:r>
              <a:rPr lang="fr-FR" sz="1600" dirty="0"/>
              <a:t>: un point faible constaté lors de la visite doit être mentionné sans atténuation dans le rapport.</a:t>
            </a:r>
          </a:p>
          <a:p>
            <a:pPr rtl="0"/>
            <a:endParaRPr lang="fr-FR" sz="1600" dirty="0"/>
          </a:p>
        </p:txBody>
      </p:sp>
    </p:spTree>
    <p:extLst>
      <p:ext uri="{BB962C8B-B14F-4D97-AF65-F5344CB8AC3E}">
        <p14:creationId xmlns:p14="http://schemas.microsoft.com/office/powerpoint/2010/main" val="335539680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24E6-6D08-441F-83AE-91BFD43432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22C722-D202-66C1-8258-30A2E7AA5A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9EC909-30FE-96D3-9F42-13828959E5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a:solidFill>
                  <a:schemeClr val="accent3">
                    <a:lumMod val="75000"/>
                  </a:schemeClr>
                </a:solidFill>
              </a:rPr>
              <a:t>Règle de confidentialité</a:t>
            </a:r>
          </a:p>
          <a:p>
            <a:pPr rtl="0"/>
            <a:endParaRPr lang="fr-FR" sz="1600" dirty="0"/>
          </a:p>
          <a:p>
            <a:pPr rtl="0"/>
            <a:r>
              <a:rPr lang="fr-FR" sz="1600" dirty="0"/>
              <a:t>les informations que vous manipulez sont particulièrement sensibles. </a:t>
            </a:r>
          </a:p>
          <a:p>
            <a:pPr rtl="0"/>
            <a:endParaRPr lang="fr-FR" sz="1600" dirty="0"/>
          </a:p>
          <a:p>
            <a:pPr rtl="0"/>
            <a:r>
              <a:rPr lang="fr-FR" sz="1600" dirty="0"/>
              <a:t>Vous avez toute de même un certain nombre de données sensibles :</a:t>
            </a:r>
          </a:p>
          <a:p>
            <a:pPr rtl="0"/>
            <a:r>
              <a:rPr lang="fr-FR" sz="1600" dirty="0"/>
              <a:t>les noms des héritiers,</a:t>
            </a:r>
          </a:p>
          <a:p>
            <a:pPr rtl="0"/>
            <a:r>
              <a:rPr lang="fr-FR" sz="1600" dirty="0"/>
              <a:t>l'adresse précise du bien, </a:t>
            </a:r>
          </a:p>
          <a:p>
            <a:pPr rtl="0"/>
            <a:r>
              <a:rPr lang="fr-FR" sz="1600" dirty="0"/>
              <a:t>la valeur estimée, </a:t>
            </a:r>
          </a:p>
          <a:p>
            <a:pPr rtl="0"/>
            <a:r>
              <a:rPr lang="fr-FR" sz="1600" dirty="0"/>
              <a:t>et parfois des éléments sur la situation financière ou familiale du défunt. </a:t>
            </a:r>
          </a:p>
          <a:p>
            <a:pPr rtl="0"/>
            <a:endParaRPr lang="fr-FR" sz="1600" dirty="0"/>
          </a:p>
          <a:p>
            <a:pPr rtl="0"/>
            <a:r>
              <a:rPr lang="fr-FR" sz="1600" b="1" dirty="0"/>
              <a:t>Tout cela ne doit jamais transiter dans un outil IA public — ni Claude, ni </a:t>
            </a:r>
            <a:r>
              <a:rPr lang="fr-FR" sz="1600" b="1" dirty="0" err="1"/>
              <a:t>ChatGPT</a:t>
            </a:r>
            <a:r>
              <a:rPr lang="fr-FR" sz="1600" b="1" dirty="0"/>
              <a:t>, ni aucun autre service grand public.</a:t>
            </a:r>
          </a:p>
          <a:p>
            <a:pPr rtl="0"/>
            <a:endParaRPr lang="fr-FR" sz="1600" dirty="0"/>
          </a:p>
          <a:p>
            <a:pPr rtl="0"/>
            <a:r>
              <a:rPr lang="fr-FR" sz="1600" b="1" dirty="0"/>
              <a:t>La règle pratique est simple et ne souffre aucune exception : </a:t>
            </a:r>
          </a:p>
          <a:p>
            <a:pPr rtl="0"/>
            <a:r>
              <a:rPr lang="fr-FR" sz="1600" b="1" dirty="0"/>
              <a:t>vous anonymisez avant de coller dans l'IA. </a:t>
            </a:r>
          </a:p>
          <a:p>
            <a:pPr rtl="0"/>
            <a:endParaRPr lang="fr-FR" sz="1600" dirty="0"/>
          </a:p>
          <a:p>
            <a:pPr rtl="0"/>
            <a:r>
              <a:rPr lang="fr-FR" sz="1600" dirty="0"/>
              <a:t>Le notaire devient "le notaire mandant". </a:t>
            </a:r>
          </a:p>
          <a:p>
            <a:pPr rtl="0"/>
            <a:r>
              <a:rPr lang="fr-FR" sz="1600" dirty="0"/>
              <a:t>Les héritiers deviennent "les héritiers indivisaires". </a:t>
            </a:r>
          </a:p>
          <a:p>
            <a:pPr rtl="0"/>
            <a:r>
              <a:rPr lang="fr-FR" sz="1600" dirty="0"/>
              <a:t>L'adresse exacte devient le nom de la rue sans le numéro, ou le secteur géographique.</a:t>
            </a:r>
          </a:p>
          <a:p>
            <a:pPr rtl="0"/>
            <a:endParaRPr lang="fr-FR" sz="1600" dirty="0"/>
          </a:p>
          <a:p>
            <a:pPr rtl="0"/>
            <a:r>
              <a:rPr lang="fr-FR" sz="1600" dirty="0"/>
              <a:t>Regardez l'exemple de l'adresse. La différence entre "14 rue Keller" et "rue Keller" peut sembler anodine — mais combinée à la valeur estimée, l'adresse exacte permet d'identifier précisément un bien et ses propriétaires. </a:t>
            </a:r>
          </a:p>
          <a:p>
            <a:pPr rtl="0"/>
            <a:endParaRPr lang="fr-FR" sz="1600" dirty="0"/>
          </a:p>
          <a:p>
            <a:pPr rtl="0"/>
            <a:r>
              <a:rPr lang="fr-FR" sz="1600" dirty="0"/>
              <a:t>Or, dans une succession, ces informations sont protégées par le secret professionnel du notaire, et indirectement par le vôtre.</a:t>
            </a:r>
          </a:p>
          <a:p>
            <a:pPr rtl="0"/>
            <a:endParaRPr lang="fr-FR" sz="1600" dirty="0"/>
          </a:p>
          <a:p>
            <a:pPr rtl="0"/>
            <a:r>
              <a:rPr lang="fr-FR" sz="1600" b="1" dirty="0"/>
              <a:t>La bonne nouvelle</a:t>
            </a:r>
            <a:r>
              <a:rPr lang="fr-FR" sz="1600" dirty="0"/>
              <a:t>, c'est que cette anonymisation ne dégrade pas la qualité du rapport produit par l'IA. </a:t>
            </a:r>
          </a:p>
          <a:p>
            <a:pPr rtl="0"/>
            <a:endParaRPr lang="fr-FR" sz="1600" dirty="0"/>
          </a:p>
          <a:p>
            <a:pPr rtl="0"/>
            <a:r>
              <a:rPr lang="fr-FR" sz="1600" dirty="0"/>
              <a:t>L'adresse "rue Keller, Paris 11e" suffit largement pour que l'IA rédige une section de situation géographique pertinente. </a:t>
            </a:r>
          </a:p>
          <a:p>
            <a:pPr rtl="0"/>
            <a:r>
              <a:rPr lang="fr-FR" sz="1600" dirty="0"/>
              <a:t>Elle n'a pas besoin du numéro de porte pour décrire le quartier.</a:t>
            </a:r>
          </a:p>
          <a:p>
            <a:pPr rtl="0"/>
            <a:endParaRPr lang="fr-FR" sz="1600" dirty="0"/>
          </a:p>
          <a:p>
            <a:pPr rtl="0"/>
            <a:r>
              <a:rPr lang="fr-FR" sz="1600" dirty="0"/>
              <a:t>Donc, prenez l'habitude de réaliser cette anonymisation avant de coller dans l'IA — pas après. </a:t>
            </a:r>
          </a:p>
          <a:p>
            <a:pPr rtl="0"/>
            <a:endParaRPr lang="fr-FR" sz="1600" dirty="0"/>
          </a:p>
          <a:p>
            <a:pPr rtl="0"/>
            <a:r>
              <a:rPr lang="fr-FR" sz="1600" b="1" dirty="0"/>
              <a:t>C'est une simple manipulation de 30 secondes sur vos notes de visite, qui protège votre client et respecte vos obligations professionnelles.</a:t>
            </a:r>
          </a:p>
        </p:txBody>
      </p:sp>
    </p:spTree>
    <p:extLst>
      <p:ext uri="{BB962C8B-B14F-4D97-AF65-F5344CB8AC3E}">
        <p14:creationId xmlns:p14="http://schemas.microsoft.com/office/powerpoint/2010/main" val="293151756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321280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Fu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E3B2333-9874-93D9-916F-BB3214DDC443}"/>
              </a:ext>
            </a:extLst>
          </p:cNvPr>
          <p:cNvSpPr>
            <a:spLocks noGrp="1"/>
          </p:cNvSpPr>
          <p:nvPr>
            <p:ph type="pic" sz="quarter" idx="10"/>
          </p:nvPr>
        </p:nvSpPr>
        <p:spPr>
          <a:xfrm>
            <a:off x="0" y="0"/>
            <a:ext cx="12192000" cy="6858000"/>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81305127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73236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utur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7F8ED38E-44B4-4DDF-A58E-AF94FFC6490E}"/>
              </a:ext>
            </a:extLst>
          </p:cNvPr>
          <p:cNvSpPr>
            <a:spLocks noGrp="1"/>
          </p:cNvSpPr>
          <p:nvPr>
            <p:ph type="pic" sz="quarter" idx="14"/>
          </p:nvPr>
        </p:nvSpPr>
        <p:spPr>
          <a:xfrm>
            <a:off x="6959187"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3" name="Picture Placeholder 12">
            <a:extLst>
              <a:ext uri="{FF2B5EF4-FFF2-40B4-BE49-F238E27FC236}">
                <a16:creationId xmlns:a16="http://schemas.microsoft.com/office/drawing/2014/main" id="{7D246D0A-5EBA-CDED-CA6C-3FE5ECFBE608}"/>
              </a:ext>
            </a:extLst>
          </p:cNvPr>
          <p:cNvSpPr>
            <a:spLocks noGrp="1"/>
          </p:cNvSpPr>
          <p:nvPr>
            <p:ph type="pic" sz="quarter" idx="13"/>
          </p:nvPr>
        </p:nvSpPr>
        <p:spPr>
          <a:xfrm>
            <a:off x="5516494"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2" name="Picture Placeholder 11">
            <a:extLst>
              <a:ext uri="{FF2B5EF4-FFF2-40B4-BE49-F238E27FC236}">
                <a16:creationId xmlns:a16="http://schemas.microsoft.com/office/drawing/2014/main" id="{C0620DA2-9AAD-3876-D470-DF6074740C01}"/>
              </a:ext>
            </a:extLst>
          </p:cNvPr>
          <p:cNvSpPr>
            <a:spLocks noGrp="1"/>
          </p:cNvSpPr>
          <p:nvPr>
            <p:ph type="pic" sz="quarter" idx="12"/>
          </p:nvPr>
        </p:nvSpPr>
        <p:spPr>
          <a:xfrm>
            <a:off x="4073798"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1" name="Picture Placeholder 10">
            <a:extLst>
              <a:ext uri="{FF2B5EF4-FFF2-40B4-BE49-F238E27FC236}">
                <a16:creationId xmlns:a16="http://schemas.microsoft.com/office/drawing/2014/main" id="{BC3B8958-9E39-E328-3555-CD105F11BC77}"/>
              </a:ext>
            </a:extLst>
          </p:cNvPr>
          <p:cNvSpPr>
            <a:spLocks noGrp="1"/>
          </p:cNvSpPr>
          <p:nvPr>
            <p:ph type="pic" sz="quarter" idx="11"/>
          </p:nvPr>
        </p:nvSpPr>
        <p:spPr>
          <a:xfrm>
            <a:off x="2631105"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9" name="Picture Placeholder 8">
            <a:extLst>
              <a:ext uri="{FF2B5EF4-FFF2-40B4-BE49-F238E27FC236}">
                <a16:creationId xmlns:a16="http://schemas.microsoft.com/office/drawing/2014/main" id="{186E51E8-BB2B-6DB7-010D-223E06C1FCDA}"/>
              </a:ext>
            </a:extLst>
          </p:cNvPr>
          <p:cNvSpPr>
            <a:spLocks noGrp="1"/>
          </p:cNvSpPr>
          <p:nvPr>
            <p:ph type="pic" sz="quarter" idx="10"/>
          </p:nvPr>
        </p:nvSpPr>
        <p:spPr>
          <a:xfrm>
            <a:off x="1188408"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428127027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u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983474E-5EB8-8FEE-BDD7-510800088BF0}"/>
              </a:ext>
            </a:extLst>
          </p:cNvPr>
          <p:cNvSpPr>
            <a:spLocks noGrp="1"/>
          </p:cNvSpPr>
          <p:nvPr>
            <p:ph type="pic" sz="quarter" idx="10"/>
          </p:nvPr>
        </p:nvSpPr>
        <p:spPr>
          <a:xfrm>
            <a:off x="6898725" y="580011"/>
            <a:ext cx="4314382" cy="5697978"/>
          </a:xfrm>
          <a:custGeom>
            <a:avLst/>
            <a:gdLst>
              <a:gd name="connsiteX0" fmla="*/ 134350 w 4314382"/>
              <a:gd name="connsiteY0" fmla="*/ 0 h 5697978"/>
              <a:gd name="connsiteX1" fmla="*/ 4180032 w 4314382"/>
              <a:gd name="connsiteY1" fmla="*/ 0 h 5697978"/>
              <a:gd name="connsiteX2" fmla="*/ 4314382 w 4314382"/>
              <a:gd name="connsiteY2" fmla="*/ 134350 h 5697978"/>
              <a:gd name="connsiteX3" fmla="*/ 4314382 w 4314382"/>
              <a:gd name="connsiteY3" fmla="*/ 5563628 h 5697978"/>
              <a:gd name="connsiteX4" fmla="*/ 4180032 w 4314382"/>
              <a:gd name="connsiteY4" fmla="*/ 5697978 h 5697978"/>
              <a:gd name="connsiteX5" fmla="*/ 134350 w 4314382"/>
              <a:gd name="connsiteY5" fmla="*/ 5697978 h 5697978"/>
              <a:gd name="connsiteX6" fmla="*/ 0 w 4314382"/>
              <a:gd name="connsiteY6" fmla="*/ 5563628 h 5697978"/>
              <a:gd name="connsiteX7" fmla="*/ 0 w 4314382"/>
              <a:gd name="connsiteY7" fmla="*/ 134350 h 5697978"/>
              <a:gd name="connsiteX8" fmla="*/ 134350 w 4314382"/>
              <a:gd name="connsiteY8" fmla="*/ 0 h 5697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4382" h="5697978">
                <a:moveTo>
                  <a:pt x="134350" y="0"/>
                </a:moveTo>
                <a:lnTo>
                  <a:pt x="4180032" y="0"/>
                </a:lnTo>
                <a:cubicBezTo>
                  <a:pt x="4254231" y="0"/>
                  <a:pt x="4314382" y="60151"/>
                  <a:pt x="4314382" y="134350"/>
                </a:cubicBezTo>
                <a:lnTo>
                  <a:pt x="4314382" y="5563628"/>
                </a:lnTo>
                <a:cubicBezTo>
                  <a:pt x="4314382" y="5637827"/>
                  <a:pt x="4254231" y="5697978"/>
                  <a:pt x="4180032" y="5697978"/>
                </a:cubicBezTo>
                <a:lnTo>
                  <a:pt x="134350" y="5697978"/>
                </a:lnTo>
                <a:cubicBezTo>
                  <a:pt x="60151" y="5697978"/>
                  <a:pt x="0" y="5637827"/>
                  <a:pt x="0" y="5563628"/>
                </a:cubicBezTo>
                <a:lnTo>
                  <a:pt x="0" y="134350"/>
                </a:lnTo>
                <a:cubicBezTo>
                  <a:pt x="0" y="60151"/>
                  <a:pt x="60151" y="0"/>
                  <a:pt x="134350"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8914503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Fu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B1D8B91-441E-1AE2-6130-92D5BCCD8971}"/>
              </a:ext>
            </a:extLst>
          </p:cNvPr>
          <p:cNvSpPr>
            <a:spLocks noGrp="1"/>
          </p:cNvSpPr>
          <p:nvPr>
            <p:ph type="pic" sz="quarter" idx="10"/>
          </p:nvPr>
        </p:nvSpPr>
        <p:spPr>
          <a:xfrm>
            <a:off x="6233534" y="1194261"/>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8283678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Fu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4AD84E9-7B91-F843-B78F-8113BC88F0B0}"/>
              </a:ext>
            </a:extLst>
          </p:cNvPr>
          <p:cNvSpPr>
            <a:spLocks noGrp="1"/>
          </p:cNvSpPr>
          <p:nvPr>
            <p:ph type="pic" sz="quarter" idx="10"/>
          </p:nvPr>
        </p:nvSpPr>
        <p:spPr>
          <a:xfrm>
            <a:off x="7072600" y="0"/>
            <a:ext cx="4003257" cy="4720402"/>
          </a:xfrm>
          <a:custGeom>
            <a:avLst/>
            <a:gdLst>
              <a:gd name="connsiteX0" fmla="*/ 0 w 4003257"/>
              <a:gd name="connsiteY0" fmla="*/ 0 h 4720402"/>
              <a:gd name="connsiteX1" fmla="*/ 4003257 w 4003257"/>
              <a:gd name="connsiteY1" fmla="*/ 0 h 4720402"/>
              <a:gd name="connsiteX2" fmla="*/ 4003257 w 4003257"/>
              <a:gd name="connsiteY2" fmla="*/ 4537173 h 4720402"/>
              <a:gd name="connsiteX3" fmla="*/ 3820028 w 4003257"/>
              <a:gd name="connsiteY3" fmla="*/ 4720402 h 4720402"/>
              <a:gd name="connsiteX4" fmla="*/ 183229 w 4003257"/>
              <a:gd name="connsiteY4" fmla="*/ 4720402 h 4720402"/>
              <a:gd name="connsiteX5" fmla="*/ 0 w 4003257"/>
              <a:gd name="connsiteY5" fmla="*/ 4537173 h 4720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3257" h="4720402">
                <a:moveTo>
                  <a:pt x="0" y="0"/>
                </a:moveTo>
                <a:lnTo>
                  <a:pt x="4003257" y="0"/>
                </a:lnTo>
                <a:lnTo>
                  <a:pt x="4003257" y="4537173"/>
                </a:lnTo>
                <a:cubicBezTo>
                  <a:pt x="4003257" y="4638368"/>
                  <a:pt x="3921223" y="4720402"/>
                  <a:pt x="3820028" y="4720402"/>
                </a:cubicBezTo>
                <a:lnTo>
                  <a:pt x="183229" y="4720402"/>
                </a:lnTo>
                <a:cubicBezTo>
                  <a:pt x="82034" y="4720402"/>
                  <a:pt x="0" y="4638368"/>
                  <a:pt x="0" y="4537173"/>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7" name="Picture Placeholder 4">
            <a:extLst>
              <a:ext uri="{FF2B5EF4-FFF2-40B4-BE49-F238E27FC236}">
                <a16:creationId xmlns:a16="http://schemas.microsoft.com/office/drawing/2014/main" id="{68447576-A257-F6CD-EECD-C681B6BACA80}"/>
              </a:ext>
            </a:extLst>
          </p:cNvPr>
          <p:cNvSpPr>
            <a:spLocks noGrp="1"/>
          </p:cNvSpPr>
          <p:nvPr>
            <p:ph type="pic" sz="quarter" idx="11"/>
          </p:nvPr>
        </p:nvSpPr>
        <p:spPr>
          <a:xfrm>
            <a:off x="0" y="5170340"/>
            <a:ext cx="12192000" cy="1687659"/>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91231453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7145138" y="0"/>
            <a:ext cx="5046861" cy="6858000"/>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85969584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0" y="2767638"/>
            <a:ext cx="12192000" cy="3061662"/>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5656286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Fu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7541C96-5B36-0C93-37C5-E5416F6C415F}"/>
              </a:ext>
            </a:extLst>
          </p:cNvPr>
          <p:cNvSpPr>
            <a:spLocks noGrp="1"/>
          </p:cNvSpPr>
          <p:nvPr>
            <p:ph type="pic" sz="quarter" idx="10"/>
          </p:nvPr>
        </p:nvSpPr>
        <p:spPr>
          <a:xfrm>
            <a:off x="5991400" y="1531817"/>
            <a:ext cx="2162024" cy="2162024"/>
          </a:xfrm>
          <a:custGeom>
            <a:avLst/>
            <a:gdLst>
              <a:gd name="connsiteX0" fmla="*/ 1081012 w 2162024"/>
              <a:gd name="connsiteY0" fmla="*/ 0 h 2162024"/>
              <a:gd name="connsiteX1" fmla="*/ 2162024 w 2162024"/>
              <a:gd name="connsiteY1" fmla="*/ 1081012 h 2162024"/>
              <a:gd name="connsiteX2" fmla="*/ 1081012 w 2162024"/>
              <a:gd name="connsiteY2" fmla="*/ 2162024 h 2162024"/>
              <a:gd name="connsiteX3" fmla="*/ 0 w 2162024"/>
              <a:gd name="connsiteY3" fmla="*/ 1081012 h 2162024"/>
              <a:gd name="connsiteX4" fmla="*/ 1081012 w 2162024"/>
              <a:gd name="connsiteY4" fmla="*/ 0 h 2162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024" h="2162024">
                <a:moveTo>
                  <a:pt x="1081012" y="0"/>
                </a:moveTo>
                <a:cubicBezTo>
                  <a:pt x="1678038" y="0"/>
                  <a:pt x="2162024" y="483986"/>
                  <a:pt x="2162024" y="1081012"/>
                </a:cubicBezTo>
                <a:cubicBezTo>
                  <a:pt x="2162024" y="1678038"/>
                  <a:pt x="1678038" y="2162024"/>
                  <a:pt x="1081012" y="2162024"/>
                </a:cubicBezTo>
                <a:cubicBezTo>
                  <a:pt x="483986" y="2162024"/>
                  <a:pt x="0" y="1678038"/>
                  <a:pt x="0" y="1081012"/>
                </a:cubicBezTo>
                <a:cubicBezTo>
                  <a:pt x="0" y="483986"/>
                  <a:pt x="483986" y="0"/>
                  <a:pt x="1081012"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7" name="Picture Placeholder 6">
            <a:extLst>
              <a:ext uri="{FF2B5EF4-FFF2-40B4-BE49-F238E27FC236}">
                <a16:creationId xmlns:a16="http://schemas.microsoft.com/office/drawing/2014/main" id="{8C5B6828-69A7-1E7D-205D-2620B6FD7C63}"/>
              </a:ext>
            </a:extLst>
          </p:cNvPr>
          <p:cNvSpPr>
            <a:spLocks noGrp="1"/>
          </p:cNvSpPr>
          <p:nvPr>
            <p:ph type="pic" sz="quarter" idx="11"/>
          </p:nvPr>
        </p:nvSpPr>
        <p:spPr>
          <a:xfrm>
            <a:off x="8942473" y="1531817"/>
            <a:ext cx="2162024" cy="2162024"/>
          </a:xfrm>
          <a:custGeom>
            <a:avLst/>
            <a:gdLst>
              <a:gd name="connsiteX0" fmla="*/ 1081012 w 2162024"/>
              <a:gd name="connsiteY0" fmla="*/ 0 h 2162024"/>
              <a:gd name="connsiteX1" fmla="*/ 2162024 w 2162024"/>
              <a:gd name="connsiteY1" fmla="*/ 1081012 h 2162024"/>
              <a:gd name="connsiteX2" fmla="*/ 1081012 w 2162024"/>
              <a:gd name="connsiteY2" fmla="*/ 2162024 h 2162024"/>
              <a:gd name="connsiteX3" fmla="*/ 0 w 2162024"/>
              <a:gd name="connsiteY3" fmla="*/ 1081012 h 2162024"/>
              <a:gd name="connsiteX4" fmla="*/ 1081012 w 2162024"/>
              <a:gd name="connsiteY4" fmla="*/ 0 h 2162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024" h="2162024">
                <a:moveTo>
                  <a:pt x="1081012" y="0"/>
                </a:moveTo>
                <a:cubicBezTo>
                  <a:pt x="1678038" y="0"/>
                  <a:pt x="2162024" y="483986"/>
                  <a:pt x="2162024" y="1081012"/>
                </a:cubicBezTo>
                <a:cubicBezTo>
                  <a:pt x="2162024" y="1678038"/>
                  <a:pt x="1678038" y="2162024"/>
                  <a:pt x="1081012" y="2162024"/>
                </a:cubicBezTo>
                <a:cubicBezTo>
                  <a:pt x="483986" y="2162024"/>
                  <a:pt x="0" y="1678038"/>
                  <a:pt x="0" y="1081012"/>
                </a:cubicBezTo>
                <a:cubicBezTo>
                  <a:pt x="0" y="483986"/>
                  <a:pt x="483986" y="0"/>
                  <a:pt x="1081012"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43456663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Fu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3271398-ECF7-6468-604F-755B1C200CD8}"/>
              </a:ext>
            </a:extLst>
          </p:cNvPr>
          <p:cNvSpPr>
            <a:spLocks noGrp="1"/>
          </p:cNvSpPr>
          <p:nvPr>
            <p:ph type="pic" sz="quarter" idx="10"/>
          </p:nvPr>
        </p:nvSpPr>
        <p:spPr>
          <a:xfrm>
            <a:off x="851377" y="2271407"/>
            <a:ext cx="2411294" cy="2411294"/>
          </a:xfrm>
          <a:custGeom>
            <a:avLst/>
            <a:gdLst>
              <a:gd name="connsiteX0" fmla="*/ 1205647 w 2411294"/>
              <a:gd name="connsiteY0" fmla="*/ 0 h 2411294"/>
              <a:gd name="connsiteX1" fmla="*/ 2411294 w 2411294"/>
              <a:gd name="connsiteY1" fmla="*/ 1205647 h 2411294"/>
              <a:gd name="connsiteX2" fmla="*/ 1205647 w 2411294"/>
              <a:gd name="connsiteY2" fmla="*/ 2411294 h 2411294"/>
              <a:gd name="connsiteX3" fmla="*/ 0 w 2411294"/>
              <a:gd name="connsiteY3" fmla="*/ 1205647 h 2411294"/>
              <a:gd name="connsiteX4" fmla="*/ 1205647 w 2411294"/>
              <a:gd name="connsiteY4" fmla="*/ 0 h 241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294" h="2411294">
                <a:moveTo>
                  <a:pt x="1205647" y="0"/>
                </a:moveTo>
                <a:cubicBezTo>
                  <a:pt x="1871507" y="0"/>
                  <a:pt x="2411294" y="539787"/>
                  <a:pt x="2411294" y="1205647"/>
                </a:cubicBezTo>
                <a:cubicBezTo>
                  <a:pt x="2411294" y="1871507"/>
                  <a:pt x="1871507" y="2411294"/>
                  <a:pt x="1205647" y="2411294"/>
                </a:cubicBezTo>
                <a:cubicBezTo>
                  <a:pt x="539787" y="2411294"/>
                  <a:pt x="0" y="1871507"/>
                  <a:pt x="0" y="1205647"/>
                </a:cubicBezTo>
                <a:cubicBezTo>
                  <a:pt x="0" y="539787"/>
                  <a:pt x="539787" y="0"/>
                  <a:pt x="120564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9" name="Picture Placeholder 8">
            <a:extLst>
              <a:ext uri="{FF2B5EF4-FFF2-40B4-BE49-F238E27FC236}">
                <a16:creationId xmlns:a16="http://schemas.microsoft.com/office/drawing/2014/main" id="{7429002D-B351-4E1C-AD65-264D7FD1EF79}"/>
              </a:ext>
            </a:extLst>
          </p:cNvPr>
          <p:cNvSpPr>
            <a:spLocks noGrp="1"/>
          </p:cNvSpPr>
          <p:nvPr>
            <p:ph type="pic" sz="quarter" idx="11"/>
          </p:nvPr>
        </p:nvSpPr>
        <p:spPr>
          <a:xfrm>
            <a:off x="3544027" y="2271407"/>
            <a:ext cx="2411294" cy="2411294"/>
          </a:xfrm>
          <a:custGeom>
            <a:avLst/>
            <a:gdLst>
              <a:gd name="connsiteX0" fmla="*/ 1205647 w 2411294"/>
              <a:gd name="connsiteY0" fmla="*/ 0 h 2411294"/>
              <a:gd name="connsiteX1" fmla="*/ 2411294 w 2411294"/>
              <a:gd name="connsiteY1" fmla="*/ 1205647 h 2411294"/>
              <a:gd name="connsiteX2" fmla="*/ 1205647 w 2411294"/>
              <a:gd name="connsiteY2" fmla="*/ 2411294 h 2411294"/>
              <a:gd name="connsiteX3" fmla="*/ 0 w 2411294"/>
              <a:gd name="connsiteY3" fmla="*/ 1205647 h 2411294"/>
              <a:gd name="connsiteX4" fmla="*/ 1205647 w 2411294"/>
              <a:gd name="connsiteY4" fmla="*/ 0 h 241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294" h="2411294">
                <a:moveTo>
                  <a:pt x="1205647" y="0"/>
                </a:moveTo>
                <a:cubicBezTo>
                  <a:pt x="1871507" y="0"/>
                  <a:pt x="2411294" y="539787"/>
                  <a:pt x="2411294" y="1205647"/>
                </a:cubicBezTo>
                <a:cubicBezTo>
                  <a:pt x="2411294" y="1871507"/>
                  <a:pt x="1871507" y="2411294"/>
                  <a:pt x="1205647" y="2411294"/>
                </a:cubicBezTo>
                <a:cubicBezTo>
                  <a:pt x="539787" y="2411294"/>
                  <a:pt x="0" y="1871507"/>
                  <a:pt x="0" y="1205647"/>
                </a:cubicBezTo>
                <a:cubicBezTo>
                  <a:pt x="0" y="539787"/>
                  <a:pt x="539787" y="0"/>
                  <a:pt x="120564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0" name="Picture Placeholder 9">
            <a:extLst>
              <a:ext uri="{FF2B5EF4-FFF2-40B4-BE49-F238E27FC236}">
                <a16:creationId xmlns:a16="http://schemas.microsoft.com/office/drawing/2014/main" id="{3FBACA9E-422F-1D0F-6B0A-4434F1566B71}"/>
              </a:ext>
            </a:extLst>
          </p:cNvPr>
          <p:cNvSpPr>
            <a:spLocks noGrp="1"/>
          </p:cNvSpPr>
          <p:nvPr>
            <p:ph type="pic" sz="quarter" idx="12"/>
          </p:nvPr>
        </p:nvSpPr>
        <p:spPr>
          <a:xfrm>
            <a:off x="6236679" y="2271407"/>
            <a:ext cx="2411294" cy="2411294"/>
          </a:xfrm>
          <a:custGeom>
            <a:avLst/>
            <a:gdLst>
              <a:gd name="connsiteX0" fmla="*/ 1205647 w 2411294"/>
              <a:gd name="connsiteY0" fmla="*/ 0 h 2411294"/>
              <a:gd name="connsiteX1" fmla="*/ 2411294 w 2411294"/>
              <a:gd name="connsiteY1" fmla="*/ 1205647 h 2411294"/>
              <a:gd name="connsiteX2" fmla="*/ 1205647 w 2411294"/>
              <a:gd name="connsiteY2" fmla="*/ 2411294 h 2411294"/>
              <a:gd name="connsiteX3" fmla="*/ 0 w 2411294"/>
              <a:gd name="connsiteY3" fmla="*/ 1205647 h 2411294"/>
              <a:gd name="connsiteX4" fmla="*/ 1205647 w 2411294"/>
              <a:gd name="connsiteY4" fmla="*/ 0 h 241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294" h="2411294">
                <a:moveTo>
                  <a:pt x="1205647" y="0"/>
                </a:moveTo>
                <a:cubicBezTo>
                  <a:pt x="1871507" y="0"/>
                  <a:pt x="2411294" y="539787"/>
                  <a:pt x="2411294" y="1205647"/>
                </a:cubicBezTo>
                <a:cubicBezTo>
                  <a:pt x="2411294" y="1871507"/>
                  <a:pt x="1871507" y="2411294"/>
                  <a:pt x="1205647" y="2411294"/>
                </a:cubicBezTo>
                <a:cubicBezTo>
                  <a:pt x="539787" y="2411294"/>
                  <a:pt x="0" y="1871507"/>
                  <a:pt x="0" y="1205647"/>
                </a:cubicBezTo>
                <a:cubicBezTo>
                  <a:pt x="0" y="539787"/>
                  <a:pt x="539787" y="0"/>
                  <a:pt x="120564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1" name="Picture Placeholder 10">
            <a:extLst>
              <a:ext uri="{FF2B5EF4-FFF2-40B4-BE49-F238E27FC236}">
                <a16:creationId xmlns:a16="http://schemas.microsoft.com/office/drawing/2014/main" id="{982D13DA-4DB9-AE0B-D71A-D9AB0BF6E01E}"/>
              </a:ext>
            </a:extLst>
          </p:cNvPr>
          <p:cNvSpPr>
            <a:spLocks noGrp="1"/>
          </p:cNvSpPr>
          <p:nvPr>
            <p:ph type="pic" sz="quarter" idx="13"/>
          </p:nvPr>
        </p:nvSpPr>
        <p:spPr>
          <a:xfrm>
            <a:off x="8929329" y="2271407"/>
            <a:ext cx="2411294" cy="2411294"/>
          </a:xfrm>
          <a:custGeom>
            <a:avLst/>
            <a:gdLst>
              <a:gd name="connsiteX0" fmla="*/ 1205647 w 2411294"/>
              <a:gd name="connsiteY0" fmla="*/ 0 h 2411294"/>
              <a:gd name="connsiteX1" fmla="*/ 2411294 w 2411294"/>
              <a:gd name="connsiteY1" fmla="*/ 1205647 h 2411294"/>
              <a:gd name="connsiteX2" fmla="*/ 1205647 w 2411294"/>
              <a:gd name="connsiteY2" fmla="*/ 2411294 h 2411294"/>
              <a:gd name="connsiteX3" fmla="*/ 0 w 2411294"/>
              <a:gd name="connsiteY3" fmla="*/ 1205647 h 2411294"/>
              <a:gd name="connsiteX4" fmla="*/ 1205647 w 2411294"/>
              <a:gd name="connsiteY4" fmla="*/ 0 h 241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294" h="2411294">
                <a:moveTo>
                  <a:pt x="1205647" y="0"/>
                </a:moveTo>
                <a:cubicBezTo>
                  <a:pt x="1871507" y="0"/>
                  <a:pt x="2411294" y="539787"/>
                  <a:pt x="2411294" y="1205647"/>
                </a:cubicBezTo>
                <a:cubicBezTo>
                  <a:pt x="2411294" y="1871507"/>
                  <a:pt x="1871507" y="2411294"/>
                  <a:pt x="1205647" y="2411294"/>
                </a:cubicBezTo>
                <a:cubicBezTo>
                  <a:pt x="539787" y="2411294"/>
                  <a:pt x="0" y="1871507"/>
                  <a:pt x="0" y="1205647"/>
                </a:cubicBezTo>
                <a:cubicBezTo>
                  <a:pt x="0" y="539787"/>
                  <a:pt x="539787" y="0"/>
                  <a:pt x="120564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469791264"/>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5544457" y="1007405"/>
            <a:ext cx="4342492" cy="5850595"/>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27030504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Fu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DCE30BE-8847-6D02-9F03-775D4D1C7F1B}"/>
              </a:ext>
            </a:extLst>
          </p:cNvPr>
          <p:cNvSpPr>
            <a:spLocks noGrp="1"/>
          </p:cNvSpPr>
          <p:nvPr>
            <p:ph type="pic" sz="quarter" idx="10"/>
          </p:nvPr>
        </p:nvSpPr>
        <p:spPr>
          <a:xfrm>
            <a:off x="1603920" y="1894508"/>
            <a:ext cx="8984163" cy="1806387"/>
          </a:xfrm>
          <a:custGeom>
            <a:avLst/>
            <a:gdLst>
              <a:gd name="connsiteX0" fmla="*/ 158203 w 8984163"/>
              <a:gd name="connsiteY0" fmla="*/ 0 h 1806387"/>
              <a:gd name="connsiteX1" fmla="*/ 8825960 w 8984163"/>
              <a:gd name="connsiteY1" fmla="*/ 0 h 1806387"/>
              <a:gd name="connsiteX2" fmla="*/ 8984163 w 8984163"/>
              <a:gd name="connsiteY2" fmla="*/ 158203 h 1806387"/>
              <a:gd name="connsiteX3" fmla="*/ 8984163 w 8984163"/>
              <a:gd name="connsiteY3" fmla="*/ 1648184 h 1806387"/>
              <a:gd name="connsiteX4" fmla="*/ 8825960 w 8984163"/>
              <a:gd name="connsiteY4" fmla="*/ 1806387 h 1806387"/>
              <a:gd name="connsiteX5" fmla="*/ 158203 w 8984163"/>
              <a:gd name="connsiteY5" fmla="*/ 1806387 h 1806387"/>
              <a:gd name="connsiteX6" fmla="*/ 0 w 8984163"/>
              <a:gd name="connsiteY6" fmla="*/ 1648184 h 1806387"/>
              <a:gd name="connsiteX7" fmla="*/ 0 w 8984163"/>
              <a:gd name="connsiteY7" fmla="*/ 158203 h 1806387"/>
              <a:gd name="connsiteX8" fmla="*/ 158203 w 8984163"/>
              <a:gd name="connsiteY8" fmla="*/ 0 h 180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84163" h="1806387">
                <a:moveTo>
                  <a:pt x="158203" y="0"/>
                </a:moveTo>
                <a:lnTo>
                  <a:pt x="8825960" y="0"/>
                </a:lnTo>
                <a:cubicBezTo>
                  <a:pt x="8913333" y="0"/>
                  <a:pt x="8984163" y="70830"/>
                  <a:pt x="8984163" y="158203"/>
                </a:cubicBezTo>
                <a:lnTo>
                  <a:pt x="8984163" y="1648184"/>
                </a:lnTo>
                <a:cubicBezTo>
                  <a:pt x="8984163" y="1735557"/>
                  <a:pt x="8913333" y="1806387"/>
                  <a:pt x="8825960" y="1806387"/>
                </a:cubicBezTo>
                <a:lnTo>
                  <a:pt x="158203" y="1806387"/>
                </a:lnTo>
                <a:cubicBezTo>
                  <a:pt x="70830" y="1806387"/>
                  <a:pt x="0" y="1735557"/>
                  <a:pt x="0" y="1648184"/>
                </a:cubicBezTo>
                <a:lnTo>
                  <a:pt x="0" y="158203"/>
                </a:lnTo>
                <a:cubicBezTo>
                  <a:pt x="0" y="70830"/>
                  <a:pt x="70830" y="0"/>
                  <a:pt x="158203"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417094392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Fu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F24D77A-FAEC-C17B-E5CE-01ED30BECFEA}"/>
              </a:ext>
            </a:extLst>
          </p:cNvPr>
          <p:cNvSpPr>
            <a:spLocks noGrp="1"/>
          </p:cNvSpPr>
          <p:nvPr>
            <p:ph type="pic" sz="quarter" idx="10"/>
          </p:nvPr>
        </p:nvSpPr>
        <p:spPr>
          <a:xfrm>
            <a:off x="637931" y="4020883"/>
            <a:ext cx="10915894" cy="1806387"/>
          </a:xfrm>
          <a:custGeom>
            <a:avLst/>
            <a:gdLst>
              <a:gd name="connsiteX0" fmla="*/ 158203 w 10915894"/>
              <a:gd name="connsiteY0" fmla="*/ 0 h 1806387"/>
              <a:gd name="connsiteX1" fmla="*/ 10757691 w 10915894"/>
              <a:gd name="connsiteY1" fmla="*/ 0 h 1806387"/>
              <a:gd name="connsiteX2" fmla="*/ 10915894 w 10915894"/>
              <a:gd name="connsiteY2" fmla="*/ 158203 h 1806387"/>
              <a:gd name="connsiteX3" fmla="*/ 10915894 w 10915894"/>
              <a:gd name="connsiteY3" fmla="*/ 1648184 h 1806387"/>
              <a:gd name="connsiteX4" fmla="*/ 10757691 w 10915894"/>
              <a:gd name="connsiteY4" fmla="*/ 1806387 h 1806387"/>
              <a:gd name="connsiteX5" fmla="*/ 158203 w 10915894"/>
              <a:gd name="connsiteY5" fmla="*/ 1806387 h 1806387"/>
              <a:gd name="connsiteX6" fmla="*/ 0 w 10915894"/>
              <a:gd name="connsiteY6" fmla="*/ 1648184 h 1806387"/>
              <a:gd name="connsiteX7" fmla="*/ 0 w 10915894"/>
              <a:gd name="connsiteY7" fmla="*/ 158203 h 1806387"/>
              <a:gd name="connsiteX8" fmla="*/ 158203 w 10915894"/>
              <a:gd name="connsiteY8" fmla="*/ 0 h 180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5894" h="1806387">
                <a:moveTo>
                  <a:pt x="158203" y="0"/>
                </a:moveTo>
                <a:lnTo>
                  <a:pt x="10757691" y="0"/>
                </a:lnTo>
                <a:cubicBezTo>
                  <a:pt x="10845064" y="0"/>
                  <a:pt x="10915894" y="70830"/>
                  <a:pt x="10915894" y="158203"/>
                </a:cubicBezTo>
                <a:lnTo>
                  <a:pt x="10915894" y="1648184"/>
                </a:lnTo>
                <a:cubicBezTo>
                  <a:pt x="10915894" y="1735557"/>
                  <a:pt x="10845064" y="1806387"/>
                  <a:pt x="10757691" y="1806387"/>
                </a:cubicBezTo>
                <a:lnTo>
                  <a:pt x="158203" y="1806387"/>
                </a:lnTo>
                <a:cubicBezTo>
                  <a:pt x="70830" y="1806387"/>
                  <a:pt x="0" y="1735557"/>
                  <a:pt x="0" y="1648184"/>
                </a:cubicBezTo>
                <a:lnTo>
                  <a:pt x="0" y="158203"/>
                </a:lnTo>
                <a:cubicBezTo>
                  <a:pt x="0" y="70830"/>
                  <a:pt x="70830" y="0"/>
                  <a:pt x="158203"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5177577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5713562" y="0"/>
            <a:ext cx="5919637" cy="6858000"/>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96023339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Fu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3D0A71E-A765-0AE9-664D-EF5BCFA4689D}"/>
              </a:ext>
            </a:extLst>
          </p:cNvPr>
          <p:cNvSpPr>
            <a:spLocks noGrp="1"/>
          </p:cNvSpPr>
          <p:nvPr>
            <p:ph type="pic" sz="quarter" idx="10"/>
          </p:nvPr>
        </p:nvSpPr>
        <p:spPr>
          <a:xfrm>
            <a:off x="6712844" y="4509448"/>
            <a:ext cx="609600" cy="612648"/>
          </a:xfrm>
          <a:custGeom>
            <a:avLst/>
            <a:gdLst>
              <a:gd name="connsiteX0" fmla="*/ 304800 w 609600"/>
              <a:gd name="connsiteY0" fmla="*/ 0 h 612648"/>
              <a:gd name="connsiteX1" fmla="*/ 609600 w 609600"/>
              <a:gd name="connsiteY1" fmla="*/ 306324 h 612648"/>
              <a:gd name="connsiteX2" fmla="*/ 304800 w 609600"/>
              <a:gd name="connsiteY2" fmla="*/ 612648 h 612648"/>
              <a:gd name="connsiteX3" fmla="*/ 0 w 609600"/>
              <a:gd name="connsiteY3" fmla="*/ 306324 h 612648"/>
              <a:gd name="connsiteX4" fmla="*/ 304800 w 609600"/>
              <a:gd name="connsiteY4" fmla="*/ 0 h 612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612648">
                <a:moveTo>
                  <a:pt x="304800" y="0"/>
                </a:moveTo>
                <a:cubicBezTo>
                  <a:pt x="473136" y="0"/>
                  <a:pt x="609600" y="137146"/>
                  <a:pt x="609600" y="306324"/>
                </a:cubicBezTo>
                <a:cubicBezTo>
                  <a:pt x="609600" y="475502"/>
                  <a:pt x="473136" y="612648"/>
                  <a:pt x="304800" y="612648"/>
                </a:cubicBezTo>
                <a:cubicBezTo>
                  <a:pt x="136464" y="612648"/>
                  <a:pt x="0" y="475502"/>
                  <a:pt x="0" y="306324"/>
                </a:cubicBezTo>
                <a:cubicBezTo>
                  <a:pt x="0" y="137146"/>
                  <a:pt x="136464" y="0"/>
                  <a:pt x="304800"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7" name="Picture Placeholder 4">
            <a:extLst>
              <a:ext uri="{FF2B5EF4-FFF2-40B4-BE49-F238E27FC236}">
                <a16:creationId xmlns:a16="http://schemas.microsoft.com/office/drawing/2014/main" id="{6446689C-BB9D-3C92-62DD-C3B11666E4A0}"/>
              </a:ext>
            </a:extLst>
          </p:cNvPr>
          <p:cNvSpPr>
            <a:spLocks noGrp="1"/>
          </p:cNvSpPr>
          <p:nvPr>
            <p:ph type="pic" sz="quarter" idx="11"/>
          </p:nvPr>
        </p:nvSpPr>
        <p:spPr>
          <a:xfrm>
            <a:off x="0" y="1"/>
            <a:ext cx="12192000" cy="2883654"/>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47970386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5761588" y="0"/>
            <a:ext cx="6430412" cy="6858000"/>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54150790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Fu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5CB8E5-0AEF-AEF2-3627-CD1F3D22BE91}"/>
              </a:ext>
            </a:extLst>
          </p:cNvPr>
          <p:cNvSpPr>
            <a:spLocks noGrp="1"/>
          </p:cNvSpPr>
          <p:nvPr>
            <p:ph type="pic" sz="quarter" idx="10"/>
          </p:nvPr>
        </p:nvSpPr>
        <p:spPr>
          <a:xfrm>
            <a:off x="876300" y="3124200"/>
            <a:ext cx="10439400" cy="2705100"/>
          </a:xfrm>
          <a:custGeom>
            <a:avLst/>
            <a:gdLst>
              <a:gd name="connsiteX0" fmla="*/ 165119 w 10439400"/>
              <a:gd name="connsiteY0" fmla="*/ 0 h 2705100"/>
              <a:gd name="connsiteX1" fmla="*/ 10274281 w 10439400"/>
              <a:gd name="connsiteY1" fmla="*/ 0 h 2705100"/>
              <a:gd name="connsiteX2" fmla="*/ 10439400 w 10439400"/>
              <a:gd name="connsiteY2" fmla="*/ 165119 h 2705100"/>
              <a:gd name="connsiteX3" fmla="*/ 10439400 w 10439400"/>
              <a:gd name="connsiteY3" fmla="*/ 2539981 h 2705100"/>
              <a:gd name="connsiteX4" fmla="*/ 10274281 w 10439400"/>
              <a:gd name="connsiteY4" fmla="*/ 2705100 h 2705100"/>
              <a:gd name="connsiteX5" fmla="*/ 165119 w 10439400"/>
              <a:gd name="connsiteY5" fmla="*/ 2705100 h 2705100"/>
              <a:gd name="connsiteX6" fmla="*/ 0 w 10439400"/>
              <a:gd name="connsiteY6" fmla="*/ 2539981 h 2705100"/>
              <a:gd name="connsiteX7" fmla="*/ 0 w 10439400"/>
              <a:gd name="connsiteY7" fmla="*/ 165119 h 2705100"/>
              <a:gd name="connsiteX8" fmla="*/ 165119 w 10439400"/>
              <a:gd name="connsiteY8" fmla="*/ 0 h 270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400" h="2705100">
                <a:moveTo>
                  <a:pt x="165119" y="0"/>
                </a:moveTo>
                <a:lnTo>
                  <a:pt x="10274281" y="0"/>
                </a:lnTo>
                <a:cubicBezTo>
                  <a:pt x="10365474" y="0"/>
                  <a:pt x="10439400" y="73926"/>
                  <a:pt x="10439400" y="165119"/>
                </a:cubicBezTo>
                <a:lnTo>
                  <a:pt x="10439400" y="2539981"/>
                </a:lnTo>
                <a:cubicBezTo>
                  <a:pt x="10439400" y="2631174"/>
                  <a:pt x="10365474" y="2705100"/>
                  <a:pt x="10274281" y="2705100"/>
                </a:cubicBezTo>
                <a:lnTo>
                  <a:pt x="165119" y="2705100"/>
                </a:lnTo>
                <a:cubicBezTo>
                  <a:pt x="73926" y="2705100"/>
                  <a:pt x="0" y="2631174"/>
                  <a:pt x="0" y="2539981"/>
                </a:cubicBezTo>
                <a:lnTo>
                  <a:pt x="0" y="165119"/>
                </a:lnTo>
                <a:cubicBezTo>
                  <a:pt x="0" y="73926"/>
                  <a:pt x="73926" y="0"/>
                  <a:pt x="165119"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12786112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Futur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85D5B7A-B684-2B8A-0A4E-BFC5014DA9A8}"/>
              </a:ext>
            </a:extLst>
          </p:cNvPr>
          <p:cNvSpPr>
            <a:spLocks noGrp="1"/>
          </p:cNvSpPr>
          <p:nvPr>
            <p:ph type="pic" sz="quarter" idx="10"/>
          </p:nvPr>
        </p:nvSpPr>
        <p:spPr>
          <a:xfrm>
            <a:off x="6629544" y="1713579"/>
            <a:ext cx="3250912" cy="3250912"/>
          </a:xfrm>
          <a:custGeom>
            <a:avLst/>
            <a:gdLst>
              <a:gd name="connsiteX0" fmla="*/ 1625456 w 3250912"/>
              <a:gd name="connsiteY0" fmla="*/ 0 h 3250912"/>
              <a:gd name="connsiteX1" fmla="*/ 3250912 w 3250912"/>
              <a:gd name="connsiteY1" fmla="*/ 1625456 h 3250912"/>
              <a:gd name="connsiteX2" fmla="*/ 1625456 w 3250912"/>
              <a:gd name="connsiteY2" fmla="*/ 3250912 h 3250912"/>
              <a:gd name="connsiteX3" fmla="*/ 0 w 3250912"/>
              <a:gd name="connsiteY3" fmla="*/ 1625456 h 3250912"/>
              <a:gd name="connsiteX4" fmla="*/ 1625456 w 3250912"/>
              <a:gd name="connsiteY4" fmla="*/ 0 h 325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12" h="3250912">
                <a:moveTo>
                  <a:pt x="1625456" y="0"/>
                </a:moveTo>
                <a:cubicBezTo>
                  <a:pt x="2523171" y="0"/>
                  <a:pt x="3250912" y="727741"/>
                  <a:pt x="3250912" y="1625456"/>
                </a:cubicBezTo>
                <a:cubicBezTo>
                  <a:pt x="3250912" y="2523171"/>
                  <a:pt x="2523171" y="3250912"/>
                  <a:pt x="1625456" y="3250912"/>
                </a:cubicBezTo>
                <a:cubicBezTo>
                  <a:pt x="727741" y="3250912"/>
                  <a:pt x="0" y="2523171"/>
                  <a:pt x="0" y="1625456"/>
                </a:cubicBezTo>
                <a:cubicBezTo>
                  <a:pt x="0" y="727741"/>
                  <a:pt x="727741" y="0"/>
                  <a:pt x="1625456"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1" name="Picture Placeholder 10">
            <a:extLst>
              <a:ext uri="{FF2B5EF4-FFF2-40B4-BE49-F238E27FC236}">
                <a16:creationId xmlns:a16="http://schemas.microsoft.com/office/drawing/2014/main" id="{8C0A31C3-8FAD-0427-0703-74560DACF7DC}"/>
              </a:ext>
            </a:extLst>
          </p:cNvPr>
          <p:cNvSpPr>
            <a:spLocks noGrp="1"/>
          </p:cNvSpPr>
          <p:nvPr>
            <p:ph type="pic" sz="quarter" idx="11"/>
          </p:nvPr>
        </p:nvSpPr>
        <p:spPr>
          <a:xfrm>
            <a:off x="6236636" y="663011"/>
            <a:ext cx="1139908" cy="1139908"/>
          </a:xfrm>
          <a:custGeom>
            <a:avLst/>
            <a:gdLst>
              <a:gd name="connsiteX0" fmla="*/ 1625456 w 3250912"/>
              <a:gd name="connsiteY0" fmla="*/ 0 h 3250912"/>
              <a:gd name="connsiteX1" fmla="*/ 3250912 w 3250912"/>
              <a:gd name="connsiteY1" fmla="*/ 1625456 h 3250912"/>
              <a:gd name="connsiteX2" fmla="*/ 1625456 w 3250912"/>
              <a:gd name="connsiteY2" fmla="*/ 3250912 h 3250912"/>
              <a:gd name="connsiteX3" fmla="*/ 0 w 3250912"/>
              <a:gd name="connsiteY3" fmla="*/ 1625456 h 3250912"/>
              <a:gd name="connsiteX4" fmla="*/ 1625456 w 3250912"/>
              <a:gd name="connsiteY4" fmla="*/ 0 h 325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12" h="3250912">
                <a:moveTo>
                  <a:pt x="1625456" y="0"/>
                </a:moveTo>
                <a:cubicBezTo>
                  <a:pt x="2523171" y="0"/>
                  <a:pt x="3250912" y="727741"/>
                  <a:pt x="3250912" y="1625456"/>
                </a:cubicBezTo>
                <a:cubicBezTo>
                  <a:pt x="3250912" y="2523171"/>
                  <a:pt x="2523171" y="3250912"/>
                  <a:pt x="1625456" y="3250912"/>
                </a:cubicBezTo>
                <a:cubicBezTo>
                  <a:pt x="727741" y="3250912"/>
                  <a:pt x="0" y="2523171"/>
                  <a:pt x="0" y="1625456"/>
                </a:cubicBezTo>
                <a:cubicBezTo>
                  <a:pt x="0" y="727741"/>
                  <a:pt x="727741" y="0"/>
                  <a:pt x="1625456"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4" name="Picture Placeholder 13">
            <a:extLst>
              <a:ext uri="{FF2B5EF4-FFF2-40B4-BE49-F238E27FC236}">
                <a16:creationId xmlns:a16="http://schemas.microsoft.com/office/drawing/2014/main" id="{133793B4-AE37-C2D9-1A57-3864450B9658}"/>
              </a:ext>
            </a:extLst>
          </p:cNvPr>
          <p:cNvSpPr>
            <a:spLocks noGrp="1"/>
          </p:cNvSpPr>
          <p:nvPr>
            <p:ph type="pic" sz="quarter" idx="12"/>
          </p:nvPr>
        </p:nvSpPr>
        <p:spPr>
          <a:xfrm>
            <a:off x="9597973" y="1148535"/>
            <a:ext cx="837698" cy="837698"/>
          </a:xfrm>
          <a:custGeom>
            <a:avLst/>
            <a:gdLst>
              <a:gd name="connsiteX0" fmla="*/ 1625456 w 3250912"/>
              <a:gd name="connsiteY0" fmla="*/ 0 h 3250912"/>
              <a:gd name="connsiteX1" fmla="*/ 3250912 w 3250912"/>
              <a:gd name="connsiteY1" fmla="*/ 1625456 h 3250912"/>
              <a:gd name="connsiteX2" fmla="*/ 1625456 w 3250912"/>
              <a:gd name="connsiteY2" fmla="*/ 3250912 h 3250912"/>
              <a:gd name="connsiteX3" fmla="*/ 0 w 3250912"/>
              <a:gd name="connsiteY3" fmla="*/ 1625456 h 3250912"/>
              <a:gd name="connsiteX4" fmla="*/ 1625456 w 3250912"/>
              <a:gd name="connsiteY4" fmla="*/ 0 h 325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12" h="3250912">
                <a:moveTo>
                  <a:pt x="1625456" y="0"/>
                </a:moveTo>
                <a:cubicBezTo>
                  <a:pt x="2523171" y="0"/>
                  <a:pt x="3250912" y="727741"/>
                  <a:pt x="3250912" y="1625456"/>
                </a:cubicBezTo>
                <a:cubicBezTo>
                  <a:pt x="3250912" y="2523171"/>
                  <a:pt x="2523171" y="3250912"/>
                  <a:pt x="1625456" y="3250912"/>
                </a:cubicBezTo>
                <a:cubicBezTo>
                  <a:pt x="727741" y="3250912"/>
                  <a:pt x="0" y="2523171"/>
                  <a:pt x="0" y="1625456"/>
                </a:cubicBezTo>
                <a:cubicBezTo>
                  <a:pt x="0" y="727741"/>
                  <a:pt x="727741" y="0"/>
                  <a:pt x="1625456"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5" name="Picture Placeholder 14">
            <a:extLst>
              <a:ext uri="{FF2B5EF4-FFF2-40B4-BE49-F238E27FC236}">
                <a16:creationId xmlns:a16="http://schemas.microsoft.com/office/drawing/2014/main" id="{889B754C-EC2D-4145-A2D7-6DD822F770C8}"/>
              </a:ext>
            </a:extLst>
          </p:cNvPr>
          <p:cNvSpPr>
            <a:spLocks noGrp="1"/>
          </p:cNvSpPr>
          <p:nvPr>
            <p:ph type="pic" sz="quarter" idx="13"/>
          </p:nvPr>
        </p:nvSpPr>
        <p:spPr>
          <a:xfrm>
            <a:off x="10107412" y="3235679"/>
            <a:ext cx="1139910" cy="1139910"/>
          </a:xfrm>
          <a:custGeom>
            <a:avLst/>
            <a:gdLst>
              <a:gd name="connsiteX0" fmla="*/ 1625456 w 3250912"/>
              <a:gd name="connsiteY0" fmla="*/ 0 h 3250912"/>
              <a:gd name="connsiteX1" fmla="*/ 3250912 w 3250912"/>
              <a:gd name="connsiteY1" fmla="*/ 1625456 h 3250912"/>
              <a:gd name="connsiteX2" fmla="*/ 1625456 w 3250912"/>
              <a:gd name="connsiteY2" fmla="*/ 3250912 h 3250912"/>
              <a:gd name="connsiteX3" fmla="*/ 0 w 3250912"/>
              <a:gd name="connsiteY3" fmla="*/ 1625456 h 3250912"/>
              <a:gd name="connsiteX4" fmla="*/ 1625456 w 3250912"/>
              <a:gd name="connsiteY4" fmla="*/ 0 h 325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12" h="3250912">
                <a:moveTo>
                  <a:pt x="1625456" y="0"/>
                </a:moveTo>
                <a:cubicBezTo>
                  <a:pt x="2523171" y="0"/>
                  <a:pt x="3250912" y="727741"/>
                  <a:pt x="3250912" y="1625456"/>
                </a:cubicBezTo>
                <a:cubicBezTo>
                  <a:pt x="3250912" y="2523171"/>
                  <a:pt x="2523171" y="3250912"/>
                  <a:pt x="1625456" y="3250912"/>
                </a:cubicBezTo>
                <a:cubicBezTo>
                  <a:pt x="727741" y="3250912"/>
                  <a:pt x="0" y="2523171"/>
                  <a:pt x="0" y="1625456"/>
                </a:cubicBezTo>
                <a:cubicBezTo>
                  <a:pt x="0" y="727741"/>
                  <a:pt x="727741" y="0"/>
                  <a:pt x="1625456"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6" name="Picture Placeholder 15">
            <a:extLst>
              <a:ext uri="{FF2B5EF4-FFF2-40B4-BE49-F238E27FC236}">
                <a16:creationId xmlns:a16="http://schemas.microsoft.com/office/drawing/2014/main" id="{58D4BAAF-EA8F-2EE1-F9A7-9C7D9382407E}"/>
              </a:ext>
            </a:extLst>
          </p:cNvPr>
          <p:cNvSpPr>
            <a:spLocks noGrp="1"/>
          </p:cNvSpPr>
          <p:nvPr>
            <p:ph type="pic" sz="quarter" idx="14"/>
          </p:nvPr>
        </p:nvSpPr>
        <p:spPr>
          <a:xfrm>
            <a:off x="8254998" y="5144421"/>
            <a:ext cx="1139910" cy="1139910"/>
          </a:xfrm>
          <a:custGeom>
            <a:avLst/>
            <a:gdLst>
              <a:gd name="connsiteX0" fmla="*/ 1625456 w 3250912"/>
              <a:gd name="connsiteY0" fmla="*/ 0 h 3250912"/>
              <a:gd name="connsiteX1" fmla="*/ 3250912 w 3250912"/>
              <a:gd name="connsiteY1" fmla="*/ 1625456 h 3250912"/>
              <a:gd name="connsiteX2" fmla="*/ 1625456 w 3250912"/>
              <a:gd name="connsiteY2" fmla="*/ 3250912 h 3250912"/>
              <a:gd name="connsiteX3" fmla="*/ 0 w 3250912"/>
              <a:gd name="connsiteY3" fmla="*/ 1625456 h 3250912"/>
              <a:gd name="connsiteX4" fmla="*/ 1625456 w 3250912"/>
              <a:gd name="connsiteY4" fmla="*/ 0 h 325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12" h="3250912">
                <a:moveTo>
                  <a:pt x="1625456" y="0"/>
                </a:moveTo>
                <a:cubicBezTo>
                  <a:pt x="2523171" y="0"/>
                  <a:pt x="3250912" y="727741"/>
                  <a:pt x="3250912" y="1625456"/>
                </a:cubicBezTo>
                <a:cubicBezTo>
                  <a:pt x="3250912" y="2523171"/>
                  <a:pt x="2523171" y="3250912"/>
                  <a:pt x="1625456" y="3250912"/>
                </a:cubicBezTo>
                <a:cubicBezTo>
                  <a:pt x="727741" y="3250912"/>
                  <a:pt x="0" y="2523171"/>
                  <a:pt x="0" y="1625456"/>
                </a:cubicBezTo>
                <a:cubicBezTo>
                  <a:pt x="0" y="727741"/>
                  <a:pt x="727741" y="0"/>
                  <a:pt x="1625456"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7" name="Picture Placeholder 16">
            <a:extLst>
              <a:ext uri="{FF2B5EF4-FFF2-40B4-BE49-F238E27FC236}">
                <a16:creationId xmlns:a16="http://schemas.microsoft.com/office/drawing/2014/main" id="{9E057D87-448E-A6B0-62B6-2C8C9BF06382}"/>
              </a:ext>
            </a:extLst>
          </p:cNvPr>
          <p:cNvSpPr>
            <a:spLocks noGrp="1"/>
          </p:cNvSpPr>
          <p:nvPr>
            <p:ph type="pic" sz="quarter" idx="15"/>
          </p:nvPr>
        </p:nvSpPr>
        <p:spPr>
          <a:xfrm>
            <a:off x="4990983" y="3705956"/>
            <a:ext cx="1502194" cy="1502194"/>
          </a:xfrm>
          <a:custGeom>
            <a:avLst/>
            <a:gdLst>
              <a:gd name="connsiteX0" fmla="*/ 1625456 w 3250912"/>
              <a:gd name="connsiteY0" fmla="*/ 0 h 3250912"/>
              <a:gd name="connsiteX1" fmla="*/ 3250912 w 3250912"/>
              <a:gd name="connsiteY1" fmla="*/ 1625456 h 3250912"/>
              <a:gd name="connsiteX2" fmla="*/ 1625456 w 3250912"/>
              <a:gd name="connsiteY2" fmla="*/ 3250912 h 3250912"/>
              <a:gd name="connsiteX3" fmla="*/ 0 w 3250912"/>
              <a:gd name="connsiteY3" fmla="*/ 1625456 h 3250912"/>
              <a:gd name="connsiteX4" fmla="*/ 1625456 w 3250912"/>
              <a:gd name="connsiteY4" fmla="*/ 0 h 325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12" h="3250912">
                <a:moveTo>
                  <a:pt x="1625456" y="0"/>
                </a:moveTo>
                <a:cubicBezTo>
                  <a:pt x="2523171" y="0"/>
                  <a:pt x="3250912" y="727741"/>
                  <a:pt x="3250912" y="1625456"/>
                </a:cubicBezTo>
                <a:cubicBezTo>
                  <a:pt x="3250912" y="2523171"/>
                  <a:pt x="2523171" y="3250912"/>
                  <a:pt x="1625456" y="3250912"/>
                </a:cubicBezTo>
                <a:cubicBezTo>
                  <a:pt x="727741" y="3250912"/>
                  <a:pt x="0" y="2523171"/>
                  <a:pt x="0" y="1625456"/>
                </a:cubicBezTo>
                <a:cubicBezTo>
                  <a:pt x="0" y="727741"/>
                  <a:pt x="727741" y="0"/>
                  <a:pt x="1625456"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22238238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Fu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C57C3DA-60B5-8662-2CD7-C98A2ECAB6A9}"/>
              </a:ext>
            </a:extLst>
          </p:cNvPr>
          <p:cNvSpPr>
            <a:spLocks noGrp="1"/>
          </p:cNvSpPr>
          <p:nvPr>
            <p:ph type="pic" sz="quarter" idx="10"/>
          </p:nvPr>
        </p:nvSpPr>
        <p:spPr>
          <a:xfrm>
            <a:off x="692451" y="2"/>
            <a:ext cx="2655516" cy="1990117"/>
          </a:xfrm>
          <a:custGeom>
            <a:avLst/>
            <a:gdLst>
              <a:gd name="connsiteX0" fmla="*/ 178157 w 2655516"/>
              <a:gd name="connsiteY0" fmla="*/ 0 h 1990117"/>
              <a:gd name="connsiteX1" fmla="*/ 2477359 w 2655516"/>
              <a:gd name="connsiteY1" fmla="*/ 0 h 1990117"/>
              <a:gd name="connsiteX2" fmla="*/ 2495263 w 2655516"/>
              <a:gd name="connsiteY2" fmla="*/ 29471 h 1990117"/>
              <a:gd name="connsiteX3" fmla="*/ 2655516 w 2655516"/>
              <a:gd name="connsiteY3" fmla="*/ 662359 h 1990117"/>
              <a:gd name="connsiteX4" fmla="*/ 1327758 w 2655516"/>
              <a:gd name="connsiteY4" fmla="*/ 1990117 h 1990117"/>
              <a:gd name="connsiteX5" fmla="*/ 0 w 2655516"/>
              <a:gd name="connsiteY5" fmla="*/ 662359 h 1990117"/>
              <a:gd name="connsiteX6" fmla="*/ 160253 w 2655516"/>
              <a:gd name="connsiteY6" fmla="*/ 29471 h 199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5516" h="1990117">
                <a:moveTo>
                  <a:pt x="178157" y="0"/>
                </a:moveTo>
                <a:lnTo>
                  <a:pt x="2477359" y="0"/>
                </a:lnTo>
                <a:lnTo>
                  <a:pt x="2495263" y="29471"/>
                </a:lnTo>
                <a:cubicBezTo>
                  <a:pt x="2597464" y="217605"/>
                  <a:pt x="2655516" y="433203"/>
                  <a:pt x="2655516" y="662359"/>
                </a:cubicBezTo>
                <a:cubicBezTo>
                  <a:pt x="2655516" y="1395659"/>
                  <a:pt x="2061058" y="1990117"/>
                  <a:pt x="1327758" y="1990117"/>
                </a:cubicBezTo>
                <a:cubicBezTo>
                  <a:pt x="594458" y="1990117"/>
                  <a:pt x="0" y="1395659"/>
                  <a:pt x="0" y="662359"/>
                </a:cubicBezTo>
                <a:cubicBezTo>
                  <a:pt x="0" y="433203"/>
                  <a:pt x="58053" y="217605"/>
                  <a:pt x="160253" y="29471"/>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4" name="Picture Placeholder 13">
            <a:extLst>
              <a:ext uri="{FF2B5EF4-FFF2-40B4-BE49-F238E27FC236}">
                <a16:creationId xmlns:a16="http://schemas.microsoft.com/office/drawing/2014/main" id="{37324E35-84CA-E15B-2B22-E044AC1C5F3A}"/>
              </a:ext>
            </a:extLst>
          </p:cNvPr>
          <p:cNvSpPr>
            <a:spLocks noGrp="1"/>
          </p:cNvSpPr>
          <p:nvPr>
            <p:ph type="pic" sz="quarter" idx="11"/>
          </p:nvPr>
        </p:nvSpPr>
        <p:spPr>
          <a:xfrm>
            <a:off x="4268623" y="294734"/>
            <a:ext cx="2067466" cy="2067466"/>
          </a:xfrm>
          <a:custGeom>
            <a:avLst/>
            <a:gdLst>
              <a:gd name="connsiteX0" fmla="*/ 1033733 w 2067466"/>
              <a:gd name="connsiteY0" fmla="*/ 0 h 2067466"/>
              <a:gd name="connsiteX1" fmla="*/ 2067466 w 2067466"/>
              <a:gd name="connsiteY1" fmla="*/ 1033733 h 2067466"/>
              <a:gd name="connsiteX2" fmla="*/ 1033733 w 2067466"/>
              <a:gd name="connsiteY2" fmla="*/ 2067466 h 2067466"/>
              <a:gd name="connsiteX3" fmla="*/ 0 w 2067466"/>
              <a:gd name="connsiteY3" fmla="*/ 1033733 h 2067466"/>
              <a:gd name="connsiteX4" fmla="*/ 1033733 w 2067466"/>
              <a:gd name="connsiteY4" fmla="*/ 0 h 2067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466" h="2067466">
                <a:moveTo>
                  <a:pt x="1033733" y="0"/>
                </a:moveTo>
                <a:cubicBezTo>
                  <a:pt x="1604648" y="0"/>
                  <a:pt x="2067466" y="462818"/>
                  <a:pt x="2067466" y="1033733"/>
                </a:cubicBezTo>
                <a:cubicBezTo>
                  <a:pt x="2067466" y="1604648"/>
                  <a:pt x="1604648" y="2067466"/>
                  <a:pt x="1033733" y="2067466"/>
                </a:cubicBezTo>
                <a:cubicBezTo>
                  <a:pt x="462818" y="2067466"/>
                  <a:pt x="0" y="1604648"/>
                  <a:pt x="0" y="1033733"/>
                </a:cubicBezTo>
                <a:cubicBezTo>
                  <a:pt x="0" y="462818"/>
                  <a:pt x="462818" y="0"/>
                  <a:pt x="1033733"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6" name="Picture Placeholder 15">
            <a:extLst>
              <a:ext uri="{FF2B5EF4-FFF2-40B4-BE49-F238E27FC236}">
                <a16:creationId xmlns:a16="http://schemas.microsoft.com/office/drawing/2014/main" id="{AD73BFD5-1B99-371C-A5DB-D6AA9B39A055}"/>
              </a:ext>
            </a:extLst>
          </p:cNvPr>
          <p:cNvSpPr>
            <a:spLocks noGrp="1"/>
          </p:cNvSpPr>
          <p:nvPr>
            <p:ph type="pic" sz="quarter" idx="12"/>
          </p:nvPr>
        </p:nvSpPr>
        <p:spPr>
          <a:xfrm>
            <a:off x="2787485" y="2362200"/>
            <a:ext cx="1037618" cy="1037618"/>
          </a:xfrm>
          <a:custGeom>
            <a:avLst/>
            <a:gdLst>
              <a:gd name="connsiteX0" fmla="*/ 518809 w 1037618"/>
              <a:gd name="connsiteY0" fmla="*/ 0 h 1037618"/>
              <a:gd name="connsiteX1" fmla="*/ 1037618 w 1037618"/>
              <a:gd name="connsiteY1" fmla="*/ 518809 h 1037618"/>
              <a:gd name="connsiteX2" fmla="*/ 518809 w 1037618"/>
              <a:gd name="connsiteY2" fmla="*/ 1037618 h 1037618"/>
              <a:gd name="connsiteX3" fmla="*/ 0 w 1037618"/>
              <a:gd name="connsiteY3" fmla="*/ 518809 h 1037618"/>
              <a:gd name="connsiteX4" fmla="*/ 518809 w 1037618"/>
              <a:gd name="connsiteY4" fmla="*/ 0 h 1037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18" h="1037618">
                <a:moveTo>
                  <a:pt x="518809" y="0"/>
                </a:moveTo>
                <a:cubicBezTo>
                  <a:pt x="805339" y="0"/>
                  <a:pt x="1037618" y="232279"/>
                  <a:pt x="1037618" y="518809"/>
                </a:cubicBezTo>
                <a:cubicBezTo>
                  <a:pt x="1037618" y="805339"/>
                  <a:pt x="805339" y="1037618"/>
                  <a:pt x="518809" y="1037618"/>
                </a:cubicBezTo>
                <a:cubicBezTo>
                  <a:pt x="232279" y="1037618"/>
                  <a:pt x="0" y="805339"/>
                  <a:pt x="0" y="518809"/>
                </a:cubicBezTo>
                <a:cubicBezTo>
                  <a:pt x="0" y="232279"/>
                  <a:pt x="232279" y="0"/>
                  <a:pt x="518809"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8" name="Picture Placeholder 17">
            <a:extLst>
              <a:ext uri="{FF2B5EF4-FFF2-40B4-BE49-F238E27FC236}">
                <a16:creationId xmlns:a16="http://schemas.microsoft.com/office/drawing/2014/main" id="{1E98FA0A-D859-669A-95D3-B2845EF723F5}"/>
              </a:ext>
            </a:extLst>
          </p:cNvPr>
          <p:cNvSpPr>
            <a:spLocks noGrp="1"/>
          </p:cNvSpPr>
          <p:nvPr>
            <p:ph type="pic" sz="quarter" idx="13"/>
          </p:nvPr>
        </p:nvSpPr>
        <p:spPr>
          <a:xfrm>
            <a:off x="6128110" y="1935366"/>
            <a:ext cx="3181350" cy="3181350"/>
          </a:xfrm>
          <a:custGeom>
            <a:avLst/>
            <a:gdLst>
              <a:gd name="connsiteX0" fmla="*/ 1590675 w 3181350"/>
              <a:gd name="connsiteY0" fmla="*/ 0 h 3181350"/>
              <a:gd name="connsiteX1" fmla="*/ 3181350 w 3181350"/>
              <a:gd name="connsiteY1" fmla="*/ 1590675 h 3181350"/>
              <a:gd name="connsiteX2" fmla="*/ 1590675 w 3181350"/>
              <a:gd name="connsiteY2" fmla="*/ 3181350 h 3181350"/>
              <a:gd name="connsiteX3" fmla="*/ 0 w 3181350"/>
              <a:gd name="connsiteY3" fmla="*/ 1590675 h 3181350"/>
              <a:gd name="connsiteX4" fmla="*/ 1590675 w 3181350"/>
              <a:gd name="connsiteY4" fmla="*/ 0 h 318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1350" h="3181350">
                <a:moveTo>
                  <a:pt x="1590675" y="0"/>
                </a:moveTo>
                <a:cubicBezTo>
                  <a:pt x="2469181" y="0"/>
                  <a:pt x="3181350" y="712169"/>
                  <a:pt x="3181350" y="1590675"/>
                </a:cubicBezTo>
                <a:cubicBezTo>
                  <a:pt x="3181350" y="2469181"/>
                  <a:pt x="2469181" y="3181350"/>
                  <a:pt x="1590675" y="3181350"/>
                </a:cubicBezTo>
                <a:cubicBezTo>
                  <a:pt x="712169" y="3181350"/>
                  <a:pt x="0" y="2469181"/>
                  <a:pt x="0" y="1590675"/>
                </a:cubicBezTo>
                <a:cubicBezTo>
                  <a:pt x="0" y="712169"/>
                  <a:pt x="712169" y="0"/>
                  <a:pt x="1590675"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20" name="Picture Placeholder 19">
            <a:extLst>
              <a:ext uri="{FF2B5EF4-FFF2-40B4-BE49-F238E27FC236}">
                <a16:creationId xmlns:a16="http://schemas.microsoft.com/office/drawing/2014/main" id="{91740283-979C-9167-C4C2-9B96B1B1686B}"/>
              </a:ext>
            </a:extLst>
          </p:cNvPr>
          <p:cNvSpPr>
            <a:spLocks noGrp="1"/>
          </p:cNvSpPr>
          <p:nvPr>
            <p:ph type="pic" sz="quarter" idx="14"/>
          </p:nvPr>
        </p:nvSpPr>
        <p:spPr>
          <a:xfrm>
            <a:off x="8969828" y="0"/>
            <a:ext cx="3222173" cy="2585768"/>
          </a:xfrm>
          <a:custGeom>
            <a:avLst/>
            <a:gdLst>
              <a:gd name="connsiteX0" fmla="*/ 84395 w 3222173"/>
              <a:gd name="connsiteY0" fmla="*/ 0 h 2585768"/>
              <a:gd name="connsiteX1" fmla="*/ 3222173 w 3222173"/>
              <a:gd name="connsiteY1" fmla="*/ 0 h 2585768"/>
              <a:gd name="connsiteX2" fmla="*/ 3222173 w 3222173"/>
              <a:gd name="connsiteY2" fmla="*/ 2177546 h 2585768"/>
              <a:gd name="connsiteX3" fmla="*/ 3135581 w 3222173"/>
              <a:gd name="connsiteY3" fmla="*/ 2242298 h 2585768"/>
              <a:gd name="connsiteX4" fmla="*/ 2011136 w 3222173"/>
              <a:gd name="connsiteY4" fmla="*/ 2585768 h 2585768"/>
              <a:gd name="connsiteX5" fmla="*/ 0 w 3222173"/>
              <a:gd name="connsiteY5" fmla="*/ 574632 h 2585768"/>
              <a:gd name="connsiteX6" fmla="*/ 40859 w 3222173"/>
              <a:gd name="connsiteY6" fmla="*/ 169318 h 258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2173" h="2585768">
                <a:moveTo>
                  <a:pt x="84395" y="0"/>
                </a:moveTo>
                <a:lnTo>
                  <a:pt x="3222173" y="0"/>
                </a:lnTo>
                <a:lnTo>
                  <a:pt x="3222173" y="2177546"/>
                </a:lnTo>
                <a:lnTo>
                  <a:pt x="3135581" y="2242298"/>
                </a:lnTo>
                <a:cubicBezTo>
                  <a:pt x="2814602" y="2459147"/>
                  <a:pt x="2427656" y="2585768"/>
                  <a:pt x="2011136" y="2585768"/>
                </a:cubicBezTo>
                <a:cubicBezTo>
                  <a:pt x="900416" y="2585768"/>
                  <a:pt x="0" y="1685352"/>
                  <a:pt x="0" y="574632"/>
                </a:cubicBezTo>
                <a:cubicBezTo>
                  <a:pt x="0" y="435792"/>
                  <a:pt x="14069" y="300238"/>
                  <a:pt x="40859" y="169318"/>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22" name="Picture Placeholder 21">
            <a:extLst>
              <a:ext uri="{FF2B5EF4-FFF2-40B4-BE49-F238E27FC236}">
                <a16:creationId xmlns:a16="http://schemas.microsoft.com/office/drawing/2014/main" id="{A40D64B0-70D1-EC6C-2540-60DE14171C95}"/>
              </a:ext>
            </a:extLst>
          </p:cNvPr>
          <p:cNvSpPr>
            <a:spLocks noGrp="1"/>
          </p:cNvSpPr>
          <p:nvPr>
            <p:ph type="pic" sz="quarter" idx="15"/>
          </p:nvPr>
        </p:nvSpPr>
        <p:spPr>
          <a:xfrm>
            <a:off x="5255686" y="5322085"/>
            <a:ext cx="1037618" cy="1037618"/>
          </a:xfrm>
          <a:custGeom>
            <a:avLst/>
            <a:gdLst>
              <a:gd name="connsiteX0" fmla="*/ 518809 w 1037618"/>
              <a:gd name="connsiteY0" fmla="*/ 0 h 1037618"/>
              <a:gd name="connsiteX1" fmla="*/ 1037618 w 1037618"/>
              <a:gd name="connsiteY1" fmla="*/ 518809 h 1037618"/>
              <a:gd name="connsiteX2" fmla="*/ 518809 w 1037618"/>
              <a:gd name="connsiteY2" fmla="*/ 1037618 h 1037618"/>
              <a:gd name="connsiteX3" fmla="*/ 0 w 1037618"/>
              <a:gd name="connsiteY3" fmla="*/ 518809 h 1037618"/>
              <a:gd name="connsiteX4" fmla="*/ 518809 w 1037618"/>
              <a:gd name="connsiteY4" fmla="*/ 0 h 1037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18" h="1037618">
                <a:moveTo>
                  <a:pt x="518809" y="0"/>
                </a:moveTo>
                <a:cubicBezTo>
                  <a:pt x="805339" y="0"/>
                  <a:pt x="1037618" y="232279"/>
                  <a:pt x="1037618" y="518809"/>
                </a:cubicBezTo>
                <a:cubicBezTo>
                  <a:pt x="1037618" y="805339"/>
                  <a:pt x="805339" y="1037618"/>
                  <a:pt x="518809" y="1037618"/>
                </a:cubicBezTo>
                <a:cubicBezTo>
                  <a:pt x="232279" y="1037618"/>
                  <a:pt x="0" y="805339"/>
                  <a:pt x="0" y="518809"/>
                </a:cubicBezTo>
                <a:cubicBezTo>
                  <a:pt x="0" y="232279"/>
                  <a:pt x="232279" y="0"/>
                  <a:pt x="518809"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24" name="Picture Placeholder 23">
            <a:extLst>
              <a:ext uri="{FF2B5EF4-FFF2-40B4-BE49-F238E27FC236}">
                <a16:creationId xmlns:a16="http://schemas.microsoft.com/office/drawing/2014/main" id="{8BFFFC5C-96FA-823A-9103-1A4EA32DABB1}"/>
              </a:ext>
            </a:extLst>
          </p:cNvPr>
          <p:cNvSpPr>
            <a:spLocks noGrp="1"/>
          </p:cNvSpPr>
          <p:nvPr>
            <p:ph type="pic" sz="quarter" idx="16"/>
          </p:nvPr>
        </p:nvSpPr>
        <p:spPr>
          <a:xfrm>
            <a:off x="9709883" y="3476980"/>
            <a:ext cx="2067466" cy="2067466"/>
          </a:xfrm>
          <a:custGeom>
            <a:avLst/>
            <a:gdLst>
              <a:gd name="connsiteX0" fmla="*/ 1033733 w 2067466"/>
              <a:gd name="connsiteY0" fmla="*/ 0 h 2067466"/>
              <a:gd name="connsiteX1" fmla="*/ 2067466 w 2067466"/>
              <a:gd name="connsiteY1" fmla="*/ 1033733 h 2067466"/>
              <a:gd name="connsiteX2" fmla="*/ 1033733 w 2067466"/>
              <a:gd name="connsiteY2" fmla="*/ 2067466 h 2067466"/>
              <a:gd name="connsiteX3" fmla="*/ 0 w 2067466"/>
              <a:gd name="connsiteY3" fmla="*/ 1033733 h 2067466"/>
              <a:gd name="connsiteX4" fmla="*/ 1033733 w 2067466"/>
              <a:gd name="connsiteY4" fmla="*/ 0 h 2067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466" h="2067466">
                <a:moveTo>
                  <a:pt x="1033733" y="0"/>
                </a:moveTo>
                <a:cubicBezTo>
                  <a:pt x="1604648" y="0"/>
                  <a:pt x="2067466" y="462818"/>
                  <a:pt x="2067466" y="1033733"/>
                </a:cubicBezTo>
                <a:cubicBezTo>
                  <a:pt x="2067466" y="1604648"/>
                  <a:pt x="1604648" y="2067466"/>
                  <a:pt x="1033733" y="2067466"/>
                </a:cubicBezTo>
                <a:cubicBezTo>
                  <a:pt x="462818" y="2067466"/>
                  <a:pt x="0" y="1604648"/>
                  <a:pt x="0" y="1033733"/>
                </a:cubicBezTo>
                <a:cubicBezTo>
                  <a:pt x="0" y="462818"/>
                  <a:pt x="462818" y="0"/>
                  <a:pt x="1033733"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09476204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Fu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0B4A9E6-BB53-9229-1D35-7614FD08D7CF}"/>
              </a:ext>
            </a:extLst>
          </p:cNvPr>
          <p:cNvSpPr>
            <a:spLocks noGrp="1"/>
          </p:cNvSpPr>
          <p:nvPr>
            <p:ph type="pic" sz="quarter" idx="10"/>
          </p:nvPr>
        </p:nvSpPr>
        <p:spPr>
          <a:xfrm>
            <a:off x="876300" y="480574"/>
            <a:ext cx="10439400" cy="2968375"/>
          </a:xfrm>
          <a:custGeom>
            <a:avLst/>
            <a:gdLst>
              <a:gd name="connsiteX0" fmla="*/ 181190 w 10439400"/>
              <a:gd name="connsiteY0" fmla="*/ 0 h 2968375"/>
              <a:gd name="connsiteX1" fmla="*/ 10258210 w 10439400"/>
              <a:gd name="connsiteY1" fmla="*/ 0 h 2968375"/>
              <a:gd name="connsiteX2" fmla="*/ 10439400 w 10439400"/>
              <a:gd name="connsiteY2" fmla="*/ 181190 h 2968375"/>
              <a:gd name="connsiteX3" fmla="*/ 10439400 w 10439400"/>
              <a:gd name="connsiteY3" fmla="*/ 2787185 h 2968375"/>
              <a:gd name="connsiteX4" fmla="*/ 10258210 w 10439400"/>
              <a:gd name="connsiteY4" fmla="*/ 2968375 h 2968375"/>
              <a:gd name="connsiteX5" fmla="*/ 181190 w 10439400"/>
              <a:gd name="connsiteY5" fmla="*/ 2968375 h 2968375"/>
              <a:gd name="connsiteX6" fmla="*/ 0 w 10439400"/>
              <a:gd name="connsiteY6" fmla="*/ 2787185 h 2968375"/>
              <a:gd name="connsiteX7" fmla="*/ 0 w 10439400"/>
              <a:gd name="connsiteY7" fmla="*/ 181190 h 2968375"/>
              <a:gd name="connsiteX8" fmla="*/ 181190 w 10439400"/>
              <a:gd name="connsiteY8" fmla="*/ 0 h 2968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400" h="2968375">
                <a:moveTo>
                  <a:pt x="181190" y="0"/>
                </a:moveTo>
                <a:lnTo>
                  <a:pt x="10258210" y="0"/>
                </a:lnTo>
                <a:cubicBezTo>
                  <a:pt x="10358278" y="0"/>
                  <a:pt x="10439400" y="81122"/>
                  <a:pt x="10439400" y="181190"/>
                </a:cubicBezTo>
                <a:lnTo>
                  <a:pt x="10439400" y="2787185"/>
                </a:lnTo>
                <a:cubicBezTo>
                  <a:pt x="10439400" y="2887253"/>
                  <a:pt x="10358278" y="2968375"/>
                  <a:pt x="10258210" y="2968375"/>
                </a:cubicBezTo>
                <a:lnTo>
                  <a:pt x="181190" y="2968375"/>
                </a:lnTo>
                <a:cubicBezTo>
                  <a:pt x="81122" y="2968375"/>
                  <a:pt x="0" y="2887253"/>
                  <a:pt x="0" y="2787185"/>
                </a:cubicBezTo>
                <a:lnTo>
                  <a:pt x="0" y="181190"/>
                </a:lnTo>
                <a:cubicBezTo>
                  <a:pt x="0" y="81122"/>
                  <a:pt x="81122" y="0"/>
                  <a:pt x="181190"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57236858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Fu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02210FB-778B-5380-8E16-99D43791F88A}"/>
              </a:ext>
            </a:extLst>
          </p:cNvPr>
          <p:cNvSpPr>
            <a:spLocks noGrp="1"/>
          </p:cNvSpPr>
          <p:nvPr>
            <p:ph type="pic" sz="quarter" idx="10"/>
          </p:nvPr>
        </p:nvSpPr>
        <p:spPr>
          <a:xfrm>
            <a:off x="4256104" y="0"/>
            <a:ext cx="7023099" cy="2972228"/>
          </a:xfrm>
          <a:custGeom>
            <a:avLst/>
            <a:gdLst>
              <a:gd name="connsiteX0" fmla="*/ 0 w 7023099"/>
              <a:gd name="connsiteY0" fmla="*/ 0 h 2972228"/>
              <a:gd name="connsiteX1" fmla="*/ 7023099 w 7023099"/>
              <a:gd name="connsiteY1" fmla="*/ 0 h 2972228"/>
              <a:gd name="connsiteX2" fmla="*/ 7023099 w 7023099"/>
              <a:gd name="connsiteY2" fmla="*/ 2837021 h 2972228"/>
              <a:gd name="connsiteX3" fmla="*/ 6887892 w 7023099"/>
              <a:gd name="connsiteY3" fmla="*/ 2972228 h 2972228"/>
              <a:gd name="connsiteX4" fmla="*/ 135207 w 7023099"/>
              <a:gd name="connsiteY4" fmla="*/ 2972228 h 2972228"/>
              <a:gd name="connsiteX5" fmla="*/ 0 w 7023099"/>
              <a:gd name="connsiteY5" fmla="*/ 2837021 h 2972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3099" h="2972228">
                <a:moveTo>
                  <a:pt x="0" y="0"/>
                </a:moveTo>
                <a:lnTo>
                  <a:pt x="7023099" y="0"/>
                </a:lnTo>
                <a:lnTo>
                  <a:pt x="7023099" y="2837021"/>
                </a:lnTo>
                <a:cubicBezTo>
                  <a:pt x="7023099" y="2911694"/>
                  <a:pt x="6962565" y="2972228"/>
                  <a:pt x="6887892" y="2972228"/>
                </a:cubicBezTo>
                <a:lnTo>
                  <a:pt x="135207" y="2972228"/>
                </a:lnTo>
                <a:cubicBezTo>
                  <a:pt x="60534" y="2972228"/>
                  <a:pt x="0" y="2911694"/>
                  <a:pt x="0" y="2837021"/>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65806117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Fu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CA4AAB7-FDE5-682B-46BA-CA798F12A592}"/>
              </a:ext>
            </a:extLst>
          </p:cNvPr>
          <p:cNvSpPr>
            <a:spLocks noGrp="1"/>
          </p:cNvSpPr>
          <p:nvPr>
            <p:ph type="pic" sz="quarter" idx="10"/>
          </p:nvPr>
        </p:nvSpPr>
        <p:spPr>
          <a:xfrm>
            <a:off x="704850" y="2208137"/>
            <a:ext cx="2590801" cy="2898929"/>
          </a:xfrm>
          <a:custGeom>
            <a:avLst/>
            <a:gdLst>
              <a:gd name="connsiteX0" fmla="*/ 214777 w 2590801"/>
              <a:gd name="connsiteY0" fmla="*/ 0 h 2898929"/>
              <a:gd name="connsiteX1" fmla="*/ 2376024 w 2590801"/>
              <a:gd name="connsiteY1" fmla="*/ 0 h 2898929"/>
              <a:gd name="connsiteX2" fmla="*/ 2590801 w 2590801"/>
              <a:gd name="connsiteY2" fmla="*/ 214777 h 2898929"/>
              <a:gd name="connsiteX3" fmla="*/ 2590801 w 2590801"/>
              <a:gd name="connsiteY3" fmla="*/ 2684152 h 2898929"/>
              <a:gd name="connsiteX4" fmla="*/ 2376024 w 2590801"/>
              <a:gd name="connsiteY4" fmla="*/ 2898929 h 2898929"/>
              <a:gd name="connsiteX5" fmla="*/ 214777 w 2590801"/>
              <a:gd name="connsiteY5" fmla="*/ 2898929 h 2898929"/>
              <a:gd name="connsiteX6" fmla="*/ 0 w 2590801"/>
              <a:gd name="connsiteY6" fmla="*/ 2684152 h 2898929"/>
              <a:gd name="connsiteX7" fmla="*/ 0 w 2590801"/>
              <a:gd name="connsiteY7" fmla="*/ 214777 h 2898929"/>
              <a:gd name="connsiteX8" fmla="*/ 214777 w 2590801"/>
              <a:gd name="connsiteY8" fmla="*/ 0 h 289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1" h="2898929">
                <a:moveTo>
                  <a:pt x="214777" y="0"/>
                </a:moveTo>
                <a:lnTo>
                  <a:pt x="2376024" y="0"/>
                </a:lnTo>
                <a:cubicBezTo>
                  <a:pt x="2494642" y="0"/>
                  <a:pt x="2590801" y="96159"/>
                  <a:pt x="2590801" y="214777"/>
                </a:cubicBezTo>
                <a:lnTo>
                  <a:pt x="2590801" y="2684152"/>
                </a:lnTo>
                <a:cubicBezTo>
                  <a:pt x="2590801" y="2802770"/>
                  <a:pt x="2494642" y="2898929"/>
                  <a:pt x="2376024" y="2898929"/>
                </a:cubicBezTo>
                <a:lnTo>
                  <a:pt x="214777" y="2898929"/>
                </a:lnTo>
                <a:cubicBezTo>
                  <a:pt x="96159" y="2898929"/>
                  <a:pt x="0" y="2802770"/>
                  <a:pt x="0" y="2684152"/>
                </a:cubicBezTo>
                <a:lnTo>
                  <a:pt x="0" y="214777"/>
                </a:lnTo>
                <a:cubicBezTo>
                  <a:pt x="0" y="96159"/>
                  <a:pt x="96159" y="0"/>
                  <a:pt x="21477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1" name="Picture Placeholder 10">
            <a:extLst>
              <a:ext uri="{FF2B5EF4-FFF2-40B4-BE49-F238E27FC236}">
                <a16:creationId xmlns:a16="http://schemas.microsoft.com/office/drawing/2014/main" id="{3B6FEA81-CFAD-43CD-DA4D-03EB3DCDEFD8}"/>
              </a:ext>
            </a:extLst>
          </p:cNvPr>
          <p:cNvSpPr>
            <a:spLocks noGrp="1"/>
          </p:cNvSpPr>
          <p:nvPr>
            <p:ph type="pic" sz="quarter" idx="11"/>
          </p:nvPr>
        </p:nvSpPr>
        <p:spPr>
          <a:xfrm>
            <a:off x="3435349" y="2208137"/>
            <a:ext cx="2590801" cy="3426262"/>
          </a:xfrm>
          <a:custGeom>
            <a:avLst/>
            <a:gdLst>
              <a:gd name="connsiteX0" fmla="*/ 214777 w 2590801"/>
              <a:gd name="connsiteY0" fmla="*/ 0 h 3426262"/>
              <a:gd name="connsiteX1" fmla="*/ 2376024 w 2590801"/>
              <a:gd name="connsiteY1" fmla="*/ 0 h 3426262"/>
              <a:gd name="connsiteX2" fmla="*/ 2590801 w 2590801"/>
              <a:gd name="connsiteY2" fmla="*/ 214777 h 3426262"/>
              <a:gd name="connsiteX3" fmla="*/ 2590801 w 2590801"/>
              <a:gd name="connsiteY3" fmla="*/ 3211485 h 3426262"/>
              <a:gd name="connsiteX4" fmla="*/ 2376024 w 2590801"/>
              <a:gd name="connsiteY4" fmla="*/ 3426262 h 3426262"/>
              <a:gd name="connsiteX5" fmla="*/ 214777 w 2590801"/>
              <a:gd name="connsiteY5" fmla="*/ 3426262 h 3426262"/>
              <a:gd name="connsiteX6" fmla="*/ 0 w 2590801"/>
              <a:gd name="connsiteY6" fmla="*/ 3211485 h 3426262"/>
              <a:gd name="connsiteX7" fmla="*/ 0 w 2590801"/>
              <a:gd name="connsiteY7" fmla="*/ 214777 h 3426262"/>
              <a:gd name="connsiteX8" fmla="*/ 214777 w 2590801"/>
              <a:gd name="connsiteY8" fmla="*/ 0 h 3426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1" h="3426262">
                <a:moveTo>
                  <a:pt x="214777" y="0"/>
                </a:moveTo>
                <a:lnTo>
                  <a:pt x="2376024" y="0"/>
                </a:lnTo>
                <a:cubicBezTo>
                  <a:pt x="2494642" y="0"/>
                  <a:pt x="2590801" y="96159"/>
                  <a:pt x="2590801" y="214777"/>
                </a:cubicBezTo>
                <a:lnTo>
                  <a:pt x="2590801" y="3211485"/>
                </a:lnTo>
                <a:cubicBezTo>
                  <a:pt x="2590801" y="3330103"/>
                  <a:pt x="2494642" y="3426262"/>
                  <a:pt x="2376024" y="3426262"/>
                </a:cubicBezTo>
                <a:lnTo>
                  <a:pt x="214777" y="3426262"/>
                </a:lnTo>
                <a:cubicBezTo>
                  <a:pt x="96159" y="3426262"/>
                  <a:pt x="0" y="3330103"/>
                  <a:pt x="0" y="3211485"/>
                </a:cubicBezTo>
                <a:lnTo>
                  <a:pt x="0" y="214777"/>
                </a:lnTo>
                <a:cubicBezTo>
                  <a:pt x="0" y="96159"/>
                  <a:pt x="96159" y="0"/>
                  <a:pt x="21477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2" name="Picture Placeholder 11">
            <a:extLst>
              <a:ext uri="{FF2B5EF4-FFF2-40B4-BE49-F238E27FC236}">
                <a16:creationId xmlns:a16="http://schemas.microsoft.com/office/drawing/2014/main" id="{34ED0067-B53D-70D4-35F6-800ED5C9854E}"/>
              </a:ext>
            </a:extLst>
          </p:cNvPr>
          <p:cNvSpPr>
            <a:spLocks noGrp="1"/>
          </p:cNvSpPr>
          <p:nvPr>
            <p:ph type="pic" sz="quarter" idx="12"/>
          </p:nvPr>
        </p:nvSpPr>
        <p:spPr>
          <a:xfrm>
            <a:off x="6165849" y="2208137"/>
            <a:ext cx="2590801" cy="2898929"/>
          </a:xfrm>
          <a:custGeom>
            <a:avLst/>
            <a:gdLst>
              <a:gd name="connsiteX0" fmla="*/ 214777 w 2590801"/>
              <a:gd name="connsiteY0" fmla="*/ 0 h 2898929"/>
              <a:gd name="connsiteX1" fmla="*/ 2376024 w 2590801"/>
              <a:gd name="connsiteY1" fmla="*/ 0 h 2898929"/>
              <a:gd name="connsiteX2" fmla="*/ 2590801 w 2590801"/>
              <a:gd name="connsiteY2" fmla="*/ 214777 h 2898929"/>
              <a:gd name="connsiteX3" fmla="*/ 2590801 w 2590801"/>
              <a:gd name="connsiteY3" fmla="*/ 2684152 h 2898929"/>
              <a:gd name="connsiteX4" fmla="*/ 2376024 w 2590801"/>
              <a:gd name="connsiteY4" fmla="*/ 2898929 h 2898929"/>
              <a:gd name="connsiteX5" fmla="*/ 214777 w 2590801"/>
              <a:gd name="connsiteY5" fmla="*/ 2898929 h 2898929"/>
              <a:gd name="connsiteX6" fmla="*/ 0 w 2590801"/>
              <a:gd name="connsiteY6" fmla="*/ 2684152 h 2898929"/>
              <a:gd name="connsiteX7" fmla="*/ 0 w 2590801"/>
              <a:gd name="connsiteY7" fmla="*/ 214777 h 2898929"/>
              <a:gd name="connsiteX8" fmla="*/ 214777 w 2590801"/>
              <a:gd name="connsiteY8" fmla="*/ 0 h 289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1" h="2898929">
                <a:moveTo>
                  <a:pt x="214777" y="0"/>
                </a:moveTo>
                <a:lnTo>
                  <a:pt x="2376024" y="0"/>
                </a:lnTo>
                <a:cubicBezTo>
                  <a:pt x="2494642" y="0"/>
                  <a:pt x="2590801" y="96159"/>
                  <a:pt x="2590801" y="214777"/>
                </a:cubicBezTo>
                <a:lnTo>
                  <a:pt x="2590801" y="2684152"/>
                </a:lnTo>
                <a:cubicBezTo>
                  <a:pt x="2590801" y="2802770"/>
                  <a:pt x="2494642" y="2898929"/>
                  <a:pt x="2376024" y="2898929"/>
                </a:cubicBezTo>
                <a:lnTo>
                  <a:pt x="214777" y="2898929"/>
                </a:lnTo>
                <a:cubicBezTo>
                  <a:pt x="96159" y="2898929"/>
                  <a:pt x="0" y="2802770"/>
                  <a:pt x="0" y="2684152"/>
                </a:cubicBezTo>
                <a:lnTo>
                  <a:pt x="0" y="214777"/>
                </a:lnTo>
                <a:cubicBezTo>
                  <a:pt x="0" y="96159"/>
                  <a:pt x="96159" y="0"/>
                  <a:pt x="21477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13" name="Picture Placeholder 12">
            <a:extLst>
              <a:ext uri="{FF2B5EF4-FFF2-40B4-BE49-F238E27FC236}">
                <a16:creationId xmlns:a16="http://schemas.microsoft.com/office/drawing/2014/main" id="{634A6E0B-13D4-AF14-11F0-1C52E520BA55}"/>
              </a:ext>
            </a:extLst>
          </p:cNvPr>
          <p:cNvSpPr>
            <a:spLocks noGrp="1"/>
          </p:cNvSpPr>
          <p:nvPr>
            <p:ph type="pic" sz="quarter" idx="13"/>
          </p:nvPr>
        </p:nvSpPr>
        <p:spPr>
          <a:xfrm>
            <a:off x="8896349" y="2208137"/>
            <a:ext cx="2590801" cy="2898929"/>
          </a:xfrm>
          <a:custGeom>
            <a:avLst/>
            <a:gdLst>
              <a:gd name="connsiteX0" fmla="*/ 214777 w 2590801"/>
              <a:gd name="connsiteY0" fmla="*/ 0 h 2898929"/>
              <a:gd name="connsiteX1" fmla="*/ 2376024 w 2590801"/>
              <a:gd name="connsiteY1" fmla="*/ 0 h 2898929"/>
              <a:gd name="connsiteX2" fmla="*/ 2590801 w 2590801"/>
              <a:gd name="connsiteY2" fmla="*/ 214777 h 2898929"/>
              <a:gd name="connsiteX3" fmla="*/ 2590801 w 2590801"/>
              <a:gd name="connsiteY3" fmla="*/ 2684152 h 2898929"/>
              <a:gd name="connsiteX4" fmla="*/ 2376024 w 2590801"/>
              <a:gd name="connsiteY4" fmla="*/ 2898929 h 2898929"/>
              <a:gd name="connsiteX5" fmla="*/ 214777 w 2590801"/>
              <a:gd name="connsiteY5" fmla="*/ 2898929 h 2898929"/>
              <a:gd name="connsiteX6" fmla="*/ 0 w 2590801"/>
              <a:gd name="connsiteY6" fmla="*/ 2684152 h 2898929"/>
              <a:gd name="connsiteX7" fmla="*/ 0 w 2590801"/>
              <a:gd name="connsiteY7" fmla="*/ 214777 h 2898929"/>
              <a:gd name="connsiteX8" fmla="*/ 214777 w 2590801"/>
              <a:gd name="connsiteY8" fmla="*/ 0 h 289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1" h="2898929">
                <a:moveTo>
                  <a:pt x="214777" y="0"/>
                </a:moveTo>
                <a:lnTo>
                  <a:pt x="2376024" y="0"/>
                </a:lnTo>
                <a:cubicBezTo>
                  <a:pt x="2494642" y="0"/>
                  <a:pt x="2590801" y="96159"/>
                  <a:pt x="2590801" y="214777"/>
                </a:cubicBezTo>
                <a:lnTo>
                  <a:pt x="2590801" y="2684152"/>
                </a:lnTo>
                <a:cubicBezTo>
                  <a:pt x="2590801" y="2802770"/>
                  <a:pt x="2494642" y="2898929"/>
                  <a:pt x="2376024" y="2898929"/>
                </a:cubicBezTo>
                <a:lnTo>
                  <a:pt x="214777" y="2898929"/>
                </a:lnTo>
                <a:cubicBezTo>
                  <a:pt x="96159" y="2898929"/>
                  <a:pt x="0" y="2802770"/>
                  <a:pt x="0" y="2684152"/>
                </a:cubicBezTo>
                <a:lnTo>
                  <a:pt x="0" y="214777"/>
                </a:lnTo>
                <a:cubicBezTo>
                  <a:pt x="0" y="96159"/>
                  <a:pt x="96159" y="0"/>
                  <a:pt x="214777"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26851859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6129072" y="666928"/>
            <a:ext cx="6062928" cy="4576603"/>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603308412"/>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Fu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B478650-2D15-0F07-4DF0-A62B0DEF2A51}"/>
              </a:ext>
            </a:extLst>
          </p:cNvPr>
          <p:cNvSpPr>
            <a:spLocks noGrp="1"/>
          </p:cNvSpPr>
          <p:nvPr>
            <p:ph type="pic" sz="quarter" idx="11"/>
          </p:nvPr>
        </p:nvSpPr>
        <p:spPr>
          <a:xfrm>
            <a:off x="5030485" y="852408"/>
            <a:ext cx="3281008" cy="6005592"/>
          </a:xfrm>
          <a:custGeom>
            <a:avLst/>
            <a:gdLst>
              <a:gd name="connsiteX0" fmla="*/ 363043 w 3281008"/>
              <a:gd name="connsiteY0" fmla="*/ 0 h 6005592"/>
              <a:gd name="connsiteX1" fmla="*/ 2917965 w 3281008"/>
              <a:gd name="connsiteY1" fmla="*/ 0 h 6005592"/>
              <a:gd name="connsiteX2" fmla="*/ 3281008 w 3281008"/>
              <a:gd name="connsiteY2" fmla="*/ 363043 h 6005592"/>
              <a:gd name="connsiteX3" fmla="*/ 3281008 w 3281008"/>
              <a:gd name="connsiteY3" fmla="*/ 6005592 h 6005592"/>
              <a:gd name="connsiteX4" fmla="*/ 0 w 3281008"/>
              <a:gd name="connsiteY4" fmla="*/ 6005592 h 6005592"/>
              <a:gd name="connsiteX5" fmla="*/ 0 w 3281008"/>
              <a:gd name="connsiteY5" fmla="*/ 363043 h 6005592"/>
              <a:gd name="connsiteX6" fmla="*/ 363043 w 3281008"/>
              <a:gd name="connsiteY6" fmla="*/ 0 h 60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1008" h="6005592">
                <a:moveTo>
                  <a:pt x="363043" y="0"/>
                </a:moveTo>
                <a:lnTo>
                  <a:pt x="2917965" y="0"/>
                </a:lnTo>
                <a:cubicBezTo>
                  <a:pt x="3118469" y="0"/>
                  <a:pt x="3281008" y="162539"/>
                  <a:pt x="3281008" y="363043"/>
                </a:cubicBezTo>
                <a:lnTo>
                  <a:pt x="3281008" y="6005592"/>
                </a:lnTo>
                <a:lnTo>
                  <a:pt x="0" y="6005592"/>
                </a:lnTo>
                <a:lnTo>
                  <a:pt x="0" y="363043"/>
                </a:lnTo>
                <a:cubicBezTo>
                  <a:pt x="0" y="162539"/>
                  <a:pt x="162540" y="0"/>
                  <a:pt x="363043"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
        <p:nvSpPr>
          <p:cNvPr id="6" name="Picture Placeholder 5">
            <a:extLst>
              <a:ext uri="{FF2B5EF4-FFF2-40B4-BE49-F238E27FC236}">
                <a16:creationId xmlns:a16="http://schemas.microsoft.com/office/drawing/2014/main" id="{7E0C9D6E-2179-A437-6F34-C319618B8736}"/>
              </a:ext>
            </a:extLst>
          </p:cNvPr>
          <p:cNvSpPr>
            <a:spLocks noGrp="1"/>
          </p:cNvSpPr>
          <p:nvPr>
            <p:ph type="pic" sz="quarter" idx="10"/>
          </p:nvPr>
        </p:nvSpPr>
        <p:spPr>
          <a:xfrm>
            <a:off x="7534093" y="1882508"/>
            <a:ext cx="3281008" cy="4975492"/>
          </a:xfrm>
          <a:custGeom>
            <a:avLst/>
            <a:gdLst>
              <a:gd name="connsiteX0" fmla="*/ 363043 w 3281008"/>
              <a:gd name="connsiteY0" fmla="*/ 0 h 4975492"/>
              <a:gd name="connsiteX1" fmla="*/ 2917965 w 3281008"/>
              <a:gd name="connsiteY1" fmla="*/ 0 h 4975492"/>
              <a:gd name="connsiteX2" fmla="*/ 3281008 w 3281008"/>
              <a:gd name="connsiteY2" fmla="*/ 363043 h 4975492"/>
              <a:gd name="connsiteX3" fmla="*/ 3281008 w 3281008"/>
              <a:gd name="connsiteY3" fmla="*/ 4975492 h 4975492"/>
              <a:gd name="connsiteX4" fmla="*/ 0 w 3281008"/>
              <a:gd name="connsiteY4" fmla="*/ 4975492 h 4975492"/>
              <a:gd name="connsiteX5" fmla="*/ 0 w 3281008"/>
              <a:gd name="connsiteY5" fmla="*/ 363043 h 4975492"/>
              <a:gd name="connsiteX6" fmla="*/ 363043 w 3281008"/>
              <a:gd name="connsiteY6" fmla="*/ 0 h 497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1008" h="4975492">
                <a:moveTo>
                  <a:pt x="363043" y="0"/>
                </a:moveTo>
                <a:lnTo>
                  <a:pt x="2917965" y="0"/>
                </a:lnTo>
                <a:cubicBezTo>
                  <a:pt x="3118469" y="0"/>
                  <a:pt x="3281008" y="162539"/>
                  <a:pt x="3281008" y="363043"/>
                </a:cubicBezTo>
                <a:lnTo>
                  <a:pt x="3281008" y="4975492"/>
                </a:lnTo>
                <a:lnTo>
                  <a:pt x="0" y="4975492"/>
                </a:lnTo>
                <a:lnTo>
                  <a:pt x="0" y="363043"/>
                </a:lnTo>
                <a:cubicBezTo>
                  <a:pt x="0" y="162539"/>
                  <a:pt x="162540" y="0"/>
                  <a:pt x="363043"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247923790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Futur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4C1D300-E6B1-914F-7EEF-CD4F5049347F}"/>
              </a:ext>
            </a:extLst>
          </p:cNvPr>
          <p:cNvSpPr>
            <a:spLocks noGrp="1"/>
          </p:cNvSpPr>
          <p:nvPr>
            <p:ph type="pic" sz="quarter" idx="10"/>
          </p:nvPr>
        </p:nvSpPr>
        <p:spPr>
          <a:xfrm>
            <a:off x="0" y="1"/>
            <a:ext cx="12192000" cy="3429000"/>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61860383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Fu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E3B2333-9874-93D9-916F-BB3214DDC443}"/>
              </a:ext>
            </a:extLst>
          </p:cNvPr>
          <p:cNvSpPr>
            <a:spLocks noGrp="1"/>
          </p:cNvSpPr>
          <p:nvPr>
            <p:ph type="pic" sz="quarter" idx="10"/>
          </p:nvPr>
        </p:nvSpPr>
        <p:spPr>
          <a:xfrm>
            <a:off x="0" y="0"/>
            <a:ext cx="12192000" cy="6858000"/>
          </a:xfrm>
          <a:prstGeom prst="rect">
            <a:avLst/>
          </a:pr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78530467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Fu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E3B2333-9874-93D9-916F-BB3214DDC443}"/>
              </a:ext>
            </a:extLst>
          </p:cNvPr>
          <p:cNvSpPr>
            <a:spLocks noGrp="1"/>
          </p:cNvSpPr>
          <p:nvPr>
            <p:ph type="pic" sz="quarter" idx="10"/>
          </p:nvPr>
        </p:nvSpPr>
        <p:spPr>
          <a:xfrm>
            <a:off x="4121622" y="1431743"/>
            <a:ext cx="3948756" cy="3948756"/>
          </a:xfrm>
          <a:custGeom>
            <a:avLst/>
            <a:gdLst>
              <a:gd name="connsiteX0" fmla="*/ 1974378 w 3948756"/>
              <a:gd name="connsiteY0" fmla="*/ 0 h 3948756"/>
              <a:gd name="connsiteX1" fmla="*/ 3948756 w 3948756"/>
              <a:gd name="connsiteY1" fmla="*/ 1974378 h 3948756"/>
              <a:gd name="connsiteX2" fmla="*/ 1974378 w 3948756"/>
              <a:gd name="connsiteY2" fmla="*/ 3948756 h 3948756"/>
              <a:gd name="connsiteX3" fmla="*/ 0 w 3948756"/>
              <a:gd name="connsiteY3" fmla="*/ 1974378 h 3948756"/>
              <a:gd name="connsiteX4" fmla="*/ 1974378 w 3948756"/>
              <a:gd name="connsiteY4" fmla="*/ 0 h 3948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8756" h="3948756">
                <a:moveTo>
                  <a:pt x="1974378" y="0"/>
                </a:moveTo>
                <a:cubicBezTo>
                  <a:pt x="3064797" y="0"/>
                  <a:pt x="3948756" y="883959"/>
                  <a:pt x="3948756" y="1974378"/>
                </a:cubicBezTo>
                <a:cubicBezTo>
                  <a:pt x="3948756" y="3064797"/>
                  <a:pt x="3064797" y="3948756"/>
                  <a:pt x="1974378" y="3948756"/>
                </a:cubicBezTo>
                <a:cubicBezTo>
                  <a:pt x="883959" y="3948756"/>
                  <a:pt x="0" y="3064797"/>
                  <a:pt x="0" y="1974378"/>
                </a:cubicBezTo>
                <a:cubicBezTo>
                  <a:pt x="0" y="883959"/>
                  <a:pt x="883959" y="0"/>
                  <a:pt x="1974378" y="0"/>
                </a:cubicBezTo>
                <a:close/>
              </a:path>
            </a:pathLst>
          </a:custGeom>
          <a:pattFill prst="pct5">
            <a:fgClr>
              <a:srgbClr val="FF0000"/>
            </a:fgClr>
            <a:bgClr>
              <a:schemeClr val="bg1"/>
            </a:bgClr>
          </a:pattFill>
        </p:spPr>
        <p:txBody>
          <a:bodyPr wrap="square">
            <a:noAutofit/>
          </a:bodyPr>
          <a:lstStyle>
            <a:lvl1pPr>
              <a:defRPr sz="12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8252866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Graphic 8">
            <a:extLst>
              <a:ext uri="{FF2B5EF4-FFF2-40B4-BE49-F238E27FC236}">
                <a16:creationId xmlns:a16="http://schemas.microsoft.com/office/drawing/2014/main" id="{ED649966-C253-7B1C-733C-137CC0823189}"/>
              </a:ext>
            </a:extLst>
          </p:cNvPr>
          <p:cNvSpPr/>
          <p:nvPr/>
        </p:nvSpPr>
        <p:spPr>
          <a:xfrm>
            <a:off x="0" y="0"/>
            <a:ext cx="12192000" cy="6858000"/>
          </a:xfrm>
          <a:custGeom>
            <a:avLst/>
            <a:gdLst>
              <a:gd name="connsiteX0" fmla="*/ 12192000 w 12192000"/>
              <a:gd name="connsiteY0" fmla="*/ 518287 h 6858000"/>
              <a:gd name="connsiteX1" fmla="*/ 12192000 w 12192000"/>
              <a:gd name="connsiteY1" fmla="*/ 508762 h 6858000"/>
              <a:gd name="connsiteX2" fmla="*/ 11666665 w 12192000"/>
              <a:gd name="connsiteY2" fmla="*/ 508762 h 6858000"/>
              <a:gd name="connsiteX3" fmla="*/ 11666665 w 12192000"/>
              <a:gd name="connsiteY3" fmla="*/ 0 h 6858000"/>
              <a:gd name="connsiteX4" fmla="*/ 11657140 w 12192000"/>
              <a:gd name="connsiteY4" fmla="*/ 0 h 6858000"/>
              <a:gd name="connsiteX5" fmla="*/ 11657140 w 12192000"/>
              <a:gd name="connsiteY5" fmla="*/ 508762 h 6858000"/>
              <a:gd name="connsiteX6" fmla="*/ 11136440 w 12192000"/>
              <a:gd name="connsiteY6" fmla="*/ 508762 h 6858000"/>
              <a:gd name="connsiteX7" fmla="*/ 11136440 w 12192000"/>
              <a:gd name="connsiteY7" fmla="*/ 0 h 6858000"/>
              <a:gd name="connsiteX8" fmla="*/ 11126915 w 12192000"/>
              <a:gd name="connsiteY8" fmla="*/ 0 h 6858000"/>
              <a:gd name="connsiteX9" fmla="*/ 11126915 w 12192000"/>
              <a:gd name="connsiteY9" fmla="*/ 508762 h 6858000"/>
              <a:gd name="connsiteX10" fmla="*/ 10606215 w 12192000"/>
              <a:gd name="connsiteY10" fmla="*/ 508762 h 6858000"/>
              <a:gd name="connsiteX11" fmla="*/ 10606215 w 12192000"/>
              <a:gd name="connsiteY11" fmla="*/ 0 h 6858000"/>
              <a:gd name="connsiteX12" fmla="*/ 10596690 w 12192000"/>
              <a:gd name="connsiteY12" fmla="*/ 0 h 6858000"/>
              <a:gd name="connsiteX13" fmla="*/ 10596690 w 12192000"/>
              <a:gd name="connsiteY13" fmla="*/ 508762 h 6858000"/>
              <a:gd name="connsiteX14" fmla="*/ 10075990 w 12192000"/>
              <a:gd name="connsiteY14" fmla="*/ 508762 h 6858000"/>
              <a:gd name="connsiteX15" fmla="*/ 10075990 w 12192000"/>
              <a:gd name="connsiteY15" fmla="*/ 0 h 6858000"/>
              <a:gd name="connsiteX16" fmla="*/ 10066465 w 12192000"/>
              <a:gd name="connsiteY16" fmla="*/ 0 h 6858000"/>
              <a:gd name="connsiteX17" fmla="*/ 10066465 w 12192000"/>
              <a:gd name="connsiteY17" fmla="*/ 508762 h 6858000"/>
              <a:gd name="connsiteX18" fmla="*/ 9545765 w 12192000"/>
              <a:gd name="connsiteY18" fmla="*/ 508762 h 6858000"/>
              <a:gd name="connsiteX19" fmla="*/ 9545765 w 12192000"/>
              <a:gd name="connsiteY19" fmla="*/ 0 h 6858000"/>
              <a:gd name="connsiteX20" fmla="*/ 9536240 w 12192000"/>
              <a:gd name="connsiteY20" fmla="*/ 0 h 6858000"/>
              <a:gd name="connsiteX21" fmla="*/ 9536240 w 12192000"/>
              <a:gd name="connsiteY21" fmla="*/ 508762 h 6858000"/>
              <a:gd name="connsiteX22" fmla="*/ 9015540 w 12192000"/>
              <a:gd name="connsiteY22" fmla="*/ 508762 h 6858000"/>
              <a:gd name="connsiteX23" fmla="*/ 9015540 w 12192000"/>
              <a:gd name="connsiteY23" fmla="*/ 0 h 6858000"/>
              <a:gd name="connsiteX24" fmla="*/ 9006015 w 12192000"/>
              <a:gd name="connsiteY24" fmla="*/ 0 h 6858000"/>
              <a:gd name="connsiteX25" fmla="*/ 9006015 w 12192000"/>
              <a:gd name="connsiteY25" fmla="*/ 508762 h 6858000"/>
              <a:gd name="connsiteX26" fmla="*/ 8485315 w 12192000"/>
              <a:gd name="connsiteY26" fmla="*/ 508762 h 6858000"/>
              <a:gd name="connsiteX27" fmla="*/ 8485315 w 12192000"/>
              <a:gd name="connsiteY27" fmla="*/ 0 h 6858000"/>
              <a:gd name="connsiteX28" fmla="*/ 8475790 w 12192000"/>
              <a:gd name="connsiteY28" fmla="*/ 0 h 6858000"/>
              <a:gd name="connsiteX29" fmla="*/ 8475790 w 12192000"/>
              <a:gd name="connsiteY29" fmla="*/ 508762 h 6858000"/>
              <a:gd name="connsiteX30" fmla="*/ 7955090 w 12192000"/>
              <a:gd name="connsiteY30" fmla="*/ 508762 h 6858000"/>
              <a:gd name="connsiteX31" fmla="*/ 7955090 w 12192000"/>
              <a:gd name="connsiteY31" fmla="*/ 0 h 6858000"/>
              <a:gd name="connsiteX32" fmla="*/ 7945565 w 12192000"/>
              <a:gd name="connsiteY32" fmla="*/ 0 h 6858000"/>
              <a:gd name="connsiteX33" fmla="*/ 7945565 w 12192000"/>
              <a:gd name="connsiteY33" fmla="*/ 508762 h 6858000"/>
              <a:gd name="connsiteX34" fmla="*/ 7424865 w 12192000"/>
              <a:gd name="connsiteY34" fmla="*/ 508762 h 6858000"/>
              <a:gd name="connsiteX35" fmla="*/ 7424865 w 12192000"/>
              <a:gd name="connsiteY35" fmla="*/ 0 h 6858000"/>
              <a:gd name="connsiteX36" fmla="*/ 7416800 w 12192000"/>
              <a:gd name="connsiteY36" fmla="*/ 0 h 6858000"/>
              <a:gd name="connsiteX37" fmla="*/ 7416800 w 12192000"/>
              <a:gd name="connsiteY37" fmla="*/ 508762 h 6858000"/>
              <a:gd name="connsiteX38" fmla="*/ 6896100 w 12192000"/>
              <a:gd name="connsiteY38" fmla="*/ 508762 h 6858000"/>
              <a:gd name="connsiteX39" fmla="*/ 6896100 w 12192000"/>
              <a:gd name="connsiteY39" fmla="*/ 0 h 6858000"/>
              <a:gd name="connsiteX40" fmla="*/ 6886575 w 12192000"/>
              <a:gd name="connsiteY40" fmla="*/ 0 h 6858000"/>
              <a:gd name="connsiteX41" fmla="*/ 6886575 w 12192000"/>
              <a:gd name="connsiteY41" fmla="*/ 508762 h 6858000"/>
              <a:gd name="connsiteX42" fmla="*/ 6365875 w 12192000"/>
              <a:gd name="connsiteY42" fmla="*/ 508762 h 6858000"/>
              <a:gd name="connsiteX43" fmla="*/ 6365875 w 12192000"/>
              <a:gd name="connsiteY43" fmla="*/ 0 h 6858000"/>
              <a:gd name="connsiteX44" fmla="*/ 6356350 w 12192000"/>
              <a:gd name="connsiteY44" fmla="*/ 0 h 6858000"/>
              <a:gd name="connsiteX45" fmla="*/ 6356350 w 12192000"/>
              <a:gd name="connsiteY45" fmla="*/ 508762 h 6858000"/>
              <a:gd name="connsiteX46" fmla="*/ 5835650 w 12192000"/>
              <a:gd name="connsiteY46" fmla="*/ 508762 h 6858000"/>
              <a:gd name="connsiteX47" fmla="*/ 5835650 w 12192000"/>
              <a:gd name="connsiteY47" fmla="*/ 0 h 6858000"/>
              <a:gd name="connsiteX48" fmla="*/ 5826125 w 12192000"/>
              <a:gd name="connsiteY48" fmla="*/ 0 h 6858000"/>
              <a:gd name="connsiteX49" fmla="*/ 5826125 w 12192000"/>
              <a:gd name="connsiteY49" fmla="*/ 508762 h 6858000"/>
              <a:gd name="connsiteX50" fmla="*/ 5305425 w 12192000"/>
              <a:gd name="connsiteY50" fmla="*/ 508762 h 6858000"/>
              <a:gd name="connsiteX51" fmla="*/ 5305425 w 12192000"/>
              <a:gd name="connsiteY51" fmla="*/ 0 h 6858000"/>
              <a:gd name="connsiteX52" fmla="*/ 5295900 w 12192000"/>
              <a:gd name="connsiteY52" fmla="*/ 0 h 6858000"/>
              <a:gd name="connsiteX53" fmla="*/ 5295900 w 12192000"/>
              <a:gd name="connsiteY53" fmla="*/ 508762 h 6858000"/>
              <a:gd name="connsiteX54" fmla="*/ 4775200 w 12192000"/>
              <a:gd name="connsiteY54" fmla="*/ 508762 h 6858000"/>
              <a:gd name="connsiteX55" fmla="*/ 4775200 w 12192000"/>
              <a:gd name="connsiteY55" fmla="*/ 0 h 6858000"/>
              <a:gd name="connsiteX56" fmla="*/ 4765675 w 12192000"/>
              <a:gd name="connsiteY56" fmla="*/ 0 h 6858000"/>
              <a:gd name="connsiteX57" fmla="*/ 4765675 w 12192000"/>
              <a:gd name="connsiteY57" fmla="*/ 508762 h 6858000"/>
              <a:gd name="connsiteX58" fmla="*/ 4244975 w 12192000"/>
              <a:gd name="connsiteY58" fmla="*/ 508762 h 6858000"/>
              <a:gd name="connsiteX59" fmla="*/ 4244975 w 12192000"/>
              <a:gd name="connsiteY59" fmla="*/ 0 h 6858000"/>
              <a:gd name="connsiteX60" fmla="*/ 4235450 w 12192000"/>
              <a:gd name="connsiteY60" fmla="*/ 0 h 6858000"/>
              <a:gd name="connsiteX61" fmla="*/ 4235450 w 12192000"/>
              <a:gd name="connsiteY61" fmla="*/ 508762 h 6858000"/>
              <a:gd name="connsiteX62" fmla="*/ 3714750 w 12192000"/>
              <a:gd name="connsiteY62" fmla="*/ 508762 h 6858000"/>
              <a:gd name="connsiteX63" fmla="*/ 3714750 w 12192000"/>
              <a:gd name="connsiteY63" fmla="*/ 0 h 6858000"/>
              <a:gd name="connsiteX64" fmla="*/ 3705225 w 12192000"/>
              <a:gd name="connsiteY64" fmla="*/ 0 h 6858000"/>
              <a:gd name="connsiteX65" fmla="*/ 3705225 w 12192000"/>
              <a:gd name="connsiteY65" fmla="*/ 508762 h 6858000"/>
              <a:gd name="connsiteX66" fmla="*/ 3184525 w 12192000"/>
              <a:gd name="connsiteY66" fmla="*/ 508762 h 6858000"/>
              <a:gd name="connsiteX67" fmla="*/ 3184525 w 12192000"/>
              <a:gd name="connsiteY67" fmla="*/ 0 h 6858000"/>
              <a:gd name="connsiteX68" fmla="*/ 3175000 w 12192000"/>
              <a:gd name="connsiteY68" fmla="*/ 0 h 6858000"/>
              <a:gd name="connsiteX69" fmla="*/ 3175000 w 12192000"/>
              <a:gd name="connsiteY69" fmla="*/ 508762 h 6858000"/>
              <a:gd name="connsiteX70" fmla="*/ 2654300 w 12192000"/>
              <a:gd name="connsiteY70" fmla="*/ 508762 h 6858000"/>
              <a:gd name="connsiteX71" fmla="*/ 2654300 w 12192000"/>
              <a:gd name="connsiteY71" fmla="*/ 0 h 6858000"/>
              <a:gd name="connsiteX72" fmla="*/ 2644775 w 12192000"/>
              <a:gd name="connsiteY72" fmla="*/ 0 h 6858000"/>
              <a:gd name="connsiteX73" fmla="*/ 2644775 w 12192000"/>
              <a:gd name="connsiteY73" fmla="*/ 508762 h 6858000"/>
              <a:gd name="connsiteX74" fmla="*/ 2124075 w 12192000"/>
              <a:gd name="connsiteY74" fmla="*/ 508762 h 6858000"/>
              <a:gd name="connsiteX75" fmla="*/ 2124075 w 12192000"/>
              <a:gd name="connsiteY75" fmla="*/ 0 h 6858000"/>
              <a:gd name="connsiteX76" fmla="*/ 2114550 w 12192000"/>
              <a:gd name="connsiteY76" fmla="*/ 0 h 6858000"/>
              <a:gd name="connsiteX77" fmla="*/ 2114550 w 12192000"/>
              <a:gd name="connsiteY77" fmla="*/ 508762 h 6858000"/>
              <a:gd name="connsiteX78" fmla="*/ 1593850 w 12192000"/>
              <a:gd name="connsiteY78" fmla="*/ 508762 h 6858000"/>
              <a:gd name="connsiteX79" fmla="*/ 1593850 w 12192000"/>
              <a:gd name="connsiteY79" fmla="*/ 0 h 6858000"/>
              <a:gd name="connsiteX80" fmla="*/ 1584325 w 12192000"/>
              <a:gd name="connsiteY80" fmla="*/ 0 h 6858000"/>
              <a:gd name="connsiteX81" fmla="*/ 1584325 w 12192000"/>
              <a:gd name="connsiteY81" fmla="*/ 508762 h 6858000"/>
              <a:gd name="connsiteX82" fmla="*/ 1063625 w 12192000"/>
              <a:gd name="connsiteY82" fmla="*/ 508762 h 6858000"/>
              <a:gd name="connsiteX83" fmla="*/ 1063625 w 12192000"/>
              <a:gd name="connsiteY83" fmla="*/ 0 h 6858000"/>
              <a:gd name="connsiteX84" fmla="*/ 1054100 w 12192000"/>
              <a:gd name="connsiteY84" fmla="*/ 0 h 6858000"/>
              <a:gd name="connsiteX85" fmla="*/ 1054100 w 12192000"/>
              <a:gd name="connsiteY85" fmla="*/ 508762 h 6858000"/>
              <a:gd name="connsiteX86" fmla="*/ 533400 w 12192000"/>
              <a:gd name="connsiteY86" fmla="*/ 508762 h 6858000"/>
              <a:gd name="connsiteX87" fmla="*/ 533400 w 12192000"/>
              <a:gd name="connsiteY87" fmla="*/ 0 h 6858000"/>
              <a:gd name="connsiteX88" fmla="*/ 523875 w 12192000"/>
              <a:gd name="connsiteY88" fmla="*/ 0 h 6858000"/>
              <a:gd name="connsiteX89" fmla="*/ 523875 w 12192000"/>
              <a:gd name="connsiteY89" fmla="*/ 508762 h 6858000"/>
              <a:gd name="connsiteX90" fmla="*/ 0 w 12192000"/>
              <a:gd name="connsiteY90" fmla="*/ 508762 h 6858000"/>
              <a:gd name="connsiteX91" fmla="*/ 0 w 12192000"/>
              <a:gd name="connsiteY91" fmla="*/ 518287 h 6858000"/>
              <a:gd name="connsiteX92" fmla="*/ 525336 w 12192000"/>
              <a:gd name="connsiteY92" fmla="*/ 518287 h 6858000"/>
              <a:gd name="connsiteX93" fmla="*/ 525336 w 12192000"/>
              <a:gd name="connsiteY93" fmla="*/ 1038987 h 6858000"/>
              <a:gd name="connsiteX94" fmla="*/ 0 w 12192000"/>
              <a:gd name="connsiteY94" fmla="*/ 1038987 h 6858000"/>
              <a:gd name="connsiteX95" fmla="*/ 0 w 12192000"/>
              <a:gd name="connsiteY95" fmla="*/ 1048512 h 6858000"/>
              <a:gd name="connsiteX96" fmla="*/ 525336 w 12192000"/>
              <a:gd name="connsiteY96" fmla="*/ 1048512 h 6858000"/>
              <a:gd name="connsiteX97" fmla="*/ 525336 w 12192000"/>
              <a:gd name="connsiteY97" fmla="*/ 1569212 h 6858000"/>
              <a:gd name="connsiteX98" fmla="*/ 0 w 12192000"/>
              <a:gd name="connsiteY98" fmla="*/ 1569212 h 6858000"/>
              <a:gd name="connsiteX99" fmla="*/ 0 w 12192000"/>
              <a:gd name="connsiteY99" fmla="*/ 1578737 h 6858000"/>
              <a:gd name="connsiteX100" fmla="*/ 525336 w 12192000"/>
              <a:gd name="connsiteY100" fmla="*/ 1578737 h 6858000"/>
              <a:gd name="connsiteX101" fmla="*/ 525336 w 12192000"/>
              <a:gd name="connsiteY101" fmla="*/ 2099437 h 6858000"/>
              <a:gd name="connsiteX102" fmla="*/ 0 w 12192000"/>
              <a:gd name="connsiteY102" fmla="*/ 2099437 h 6858000"/>
              <a:gd name="connsiteX103" fmla="*/ 0 w 12192000"/>
              <a:gd name="connsiteY103" fmla="*/ 2108962 h 6858000"/>
              <a:gd name="connsiteX104" fmla="*/ 525336 w 12192000"/>
              <a:gd name="connsiteY104" fmla="*/ 2108962 h 6858000"/>
              <a:gd name="connsiteX105" fmla="*/ 525336 w 12192000"/>
              <a:gd name="connsiteY105" fmla="*/ 2629662 h 6858000"/>
              <a:gd name="connsiteX106" fmla="*/ 0 w 12192000"/>
              <a:gd name="connsiteY106" fmla="*/ 2629662 h 6858000"/>
              <a:gd name="connsiteX107" fmla="*/ 0 w 12192000"/>
              <a:gd name="connsiteY107" fmla="*/ 2639187 h 6858000"/>
              <a:gd name="connsiteX108" fmla="*/ 525336 w 12192000"/>
              <a:gd name="connsiteY108" fmla="*/ 2639187 h 6858000"/>
              <a:gd name="connsiteX109" fmla="*/ 525336 w 12192000"/>
              <a:gd name="connsiteY109" fmla="*/ 3159887 h 6858000"/>
              <a:gd name="connsiteX110" fmla="*/ 0 w 12192000"/>
              <a:gd name="connsiteY110" fmla="*/ 3159887 h 6858000"/>
              <a:gd name="connsiteX111" fmla="*/ 0 w 12192000"/>
              <a:gd name="connsiteY111" fmla="*/ 3168650 h 6858000"/>
              <a:gd name="connsiteX112" fmla="*/ 525336 w 12192000"/>
              <a:gd name="connsiteY112" fmla="*/ 3168650 h 6858000"/>
              <a:gd name="connsiteX113" fmla="*/ 525336 w 12192000"/>
              <a:gd name="connsiteY113" fmla="*/ 3689350 h 6858000"/>
              <a:gd name="connsiteX114" fmla="*/ 0 w 12192000"/>
              <a:gd name="connsiteY114" fmla="*/ 3689350 h 6858000"/>
              <a:gd name="connsiteX115" fmla="*/ 0 w 12192000"/>
              <a:gd name="connsiteY115" fmla="*/ 3698875 h 6858000"/>
              <a:gd name="connsiteX116" fmla="*/ 525336 w 12192000"/>
              <a:gd name="connsiteY116" fmla="*/ 3698875 h 6858000"/>
              <a:gd name="connsiteX117" fmla="*/ 525336 w 12192000"/>
              <a:gd name="connsiteY117" fmla="*/ 4219575 h 6858000"/>
              <a:gd name="connsiteX118" fmla="*/ 0 w 12192000"/>
              <a:gd name="connsiteY118" fmla="*/ 4219575 h 6858000"/>
              <a:gd name="connsiteX119" fmla="*/ 0 w 12192000"/>
              <a:gd name="connsiteY119" fmla="*/ 4229100 h 6858000"/>
              <a:gd name="connsiteX120" fmla="*/ 525336 w 12192000"/>
              <a:gd name="connsiteY120" fmla="*/ 4229100 h 6858000"/>
              <a:gd name="connsiteX121" fmla="*/ 525336 w 12192000"/>
              <a:gd name="connsiteY121" fmla="*/ 4749800 h 6858000"/>
              <a:gd name="connsiteX122" fmla="*/ 0 w 12192000"/>
              <a:gd name="connsiteY122" fmla="*/ 4749800 h 6858000"/>
              <a:gd name="connsiteX123" fmla="*/ 0 w 12192000"/>
              <a:gd name="connsiteY123" fmla="*/ 4759325 h 6858000"/>
              <a:gd name="connsiteX124" fmla="*/ 525336 w 12192000"/>
              <a:gd name="connsiteY124" fmla="*/ 4759325 h 6858000"/>
              <a:gd name="connsiteX125" fmla="*/ 525336 w 12192000"/>
              <a:gd name="connsiteY125" fmla="*/ 5280025 h 6858000"/>
              <a:gd name="connsiteX126" fmla="*/ 0 w 12192000"/>
              <a:gd name="connsiteY126" fmla="*/ 5280025 h 6858000"/>
              <a:gd name="connsiteX127" fmla="*/ 0 w 12192000"/>
              <a:gd name="connsiteY127" fmla="*/ 5289550 h 6858000"/>
              <a:gd name="connsiteX128" fmla="*/ 525336 w 12192000"/>
              <a:gd name="connsiteY128" fmla="*/ 5289550 h 6858000"/>
              <a:gd name="connsiteX129" fmla="*/ 525336 w 12192000"/>
              <a:gd name="connsiteY129" fmla="*/ 5810250 h 6858000"/>
              <a:gd name="connsiteX130" fmla="*/ 0 w 12192000"/>
              <a:gd name="connsiteY130" fmla="*/ 5810250 h 6858000"/>
              <a:gd name="connsiteX131" fmla="*/ 0 w 12192000"/>
              <a:gd name="connsiteY131" fmla="*/ 5819775 h 6858000"/>
              <a:gd name="connsiteX132" fmla="*/ 525336 w 12192000"/>
              <a:gd name="connsiteY132" fmla="*/ 5819775 h 6858000"/>
              <a:gd name="connsiteX133" fmla="*/ 525336 w 12192000"/>
              <a:gd name="connsiteY133" fmla="*/ 6340475 h 6858000"/>
              <a:gd name="connsiteX134" fmla="*/ 0 w 12192000"/>
              <a:gd name="connsiteY134" fmla="*/ 6340475 h 6858000"/>
              <a:gd name="connsiteX135" fmla="*/ 0 w 12192000"/>
              <a:gd name="connsiteY135" fmla="*/ 6350000 h 6858000"/>
              <a:gd name="connsiteX136" fmla="*/ 525336 w 12192000"/>
              <a:gd name="connsiteY136" fmla="*/ 6350000 h 6858000"/>
              <a:gd name="connsiteX137" fmla="*/ 525336 w 12192000"/>
              <a:gd name="connsiteY137" fmla="*/ 6858000 h 6858000"/>
              <a:gd name="connsiteX138" fmla="*/ 534861 w 12192000"/>
              <a:gd name="connsiteY138" fmla="*/ 6858000 h 6858000"/>
              <a:gd name="connsiteX139" fmla="*/ 534861 w 12192000"/>
              <a:gd name="connsiteY139" fmla="*/ 6349238 h 6858000"/>
              <a:gd name="connsiteX140" fmla="*/ 1055561 w 12192000"/>
              <a:gd name="connsiteY140" fmla="*/ 6349238 h 6858000"/>
              <a:gd name="connsiteX141" fmla="*/ 1055561 w 12192000"/>
              <a:gd name="connsiteY141" fmla="*/ 6858000 h 6858000"/>
              <a:gd name="connsiteX142" fmla="*/ 1065086 w 12192000"/>
              <a:gd name="connsiteY142" fmla="*/ 6858000 h 6858000"/>
              <a:gd name="connsiteX143" fmla="*/ 1065086 w 12192000"/>
              <a:gd name="connsiteY143" fmla="*/ 6349238 h 6858000"/>
              <a:gd name="connsiteX144" fmla="*/ 1585786 w 12192000"/>
              <a:gd name="connsiteY144" fmla="*/ 6349238 h 6858000"/>
              <a:gd name="connsiteX145" fmla="*/ 1585786 w 12192000"/>
              <a:gd name="connsiteY145" fmla="*/ 6858000 h 6858000"/>
              <a:gd name="connsiteX146" fmla="*/ 1595311 w 12192000"/>
              <a:gd name="connsiteY146" fmla="*/ 6858000 h 6858000"/>
              <a:gd name="connsiteX147" fmla="*/ 1595311 w 12192000"/>
              <a:gd name="connsiteY147" fmla="*/ 6349238 h 6858000"/>
              <a:gd name="connsiteX148" fmla="*/ 2116011 w 12192000"/>
              <a:gd name="connsiteY148" fmla="*/ 6349238 h 6858000"/>
              <a:gd name="connsiteX149" fmla="*/ 2116011 w 12192000"/>
              <a:gd name="connsiteY149" fmla="*/ 6858000 h 6858000"/>
              <a:gd name="connsiteX150" fmla="*/ 2125536 w 12192000"/>
              <a:gd name="connsiteY150" fmla="*/ 6858000 h 6858000"/>
              <a:gd name="connsiteX151" fmla="*/ 2125536 w 12192000"/>
              <a:gd name="connsiteY151" fmla="*/ 6349238 h 6858000"/>
              <a:gd name="connsiteX152" fmla="*/ 2646236 w 12192000"/>
              <a:gd name="connsiteY152" fmla="*/ 6349238 h 6858000"/>
              <a:gd name="connsiteX153" fmla="*/ 2646236 w 12192000"/>
              <a:gd name="connsiteY153" fmla="*/ 6858000 h 6858000"/>
              <a:gd name="connsiteX154" fmla="*/ 2655761 w 12192000"/>
              <a:gd name="connsiteY154" fmla="*/ 6858000 h 6858000"/>
              <a:gd name="connsiteX155" fmla="*/ 2655761 w 12192000"/>
              <a:gd name="connsiteY155" fmla="*/ 6349238 h 6858000"/>
              <a:gd name="connsiteX156" fmla="*/ 3176461 w 12192000"/>
              <a:gd name="connsiteY156" fmla="*/ 6349238 h 6858000"/>
              <a:gd name="connsiteX157" fmla="*/ 3176461 w 12192000"/>
              <a:gd name="connsiteY157" fmla="*/ 6858000 h 6858000"/>
              <a:gd name="connsiteX158" fmla="*/ 3185986 w 12192000"/>
              <a:gd name="connsiteY158" fmla="*/ 6858000 h 6858000"/>
              <a:gd name="connsiteX159" fmla="*/ 3185986 w 12192000"/>
              <a:gd name="connsiteY159" fmla="*/ 6349238 h 6858000"/>
              <a:gd name="connsiteX160" fmla="*/ 3706686 w 12192000"/>
              <a:gd name="connsiteY160" fmla="*/ 6349238 h 6858000"/>
              <a:gd name="connsiteX161" fmla="*/ 3706686 w 12192000"/>
              <a:gd name="connsiteY161" fmla="*/ 6858000 h 6858000"/>
              <a:gd name="connsiteX162" fmla="*/ 3716211 w 12192000"/>
              <a:gd name="connsiteY162" fmla="*/ 6858000 h 6858000"/>
              <a:gd name="connsiteX163" fmla="*/ 3716211 w 12192000"/>
              <a:gd name="connsiteY163" fmla="*/ 6349238 h 6858000"/>
              <a:gd name="connsiteX164" fmla="*/ 4236911 w 12192000"/>
              <a:gd name="connsiteY164" fmla="*/ 6349238 h 6858000"/>
              <a:gd name="connsiteX165" fmla="*/ 4236911 w 12192000"/>
              <a:gd name="connsiteY165" fmla="*/ 6858000 h 6858000"/>
              <a:gd name="connsiteX166" fmla="*/ 4246436 w 12192000"/>
              <a:gd name="connsiteY166" fmla="*/ 6858000 h 6858000"/>
              <a:gd name="connsiteX167" fmla="*/ 4246436 w 12192000"/>
              <a:gd name="connsiteY167" fmla="*/ 6349238 h 6858000"/>
              <a:gd name="connsiteX168" fmla="*/ 4767136 w 12192000"/>
              <a:gd name="connsiteY168" fmla="*/ 6349238 h 6858000"/>
              <a:gd name="connsiteX169" fmla="*/ 4767136 w 12192000"/>
              <a:gd name="connsiteY169" fmla="*/ 6858000 h 6858000"/>
              <a:gd name="connsiteX170" fmla="*/ 4776661 w 12192000"/>
              <a:gd name="connsiteY170" fmla="*/ 6858000 h 6858000"/>
              <a:gd name="connsiteX171" fmla="*/ 4776661 w 12192000"/>
              <a:gd name="connsiteY171" fmla="*/ 6349238 h 6858000"/>
              <a:gd name="connsiteX172" fmla="*/ 5297361 w 12192000"/>
              <a:gd name="connsiteY172" fmla="*/ 6349238 h 6858000"/>
              <a:gd name="connsiteX173" fmla="*/ 5297361 w 12192000"/>
              <a:gd name="connsiteY173" fmla="*/ 6858000 h 6858000"/>
              <a:gd name="connsiteX174" fmla="*/ 5306886 w 12192000"/>
              <a:gd name="connsiteY174" fmla="*/ 6858000 h 6858000"/>
              <a:gd name="connsiteX175" fmla="*/ 5306886 w 12192000"/>
              <a:gd name="connsiteY175" fmla="*/ 6349238 h 6858000"/>
              <a:gd name="connsiteX176" fmla="*/ 5827586 w 12192000"/>
              <a:gd name="connsiteY176" fmla="*/ 6349238 h 6858000"/>
              <a:gd name="connsiteX177" fmla="*/ 5827586 w 12192000"/>
              <a:gd name="connsiteY177" fmla="*/ 6858000 h 6858000"/>
              <a:gd name="connsiteX178" fmla="*/ 5835650 w 12192000"/>
              <a:gd name="connsiteY178" fmla="*/ 6858000 h 6858000"/>
              <a:gd name="connsiteX179" fmla="*/ 5835650 w 12192000"/>
              <a:gd name="connsiteY179" fmla="*/ 6349238 h 6858000"/>
              <a:gd name="connsiteX180" fmla="*/ 6356350 w 12192000"/>
              <a:gd name="connsiteY180" fmla="*/ 6349238 h 6858000"/>
              <a:gd name="connsiteX181" fmla="*/ 6356350 w 12192000"/>
              <a:gd name="connsiteY181" fmla="*/ 6858000 h 6858000"/>
              <a:gd name="connsiteX182" fmla="*/ 6365875 w 12192000"/>
              <a:gd name="connsiteY182" fmla="*/ 6858000 h 6858000"/>
              <a:gd name="connsiteX183" fmla="*/ 6365875 w 12192000"/>
              <a:gd name="connsiteY183" fmla="*/ 6349238 h 6858000"/>
              <a:gd name="connsiteX184" fmla="*/ 6886575 w 12192000"/>
              <a:gd name="connsiteY184" fmla="*/ 6349238 h 6858000"/>
              <a:gd name="connsiteX185" fmla="*/ 6886575 w 12192000"/>
              <a:gd name="connsiteY185" fmla="*/ 6858000 h 6858000"/>
              <a:gd name="connsiteX186" fmla="*/ 6896100 w 12192000"/>
              <a:gd name="connsiteY186" fmla="*/ 6858000 h 6858000"/>
              <a:gd name="connsiteX187" fmla="*/ 6896100 w 12192000"/>
              <a:gd name="connsiteY187" fmla="*/ 6349238 h 6858000"/>
              <a:gd name="connsiteX188" fmla="*/ 7416800 w 12192000"/>
              <a:gd name="connsiteY188" fmla="*/ 6349238 h 6858000"/>
              <a:gd name="connsiteX189" fmla="*/ 7416800 w 12192000"/>
              <a:gd name="connsiteY189" fmla="*/ 6858000 h 6858000"/>
              <a:gd name="connsiteX190" fmla="*/ 7426325 w 12192000"/>
              <a:gd name="connsiteY190" fmla="*/ 6858000 h 6858000"/>
              <a:gd name="connsiteX191" fmla="*/ 7426325 w 12192000"/>
              <a:gd name="connsiteY191" fmla="*/ 6349238 h 6858000"/>
              <a:gd name="connsiteX192" fmla="*/ 7947025 w 12192000"/>
              <a:gd name="connsiteY192" fmla="*/ 6349238 h 6858000"/>
              <a:gd name="connsiteX193" fmla="*/ 7947025 w 12192000"/>
              <a:gd name="connsiteY193" fmla="*/ 6858000 h 6858000"/>
              <a:gd name="connsiteX194" fmla="*/ 7956550 w 12192000"/>
              <a:gd name="connsiteY194" fmla="*/ 6858000 h 6858000"/>
              <a:gd name="connsiteX195" fmla="*/ 7956550 w 12192000"/>
              <a:gd name="connsiteY195" fmla="*/ 6349238 h 6858000"/>
              <a:gd name="connsiteX196" fmla="*/ 8477250 w 12192000"/>
              <a:gd name="connsiteY196" fmla="*/ 6349238 h 6858000"/>
              <a:gd name="connsiteX197" fmla="*/ 8477250 w 12192000"/>
              <a:gd name="connsiteY197" fmla="*/ 6858000 h 6858000"/>
              <a:gd name="connsiteX198" fmla="*/ 8486775 w 12192000"/>
              <a:gd name="connsiteY198" fmla="*/ 6858000 h 6858000"/>
              <a:gd name="connsiteX199" fmla="*/ 8486775 w 12192000"/>
              <a:gd name="connsiteY199" fmla="*/ 6349238 h 6858000"/>
              <a:gd name="connsiteX200" fmla="*/ 9007475 w 12192000"/>
              <a:gd name="connsiteY200" fmla="*/ 6349238 h 6858000"/>
              <a:gd name="connsiteX201" fmla="*/ 9007475 w 12192000"/>
              <a:gd name="connsiteY201" fmla="*/ 6858000 h 6858000"/>
              <a:gd name="connsiteX202" fmla="*/ 9017000 w 12192000"/>
              <a:gd name="connsiteY202" fmla="*/ 6858000 h 6858000"/>
              <a:gd name="connsiteX203" fmla="*/ 9017000 w 12192000"/>
              <a:gd name="connsiteY203" fmla="*/ 6349238 h 6858000"/>
              <a:gd name="connsiteX204" fmla="*/ 9537700 w 12192000"/>
              <a:gd name="connsiteY204" fmla="*/ 6349238 h 6858000"/>
              <a:gd name="connsiteX205" fmla="*/ 9537700 w 12192000"/>
              <a:gd name="connsiteY205" fmla="*/ 6858000 h 6858000"/>
              <a:gd name="connsiteX206" fmla="*/ 9547225 w 12192000"/>
              <a:gd name="connsiteY206" fmla="*/ 6858000 h 6858000"/>
              <a:gd name="connsiteX207" fmla="*/ 9547225 w 12192000"/>
              <a:gd name="connsiteY207" fmla="*/ 6349238 h 6858000"/>
              <a:gd name="connsiteX208" fmla="*/ 10067925 w 12192000"/>
              <a:gd name="connsiteY208" fmla="*/ 6349238 h 6858000"/>
              <a:gd name="connsiteX209" fmla="*/ 10067925 w 12192000"/>
              <a:gd name="connsiteY209" fmla="*/ 6858000 h 6858000"/>
              <a:gd name="connsiteX210" fmla="*/ 10077450 w 12192000"/>
              <a:gd name="connsiteY210" fmla="*/ 6858000 h 6858000"/>
              <a:gd name="connsiteX211" fmla="*/ 10077450 w 12192000"/>
              <a:gd name="connsiteY211" fmla="*/ 6349238 h 6858000"/>
              <a:gd name="connsiteX212" fmla="*/ 10598150 w 12192000"/>
              <a:gd name="connsiteY212" fmla="*/ 6349238 h 6858000"/>
              <a:gd name="connsiteX213" fmla="*/ 10598150 w 12192000"/>
              <a:gd name="connsiteY213" fmla="*/ 6858000 h 6858000"/>
              <a:gd name="connsiteX214" fmla="*/ 10607675 w 12192000"/>
              <a:gd name="connsiteY214" fmla="*/ 6858000 h 6858000"/>
              <a:gd name="connsiteX215" fmla="*/ 10607675 w 12192000"/>
              <a:gd name="connsiteY215" fmla="*/ 6349238 h 6858000"/>
              <a:gd name="connsiteX216" fmla="*/ 11128375 w 12192000"/>
              <a:gd name="connsiteY216" fmla="*/ 6349238 h 6858000"/>
              <a:gd name="connsiteX217" fmla="*/ 11128375 w 12192000"/>
              <a:gd name="connsiteY217" fmla="*/ 6858000 h 6858000"/>
              <a:gd name="connsiteX218" fmla="*/ 11137900 w 12192000"/>
              <a:gd name="connsiteY218" fmla="*/ 6858000 h 6858000"/>
              <a:gd name="connsiteX219" fmla="*/ 11137900 w 12192000"/>
              <a:gd name="connsiteY219" fmla="*/ 6349238 h 6858000"/>
              <a:gd name="connsiteX220" fmla="*/ 11658600 w 12192000"/>
              <a:gd name="connsiteY220" fmla="*/ 6349238 h 6858000"/>
              <a:gd name="connsiteX221" fmla="*/ 11658600 w 12192000"/>
              <a:gd name="connsiteY221" fmla="*/ 6858000 h 6858000"/>
              <a:gd name="connsiteX222" fmla="*/ 11668125 w 12192000"/>
              <a:gd name="connsiteY222" fmla="*/ 6858000 h 6858000"/>
              <a:gd name="connsiteX223" fmla="*/ 11668125 w 12192000"/>
              <a:gd name="connsiteY223" fmla="*/ 6349238 h 6858000"/>
              <a:gd name="connsiteX224" fmla="*/ 12192000 w 12192000"/>
              <a:gd name="connsiteY224" fmla="*/ 6349238 h 6858000"/>
              <a:gd name="connsiteX225" fmla="*/ 12192000 w 12192000"/>
              <a:gd name="connsiteY225" fmla="*/ 6339713 h 6858000"/>
              <a:gd name="connsiteX226" fmla="*/ 11666665 w 12192000"/>
              <a:gd name="connsiteY226" fmla="*/ 6339713 h 6858000"/>
              <a:gd name="connsiteX227" fmla="*/ 11666665 w 12192000"/>
              <a:gd name="connsiteY227" fmla="*/ 5819013 h 6858000"/>
              <a:gd name="connsiteX228" fmla="*/ 12192000 w 12192000"/>
              <a:gd name="connsiteY228" fmla="*/ 5819013 h 6858000"/>
              <a:gd name="connsiteX229" fmla="*/ 12192000 w 12192000"/>
              <a:gd name="connsiteY229" fmla="*/ 5809488 h 6858000"/>
              <a:gd name="connsiteX230" fmla="*/ 11666665 w 12192000"/>
              <a:gd name="connsiteY230" fmla="*/ 5809488 h 6858000"/>
              <a:gd name="connsiteX231" fmla="*/ 11666665 w 12192000"/>
              <a:gd name="connsiteY231" fmla="*/ 5288788 h 6858000"/>
              <a:gd name="connsiteX232" fmla="*/ 12192000 w 12192000"/>
              <a:gd name="connsiteY232" fmla="*/ 5288788 h 6858000"/>
              <a:gd name="connsiteX233" fmla="*/ 12192000 w 12192000"/>
              <a:gd name="connsiteY233" fmla="*/ 5279263 h 6858000"/>
              <a:gd name="connsiteX234" fmla="*/ 11666665 w 12192000"/>
              <a:gd name="connsiteY234" fmla="*/ 5279263 h 6858000"/>
              <a:gd name="connsiteX235" fmla="*/ 11666665 w 12192000"/>
              <a:gd name="connsiteY235" fmla="*/ 4758563 h 6858000"/>
              <a:gd name="connsiteX236" fmla="*/ 12192000 w 12192000"/>
              <a:gd name="connsiteY236" fmla="*/ 4758563 h 6858000"/>
              <a:gd name="connsiteX237" fmla="*/ 12192000 w 12192000"/>
              <a:gd name="connsiteY237" fmla="*/ 4749800 h 6858000"/>
              <a:gd name="connsiteX238" fmla="*/ 11666665 w 12192000"/>
              <a:gd name="connsiteY238" fmla="*/ 4749800 h 6858000"/>
              <a:gd name="connsiteX239" fmla="*/ 11666665 w 12192000"/>
              <a:gd name="connsiteY239" fmla="*/ 4229100 h 6858000"/>
              <a:gd name="connsiteX240" fmla="*/ 12192000 w 12192000"/>
              <a:gd name="connsiteY240" fmla="*/ 4229100 h 6858000"/>
              <a:gd name="connsiteX241" fmla="*/ 12192000 w 12192000"/>
              <a:gd name="connsiteY241" fmla="*/ 4219575 h 6858000"/>
              <a:gd name="connsiteX242" fmla="*/ 11666665 w 12192000"/>
              <a:gd name="connsiteY242" fmla="*/ 4219575 h 6858000"/>
              <a:gd name="connsiteX243" fmla="*/ 11666665 w 12192000"/>
              <a:gd name="connsiteY243" fmla="*/ 3698875 h 6858000"/>
              <a:gd name="connsiteX244" fmla="*/ 12192000 w 12192000"/>
              <a:gd name="connsiteY244" fmla="*/ 3698875 h 6858000"/>
              <a:gd name="connsiteX245" fmla="*/ 12192000 w 12192000"/>
              <a:gd name="connsiteY245" fmla="*/ 3689350 h 6858000"/>
              <a:gd name="connsiteX246" fmla="*/ 11666665 w 12192000"/>
              <a:gd name="connsiteY246" fmla="*/ 3689350 h 6858000"/>
              <a:gd name="connsiteX247" fmla="*/ 11666665 w 12192000"/>
              <a:gd name="connsiteY247" fmla="*/ 3168650 h 6858000"/>
              <a:gd name="connsiteX248" fmla="*/ 12192000 w 12192000"/>
              <a:gd name="connsiteY248" fmla="*/ 3168650 h 6858000"/>
              <a:gd name="connsiteX249" fmla="*/ 12192000 w 12192000"/>
              <a:gd name="connsiteY249" fmla="*/ 3159125 h 6858000"/>
              <a:gd name="connsiteX250" fmla="*/ 11666665 w 12192000"/>
              <a:gd name="connsiteY250" fmla="*/ 3159125 h 6858000"/>
              <a:gd name="connsiteX251" fmla="*/ 11666665 w 12192000"/>
              <a:gd name="connsiteY251" fmla="*/ 2638425 h 6858000"/>
              <a:gd name="connsiteX252" fmla="*/ 12192000 w 12192000"/>
              <a:gd name="connsiteY252" fmla="*/ 2638425 h 6858000"/>
              <a:gd name="connsiteX253" fmla="*/ 12192000 w 12192000"/>
              <a:gd name="connsiteY253" fmla="*/ 2628900 h 6858000"/>
              <a:gd name="connsiteX254" fmla="*/ 11666665 w 12192000"/>
              <a:gd name="connsiteY254" fmla="*/ 2628900 h 6858000"/>
              <a:gd name="connsiteX255" fmla="*/ 11666665 w 12192000"/>
              <a:gd name="connsiteY255" fmla="*/ 2108200 h 6858000"/>
              <a:gd name="connsiteX256" fmla="*/ 12192000 w 12192000"/>
              <a:gd name="connsiteY256" fmla="*/ 2108200 h 6858000"/>
              <a:gd name="connsiteX257" fmla="*/ 12192000 w 12192000"/>
              <a:gd name="connsiteY257" fmla="*/ 2098675 h 6858000"/>
              <a:gd name="connsiteX258" fmla="*/ 11666665 w 12192000"/>
              <a:gd name="connsiteY258" fmla="*/ 2098675 h 6858000"/>
              <a:gd name="connsiteX259" fmla="*/ 11666665 w 12192000"/>
              <a:gd name="connsiteY259" fmla="*/ 1577975 h 6858000"/>
              <a:gd name="connsiteX260" fmla="*/ 12192000 w 12192000"/>
              <a:gd name="connsiteY260" fmla="*/ 1577975 h 6858000"/>
              <a:gd name="connsiteX261" fmla="*/ 12192000 w 12192000"/>
              <a:gd name="connsiteY261" fmla="*/ 1568450 h 6858000"/>
              <a:gd name="connsiteX262" fmla="*/ 11666665 w 12192000"/>
              <a:gd name="connsiteY262" fmla="*/ 1568450 h 6858000"/>
              <a:gd name="connsiteX263" fmla="*/ 11666665 w 12192000"/>
              <a:gd name="connsiteY263" fmla="*/ 1047750 h 6858000"/>
              <a:gd name="connsiteX264" fmla="*/ 12192000 w 12192000"/>
              <a:gd name="connsiteY264" fmla="*/ 1047750 h 6858000"/>
              <a:gd name="connsiteX265" fmla="*/ 12192000 w 12192000"/>
              <a:gd name="connsiteY265" fmla="*/ 1038225 h 6858000"/>
              <a:gd name="connsiteX266" fmla="*/ 11666665 w 12192000"/>
              <a:gd name="connsiteY266" fmla="*/ 1038225 h 6858000"/>
              <a:gd name="connsiteX267" fmla="*/ 11666665 w 12192000"/>
              <a:gd name="connsiteY267" fmla="*/ 517525 h 6858000"/>
              <a:gd name="connsiteX268" fmla="*/ 11127042 w 12192000"/>
              <a:gd name="connsiteY268" fmla="*/ 518287 h 6858000"/>
              <a:gd name="connsiteX269" fmla="*/ 11127042 w 12192000"/>
              <a:gd name="connsiteY269" fmla="*/ 1038987 h 6858000"/>
              <a:gd name="connsiteX270" fmla="*/ 10606342 w 12192000"/>
              <a:gd name="connsiteY270" fmla="*/ 1038987 h 6858000"/>
              <a:gd name="connsiteX271" fmla="*/ 10606342 w 12192000"/>
              <a:gd name="connsiteY271" fmla="*/ 518287 h 6858000"/>
              <a:gd name="connsiteX272" fmla="*/ 3715385 w 12192000"/>
              <a:gd name="connsiteY272" fmla="*/ 3168650 h 6858000"/>
              <a:gd name="connsiteX273" fmla="*/ 4236085 w 12192000"/>
              <a:gd name="connsiteY273" fmla="*/ 3168650 h 6858000"/>
              <a:gd name="connsiteX274" fmla="*/ 4236085 w 12192000"/>
              <a:gd name="connsiteY274" fmla="*/ 3689350 h 6858000"/>
              <a:gd name="connsiteX275" fmla="*/ 3715385 w 12192000"/>
              <a:gd name="connsiteY275" fmla="*/ 3689350 h 6858000"/>
              <a:gd name="connsiteX276" fmla="*/ 3705860 w 12192000"/>
              <a:gd name="connsiteY276" fmla="*/ 3689350 h 6858000"/>
              <a:gd name="connsiteX277" fmla="*/ 3185160 w 12192000"/>
              <a:gd name="connsiteY277" fmla="*/ 3689350 h 6858000"/>
              <a:gd name="connsiteX278" fmla="*/ 3185160 w 12192000"/>
              <a:gd name="connsiteY278" fmla="*/ 3168650 h 6858000"/>
              <a:gd name="connsiteX279" fmla="*/ 3705860 w 12192000"/>
              <a:gd name="connsiteY279" fmla="*/ 3168650 h 6858000"/>
              <a:gd name="connsiteX280" fmla="*/ 4245610 w 12192000"/>
              <a:gd name="connsiteY280" fmla="*/ 3168650 h 6858000"/>
              <a:gd name="connsiteX281" fmla="*/ 4766310 w 12192000"/>
              <a:gd name="connsiteY281" fmla="*/ 3168650 h 6858000"/>
              <a:gd name="connsiteX282" fmla="*/ 4766310 w 12192000"/>
              <a:gd name="connsiteY282" fmla="*/ 3689350 h 6858000"/>
              <a:gd name="connsiteX283" fmla="*/ 4245610 w 12192000"/>
              <a:gd name="connsiteY283" fmla="*/ 3689350 h 6858000"/>
              <a:gd name="connsiteX284" fmla="*/ 4775645 w 12192000"/>
              <a:gd name="connsiteY284" fmla="*/ 3168650 h 6858000"/>
              <a:gd name="connsiteX285" fmla="*/ 5296345 w 12192000"/>
              <a:gd name="connsiteY285" fmla="*/ 3168650 h 6858000"/>
              <a:gd name="connsiteX286" fmla="*/ 5296345 w 12192000"/>
              <a:gd name="connsiteY286" fmla="*/ 3689350 h 6858000"/>
              <a:gd name="connsiteX287" fmla="*/ 4775645 w 12192000"/>
              <a:gd name="connsiteY287" fmla="*/ 3689350 h 6858000"/>
              <a:gd name="connsiteX288" fmla="*/ 5305743 w 12192000"/>
              <a:gd name="connsiteY288" fmla="*/ 3168650 h 6858000"/>
              <a:gd name="connsiteX289" fmla="*/ 5826443 w 12192000"/>
              <a:gd name="connsiteY289" fmla="*/ 3168650 h 6858000"/>
              <a:gd name="connsiteX290" fmla="*/ 5826443 w 12192000"/>
              <a:gd name="connsiteY290" fmla="*/ 3689350 h 6858000"/>
              <a:gd name="connsiteX291" fmla="*/ 5305743 w 12192000"/>
              <a:gd name="connsiteY291" fmla="*/ 3689350 h 6858000"/>
              <a:gd name="connsiteX292" fmla="*/ 5835650 w 12192000"/>
              <a:gd name="connsiteY292" fmla="*/ 3168650 h 6858000"/>
              <a:gd name="connsiteX293" fmla="*/ 6356350 w 12192000"/>
              <a:gd name="connsiteY293" fmla="*/ 3168650 h 6858000"/>
              <a:gd name="connsiteX294" fmla="*/ 6356350 w 12192000"/>
              <a:gd name="connsiteY294" fmla="*/ 3689350 h 6858000"/>
              <a:gd name="connsiteX295" fmla="*/ 5835650 w 12192000"/>
              <a:gd name="connsiteY295" fmla="*/ 3689350 h 6858000"/>
              <a:gd name="connsiteX296" fmla="*/ 6365748 w 12192000"/>
              <a:gd name="connsiteY296" fmla="*/ 3168650 h 6858000"/>
              <a:gd name="connsiteX297" fmla="*/ 6886448 w 12192000"/>
              <a:gd name="connsiteY297" fmla="*/ 3168650 h 6858000"/>
              <a:gd name="connsiteX298" fmla="*/ 6886448 w 12192000"/>
              <a:gd name="connsiteY298" fmla="*/ 3689350 h 6858000"/>
              <a:gd name="connsiteX299" fmla="*/ 6365748 w 12192000"/>
              <a:gd name="connsiteY299" fmla="*/ 3689350 h 6858000"/>
              <a:gd name="connsiteX300" fmla="*/ 6895846 w 12192000"/>
              <a:gd name="connsiteY300" fmla="*/ 3168650 h 6858000"/>
              <a:gd name="connsiteX301" fmla="*/ 7416546 w 12192000"/>
              <a:gd name="connsiteY301" fmla="*/ 3168650 h 6858000"/>
              <a:gd name="connsiteX302" fmla="*/ 7416546 w 12192000"/>
              <a:gd name="connsiteY302" fmla="*/ 3689350 h 6858000"/>
              <a:gd name="connsiteX303" fmla="*/ 6895846 w 12192000"/>
              <a:gd name="connsiteY303" fmla="*/ 3689350 h 6858000"/>
              <a:gd name="connsiteX304" fmla="*/ 7425944 w 12192000"/>
              <a:gd name="connsiteY304" fmla="*/ 3168650 h 6858000"/>
              <a:gd name="connsiteX305" fmla="*/ 7946644 w 12192000"/>
              <a:gd name="connsiteY305" fmla="*/ 3168650 h 6858000"/>
              <a:gd name="connsiteX306" fmla="*/ 7946644 w 12192000"/>
              <a:gd name="connsiteY306" fmla="*/ 3689350 h 6858000"/>
              <a:gd name="connsiteX307" fmla="*/ 7425944 w 12192000"/>
              <a:gd name="connsiteY307" fmla="*/ 3689350 h 6858000"/>
              <a:gd name="connsiteX308" fmla="*/ 7955979 w 12192000"/>
              <a:gd name="connsiteY308" fmla="*/ 3168650 h 6858000"/>
              <a:gd name="connsiteX309" fmla="*/ 8476679 w 12192000"/>
              <a:gd name="connsiteY309" fmla="*/ 3168650 h 6858000"/>
              <a:gd name="connsiteX310" fmla="*/ 8476679 w 12192000"/>
              <a:gd name="connsiteY310" fmla="*/ 3689350 h 6858000"/>
              <a:gd name="connsiteX311" fmla="*/ 7955979 w 12192000"/>
              <a:gd name="connsiteY311" fmla="*/ 3689350 h 6858000"/>
              <a:gd name="connsiteX312" fmla="*/ 8486077 w 12192000"/>
              <a:gd name="connsiteY312" fmla="*/ 3168650 h 6858000"/>
              <a:gd name="connsiteX313" fmla="*/ 9006777 w 12192000"/>
              <a:gd name="connsiteY313" fmla="*/ 3168650 h 6858000"/>
              <a:gd name="connsiteX314" fmla="*/ 9006777 w 12192000"/>
              <a:gd name="connsiteY314" fmla="*/ 3689350 h 6858000"/>
              <a:gd name="connsiteX315" fmla="*/ 8486077 w 12192000"/>
              <a:gd name="connsiteY315" fmla="*/ 3689350 h 6858000"/>
              <a:gd name="connsiteX316" fmla="*/ 8486077 w 12192000"/>
              <a:gd name="connsiteY316" fmla="*/ 3159125 h 6858000"/>
              <a:gd name="connsiteX317" fmla="*/ 8486077 w 12192000"/>
              <a:gd name="connsiteY317" fmla="*/ 2638425 h 6858000"/>
              <a:gd name="connsiteX318" fmla="*/ 9006777 w 12192000"/>
              <a:gd name="connsiteY318" fmla="*/ 2638425 h 6858000"/>
              <a:gd name="connsiteX319" fmla="*/ 9006777 w 12192000"/>
              <a:gd name="connsiteY319" fmla="*/ 3159125 h 6858000"/>
              <a:gd name="connsiteX320" fmla="*/ 8476552 w 12192000"/>
              <a:gd name="connsiteY320" fmla="*/ 3159125 h 6858000"/>
              <a:gd name="connsiteX321" fmla="*/ 7955852 w 12192000"/>
              <a:gd name="connsiteY321" fmla="*/ 3159125 h 6858000"/>
              <a:gd name="connsiteX322" fmla="*/ 7955852 w 12192000"/>
              <a:gd name="connsiteY322" fmla="*/ 2638425 h 6858000"/>
              <a:gd name="connsiteX323" fmla="*/ 8476552 w 12192000"/>
              <a:gd name="connsiteY323" fmla="*/ 2638425 h 6858000"/>
              <a:gd name="connsiteX324" fmla="*/ 7946454 w 12192000"/>
              <a:gd name="connsiteY324" fmla="*/ 3159125 h 6858000"/>
              <a:gd name="connsiteX325" fmla="*/ 7425754 w 12192000"/>
              <a:gd name="connsiteY325" fmla="*/ 3159125 h 6858000"/>
              <a:gd name="connsiteX326" fmla="*/ 7425754 w 12192000"/>
              <a:gd name="connsiteY326" fmla="*/ 2638425 h 6858000"/>
              <a:gd name="connsiteX327" fmla="*/ 7946454 w 12192000"/>
              <a:gd name="connsiteY327" fmla="*/ 2638425 h 6858000"/>
              <a:gd name="connsiteX328" fmla="*/ 7416419 w 12192000"/>
              <a:gd name="connsiteY328" fmla="*/ 3159125 h 6858000"/>
              <a:gd name="connsiteX329" fmla="*/ 6895719 w 12192000"/>
              <a:gd name="connsiteY329" fmla="*/ 3159125 h 6858000"/>
              <a:gd name="connsiteX330" fmla="*/ 6895719 w 12192000"/>
              <a:gd name="connsiteY330" fmla="*/ 2638425 h 6858000"/>
              <a:gd name="connsiteX331" fmla="*/ 7416419 w 12192000"/>
              <a:gd name="connsiteY331" fmla="*/ 2638425 h 6858000"/>
              <a:gd name="connsiteX332" fmla="*/ 6886321 w 12192000"/>
              <a:gd name="connsiteY332" fmla="*/ 3159125 h 6858000"/>
              <a:gd name="connsiteX333" fmla="*/ 6365621 w 12192000"/>
              <a:gd name="connsiteY333" fmla="*/ 3159125 h 6858000"/>
              <a:gd name="connsiteX334" fmla="*/ 6365621 w 12192000"/>
              <a:gd name="connsiteY334" fmla="*/ 2638425 h 6858000"/>
              <a:gd name="connsiteX335" fmla="*/ 6886321 w 12192000"/>
              <a:gd name="connsiteY335" fmla="*/ 2638425 h 6858000"/>
              <a:gd name="connsiteX336" fmla="*/ 6356223 w 12192000"/>
              <a:gd name="connsiteY336" fmla="*/ 3159125 h 6858000"/>
              <a:gd name="connsiteX337" fmla="*/ 5835650 w 12192000"/>
              <a:gd name="connsiteY337" fmla="*/ 3159125 h 6858000"/>
              <a:gd name="connsiteX338" fmla="*/ 5835650 w 12192000"/>
              <a:gd name="connsiteY338" fmla="*/ 2638425 h 6858000"/>
              <a:gd name="connsiteX339" fmla="*/ 6356350 w 12192000"/>
              <a:gd name="connsiteY339" fmla="*/ 2638425 h 6858000"/>
              <a:gd name="connsiteX340" fmla="*/ 5826125 w 12192000"/>
              <a:gd name="connsiteY340" fmla="*/ 3159125 h 6858000"/>
              <a:gd name="connsiteX341" fmla="*/ 5305425 w 12192000"/>
              <a:gd name="connsiteY341" fmla="*/ 3159125 h 6858000"/>
              <a:gd name="connsiteX342" fmla="*/ 5305425 w 12192000"/>
              <a:gd name="connsiteY342" fmla="*/ 2638425 h 6858000"/>
              <a:gd name="connsiteX343" fmla="*/ 5826125 w 12192000"/>
              <a:gd name="connsiteY343" fmla="*/ 2638425 h 6858000"/>
              <a:gd name="connsiteX344" fmla="*/ 5296027 w 12192000"/>
              <a:gd name="connsiteY344" fmla="*/ 3159125 h 6858000"/>
              <a:gd name="connsiteX345" fmla="*/ 4775327 w 12192000"/>
              <a:gd name="connsiteY345" fmla="*/ 3159125 h 6858000"/>
              <a:gd name="connsiteX346" fmla="*/ 4775327 w 12192000"/>
              <a:gd name="connsiteY346" fmla="*/ 2638425 h 6858000"/>
              <a:gd name="connsiteX347" fmla="*/ 5296027 w 12192000"/>
              <a:gd name="connsiteY347" fmla="*/ 2638425 h 6858000"/>
              <a:gd name="connsiteX348" fmla="*/ 4765929 w 12192000"/>
              <a:gd name="connsiteY348" fmla="*/ 3159125 h 6858000"/>
              <a:gd name="connsiteX349" fmla="*/ 4245229 w 12192000"/>
              <a:gd name="connsiteY349" fmla="*/ 3159125 h 6858000"/>
              <a:gd name="connsiteX350" fmla="*/ 4245229 w 12192000"/>
              <a:gd name="connsiteY350" fmla="*/ 2638425 h 6858000"/>
              <a:gd name="connsiteX351" fmla="*/ 4765929 w 12192000"/>
              <a:gd name="connsiteY351" fmla="*/ 2638425 h 6858000"/>
              <a:gd name="connsiteX352" fmla="*/ 4235895 w 12192000"/>
              <a:gd name="connsiteY352" fmla="*/ 3159125 h 6858000"/>
              <a:gd name="connsiteX353" fmla="*/ 3715195 w 12192000"/>
              <a:gd name="connsiteY353" fmla="*/ 3159125 h 6858000"/>
              <a:gd name="connsiteX354" fmla="*/ 3715195 w 12192000"/>
              <a:gd name="connsiteY354" fmla="*/ 2638425 h 6858000"/>
              <a:gd name="connsiteX355" fmla="*/ 4235895 w 12192000"/>
              <a:gd name="connsiteY355" fmla="*/ 2638425 h 6858000"/>
              <a:gd name="connsiteX356" fmla="*/ 3705797 w 12192000"/>
              <a:gd name="connsiteY356" fmla="*/ 3159125 h 6858000"/>
              <a:gd name="connsiteX357" fmla="*/ 3185097 w 12192000"/>
              <a:gd name="connsiteY357" fmla="*/ 3159125 h 6858000"/>
              <a:gd name="connsiteX358" fmla="*/ 3185097 w 12192000"/>
              <a:gd name="connsiteY358" fmla="*/ 2638425 h 6858000"/>
              <a:gd name="connsiteX359" fmla="*/ 3705797 w 12192000"/>
              <a:gd name="connsiteY359" fmla="*/ 2638425 h 6858000"/>
              <a:gd name="connsiteX360" fmla="*/ 3175699 w 12192000"/>
              <a:gd name="connsiteY360" fmla="*/ 3159125 h 6858000"/>
              <a:gd name="connsiteX361" fmla="*/ 2654999 w 12192000"/>
              <a:gd name="connsiteY361" fmla="*/ 3159125 h 6858000"/>
              <a:gd name="connsiteX362" fmla="*/ 2654999 w 12192000"/>
              <a:gd name="connsiteY362" fmla="*/ 2638425 h 6858000"/>
              <a:gd name="connsiteX363" fmla="*/ 3175699 w 12192000"/>
              <a:gd name="connsiteY363" fmla="*/ 2638425 h 6858000"/>
              <a:gd name="connsiteX364" fmla="*/ 3175699 w 12192000"/>
              <a:gd name="connsiteY364" fmla="*/ 3168650 h 6858000"/>
              <a:gd name="connsiteX365" fmla="*/ 3175699 w 12192000"/>
              <a:gd name="connsiteY365" fmla="*/ 3689350 h 6858000"/>
              <a:gd name="connsiteX366" fmla="*/ 2654999 w 12192000"/>
              <a:gd name="connsiteY366" fmla="*/ 3689350 h 6858000"/>
              <a:gd name="connsiteX367" fmla="*/ 2654999 w 12192000"/>
              <a:gd name="connsiteY367" fmla="*/ 3168650 h 6858000"/>
              <a:gd name="connsiteX368" fmla="*/ 3175699 w 12192000"/>
              <a:gd name="connsiteY368" fmla="*/ 3698748 h 6858000"/>
              <a:gd name="connsiteX369" fmla="*/ 3175699 w 12192000"/>
              <a:gd name="connsiteY369" fmla="*/ 4219448 h 6858000"/>
              <a:gd name="connsiteX370" fmla="*/ 2654999 w 12192000"/>
              <a:gd name="connsiteY370" fmla="*/ 4219448 h 6858000"/>
              <a:gd name="connsiteX371" fmla="*/ 2654999 w 12192000"/>
              <a:gd name="connsiteY371" fmla="*/ 3698748 h 6858000"/>
              <a:gd name="connsiteX372" fmla="*/ 3185224 w 12192000"/>
              <a:gd name="connsiteY372" fmla="*/ 3698748 h 6858000"/>
              <a:gd name="connsiteX373" fmla="*/ 3705924 w 12192000"/>
              <a:gd name="connsiteY373" fmla="*/ 3698748 h 6858000"/>
              <a:gd name="connsiteX374" fmla="*/ 3705924 w 12192000"/>
              <a:gd name="connsiteY374" fmla="*/ 4219448 h 6858000"/>
              <a:gd name="connsiteX375" fmla="*/ 3185224 w 12192000"/>
              <a:gd name="connsiteY375" fmla="*/ 4219448 h 6858000"/>
              <a:gd name="connsiteX376" fmla="*/ 3715322 w 12192000"/>
              <a:gd name="connsiteY376" fmla="*/ 3698748 h 6858000"/>
              <a:gd name="connsiteX377" fmla="*/ 4236022 w 12192000"/>
              <a:gd name="connsiteY377" fmla="*/ 3698748 h 6858000"/>
              <a:gd name="connsiteX378" fmla="*/ 4236022 w 12192000"/>
              <a:gd name="connsiteY378" fmla="*/ 4219448 h 6858000"/>
              <a:gd name="connsiteX379" fmla="*/ 3715322 w 12192000"/>
              <a:gd name="connsiteY379" fmla="*/ 4219448 h 6858000"/>
              <a:gd name="connsiteX380" fmla="*/ 4245420 w 12192000"/>
              <a:gd name="connsiteY380" fmla="*/ 3698748 h 6858000"/>
              <a:gd name="connsiteX381" fmla="*/ 4766120 w 12192000"/>
              <a:gd name="connsiteY381" fmla="*/ 3698748 h 6858000"/>
              <a:gd name="connsiteX382" fmla="*/ 4766120 w 12192000"/>
              <a:gd name="connsiteY382" fmla="*/ 4219448 h 6858000"/>
              <a:gd name="connsiteX383" fmla="*/ 4245420 w 12192000"/>
              <a:gd name="connsiteY383" fmla="*/ 4219448 h 6858000"/>
              <a:gd name="connsiteX384" fmla="*/ 4775454 w 12192000"/>
              <a:gd name="connsiteY384" fmla="*/ 3698748 h 6858000"/>
              <a:gd name="connsiteX385" fmla="*/ 5296154 w 12192000"/>
              <a:gd name="connsiteY385" fmla="*/ 3698748 h 6858000"/>
              <a:gd name="connsiteX386" fmla="*/ 5296154 w 12192000"/>
              <a:gd name="connsiteY386" fmla="*/ 4219448 h 6858000"/>
              <a:gd name="connsiteX387" fmla="*/ 4775454 w 12192000"/>
              <a:gd name="connsiteY387" fmla="*/ 4219448 h 6858000"/>
              <a:gd name="connsiteX388" fmla="*/ 5305552 w 12192000"/>
              <a:gd name="connsiteY388" fmla="*/ 3698748 h 6858000"/>
              <a:gd name="connsiteX389" fmla="*/ 5826252 w 12192000"/>
              <a:gd name="connsiteY389" fmla="*/ 3698748 h 6858000"/>
              <a:gd name="connsiteX390" fmla="*/ 5826252 w 12192000"/>
              <a:gd name="connsiteY390" fmla="*/ 4219448 h 6858000"/>
              <a:gd name="connsiteX391" fmla="*/ 5305552 w 12192000"/>
              <a:gd name="connsiteY391" fmla="*/ 4219448 h 6858000"/>
              <a:gd name="connsiteX392" fmla="*/ 5835650 w 12192000"/>
              <a:gd name="connsiteY392" fmla="*/ 3698748 h 6858000"/>
              <a:gd name="connsiteX393" fmla="*/ 6356350 w 12192000"/>
              <a:gd name="connsiteY393" fmla="*/ 3698748 h 6858000"/>
              <a:gd name="connsiteX394" fmla="*/ 6356350 w 12192000"/>
              <a:gd name="connsiteY394" fmla="*/ 4219448 h 6858000"/>
              <a:gd name="connsiteX395" fmla="*/ 5835650 w 12192000"/>
              <a:gd name="connsiteY395" fmla="*/ 4219448 h 6858000"/>
              <a:gd name="connsiteX396" fmla="*/ 6365748 w 12192000"/>
              <a:gd name="connsiteY396" fmla="*/ 3698748 h 6858000"/>
              <a:gd name="connsiteX397" fmla="*/ 6886448 w 12192000"/>
              <a:gd name="connsiteY397" fmla="*/ 3698748 h 6858000"/>
              <a:gd name="connsiteX398" fmla="*/ 6886448 w 12192000"/>
              <a:gd name="connsiteY398" fmla="*/ 4219448 h 6858000"/>
              <a:gd name="connsiteX399" fmla="*/ 6365748 w 12192000"/>
              <a:gd name="connsiteY399" fmla="*/ 4219448 h 6858000"/>
              <a:gd name="connsiteX400" fmla="*/ 6895846 w 12192000"/>
              <a:gd name="connsiteY400" fmla="*/ 3698748 h 6858000"/>
              <a:gd name="connsiteX401" fmla="*/ 7416546 w 12192000"/>
              <a:gd name="connsiteY401" fmla="*/ 3698748 h 6858000"/>
              <a:gd name="connsiteX402" fmla="*/ 7416546 w 12192000"/>
              <a:gd name="connsiteY402" fmla="*/ 4219448 h 6858000"/>
              <a:gd name="connsiteX403" fmla="*/ 6895846 w 12192000"/>
              <a:gd name="connsiteY403" fmla="*/ 4219448 h 6858000"/>
              <a:gd name="connsiteX404" fmla="*/ 7425944 w 12192000"/>
              <a:gd name="connsiteY404" fmla="*/ 3698748 h 6858000"/>
              <a:gd name="connsiteX405" fmla="*/ 7946644 w 12192000"/>
              <a:gd name="connsiteY405" fmla="*/ 3698748 h 6858000"/>
              <a:gd name="connsiteX406" fmla="*/ 7946644 w 12192000"/>
              <a:gd name="connsiteY406" fmla="*/ 4219448 h 6858000"/>
              <a:gd name="connsiteX407" fmla="*/ 7425944 w 12192000"/>
              <a:gd name="connsiteY407" fmla="*/ 4219448 h 6858000"/>
              <a:gd name="connsiteX408" fmla="*/ 7955979 w 12192000"/>
              <a:gd name="connsiteY408" fmla="*/ 3698748 h 6858000"/>
              <a:gd name="connsiteX409" fmla="*/ 8476679 w 12192000"/>
              <a:gd name="connsiteY409" fmla="*/ 3698748 h 6858000"/>
              <a:gd name="connsiteX410" fmla="*/ 8476679 w 12192000"/>
              <a:gd name="connsiteY410" fmla="*/ 4219448 h 6858000"/>
              <a:gd name="connsiteX411" fmla="*/ 7955979 w 12192000"/>
              <a:gd name="connsiteY411" fmla="*/ 4219448 h 6858000"/>
              <a:gd name="connsiteX412" fmla="*/ 8486077 w 12192000"/>
              <a:gd name="connsiteY412" fmla="*/ 3698748 h 6858000"/>
              <a:gd name="connsiteX413" fmla="*/ 9006777 w 12192000"/>
              <a:gd name="connsiteY413" fmla="*/ 3698748 h 6858000"/>
              <a:gd name="connsiteX414" fmla="*/ 9006777 w 12192000"/>
              <a:gd name="connsiteY414" fmla="*/ 4219448 h 6858000"/>
              <a:gd name="connsiteX415" fmla="*/ 8486077 w 12192000"/>
              <a:gd name="connsiteY415" fmla="*/ 4219448 h 6858000"/>
              <a:gd name="connsiteX416" fmla="*/ 9016174 w 12192000"/>
              <a:gd name="connsiteY416" fmla="*/ 3698748 h 6858000"/>
              <a:gd name="connsiteX417" fmla="*/ 9536874 w 12192000"/>
              <a:gd name="connsiteY417" fmla="*/ 3698748 h 6858000"/>
              <a:gd name="connsiteX418" fmla="*/ 9536874 w 12192000"/>
              <a:gd name="connsiteY418" fmla="*/ 4219448 h 6858000"/>
              <a:gd name="connsiteX419" fmla="*/ 9016174 w 12192000"/>
              <a:gd name="connsiteY419" fmla="*/ 4219448 h 6858000"/>
              <a:gd name="connsiteX420" fmla="*/ 9016174 w 12192000"/>
              <a:gd name="connsiteY420" fmla="*/ 3689223 h 6858000"/>
              <a:gd name="connsiteX421" fmla="*/ 9016174 w 12192000"/>
              <a:gd name="connsiteY421" fmla="*/ 3168650 h 6858000"/>
              <a:gd name="connsiteX422" fmla="*/ 9536874 w 12192000"/>
              <a:gd name="connsiteY422" fmla="*/ 3168650 h 6858000"/>
              <a:gd name="connsiteX423" fmla="*/ 9536874 w 12192000"/>
              <a:gd name="connsiteY423" fmla="*/ 3689350 h 6858000"/>
              <a:gd name="connsiteX424" fmla="*/ 9016174 w 12192000"/>
              <a:gd name="connsiteY424" fmla="*/ 3159125 h 6858000"/>
              <a:gd name="connsiteX425" fmla="*/ 9016174 w 12192000"/>
              <a:gd name="connsiteY425" fmla="*/ 2638425 h 6858000"/>
              <a:gd name="connsiteX426" fmla="*/ 9536874 w 12192000"/>
              <a:gd name="connsiteY426" fmla="*/ 2638425 h 6858000"/>
              <a:gd name="connsiteX427" fmla="*/ 9536874 w 12192000"/>
              <a:gd name="connsiteY427" fmla="*/ 3159125 h 6858000"/>
              <a:gd name="connsiteX428" fmla="*/ 9016174 w 12192000"/>
              <a:gd name="connsiteY428" fmla="*/ 2629027 h 6858000"/>
              <a:gd name="connsiteX429" fmla="*/ 9016174 w 12192000"/>
              <a:gd name="connsiteY429" fmla="*/ 2108327 h 6858000"/>
              <a:gd name="connsiteX430" fmla="*/ 9536874 w 12192000"/>
              <a:gd name="connsiteY430" fmla="*/ 2108327 h 6858000"/>
              <a:gd name="connsiteX431" fmla="*/ 9536874 w 12192000"/>
              <a:gd name="connsiteY431" fmla="*/ 2629027 h 6858000"/>
              <a:gd name="connsiteX432" fmla="*/ 9006649 w 12192000"/>
              <a:gd name="connsiteY432" fmla="*/ 2629027 h 6858000"/>
              <a:gd name="connsiteX433" fmla="*/ 8485949 w 12192000"/>
              <a:gd name="connsiteY433" fmla="*/ 2629027 h 6858000"/>
              <a:gd name="connsiteX434" fmla="*/ 8485949 w 12192000"/>
              <a:gd name="connsiteY434" fmla="*/ 2108327 h 6858000"/>
              <a:gd name="connsiteX435" fmla="*/ 9006649 w 12192000"/>
              <a:gd name="connsiteY435" fmla="*/ 2108327 h 6858000"/>
              <a:gd name="connsiteX436" fmla="*/ 8476552 w 12192000"/>
              <a:gd name="connsiteY436" fmla="*/ 2629027 h 6858000"/>
              <a:gd name="connsiteX437" fmla="*/ 7955852 w 12192000"/>
              <a:gd name="connsiteY437" fmla="*/ 2629027 h 6858000"/>
              <a:gd name="connsiteX438" fmla="*/ 7955852 w 12192000"/>
              <a:gd name="connsiteY438" fmla="*/ 2108327 h 6858000"/>
              <a:gd name="connsiteX439" fmla="*/ 8476552 w 12192000"/>
              <a:gd name="connsiteY439" fmla="*/ 2108327 h 6858000"/>
              <a:gd name="connsiteX440" fmla="*/ 7946454 w 12192000"/>
              <a:gd name="connsiteY440" fmla="*/ 2629027 h 6858000"/>
              <a:gd name="connsiteX441" fmla="*/ 7425754 w 12192000"/>
              <a:gd name="connsiteY441" fmla="*/ 2629027 h 6858000"/>
              <a:gd name="connsiteX442" fmla="*/ 7425754 w 12192000"/>
              <a:gd name="connsiteY442" fmla="*/ 2108327 h 6858000"/>
              <a:gd name="connsiteX443" fmla="*/ 7946454 w 12192000"/>
              <a:gd name="connsiteY443" fmla="*/ 2108327 h 6858000"/>
              <a:gd name="connsiteX444" fmla="*/ 7416800 w 12192000"/>
              <a:gd name="connsiteY444" fmla="*/ 2628900 h 6858000"/>
              <a:gd name="connsiteX445" fmla="*/ 6896100 w 12192000"/>
              <a:gd name="connsiteY445" fmla="*/ 2628900 h 6858000"/>
              <a:gd name="connsiteX446" fmla="*/ 6896100 w 12192000"/>
              <a:gd name="connsiteY446" fmla="*/ 2108200 h 6858000"/>
              <a:gd name="connsiteX447" fmla="*/ 7416800 w 12192000"/>
              <a:gd name="connsiteY447" fmla="*/ 2108200 h 6858000"/>
              <a:gd name="connsiteX448" fmla="*/ 6886702 w 12192000"/>
              <a:gd name="connsiteY448" fmla="*/ 2628900 h 6858000"/>
              <a:gd name="connsiteX449" fmla="*/ 6366002 w 12192000"/>
              <a:gd name="connsiteY449" fmla="*/ 2628900 h 6858000"/>
              <a:gd name="connsiteX450" fmla="*/ 6366002 w 12192000"/>
              <a:gd name="connsiteY450" fmla="*/ 2108200 h 6858000"/>
              <a:gd name="connsiteX451" fmla="*/ 6886702 w 12192000"/>
              <a:gd name="connsiteY451" fmla="*/ 2108200 h 6858000"/>
              <a:gd name="connsiteX452" fmla="*/ 6356350 w 12192000"/>
              <a:gd name="connsiteY452" fmla="*/ 2628900 h 6858000"/>
              <a:gd name="connsiteX453" fmla="*/ 5835650 w 12192000"/>
              <a:gd name="connsiteY453" fmla="*/ 2628900 h 6858000"/>
              <a:gd name="connsiteX454" fmla="*/ 5835650 w 12192000"/>
              <a:gd name="connsiteY454" fmla="*/ 2108200 h 6858000"/>
              <a:gd name="connsiteX455" fmla="*/ 6356350 w 12192000"/>
              <a:gd name="connsiteY455" fmla="*/ 2108200 h 6858000"/>
              <a:gd name="connsiteX456" fmla="*/ 5826252 w 12192000"/>
              <a:gd name="connsiteY456" fmla="*/ 2628900 h 6858000"/>
              <a:gd name="connsiteX457" fmla="*/ 5305552 w 12192000"/>
              <a:gd name="connsiteY457" fmla="*/ 2628900 h 6858000"/>
              <a:gd name="connsiteX458" fmla="*/ 5305552 w 12192000"/>
              <a:gd name="connsiteY458" fmla="*/ 2108200 h 6858000"/>
              <a:gd name="connsiteX459" fmla="*/ 5826252 w 12192000"/>
              <a:gd name="connsiteY459" fmla="*/ 2108200 h 6858000"/>
              <a:gd name="connsiteX460" fmla="*/ 5295900 w 12192000"/>
              <a:gd name="connsiteY460" fmla="*/ 2628900 h 6858000"/>
              <a:gd name="connsiteX461" fmla="*/ 4775200 w 12192000"/>
              <a:gd name="connsiteY461" fmla="*/ 2628900 h 6858000"/>
              <a:gd name="connsiteX462" fmla="*/ 4775200 w 12192000"/>
              <a:gd name="connsiteY462" fmla="*/ 2108200 h 6858000"/>
              <a:gd name="connsiteX463" fmla="*/ 5295900 w 12192000"/>
              <a:gd name="connsiteY463" fmla="*/ 2108200 h 6858000"/>
              <a:gd name="connsiteX464" fmla="*/ 4765802 w 12192000"/>
              <a:gd name="connsiteY464" fmla="*/ 2628900 h 6858000"/>
              <a:gd name="connsiteX465" fmla="*/ 4245102 w 12192000"/>
              <a:gd name="connsiteY465" fmla="*/ 2628900 h 6858000"/>
              <a:gd name="connsiteX466" fmla="*/ 4245102 w 12192000"/>
              <a:gd name="connsiteY466" fmla="*/ 2108200 h 6858000"/>
              <a:gd name="connsiteX467" fmla="*/ 4765802 w 12192000"/>
              <a:gd name="connsiteY467" fmla="*/ 2108200 h 6858000"/>
              <a:gd name="connsiteX468" fmla="*/ 4235768 w 12192000"/>
              <a:gd name="connsiteY468" fmla="*/ 2628900 h 6858000"/>
              <a:gd name="connsiteX469" fmla="*/ 3715068 w 12192000"/>
              <a:gd name="connsiteY469" fmla="*/ 2628900 h 6858000"/>
              <a:gd name="connsiteX470" fmla="*/ 3715068 w 12192000"/>
              <a:gd name="connsiteY470" fmla="*/ 2108200 h 6858000"/>
              <a:gd name="connsiteX471" fmla="*/ 4235768 w 12192000"/>
              <a:gd name="connsiteY471" fmla="*/ 2108200 h 6858000"/>
              <a:gd name="connsiteX472" fmla="*/ 3705670 w 12192000"/>
              <a:gd name="connsiteY472" fmla="*/ 2628900 h 6858000"/>
              <a:gd name="connsiteX473" fmla="*/ 3184970 w 12192000"/>
              <a:gd name="connsiteY473" fmla="*/ 2628900 h 6858000"/>
              <a:gd name="connsiteX474" fmla="*/ 3184970 w 12192000"/>
              <a:gd name="connsiteY474" fmla="*/ 2108200 h 6858000"/>
              <a:gd name="connsiteX475" fmla="*/ 3705670 w 12192000"/>
              <a:gd name="connsiteY475" fmla="*/ 2108200 h 6858000"/>
              <a:gd name="connsiteX476" fmla="*/ 3175572 w 12192000"/>
              <a:gd name="connsiteY476" fmla="*/ 2628900 h 6858000"/>
              <a:gd name="connsiteX477" fmla="*/ 2654872 w 12192000"/>
              <a:gd name="connsiteY477" fmla="*/ 2628900 h 6858000"/>
              <a:gd name="connsiteX478" fmla="*/ 2654872 w 12192000"/>
              <a:gd name="connsiteY478" fmla="*/ 2108200 h 6858000"/>
              <a:gd name="connsiteX479" fmla="*/ 3175572 w 12192000"/>
              <a:gd name="connsiteY479" fmla="*/ 2108200 h 6858000"/>
              <a:gd name="connsiteX480" fmla="*/ 2645474 w 12192000"/>
              <a:gd name="connsiteY480" fmla="*/ 2628900 h 6858000"/>
              <a:gd name="connsiteX481" fmla="*/ 2124774 w 12192000"/>
              <a:gd name="connsiteY481" fmla="*/ 2628900 h 6858000"/>
              <a:gd name="connsiteX482" fmla="*/ 2124774 w 12192000"/>
              <a:gd name="connsiteY482" fmla="*/ 2108200 h 6858000"/>
              <a:gd name="connsiteX483" fmla="*/ 2645474 w 12192000"/>
              <a:gd name="connsiteY483" fmla="*/ 2108200 h 6858000"/>
              <a:gd name="connsiteX484" fmla="*/ 2645474 w 12192000"/>
              <a:gd name="connsiteY484" fmla="*/ 2638425 h 6858000"/>
              <a:gd name="connsiteX485" fmla="*/ 2645474 w 12192000"/>
              <a:gd name="connsiteY485" fmla="*/ 3159125 h 6858000"/>
              <a:gd name="connsiteX486" fmla="*/ 2124774 w 12192000"/>
              <a:gd name="connsiteY486" fmla="*/ 3159125 h 6858000"/>
              <a:gd name="connsiteX487" fmla="*/ 2124774 w 12192000"/>
              <a:gd name="connsiteY487" fmla="*/ 2638425 h 6858000"/>
              <a:gd name="connsiteX488" fmla="*/ 2645474 w 12192000"/>
              <a:gd name="connsiteY488" fmla="*/ 3168523 h 6858000"/>
              <a:gd name="connsiteX489" fmla="*/ 2645474 w 12192000"/>
              <a:gd name="connsiteY489" fmla="*/ 3689223 h 6858000"/>
              <a:gd name="connsiteX490" fmla="*/ 2124774 w 12192000"/>
              <a:gd name="connsiteY490" fmla="*/ 3689223 h 6858000"/>
              <a:gd name="connsiteX491" fmla="*/ 2124774 w 12192000"/>
              <a:gd name="connsiteY491" fmla="*/ 3168650 h 6858000"/>
              <a:gd name="connsiteX492" fmla="*/ 2645474 w 12192000"/>
              <a:gd name="connsiteY492" fmla="*/ 3698621 h 6858000"/>
              <a:gd name="connsiteX493" fmla="*/ 2645474 w 12192000"/>
              <a:gd name="connsiteY493" fmla="*/ 4219321 h 6858000"/>
              <a:gd name="connsiteX494" fmla="*/ 2124774 w 12192000"/>
              <a:gd name="connsiteY494" fmla="*/ 4219321 h 6858000"/>
              <a:gd name="connsiteX495" fmla="*/ 2124774 w 12192000"/>
              <a:gd name="connsiteY495" fmla="*/ 3698621 h 6858000"/>
              <a:gd name="connsiteX496" fmla="*/ 2645474 w 12192000"/>
              <a:gd name="connsiteY496" fmla="*/ 4228719 h 6858000"/>
              <a:gd name="connsiteX497" fmla="*/ 2645474 w 12192000"/>
              <a:gd name="connsiteY497" fmla="*/ 4749419 h 6858000"/>
              <a:gd name="connsiteX498" fmla="*/ 2124774 w 12192000"/>
              <a:gd name="connsiteY498" fmla="*/ 4749419 h 6858000"/>
              <a:gd name="connsiteX499" fmla="*/ 2124774 w 12192000"/>
              <a:gd name="connsiteY499" fmla="*/ 4229100 h 6858000"/>
              <a:gd name="connsiteX500" fmla="*/ 2654999 w 12192000"/>
              <a:gd name="connsiteY500" fmla="*/ 4228719 h 6858000"/>
              <a:gd name="connsiteX501" fmla="*/ 3175699 w 12192000"/>
              <a:gd name="connsiteY501" fmla="*/ 4228719 h 6858000"/>
              <a:gd name="connsiteX502" fmla="*/ 3175699 w 12192000"/>
              <a:gd name="connsiteY502" fmla="*/ 4749419 h 6858000"/>
              <a:gd name="connsiteX503" fmla="*/ 2654999 w 12192000"/>
              <a:gd name="connsiteY503" fmla="*/ 4749419 h 6858000"/>
              <a:gd name="connsiteX504" fmla="*/ 3185097 w 12192000"/>
              <a:gd name="connsiteY504" fmla="*/ 4228719 h 6858000"/>
              <a:gd name="connsiteX505" fmla="*/ 3705797 w 12192000"/>
              <a:gd name="connsiteY505" fmla="*/ 4228719 h 6858000"/>
              <a:gd name="connsiteX506" fmla="*/ 3705797 w 12192000"/>
              <a:gd name="connsiteY506" fmla="*/ 4749419 h 6858000"/>
              <a:gd name="connsiteX507" fmla="*/ 3185097 w 12192000"/>
              <a:gd name="connsiteY507" fmla="*/ 4749419 h 6858000"/>
              <a:gd name="connsiteX508" fmla="*/ 3715195 w 12192000"/>
              <a:gd name="connsiteY508" fmla="*/ 4228719 h 6858000"/>
              <a:gd name="connsiteX509" fmla="*/ 4235895 w 12192000"/>
              <a:gd name="connsiteY509" fmla="*/ 4228719 h 6858000"/>
              <a:gd name="connsiteX510" fmla="*/ 4235895 w 12192000"/>
              <a:gd name="connsiteY510" fmla="*/ 4749419 h 6858000"/>
              <a:gd name="connsiteX511" fmla="*/ 3715195 w 12192000"/>
              <a:gd name="connsiteY511" fmla="*/ 4749419 h 6858000"/>
              <a:gd name="connsiteX512" fmla="*/ 4245293 w 12192000"/>
              <a:gd name="connsiteY512" fmla="*/ 4228719 h 6858000"/>
              <a:gd name="connsiteX513" fmla="*/ 4765993 w 12192000"/>
              <a:gd name="connsiteY513" fmla="*/ 4228719 h 6858000"/>
              <a:gd name="connsiteX514" fmla="*/ 4765993 w 12192000"/>
              <a:gd name="connsiteY514" fmla="*/ 4749419 h 6858000"/>
              <a:gd name="connsiteX515" fmla="*/ 4245293 w 12192000"/>
              <a:gd name="connsiteY515" fmla="*/ 4749419 h 6858000"/>
              <a:gd name="connsiteX516" fmla="*/ 4775327 w 12192000"/>
              <a:gd name="connsiteY516" fmla="*/ 4228719 h 6858000"/>
              <a:gd name="connsiteX517" fmla="*/ 5296027 w 12192000"/>
              <a:gd name="connsiteY517" fmla="*/ 4228719 h 6858000"/>
              <a:gd name="connsiteX518" fmla="*/ 5296027 w 12192000"/>
              <a:gd name="connsiteY518" fmla="*/ 4749419 h 6858000"/>
              <a:gd name="connsiteX519" fmla="*/ 4775327 w 12192000"/>
              <a:gd name="connsiteY519" fmla="*/ 4749419 h 6858000"/>
              <a:gd name="connsiteX520" fmla="*/ 5305425 w 12192000"/>
              <a:gd name="connsiteY520" fmla="*/ 4228719 h 6858000"/>
              <a:gd name="connsiteX521" fmla="*/ 5826125 w 12192000"/>
              <a:gd name="connsiteY521" fmla="*/ 4228719 h 6858000"/>
              <a:gd name="connsiteX522" fmla="*/ 5826125 w 12192000"/>
              <a:gd name="connsiteY522" fmla="*/ 4749419 h 6858000"/>
              <a:gd name="connsiteX523" fmla="*/ 5305425 w 12192000"/>
              <a:gd name="connsiteY523" fmla="*/ 4749419 h 6858000"/>
              <a:gd name="connsiteX524" fmla="*/ 5835650 w 12192000"/>
              <a:gd name="connsiteY524" fmla="*/ 4229100 h 6858000"/>
              <a:gd name="connsiteX525" fmla="*/ 6356350 w 12192000"/>
              <a:gd name="connsiteY525" fmla="*/ 4229100 h 6858000"/>
              <a:gd name="connsiteX526" fmla="*/ 6356350 w 12192000"/>
              <a:gd name="connsiteY526" fmla="*/ 4749800 h 6858000"/>
              <a:gd name="connsiteX527" fmla="*/ 5835650 w 12192000"/>
              <a:gd name="connsiteY527" fmla="*/ 4749800 h 6858000"/>
              <a:gd name="connsiteX528" fmla="*/ 6365748 w 12192000"/>
              <a:gd name="connsiteY528" fmla="*/ 4229100 h 6858000"/>
              <a:gd name="connsiteX529" fmla="*/ 6886448 w 12192000"/>
              <a:gd name="connsiteY529" fmla="*/ 4229100 h 6858000"/>
              <a:gd name="connsiteX530" fmla="*/ 6886448 w 12192000"/>
              <a:gd name="connsiteY530" fmla="*/ 4749800 h 6858000"/>
              <a:gd name="connsiteX531" fmla="*/ 6365748 w 12192000"/>
              <a:gd name="connsiteY531" fmla="*/ 4749800 h 6858000"/>
              <a:gd name="connsiteX532" fmla="*/ 6895846 w 12192000"/>
              <a:gd name="connsiteY532" fmla="*/ 4229100 h 6858000"/>
              <a:gd name="connsiteX533" fmla="*/ 7416546 w 12192000"/>
              <a:gd name="connsiteY533" fmla="*/ 4229100 h 6858000"/>
              <a:gd name="connsiteX534" fmla="*/ 7416546 w 12192000"/>
              <a:gd name="connsiteY534" fmla="*/ 4749800 h 6858000"/>
              <a:gd name="connsiteX535" fmla="*/ 6895846 w 12192000"/>
              <a:gd name="connsiteY535" fmla="*/ 4749800 h 6858000"/>
              <a:gd name="connsiteX536" fmla="*/ 7425944 w 12192000"/>
              <a:gd name="connsiteY536" fmla="*/ 4229100 h 6858000"/>
              <a:gd name="connsiteX537" fmla="*/ 7946644 w 12192000"/>
              <a:gd name="connsiteY537" fmla="*/ 4229100 h 6858000"/>
              <a:gd name="connsiteX538" fmla="*/ 7946644 w 12192000"/>
              <a:gd name="connsiteY538" fmla="*/ 4749800 h 6858000"/>
              <a:gd name="connsiteX539" fmla="*/ 7425944 w 12192000"/>
              <a:gd name="connsiteY539" fmla="*/ 4749800 h 6858000"/>
              <a:gd name="connsiteX540" fmla="*/ 7955979 w 12192000"/>
              <a:gd name="connsiteY540" fmla="*/ 4229100 h 6858000"/>
              <a:gd name="connsiteX541" fmla="*/ 8476679 w 12192000"/>
              <a:gd name="connsiteY541" fmla="*/ 4229100 h 6858000"/>
              <a:gd name="connsiteX542" fmla="*/ 8476679 w 12192000"/>
              <a:gd name="connsiteY542" fmla="*/ 4749800 h 6858000"/>
              <a:gd name="connsiteX543" fmla="*/ 7955979 w 12192000"/>
              <a:gd name="connsiteY543" fmla="*/ 4749800 h 6858000"/>
              <a:gd name="connsiteX544" fmla="*/ 8486077 w 12192000"/>
              <a:gd name="connsiteY544" fmla="*/ 4229100 h 6858000"/>
              <a:gd name="connsiteX545" fmla="*/ 9006777 w 12192000"/>
              <a:gd name="connsiteY545" fmla="*/ 4229100 h 6858000"/>
              <a:gd name="connsiteX546" fmla="*/ 9006777 w 12192000"/>
              <a:gd name="connsiteY546" fmla="*/ 4749800 h 6858000"/>
              <a:gd name="connsiteX547" fmla="*/ 8486077 w 12192000"/>
              <a:gd name="connsiteY547" fmla="*/ 4749800 h 6858000"/>
              <a:gd name="connsiteX548" fmla="*/ 9016174 w 12192000"/>
              <a:gd name="connsiteY548" fmla="*/ 4229100 h 6858000"/>
              <a:gd name="connsiteX549" fmla="*/ 9536874 w 12192000"/>
              <a:gd name="connsiteY549" fmla="*/ 4229100 h 6858000"/>
              <a:gd name="connsiteX550" fmla="*/ 9536874 w 12192000"/>
              <a:gd name="connsiteY550" fmla="*/ 4749800 h 6858000"/>
              <a:gd name="connsiteX551" fmla="*/ 9016174 w 12192000"/>
              <a:gd name="connsiteY551" fmla="*/ 4749800 h 6858000"/>
              <a:gd name="connsiteX552" fmla="*/ 9546272 w 12192000"/>
              <a:gd name="connsiteY552" fmla="*/ 4229100 h 6858000"/>
              <a:gd name="connsiteX553" fmla="*/ 10066972 w 12192000"/>
              <a:gd name="connsiteY553" fmla="*/ 4229100 h 6858000"/>
              <a:gd name="connsiteX554" fmla="*/ 10066972 w 12192000"/>
              <a:gd name="connsiteY554" fmla="*/ 4749800 h 6858000"/>
              <a:gd name="connsiteX555" fmla="*/ 9546272 w 12192000"/>
              <a:gd name="connsiteY555" fmla="*/ 4749800 h 6858000"/>
              <a:gd name="connsiteX556" fmla="*/ 9546272 w 12192000"/>
              <a:gd name="connsiteY556" fmla="*/ 4219575 h 6858000"/>
              <a:gd name="connsiteX557" fmla="*/ 9546272 w 12192000"/>
              <a:gd name="connsiteY557" fmla="*/ 3698875 h 6858000"/>
              <a:gd name="connsiteX558" fmla="*/ 10066972 w 12192000"/>
              <a:gd name="connsiteY558" fmla="*/ 3698875 h 6858000"/>
              <a:gd name="connsiteX559" fmla="*/ 10066972 w 12192000"/>
              <a:gd name="connsiteY559" fmla="*/ 4219575 h 6858000"/>
              <a:gd name="connsiteX560" fmla="*/ 9546272 w 12192000"/>
              <a:gd name="connsiteY560" fmla="*/ 3689477 h 6858000"/>
              <a:gd name="connsiteX561" fmla="*/ 9546272 w 12192000"/>
              <a:gd name="connsiteY561" fmla="*/ 3168650 h 6858000"/>
              <a:gd name="connsiteX562" fmla="*/ 10066972 w 12192000"/>
              <a:gd name="connsiteY562" fmla="*/ 3168650 h 6858000"/>
              <a:gd name="connsiteX563" fmla="*/ 10066972 w 12192000"/>
              <a:gd name="connsiteY563" fmla="*/ 3689350 h 6858000"/>
              <a:gd name="connsiteX564" fmla="*/ 9546272 w 12192000"/>
              <a:gd name="connsiteY564" fmla="*/ 3159379 h 6858000"/>
              <a:gd name="connsiteX565" fmla="*/ 9546272 w 12192000"/>
              <a:gd name="connsiteY565" fmla="*/ 2638679 h 6858000"/>
              <a:gd name="connsiteX566" fmla="*/ 10066972 w 12192000"/>
              <a:gd name="connsiteY566" fmla="*/ 2638679 h 6858000"/>
              <a:gd name="connsiteX567" fmla="*/ 10066972 w 12192000"/>
              <a:gd name="connsiteY567" fmla="*/ 3159379 h 6858000"/>
              <a:gd name="connsiteX568" fmla="*/ 9546272 w 12192000"/>
              <a:gd name="connsiteY568" fmla="*/ 2629281 h 6858000"/>
              <a:gd name="connsiteX569" fmla="*/ 9546272 w 12192000"/>
              <a:gd name="connsiteY569" fmla="*/ 2108581 h 6858000"/>
              <a:gd name="connsiteX570" fmla="*/ 10066972 w 12192000"/>
              <a:gd name="connsiteY570" fmla="*/ 2108581 h 6858000"/>
              <a:gd name="connsiteX571" fmla="*/ 10066972 w 12192000"/>
              <a:gd name="connsiteY571" fmla="*/ 2629281 h 6858000"/>
              <a:gd name="connsiteX572" fmla="*/ 9546272 w 12192000"/>
              <a:gd name="connsiteY572" fmla="*/ 2099247 h 6858000"/>
              <a:gd name="connsiteX573" fmla="*/ 9546272 w 12192000"/>
              <a:gd name="connsiteY573" fmla="*/ 1578547 h 6858000"/>
              <a:gd name="connsiteX574" fmla="*/ 10066972 w 12192000"/>
              <a:gd name="connsiteY574" fmla="*/ 1578547 h 6858000"/>
              <a:gd name="connsiteX575" fmla="*/ 10066972 w 12192000"/>
              <a:gd name="connsiteY575" fmla="*/ 2099247 h 6858000"/>
              <a:gd name="connsiteX576" fmla="*/ 9536747 w 12192000"/>
              <a:gd name="connsiteY576" fmla="*/ 2099247 h 6858000"/>
              <a:gd name="connsiteX577" fmla="*/ 9016047 w 12192000"/>
              <a:gd name="connsiteY577" fmla="*/ 2099247 h 6858000"/>
              <a:gd name="connsiteX578" fmla="*/ 9016047 w 12192000"/>
              <a:gd name="connsiteY578" fmla="*/ 1578547 h 6858000"/>
              <a:gd name="connsiteX579" fmla="*/ 9536747 w 12192000"/>
              <a:gd name="connsiteY579" fmla="*/ 1578547 h 6858000"/>
              <a:gd name="connsiteX580" fmla="*/ 9006649 w 12192000"/>
              <a:gd name="connsiteY580" fmla="*/ 2099247 h 6858000"/>
              <a:gd name="connsiteX581" fmla="*/ 8485949 w 12192000"/>
              <a:gd name="connsiteY581" fmla="*/ 2099247 h 6858000"/>
              <a:gd name="connsiteX582" fmla="*/ 8485949 w 12192000"/>
              <a:gd name="connsiteY582" fmla="*/ 1578547 h 6858000"/>
              <a:gd name="connsiteX583" fmla="*/ 9006649 w 12192000"/>
              <a:gd name="connsiteY583" fmla="*/ 1578547 h 6858000"/>
              <a:gd name="connsiteX584" fmla="*/ 8476552 w 12192000"/>
              <a:gd name="connsiteY584" fmla="*/ 2099247 h 6858000"/>
              <a:gd name="connsiteX585" fmla="*/ 7955852 w 12192000"/>
              <a:gd name="connsiteY585" fmla="*/ 2099247 h 6858000"/>
              <a:gd name="connsiteX586" fmla="*/ 7955852 w 12192000"/>
              <a:gd name="connsiteY586" fmla="*/ 1578547 h 6858000"/>
              <a:gd name="connsiteX587" fmla="*/ 8476552 w 12192000"/>
              <a:gd name="connsiteY587" fmla="*/ 1578547 h 6858000"/>
              <a:gd name="connsiteX588" fmla="*/ 7946454 w 12192000"/>
              <a:gd name="connsiteY588" fmla="*/ 2099247 h 6858000"/>
              <a:gd name="connsiteX589" fmla="*/ 7425754 w 12192000"/>
              <a:gd name="connsiteY589" fmla="*/ 2099247 h 6858000"/>
              <a:gd name="connsiteX590" fmla="*/ 7425754 w 12192000"/>
              <a:gd name="connsiteY590" fmla="*/ 1578547 h 6858000"/>
              <a:gd name="connsiteX591" fmla="*/ 7946454 w 12192000"/>
              <a:gd name="connsiteY591" fmla="*/ 1578547 h 6858000"/>
              <a:gd name="connsiteX592" fmla="*/ 7416419 w 12192000"/>
              <a:gd name="connsiteY592" fmla="*/ 2099247 h 6858000"/>
              <a:gd name="connsiteX593" fmla="*/ 6895719 w 12192000"/>
              <a:gd name="connsiteY593" fmla="*/ 2099247 h 6858000"/>
              <a:gd name="connsiteX594" fmla="*/ 6895719 w 12192000"/>
              <a:gd name="connsiteY594" fmla="*/ 1578547 h 6858000"/>
              <a:gd name="connsiteX595" fmla="*/ 7416419 w 12192000"/>
              <a:gd name="connsiteY595" fmla="*/ 1578547 h 6858000"/>
              <a:gd name="connsiteX596" fmla="*/ 6886321 w 12192000"/>
              <a:gd name="connsiteY596" fmla="*/ 2099247 h 6858000"/>
              <a:gd name="connsiteX597" fmla="*/ 6365621 w 12192000"/>
              <a:gd name="connsiteY597" fmla="*/ 2099247 h 6858000"/>
              <a:gd name="connsiteX598" fmla="*/ 6365621 w 12192000"/>
              <a:gd name="connsiteY598" fmla="*/ 1578547 h 6858000"/>
              <a:gd name="connsiteX599" fmla="*/ 6886321 w 12192000"/>
              <a:gd name="connsiteY599" fmla="*/ 1578547 h 6858000"/>
              <a:gd name="connsiteX600" fmla="*/ 6356223 w 12192000"/>
              <a:gd name="connsiteY600" fmla="*/ 2099247 h 6858000"/>
              <a:gd name="connsiteX601" fmla="*/ 5835650 w 12192000"/>
              <a:gd name="connsiteY601" fmla="*/ 2099247 h 6858000"/>
              <a:gd name="connsiteX602" fmla="*/ 5835650 w 12192000"/>
              <a:gd name="connsiteY602" fmla="*/ 1578547 h 6858000"/>
              <a:gd name="connsiteX603" fmla="*/ 6356350 w 12192000"/>
              <a:gd name="connsiteY603" fmla="*/ 1578547 h 6858000"/>
              <a:gd name="connsiteX604" fmla="*/ 5826125 w 12192000"/>
              <a:gd name="connsiteY604" fmla="*/ 2099247 h 6858000"/>
              <a:gd name="connsiteX605" fmla="*/ 5305425 w 12192000"/>
              <a:gd name="connsiteY605" fmla="*/ 2099247 h 6858000"/>
              <a:gd name="connsiteX606" fmla="*/ 5305425 w 12192000"/>
              <a:gd name="connsiteY606" fmla="*/ 1578547 h 6858000"/>
              <a:gd name="connsiteX607" fmla="*/ 5826125 w 12192000"/>
              <a:gd name="connsiteY607" fmla="*/ 1578547 h 6858000"/>
              <a:gd name="connsiteX608" fmla="*/ 5296027 w 12192000"/>
              <a:gd name="connsiteY608" fmla="*/ 2099247 h 6858000"/>
              <a:gd name="connsiteX609" fmla="*/ 4775327 w 12192000"/>
              <a:gd name="connsiteY609" fmla="*/ 2099247 h 6858000"/>
              <a:gd name="connsiteX610" fmla="*/ 4775327 w 12192000"/>
              <a:gd name="connsiteY610" fmla="*/ 1578547 h 6858000"/>
              <a:gd name="connsiteX611" fmla="*/ 5296027 w 12192000"/>
              <a:gd name="connsiteY611" fmla="*/ 1578547 h 6858000"/>
              <a:gd name="connsiteX612" fmla="*/ 4765929 w 12192000"/>
              <a:gd name="connsiteY612" fmla="*/ 2099247 h 6858000"/>
              <a:gd name="connsiteX613" fmla="*/ 4245229 w 12192000"/>
              <a:gd name="connsiteY613" fmla="*/ 2099247 h 6858000"/>
              <a:gd name="connsiteX614" fmla="*/ 4245229 w 12192000"/>
              <a:gd name="connsiteY614" fmla="*/ 1578547 h 6858000"/>
              <a:gd name="connsiteX615" fmla="*/ 4765929 w 12192000"/>
              <a:gd name="connsiteY615" fmla="*/ 1578547 h 6858000"/>
              <a:gd name="connsiteX616" fmla="*/ 4235895 w 12192000"/>
              <a:gd name="connsiteY616" fmla="*/ 2099247 h 6858000"/>
              <a:gd name="connsiteX617" fmla="*/ 3715195 w 12192000"/>
              <a:gd name="connsiteY617" fmla="*/ 2099247 h 6858000"/>
              <a:gd name="connsiteX618" fmla="*/ 3715195 w 12192000"/>
              <a:gd name="connsiteY618" fmla="*/ 1578547 h 6858000"/>
              <a:gd name="connsiteX619" fmla="*/ 4235895 w 12192000"/>
              <a:gd name="connsiteY619" fmla="*/ 1578547 h 6858000"/>
              <a:gd name="connsiteX620" fmla="*/ 3705797 w 12192000"/>
              <a:gd name="connsiteY620" fmla="*/ 2099247 h 6858000"/>
              <a:gd name="connsiteX621" fmla="*/ 3185097 w 12192000"/>
              <a:gd name="connsiteY621" fmla="*/ 2099247 h 6858000"/>
              <a:gd name="connsiteX622" fmla="*/ 3185097 w 12192000"/>
              <a:gd name="connsiteY622" fmla="*/ 1578547 h 6858000"/>
              <a:gd name="connsiteX623" fmla="*/ 3705797 w 12192000"/>
              <a:gd name="connsiteY623" fmla="*/ 1578547 h 6858000"/>
              <a:gd name="connsiteX624" fmla="*/ 3175699 w 12192000"/>
              <a:gd name="connsiteY624" fmla="*/ 2099247 h 6858000"/>
              <a:gd name="connsiteX625" fmla="*/ 2654999 w 12192000"/>
              <a:gd name="connsiteY625" fmla="*/ 2099247 h 6858000"/>
              <a:gd name="connsiteX626" fmla="*/ 2654999 w 12192000"/>
              <a:gd name="connsiteY626" fmla="*/ 1578547 h 6858000"/>
              <a:gd name="connsiteX627" fmla="*/ 3175699 w 12192000"/>
              <a:gd name="connsiteY627" fmla="*/ 1578547 h 6858000"/>
              <a:gd name="connsiteX628" fmla="*/ 2645601 w 12192000"/>
              <a:gd name="connsiteY628" fmla="*/ 2099247 h 6858000"/>
              <a:gd name="connsiteX629" fmla="*/ 2124901 w 12192000"/>
              <a:gd name="connsiteY629" fmla="*/ 2099247 h 6858000"/>
              <a:gd name="connsiteX630" fmla="*/ 2124901 w 12192000"/>
              <a:gd name="connsiteY630" fmla="*/ 1578547 h 6858000"/>
              <a:gd name="connsiteX631" fmla="*/ 2645601 w 12192000"/>
              <a:gd name="connsiteY631" fmla="*/ 1578547 h 6858000"/>
              <a:gd name="connsiteX632" fmla="*/ 2115503 w 12192000"/>
              <a:gd name="connsiteY632" fmla="*/ 2099247 h 6858000"/>
              <a:gd name="connsiteX633" fmla="*/ 1594803 w 12192000"/>
              <a:gd name="connsiteY633" fmla="*/ 2099247 h 6858000"/>
              <a:gd name="connsiteX634" fmla="*/ 1594803 w 12192000"/>
              <a:gd name="connsiteY634" fmla="*/ 1578547 h 6858000"/>
              <a:gd name="connsiteX635" fmla="*/ 2115503 w 12192000"/>
              <a:gd name="connsiteY635" fmla="*/ 1578547 h 6858000"/>
              <a:gd name="connsiteX636" fmla="*/ 2115503 w 12192000"/>
              <a:gd name="connsiteY636" fmla="*/ 2108772 h 6858000"/>
              <a:gd name="connsiteX637" fmla="*/ 2115503 w 12192000"/>
              <a:gd name="connsiteY637" fmla="*/ 2629472 h 6858000"/>
              <a:gd name="connsiteX638" fmla="*/ 1594803 w 12192000"/>
              <a:gd name="connsiteY638" fmla="*/ 2629472 h 6858000"/>
              <a:gd name="connsiteX639" fmla="*/ 1594803 w 12192000"/>
              <a:gd name="connsiteY639" fmla="*/ 2108772 h 6858000"/>
              <a:gd name="connsiteX640" fmla="*/ 2115503 w 12192000"/>
              <a:gd name="connsiteY640" fmla="*/ 2638806 h 6858000"/>
              <a:gd name="connsiteX641" fmla="*/ 2115503 w 12192000"/>
              <a:gd name="connsiteY641" fmla="*/ 3159506 h 6858000"/>
              <a:gd name="connsiteX642" fmla="*/ 1594803 w 12192000"/>
              <a:gd name="connsiteY642" fmla="*/ 3159506 h 6858000"/>
              <a:gd name="connsiteX643" fmla="*/ 1594803 w 12192000"/>
              <a:gd name="connsiteY643" fmla="*/ 2638806 h 6858000"/>
              <a:gd name="connsiteX644" fmla="*/ 2115503 w 12192000"/>
              <a:gd name="connsiteY644" fmla="*/ 3168904 h 6858000"/>
              <a:gd name="connsiteX645" fmla="*/ 2115503 w 12192000"/>
              <a:gd name="connsiteY645" fmla="*/ 3689604 h 6858000"/>
              <a:gd name="connsiteX646" fmla="*/ 1594803 w 12192000"/>
              <a:gd name="connsiteY646" fmla="*/ 3689604 h 6858000"/>
              <a:gd name="connsiteX647" fmla="*/ 1594803 w 12192000"/>
              <a:gd name="connsiteY647" fmla="*/ 3168650 h 6858000"/>
              <a:gd name="connsiteX648" fmla="*/ 2115503 w 12192000"/>
              <a:gd name="connsiteY648" fmla="*/ 3699002 h 6858000"/>
              <a:gd name="connsiteX649" fmla="*/ 2115503 w 12192000"/>
              <a:gd name="connsiteY649" fmla="*/ 4219702 h 6858000"/>
              <a:gd name="connsiteX650" fmla="*/ 1594803 w 12192000"/>
              <a:gd name="connsiteY650" fmla="*/ 4219702 h 6858000"/>
              <a:gd name="connsiteX651" fmla="*/ 1594803 w 12192000"/>
              <a:gd name="connsiteY651" fmla="*/ 3699002 h 6858000"/>
              <a:gd name="connsiteX652" fmla="*/ 2115503 w 12192000"/>
              <a:gd name="connsiteY652" fmla="*/ 4229100 h 6858000"/>
              <a:gd name="connsiteX653" fmla="*/ 2115503 w 12192000"/>
              <a:gd name="connsiteY653" fmla="*/ 4749800 h 6858000"/>
              <a:gd name="connsiteX654" fmla="*/ 1594803 w 12192000"/>
              <a:gd name="connsiteY654" fmla="*/ 4749800 h 6858000"/>
              <a:gd name="connsiteX655" fmla="*/ 1594803 w 12192000"/>
              <a:gd name="connsiteY655" fmla="*/ 4229100 h 6858000"/>
              <a:gd name="connsiteX656" fmla="*/ 2115503 w 12192000"/>
              <a:gd name="connsiteY656" fmla="*/ 4759198 h 6858000"/>
              <a:gd name="connsiteX657" fmla="*/ 2115503 w 12192000"/>
              <a:gd name="connsiteY657" fmla="*/ 5279898 h 6858000"/>
              <a:gd name="connsiteX658" fmla="*/ 1594803 w 12192000"/>
              <a:gd name="connsiteY658" fmla="*/ 5279898 h 6858000"/>
              <a:gd name="connsiteX659" fmla="*/ 1594803 w 12192000"/>
              <a:gd name="connsiteY659" fmla="*/ 4759198 h 6858000"/>
              <a:gd name="connsiteX660" fmla="*/ 2125028 w 12192000"/>
              <a:gd name="connsiteY660" fmla="*/ 4759198 h 6858000"/>
              <a:gd name="connsiteX661" fmla="*/ 2645728 w 12192000"/>
              <a:gd name="connsiteY661" fmla="*/ 4759198 h 6858000"/>
              <a:gd name="connsiteX662" fmla="*/ 2645728 w 12192000"/>
              <a:gd name="connsiteY662" fmla="*/ 5279898 h 6858000"/>
              <a:gd name="connsiteX663" fmla="*/ 2125028 w 12192000"/>
              <a:gd name="connsiteY663" fmla="*/ 5279898 h 6858000"/>
              <a:gd name="connsiteX664" fmla="*/ 2655126 w 12192000"/>
              <a:gd name="connsiteY664" fmla="*/ 4759198 h 6858000"/>
              <a:gd name="connsiteX665" fmla="*/ 3175826 w 12192000"/>
              <a:gd name="connsiteY665" fmla="*/ 4759198 h 6858000"/>
              <a:gd name="connsiteX666" fmla="*/ 3175826 w 12192000"/>
              <a:gd name="connsiteY666" fmla="*/ 5279898 h 6858000"/>
              <a:gd name="connsiteX667" fmla="*/ 2655126 w 12192000"/>
              <a:gd name="connsiteY667" fmla="*/ 5279898 h 6858000"/>
              <a:gd name="connsiteX668" fmla="*/ 3185224 w 12192000"/>
              <a:gd name="connsiteY668" fmla="*/ 4759198 h 6858000"/>
              <a:gd name="connsiteX669" fmla="*/ 3705924 w 12192000"/>
              <a:gd name="connsiteY669" fmla="*/ 4759198 h 6858000"/>
              <a:gd name="connsiteX670" fmla="*/ 3705924 w 12192000"/>
              <a:gd name="connsiteY670" fmla="*/ 5279898 h 6858000"/>
              <a:gd name="connsiteX671" fmla="*/ 3185224 w 12192000"/>
              <a:gd name="connsiteY671" fmla="*/ 5279898 h 6858000"/>
              <a:gd name="connsiteX672" fmla="*/ 3715322 w 12192000"/>
              <a:gd name="connsiteY672" fmla="*/ 4759198 h 6858000"/>
              <a:gd name="connsiteX673" fmla="*/ 4236022 w 12192000"/>
              <a:gd name="connsiteY673" fmla="*/ 4759198 h 6858000"/>
              <a:gd name="connsiteX674" fmla="*/ 4236022 w 12192000"/>
              <a:gd name="connsiteY674" fmla="*/ 5279898 h 6858000"/>
              <a:gd name="connsiteX675" fmla="*/ 3715322 w 12192000"/>
              <a:gd name="connsiteY675" fmla="*/ 5279898 h 6858000"/>
              <a:gd name="connsiteX676" fmla="*/ 4245420 w 12192000"/>
              <a:gd name="connsiteY676" fmla="*/ 4759198 h 6858000"/>
              <a:gd name="connsiteX677" fmla="*/ 4766120 w 12192000"/>
              <a:gd name="connsiteY677" fmla="*/ 4759198 h 6858000"/>
              <a:gd name="connsiteX678" fmla="*/ 4766120 w 12192000"/>
              <a:gd name="connsiteY678" fmla="*/ 5279898 h 6858000"/>
              <a:gd name="connsiteX679" fmla="*/ 4245420 w 12192000"/>
              <a:gd name="connsiteY679" fmla="*/ 5279898 h 6858000"/>
              <a:gd name="connsiteX680" fmla="*/ 4775454 w 12192000"/>
              <a:gd name="connsiteY680" fmla="*/ 4759198 h 6858000"/>
              <a:gd name="connsiteX681" fmla="*/ 5296154 w 12192000"/>
              <a:gd name="connsiteY681" fmla="*/ 4759198 h 6858000"/>
              <a:gd name="connsiteX682" fmla="*/ 5296154 w 12192000"/>
              <a:gd name="connsiteY682" fmla="*/ 5279898 h 6858000"/>
              <a:gd name="connsiteX683" fmla="*/ 4775454 w 12192000"/>
              <a:gd name="connsiteY683" fmla="*/ 5279898 h 6858000"/>
              <a:gd name="connsiteX684" fmla="*/ 5305552 w 12192000"/>
              <a:gd name="connsiteY684" fmla="*/ 4759198 h 6858000"/>
              <a:gd name="connsiteX685" fmla="*/ 5826252 w 12192000"/>
              <a:gd name="connsiteY685" fmla="*/ 4759198 h 6858000"/>
              <a:gd name="connsiteX686" fmla="*/ 5826252 w 12192000"/>
              <a:gd name="connsiteY686" fmla="*/ 5279898 h 6858000"/>
              <a:gd name="connsiteX687" fmla="*/ 5305552 w 12192000"/>
              <a:gd name="connsiteY687" fmla="*/ 5279898 h 6858000"/>
              <a:gd name="connsiteX688" fmla="*/ 5835650 w 12192000"/>
              <a:gd name="connsiteY688" fmla="*/ 4759198 h 6858000"/>
              <a:gd name="connsiteX689" fmla="*/ 6356350 w 12192000"/>
              <a:gd name="connsiteY689" fmla="*/ 4759198 h 6858000"/>
              <a:gd name="connsiteX690" fmla="*/ 6356350 w 12192000"/>
              <a:gd name="connsiteY690" fmla="*/ 5279898 h 6858000"/>
              <a:gd name="connsiteX691" fmla="*/ 5835650 w 12192000"/>
              <a:gd name="connsiteY691" fmla="*/ 5279898 h 6858000"/>
              <a:gd name="connsiteX692" fmla="*/ 6365748 w 12192000"/>
              <a:gd name="connsiteY692" fmla="*/ 4759198 h 6858000"/>
              <a:gd name="connsiteX693" fmla="*/ 6886448 w 12192000"/>
              <a:gd name="connsiteY693" fmla="*/ 4759198 h 6858000"/>
              <a:gd name="connsiteX694" fmla="*/ 6886448 w 12192000"/>
              <a:gd name="connsiteY694" fmla="*/ 5279898 h 6858000"/>
              <a:gd name="connsiteX695" fmla="*/ 6365748 w 12192000"/>
              <a:gd name="connsiteY695" fmla="*/ 5279898 h 6858000"/>
              <a:gd name="connsiteX696" fmla="*/ 6895846 w 12192000"/>
              <a:gd name="connsiteY696" fmla="*/ 4759198 h 6858000"/>
              <a:gd name="connsiteX697" fmla="*/ 7416546 w 12192000"/>
              <a:gd name="connsiteY697" fmla="*/ 4759198 h 6858000"/>
              <a:gd name="connsiteX698" fmla="*/ 7416546 w 12192000"/>
              <a:gd name="connsiteY698" fmla="*/ 5279898 h 6858000"/>
              <a:gd name="connsiteX699" fmla="*/ 6895846 w 12192000"/>
              <a:gd name="connsiteY699" fmla="*/ 5279898 h 6858000"/>
              <a:gd name="connsiteX700" fmla="*/ 7425944 w 12192000"/>
              <a:gd name="connsiteY700" fmla="*/ 4759198 h 6858000"/>
              <a:gd name="connsiteX701" fmla="*/ 7946644 w 12192000"/>
              <a:gd name="connsiteY701" fmla="*/ 4759198 h 6858000"/>
              <a:gd name="connsiteX702" fmla="*/ 7946644 w 12192000"/>
              <a:gd name="connsiteY702" fmla="*/ 5279898 h 6858000"/>
              <a:gd name="connsiteX703" fmla="*/ 7425944 w 12192000"/>
              <a:gd name="connsiteY703" fmla="*/ 5279898 h 6858000"/>
              <a:gd name="connsiteX704" fmla="*/ 7955979 w 12192000"/>
              <a:gd name="connsiteY704" fmla="*/ 4759198 h 6858000"/>
              <a:gd name="connsiteX705" fmla="*/ 8476679 w 12192000"/>
              <a:gd name="connsiteY705" fmla="*/ 4759198 h 6858000"/>
              <a:gd name="connsiteX706" fmla="*/ 8476679 w 12192000"/>
              <a:gd name="connsiteY706" fmla="*/ 5279898 h 6858000"/>
              <a:gd name="connsiteX707" fmla="*/ 7955979 w 12192000"/>
              <a:gd name="connsiteY707" fmla="*/ 5279898 h 6858000"/>
              <a:gd name="connsiteX708" fmla="*/ 8486077 w 12192000"/>
              <a:gd name="connsiteY708" fmla="*/ 4759198 h 6858000"/>
              <a:gd name="connsiteX709" fmla="*/ 9006777 w 12192000"/>
              <a:gd name="connsiteY709" fmla="*/ 4759198 h 6858000"/>
              <a:gd name="connsiteX710" fmla="*/ 9006777 w 12192000"/>
              <a:gd name="connsiteY710" fmla="*/ 5279898 h 6858000"/>
              <a:gd name="connsiteX711" fmla="*/ 8486077 w 12192000"/>
              <a:gd name="connsiteY711" fmla="*/ 5279898 h 6858000"/>
              <a:gd name="connsiteX712" fmla="*/ 9016174 w 12192000"/>
              <a:gd name="connsiteY712" fmla="*/ 4759198 h 6858000"/>
              <a:gd name="connsiteX713" fmla="*/ 9536874 w 12192000"/>
              <a:gd name="connsiteY713" fmla="*/ 4759198 h 6858000"/>
              <a:gd name="connsiteX714" fmla="*/ 9536874 w 12192000"/>
              <a:gd name="connsiteY714" fmla="*/ 5279898 h 6858000"/>
              <a:gd name="connsiteX715" fmla="*/ 9016174 w 12192000"/>
              <a:gd name="connsiteY715" fmla="*/ 5279898 h 6858000"/>
              <a:gd name="connsiteX716" fmla="*/ 9546272 w 12192000"/>
              <a:gd name="connsiteY716" fmla="*/ 4759198 h 6858000"/>
              <a:gd name="connsiteX717" fmla="*/ 10066972 w 12192000"/>
              <a:gd name="connsiteY717" fmla="*/ 4759198 h 6858000"/>
              <a:gd name="connsiteX718" fmla="*/ 10066972 w 12192000"/>
              <a:gd name="connsiteY718" fmla="*/ 5279898 h 6858000"/>
              <a:gd name="connsiteX719" fmla="*/ 9546272 w 12192000"/>
              <a:gd name="connsiteY719" fmla="*/ 5279898 h 6858000"/>
              <a:gd name="connsiteX720" fmla="*/ 10076370 w 12192000"/>
              <a:gd name="connsiteY720" fmla="*/ 4759198 h 6858000"/>
              <a:gd name="connsiteX721" fmla="*/ 10597070 w 12192000"/>
              <a:gd name="connsiteY721" fmla="*/ 4759198 h 6858000"/>
              <a:gd name="connsiteX722" fmla="*/ 10597070 w 12192000"/>
              <a:gd name="connsiteY722" fmla="*/ 5279898 h 6858000"/>
              <a:gd name="connsiteX723" fmla="*/ 10076370 w 12192000"/>
              <a:gd name="connsiteY723" fmla="*/ 5279898 h 6858000"/>
              <a:gd name="connsiteX724" fmla="*/ 10076370 w 12192000"/>
              <a:gd name="connsiteY724" fmla="*/ 4749673 h 6858000"/>
              <a:gd name="connsiteX725" fmla="*/ 10076370 w 12192000"/>
              <a:gd name="connsiteY725" fmla="*/ 4229100 h 6858000"/>
              <a:gd name="connsiteX726" fmla="*/ 10597070 w 12192000"/>
              <a:gd name="connsiteY726" fmla="*/ 4229100 h 6858000"/>
              <a:gd name="connsiteX727" fmla="*/ 10597070 w 12192000"/>
              <a:gd name="connsiteY727" fmla="*/ 4749800 h 6858000"/>
              <a:gd name="connsiteX728" fmla="*/ 10076370 w 12192000"/>
              <a:gd name="connsiteY728" fmla="*/ 4219575 h 6858000"/>
              <a:gd name="connsiteX729" fmla="*/ 10076370 w 12192000"/>
              <a:gd name="connsiteY729" fmla="*/ 3698875 h 6858000"/>
              <a:gd name="connsiteX730" fmla="*/ 10597070 w 12192000"/>
              <a:gd name="connsiteY730" fmla="*/ 3698875 h 6858000"/>
              <a:gd name="connsiteX731" fmla="*/ 10597070 w 12192000"/>
              <a:gd name="connsiteY731" fmla="*/ 4219575 h 6858000"/>
              <a:gd name="connsiteX732" fmla="*/ 10076370 w 12192000"/>
              <a:gd name="connsiteY732" fmla="*/ 3689477 h 6858000"/>
              <a:gd name="connsiteX733" fmla="*/ 10076370 w 12192000"/>
              <a:gd name="connsiteY733" fmla="*/ 3168650 h 6858000"/>
              <a:gd name="connsiteX734" fmla="*/ 10597070 w 12192000"/>
              <a:gd name="connsiteY734" fmla="*/ 3168650 h 6858000"/>
              <a:gd name="connsiteX735" fmla="*/ 10597070 w 12192000"/>
              <a:gd name="connsiteY735" fmla="*/ 3689350 h 6858000"/>
              <a:gd name="connsiteX736" fmla="*/ 10076370 w 12192000"/>
              <a:gd name="connsiteY736" fmla="*/ 3159379 h 6858000"/>
              <a:gd name="connsiteX737" fmla="*/ 10076370 w 12192000"/>
              <a:gd name="connsiteY737" fmla="*/ 2638679 h 6858000"/>
              <a:gd name="connsiteX738" fmla="*/ 10597070 w 12192000"/>
              <a:gd name="connsiteY738" fmla="*/ 2638679 h 6858000"/>
              <a:gd name="connsiteX739" fmla="*/ 10597070 w 12192000"/>
              <a:gd name="connsiteY739" fmla="*/ 3159379 h 6858000"/>
              <a:gd name="connsiteX740" fmla="*/ 10076370 w 12192000"/>
              <a:gd name="connsiteY740" fmla="*/ 2629281 h 6858000"/>
              <a:gd name="connsiteX741" fmla="*/ 10076370 w 12192000"/>
              <a:gd name="connsiteY741" fmla="*/ 2108581 h 6858000"/>
              <a:gd name="connsiteX742" fmla="*/ 10597070 w 12192000"/>
              <a:gd name="connsiteY742" fmla="*/ 2108581 h 6858000"/>
              <a:gd name="connsiteX743" fmla="*/ 10597070 w 12192000"/>
              <a:gd name="connsiteY743" fmla="*/ 2629281 h 6858000"/>
              <a:gd name="connsiteX744" fmla="*/ 10076370 w 12192000"/>
              <a:gd name="connsiteY744" fmla="*/ 2099247 h 6858000"/>
              <a:gd name="connsiteX745" fmla="*/ 10076370 w 12192000"/>
              <a:gd name="connsiteY745" fmla="*/ 1578547 h 6858000"/>
              <a:gd name="connsiteX746" fmla="*/ 10597070 w 12192000"/>
              <a:gd name="connsiteY746" fmla="*/ 1578547 h 6858000"/>
              <a:gd name="connsiteX747" fmla="*/ 10597070 w 12192000"/>
              <a:gd name="connsiteY747" fmla="*/ 2099247 h 6858000"/>
              <a:gd name="connsiteX748" fmla="*/ 10076370 w 12192000"/>
              <a:gd name="connsiteY748" fmla="*/ 1569149 h 6858000"/>
              <a:gd name="connsiteX749" fmla="*/ 10076370 w 12192000"/>
              <a:gd name="connsiteY749" fmla="*/ 1048449 h 6858000"/>
              <a:gd name="connsiteX750" fmla="*/ 10597070 w 12192000"/>
              <a:gd name="connsiteY750" fmla="*/ 1048449 h 6858000"/>
              <a:gd name="connsiteX751" fmla="*/ 10597070 w 12192000"/>
              <a:gd name="connsiteY751" fmla="*/ 1569149 h 6858000"/>
              <a:gd name="connsiteX752" fmla="*/ 10066845 w 12192000"/>
              <a:gd name="connsiteY752" fmla="*/ 1569149 h 6858000"/>
              <a:gd name="connsiteX753" fmla="*/ 9546145 w 12192000"/>
              <a:gd name="connsiteY753" fmla="*/ 1569149 h 6858000"/>
              <a:gd name="connsiteX754" fmla="*/ 9546145 w 12192000"/>
              <a:gd name="connsiteY754" fmla="*/ 1048449 h 6858000"/>
              <a:gd name="connsiteX755" fmla="*/ 10066845 w 12192000"/>
              <a:gd name="connsiteY755" fmla="*/ 1048449 h 6858000"/>
              <a:gd name="connsiteX756" fmla="*/ 9536747 w 12192000"/>
              <a:gd name="connsiteY756" fmla="*/ 1569149 h 6858000"/>
              <a:gd name="connsiteX757" fmla="*/ 9016047 w 12192000"/>
              <a:gd name="connsiteY757" fmla="*/ 1569149 h 6858000"/>
              <a:gd name="connsiteX758" fmla="*/ 9016047 w 12192000"/>
              <a:gd name="connsiteY758" fmla="*/ 1048449 h 6858000"/>
              <a:gd name="connsiteX759" fmla="*/ 9536747 w 12192000"/>
              <a:gd name="connsiteY759" fmla="*/ 1048449 h 6858000"/>
              <a:gd name="connsiteX760" fmla="*/ 9006649 w 12192000"/>
              <a:gd name="connsiteY760" fmla="*/ 1569149 h 6858000"/>
              <a:gd name="connsiteX761" fmla="*/ 8485949 w 12192000"/>
              <a:gd name="connsiteY761" fmla="*/ 1569149 h 6858000"/>
              <a:gd name="connsiteX762" fmla="*/ 8485949 w 12192000"/>
              <a:gd name="connsiteY762" fmla="*/ 1048449 h 6858000"/>
              <a:gd name="connsiteX763" fmla="*/ 9006649 w 12192000"/>
              <a:gd name="connsiteY763" fmla="*/ 1048449 h 6858000"/>
              <a:gd name="connsiteX764" fmla="*/ 8476552 w 12192000"/>
              <a:gd name="connsiteY764" fmla="*/ 1569149 h 6858000"/>
              <a:gd name="connsiteX765" fmla="*/ 7955852 w 12192000"/>
              <a:gd name="connsiteY765" fmla="*/ 1569149 h 6858000"/>
              <a:gd name="connsiteX766" fmla="*/ 7955852 w 12192000"/>
              <a:gd name="connsiteY766" fmla="*/ 1048449 h 6858000"/>
              <a:gd name="connsiteX767" fmla="*/ 8476552 w 12192000"/>
              <a:gd name="connsiteY767" fmla="*/ 1048449 h 6858000"/>
              <a:gd name="connsiteX768" fmla="*/ 7946454 w 12192000"/>
              <a:gd name="connsiteY768" fmla="*/ 1569149 h 6858000"/>
              <a:gd name="connsiteX769" fmla="*/ 7425754 w 12192000"/>
              <a:gd name="connsiteY769" fmla="*/ 1569149 h 6858000"/>
              <a:gd name="connsiteX770" fmla="*/ 7425754 w 12192000"/>
              <a:gd name="connsiteY770" fmla="*/ 1048449 h 6858000"/>
              <a:gd name="connsiteX771" fmla="*/ 7946454 w 12192000"/>
              <a:gd name="connsiteY771" fmla="*/ 1048449 h 6858000"/>
              <a:gd name="connsiteX772" fmla="*/ 7416419 w 12192000"/>
              <a:gd name="connsiteY772" fmla="*/ 1569149 h 6858000"/>
              <a:gd name="connsiteX773" fmla="*/ 6895719 w 12192000"/>
              <a:gd name="connsiteY773" fmla="*/ 1569149 h 6858000"/>
              <a:gd name="connsiteX774" fmla="*/ 6895719 w 12192000"/>
              <a:gd name="connsiteY774" fmla="*/ 1048449 h 6858000"/>
              <a:gd name="connsiteX775" fmla="*/ 7416419 w 12192000"/>
              <a:gd name="connsiteY775" fmla="*/ 1048449 h 6858000"/>
              <a:gd name="connsiteX776" fmla="*/ 6886321 w 12192000"/>
              <a:gd name="connsiteY776" fmla="*/ 1569149 h 6858000"/>
              <a:gd name="connsiteX777" fmla="*/ 6365621 w 12192000"/>
              <a:gd name="connsiteY777" fmla="*/ 1569149 h 6858000"/>
              <a:gd name="connsiteX778" fmla="*/ 6365621 w 12192000"/>
              <a:gd name="connsiteY778" fmla="*/ 1048449 h 6858000"/>
              <a:gd name="connsiteX779" fmla="*/ 6886321 w 12192000"/>
              <a:gd name="connsiteY779" fmla="*/ 1048449 h 6858000"/>
              <a:gd name="connsiteX780" fmla="*/ 6356223 w 12192000"/>
              <a:gd name="connsiteY780" fmla="*/ 1569149 h 6858000"/>
              <a:gd name="connsiteX781" fmla="*/ 5835650 w 12192000"/>
              <a:gd name="connsiteY781" fmla="*/ 1569149 h 6858000"/>
              <a:gd name="connsiteX782" fmla="*/ 5835650 w 12192000"/>
              <a:gd name="connsiteY782" fmla="*/ 1048449 h 6858000"/>
              <a:gd name="connsiteX783" fmla="*/ 6356350 w 12192000"/>
              <a:gd name="connsiteY783" fmla="*/ 1048449 h 6858000"/>
              <a:gd name="connsiteX784" fmla="*/ 5826125 w 12192000"/>
              <a:gd name="connsiteY784" fmla="*/ 1569149 h 6858000"/>
              <a:gd name="connsiteX785" fmla="*/ 5305425 w 12192000"/>
              <a:gd name="connsiteY785" fmla="*/ 1569149 h 6858000"/>
              <a:gd name="connsiteX786" fmla="*/ 5305425 w 12192000"/>
              <a:gd name="connsiteY786" fmla="*/ 1048449 h 6858000"/>
              <a:gd name="connsiteX787" fmla="*/ 5826125 w 12192000"/>
              <a:gd name="connsiteY787" fmla="*/ 1048449 h 6858000"/>
              <a:gd name="connsiteX788" fmla="*/ 5296027 w 12192000"/>
              <a:gd name="connsiteY788" fmla="*/ 1569149 h 6858000"/>
              <a:gd name="connsiteX789" fmla="*/ 4775327 w 12192000"/>
              <a:gd name="connsiteY789" fmla="*/ 1569149 h 6858000"/>
              <a:gd name="connsiteX790" fmla="*/ 4775327 w 12192000"/>
              <a:gd name="connsiteY790" fmla="*/ 1048449 h 6858000"/>
              <a:gd name="connsiteX791" fmla="*/ 5296027 w 12192000"/>
              <a:gd name="connsiteY791" fmla="*/ 1048449 h 6858000"/>
              <a:gd name="connsiteX792" fmla="*/ 4765929 w 12192000"/>
              <a:gd name="connsiteY792" fmla="*/ 1569149 h 6858000"/>
              <a:gd name="connsiteX793" fmla="*/ 4245229 w 12192000"/>
              <a:gd name="connsiteY793" fmla="*/ 1569149 h 6858000"/>
              <a:gd name="connsiteX794" fmla="*/ 4245229 w 12192000"/>
              <a:gd name="connsiteY794" fmla="*/ 1048449 h 6858000"/>
              <a:gd name="connsiteX795" fmla="*/ 4765929 w 12192000"/>
              <a:gd name="connsiteY795" fmla="*/ 1048449 h 6858000"/>
              <a:gd name="connsiteX796" fmla="*/ 4235895 w 12192000"/>
              <a:gd name="connsiteY796" fmla="*/ 1569149 h 6858000"/>
              <a:gd name="connsiteX797" fmla="*/ 3715195 w 12192000"/>
              <a:gd name="connsiteY797" fmla="*/ 1569149 h 6858000"/>
              <a:gd name="connsiteX798" fmla="*/ 3715195 w 12192000"/>
              <a:gd name="connsiteY798" fmla="*/ 1048449 h 6858000"/>
              <a:gd name="connsiteX799" fmla="*/ 4235895 w 12192000"/>
              <a:gd name="connsiteY799" fmla="*/ 1048449 h 6858000"/>
              <a:gd name="connsiteX800" fmla="*/ 3705797 w 12192000"/>
              <a:gd name="connsiteY800" fmla="*/ 1569149 h 6858000"/>
              <a:gd name="connsiteX801" fmla="*/ 3185097 w 12192000"/>
              <a:gd name="connsiteY801" fmla="*/ 1569149 h 6858000"/>
              <a:gd name="connsiteX802" fmla="*/ 3185097 w 12192000"/>
              <a:gd name="connsiteY802" fmla="*/ 1048449 h 6858000"/>
              <a:gd name="connsiteX803" fmla="*/ 3705797 w 12192000"/>
              <a:gd name="connsiteY803" fmla="*/ 1048449 h 6858000"/>
              <a:gd name="connsiteX804" fmla="*/ 3175699 w 12192000"/>
              <a:gd name="connsiteY804" fmla="*/ 1569149 h 6858000"/>
              <a:gd name="connsiteX805" fmla="*/ 2654999 w 12192000"/>
              <a:gd name="connsiteY805" fmla="*/ 1569149 h 6858000"/>
              <a:gd name="connsiteX806" fmla="*/ 2654999 w 12192000"/>
              <a:gd name="connsiteY806" fmla="*/ 1048449 h 6858000"/>
              <a:gd name="connsiteX807" fmla="*/ 3175699 w 12192000"/>
              <a:gd name="connsiteY807" fmla="*/ 1048449 h 6858000"/>
              <a:gd name="connsiteX808" fmla="*/ 2645601 w 12192000"/>
              <a:gd name="connsiteY808" fmla="*/ 1569149 h 6858000"/>
              <a:gd name="connsiteX809" fmla="*/ 2124901 w 12192000"/>
              <a:gd name="connsiteY809" fmla="*/ 1569149 h 6858000"/>
              <a:gd name="connsiteX810" fmla="*/ 2124901 w 12192000"/>
              <a:gd name="connsiteY810" fmla="*/ 1048449 h 6858000"/>
              <a:gd name="connsiteX811" fmla="*/ 2645601 w 12192000"/>
              <a:gd name="connsiteY811" fmla="*/ 1048449 h 6858000"/>
              <a:gd name="connsiteX812" fmla="*/ 2115503 w 12192000"/>
              <a:gd name="connsiteY812" fmla="*/ 1569149 h 6858000"/>
              <a:gd name="connsiteX813" fmla="*/ 1594803 w 12192000"/>
              <a:gd name="connsiteY813" fmla="*/ 1569149 h 6858000"/>
              <a:gd name="connsiteX814" fmla="*/ 1594803 w 12192000"/>
              <a:gd name="connsiteY814" fmla="*/ 1048449 h 6858000"/>
              <a:gd name="connsiteX815" fmla="*/ 2115503 w 12192000"/>
              <a:gd name="connsiteY815" fmla="*/ 1048449 h 6858000"/>
              <a:gd name="connsiteX816" fmla="*/ 1585405 w 12192000"/>
              <a:gd name="connsiteY816" fmla="*/ 1569149 h 6858000"/>
              <a:gd name="connsiteX817" fmla="*/ 1064705 w 12192000"/>
              <a:gd name="connsiteY817" fmla="*/ 1569149 h 6858000"/>
              <a:gd name="connsiteX818" fmla="*/ 1064705 w 12192000"/>
              <a:gd name="connsiteY818" fmla="*/ 1048449 h 6858000"/>
              <a:gd name="connsiteX819" fmla="*/ 1585405 w 12192000"/>
              <a:gd name="connsiteY819" fmla="*/ 1048449 h 6858000"/>
              <a:gd name="connsiteX820" fmla="*/ 1585405 w 12192000"/>
              <a:gd name="connsiteY820" fmla="*/ 1578674 h 6858000"/>
              <a:gd name="connsiteX821" fmla="*/ 1585405 w 12192000"/>
              <a:gd name="connsiteY821" fmla="*/ 2099374 h 6858000"/>
              <a:gd name="connsiteX822" fmla="*/ 1064705 w 12192000"/>
              <a:gd name="connsiteY822" fmla="*/ 2099374 h 6858000"/>
              <a:gd name="connsiteX823" fmla="*/ 1064705 w 12192000"/>
              <a:gd name="connsiteY823" fmla="*/ 1578674 h 6858000"/>
              <a:gd name="connsiteX824" fmla="*/ 1585405 w 12192000"/>
              <a:gd name="connsiteY824" fmla="*/ 2108772 h 6858000"/>
              <a:gd name="connsiteX825" fmla="*/ 1585405 w 12192000"/>
              <a:gd name="connsiteY825" fmla="*/ 2629472 h 6858000"/>
              <a:gd name="connsiteX826" fmla="*/ 1064705 w 12192000"/>
              <a:gd name="connsiteY826" fmla="*/ 2629472 h 6858000"/>
              <a:gd name="connsiteX827" fmla="*/ 1064705 w 12192000"/>
              <a:gd name="connsiteY827" fmla="*/ 2108772 h 6858000"/>
              <a:gd name="connsiteX828" fmla="*/ 1585405 w 12192000"/>
              <a:gd name="connsiteY828" fmla="*/ 2638806 h 6858000"/>
              <a:gd name="connsiteX829" fmla="*/ 1585405 w 12192000"/>
              <a:gd name="connsiteY829" fmla="*/ 3159506 h 6858000"/>
              <a:gd name="connsiteX830" fmla="*/ 1064705 w 12192000"/>
              <a:gd name="connsiteY830" fmla="*/ 3159506 h 6858000"/>
              <a:gd name="connsiteX831" fmla="*/ 1064705 w 12192000"/>
              <a:gd name="connsiteY831" fmla="*/ 2638806 h 6858000"/>
              <a:gd name="connsiteX832" fmla="*/ 1585405 w 12192000"/>
              <a:gd name="connsiteY832" fmla="*/ 3168904 h 6858000"/>
              <a:gd name="connsiteX833" fmla="*/ 1585405 w 12192000"/>
              <a:gd name="connsiteY833" fmla="*/ 3689604 h 6858000"/>
              <a:gd name="connsiteX834" fmla="*/ 1064705 w 12192000"/>
              <a:gd name="connsiteY834" fmla="*/ 3689604 h 6858000"/>
              <a:gd name="connsiteX835" fmla="*/ 1064705 w 12192000"/>
              <a:gd name="connsiteY835" fmla="*/ 3168650 h 6858000"/>
              <a:gd name="connsiteX836" fmla="*/ 1585405 w 12192000"/>
              <a:gd name="connsiteY836" fmla="*/ 3699002 h 6858000"/>
              <a:gd name="connsiteX837" fmla="*/ 1585405 w 12192000"/>
              <a:gd name="connsiteY837" fmla="*/ 4219702 h 6858000"/>
              <a:gd name="connsiteX838" fmla="*/ 1064705 w 12192000"/>
              <a:gd name="connsiteY838" fmla="*/ 4219702 h 6858000"/>
              <a:gd name="connsiteX839" fmla="*/ 1064705 w 12192000"/>
              <a:gd name="connsiteY839" fmla="*/ 3699002 h 6858000"/>
              <a:gd name="connsiteX840" fmla="*/ 1585405 w 12192000"/>
              <a:gd name="connsiteY840" fmla="*/ 4229100 h 6858000"/>
              <a:gd name="connsiteX841" fmla="*/ 1585405 w 12192000"/>
              <a:gd name="connsiteY841" fmla="*/ 4749800 h 6858000"/>
              <a:gd name="connsiteX842" fmla="*/ 1064705 w 12192000"/>
              <a:gd name="connsiteY842" fmla="*/ 4749800 h 6858000"/>
              <a:gd name="connsiteX843" fmla="*/ 1064705 w 12192000"/>
              <a:gd name="connsiteY843" fmla="*/ 4229100 h 6858000"/>
              <a:gd name="connsiteX844" fmla="*/ 1585405 w 12192000"/>
              <a:gd name="connsiteY844" fmla="*/ 4759198 h 6858000"/>
              <a:gd name="connsiteX845" fmla="*/ 1585405 w 12192000"/>
              <a:gd name="connsiteY845" fmla="*/ 5279898 h 6858000"/>
              <a:gd name="connsiteX846" fmla="*/ 1064705 w 12192000"/>
              <a:gd name="connsiteY846" fmla="*/ 5279898 h 6858000"/>
              <a:gd name="connsiteX847" fmla="*/ 1064705 w 12192000"/>
              <a:gd name="connsiteY847" fmla="*/ 4759198 h 6858000"/>
              <a:gd name="connsiteX848" fmla="*/ 1585405 w 12192000"/>
              <a:gd name="connsiteY848" fmla="*/ 5289233 h 6858000"/>
              <a:gd name="connsiteX849" fmla="*/ 1585405 w 12192000"/>
              <a:gd name="connsiteY849" fmla="*/ 5809933 h 6858000"/>
              <a:gd name="connsiteX850" fmla="*/ 1064705 w 12192000"/>
              <a:gd name="connsiteY850" fmla="*/ 5809933 h 6858000"/>
              <a:gd name="connsiteX851" fmla="*/ 1064705 w 12192000"/>
              <a:gd name="connsiteY851" fmla="*/ 5289233 h 6858000"/>
              <a:gd name="connsiteX852" fmla="*/ 1594930 w 12192000"/>
              <a:gd name="connsiteY852" fmla="*/ 5289233 h 6858000"/>
              <a:gd name="connsiteX853" fmla="*/ 2115630 w 12192000"/>
              <a:gd name="connsiteY853" fmla="*/ 5289233 h 6858000"/>
              <a:gd name="connsiteX854" fmla="*/ 2115630 w 12192000"/>
              <a:gd name="connsiteY854" fmla="*/ 5809933 h 6858000"/>
              <a:gd name="connsiteX855" fmla="*/ 1594930 w 12192000"/>
              <a:gd name="connsiteY855" fmla="*/ 5809933 h 6858000"/>
              <a:gd name="connsiteX856" fmla="*/ 2125028 w 12192000"/>
              <a:gd name="connsiteY856" fmla="*/ 5289233 h 6858000"/>
              <a:gd name="connsiteX857" fmla="*/ 2645728 w 12192000"/>
              <a:gd name="connsiteY857" fmla="*/ 5289233 h 6858000"/>
              <a:gd name="connsiteX858" fmla="*/ 2645728 w 12192000"/>
              <a:gd name="connsiteY858" fmla="*/ 5809933 h 6858000"/>
              <a:gd name="connsiteX859" fmla="*/ 2125028 w 12192000"/>
              <a:gd name="connsiteY859" fmla="*/ 5809933 h 6858000"/>
              <a:gd name="connsiteX860" fmla="*/ 2655126 w 12192000"/>
              <a:gd name="connsiteY860" fmla="*/ 5289233 h 6858000"/>
              <a:gd name="connsiteX861" fmla="*/ 3175826 w 12192000"/>
              <a:gd name="connsiteY861" fmla="*/ 5289233 h 6858000"/>
              <a:gd name="connsiteX862" fmla="*/ 3175826 w 12192000"/>
              <a:gd name="connsiteY862" fmla="*/ 5809933 h 6858000"/>
              <a:gd name="connsiteX863" fmla="*/ 2655126 w 12192000"/>
              <a:gd name="connsiteY863" fmla="*/ 5809933 h 6858000"/>
              <a:gd name="connsiteX864" fmla="*/ 3185224 w 12192000"/>
              <a:gd name="connsiteY864" fmla="*/ 5289233 h 6858000"/>
              <a:gd name="connsiteX865" fmla="*/ 3705924 w 12192000"/>
              <a:gd name="connsiteY865" fmla="*/ 5289233 h 6858000"/>
              <a:gd name="connsiteX866" fmla="*/ 3705924 w 12192000"/>
              <a:gd name="connsiteY866" fmla="*/ 5809933 h 6858000"/>
              <a:gd name="connsiteX867" fmla="*/ 3185224 w 12192000"/>
              <a:gd name="connsiteY867" fmla="*/ 5809933 h 6858000"/>
              <a:gd name="connsiteX868" fmla="*/ 3715322 w 12192000"/>
              <a:gd name="connsiteY868" fmla="*/ 5289233 h 6858000"/>
              <a:gd name="connsiteX869" fmla="*/ 4236022 w 12192000"/>
              <a:gd name="connsiteY869" fmla="*/ 5289233 h 6858000"/>
              <a:gd name="connsiteX870" fmla="*/ 4236022 w 12192000"/>
              <a:gd name="connsiteY870" fmla="*/ 5809933 h 6858000"/>
              <a:gd name="connsiteX871" fmla="*/ 3715322 w 12192000"/>
              <a:gd name="connsiteY871" fmla="*/ 5809933 h 6858000"/>
              <a:gd name="connsiteX872" fmla="*/ 4245420 w 12192000"/>
              <a:gd name="connsiteY872" fmla="*/ 5289233 h 6858000"/>
              <a:gd name="connsiteX873" fmla="*/ 4766120 w 12192000"/>
              <a:gd name="connsiteY873" fmla="*/ 5289233 h 6858000"/>
              <a:gd name="connsiteX874" fmla="*/ 4766120 w 12192000"/>
              <a:gd name="connsiteY874" fmla="*/ 5809933 h 6858000"/>
              <a:gd name="connsiteX875" fmla="*/ 4245420 w 12192000"/>
              <a:gd name="connsiteY875" fmla="*/ 5809933 h 6858000"/>
              <a:gd name="connsiteX876" fmla="*/ 4775454 w 12192000"/>
              <a:gd name="connsiteY876" fmla="*/ 5289233 h 6858000"/>
              <a:gd name="connsiteX877" fmla="*/ 5296154 w 12192000"/>
              <a:gd name="connsiteY877" fmla="*/ 5289233 h 6858000"/>
              <a:gd name="connsiteX878" fmla="*/ 5296154 w 12192000"/>
              <a:gd name="connsiteY878" fmla="*/ 5809933 h 6858000"/>
              <a:gd name="connsiteX879" fmla="*/ 4775454 w 12192000"/>
              <a:gd name="connsiteY879" fmla="*/ 5809933 h 6858000"/>
              <a:gd name="connsiteX880" fmla="*/ 5305552 w 12192000"/>
              <a:gd name="connsiteY880" fmla="*/ 5289233 h 6858000"/>
              <a:gd name="connsiteX881" fmla="*/ 5826252 w 12192000"/>
              <a:gd name="connsiteY881" fmla="*/ 5289233 h 6858000"/>
              <a:gd name="connsiteX882" fmla="*/ 5826252 w 12192000"/>
              <a:gd name="connsiteY882" fmla="*/ 5809933 h 6858000"/>
              <a:gd name="connsiteX883" fmla="*/ 5305552 w 12192000"/>
              <a:gd name="connsiteY883" fmla="*/ 5809933 h 6858000"/>
              <a:gd name="connsiteX884" fmla="*/ 5835650 w 12192000"/>
              <a:gd name="connsiteY884" fmla="*/ 5289233 h 6858000"/>
              <a:gd name="connsiteX885" fmla="*/ 6356350 w 12192000"/>
              <a:gd name="connsiteY885" fmla="*/ 5289233 h 6858000"/>
              <a:gd name="connsiteX886" fmla="*/ 6356350 w 12192000"/>
              <a:gd name="connsiteY886" fmla="*/ 5809933 h 6858000"/>
              <a:gd name="connsiteX887" fmla="*/ 5835650 w 12192000"/>
              <a:gd name="connsiteY887" fmla="*/ 5809933 h 6858000"/>
              <a:gd name="connsiteX888" fmla="*/ 6365748 w 12192000"/>
              <a:gd name="connsiteY888" fmla="*/ 5289233 h 6858000"/>
              <a:gd name="connsiteX889" fmla="*/ 6886448 w 12192000"/>
              <a:gd name="connsiteY889" fmla="*/ 5289233 h 6858000"/>
              <a:gd name="connsiteX890" fmla="*/ 6886448 w 12192000"/>
              <a:gd name="connsiteY890" fmla="*/ 5809933 h 6858000"/>
              <a:gd name="connsiteX891" fmla="*/ 6365748 w 12192000"/>
              <a:gd name="connsiteY891" fmla="*/ 5809933 h 6858000"/>
              <a:gd name="connsiteX892" fmla="*/ 6895846 w 12192000"/>
              <a:gd name="connsiteY892" fmla="*/ 5289233 h 6858000"/>
              <a:gd name="connsiteX893" fmla="*/ 7416546 w 12192000"/>
              <a:gd name="connsiteY893" fmla="*/ 5289233 h 6858000"/>
              <a:gd name="connsiteX894" fmla="*/ 7416546 w 12192000"/>
              <a:gd name="connsiteY894" fmla="*/ 5809933 h 6858000"/>
              <a:gd name="connsiteX895" fmla="*/ 6895846 w 12192000"/>
              <a:gd name="connsiteY895" fmla="*/ 5809933 h 6858000"/>
              <a:gd name="connsiteX896" fmla="*/ 7425944 w 12192000"/>
              <a:gd name="connsiteY896" fmla="*/ 5289233 h 6858000"/>
              <a:gd name="connsiteX897" fmla="*/ 7946644 w 12192000"/>
              <a:gd name="connsiteY897" fmla="*/ 5289233 h 6858000"/>
              <a:gd name="connsiteX898" fmla="*/ 7946644 w 12192000"/>
              <a:gd name="connsiteY898" fmla="*/ 5809933 h 6858000"/>
              <a:gd name="connsiteX899" fmla="*/ 7425944 w 12192000"/>
              <a:gd name="connsiteY899" fmla="*/ 5809933 h 6858000"/>
              <a:gd name="connsiteX900" fmla="*/ 7955979 w 12192000"/>
              <a:gd name="connsiteY900" fmla="*/ 5289233 h 6858000"/>
              <a:gd name="connsiteX901" fmla="*/ 8476679 w 12192000"/>
              <a:gd name="connsiteY901" fmla="*/ 5289233 h 6858000"/>
              <a:gd name="connsiteX902" fmla="*/ 8476679 w 12192000"/>
              <a:gd name="connsiteY902" fmla="*/ 5809933 h 6858000"/>
              <a:gd name="connsiteX903" fmla="*/ 7955979 w 12192000"/>
              <a:gd name="connsiteY903" fmla="*/ 5809933 h 6858000"/>
              <a:gd name="connsiteX904" fmla="*/ 8486077 w 12192000"/>
              <a:gd name="connsiteY904" fmla="*/ 5289233 h 6858000"/>
              <a:gd name="connsiteX905" fmla="*/ 9006777 w 12192000"/>
              <a:gd name="connsiteY905" fmla="*/ 5289233 h 6858000"/>
              <a:gd name="connsiteX906" fmla="*/ 9006777 w 12192000"/>
              <a:gd name="connsiteY906" fmla="*/ 5809933 h 6858000"/>
              <a:gd name="connsiteX907" fmla="*/ 8486077 w 12192000"/>
              <a:gd name="connsiteY907" fmla="*/ 5809933 h 6858000"/>
              <a:gd name="connsiteX908" fmla="*/ 9016174 w 12192000"/>
              <a:gd name="connsiteY908" fmla="*/ 5289233 h 6858000"/>
              <a:gd name="connsiteX909" fmla="*/ 9536874 w 12192000"/>
              <a:gd name="connsiteY909" fmla="*/ 5289233 h 6858000"/>
              <a:gd name="connsiteX910" fmla="*/ 9536874 w 12192000"/>
              <a:gd name="connsiteY910" fmla="*/ 5809933 h 6858000"/>
              <a:gd name="connsiteX911" fmla="*/ 9016174 w 12192000"/>
              <a:gd name="connsiteY911" fmla="*/ 5809933 h 6858000"/>
              <a:gd name="connsiteX912" fmla="*/ 9546272 w 12192000"/>
              <a:gd name="connsiteY912" fmla="*/ 5289233 h 6858000"/>
              <a:gd name="connsiteX913" fmla="*/ 10066972 w 12192000"/>
              <a:gd name="connsiteY913" fmla="*/ 5289233 h 6858000"/>
              <a:gd name="connsiteX914" fmla="*/ 10066972 w 12192000"/>
              <a:gd name="connsiteY914" fmla="*/ 5809933 h 6858000"/>
              <a:gd name="connsiteX915" fmla="*/ 9546272 w 12192000"/>
              <a:gd name="connsiteY915" fmla="*/ 5809933 h 6858000"/>
              <a:gd name="connsiteX916" fmla="*/ 10076370 w 12192000"/>
              <a:gd name="connsiteY916" fmla="*/ 5289233 h 6858000"/>
              <a:gd name="connsiteX917" fmla="*/ 10597070 w 12192000"/>
              <a:gd name="connsiteY917" fmla="*/ 5289233 h 6858000"/>
              <a:gd name="connsiteX918" fmla="*/ 10597070 w 12192000"/>
              <a:gd name="connsiteY918" fmla="*/ 5809933 h 6858000"/>
              <a:gd name="connsiteX919" fmla="*/ 10076370 w 12192000"/>
              <a:gd name="connsiteY919" fmla="*/ 5809933 h 6858000"/>
              <a:gd name="connsiteX920" fmla="*/ 10606469 w 12192000"/>
              <a:gd name="connsiteY920" fmla="*/ 5289233 h 6858000"/>
              <a:gd name="connsiteX921" fmla="*/ 11127169 w 12192000"/>
              <a:gd name="connsiteY921" fmla="*/ 5289233 h 6858000"/>
              <a:gd name="connsiteX922" fmla="*/ 11127169 w 12192000"/>
              <a:gd name="connsiteY922" fmla="*/ 5809933 h 6858000"/>
              <a:gd name="connsiteX923" fmla="*/ 10606469 w 12192000"/>
              <a:gd name="connsiteY923" fmla="*/ 5809933 h 6858000"/>
              <a:gd name="connsiteX924" fmla="*/ 10606469 w 12192000"/>
              <a:gd name="connsiteY924" fmla="*/ 5279708 h 6858000"/>
              <a:gd name="connsiteX925" fmla="*/ 10606469 w 12192000"/>
              <a:gd name="connsiteY925" fmla="*/ 4759008 h 6858000"/>
              <a:gd name="connsiteX926" fmla="*/ 11127169 w 12192000"/>
              <a:gd name="connsiteY926" fmla="*/ 4759008 h 6858000"/>
              <a:gd name="connsiteX927" fmla="*/ 11127169 w 12192000"/>
              <a:gd name="connsiteY927" fmla="*/ 5279708 h 6858000"/>
              <a:gd name="connsiteX928" fmla="*/ 10606469 w 12192000"/>
              <a:gd name="connsiteY928" fmla="*/ 4749673 h 6858000"/>
              <a:gd name="connsiteX929" fmla="*/ 10606469 w 12192000"/>
              <a:gd name="connsiteY929" fmla="*/ 4229100 h 6858000"/>
              <a:gd name="connsiteX930" fmla="*/ 11127169 w 12192000"/>
              <a:gd name="connsiteY930" fmla="*/ 4229100 h 6858000"/>
              <a:gd name="connsiteX931" fmla="*/ 11127169 w 12192000"/>
              <a:gd name="connsiteY931" fmla="*/ 4749800 h 6858000"/>
              <a:gd name="connsiteX932" fmla="*/ 10606469 w 12192000"/>
              <a:gd name="connsiteY932" fmla="*/ 4219575 h 6858000"/>
              <a:gd name="connsiteX933" fmla="*/ 10606469 w 12192000"/>
              <a:gd name="connsiteY933" fmla="*/ 3698875 h 6858000"/>
              <a:gd name="connsiteX934" fmla="*/ 11127169 w 12192000"/>
              <a:gd name="connsiteY934" fmla="*/ 3698875 h 6858000"/>
              <a:gd name="connsiteX935" fmla="*/ 11127169 w 12192000"/>
              <a:gd name="connsiteY935" fmla="*/ 4219575 h 6858000"/>
              <a:gd name="connsiteX936" fmla="*/ 10606469 w 12192000"/>
              <a:gd name="connsiteY936" fmla="*/ 3689477 h 6858000"/>
              <a:gd name="connsiteX937" fmla="*/ 10606469 w 12192000"/>
              <a:gd name="connsiteY937" fmla="*/ 3168650 h 6858000"/>
              <a:gd name="connsiteX938" fmla="*/ 11127169 w 12192000"/>
              <a:gd name="connsiteY938" fmla="*/ 3168650 h 6858000"/>
              <a:gd name="connsiteX939" fmla="*/ 11127169 w 12192000"/>
              <a:gd name="connsiteY939" fmla="*/ 3689350 h 6858000"/>
              <a:gd name="connsiteX940" fmla="*/ 10606469 w 12192000"/>
              <a:gd name="connsiteY940" fmla="*/ 3159379 h 6858000"/>
              <a:gd name="connsiteX941" fmla="*/ 10606469 w 12192000"/>
              <a:gd name="connsiteY941" fmla="*/ 2638679 h 6858000"/>
              <a:gd name="connsiteX942" fmla="*/ 11127169 w 12192000"/>
              <a:gd name="connsiteY942" fmla="*/ 2638679 h 6858000"/>
              <a:gd name="connsiteX943" fmla="*/ 11127169 w 12192000"/>
              <a:gd name="connsiteY943" fmla="*/ 3159379 h 6858000"/>
              <a:gd name="connsiteX944" fmla="*/ 10606469 w 12192000"/>
              <a:gd name="connsiteY944" fmla="*/ 2629281 h 6858000"/>
              <a:gd name="connsiteX945" fmla="*/ 10606469 w 12192000"/>
              <a:gd name="connsiteY945" fmla="*/ 2108581 h 6858000"/>
              <a:gd name="connsiteX946" fmla="*/ 11127169 w 12192000"/>
              <a:gd name="connsiteY946" fmla="*/ 2108581 h 6858000"/>
              <a:gd name="connsiteX947" fmla="*/ 11127169 w 12192000"/>
              <a:gd name="connsiteY947" fmla="*/ 2629281 h 6858000"/>
              <a:gd name="connsiteX948" fmla="*/ 10606469 w 12192000"/>
              <a:gd name="connsiteY948" fmla="*/ 2099247 h 6858000"/>
              <a:gd name="connsiteX949" fmla="*/ 10606469 w 12192000"/>
              <a:gd name="connsiteY949" fmla="*/ 1578547 h 6858000"/>
              <a:gd name="connsiteX950" fmla="*/ 11127169 w 12192000"/>
              <a:gd name="connsiteY950" fmla="*/ 1578547 h 6858000"/>
              <a:gd name="connsiteX951" fmla="*/ 11127169 w 12192000"/>
              <a:gd name="connsiteY951" fmla="*/ 2099247 h 6858000"/>
              <a:gd name="connsiteX952" fmla="*/ 10606469 w 12192000"/>
              <a:gd name="connsiteY952" fmla="*/ 1569149 h 6858000"/>
              <a:gd name="connsiteX953" fmla="*/ 10606469 w 12192000"/>
              <a:gd name="connsiteY953" fmla="*/ 1048449 h 6858000"/>
              <a:gd name="connsiteX954" fmla="*/ 11127169 w 12192000"/>
              <a:gd name="connsiteY954" fmla="*/ 1048449 h 6858000"/>
              <a:gd name="connsiteX955" fmla="*/ 11127169 w 12192000"/>
              <a:gd name="connsiteY955" fmla="*/ 1569149 h 6858000"/>
              <a:gd name="connsiteX956" fmla="*/ 10596944 w 12192000"/>
              <a:gd name="connsiteY956" fmla="*/ 518478 h 6858000"/>
              <a:gd name="connsiteX957" fmla="*/ 10596944 w 12192000"/>
              <a:gd name="connsiteY957" fmla="*/ 1039177 h 6858000"/>
              <a:gd name="connsiteX958" fmla="*/ 10076244 w 12192000"/>
              <a:gd name="connsiteY958" fmla="*/ 1039177 h 6858000"/>
              <a:gd name="connsiteX959" fmla="*/ 10076244 w 12192000"/>
              <a:gd name="connsiteY959" fmla="*/ 518478 h 6858000"/>
              <a:gd name="connsiteX960" fmla="*/ 10066845 w 12192000"/>
              <a:gd name="connsiteY960" fmla="*/ 518478 h 6858000"/>
              <a:gd name="connsiteX961" fmla="*/ 10066845 w 12192000"/>
              <a:gd name="connsiteY961" fmla="*/ 1039177 h 6858000"/>
              <a:gd name="connsiteX962" fmla="*/ 9546145 w 12192000"/>
              <a:gd name="connsiteY962" fmla="*/ 1039177 h 6858000"/>
              <a:gd name="connsiteX963" fmla="*/ 9546145 w 12192000"/>
              <a:gd name="connsiteY963" fmla="*/ 518478 h 6858000"/>
              <a:gd name="connsiteX964" fmla="*/ 9536747 w 12192000"/>
              <a:gd name="connsiteY964" fmla="*/ 518478 h 6858000"/>
              <a:gd name="connsiteX965" fmla="*/ 9536747 w 12192000"/>
              <a:gd name="connsiteY965" fmla="*/ 1039177 h 6858000"/>
              <a:gd name="connsiteX966" fmla="*/ 9016047 w 12192000"/>
              <a:gd name="connsiteY966" fmla="*/ 1039177 h 6858000"/>
              <a:gd name="connsiteX967" fmla="*/ 9016047 w 12192000"/>
              <a:gd name="connsiteY967" fmla="*/ 518478 h 6858000"/>
              <a:gd name="connsiteX968" fmla="*/ 9006649 w 12192000"/>
              <a:gd name="connsiteY968" fmla="*/ 518478 h 6858000"/>
              <a:gd name="connsiteX969" fmla="*/ 9006649 w 12192000"/>
              <a:gd name="connsiteY969" fmla="*/ 1039177 h 6858000"/>
              <a:gd name="connsiteX970" fmla="*/ 8485949 w 12192000"/>
              <a:gd name="connsiteY970" fmla="*/ 1039177 h 6858000"/>
              <a:gd name="connsiteX971" fmla="*/ 8485949 w 12192000"/>
              <a:gd name="connsiteY971" fmla="*/ 518478 h 6858000"/>
              <a:gd name="connsiteX972" fmla="*/ 8476552 w 12192000"/>
              <a:gd name="connsiteY972" fmla="*/ 518478 h 6858000"/>
              <a:gd name="connsiteX973" fmla="*/ 8476552 w 12192000"/>
              <a:gd name="connsiteY973" fmla="*/ 1039177 h 6858000"/>
              <a:gd name="connsiteX974" fmla="*/ 7955852 w 12192000"/>
              <a:gd name="connsiteY974" fmla="*/ 1039177 h 6858000"/>
              <a:gd name="connsiteX975" fmla="*/ 7955852 w 12192000"/>
              <a:gd name="connsiteY975" fmla="*/ 518478 h 6858000"/>
              <a:gd name="connsiteX976" fmla="*/ 7946454 w 12192000"/>
              <a:gd name="connsiteY976" fmla="*/ 518478 h 6858000"/>
              <a:gd name="connsiteX977" fmla="*/ 7946454 w 12192000"/>
              <a:gd name="connsiteY977" fmla="*/ 1039177 h 6858000"/>
              <a:gd name="connsiteX978" fmla="*/ 7425754 w 12192000"/>
              <a:gd name="connsiteY978" fmla="*/ 1039177 h 6858000"/>
              <a:gd name="connsiteX979" fmla="*/ 7425754 w 12192000"/>
              <a:gd name="connsiteY979" fmla="*/ 518478 h 6858000"/>
              <a:gd name="connsiteX980" fmla="*/ 7416419 w 12192000"/>
              <a:gd name="connsiteY980" fmla="*/ 518478 h 6858000"/>
              <a:gd name="connsiteX981" fmla="*/ 7416419 w 12192000"/>
              <a:gd name="connsiteY981" fmla="*/ 1039177 h 6858000"/>
              <a:gd name="connsiteX982" fmla="*/ 6895719 w 12192000"/>
              <a:gd name="connsiteY982" fmla="*/ 1039177 h 6858000"/>
              <a:gd name="connsiteX983" fmla="*/ 6895719 w 12192000"/>
              <a:gd name="connsiteY983" fmla="*/ 518478 h 6858000"/>
              <a:gd name="connsiteX984" fmla="*/ 6886321 w 12192000"/>
              <a:gd name="connsiteY984" fmla="*/ 518478 h 6858000"/>
              <a:gd name="connsiteX985" fmla="*/ 6886321 w 12192000"/>
              <a:gd name="connsiteY985" fmla="*/ 1039177 h 6858000"/>
              <a:gd name="connsiteX986" fmla="*/ 6365621 w 12192000"/>
              <a:gd name="connsiteY986" fmla="*/ 1039177 h 6858000"/>
              <a:gd name="connsiteX987" fmla="*/ 6365621 w 12192000"/>
              <a:gd name="connsiteY987" fmla="*/ 518478 h 6858000"/>
              <a:gd name="connsiteX988" fmla="*/ 6356223 w 12192000"/>
              <a:gd name="connsiteY988" fmla="*/ 518478 h 6858000"/>
              <a:gd name="connsiteX989" fmla="*/ 6356223 w 12192000"/>
              <a:gd name="connsiteY989" fmla="*/ 1039177 h 6858000"/>
              <a:gd name="connsiteX990" fmla="*/ 5835650 w 12192000"/>
              <a:gd name="connsiteY990" fmla="*/ 1039177 h 6858000"/>
              <a:gd name="connsiteX991" fmla="*/ 5835650 w 12192000"/>
              <a:gd name="connsiteY991" fmla="*/ 518478 h 6858000"/>
              <a:gd name="connsiteX992" fmla="*/ 5826125 w 12192000"/>
              <a:gd name="connsiteY992" fmla="*/ 518478 h 6858000"/>
              <a:gd name="connsiteX993" fmla="*/ 5826125 w 12192000"/>
              <a:gd name="connsiteY993" fmla="*/ 1039177 h 6858000"/>
              <a:gd name="connsiteX994" fmla="*/ 5305425 w 12192000"/>
              <a:gd name="connsiteY994" fmla="*/ 1039177 h 6858000"/>
              <a:gd name="connsiteX995" fmla="*/ 5305425 w 12192000"/>
              <a:gd name="connsiteY995" fmla="*/ 518478 h 6858000"/>
              <a:gd name="connsiteX996" fmla="*/ 5296027 w 12192000"/>
              <a:gd name="connsiteY996" fmla="*/ 518478 h 6858000"/>
              <a:gd name="connsiteX997" fmla="*/ 5296027 w 12192000"/>
              <a:gd name="connsiteY997" fmla="*/ 1039177 h 6858000"/>
              <a:gd name="connsiteX998" fmla="*/ 4775327 w 12192000"/>
              <a:gd name="connsiteY998" fmla="*/ 1039177 h 6858000"/>
              <a:gd name="connsiteX999" fmla="*/ 4775327 w 12192000"/>
              <a:gd name="connsiteY999" fmla="*/ 518478 h 6858000"/>
              <a:gd name="connsiteX1000" fmla="*/ 4765929 w 12192000"/>
              <a:gd name="connsiteY1000" fmla="*/ 518478 h 6858000"/>
              <a:gd name="connsiteX1001" fmla="*/ 4765929 w 12192000"/>
              <a:gd name="connsiteY1001" fmla="*/ 1039177 h 6858000"/>
              <a:gd name="connsiteX1002" fmla="*/ 4245229 w 12192000"/>
              <a:gd name="connsiteY1002" fmla="*/ 1039177 h 6858000"/>
              <a:gd name="connsiteX1003" fmla="*/ 4245229 w 12192000"/>
              <a:gd name="connsiteY1003" fmla="*/ 518478 h 6858000"/>
              <a:gd name="connsiteX1004" fmla="*/ 4235895 w 12192000"/>
              <a:gd name="connsiteY1004" fmla="*/ 518478 h 6858000"/>
              <a:gd name="connsiteX1005" fmla="*/ 4235895 w 12192000"/>
              <a:gd name="connsiteY1005" fmla="*/ 1039177 h 6858000"/>
              <a:gd name="connsiteX1006" fmla="*/ 3715195 w 12192000"/>
              <a:gd name="connsiteY1006" fmla="*/ 1039177 h 6858000"/>
              <a:gd name="connsiteX1007" fmla="*/ 3715195 w 12192000"/>
              <a:gd name="connsiteY1007" fmla="*/ 518478 h 6858000"/>
              <a:gd name="connsiteX1008" fmla="*/ 3705797 w 12192000"/>
              <a:gd name="connsiteY1008" fmla="*/ 518478 h 6858000"/>
              <a:gd name="connsiteX1009" fmla="*/ 3705797 w 12192000"/>
              <a:gd name="connsiteY1009" fmla="*/ 1039177 h 6858000"/>
              <a:gd name="connsiteX1010" fmla="*/ 3185097 w 12192000"/>
              <a:gd name="connsiteY1010" fmla="*/ 1039177 h 6858000"/>
              <a:gd name="connsiteX1011" fmla="*/ 3185097 w 12192000"/>
              <a:gd name="connsiteY1011" fmla="*/ 518478 h 6858000"/>
              <a:gd name="connsiteX1012" fmla="*/ 3175699 w 12192000"/>
              <a:gd name="connsiteY1012" fmla="*/ 518478 h 6858000"/>
              <a:gd name="connsiteX1013" fmla="*/ 3175699 w 12192000"/>
              <a:gd name="connsiteY1013" fmla="*/ 1039177 h 6858000"/>
              <a:gd name="connsiteX1014" fmla="*/ 2654999 w 12192000"/>
              <a:gd name="connsiteY1014" fmla="*/ 1039177 h 6858000"/>
              <a:gd name="connsiteX1015" fmla="*/ 2654999 w 12192000"/>
              <a:gd name="connsiteY1015" fmla="*/ 518478 h 6858000"/>
              <a:gd name="connsiteX1016" fmla="*/ 2645601 w 12192000"/>
              <a:gd name="connsiteY1016" fmla="*/ 518478 h 6858000"/>
              <a:gd name="connsiteX1017" fmla="*/ 2645601 w 12192000"/>
              <a:gd name="connsiteY1017" fmla="*/ 1039177 h 6858000"/>
              <a:gd name="connsiteX1018" fmla="*/ 2124901 w 12192000"/>
              <a:gd name="connsiteY1018" fmla="*/ 1039177 h 6858000"/>
              <a:gd name="connsiteX1019" fmla="*/ 2124901 w 12192000"/>
              <a:gd name="connsiteY1019" fmla="*/ 518478 h 6858000"/>
              <a:gd name="connsiteX1020" fmla="*/ 2115503 w 12192000"/>
              <a:gd name="connsiteY1020" fmla="*/ 518478 h 6858000"/>
              <a:gd name="connsiteX1021" fmla="*/ 2115503 w 12192000"/>
              <a:gd name="connsiteY1021" fmla="*/ 1039177 h 6858000"/>
              <a:gd name="connsiteX1022" fmla="*/ 1594803 w 12192000"/>
              <a:gd name="connsiteY1022" fmla="*/ 1039177 h 6858000"/>
              <a:gd name="connsiteX1023" fmla="*/ 1594803 w 12192000"/>
              <a:gd name="connsiteY1023" fmla="*/ 518478 h 6858000"/>
              <a:gd name="connsiteX1024" fmla="*/ 1585405 w 12192000"/>
              <a:gd name="connsiteY1024" fmla="*/ 518478 h 6858000"/>
              <a:gd name="connsiteX1025" fmla="*/ 1585405 w 12192000"/>
              <a:gd name="connsiteY1025" fmla="*/ 1039177 h 6858000"/>
              <a:gd name="connsiteX1026" fmla="*/ 1064705 w 12192000"/>
              <a:gd name="connsiteY1026" fmla="*/ 1039177 h 6858000"/>
              <a:gd name="connsiteX1027" fmla="*/ 1064705 w 12192000"/>
              <a:gd name="connsiteY1027" fmla="*/ 518478 h 6858000"/>
              <a:gd name="connsiteX1028" fmla="*/ 534797 w 12192000"/>
              <a:gd name="connsiteY1028" fmla="*/ 518478 h 6858000"/>
              <a:gd name="connsiteX1029" fmla="*/ 1055497 w 12192000"/>
              <a:gd name="connsiteY1029" fmla="*/ 518478 h 6858000"/>
              <a:gd name="connsiteX1030" fmla="*/ 1055497 w 12192000"/>
              <a:gd name="connsiteY1030" fmla="*/ 1039177 h 6858000"/>
              <a:gd name="connsiteX1031" fmla="*/ 534797 w 12192000"/>
              <a:gd name="connsiteY1031" fmla="*/ 1039177 h 6858000"/>
              <a:gd name="connsiteX1032" fmla="*/ 534797 w 12192000"/>
              <a:gd name="connsiteY1032" fmla="*/ 1048576 h 6858000"/>
              <a:gd name="connsiteX1033" fmla="*/ 1055497 w 12192000"/>
              <a:gd name="connsiteY1033" fmla="*/ 1048576 h 6858000"/>
              <a:gd name="connsiteX1034" fmla="*/ 1055497 w 12192000"/>
              <a:gd name="connsiteY1034" fmla="*/ 1569276 h 6858000"/>
              <a:gd name="connsiteX1035" fmla="*/ 534797 w 12192000"/>
              <a:gd name="connsiteY1035" fmla="*/ 1569276 h 6858000"/>
              <a:gd name="connsiteX1036" fmla="*/ 534797 w 12192000"/>
              <a:gd name="connsiteY1036" fmla="*/ 1578674 h 6858000"/>
              <a:gd name="connsiteX1037" fmla="*/ 1055497 w 12192000"/>
              <a:gd name="connsiteY1037" fmla="*/ 1578674 h 6858000"/>
              <a:gd name="connsiteX1038" fmla="*/ 1055497 w 12192000"/>
              <a:gd name="connsiteY1038" fmla="*/ 2099374 h 6858000"/>
              <a:gd name="connsiteX1039" fmla="*/ 534797 w 12192000"/>
              <a:gd name="connsiteY1039" fmla="*/ 2099374 h 6858000"/>
              <a:gd name="connsiteX1040" fmla="*/ 534797 w 12192000"/>
              <a:gd name="connsiteY1040" fmla="*/ 2108772 h 6858000"/>
              <a:gd name="connsiteX1041" fmla="*/ 1055497 w 12192000"/>
              <a:gd name="connsiteY1041" fmla="*/ 2108772 h 6858000"/>
              <a:gd name="connsiteX1042" fmla="*/ 1055497 w 12192000"/>
              <a:gd name="connsiteY1042" fmla="*/ 2629472 h 6858000"/>
              <a:gd name="connsiteX1043" fmla="*/ 534797 w 12192000"/>
              <a:gd name="connsiteY1043" fmla="*/ 2629472 h 6858000"/>
              <a:gd name="connsiteX1044" fmla="*/ 534797 w 12192000"/>
              <a:gd name="connsiteY1044" fmla="*/ 2638806 h 6858000"/>
              <a:gd name="connsiteX1045" fmla="*/ 1055497 w 12192000"/>
              <a:gd name="connsiteY1045" fmla="*/ 2638806 h 6858000"/>
              <a:gd name="connsiteX1046" fmla="*/ 1055497 w 12192000"/>
              <a:gd name="connsiteY1046" fmla="*/ 3159506 h 6858000"/>
              <a:gd name="connsiteX1047" fmla="*/ 534797 w 12192000"/>
              <a:gd name="connsiteY1047" fmla="*/ 3159506 h 6858000"/>
              <a:gd name="connsiteX1048" fmla="*/ 534797 w 12192000"/>
              <a:gd name="connsiteY1048" fmla="*/ 3168904 h 6858000"/>
              <a:gd name="connsiteX1049" fmla="*/ 1055497 w 12192000"/>
              <a:gd name="connsiteY1049" fmla="*/ 3168904 h 6858000"/>
              <a:gd name="connsiteX1050" fmla="*/ 1055497 w 12192000"/>
              <a:gd name="connsiteY1050" fmla="*/ 3689604 h 6858000"/>
              <a:gd name="connsiteX1051" fmla="*/ 534797 w 12192000"/>
              <a:gd name="connsiteY1051" fmla="*/ 3689604 h 6858000"/>
              <a:gd name="connsiteX1052" fmla="*/ 534797 w 12192000"/>
              <a:gd name="connsiteY1052" fmla="*/ 3699002 h 6858000"/>
              <a:gd name="connsiteX1053" fmla="*/ 1055497 w 12192000"/>
              <a:gd name="connsiteY1053" fmla="*/ 3699002 h 6858000"/>
              <a:gd name="connsiteX1054" fmla="*/ 1055497 w 12192000"/>
              <a:gd name="connsiteY1054" fmla="*/ 4219702 h 6858000"/>
              <a:gd name="connsiteX1055" fmla="*/ 534797 w 12192000"/>
              <a:gd name="connsiteY1055" fmla="*/ 4219702 h 6858000"/>
              <a:gd name="connsiteX1056" fmla="*/ 534797 w 12192000"/>
              <a:gd name="connsiteY1056" fmla="*/ 4229100 h 6858000"/>
              <a:gd name="connsiteX1057" fmla="*/ 1055497 w 12192000"/>
              <a:gd name="connsiteY1057" fmla="*/ 4229100 h 6858000"/>
              <a:gd name="connsiteX1058" fmla="*/ 1055497 w 12192000"/>
              <a:gd name="connsiteY1058" fmla="*/ 4749800 h 6858000"/>
              <a:gd name="connsiteX1059" fmla="*/ 534797 w 12192000"/>
              <a:gd name="connsiteY1059" fmla="*/ 4749800 h 6858000"/>
              <a:gd name="connsiteX1060" fmla="*/ 534797 w 12192000"/>
              <a:gd name="connsiteY1060" fmla="*/ 4759198 h 6858000"/>
              <a:gd name="connsiteX1061" fmla="*/ 1055497 w 12192000"/>
              <a:gd name="connsiteY1061" fmla="*/ 4759198 h 6858000"/>
              <a:gd name="connsiteX1062" fmla="*/ 1055497 w 12192000"/>
              <a:gd name="connsiteY1062" fmla="*/ 5279898 h 6858000"/>
              <a:gd name="connsiteX1063" fmla="*/ 534797 w 12192000"/>
              <a:gd name="connsiteY1063" fmla="*/ 5279898 h 6858000"/>
              <a:gd name="connsiteX1064" fmla="*/ 534797 w 12192000"/>
              <a:gd name="connsiteY1064" fmla="*/ 5289233 h 6858000"/>
              <a:gd name="connsiteX1065" fmla="*/ 1055497 w 12192000"/>
              <a:gd name="connsiteY1065" fmla="*/ 5289233 h 6858000"/>
              <a:gd name="connsiteX1066" fmla="*/ 1055497 w 12192000"/>
              <a:gd name="connsiteY1066" fmla="*/ 5809933 h 6858000"/>
              <a:gd name="connsiteX1067" fmla="*/ 534797 w 12192000"/>
              <a:gd name="connsiteY1067" fmla="*/ 5809933 h 6858000"/>
              <a:gd name="connsiteX1068" fmla="*/ 534797 w 12192000"/>
              <a:gd name="connsiteY1068" fmla="*/ 6339904 h 6858000"/>
              <a:gd name="connsiteX1069" fmla="*/ 534797 w 12192000"/>
              <a:gd name="connsiteY1069" fmla="*/ 5819204 h 6858000"/>
              <a:gd name="connsiteX1070" fmla="*/ 1055497 w 12192000"/>
              <a:gd name="connsiteY1070" fmla="*/ 5819204 h 6858000"/>
              <a:gd name="connsiteX1071" fmla="*/ 1055497 w 12192000"/>
              <a:gd name="connsiteY1071" fmla="*/ 6339904 h 6858000"/>
              <a:gd name="connsiteX1072" fmla="*/ 1064895 w 12192000"/>
              <a:gd name="connsiteY1072" fmla="*/ 6339904 h 6858000"/>
              <a:gd name="connsiteX1073" fmla="*/ 1064895 w 12192000"/>
              <a:gd name="connsiteY1073" fmla="*/ 5819204 h 6858000"/>
              <a:gd name="connsiteX1074" fmla="*/ 1585595 w 12192000"/>
              <a:gd name="connsiteY1074" fmla="*/ 5819204 h 6858000"/>
              <a:gd name="connsiteX1075" fmla="*/ 1585595 w 12192000"/>
              <a:gd name="connsiteY1075" fmla="*/ 6339904 h 6858000"/>
              <a:gd name="connsiteX1076" fmla="*/ 1594930 w 12192000"/>
              <a:gd name="connsiteY1076" fmla="*/ 6339904 h 6858000"/>
              <a:gd name="connsiteX1077" fmla="*/ 1594930 w 12192000"/>
              <a:gd name="connsiteY1077" fmla="*/ 5819204 h 6858000"/>
              <a:gd name="connsiteX1078" fmla="*/ 2115630 w 12192000"/>
              <a:gd name="connsiteY1078" fmla="*/ 5819204 h 6858000"/>
              <a:gd name="connsiteX1079" fmla="*/ 2115630 w 12192000"/>
              <a:gd name="connsiteY1079" fmla="*/ 6339904 h 6858000"/>
              <a:gd name="connsiteX1080" fmla="*/ 2125028 w 12192000"/>
              <a:gd name="connsiteY1080" fmla="*/ 6339904 h 6858000"/>
              <a:gd name="connsiteX1081" fmla="*/ 2125028 w 12192000"/>
              <a:gd name="connsiteY1081" fmla="*/ 5819204 h 6858000"/>
              <a:gd name="connsiteX1082" fmla="*/ 2645728 w 12192000"/>
              <a:gd name="connsiteY1082" fmla="*/ 5819204 h 6858000"/>
              <a:gd name="connsiteX1083" fmla="*/ 2645728 w 12192000"/>
              <a:gd name="connsiteY1083" fmla="*/ 6339904 h 6858000"/>
              <a:gd name="connsiteX1084" fmla="*/ 2655126 w 12192000"/>
              <a:gd name="connsiteY1084" fmla="*/ 6339904 h 6858000"/>
              <a:gd name="connsiteX1085" fmla="*/ 2655126 w 12192000"/>
              <a:gd name="connsiteY1085" fmla="*/ 5819204 h 6858000"/>
              <a:gd name="connsiteX1086" fmla="*/ 3175826 w 12192000"/>
              <a:gd name="connsiteY1086" fmla="*/ 5819204 h 6858000"/>
              <a:gd name="connsiteX1087" fmla="*/ 3175826 w 12192000"/>
              <a:gd name="connsiteY1087" fmla="*/ 6339904 h 6858000"/>
              <a:gd name="connsiteX1088" fmla="*/ 3185224 w 12192000"/>
              <a:gd name="connsiteY1088" fmla="*/ 6339904 h 6858000"/>
              <a:gd name="connsiteX1089" fmla="*/ 3185224 w 12192000"/>
              <a:gd name="connsiteY1089" fmla="*/ 5819204 h 6858000"/>
              <a:gd name="connsiteX1090" fmla="*/ 3705924 w 12192000"/>
              <a:gd name="connsiteY1090" fmla="*/ 5819204 h 6858000"/>
              <a:gd name="connsiteX1091" fmla="*/ 3705924 w 12192000"/>
              <a:gd name="connsiteY1091" fmla="*/ 6339904 h 6858000"/>
              <a:gd name="connsiteX1092" fmla="*/ 3715322 w 12192000"/>
              <a:gd name="connsiteY1092" fmla="*/ 6339904 h 6858000"/>
              <a:gd name="connsiteX1093" fmla="*/ 3715322 w 12192000"/>
              <a:gd name="connsiteY1093" fmla="*/ 5819204 h 6858000"/>
              <a:gd name="connsiteX1094" fmla="*/ 4236022 w 12192000"/>
              <a:gd name="connsiteY1094" fmla="*/ 5819204 h 6858000"/>
              <a:gd name="connsiteX1095" fmla="*/ 4236022 w 12192000"/>
              <a:gd name="connsiteY1095" fmla="*/ 6339904 h 6858000"/>
              <a:gd name="connsiteX1096" fmla="*/ 4245420 w 12192000"/>
              <a:gd name="connsiteY1096" fmla="*/ 6339904 h 6858000"/>
              <a:gd name="connsiteX1097" fmla="*/ 4245420 w 12192000"/>
              <a:gd name="connsiteY1097" fmla="*/ 5819204 h 6858000"/>
              <a:gd name="connsiteX1098" fmla="*/ 4766120 w 12192000"/>
              <a:gd name="connsiteY1098" fmla="*/ 5819204 h 6858000"/>
              <a:gd name="connsiteX1099" fmla="*/ 4766120 w 12192000"/>
              <a:gd name="connsiteY1099" fmla="*/ 6339904 h 6858000"/>
              <a:gd name="connsiteX1100" fmla="*/ 4775454 w 12192000"/>
              <a:gd name="connsiteY1100" fmla="*/ 6339904 h 6858000"/>
              <a:gd name="connsiteX1101" fmla="*/ 4775454 w 12192000"/>
              <a:gd name="connsiteY1101" fmla="*/ 5819204 h 6858000"/>
              <a:gd name="connsiteX1102" fmla="*/ 5296154 w 12192000"/>
              <a:gd name="connsiteY1102" fmla="*/ 5819204 h 6858000"/>
              <a:gd name="connsiteX1103" fmla="*/ 5296154 w 12192000"/>
              <a:gd name="connsiteY1103" fmla="*/ 6339904 h 6858000"/>
              <a:gd name="connsiteX1104" fmla="*/ 5305552 w 12192000"/>
              <a:gd name="connsiteY1104" fmla="*/ 6339904 h 6858000"/>
              <a:gd name="connsiteX1105" fmla="*/ 5305552 w 12192000"/>
              <a:gd name="connsiteY1105" fmla="*/ 5819204 h 6858000"/>
              <a:gd name="connsiteX1106" fmla="*/ 5826252 w 12192000"/>
              <a:gd name="connsiteY1106" fmla="*/ 5819204 h 6858000"/>
              <a:gd name="connsiteX1107" fmla="*/ 5826252 w 12192000"/>
              <a:gd name="connsiteY1107" fmla="*/ 6339904 h 6858000"/>
              <a:gd name="connsiteX1108" fmla="*/ 5835650 w 12192000"/>
              <a:gd name="connsiteY1108" fmla="*/ 6339904 h 6858000"/>
              <a:gd name="connsiteX1109" fmla="*/ 5835650 w 12192000"/>
              <a:gd name="connsiteY1109" fmla="*/ 5819204 h 6858000"/>
              <a:gd name="connsiteX1110" fmla="*/ 6356350 w 12192000"/>
              <a:gd name="connsiteY1110" fmla="*/ 5819204 h 6858000"/>
              <a:gd name="connsiteX1111" fmla="*/ 6356350 w 12192000"/>
              <a:gd name="connsiteY1111" fmla="*/ 6339904 h 6858000"/>
              <a:gd name="connsiteX1112" fmla="*/ 6365748 w 12192000"/>
              <a:gd name="connsiteY1112" fmla="*/ 6339904 h 6858000"/>
              <a:gd name="connsiteX1113" fmla="*/ 6365748 w 12192000"/>
              <a:gd name="connsiteY1113" fmla="*/ 5819204 h 6858000"/>
              <a:gd name="connsiteX1114" fmla="*/ 6886448 w 12192000"/>
              <a:gd name="connsiteY1114" fmla="*/ 5819204 h 6858000"/>
              <a:gd name="connsiteX1115" fmla="*/ 6886448 w 12192000"/>
              <a:gd name="connsiteY1115" fmla="*/ 6339904 h 6858000"/>
              <a:gd name="connsiteX1116" fmla="*/ 6895846 w 12192000"/>
              <a:gd name="connsiteY1116" fmla="*/ 6339904 h 6858000"/>
              <a:gd name="connsiteX1117" fmla="*/ 6895846 w 12192000"/>
              <a:gd name="connsiteY1117" fmla="*/ 5819204 h 6858000"/>
              <a:gd name="connsiteX1118" fmla="*/ 7416546 w 12192000"/>
              <a:gd name="connsiteY1118" fmla="*/ 5819204 h 6858000"/>
              <a:gd name="connsiteX1119" fmla="*/ 7416546 w 12192000"/>
              <a:gd name="connsiteY1119" fmla="*/ 6339904 h 6858000"/>
              <a:gd name="connsiteX1120" fmla="*/ 7425944 w 12192000"/>
              <a:gd name="connsiteY1120" fmla="*/ 6339904 h 6858000"/>
              <a:gd name="connsiteX1121" fmla="*/ 7425944 w 12192000"/>
              <a:gd name="connsiteY1121" fmla="*/ 5819204 h 6858000"/>
              <a:gd name="connsiteX1122" fmla="*/ 7946644 w 12192000"/>
              <a:gd name="connsiteY1122" fmla="*/ 5819204 h 6858000"/>
              <a:gd name="connsiteX1123" fmla="*/ 7946644 w 12192000"/>
              <a:gd name="connsiteY1123" fmla="*/ 6339904 h 6858000"/>
              <a:gd name="connsiteX1124" fmla="*/ 7955979 w 12192000"/>
              <a:gd name="connsiteY1124" fmla="*/ 6339904 h 6858000"/>
              <a:gd name="connsiteX1125" fmla="*/ 7955979 w 12192000"/>
              <a:gd name="connsiteY1125" fmla="*/ 5819204 h 6858000"/>
              <a:gd name="connsiteX1126" fmla="*/ 8476679 w 12192000"/>
              <a:gd name="connsiteY1126" fmla="*/ 5819204 h 6858000"/>
              <a:gd name="connsiteX1127" fmla="*/ 8476679 w 12192000"/>
              <a:gd name="connsiteY1127" fmla="*/ 6339904 h 6858000"/>
              <a:gd name="connsiteX1128" fmla="*/ 8486077 w 12192000"/>
              <a:gd name="connsiteY1128" fmla="*/ 6339904 h 6858000"/>
              <a:gd name="connsiteX1129" fmla="*/ 8486077 w 12192000"/>
              <a:gd name="connsiteY1129" fmla="*/ 5819204 h 6858000"/>
              <a:gd name="connsiteX1130" fmla="*/ 9006777 w 12192000"/>
              <a:gd name="connsiteY1130" fmla="*/ 5819204 h 6858000"/>
              <a:gd name="connsiteX1131" fmla="*/ 9006777 w 12192000"/>
              <a:gd name="connsiteY1131" fmla="*/ 6339904 h 6858000"/>
              <a:gd name="connsiteX1132" fmla="*/ 9016174 w 12192000"/>
              <a:gd name="connsiteY1132" fmla="*/ 6339904 h 6858000"/>
              <a:gd name="connsiteX1133" fmla="*/ 9016174 w 12192000"/>
              <a:gd name="connsiteY1133" fmla="*/ 5819204 h 6858000"/>
              <a:gd name="connsiteX1134" fmla="*/ 9536874 w 12192000"/>
              <a:gd name="connsiteY1134" fmla="*/ 5819204 h 6858000"/>
              <a:gd name="connsiteX1135" fmla="*/ 9536874 w 12192000"/>
              <a:gd name="connsiteY1135" fmla="*/ 6339904 h 6858000"/>
              <a:gd name="connsiteX1136" fmla="*/ 9546272 w 12192000"/>
              <a:gd name="connsiteY1136" fmla="*/ 6339904 h 6858000"/>
              <a:gd name="connsiteX1137" fmla="*/ 9546272 w 12192000"/>
              <a:gd name="connsiteY1137" fmla="*/ 5819204 h 6858000"/>
              <a:gd name="connsiteX1138" fmla="*/ 10066972 w 12192000"/>
              <a:gd name="connsiteY1138" fmla="*/ 5819204 h 6858000"/>
              <a:gd name="connsiteX1139" fmla="*/ 10066972 w 12192000"/>
              <a:gd name="connsiteY1139" fmla="*/ 6339904 h 6858000"/>
              <a:gd name="connsiteX1140" fmla="*/ 10076370 w 12192000"/>
              <a:gd name="connsiteY1140" fmla="*/ 6339904 h 6858000"/>
              <a:gd name="connsiteX1141" fmla="*/ 10076370 w 12192000"/>
              <a:gd name="connsiteY1141" fmla="*/ 5819204 h 6858000"/>
              <a:gd name="connsiteX1142" fmla="*/ 10597070 w 12192000"/>
              <a:gd name="connsiteY1142" fmla="*/ 5819204 h 6858000"/>
              <a:gd name="connsiteX1143" fmla="*/ 10597070 w 12192000"/>
              <a:gd name="connsiteY1143" fmla="*/ 6339904 h 6858000"/>
              <a:gd name="connsiteX1144" fmla="*/ 10606469 w 12192000"/>
              <a:gd name="connsiteY1144" fmla="*/ 6339904 h 6858000"/>
              <a:gd name="connsiteX1145" fmla="*/ 10606469 w 12192000"/>
              <a:gd name="connsiteY1145" fmla="*/ 5819204 h 6858000"/>
              <a:gd name="connsiteX1146" fmla="*/ 11127169 w 12192000"/>
              <a:gd name="connsiteY1146" fmla="*/ 5819204 h 6858000"/>
              <a:gd name="connsiteX1147" fmla="*/ 11127169 w 12192000"/>
              <a:gd name="connsiteY1147" fmla="*/ 6339904 h 6858000"/>
              <a:gd name="connsiteX1148" fmla="*/ 11657076 w 12192000"/>
              <a:gd name="connsiteY1148" fmla="*/ 6339904 h 6858000"/>
              <a:gd name="connsiteX1149" fmla="*/ 11136376 w 12192000"/>
              <a:gd name="connsiteY1149" fmla="*/ 6339904 h 6858000"/>
              <a:gd name="connsiteX1150" fmla="*/ 11136376 w 12192000"/>
              <a:gd name="connsiteY1150" fmla="*/ 5819204 h 6858000"/>
              <a:gd name="connsiteX1151" fmla="*/ 11657076 w 12192000"/>
              <a:gd name="connsiteY1151" fmla="*/ 5819204 h 6858000"/>
              <a:gd name="connsiteX1152" fmla="*/ 11657076 w 12192000"/>
              <a:gd name="connsiteY1152" fmla="*/ 5809806 h 6858000"/>
              <a:gd name="connsiteX1153" fmla="*/ 11136376 w 12192000"/>
              <a:gd name="connsiteY1153" fmla="*/ 5809806 h 6858000"/>
              <a:gd name="connsiteX1154" fmla="*/ 11136376 w 12192000"/>
              <a:gd name="connsiteY1154" fmla="*/ 5289106 h 6858000"/>
              <a:gd name="connsiteX1155" fmla="*/ 11657076 w 12192000"/>
              <a:gd name="connsiteY1155" fmla="*/ 5289106 h 6858000"/>
              <a:gd name="connsiteX1156" fmla="*/ 11657076 w 12192000"/>
              <a:gd name="connsiteY1156" fmla="*/ 5279708 h 6858000"/>
              <a:gd name="connsiteX1157" fmla="*/ 11136376 w 12192000"/>
              <a:gd name="connsiteY1157" fmla="*/ 5279708 h 6858000"/>
              <a:gd name="connsiteX1158" fmla="*/ 11136376 w 12192000"/>
              <a:gd name="connsiteY1158" fmla="*/ 4759008 h 6858000"/>
              <a:gd name="connsiteX1159" fmla="*/ 11657076 w 12192000"/>
              <a:gd name="connsiteY1159" fmla="*/ 4759008 h 6858000"/>
              <a:gd name="connsiteX1160" fmla="*/ 11657076 w 12192000"/>
              <a:gd name="connsiteY1160" fmla="*/ 4749673 h 6858000"/>
              <a:gd name="connsiteX1161" fmla="*/ 11136376 w 12192000"/>
              <a:gd name="connsiteY1161" fmla="*/ 4749673 h 6858000"/>
              <a:gd name="connsiteX1162" fmla="*/ 11136376 w 12192000"/>
              <a:gd name="connsiteY1162" fmla="*/ 4229100 h 6858000"/>
              <a:gd name="connsiteX1163" fmla="*/ 11657076 w 12192000"/>
              <a:gd name="connsiteY1163" fmla="*/ 4229100 h 6858000"/>
              <a:gd name="connsiteX1164" fmla="*/ 11657076 w 12192000"/>
              <a:gd name="connsiteY1164" fmla="*/ 4219575 h 6858000"/>
              <a:gd name="connsiteX1165" fmla="*/ 11136376 w 12192000"/>
              <a:gd name="connsiteY1165" fmla="*/ 4219575 h 6858000"/>
              <a:gd name="connsiteX1166" fmla="*/ 11136376 w 12192000"/>
              <a:gd name="connsiteY1166" fmla="*/ 3698875 h 6858000"/>
              <a:gd name="connsiteX1167" fmla="*/ 11657076 w 12192000"/>
              <a:gd name="connsiteY1167" fmla="*/ 3698875 h 6858000"/>
              <a:gd name="connsiteX1168" fmla="*/ 11657076 w 12192000"/>
              <a:gd name="connsiteY1168" fmla="*/ 3689477 h 6858000"/>
              <a:gd name="connsiteX1169" fmla="*/ 11136376 w 12192000"/>
              <a:gd name="connsiteY1169" fmla="*/ 3689477 h 6858000"/>
              <a:gd name="connsiteX1170" fmla="*/ 11136376 w 12192000"/>
              <a:gd name="connsiteY1170" fmla="*/ 3168650 h 6858000"/>
              <a:gd name="connsiteX1171" fmla="*/ 11657076 w 12192000"/>
              <a:gd name="connsiteY1171" fmla="*/ 3168650 h 6858000"/>
              <a:gd name="connsiteX1172" fmla="*/ 11657076 w 12192000"/>
              <a:gd name="connsiteY1172" fmla="*/ 3159379 h 6858000"/>
              <a:gd name="connsiteX1173" fmla="*/ 11136376 w 12192000"/>
              <a:gd name="connsiteY1173" fmla="*/ 3159379 h 6858000"/>
              <a:gd name="connsiteX1174" fmla="*/ 11136376 w 12192000"/>
              <a:gd name="connsiteY1174" fmla="*/ 2638679 h 6858000"/>
              <a:gd name="connsiteX1175" fmla="*/ 11657076 w 12192000"/>
              <a:gd name="connsiteY1175" fmla="*/ 2638679 h 6858000"/>
              <a:gd name="connsiteX1176" fmla="*/ 11657076 w 12192000"/>
              <a:gd name="connsiteY1176" fmla="*/ 2629281 h 6858000"/>
              <a:gd name="connsiteX1177" fmla="*/ 11136376 w 12192000"/>
              <a:gd name="connsiteY1177" fmla="*/ 2629281 h 6858000"/>
              <a:gd name="connsiteX1178" fmla="*/ 11136376 w 12192000"/>
              <a:gd name="connsiteY1178" fmla="*/ 2108581 h 6858000"/>
              <a:gd name="connsiteX1179" fmla="*/ 11657076 w 12192000"/>
              <a:gd name="connsiteY1179" fmla="*/ 2108581 h 6858000"/>
              <a:gd name="connsiteX1180" fmla="*/ 11657076 w 12192000"/>
              <a:gd name="connsiteY1180" fmla="*/ 2099247 h 6858000"/>
              <a:gd name="connsiteX1181" fmla="*/ 11136376 w 12192000"/>
              <a:gd name="connsiteY1181" fmla="*/ 2099247 h 6858000"/>
              <a:gd name="connsiteX1182" fmla="*/ 11136376 w 12192000"/>
              <a:gd name="connsiteY1182" fmla="*/ 1578547 h 6858000"/>
              <a:gd name="connsiteX1183" fmla="*/ 11657076 w 12192000"/>
              <a:gd name="connsiteY1183" fmla="*/ 1578547 h 6858000"/>
              <a:gd name="connsiteX1184" fmla="*/ 11657076 w 12192000"/>
              <a:gd name="connsiteY1184" fmla="*/ 1569149 h 6858000"/>
              <a:gd name="connsiteX1185" fmla="*/ 11136376 w 12192000"/>
              <a:gd name="connsiteY1185" fmla="*/ 1569149 h 6858000"/>
              <a:gd name="connsiteX1186" fmla="*/ 11136376 w 12192000"/>
              <a:gd name="connsiteY1186" fmla="*/ 1048449 h 6858000"/>
              <a:gd name="connsiteX1187" fmla="*/ 11657076 w 12192000"/>
              <a:gd name="connsiteY1187" fmla="*/ 1048449 h 6858000"/>
              <a:gd name="connsiteX1188" fmla="*/ 11657076 w 12192000"/>
              <a:gd name="connsiteY1188" fmla="*/ 1039051 h 6858000"/>
              <a:gd name="connsiteX1189" fmla="*/ 11136376 w 12192000"/>
              <a:gd name="connsiteY1189" fmla="*/ 1039051 h 6858000"/>
              <a:gd name="connsiteX1190" fmla="*/ 11136376 w 12192000"/>
              <a:gd name="connsiteY1190" fmla="*/ 518350 h 6858000"/>
              <a:gd name="connsiteX1191" fmla="*/ 11657076 w 12192000"/>
              <a:gd name="connsiteY1191" fmla="*/ 5183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Lst>
            <a:rect l="l" t="t" r="r" b="b"/>
            <a:pathLst>
              <a:path w="12192000" h="6858000">
                <a:moveTo>
                  <a:pt x="12192000" y="518287"/>
                </a:moveTo>
                <a:lnTo>
                  <a:pt x="12192000" y="508762"/>
                </a:lnTo>
                <a:lnTo>
                  <a:pt x="11666665" y="508762"/>
                </a:lnTo>
                <a:lnTo>
                  <a:pt x="11666665" y="0"/>
                </a:lnTo>
                <a:lnTo>
                  <a:pt x="11657140" y="0"/>
                </a:lnTo>
                <a:lnTo>
                  <a:pt x="11657140" y="508762"/>
                </a:lnTo>
                <a:lnTo>
                  <a:pt x="11136440" y="508762"/>
                </a:lnTo>
                <a:lnTo>
                  <a:pt x="11136440" y="0"/>
                </a:lnTo>
                <a:lnTo>
                  <a:pt x="11126915" y="0"/>
                </a:lnTo>
                <a:lnTo>
                  <a:pt x="11126915" y="508762"/>
                </a:lnTo>
                <a:lnTo>
                  <a:pt x="10606215" y="508762"/>
                </a:lnTo>
                <a:lnTo>
                  <a:pt x="10606215" y="0"/>
                </a:lnTo>
                <a:lnTo>
                  <a:pt x="10596690" y="0"/>
                </a:lnTo>
                <a:lnTo>
                  <a:pt x="10596690" y="508762"/>
                </a:lnTo>
                <a:lnTo>
                  <a:pt x="10075990" y="508762"/>
                </a:lnTo>
                <a:lnTo>
                  <a:pt x="10075990" y="0"/>
                </a:lnTo>
                <a:lnTo>
                  <a:pt x="10066465" y="0"/>
                </a:lnTo>
                <a:lnTo>
                  <a:pt x="10066465" y="508762"/>
                </a:lnTo>
                <a:lnTo>
                  <a:pt x="9545765" y="508762"/>
                </a:lnTo>
                <a:lnTo>
                  <a:pt x="9545765" y="0"/>
                </a:lnTo>
                <a:lnTo>
                  <a:pt x="9536240" y="0"/>
                </a:lnTo>
                <a:lnTo>
                  <a:pt x="9536240" y="508762"/>
                </a:lnTo>
                <a:lnTo>
                  <a:pt x="9015540" y="508762"/>
                </a:lnTo>
                <a:lnTo>
                  <a:pt x="9015540" y="0"/>
                </a:lnTo>
                <a:lnTo>
                  <a:pt x="9006015" y="0"/>
                </a:lnTo>
                <a:lnTo>
                  <a:pt x="9006015" y="508762"/>
                </a:lnTo>
                <a:lnTo>
                  <a:pt x="8485315" y="508762"/>
                </a:lnTo>
                <a:lnTo>
                  <a:pt x="8485315" y="0"/>
                </a:lnTo>
                <a:lnTo>
                  <a:pt x="8475790" y="0"/>
                </a:lnTo>
                <a:lnTo>
                  <a:pt x="8475790" y="508762"/>
                </a:lnTo>
                <a:lnTo>
                  <a:pt x="7955090" y="508762"/>
                </a:lnTo>
                <a:lnTo>
                  <a:pt x="7955090" y="0"/>
                </a:lnTo>
                <a:lnTo>
                  <a:pt x="7945565" y="0"/>
                </a:lnTo>
                <a:lnTo>
                  <a:pt x="7945565" y="508762"/>
                </a:lnTo>
                <a:lnTo>
                  <a:pt x="7424865" y="508762"/>
                </a:lnTo>
                <a:lnTo>
                  <a:pt x="7424865" y="0"/>
                </a:lnTo>
                <a:lnTo>
                  <a:pt x="7416800" y="0"/>
                </a:lnTo>
                <a:lnTo>
                  <a:pt x="7416800" y="508762"/>
                </a:lnTo>
                <a:lnTo>
                  <a:pt x="6896100" y="508762"/>
                </a:lnTo>
                <a:lnTo>
                  <a:pt x="6896100" y="0"/>
                </a:lnTo>
                <a:lnTo>
                  <a:pt x="6886575" y="0"/>
                </a:lnTo>
                <a:lnTo>
                  <a:pt x="6886575" y="508762"/>
                </a:lnTo>
                <a:lnTo>
                  <a:pt x="6365875" y="508762"/>
                </a:lnTo>
                <a:lnTo>
                  <a:pt x="6365875" y="0"/>
                </a:lnTo>
                <a:lnTo>
                  <a:pt x="6356350" y="0"/>
                </a:lnTo>
                <a:lnTo>
                  <a:pt x="6356350" y="508762"/>
                </a:lnTo>
                <a:lnTo>
                  <a:pt x="5835650" y="508762"/>
                </a:lnTo>
                <a:lnTo>
                  <a:pt x="5835650" y="0"/>
                </a:lnTo>
                <a:lnTo>
                  <a:pt x="5826125" y="0"/>
                </a:lnTo>
                <a:lnTo>
                  <a:pt x="5826125" y="508762"/>
                </a:lnTo>
                <a:lnTo>
                  <a:pt x="5305425" y="508762"/>
                </a:lnTo>
                <a:lnTo>
                  <a:pt x="5305425" y="0"/>
                </a:lnTo>
                <a:lnTo>
                  <a:pt x="5295900" y="0"/>
                </a:lnTo>
                <a:lnTo>
                  <a:pt x="5295900" y="508762"/>
                </a:lnTo>
                <a:lnTo>
                  <a:pt x="4775200" y="508762"/>
                </a:lnTo>
                <a:lnTo>
                  <a:pt x="4775200" y="0"/>
                </a:lnTo>
                <a:lnTo>
                  <a:pt x="4765675" y="0"/>
                </a:lnTo>
                <a:lnTo>
                  <a:pt x="4765675" y="508762"/>
                </a:lnTo>
                <a:lnTo>
                  <a:pt x="4244975" y="508762"/>
                </a:lnTo>
                <a:lnTo>
                  <a:pt x="4244975" y="0"/>
                </a:lnTo>
                <a:lnTo>
                  <a:pt x="4235450" y="0"/>
                </a:lnTo>
                <a:lnTo>
                  <a:pt x="4235450" y="508762"/>
                </a:lnTo>
                <a:lnTo>
                  <a:pt x="3714750" y="508762"/>
                </a:lnTo>
                <a:lnTo>
                  <a:pt x="3714750" y="0"/>
                </a:lnTo>
                <a:lnTo>
                  <a:pt x="3705225" y="0"/>
                </a:lnTo>
                <a:lnTo>
                  <a:pt x="3705225" y="508762"/>
                </a:lnTo>
                <a:lnTo>
                  <a:pt x="3184525" y="508762"/>
                </a:lnTo>
                <a:lnTo>
                  <a:pt x="3184525" y="0"/>
                </a:lnTo>
                <a:lnTo>
                  <a:pt x="3175000" y="0"/>
                </a:lnTo>
                <a:lnTo>
                  <a:pt x="3175000" y="508762"/>
                </a:lnTo>
                <a:lnTo>
                  <a:pt x="2654300" y="508762"/>
                </a:lnTo>
                <a:lnTo>
                  <a:pt x="2654300" y="0"/>
                </a:lnTo>
                <a:lnTo>
                  <a:pt x="2644775" y="0"/>
                </a:lnTo>
                <a:lnTo>
                  <a:pt x="2644775" y="508762"/>
                </a:lnTo>
                <a:lnTo>
                  <a:pt x="2124075" y="508762"/>
                </a:lnTo>
                <a:lnTo>
                  <a:pt x="2124075" y="0"/>
                </a:lnTo>
                <a:lnTo>
                  <a:pt x="2114550" y="0"/>
                </a:lnTo>
                <a:lnTo>
                  <a:pt x="2114550" y="508762"/>
                </a:lnTo>
                <a:lnTo>
                  <a:pt x="1593850" y="508762"/>
                </a:lnTo>
                <a:lnTo>
                  <a:pt x="1593850" y="0"/>
                </a:lnTo>
                <a:lnTo>
                  <a:pt x="1584325" y="0"/>
                </a:lnTo>
                <a:lnTo>
                  <a:pt x="1584325" y="508762"/>
                </a:lnTo>
                <a:lnTo>
                  <a:pt x="1063625" y="508762"/>
                </a:lnTo>
                <a:lnTo>
                  <a:pt x="1063625" y="0"/>
                </a:lnTo>
                <a:lnTo>
                  <a:pt x="1054100" y="0"/>
                </a:lnTo>
                <a:lnTo>
                  <a:pt x="1054100" y="508762"/>
                </a:lnTo>
                <a:lnTo>
                  <a:pt x="533400" y="508762"/>
                </a:lnTo>
                <a:lnTo>
                  <a:pt x="533400" y="0"/>
                </a:lnTo>
                <a:lnTo>
                  <a:pt x="523875" y="0"/>
                </a:lnTo>
                <a:lnTo>
                  <a:pt x="523875" y="508762"/>
                </a:lnTo>
                <a:lnTo>
                  <a:pt x="0" y="508762"/>
                </a:lnTo>
                <a:lnTo>
                  <a:pt x="0" y="518287"/>
                </a:lnTo>
                <a:lnTo>
                  <a:pt x="525336" y="518287"/>
                </a:lnTo>
                <a:lnTo>
                  <a:pt x="525336" y="1038987"/>
                </a:lnTo>
                <a:lnTo>
                  <a:pt x="0" y="1038987"/>
                </a:lnTo>
                <a:lnTo>
                  <a:pt x="0" y="1048512"/>
                </a:lnTo>
                <a:lnTo>
                  <a:pt x="525336" y="1048512"/>
                </a:lnTo>
                <a:lnTo>
                  <a:pt x="525336" y="1569212"/>
                </a:lnTo>
                <a:lnTo>
                  <a:pt x="0" y="1569212"/>
                </a:lnTo>
                <a:lnTo>
                  <a:pt x="0" y="1578737"/>
                </a:lnTo>
                <a:lnTo>
                  <a:pt x="525336" y="1578737"/>
                </a:lnTo>
                <a:lnTo>
                  <a:pt x="525336" y="2099437"/>
                </a:lnTo>
                <a:lnTo>
                  <a:pt x="0" y="2099437"/>
                </a:lnTo>
                <a:lnTo>
                  <a:pt x="0" y="2108962"/>
                </a:lnTo>
                <a:lnTo>
                  <a:pt x="525336" y="2108962"/>
                </a:lnTo>
                <a:lnTo>
                  <a:pt x="525336" y="2629662"/>
                </a:lnTo>
                <a:lnTo>
                  <a:pt x="0" y="2629662"/>
                </a:lnTo>
                <a:lnTo>
                  <a:pt x="0" y="2639187"/>
                </a:lnTo>
                <a:lnTo>
                  <a:pt x="525336" y="2639187"/>
                </a:lnTo>
                <a:lnTo>
                  <a:pt x="525336" y="3159887"/>
                </a:lnTo>
                <a:lnTo>
                  <a:pt x="0" y="3159887"/>
                </a:lnTo>
                <a:lnTo>
                  <a:pt x="0" y="3168650"/>
                </a:lnTo>
                <a:lnTo>
                  <a:pt x="525336" y="3168650"/>
                </a:lnTo>
                <a:lnTo>
                  <a:pt x="525336" y="3689350"/>
                </a:lnTo>
                <a:lnTo>
                  <a:pt x="0" y="3689350"/>
                </a:lnTo>
                <a:lnTo>
                  <a:pt x="0" y="3698875"/>
                </a:lnTo>
                <a:lnTo>
                  <a:pt x="525336" y="3698875"/>
                </a:lnTo>
                <a:lnTo>
                  <a:pt x="525336" y="4219575"/>
                </a:lnTo>
                <a:lnTo>
                  <a:pt x="0" y="4219575"/>
                </a:lnTo>
                <a:lnTo>
                  <a:pt x="0" y="4229100"/>
                </a:lnTo>
                <a:lnTo>
                  <a:pt x="525336" y="4229100"/>
                </a:lnTo>
                <a:lnTo>
                  <a:pt x="525336" y="4749800"/>
                </a:lnTo>
                <a:lnTo>
                  <a:pt x="0" y="4749800"/>
                </a:lnTo>
                <a:lnTo>
                  <a:pt x="0" y="4759325"/>
                </a:lnTo>
                <a:lnTo>
                  <a:pt x="525336" y="4759325"/>
                </a:lnTo>
                <a:lnTo>
                  <a:pt x="525336" y="5280025"/>
                </a:lnTo>
                <a:lnTo>
                  <a:pt x="0" y="5280025"/>
                </a:lnTo>
                <a:lnTo>
                  <a:pt x="0" y="5289550"/>
                </a:lnTo>
                <a:lnTo>
                  <a:pt x="525336" y="5289550"/>
                </a:lnTo>
                <a:lnTo>
                  <a:pt x="525336" y="5810250"/>
                </a:lnTo>
                <a:lnTo>
                  <a:pt x="0" y="5810250"/>
                </a:lnTo>
                <a:lnTo>
                  <a:pt x="0" y="5819775"/>
                </a:lnTo>
                <a:lnTo>
                  <a:pt x="525336" y="5819775"/>
                </a:lnTo>
                <a:lnTo>
                  <a:pt x="525336" y="6340475"/>
                </a:lnTo>
                <a:lnTo>
                  <a:pt x="0" y="6340475"/>
                </a:lnTo>
                <a:lnTo>
                  <a:pt x="0" y="6350000"/>
                </a:lnTo>
                <a:lnTo>
                  <a:pt x="525336" y="6350000"/>
                </a:lnTo>
                <a:lnTo>
                  <a:pt x="525336" y="6858000"/>
                </a:lnTo>
                <a:lnTo>
                  <a:pt x="534861" y="6858000"/>
                </a:lnTo>
                <a:lnTo>
                  <a:pt x="534861" y="6349238"/>
                </a:lnTo>
                <a:lnTo>
                  <a:pt x="1055561" y="6349238"/>
                </a:lnTo>
                <a:lnTo>
                  <a:pt x="1055561" y="6858000"/>
                </a:lnTo>
                <a:lnTo>
                  <a:pt x="1065086" y="6858000"/>
                </a:lnTo>
                <a:lnTo>
                  <a:pt x="1065086" y="6349238"/>
                </a:lnTo>
                <a:lnTo>
                  <a:pt x="1585786" y="6349238"/>
                </a:lnTo>
                <a:lnTo>
                  <a:pt x="1585786" y="6858000"/>
                </a:lnTo>
                <a:lnTo>
                  <a:pt x="1595311" y="6858000"/>
                </a:lnTo>
                <a:lnTo>
                  <a:pt x="1595311" y="6349238"/>
                </a:lnTo>
                <a:lnTo>
                  <a:pt x="2116011" y="6349238"/>
                </a:lnTo>
                <a:lnTo>
                  <a:pt x="2116011" y="6858000"/>
                </a:lnTo>
                <a:lnTo>
                  <a:pt x="2125536" y="6858000"/>
                </a:lnTo>
                <a:lnTo>
                  <a:pt x="2125536" y="6349238"/>
                </a:lnTo>
                <a:lnTo>
                  <a:pt x="2646236" y="6349238"/>
                </a:lnTo>
                <a:lnTo>
                  <a:pt x="2646236" y="6858000"/>
                </a:lnTo>
                <a:lnTo>
                  <a:pt x="2655761" y="6858000"/>
                </a:lnTo>
                <a:lnTo>
                  <a:pt x="2655761" y="6349238"/>
                </a:lnTo>
                <a:lnTo>
                  <a:pt x="3176461" y="6349238"/>
                </a:lnTo>
                <a:lnTo>
                  <a:pt x="3176461" y="6858000"/>
                </a:lnTo>
                <a:lnTo>
                  <a:pt x="3185986" y="6858000"/>
                </a:lnTo>
                <a:lnTo>
                  <a:pt x="3185986" y="6349238"/>
                </a:lnTo>
                <a:lnTo>
                  <a:pt x="3706686" y="6349238"/>
                </a:lnTo>
                <a:lnTo>
                  <a:pt x="3706686" y="6858000"/>
                </a:lnTo>
                <a:lnTo>
                  <a:pt x="3716211" y="6858000"/>
                </a:lnTo>
                <a:lnTo>
                  <a:pt x="3716211" y="6349238"/>
                </a:lnTo>
                <a:lnTo>
                  <a:pt x="4236911" y="6349238"/>
                </a:lnTo>
                <a:lnTo>
                  <a:pt x="4236911" y="6858000"/>
                </a:lnTo>
                <a:lnTo>
                  <a:pt x="4246436" y="6858000"/>
                </a:lnTo>
                <a:lnTo>
                  <a:pt x="4246436" y="6349238"/>
                </a:lnTo>
                <a:lnTo>
                  <a:pt x="4767136" y="6349238"/>
                </a:lnTo>
                <a:lnTo>
                  <a:pt x="4767136" y="6858000"/>
                </a:lnTo>
                <a:lnTo>
                  <a:pt x="4776661" y="6858000"/>
                </a:lnTo>
                <a:lnTo>
                  <a:pt x="4776661" y="6349238"/>
                </a:lnTo>
                <a:lnTo>
                  <a:pt x="5297361" y="6349238"/>
                </a:lnTo>
                <a:lnTo>
                  <a:pt x="5297361" y="6858000"/>
                </a:lnTo>
                <a:lnTo>
                  <a:pt x="5306886" y="6858000"/>
                </a:lnTo>
                <a:lnTo>
                  <a:pt x="5306886" y="6349238"/>
                </a:lnTo>
                <a:lnTo>
                  <a:pt x="5827586" y="6349238"/>
                </a:lnTo>
                <a:lnTo>
                  <a:pt x="5827586" y="6858000"/>
                </a:lnTo>
                <a:lnTo>
                  <a:pt x="5835650" y="6858000"/>
                </a:lnTo>
                <a:lnTo>
                  <a:pt x="5835650" y="6349238"/>
                </a:lnTo>
                <a:lnTo>
                  <a:pt x="6356350" y="6349238"/>
                </a:lnTo>
                <a:lnTo>
                  <a:pt x="6356350" y="6858000"/>
                </a:lnTo>
                <a:lnTo>
                  <a:pt x="6365875" y="6858000"/>
                </a:lnTo>
                <a:lnTo>
                  <a:pt x="6365875" y="6349238"/>
                </a:lnTo>
                <a:lnTo>
                  <a:pt x="6886575" y="6349238"/>
                </a:lnTo>
                <a:lnTo>
                  <a:pt x="6886575" y="6858000"/>
                </a:lnTo>
                <a:lnTo>
                  <a:pt x="6896100" y="6858000"/>
                </a:lnTo>
                <a:lnTo>
                  <a:pt x="6896100" y="6349238"/>
                </a:lnTo>
                <a:lnTo>
                  <a:pt x="7416800" y="6349238"/>
                </a:lnTo>
                <a:lnTo>
                  <a:pt x="7416800" y="6858000"/>
                </a:lnTo>
                <a:lnTo>
                  <a:pt x="7426325" y="6858000"/>
                </a:lnTo>
                <a:lnTo>
                  <a:pt x="7426325" y="6349238"/>
                </a:lnTo>
                <a:lnTo>
                  <a:pt x="7947025" y="6349238"/>
                </a:lnTo>
                <a:lnTo>
                  <a:pt x="7947025" y="6858000"/>
                </a:lnTo>
                <a:lnTo>
                  <a:pt x="7956550" y="6858000"/>
                </a:lnTo>
                <a:lnTo>
                  <a:pt x="7956550" y="6349238"/>
                </a:lnTo>
                <a:lnTo>
                  <a:pt x="8477250" y="6349238"/>
                </a:lnTo>
                <a:lnTo>
                  <a:pt x="8477250" y="6858000"/>
                </a:lnTo>
                <a:lnTo>
                  <a:pt x="8486775" y="6858000"/>
                </a:lnTo>
                <a:lnTo>
                  <a:pt x="8486775" y="6349238"/>
                </a:lnTo>
                <a:lnTo>
                  <a:pt x="9007475" y="6349238"/>
                </a:lnTo>
                <a:lnTo>
                  <a:pt x="9007475" y="6858000"/>
                </a:lnTo>
                <a:lnTo>
                  <a:pt x="9017000" y="6858000"/>
                </a:lnTo>
                <a:lnTo>
                  <a:pt x="9017000" y="6349238"/>
                </a:lnTo>
                <a:lnTo>
                  <a:pt x="9537700" y="6349238"/>
                </a:lnTo>
                <a:lnTo>
                  <a:pt x="9537700" y="6858000"/>
                </a:lnTo>
                <a:lnTo>
                  <a:pt x="9547225" y="6858000"/>
                </a:lnTo>
                <a:lnTo>
                  <a:pt x="9547225" y="6349238"/>
                </a:lnTo>
                <a:lnTo>
                  <a:pt x="10067925" y="6349238"/>
                </a:lnTo>
                <a:lnTo>
                  <a:pt x="10067925" y="6858000"/>
                </a:lnTo>
                <a:lnTo>
                  <a:pt x="10077450" y="6858000"/>
                </a:lnTo>
                <a:lnTo>
                  <a:pt x="10077450" y="6349238"/>
                </a:lnTo>
                <a:lnTo>
                  <a:pt x="10598150" y="6349238"/>
                </a:lnTo>
                <a:lnTo>
                  <a:pt x="10598150" y="6858000"/>
                </a:lnTo>
                <a:lnTo>
                  <a:pt x="10607675" y="6858000"/>
                </a:lnTo>
                <a:lnTo>
                  <a:pt x="10607675" y="6349238"/>
                </a:lnTo>
                <a:lnTo>
                  <a:pt x="11128375" y="6349238"/>
                </a:lnTo>
                <a:lnTo>
                  <a:pt x="11128375" y="6858000"/>
                </a:lnTo>
                <a:lnTo>
                  <a:pt x="11137900" y="6858000"/>
                </a:lnTo>
                <a:lnTo>
                  <a:pt x="11137900" y="6349238"/>
                </a:lnTo>
                <a:lnTo>
                  <a:pt x="11658600" y="6349238"/>
                </a:lnTo>
                <a:lnTo>
                  <a:pt x="11658600" y="6858000"/>
                </a:lnTo>
                <a:lnTo>
                  <a:pt x="11668125" y="6858000"/>
                </a:lnTo>
                <a:lnTo>
                  <a:pt x="11668125" y="6349238"/>
                </a:lnTo>
                <a:lnTo>
                  <a:pt x="12192000" y="6349238"/>
                </a:lnTo>
                <a:lnTo>
                  <a:pt x="12192000" y="6339713"/>
                </a:lnTo>
                <a:lnTo>
                  <a:pt x="11666665" y="6339713"/>
                </a:lnTo>
                <a:lnTo>
                  <a:pt x="11666665" y="5819013"/>
                </a:lnTo>
                <a:lnTo>
                  <a:pt x="12192000" y="5819013"/>
                </a:lnTo>
                <a:lnTo>
                  <a:pt x="12192000" y="5809488"/>
                </a:lnTo>
                <a:lnTo>
                  <a:pt x="11666665" y="5809488"/>
                </a:lnTo>
                <a:lnTo>
                  <a:pt x="11666665" y="5288788"/>
                </a:lnTo>
                <a:lnTo>
                  <a:pt x="12192000" y="5288788"/>
                </a:lnTo>
                <a:lnTo>
                  <a:pt x="12192000" y="5279263"/>
                </a:lnTo>
                <a:lnTo>
                  <a:pt x="11666665" y="5279263"/>
                </a:lnTo>
                <a:lnTo>
                  <a:pt x="11666665" y="4758563"/>
                </a:lnTo>
                <a:lnTo>
                  <a:pt x="12192000" y="4758563"/>
                </a:lnTo>
                <a:lnTo>
                  <a:pt x="12192000" y="4749800"/>
                </a:lnTo>
                <a:lnTo>
                  <a:pt x="11666665" y="4749800"/>
                </a:lnTo>
                <a:lnTo>
                  <a:pt x="11666665" y="4229100"/>
                </a:lnTo>
                <a:lnTo>
                  <a:pt x="12192000" y="4229100"/>
                </a:lnTo>
                <a:lnTo>
                  <a:pt x="12192000" y="4219575"/>
                </a:lnTo>
                <a:lnTo>
                  <a:pt x="11666665" y="4219575"/>
                </a:lnTo>
                <a:lnTo>
                  <a:pt x="11666665" y="3698875"/>
                </a:lnTo>
                <a:lnTo>
                  <a:pt x="12192000" y="3698875"/>
                </a:lnTo>
                <a:lnTo>
                  <a:pt x="12192000" y="3689350"/>
                </a:lnTo>
                <a:lnTo>
                  <a:pt x="11666665" y="3689350"/>
                </a:lnTo>
                <a:lnTo>
                  <a:pt x="11666665" y="3168650"/>
                </a:lnTo>
                <a:lnTo>
                  <a:pt x="12192000" y="3168650"/>
                </a:lnTo>
                <a:lnTo>
                  <a:pt x="12192000" y="3159125"/>
                </a:lnTo>
                <a:lnTo>
                  <a:pt x="11666665" y="3159125"/>
                </a:lnTo>
                <a:lnTo>
                  <a:pt x="11666665" y="2638425"/>
                </a:lnTo>
                <a:lnTo>
                  <a:pt x="12192000" y="2638425"/>
                </a:lnTo>
                <a:lnTo>
                  <a:pt x="12192000" y="2628900"/>
                </a:lnTo>
                <a:lnTo>
                  <a:pt x="11666665" y="2628900"/>
                </a:lnTo>
                <a:lnTo>
                  <a:pt x="11666665" y="2108200"/>
                </a:lnTo>
                <a:lnTo>
                  <a:pt x="12192000" y="2108200"/>
                </a:lnTo>
                <a:lnTo>
                  <a:pt x="12192000" y="2098675"/>
                </a:lnTo>
                <a:lnTo>
                  <a:pt x="11666665" y="2098675"/>
                </a:lnTo>
                <a:lnTo>
                  <a:pt x="11666665" y="1577975"/>
                </a:lnTo>
                <a:lnTo>
                  <a:pt x="12192000" y="1577975"/>
                </a:lnTo>
                <a:lnTo>
                  <a:pt x="12192000" y="1568450"/>
                </a:lnTo>
                <a:lnTo>
                  <a:pt x="11666665" y="1568450"/>
                </a:lnTo>
                <a:lnTo>
                  <a:pt x="11666665" y="1047750"/>
                </a:lnTo>
                <a:lnTo>
                  <a:pt x="12192000" y="1047750"/>
                </a:lnTo>
                <a:lnTo>
                  <a:pt x="12192000" y="1038225"/>
                </a:lnTo>
                <a:lnTo>
                  <a:pt x="11666665" y="1038225"/>
                </a:lnTo>
                <a:lnTo>
                  <a:pt x="11666665" y="517525"/>
                </a:lnTo>
                <a:close/>
                <a:moveTo>
                  <a:pt x="11127042" y="518287"/>
                </a:moveTo>
                <a:lnTo>
                  <a:pt x="11127042" y="1038987"/>
                </a:lnTo>
                <a:lnTo>
                  <a:pt x="10606342" y="1038987"/>
                </a:lnTo>
                <a:lnTo>
                  <a:pt x="10606342" y="518287"/>
                </a:lnTo>
                <a:close/>
                <a:moveTo>
                  <a:pt x="3715385" y="3168650"/>
                </a:moveTo>
                <a:lnTo>
                  <a:pt x="4236085" y="3168650"/>
                </a:lnTo>
                <a:lnTo>
                  <a:pt x="4236085" y="3689350"/>
                </a:lnTo>
                <a:lnTo>
                  <a:pt x="3715385" y="3689350"/>
                </a:lnTo>
                <a:close/>
                <a:moveTo>
                  <a:pt x="3705860" y="3689350"/>
                </a:moveTo>
                <a:lnTo>
                  <a:pt x="3185160" y="3689350"/>
                </a:lnTo>
                <a:lnTo>
                  <a:pt x="3185160" y="3168650"/>
                </a:lnTo>
                <a:lnTo>
                  <a:pt x="3705860" y="3168650"/>
                </a:lnTo>
                <a:close/>
                <a:moveTo>
                  <a:pt x="4245610" y="3168650"/>
                </a:moveTo>
                <a:lnTo>
                  <a:pt x="4766310" y="3168650"/>
                </a:lnTo>
                <a:lnTo>
                  <a:pt x="4766310" y="3689350"/>
                </a:lnTo>
                <a:lnTo>
                  <a:pt x="4245610" y="3689350"/>
                </a:lnTo>
                <a:close/>
                <a:moveTo>
                  <a:pt x="4775645" y="3168650"/>
                </a:moveTo>
                <a:lnTo>
                  <a:pt x="5296345" y="3168650"/>
                </a:lnTo>
                <a:lnTo>
                  <a:pt x="5296345" y="3689350"/>
                </a:lnTo>
                <a:lnTo>
                  <a:pt x="4775645" y="3689350"/>
                </a:lnTo>
                <a:close/>
                <a:moveTo>
                  <a:pt x="5305743" y="3168650"/>
                </a:moveTo>
                <a:lnTo>
                  <a:pt x="5826443" y="3168650"/>
                </a:lnTo>
                <a:lnTo>
                  <a:pt x="5826443" y="3689350"/>
                </a:lnTo>
                <a:lnTo>
                  <a:pt x="5305743" y="3689350"/>
                </a:lnTo>
                <a:close/>
                <a:moveTo>
                  <a:pt x="5835650" y="3168650"/>
                </a:moveTo>
                <a:lnTo>
                  <a:pt x="6356350" y="3168650"/>
                </a:lnTo>
                <a:lnTo>
                  <a:pt x="6356350" y="3689350"/>
                </a:lnTo>
                <a:lnTo>
                  <a:pt x="5835650" y="3689350"/>
                </a:lnTo>
                <a:close/>
                <a:moveTo>
                  <a:pt x="6365748" y="3168650"/>
                </a:moveTo>
                <a:lnTo>
                  <a:pt x="6886448" y="3168650"/>
                </a:lnTo>
                <a:lnTo>
                  <a:pt x="6886448" y="3689350"/>
                </a:lnTo>
                <a:lnTo>
                  <a:pt x="6365748" y="3689350"/>
                </a:lnTo>
                <a:close/>
                <a:moveTo>
                  <a:pt x="6895846" y="3168650"/>
                </a:moveTo>
                <a:lnTo>
                  <a:pt x="7416546" y="3168650"/>
                </a:lnTo>
                <a:lnTo>
                  <a:pt x="7416546" y="3689350"/>
                </a:lnTo>
                <a:lnTo>
                  <a:pt x="6895846" y="3689350"/>
                </a:lnTo>
                <a:close/>
                <a:moveTo>
                  <a:pt x="7425944" y="3168650"/>
                </a:moveTo>
                <a:lnTo>
                  <a:pt x="7946644" y="3168650"/>
                </a:lnTo>
                <a:lnTo>
                  <a:pt x="7946644" y="3689350"/>
                </a:lnTo>
                <a:lnTo>
                  <a:pt x="7425944" y="3689350"/>
                </a:lnTo>
                <a:close/>
                <a:moveTo>
                  <a:pt x="7955979" y="3168650"/>
                </a:moveTo>
                <a:lnTo>
                  <a:pt x="8476679" y="3168650"/>
                </a:lnTo>
                <a:lnTo>
                  <a:pt x="8476679" y="3689350"/>
                </a:lnTo>
                <a:lnTo>
                  <a:pt x="7955979" y="3689350"/>
                </a:lnTo>
                <a:close/>
                <a:moveTo>
                  <a:pt x="8486077" y="3168650"/>
                </a:moveTo>
                <a:lnTo>
                  <a:pt x="9006777" y="3168650"/>
                </a:lnTo>
                <a:lnTo>
                  <a:pt x="9006777" y="3689350"/>
                </a:lnTo>
                <a:lnTo>
                  <a:pt x="8486077" y="3689350"/>
                </a:lnTo>
                <a:close/>
                <a:moveTo>
                  <a:pt x="8486077" y="3159125"/>
                </a:moveTo>
                <a:lnTo>
                  <a:pt x="8486077" y="2638425"/>
                </a:lnTo>
                <a:lnTo>
                  <a:pt x="9006777" y="2638425"/>
                </a:lnTo>
                <a:lnTo>
                  <a:pt x="9006777" y="3159125"/>
                </a:lnTo>
                <a:close/>
                <a:moveTo>
                  <a:pt x="8476552" y="3159125"/>
                </a:moveTo>
                <a:lnTo>
                  <a:pt x="7955852" y="3159125"/>
                </a:lnTo>
                <a:lnTo>
                  <a:pt x="7955852" y="2638425"/>
                </a:lnTo>
                <a:lnTo>
                  <a:pt x="8476552" y="2638425"/>
                </a:lnTo>
                <a:close/>
                <a:moveTo>
                  <a:pt x="7946454" y="3159125"/>
                </a:moveTo>
                <a:lnTo>
                  <a:pt x="7425754" y="3159125"/>
                </a:lnTo>
                <a:lnTo>
                  <a:pt x="7425754" y="2638425"/>
                </a:lnTo>
                <a:lnTo>
                  <a:pt x="7946454" y="2638425"/>
                </a:lnTo>
                <a:close/>
                <a:moveTo>
                  <a:pt x="7416419" y="3159125"/>
                </a:moveTo>
                <a:lnTo>
                  <a:pt x="6895719" y="3159125"/>
                </a:lnTo>
                <a:lnTo>
                  <a:pt x="6895719" y="2638425"/>
                </a:lnTo>
                <a:lnTo>
                  <a:pt x="7416419" y="2638425"/>
                </a:lnTo>
                <a:close/>
                <a:moveTo>
                  <a:pt x="6886321" y="3159125"/>
                </a:moveTo>
                <a:lnTo>
                  <a:pt x="6365621" y="3159125"/>
                </a:lnTo>
                <a:lnTo>
                  <a:pt x="6365621" y="2638425"/>
                </a:lnTo>
                <a:lnTo>
                  <a:pt x="6886321" y="2638425"/>
                </a:lnTo>
                <a:close/>
                <a:moveTo>
                  <a:pt x="6356223" y="3159125"/>
                </a:moveTo>
                <a:lnTo>
                  <a:pt x="5835650" y="3159125"/>
                </a:lnTo>
                <a:lnTo>
                  <a:pt x="5835650" y="2638425"/>
                </a:lnTo>
                <a:lnTo>
                  <a:pt x="6356350" y="2638425"/>
                </a:lnTo>
                <a:close/>
                <a:moveTo>
                  <a:pt x="5826125" y="3159125"/>
                </a:moveTo>
                <a:lnTo>
                  <a:pt x="5305425" y="3159125"/>
                </a:lnTo>
                <a:lnTo>
                  <a:pt x="5305425" y="2638425"/>
                </a:lnTo>
                <a:lnTo>
                  <a:pt x="5826125" y="2638425"/>
                </a:lnTo>
                <a:close/>
                <a:moveTo>
                  <a:pt x="5296027" y="3159125"/>
                </a:moveTo>
                <a:lnTo>
                  <a:pt x="4775327" y="3159125"/>
                </a:lnTo>
                <a:lnTo>
                  <a:pt x="4775327" y="2638425"/>
                </a:lnTo>
                <a:lnTo>
                  <a:pt x="5296027" y="2638425"/>
                </a:lnTo>
                <a:close/>
                <a:moveTo>
                  <a:pt x="4765929" y="3159125"/>
                </a:moveTo>
                <a:lnTo>
                  <a:pt x="4245229" y="3159125"/>
                </a:lnTo>
                <a:lnTo>
                  <a:pt x="4245229" y="2638425"/>
                </a:lnTo>
                <a:lnTo>
                  <a:pt x="4765929" y="2638425"/>
                </a:lnTo>
                <a:close/>
                <a:moveTo>
                  <a:pt x="4235895" y="3159125"/>
                </a:moveTo>
                <a:lnTo>
                  <a:pt x="3715195" y="3159125"/>
                </a:lnTo>
                <a:lnTo>
                  <a:pt x="3715195" y="2638425"/>
                </a:lnTo>
                <a:lnTo>
                  <a:pt x="4235895" y="2638425"/>
                </a:lnTo>
                <a:close/>
                <a:moveTo>
                  <a:pt x="3705797" y="3159125"/>
                </a:moveTo>
                <a:lnTo>
                  <a:pt x="3185097" y="3159125"/>
                </a:lnTo>
                <a:lnTo>
                  <a:pt x="3185097" y="2638425"/>
                </a:lnTo>
                <a:lnTo>
                  <a:pt x="3705797" y="2638425"/>
                </a:lnTo>
                <a:close/>
                <a:moveTo>
                  <a:pt x="3175699" y="3159125"/>
                </a:moveTo>
                <a:lnTo>
                  <a:pt x="2654999" y="3159125"/>
                </a:lnTo>
                <a:lnTo>
                  <a:pt x="2654999" y="2638425"/>
                </a:lnTo>
                <a:lnTo>
                  <a:pt x="3175699" y="2638425"/>
                </a:lnTo>
                <a:close/>
                <a:moveTo>
                  <a:pt x="3175699" y="3168650"/>
                </a:moveTo>
                <a:lnTo>
                  <a:pt x="3175699" y="3689350"/>
                </a:lnTo>
                <a:lnTo>
                  <a:pt x="2654999" y="3689350"/>
                </a:lnTo>
                <a:lnTo>
                  <a:pt x="2654999" y="3168650"/>
                </a:lnTo>
                <a:close/>
                <a:moveTo>
                  <a:pt x="3175699" y="3698748"/>
                </a:moveTo>
                <a:lnTo>
                  <a:pt x="3175699" y="4219448"/>
                </a:lnTo>
                <a:lnTo>
                  <a:pt x="2654999" y="4219448"/>
                </a:lnTo>
                <a:lnTo>
                  <a:pt x="2654999" y="3698748"/>
                </a:lnTo>
                <a:close/>
                <a:moveTo>
                  <a:pt x="3185224" y="3698748"/>
                </a:moveTo>
                <a:lnTo>
                  <a:pt x="3705924" y="3698748"/>
                </a:lnTo>
                <a:lnTo>
                  <a:pt x="3705924" y="4219448"/>
                </a:lnTo>
                <a:lnTo>
                  <a:pt x="3185224" y="4219448"/>
                </a:lnTo>
                <a:close/>
                <a:moveTo>
                  <a:pt x="3715322" y="3698748"/>
                </a:moveTo>
                <a:lnTo>
                  <a:pt x="4236022" y="3698748"/>
                </a:lnTo>
                <a:lnTo>
                  <a:pt x="4236022" y="4219448"/>
                </a:lnTo>
                <a:lnTo>
                  <a:pt x="3715322" y="4219448"/>
                </a:lnTo>
                <a:close/>
                <a:moveTo>
                  <a:pt x="4245420" y="3698748"/>
                </a:moveTo>
                <a:lnTo>
                  <a:pt x="4766120" y="3698748"/>
                </a:lnTo>
                <a:lnTo>
                  <a:pt x="4766120" y="4219448"/>
                </a:lnTo>
                <a:lnTo>
                  <a:pt x="4245420" y="4219448"/>
                </a:lnTo>
                <a:close/>
                <a:moveTo>
                  <a:pt x="4775454" y="3698748"/>
                </a:moveTo>
                <a:lnTo>
                  <a:pt x="5296154" y="3698748"/>
                </a:lnTo>
                <a:lnTo>
                  <a:pt x="5296154" y="4219448"/>
                </a:lnTo>
                <a:lnTo>
                  <a:pt x="4775454" y="4219448"/>
                </a:lnTo>
                <a:close/>
                <a:moveTo>
                  <a:pt x="5305552" y="3698748"/>
                </a:moveTo>
                <a:lnTo>
                  <a:pt x="5826252" y="3698748"/>
                </a:lnTo>
                <a:lnTo>
                  <a:pt x="5826252" y="4219448"/>
                </a:lnTo>
                <a:lnTo>
                  <a:pt x="5305552" y="4219448"/>
                </a:lnTo>
                <a:close/>
                <a:moveTo>
                  <a:pt x="5835650" y="3698748"/>
                </a:moveTo>
                <a:lnTo>
                  <a:pt x="6356350" y="3698748"/>
                </a:lnTo>
                <a:lnTo>
                  <a:pt x="6356350" y="4219448"/>
                </a:lnTo>
                <a:lnTo>
                  <a:pt x="5835650" y="4219448"/>
                </a:lnTo>
                <a:close/>
                <a:moveTo>
                  <a:pt x="6365748" y="3698748"/>
                </a:moveTo>
                <a:lnTo>
                  <a:pt x="6886448" y="3698748"/>
                </a:lnTo>
                <a:lnTo>
                  <a:pt x="6886448" y="4219448"/>
                </a:lnTo>
                <a:lnTo>
                  <a:pt x="6365748" y="4219448"/>
                </a:lnTo>
                <a:close/>
                <a:moveTo>
                  <a:pt x="6895846" y="3698748"/>
                </a:moveTo>
                <a:lnTo>
                  <a:pt x="7416546" y="3698748"/>
                </a:lnTo>
                <a:lnTo>
                  <a:pt x="7416546" y="4219448"/>
                </a:lnTo>
                <a:lnTo>
                  <a:pt x="6895846" y="4219448"/>
                </a:lnTo>
                <a:close/>
                <a:moveTo>
                  <a:pt x="7425944" y="3698748"/>
                </a:moveTo>
                <a:lnTo>
                  <a:pt x="7946644" y="3698748"/>
                </a:lnTo>
                <a:lnTo>
                  <a:pt x="7946644" y="4219448"/>
                </a:lnTo>
                <a:lnTo>
                  <a:pt x="7425944" y="4219448"/>
                </a:lnTo>
                <a:close/>
                <a:moveTo>
                  <a:pt x="7955979" y="3698748"/>
                </a:moveTo>
                <a:lnTo>
                  <a:pt x="8476679" y="3698748"/>
                </a:lnTo>
                <a:lnTo>
                  <a:pt x="8476679" y="4219448"/>
                </a:lnTo>
                <a:lnTo>
                  <a:pt x="7955979" y="4219448"/>
                </a:lnTo>
                <a:close/>
                <a:moveTo>
                  <a:pt x="8486077" y="3698748"/>
                </a:moveTo>
                <a:lnTo>
                  <a:pt x="9006777" y="3698748"/>
                </a:lnTo>
                <a:lnTo>
                  <a:pt x="9006777" y="4219448"/>
                </a:lnTo>
                <a:lnTo>
                  <a:pt x="8486077" y="4219448"/>
                </a:lnTo>
                <a:close/>
                <a:moveTo>
                  <a:pt x="9016174" y="3698748"/>
                </a:moveTo>
                <a:lnTo>
                  <a:pt x="9536874" y="3698748"/>
                </a:lnTo>
                <a:lnTo>
                  <a:pt x="9536874" y="4219448"/>
                </a:lnTo>
                <a:lnTo>
                  <a:pt x="9016174" y="4219448"/>
                </a:lnTo>
                <a:close/>
                <a:moveTo>
                  <a:pt x="9016174" y="3689223"/>
                </a:moveTo>
                <a:lnTo>
                  <a:pt x="9016174" y="3168650"/>
                </a:lnTo>
                <a:lnTo>
                  <a:pt x="9536874" y="3168650"/>
                </a:lnTo>
                <a:lnTo>
                  <a:pt x="9536874" y="3689350"/>
                </a:lnTo>
                <a:close/>
                <a:moveTo>
                  <a:pt x="9016174" y="3159125"/>
                </a:moveTo>
                <a:lnTo>
                  <a:pt x="9016174" y="2638425"/>
                </a:lnTo>
                <a:lnTo>
                  <a:pt x="9536874" y="2638425"/>
                </a:lnTo>
                <a:lnTo>
                  <a:pt x="9536874" y="3159125"/>
                </a:lnTo>
                <a:close/>
                <a:moveTo>
                  <a:pt x="9016174" y="2629027"/>
                </a:moveTo>
                <a:lnTo>
                  <a:pt x="9016174" y="2108327"/>
                </a:lnTo>
                <a:lnTo>
                  <a:pt x="9536874" y="2108327"/>
                </a:lnTo>
                <a:lnTo>
                  <a:pt x="9536874" y="2629027"/>
                </a:lnTo>
                <a:close/>
                <a:moveTo>
                  <a:pt x="9006649" y="2629027"/>
                </a:moveTo>
                <a:lnTo>
                  <a:pt x="8485949" y="2629027"/>
                </a:lnTo>
                <a:lnTo>
                  <a:pt x="8485949" y="2108327"/>
                </a:lnTo>
                <a:lnTo>
                  <a:pt x="9006649" y="2108327"/>
                </a:lnTo>
                <a:close/>
                <a:moveTo>
                  <a:pt x="8476552" y="2629027"/>
                </a:moveTo>
                <a:lnTo>
                  <a:pt x="7955852" y="2629027"/>
                </a:lnTo>
                <a:lnTo>
                  <a:pt x="7955852" y="2108327"/>
                </a:lnTo>
                <a:lnTo>
                  <a:pt x="8476552" y="2108327"/>
                </a:lnTo>
                <a:close/>
                <a:moveTo>
                  <a:pt x="7946454" y="2629027"/>
                </a:moveTo>
                <a:lnTo>
                  <a:pt x="7425754" y="2629027"/>
                </a:lnTo>
                <a:lnTo>
                  <a:pt x="7425754" y="2108327"/>
                </a:lnTo>
                <a:lnTo>
                  <a:pt x="7946454" y="2108327"/>
                </a:lnTo>
                <a:close/>
                <a:moveTo>
                  <a:pt x="7416800" y="2628900"/>
                </a:moveTo>
                <a:lnTo>
                  <a:pt x="6896100" y="2628900"/>
                </a:lnTo>
                <a:lnTo>
                  <a:pt x="6896100" y="2108200"/>
                </a:lnTo>
                <a:lnTo>
                  <a:pt x="7416800" y="2108200"/>
                </a:lnTo>
                <a:close/>
                <a:moveTo>
                  <a:pt x="6886702" y="2628900"/>
                </a:moveTo>
                <a:lnTo>
                  <a:pt x="6366002" y="2628900"/>
                </a:lnTo>
                <a:lnTo>
                  <a:pt x="6366002" y="2108200"/>
                </a:lnTo>
                <a:lnTo>
                  <a:pt x="6886702" y="2108200"/>
                </a:lnTo>
                <a:close/>
                <a:moveTo>
                  <a:pt x="6356350" y="2628900"/>
                </a:moveTo>
                <a:lnTo>
                  <a:pt x="5835650" y="2628900"/>
                </a:lnTo>
                <a:lnTo>
                  <a:pt x="5835650" y="2108200"/>
                </a:lnTo>
                <a:lnTo>
                  <a:pt x="6356350" y="2108200"/>
                </a:lnTo>
                <a:close/>
                <a:moveTo>
                  <a:pt x="5826252" y="2628900"/>
                </a:moveTo>
                <a:lnTo>
                  <a:pt x="5305552" y="2628900"/>
                </a:lnTo>
                <a:lnTo>
                  <a:pt x="5305552" y="2108200"/>
                </a:lnTo>
                <a:lnTo>
                  <a:pt x="5826252" y="2108200"/>
                </a:lnTo>
                <a:close/>
                <a:moveTo>
                  <a:pt x="5295900" y="2628900"/>
                </a:moveTo>
                <a:lnTo>
                  <a:pt x="4775200" y="2628900"/>
                </a:lnTo>
                <a:lnTo>
                  <a:pt x="4775200" y="2108200"/>
                </a:lnTo>
                <a:lnTo>
                  <a:pt x="5295900" y="2108200"/>
                </a:lnTo>
                <a:close/>
                <a:moveTo>
                  <a:pt x="4765802" y="2628900"/>
                </a:moveTo>
                <a:lnTo>
                  <a:pt x="4245102" y="2628900"/>
                </a:lnTo>
                <a:lnTo>
                  <a:pt x="4245102" y="2108200"/>
                </a:lnTo>
                <a:lnTo>
                  <a:pt x="4765802" y="2108200"/>
                </a:lnTo>
                <a:close/>
                <a:moveTo>
                  <a:pt x="4235768" y="2628900"/>
                </a:moveTo>
                <a:lnTo>
                  <a:pt x="3715068" y="2628900"/>
                </a:lnTo>
                <a:lnTo>
                  <a:pt x="3715068" y="2108200"/>
                </a:lnTo>
                <a:lnTo>
                  <a:pt x="4235768" y="2108200"/>
                </a:lnTo>
                <a:close/>
                <a:moveTo>
                  <a:pt x="3705670" y="2628900"/>
                </a:moveTo>
                <a:lnTo>
                  <a:pt x="3184970" y="2628900"/>
                </a:lnTo>
                <a:lnTo>
                  <a:pt x="3184970" y="2108200"/>
                </a:lnTo>
                <a:lnTo>
                  <a:pt x="3705670" y="2108200"/>
                </a:lnTo>
                <a:close/>
                <a:moveTo>
                  <a:pt x="3175572" y="2628900"/>
                </a:moveTo>
                <a:lnTo>
                  <a:pt x="2654872" y="2628900"/>
                </a:lnTo>
                <a:lnTo>
                  <a:pt x="2654872" y="2108200"/>
                </a:lnTo>
                <a:lnTo>
                  <a:pt x="3175572" y="2108200"/>
                </a:lnTo>
                <a:close/>
                <a:moveTo>
                  <a:pt x="2645474" y="2628900"/>
                </a:moveTo>
                <a:lnTo>
                  <a:pt x="2124774" y="2628900"/>
                </a:lnTo>
                <a:lnTo>
                  <a:pt x="2124774" y="2108200"/>
                </a:lnTo>
                <a:lnTo>
                  <a:pt x="2645474" y="2108200"/>
                </a:lnTo>
                <a:close/>
                <a:moveTo>
                  <a:pt x="2645474" y="2638425"/>
                </a:moveTo>
                <a:lnTo>
                  <a:pt x="2645474" y="3159125"/>
                </a:lnTo>
                <a:lnTo>
                  <a:pt x="2124774" y="3159125"/>
                </a:lnTo>
                <a:lnTo>
                  <a:pt x="2124774" y="2638425"/>
                </a:lnTo>
                <a:close/>
                <a:moveTo>
                  <a:pt x="2645474" y="3168523"/>
                </a:moveTo>
                <a:lnTo>
                  <a:pt x="2645474" y="3689223"/>
                </a:lnTo>
                <a:lnTo>
                  <a:pt x="2124774" y="3689223"/>
                </a:lnTo>
                <a:lnTo>
                  <a:pt x="2124774" y="3168650"/>
                </a:lnTo>
                <a:close/>
                <a:moveTo>
                  <a:pt x="2645474" y="3698621"/>
                </a:moveTo>
                <a:lnTo>
                  <a:pt x="2645474" y="4219321"/>
                </a:lnTo>
                <a:lnTo>
                  <a:pt x="2124774" y="4219321"/>
                </a:lnTo>
                <a:lnTo>
                  <a:pt x="2124774" y="3698621"/>
                </a:lnTo>
                <a:close/>
                <a:moveTo>
                  <a:pt x="2645474" y="4228719"/>
                </a:moveTo>
                <a:lnTo>
                  <a:pt x="2645474" y="4749419"/>
                </a:lnTo>
                <a:lnTo>
                  <a:pt x="2124774" y="4749419"/>
                </a:lnTo>
                <a:lnTo>
                  <a:pt x="2124774" y="4229100"/>
                </a:lnTo>
                <a:close/>
                <a:moveTo>
                  <a:pt x="2654999" y="4228719"/>
                </a:moveTo>
                <a:lnTo>
                  <a:pt x="3175699" y="4228719"/>
                </a:lnTo>
                <a:lnTo>
                  <a:pt x="3175699" y="4749419"/>
                </a:lnTo>
                <a:lnTo>
                  <a:pt x="2654999" y="4749419"/>
                </a:lnTo>
                <a:close/>
                <a:moveTo>
                  <a:pt x="3185097" y="4228719"/>
                </a:moveTo>
                <a:lnTo>
                  <a:pt x="3705797" y="4228719"/>
                </a:lnTo>
                <a:lnTo>
                  <a:pt x="3705797" y="4749419"/>
                </a:lnTo>
                <a:lnTo>
                  <a:pt x="3185097" y="4749419"/>
                </a:lnTo>
                <a:close/>
                <a:moveTo>
                  <a:pt x="3715195" y="4228719"/>
                </a:moveTo>
                <a:lnTo>
                  <a:pt x="4235895" y="4228719"/>
                </a:lnTo>
                <a:lnTo>
                  <a:pt x="4235895" y="4749419"/>
                </a:lnTo>
                <a:lnTo>
                  <a:pt x="3715195" y="4749419"/>
                </a:lnTo>
                <a:close/>
                <a:moveTo>
                  <a:pt x="4245293" y="4228719"/>
                </a:moveTo>
                <a:lnTo>
                  <a:pt x="4765993" y="4228719"/>
                </a:lnTo>
                <a:lnTo>
                  <a:pt x="4765993" y="4749419"/>
                </a:lnTo>
                <a:lnTo>
                  <a:pt x="4245293" y="4749419"/>
                </a:lnTo>
                <a:close/>
                <a:moveTo>
                  <a:pt x="4775327" y="4228719"/>
                </a:moveTo>
                <a:lnTo>
                  <a:pt x="5296027" y="4228719"/>
                </a:lnTo>
                <a:lnTo>
                  <a:pt x="5296027" y="4749419"/>
                </a:lnTo>
                <a:lnTo>
                  <a:pt x="4775327" y="4749419"/>
                </a:lnTo>
                <a:close/>
                <a:moveTo>
                  <a:pt x="5305425" y="4228719"/>
                </a:moveTo>
                <a:lnTo>
                  <a:pt x="5826125" y="4228719"/>
                </a:lnTo>
                <a:lnTo>
                  <a:pt x="5826125" y="4749419"/>
                </a:lnTo>
                <a:lnTo>
                  <a:pt x="5305425" y="4749419"/>
                </a:lnTo>
                <a:close/>
                <a:moveTo>
                  <a:pt x="5835650" y="4229100"/>
                </a:moveTo>
                <a:lnTo>
                  <a:pt x="6356350" y="4229100"/>
                </a:lnTo>
                <a:lnTo>
                  <a:pt x="6356350" y="4749800"/>
                </a:lnTo>
                <a:lnTo>
                  <a:pt x="5835650" y="4749800"/>
                </a:lnTo>
                <a:close/>
                <a:moveTo>
                  <a:pt x="6365748" y="4229100"/>
                </a:moveTo>
                <a:lnTo>
                  <a:pt x="6886448" y="4229100"/>
                </a:lnTo>
                <a:lnTo>
                  <a:pt x="6886448" y="4749800"/>
                </a:lnTo>
                <a:lnTo>
                  <a:pt x="6365748" y="4749800"/>
                </a:lnTo>
                <a:close/>
                <a:moveTo>
                  <a:pt x="6895846" y="4229100"/>
                </a:moveTo>
                <a:lnTo>
                  <a:pt x="7416546" y="4229100"/>
                </a:lnTo>
                <a:lnTo>
                  <a:pt x="7416546" y="4749800"/>
                </a:lnTo>
                <a:lnTo>
                  <a:pt x="6895846" y="4749800"/>
                </a:lnTo>
                <a:close/>
                <a:moveTo>
                  <a:pt x="7425944" y="4229100"/>
                </a:moveTo>
                <a:lnTo>
                  <a:pt x="7946644" y="4229100"/>
                </a:lnTo>
                <a:lnTo>
                  <a:pt x="7946644" y="4749800"/>
                </a:lnTo>
                <a:lnTo>
                  <a:pt x="7425944" y="4749800"/>
                </a:lnTo>
                <a:close/>
                <a:moveTo>
                  <a:pt x="7955979" y="4229100"/>
                </a:moveTo>
                <a:lnTo>
                  <a:pt x="8476679" y="4229100"/>
                </a:lnTo>
                <a:lnTo>
                  <a:pt x="8476679" y="4749800"/>
                </a:lnTo>
                <a:lnTo>
                  <a:pt x="7955979" y="4749800"/>
                </a:lnTo>
                <a:close/>
                <a:moveTo>
                  <a:pt x="8486077" y="4229100"/>
                </a:moveTo>
                <a:lnTo>
                  <a:pt x="9006777" y="4229100"/>
                </a:lnTo>
                <a:lnTo>
                  <a:pt x="9006777" y="4749800"/>
                </a:lnTo>
                <a:lnTo>
                  <a:pt x="8486077" y="4749800"/>
                </a:lnTo>
                <a:close/>
                <a:moveTo>
                  <a:pt x="9016174" y="4229100"/>
                </a:moveTo>
                <a:lnTo>
                  <a:pt x="9536874" y="4229100"/>
                </a:lnTo>
                <a:lnTo>
                  <a:pt x="9536874" y="4749800"/>
                </a:lnTo>
                <a:lnTo>
                  <a:pt x="9016174" y="4749800"/>
                </a:lnTo>
                <a:close/>
                <a:moveTo>
                  <a:pt x="9546272" y="4229100"/>
                </a:moveTo>
                <a:lnTo>
                  <a:pt x="10066972" y="4229100"/>
                </a:lnTo>
                <a:lnTo>
                  <a:pt x="10066972" y="4749800"/>
                </a:lnTo>
                <a:lnTo>
                  <a:pt x="9546272" y="4749800"/>
                </a:lnTo>
                <a:close/>
                <a:moveTo>
                  <a:pt x="9546272" y="4219575"/>
                </a:moveTo>
                <a:lnTo>
                  <a:pt x="9546272" y="3698875"/>
                </a:lnTo>
                <a:lnTo>
                  <a:pt x="10066972" y="3698875"/>
                </a:lnTo>
                <a:lnTo>
                  <a:pt x="10066972" y="4219575"/>
                </a:lnTo>
                <a:close/>
                <a:moveTo>
                  <a:pt x="9546272" y="3689477"/>
                </a:moveTo>
                <a:lnTo>
                  <a:pt x="9546272" y="3168650"/>
                </a:lnTo>
                <a:lnTo>
                  <a:pt x="10066972" y="3168650"/>
                </a:lnTo>
                <a:lnTo>
                  <a:pt x="10066972" y="3689350"/>
                </a:lnTo>
                <a:close/>
                <a:moveTo>
                  <a:pt x="9546272" y="3159379"/>
                </a:moveTo>
                <a:lnTo>
                  <a:pt x="9546272" y="2638679"/>
                </a:lnTo>
                <a:lnTo>
                  <a:pt x="10066972" y="2638679"/>
                </a:lnTo>
                <a:lnTo>
                  <a:pt x="10066972" y="3159379"/>
                </a:lnTo>
                <a:close/>
                <a:moveTo>
                  <a:pt x="9546272" y="2629281"/>
                </a:moveTo>
                <a:lnTo>
                  <a:pt x="9546272" y="2108581"/>
                </a:lnTo>
                <a:lnTo>
                  <a:pt x="10066972" y="2108581"/>
                </a:lnTo>
                <a:lnTo>
                  <a:pt x="10066972" y="2629281"/>
                </a:lnTo>
                <a:close/>
                <a:moveTo>
                  <a:pt x="9546272" y="2099247"/>
                </a:moveTo>
                <a:lnTo>
                  <a:pt x="9546272" y="1578547"/>
                </a:lnTo>
                <a:lnTo>
                  <a:pt x="10066972" y="1578547"/>
                </a:lnTo>
                <a:lnTo>
                  <a:pt x="10066972" y="2099247"/>
                </a:lnTo>
                <a:close/>
                <a:moveTo>
                  <a:pt x="9536747" y="2099247"/>
                </a:moveTo>
                <a:lnTo>
                  <a:pt x="9016047" y="2099247"/>
                </a:lnTo>
                <a:lnTo>
                  <a:pt x="9016047" y="1578547"/>
                </a:lnTo>
                <a:lnTo>
                  <a:pt x="9536747" y="1578547"/>
                </a:lnTo>
                <a:close/>
                <a:moveTo>
                  <a:pt x="9006649" y="2099247"/>
                </a:moveTo>
                <a:lnTo>
                  <a:pt x="8485949" y="2099247"/>
                </a:lnTo>
                <a:lnTo>
                  <a:pt x="8485949" y="1578547"/>
                </a:lnTo>
                <a:lnTo>
                  <a:pt x="9006649" y="1578547"/>
                </a:lnTo>
                <a:close/>
                <a:moveTo>
                  <a:pt x="8476552" y="2099247"/>
                </a:moveTo>
                <a:lnTo>
                  <a:pt x="7955852" y="2099247"/>
                </a:lnTo>
                <a:lnTo>
                  <a:pt x="7955852" y="1578547"/>
                </a:lnTo>
                <a:lnTo>
                  <a:pt x="8476552" y="1578547"/>
                </a:lnTo>
                <a:close/>
                <a:moveTo>
                  <a:pt x="7946454" y="2099247"/>
                </a:moveTo>
                <a:lnTo>
                  <a:pt x="7425754" y="2099247"/>
                </a:lnTo>
                <a:lnTo>
                  <a:pt x="7425754" y="1578547"/>
                </a:lnTo>
                <a:lnTo>
                  <a:pt x="7946454" y="1578547"/>
                </a:lnTo>
                <a:close/>
                <a:moveTo>
                  <a:pt x="7416419" y="2099247"/>
                </a:moveTo>
                <a:lnTo>
                  <a:pt x="6895719" y="2099247"/>
                </a:lnTo>
                <a:lnTo>
                  <a:pt x="6895719" y="1578547"/>
                </a:lnTo>
                <a:lnTo>
                  <a:pt x="7416419" y="1578547"/>
                </a:lnTo>
                <a:close/>
                <a:moveTo>
                  <a:pt x="6886321" y="2099247"/>
                </a:moveTo>
                <a:lnTo>
                  <a:pt x="6365621" y="2099247"/>
                </a:lnTo>
                <a:lnTo>
                  <a:pt x="6365621" y="1578547"/>
                </a:lnTo>
                <a:lnTo>
                  <a:pt x="6886321" y="1578547"/>
                </a:lnTo>
                <a:close/>
                <a:moveTo>
                  <a:pt x="6356223" y="2099247"/>
                </a:moveTo>
                <a:lnTo>
                  <a:pt x="5835650" y="2099247"/>
                </a:lnTo>
                <a:lnTo>
                  <a:pt x="5835650" y="1578547"/>
                </a:lnTo>
                <a:lnTo>
                  <a:pt x="6356350" y="1578547"/>
                </a:lnTo>
                <a:close/>
                <a:moveTo>
                  <a:pt x="5826125" y="2099247"/>
                </a:moveTo>
                <a:lnTo>
                  <a:pt x="5305425" y="2099247"/>
                </a:lnTo>
                <a:lnTo>
                  <a:pt x="5305425" y="1578547"/>
                </a:lnTo>
                <a:lnTo>
                  <a:pt x="5826125" y="1578547"/>
                </a:lnTo>
                <a:close/>
                <a:moveTo>
                  <a:pt x="5296027" y="2099247"/>
                </a:moveTo>
                <a:lnTo>
                  <a:pt x="4775327" y="2099247"/>
                </a:lnTo>
                <a:lnTo>
                  <a:pt x="4775327" y="1578547"/>
                </a:lnTo>
                <a:lnTo>
                  <a:pt x="5296027" y="1578547"/>
                </a:lnTo>
                <a:close/>
                <a:moveTo>
                  <a:pt x="4765929" y="2099247"/>
                </a:moveTo>
                <a:lnTo>
                  <a:pt x="4245229" y="2099247"/>
                </a:lnTo>
                <a:lnTo>
                  <a:pt x="4245229" y="1578547"/>
                </a:lnTo>
                <a:lnTo>
                  <a:pt x="4765929" y="1578547"/>
                </a:lnTo>
                <a:close/>
                <a:moveTo>
                  <a:pt x="4235895" y="2099247"/>
                </a:moveTo>
                <a:lnTo>
                  <a:pt x="3715195" y="2099247"/>
                </a:lnTo>
                <a:lnTo>
                  <a:pt x="3715195" y="1578547"/>
                </a:lnTo>
                <a:lnTo>
                  <a:pt x="4235895" y="1578547"/>
                </a:lnTo>
                <a:close/>
                <a:moveTo>
                  <a:pt x="3705797" y="2099247"/>
                </a:moveTo>
                <a:lnTo>
                  <a:pt x="3185097" y="2099247"/>
                </a:lnTo>
                <a:lnTo>
                  <a:pt x="3185097" y="1578547"/>
                </a:lnTo>
                <a:lnTo>
                  <a:pt x="3705797" y="1578547"/>
                </a:lnTo>
                <a:close/>
                <a:moveTo>
                  <a:pt x="3175699" y="2099247"/>
                </a:moveTo>
                <a:lnTo>
                  <a:pt x="2654999" y="2099247"/>
                </a:lnTo>
                <a:lnTo>
                  <a:pt x="2654999" y="1578547"/>
                </a:lnTo>
                <a:lnTo>
                  <a:pt x="3175699" y="1578547"/>
                </a:lnTo>
                <a:close/>
                <a:moveTo>
                  <a:pt x="2645601" y="2099247"/>
                </a:moveTo>
                <a:lnTo>
                  <a:pt x="2124901" y="2099247"/>
                </a:lnTo>
                <a:lnTo>
                  <a:pt x="2124901" y="1578547"/>
                </a:lnTo>
                <a:lnTo>
                  <a:pt x="2645601" y="1578547"/>
                </a:lnTo>
                <a:close/>
                <a:moveTo>
                  <a:pt x="2115503" y="2099247"/>
                </a:moveTo>
                <a:lnTo>
                  <a:pt x="1594803" y="2099247"/>
                </a:lnTo>
                <a:lnTo>
                  <a:pt x="1594803" y="1578547"/>
                </a:lnTo>
                <a:lnTo>
                  <a:pt x="2115503" y="1578547"/>
                </a:lnTo>
                <a:close/>
                <a:moveTo>
                  <a:pt x="2115503" y="2108772"/>
                </a:moveTo>
                <a:lnTo>
                  <a:pt x="2115503" y="2629472"/>
                </a:lnTo>
                <a:lnTo>
                  <a:pt x="1594803" y="2629472"/>
                </a:lnTo>
                <a:lnTo>
                  <a:pt x="1594803" y="2108772"/>
                </a:lnTo>
                <a:close/>
                <a:moveTo>
                  <a:pt x="2115503" y="2638806"/>
                </a:moveTo>
                <a:lnTo>
                  <a:pt x="2115503" y="3159506"/>
                </a:lnTo>
                <a:lnTo>
                  <a:pt x="1594803" y="3159506"/>
                </a:lnTo>
                <a:lnTo>
                  <a:pt x="1594803" y="2638806"/>
                </a:lnTo>
                <a:close/>
                <a:moveTo>
                  <a:pt x="2115503" y="3168904"/>
                </a:moveTo>
                <a:lnTo>
                  <a:pt x="2115503" y="3689604"/>
                </a:lnTo>
                <a:lnTo>
                  <a:pt x="1594803" y="3689604"/>
                </a:lnTo>
                <a:lnTo>
                  <a:pt x="1594803" y="3168650"/>
                </a:lnTo>
                <a:close/>
                <a:moveTo>
                  <a:pt x="2115503" y="3699002"/>
                </a:moveTo>
                <a:lnTo>
                  <a:pt x="2115503" y="4219702"/>
                </a:lnTo>
                <a:lnTo>
                  <a:pt x="1594803" y="4219702"/>
                </a:lnTo>
                <a:lnTo>
                  <a:pt x="1594803" y="3699002"/>
                </a:lnTo>
                <a:close/>
                <a:moveTo>
                  <a:pt x="2115503" y="4229100"/>
                </a:moveTo>
                <a:lnTo>
                  <a:pt x="2115503" y="4749800"/>
                </a:lnTo>
                <a:lnTo>
                  <a:pt x="1594803" y="4749800"/>
                </a:lnTo>
                <a:lnTo>
                  <a:pt x="1594803" y="4229100"/>
                </a:lnTo>
                <a:close/>
                <a:moveTo>
                  <a:pt x="2115503" y="4759198"/>
                </a:moveTo>
                <a:lnTo>
                  <a:pt x="2115503" y="5279898"/>
                </a:lnTo>
                <a:lnTo>
                  <a:pt x="1594803" y="5279898"/>
                </a:lnTo>
                <a:lnTo>
                  <a:pt x="1594803" y="4759198"/>
                </a:lnTo>
                <a:close/>
                <a:moveTo>
                  <a:pt x="2125028" y="4759198"/>
                </a:moveTo>
                <a:lnTo>
                  <a:pt x="2645728" y="4759198"/>
                </a:lnTo>
                <a:lnTo>
                  <a:pt x="2645728" y="5279898"/>
                </a:lnTo>
                <a:lnTo>
                  <a:pt x="2125028" y="5279898"/>
                </a:lnTo>
                <a:close/>
                <a:moveTo>
                  <a:pt x="2655126" y="4759198"/>
                </a:moveTo>
                <a:lnTo>
                  <a:pt x="3175826" y="4759198"/>
                </a:lnTo>
                <a:lnTo>
                  <a:pt x="3175826" y="5279898"/>
                </a:lnTo>
                <a:lnTo>
                  <a:pt x="2655126" y="5279898"/>
                </a:lnTo>
                <a:close/>
                <a:moveTo>
                  <a:pt x="3185224" y="4759198"/>
                </a:moveTo>
                <a:lnTo>
                  <a:pt x="3705924" y="4759198"/>
                </a:lnTo>
                <a:lnTo>
                  <a:pt x="3705924" y="5279898"/>
                </a:lnTo>
                <a:lnTo>
                  <a:pt x="3185224" y="5279898"/>
                </a:lnTo>
                <a:close/>
                <a:moveTo>
                  <a:pt x="3715322" y="4759198"/>
                </a:moveTo>
                <a:lnTo>
                  <a:pt x="4236022" y="4759198"/>
                </a:lnTo>
                <a:lnTo>
                  <a:pt x="4236022" y="5279898"/>
                </a:lnTo>
                <a:lnTo>
                  <a:pt x="3715322" y="5279898"/>
                </a:lnTo>
                <a:close/>
                <a:moveTo>
                  <a:pt x="4245420" y="4759198"/>
                </a:moveTo>
                <a:lnTo>
                  <a:pt x="4766120" y="4759198"/>
                </a:lnTo>
                <a:lnTo>
                  <a:pt x="4766120" y="5279898"/>
                </a:lnTo>
                <a:lnTo>
                  <a:pt x="4245420" y="5279898"/>
                </a:lnTo>
                <a:close/>
                <a:moveTo>
                  <a:pt x="4775454" y="4759198"/>
                </a:moveTo>
                <a:lnTo>
                  <a:pt x="5296154" y="4759198"/>
                </a:lnTo>
                <a:lnTo>
                  <a:pt x="5296154" y="5279898"/>
                </a:lnTo>
                <a:lnTo>
                  <a:pt x="4775454" y="5279898"/>
                </a:lnTo>
                <a:close/>
                <a:moveTo>
                  <a:pt x="5305552" y="4759198"/>
                </a:moveTo>
                <a:lnTo>
                  <a:pt x="5826252" y="4759198"/>
                </a:lnTo>
                <a:lnTo>
                  <a:pt x="5826252" y="5279898"/>
                </a:lnTo>
                <a:lnTo>
                  <a:pt x="5305552" y="5279898"/>
                </a:lnTo>
                <a:close/>
                <a:moveTo>
                  <a:pt x="5835650" y="4759198"/>
                </a:moveTo>
                <a:lnTo>
                  <a:pt x="6356350" y="4759198"/>
                </a:lnTo>
                <a:lnTo>
                  <a:pt x="6356350" y="5279898"/>
                </a:lnTo>
                <a:lnTo>
                  <a:pt x="5835650" y="5279898"/>
                </a:lnTo>
                <a:close/>
                <a:moveTo>
                  <a:pt x="6365748" y="4759198"/>
                </a:moveTo>
                <a:lnTo>
                  <a:pt x="6886448" y="4759198"/>
                </a:lnTo>
                <a:lnTo>
                  <a:pt x="6886448" y="5279898"/>
                </a:lnTo>
                <a:lnTo>
                  <a:pt x="6365748" y="5279898"/>
                </a:lnTo>
                <a:close/>
                <a:moveTo>
                  <a:pt x="6895846" y="4759198"/>
                </a:moveTo>
                <a:lnTo>
                  <a:pt x="7416546" y="4759198"/>
                </a:lnTo>
                <a:lnTo>
                  <a:pt x="7416546" y="5279898"/>
                </a:lnTo>
                <a:lnTo>
                  <a:pt x="6895846" y="5279898"/>
                </a:lnTo>
                <a:close/>
                <a:moveTo>
                  <a:pt x="7425944" y="4759198"/>
                </a:moveTo>
                <a:lnTo>
                  <a:pt x="7946644" y="4759198"/>
                </a:lnTo>
                <a:lnTo>
                  <a:pt x="7946644" y="5279898"/>
                </a:lnTo>
                <a:lnTo>
                  <a:pt x="7425944" y="5279898"/>
                </a:lnTo>
                <a:close/>
                <a:moveTo>
                  <a:pt x="7955979" y="4759198"/>
                </a:moveTo>
                <a:lnTo>
                  <a:pt x="8476679" y="4759198"/>
                </a:lnTo>
                <a:lnTo>
                  <a:pt x="8476679" y="5279898"/>
                </a:lnTo>
                <a:lnTo>
                  <a:pt x="7955979" y="5279898"/>
                </a:lnTo>
                <a:close/>
                <a:moveTo>
                  <a:pt x="8486077" y="4759198"/>
                </a:moveTo>
                <a:lnTo>
                  <a:pt x="9006777" y="4759198"/>
                </a:lnTo>
                <a:lnTo>
                  <a:pt x="9006777" y="5279898"/>
                </a:lnTo>
                <a:lnTo>
                  <a:pt x="8486077" y="5279898"/>
                </a:lnTo>
                <a:close/>
                <a:moveTo>
                  <a:pt x="9016174" y="4759198"/>
                </a:moveTo>
                <a:lnTo>
                  <a:pt x="9536874" y="4759198"/>
                </a:lnTo>
                <a:lnTo>
                  <a:pt x="9536874" y="5279898"/>
                </a:lnTo>
                <a:lnTo>
                  <a:pt x="9016174" y="5279898"/>
                </a:lnTo>
                <a:close/>
                <a:moveTo>
                  <a:pt x="9546272" y="4759198"/>
                </a:moveTo>
                <a:lnTo>
                  <a:pt x="10066972" y="4759198"/>
                </a:lnTo>
                <a:lnTo>
                  <a:pt x="10066972" y="5279898"/>
                </a:lnTo>
                <a:lnTo>
                  <a:pt x="9546272" y="5279898"/>
                </a:lnTo>
                <a:close/>
                <a:moveTo>
                  <a:pt x="10076370" y="4759198"/>
                </a:moveTo>
                <a:lnTo>
                  <a:pt x="10597070" y="4759198"/>
                </a:lnTo>
                <a:lnTo>
                  <a:pt x="10597070" y="5279898"/>
                </a:lnTo>
                <a:lnTo>
                  <a:pt x="10076370" y="5279898"/>
                </a:lnTo>
                <a:close/>
                <a:moveTo>
                  <a:pt x="10076370" y="4749673"/>
                </a:moveTo>
                <a:lnTo>
                  <a:pt x="10076370" y="4229100"/>
                </a:lnTo>
                <a:lnTo>
                  <a:pt x="10597070" y="4229100"/>
                </a:lnTo>
                <a:lnTo>
                  <a:pt x="10597070" y="4749800"/>
                </a:lnTo>
                <a:close/>
                <a:moveTo>
                  <a:pt x="10076370" y="4219575"/>
                </a:moveTo>
                <a:lnTo>
                  <a:pt x="10076370" y="3698875"/>
                </a:lnTo>
                <a:lnTo>
                  <a:pt x="10597070" y="3698875"/>
                </a:lnTo>
                <a:lnTo>
                  <a:pt x="10597070" y="4219575"/>
                </a:lnTo>
                <a:close/>
                <a:moveTo>
                  <a:pt x="10076370" y="3689477"/>
                </a:moveTo>
                <a:lnTo>
                  <a:pt x="10076370" y="3168650"/>
                </a:lnTo>
                <a:lnTo>
                  <a:pt x="10597070" y="3168650"/>
                </a:lnTo>
                <a:lnTo>
                  <a:pt x="10597070" y="3689350"/>
                </a:lnTo>
                <a:close/>
                <a:moveTo>
                  <a:pt x="10076370" y="3159379"/>
                </a:moveTo>
                <a:lnTo>
                  <a:pt x="10076370" y="2638679"/>
                </a:lnTo>
                <a:lnTo>
                  <a:pt x="10597070" y="2638679"/>
                </a:lnTo>
                <a:lnTo>
                  <a:pt x="10597070" y="3159379"/>
                </a:lnTo>
                <a:close/>
                <a:moveTo>
                  <a:pt x="10076370" y="2629281"/>
                </a:moveTo>
                <a:lnTo>
                  <a:pt x="10076370" y="2108581"/>
                </a:lnTo>
                <a:lnTo>
                  <a:pt x="10597070" y="2108581"/>
                </a:lnTo>
                <a:lnTo>
                  <a:pt x="10597070" y="2629281"/>
                </a:lnTo>
                <a:close/>
                <a:moveTo>
                  <a:pt x="10076370" y="2099247"/>
                </a:moveTo>
                <a:lnTo>
                  <a:pt x="10076370" y="1578547"/>
                </a:lnTo>
                <a:lnTo>
                  <a:pt x="10597070" y="1578547"/>
                </a:lnTo>
                <a:lnTo>
                  <a:pt x="10597070" y="2099247"/>
                </a:lnTo>
                <a:close/>
                <a:moveTo>
                  <a:pt x="10076370" y="1569149"/>
                </a:moveTo>
                <a:lnTo>
                  <a:pt x="10076370" y="1048449"/>
                </a:lnTo>
                <a:lnTo>
                  <a:pt x="10597070" y="1048449"/>
                </a:lnTo>
                <a:lnTo>
                  <a:pt x="10597070" y="1569149"/>
                </a:lnTo>
                <a:close/>
                <a:moveTo>
                  <a:pt x="10066845" y="1569149"/>
                </a:moveTo>
                <a:lnTo>
                  <a:pt x="9546145" y="1569149"/>
                </a:lnTo>
                <a:lnTo>
                  <a:pt x="9546145" y="1048449"/>
                </a:lnTo>
                <a:lnTo>
                  <a:pt x="10066845" y="1048449"/>
                </a:lnTo>
                <a:close/>
                <a:moveTo>
                  <a:pt x="9536747" y="1569149"/>
                </a:moveTo>
                <a:lnTo>
                  <a:pt x="9016047" y="1569149"/>
                </a:lnTo>
                <a:lnTo>
                  <a:pt x="9016047" y="1048449"/>
                </a:lnTo>
                <a:lnTo>
                  <a:pt x="9536747" y="1048449"/>
                </a:lnTo>
                <a:close/>
                <a:moveTo>
                  <a:pt x="9006649" y="1569149"/>
                </a:moveTo>
                <a:lnTo>
                  <a:pt x="8485949" y="1569149"/>
                </a:lnTo>
                <a:lnTo>
                  <a:pt x="8485949" y="1048449"/>
                </a:lnTo>
                <a:lnTo>
                  <a:pt x="9006649" y="1048449"/>
                </a:lnTo>
                <a:close/>
                <a:moveTo>
                  <a:pt x="8476552" y="1569149"/>
                </a:moveTo>
                <a:lnTo>
                  <a:pt x="7955852" y="1569149"/>
                </a:lnTo>
                <a:lnTo>
                  <a:pt x="7955852" y="1048449"/>
                </a:lnTo>
                <a:lnTo>
                  <a:pt x="8476552" y="1048449"/>
                </a:lnTo>
                <a:close/>
                <a:moveTo>
                  <a:pt x="7946454" y="1569149"/>
                </a:moveTo>
                <a:lnTo>
                  <a:pt x="7425754" y="1569149"/>
                </a:lnTo>
                <a:lnTo>
                  <a:pt x="7425754" y="1048449"/>
                </a:lnTo>
                <a:lnTo>
                  <a:pt x="7946454" y="1048449"/>
                </a:lnTo>
                <a:close/>
                <a:moveTo>
                  <a:pt x="7416419" y="1569149"/>
                </a:moveTo>
                <a:lnTo>
                  <a:pt x="6895719" y="1569149"/>
                </a:lnTo>
                <a:lnTo>
                  <a:pt x="6895719" y="1048449"/>
                </a:lnTo>
                <a:lnTo>
                  <a:pt x="7416419" y="1048449"/>
                </a:lnTo>
                <a:close/>
                <a:moveTo>
                  <a:pt x="6886321" y="1569149"/>
                </a:moveTo>
                <a:lnTo>
                  <a:pt x="6365621" y="1569149"/>
                </a:lnTo>
                <a:lnTo>
                  <a:pt x="6365621" y="1048449"/>
                </a:lnTo>
                <a:lnTo>
                  <a:pt x="6886321" y="1048449"/>
                </a:lnTo>
                <a:close/>
                <a:moveTo>
                  <a:pt x="6356223" y="1569149"/>
                </a:moveTo>
                <a:lnTo>
                  <a:pt x="5835650" y="1569149"/>
                </a:lnTo>
                <a:lnTo>
                  <a:pt x="5835650" y="1048449"/>
                </a:lnTo>
                <a:lnTo>
                  <a:pt x="6356350" y="1048449"/>
                </a:lnTo>
                <a:close/>
                <a:moveTo>
                  <a:pt x="5826125" y="1569149"/>
                </a:moveTo>
                <a:lnTo>
                  <a:pt x="5305425" y="1569149"/>
                </a:lnTo>
                <a:lnTo>
                  <a:pt x="5305425" y="1048449"/>
                </a:lnTo>
                <a:lnTo>
                  <a:pt x="5826125" y="1048449"/>
                </a:lnTo>
                <a:close/>
                <a:moveTo>
                  <a:pt x="5296027" y="1569149"/>
                </a:moveTo>
                <a:lnTo>
                  <a:pt x="4775327" y="1569149"/>
                </a:lnTo>
                <a:lnTo>
                  <a:pt x="4775327" y="1048449"/>
                </a:lnTo>
                <a:lnTo>
                  <a:pt x="5296027" y="1048449"/>
                </a:lnTo>
                <a:close/>
                <a:moveTo>
                  <a:pt x="4765929" y="1569149"/>
                </a:moveTo>
                <a:lnTo>
                  <a:pt x="4245229" y="1569149"/>
                </a:lnTo>
                <a:lnTo>
                  <a:pt x="4245229" y="1048449"/>
                </a:lnTo>
                <a:lnTo>
                  <a:pt x="4765929" y="1048449"/>
                </a:lnTo>
                <a:close/>
                <a:moveTo>
                  <a:pt x="4235895" y="1569149"/>
                </a:moveTo>
                <a:lnTo>
                  <a:pt x="3715195" y="1569149"/>
                </a:lnTo>
                <a:lnTo>
                  <a:pt x="3715195" y="1048449"/>
                </a:lnTo>
                <a:lnTo>
                  <a:pt x="4235895" y="1048449"/>
                </a:lnTo>
                <a:close/>
                <a:moveTo>
                  <a:pt x="3705797" y="1569149"/>
                </a:moveTo>
                <a:lnTo>
                  <a:pt x="3185097" y="1569149"/>
                </a:lnTo>
                <a:lnTo>
                  <a:pt x="3185097" y="1048449"/>
                </a:lnTo>
                <a:lnTo>
                  <a:pt x="3705797" y="1048449"/>
                </a:lnTo>
                <a:close/>
                <a:moveTo>
                  <a:pt x="3175699" y="1569149"/>
                </a:moveTo>
                <a:lnTo>
                  <a:pt x="2654999" y="1569149"/>
                </a:lnTo>
                <a:lnTo>
                  <a:pt x="2654999" y="1048449"/>
                </a:lnTo>
                <a:lnTo>
                  <a:pt x="3175699" y="1048449"/>
                </a:lnTo>
                <a:close/>
                <a:moveTo>
                  <a:pt x="2645601" y="1569149"/>
                </a:moveTo>
                <a:lnTo>
                  <a:pt x="2124901" y="1569149"/>
                </a:lnTo>
                <a:lnTo>
                  <a:pt x="2124901" y="1048449"/>
                </a:lnTo>
                <a:lnTo>
                  <a:pt x="2645601" y="1048449"/>
                </a:lnTo>
                <a:close/>
                <a:moveTo>
                  <a:pt x="2115503" y="1569149"/>
                </a:moveTo>
                <a:lnTo>
                  <a:pt x="1594803" y="1569149"/>
                </a:lnTo>
                <a:lnTo>
                  <a:pt x="1594803" y="1048449"/>
                </a:lnTo>
                <a:lnTo>
                  <a:pt x="2115503" y="1048449"/>
                </a:lnTo>
                <a:close/>
                <a:moveTo>
                  <a:pt x="1585405" y="1569149"/>
                </a:moveTo>
                <a:lnTo>
                  <a:pt x="1064705" y="1569149"/>
                </a:lnTo>
                <a:lnTo>
                  <a:pt x="1064705" y="1048449"/>
                </a:lnTo>
                <a:lnTo>
                  <a:pt x="1585405" y="1048449"/>
                </a:lnTo>
                <a:close/>
                <a:moveTo>
                  <a:pt x="1585405" y="1578674"/>
                </a:moveTo>
                <a:lnTo>
                  <a:pt x="1585405" y="2099374"/>
                </a:lnTo>
                <a:lnTo>
                  <a:pt x="1064705" y="2099374"/>
                </a:lnTo>
                <a:lnTo>
                  <a:pt x="1064705" y="1578674"/>
                </a:lnTo>
                <a:close/>
                <a:moveTo>
                  <a:pt x="1585405" y="2108772"/>
                </a:moveTo>
                <a:lnTo>
                  <a:pt x="1585405" y="2629472"/>
                </a:lnTo>
                <a:lnTo>
                  <a:pt x="1064705" y="2629472"/>
                </a:lnTo>
                <a:lnTo>
                  <a:pt x="1064705" y="2108772"/>
                </a:lnTo>
                <a:close/>
                <a:moveTo>
                  <a:pt x="1585405" y="2638806"/>
                </a:moveTo>
                <a:lnTo>
                  <a:pt x="1585405" y="3159506"/>
                </a:lnTo>
                <a:lnTo>
                  <a:pt x="1064705" y="3159506"/>
                </a:lnTo>
                <a:lnTo>
                  <a:pt x="1064705" y="2638806"/>
                </a:lnTo>
                <a:close/>
                <a:moveTo>
                  <a:pt x="1585405" y="3168904"/>
                </a:moveTo>
                <a:lnTo>
                  <a:pt x="1585405" y="3689604"/>
                </a:lnTo>
                <a:lnTo>
                  <a:pt x="1064705" y="3689604"/>
                </a:lnTo>
                <a:lnTo>
                  <a:pt x="1064705" y="3168650"/>
                </a:lnTo>
                <a:close/>
                <a:moveTo>
                  <a:pt x="1585405" y="3699002"/>
                </a:moveTo>
                <a:lnTo>
                  <a:pt x="1585405" y="4219702"/>
                </a:lnTo>
                <a:lnTo>
                  <a:pt x="1064705" y="4219702"/>
                </a:lnTo>
                <a:lnTo>
                  <a:pt x="1064705" y="3699002"/>
                </a:lnTo>
                <a:close/>
                <a:moveTo>
                  <a:pt x="1585405" y="4229100"/>
                </a:moveTo>
                <a:lnTo>
                  <a:pt x="1585405" y="4749800"/>
                </a:lnTo>
                <a:lnTo>
                  <a:pt x="1064705" y="4749800"/>
                </a:lnTo>
                <a:lnTo>
                  <a:pt x="1064705" y="4229100"/>
                </a:lnTo>
                <a:close/>
                <a:moveTo>
                  <a:pt x="1585405" y="4759198"/>
                </a:moveTo>
                <a:lnTo>
                  <a:pt x="1585405" y="5279898"/>
                </a:lnTo>
                <a:lnTo>
                  <a:pt x="1064705" y="5279898"/>
                </a:lnTo>
                <a:lnTo>
                  <a:pt x="1064705" y="4759198"/>
                </a:lnTo>
                <a:close/>
                <a:moveTo>
                  <a:pt x="1585405" y="5289233"/>
                </a:moveTo>
                <a:lnTo>
                  <a:pt x="1585405" y="5809933"/>
                </a:lnTo>
                <a:lnTo>
                  <a:pt x="1064705" y="5809933"/>
                </a:lnTo>
                <a:lnTo>
                  <a:pt x="1064705" y="5289233"/>
                </a:lnTo>
                <a:close/>
                <a:moveTo>
                  <a:pt x="1594930" y="5289233"/>
                </a:moveTo>
                <a:lnTo>
                  <a:pt x="2115630" y="5289233"/>
                </a:lnTo>
                <a:lnTo>
                  <a:pt x="2115630" y="5809933"/>
                </a:lnTo>
                <a:lnTo>
                  <a:pt x="1594930" y="5809933"/>
                </a:lnTo>
                <a:close/>
                <a:moveTo>
                  <a:pt x="2125028" y="5289233"/>
                </a:moveTo>
                <a:lnTo>
                  <a:pt x="2645728" y="5289233"/>
                </a:lnTo>
                <a:lnTo>
                  <a:pt x="2645728" y="5809933"/>
                </a:lnTo>
                <a:lnTo>
                  <a:pt x="2125028" y="5809933"/>
                </a:lnTo>
                <a:close/>
                <a:moveTo>
                  <a:pt x="2655126" y="5289233"/>
                </a:moveTo>
                <a:lnTo>
                  <a:pt x="3175826" y="5289233"/>
                </a:lnTo>
                <a:lnTo>
                  <a:pt x="3175826" y="5809933"/>
                </a:lnTo>
                <a:lnTo>
                  <a:pt x="2655126" y="5809933"/>
                </a:lnTo>
                <a:close/>
                <a:moveTo>
                  <a:pt x="3185224" y="5289233"/>
                </a:moveTo>
                <a:lnTo>
                  <a:pt x="3705924" y="5289233"/>
                </a:lnTo>
                <a:lnTo>
                  <a:pt x="3705924" y="5809933"/>
                </a:lnTo>
                <a:lnTo>
                  <a:pt x="3185224" y="5809933"/>
                </a:lnTo>
                <a:close/>
                <a:moveTo>
                  <a:pt x="3715322" y="5289233"/>
                </a:moveTo>
                <a:lnTo>
                  <a:pt x="4236022" y="5289233"/>
                </a:lnTo>
                <a:lnTo>
                  <a:pt x="4236022" y="5809933"/>
                </a:lnTo>
                <a:lnTo>
                  <a:pt x="3715322" y="5809933"/>
                </a:lnTo>
                <a:close/>
                <a:moveTo>
                  <a:pt x="4245420" y="5289233"/>
                </a:moveTo>
                <a:lnTo>
                  <a:pt x="4766120" y="5289233"/>
                </a:lnTo>
                <a:lnTo>
                  <a:pt x="4766120" y="5809933"/>
                </a:lnTo>
                <a:lnTo>
                  <a:pt x="4245420" y="5809933"/>
                </a:lnTo>
                <a:close/>
                <a:moveTo>
                  <a:pt x="4775454" y="5289233"/>
                </a:moveTo>
                <a:lnTo>
                  <a:pt x="5296154" y="5289233"/>
                </a:lnTo>
                <a:lnTo>
                  <a:pt x="5296154" y="5809933"/>
                </a:lnTo>
                <a:lnTo>
                  <a:pt x="4775454" y="5809933"/>
                </a:lnTo>
                <a:close/>
                <a:moveTo>
                  <a:pt x="5305552" y="5289233"/>
                </a:moveTo>
                <a:lnTo>
                  <a:pt x="5826252" y="5289233"/>
                </a:lnTo>
                <a:lnTo>
                  <a:pt x="5826252" y="5809933"/>
                </a:lnTo>
                <a:lnTo>
                  <a:pt x="5305552" y="5809933"/>
                </a:lnTo>
                <a:close/>
                <a:moveTo>
                  <a:pt x="5835650" y="5289233"/>
                </a:moveTo>
                <a:lnTo>
                  <a:pt x="6356350" y="5289233"/>
                </a:lnTo>
                <a:lnTo>
                  <a:pt x="6356350" y="5809933"/>
                </a:lnTo>
                <a:lnTo>
                  <a:pt x="5835650" y="5809933"/>
                </a:lnTo>
                <a:close/>
                <a:moveTo>
                  <a:pt x="6365748" y="5289233"/>
                </a:moveTo>
                <a:lnTo>
                  <a:pt x="6886448" y="5289233"/>
                </a:lnTo>
                <a:lnTo>
                  <a:pt x="6886448" y="5809933"/>
                </a:lnTo>
                <a:lnTo>
                  <a:pt x="6365748" y="5809933"/>
                </a:lnTo>
                <a:close/>
                <a:moveTo>
                  <a:pt x="6895846" y="5289233"/>
                </a:moveTo>
                <a:lnTo>
                  <a:pt x="7416546" y="5289233"/>
                </a:lnTo>
                <a:lnTo>
                  <a:pt x="7416546" y="5809933"/>
                </a:lnTo>
                <a:lnTo>
                  <a:pt x="6895846" y="5809933"/>
                </a:lnTo>
                <a:close/>
                <a:moveTo>
                  <a:pt x="7425944" y="5289233"/>
                </a:moveTo>
                <a:lnTo>
                  <a:pt x="7946644" y="5289233"/>
                </a:lnTo>
                <a:lnTo>
                  <a:pt x="7946644" y="5809933"/>
                </a:lnTo>
                <a:lnTo>
                  <a:pt x="7425944" y="5809933"/>
                </a:lnTo>
                <a:close/>
                <a:moveTo>
                  <a:pt x="7955979" y="5289233"/>
                </a:moveTo>
                <a:lnTo>
                  <a:pt x="8476679" y="5289233"/>
                </a:lnTo>
                <a:lnTo>
                  <a:pt x="8476679" y="5809933"/>
                </a:lnTo>
                <a:lnTo>
                  <a:pt x="7955979" y="5809933"/>
                </a:lnTo>
                <a:close/>
                <a:moveTo>
                  <a:pt x="8486077" y="5289233"/>
                </a:moveTo>
                <a:lnTo>
                  <a:pt x="9006777" y="5289233"/>
                </a:lnTo>
                <a:lnTo>
                  <a:pt x="9006777" y="5809933"/>
                </a:lnTo>
                <a:lnTo>
                  <a:pt x="8486077" y="5809933"/>
                </a:lnTo>
                <a:close/>
                <a:moveTo>
                  <a:pt x="9016174" y="5289233"/>
                </a:moveTo>
                <a:lnTo>
                  <a:pt x="9536874" y="5289233"/>
                </a:lnTo>
                <a:lnTo>
                  <a:pt x="9536874" y="5809933"/>
                </a:lnTo>
                <a:lnTo>
                  <a:pt x="9016174" y="5809933"/>
                </a:lnTo>
                <a:close/>
                <a:moveTo>
                  <a:pt x="9546272" y="5289233"/>
                </a:moveTo>
                <a:lnTo>
                  <a:pt x="10066972" y="5289233"/>
                </a:lnTo>
                <a:lnTo>
                  <a:pt x="10066972" y="5809933"/>
                </a:lnTo>
                <a:lnTo>
                  <a:pt x="9546272" y="5809933"/>
                </a:lnTo>
                <a:close/>
                <a:moveTo>
                  <a:pt x="10076370" y="5289233"/>
                </a:moveTo>
                <a:lnTo>
                  <a:pt x="10597070" y="5289233"/>
                </a:lnTo>
                <a:lnTo>
                  <a:pt x="10597070" y="5809933"/>
                </a:lnTo>
                <a:lnTo>
                  <a:pt x="10076370" y="5809933"/>
                </a:lnTo>
                <a:close/>
                <a:moveTo>
                  <a:pt x="10606469" y="5289233"/>
                </a:moveTo>
                <a:lnTo>
                  <a:pt x="11127169" y="5289233"/>
                </a:lnTo>
                <a:lnTo>
                  <a:pt x="11127169" y="5809933"/>
                </a:lnTo>
                <a:lnTo>
                  <a:pt x="10606469" y="5809933"/>
                </a:lnTo>
                <a:close/>
                <a:moveTo>
                  <a:pt x="10606469" y="5279708"/>
                </a:moveTo>
                <a:lnTo>
                  <a:pt x="10606469" y="4759008"/>
                </a:lnTo>
                <a:lnTo>
                  <a:pt x="11127169" y="4759008"/>
                </a:lnTo>
                <a:lnTo>
                  <a:pt x="11127169" y="5279708"/>
                </a:lnTo>
                <a:close/>
                <a:moveTo>
                  <a:pt x="10606469" y="4749673"/>
                </a:moveTo>
                <a:lnTo>
                  <a:pt x="10606469" y="4229100"/>
                </a:lnTo>
                <a:lnTo>
                  <a:pt x="11127169" y="4229100"/>
                </a:lnTo>
                <a:lnTo>
                  <a:pt x="11127169" y="4749800"/>
                </a:lnTo>
                <a:close/>
                <a:moveTo>
                  <a:pt x="10606469" y="4219575"/>
                </a:moveTo>
                <a:lnTo>
                  <a:pt x="10606469" y="3698875"/>
                </a:lnTo>
                <a:lnTo>
                  <a:pt x="11127169" y="3698875"/>
                </a:lnTo>
                <a:lnTo>
                  <a:pt x="11127169" y="4219575"/>
                </a:lnTo>
                <a:close/>
                <a:moveTo>
                  <a:pt x="10606469" y="3689477"/>
                </a:moveTo>
                <a:lnTo>
                  <a:pt x="10606469" y="3168650"/>
                </a:lnTo>
                <a:lnTo>
                  <a:pt x="11127169" y="3168650"/>
                </a:lnTo>
                <a:lnTo>
                  <a:pt x="11127169" y="3689350"/>
                </a:lnTo>
                <a:close/>
                <a:moveTo>
                  <a:pt x="10606469" y="3159379"/>
                </a:moveTo>
                <a:lnTo>
                  <a:pt x="10606469" y="2638679"/>
                </a:lnTo>
                <a:lnTo>
                  <a:pt x="11127169" y="2638679"/>
                </a:lnTo>
                <a:lnTo>
                  <a:pt x="11127169" y="3159379"/>
                </a:lnTo>
                <a:close/>
                <a:moveTo>
                  <a:pt x="10606469" y="2629281"/>
                </a:moveTo>
                <a:lnTo>
                  <a:pt x="10606469" y="2108581"/>
                </a:lnTo>
                <a:lnTo>
                  <a:pt x="11127169" y="2108581"/>
                </a:lnTo>
                <a:lnTo>
                  <a:pt x="11127169" y="2629281"/>
                </a:lnTo>
                <a:close/>
                <a:moveTo>
                  <a:pt x="10606469" y="2099247"/>
                </a:moveTo>
                <a:lnTo>
                  <a:pt x="10606469" y="1578547"/>
                </a:lnTo>
                <a:lnTo>
                  <a:pt x="11127169" y="1578547"/>
                </a:lnTo>
                <a:lnTo>
                  <a:pt x="11127169" y="2099247"/>
                </a:lnTo>
                <a:close/>
                <a:moveTo>
                  <a:pt x="10606469" y="1569149"/>
                </a:moveTo>
                <a:lnTo>
                  <a:pt x="10606469" y="1048449"/>
                </a:lnTo>
                <a:lnTo>
                  <a:pt x="11127169" y="1048449"/>
                </a:lnTo>
                <a:lnTo>
                  <a:pt x="11127169" y="1569149"/>
                </a:lnTo>
                <a:close/>
                <a:moveTo>
                  <a:pt x="10596944" y="518478"/>
                </a:moveTo>
                <a:lnTo>
                  <a:pt x="10596944" y="1039177"/>
                </a:lnTo>
                <a:lnTo>
                  <a:pt x="10076244" y="1039177"/>
                </a:lnTo>
                <a:lnTo>
                  <a:pt x="10076244" y="518478"/>
                </a:lnTo>
                <a:close/>
                <a:moveTo>
                  <a:pt x="10066845" y="518478"/>
                </a:moveTo>
                <a:lnTo>
                  <a:pt x="10066845" y="1039177"/>
                </a:lnTo>
                <a:lnTo>
                  <a:pt x="9546145" y="1039177"/>
                </a:lnTo>
                <a:lnTo>
                  <a:pt x="9546145" y="518478"/>
                </a:lnTo>
                <a:close/>
                <a:moveTo>
                  <a:pt x="9536747" y="518478"/>
                </a:moveTo>
                <a:lnTo>
                  <a:pt x="9536747" y="1039177"/>
                </a:lnTo>
                <a:lnTo>
                  <a:pt x="9016047" y="1039177"/>
                </a:lnTo>
                <a:lnTo>
                  <a:pt x="9016047" y="518478"/>
                </a:lnTo>
                <a:close/>
                <a:moveTo>
                  <a:pt x="9006649" y="518478"/>
                </a:moveTo>
                <a:lnTo>
                  <a:pt x="9006649" y="1039177"/>
                </a:lnTo>
                <a:lnTo>
                  <a:pt x="8485949" y="1039177"/>
                </a:lnTo>
                <a:lnTo>
                  <a:pt x="8485949" y="518478"/>
                </a:lnTo>
                <a:close/>
                <a:moveTo>
                  <a:pt x="8476552" y="518478"/>
                </a:moveTo>
                <a:lnTo>
                  <a:pt x="8476552" y="1039177"/>
                </a:lnTo>
                <a:lnTo>
                  <a:pt x="7955852" y="1039177"/>
                </a:lnTo>
                <a:lnTo>
                  <a:pt x="7955852" y="518478"/>
                </a:lnTo>
                <a:close/>
                <a:moveTo>
                  <a:pt x="7946454" y="518478"/>
                </a:moveTo>
                <a:lnTo>
                  <a:pt x="7946454" y="1039177"/>
                </a:lnTo>
                <a:lnTo>
                  <a:pt x="7425754" y="1039177"/>
                </a:lnTo>
                <a:lnTo>
                  <a:pt x="7425754" y="518478"/>
                </a:lnTo>
                <a:close/>
                <a:moveTo>
                  <a:pt x="7416419" y="518478"/>
                </a:moveTo>
                <a:lnTo>
                  <a:pt x="7416419" y="1039177"/>
                </a:lnTo>
                <a:lnTo>
                  <a:pt x="6895719" y="1039177"/>
                </a:lnTo>
                <a:lnTo>
                  <a:pt x="6895719" y="518478"/>
                </a:lnTo>
                <a:close/>
                <a:moveTo>
                  <a:pt x="6886321" y="518478"/>
                </a:moveTo>
                <a:lnTo>
                  <a:pt x="6886321" y="1039177"/>
                </a:lnTo>
                <a:lnTo>
                  <a:pt x="6365621" y="1039177"/>
                </a:lnTo>
                <a:lnTo>
                  <a:pt x="6365621" y="518478"/>
                </a:lnTo>
                <a:close/>
                <a:moveTo>
                  <a:pt x="6356223" y="518478"/>
                </a:moveTo>
                <a:lnTo>
                  <a:pt x="6356223" y="1039177"/>
                </a:lnTo>
                <a:lnTo>
                  <a:pt x="5835650" y="1039177"/>
                </a:lnTo>
                <a:lnTo>
                  <a:pt x="5835650" y="518478"/>
                </a:lnTo>
                <a:close/>
                <a:moveTo>
                  <a:pt x="5826125" y="518478"/>
                </a:moveTo>
                <a:lnTo>
                  <a:pt x="5826125" y="1039177"/>
                </a:lnTo>
                <a:lnTo>
                  <a:pt x="5305425" y="1039177"/>
                </a:lnTo>
                <a:lnTo>
                  <a:pt x="5305425" y="518478"/>
                </a:lnTo>
                <a:close/>
                <a:moveTo>
                  <a:pt x="5296027" y="518478"/>
                </a:moveTo>
                <a:lnTo>
                  <a:pt x="5296027" y="1039177"/>
                </a:lnTo>
                <a:lnTo>
                  <a:pt x="4775327" y="1039177"/>
                </a:lnTo>
                <a:lnTo>
                  <a:pt x="4775327" y="518478"/>
                </a:lnTo>
                <a:close/>
                <a:moveTo>
                  <a:pt x="4765929" y="518478"/>
                </a:moveTo>
                <a:lnTo>
                  <a:pt x="4765929" y="1039177"/>
                </a:lnTo>
                <a:lnTo>
                  <a:pt x="4245229" y="1039177"/>
                </a:lnTo>
                <a:lnTo>
                  <a:pt x="4245229" y="518478"/>
                </a:lnTo>
                <a:close/>
                <a:moveTo>
                  <a:pt x="4235895" y="518478"/>
                </a:moveTo>
                <a:lnTo>
                  <a:pt x="4235895" y="1039177"/>
                </a:lnTo>
                <a:lnTo>
                  <a:pt x="3715195" y="1039177"/>
                </a:lnTo>
                <a:lnTo>
                  <a:pt x="3715195" y="518478"/>
                </a:lnTo>
                <a:close/>
                <a:moveTo>
                  <a:pt x="3705797" y="518478"/>
                </a:moveTo>
                <a:lnTo>
                  <a:pt x="3705797" y="1039177"/>
                </a:lnTo>
                <a:lnTo>
                  <a:pt x="3185097" y="1039177"/>
                </a:lnTo>
                <a:lnTo>
                  <a:pt x="3185097" y="518478"/>
                </a:lnTo>
                <a:close/>
                <a:moveTo>
                  <a:pt x="3175699" y="518478"/>
                </a:moveTo>
                <a:lnTo>
                  <a:pt x="3175699" y="1039177"/>
                </a:lnTo>
                <a:lnTo>
                  <a:pt x="2654999" y="1039177"/>
                </a:lnTo>
                <a:lnTo>
                  <a:pt x="2654999" y="518478"/>
                </a:lnTo>
                <a:close/>
                <a:moveTo>
                  <a:pt x="2645601" y="518478"/>
                </a:moveTo>
                <a:lnTo>
                  <a:pt x="2645601" y="1039177"/>
                </a:lnTo>
                <a:lnTo>
                  <a:pt x="2124901" y="1039177"/>
                </a:lnTo>
                <a:lnTo>
                  <a:pt x="2124901" y="518478"/>
                </a:lnTo>
                <a:close/>
                <a:moveTo>
                  <a:pt x="2115503" y="518478"/>
                </a:moveTo>
                <a:lnTo>
                  <a:pt x="2115503" y="1039177"/>
                </a:lnTo>
                <a:lnTo>
                  <a:pt x="1594803" y="1039177"/>
                </a:lnTo>
                <a:lnTo>
                  <a:pt x="1594803" y="518478"/>
                </a:lnTo>
                <a:close/>
                <a:moveTo>
                  <a:pt x="1585405" y="518478"/>
                </a:moveTo>
                <a:lnTo>
                  <a:pt x="1585405" y="1039177"/>
                </a:lnTo>
                <a:lnTo>
                  <a:pt x="1064705" y="1039177"/>
                </a:lnTo>
                <a:lnTo>
                  <a:pt x="1064705" y="518478"/>
                </a:lnTo>
                <a:close/>
                <a:moveTo>
                  <a:pt x="534797" y="518478"/>
                </a:moveTo>
                <a:lnTo>
                  <a:pt x="1055497" y="518478"/>
                </a:lnTo>
                <a:lnTo>
                  <a:pt x="1055497" y="1039177"/>
                </a:lnTo>
                <a:lnTo>
                  <a:pt x="534797" y="1039177"/>
                </a:lnTo>
                <a:close/>
                <a:moveTo>
                  <a:pt x="534797" y="1048576"/>
                </a:moveTo>
                <a:lnTo>
                  <a:pt x="1055497" y="1048576"/>
                </a:lnTo>
                <a:lnTo>
                  <a:pt x="1055497" y="1569276"/>
                </a:lnTo>
                <a:lnTo>
                  <a:pt x="534797" y="1569276"/>
                </a:lnTo>
                <a:close/>
                <a:moveTo>
                  <a:pt x="534797" y="1578674"/>
                </a:moveTo>
                <a:lnTo>
                  <a:pt x="1055497" y="1578674"/>
                </a:lnTo>
                <a:lnTo>
                  <a:pt x="1055497" y="2099374"/>
                </a:lnTo>
                <a:lnTo>
                  <a:pt x="534797" y="2099374"/>
                </a:lnTo>
                <a:close/>
                <a:moveTo>
                  <a:pt x="534797" y="2108772"/>
                </a:moveTo>
                <a:lnTo>
                  <a:pt x="1055497" y="2108772"/>
                </a:lnTo>
                <a:lnTo>
                  <a:pt x="1055497" y="2629472"/>
                </a:lnTo>
                <a:lnTo>
                  <a:pt x="534797" y="2629472"/>
                </a:lnTo>
                <a:close/>
                <a:moveTo>
                  <a:pt x="534797" y="2638806"/>
                </a:moveTo>
                <a:lnTo>
                  <a:pt x="1055497" y="2638806"/>
                </a:lnTo>
                <a:lnTo>
                  <a:pt x="1055497" y="3159506"/>
                </a:lnTo>
                <a:lnTo>
                  <a:pt x="534797" y="3159506"/>
                </a:lnTo>
                <a:close/>
                <a:moveTo>
                  <a:pt x="534797" y="3168904"/>
                </a:moveTo>
                <a:lnTo>
                  <a:pt x="1055497" y="3168904"/>
                </a:lnTo>
                <a:lnTo>
                  <a:pt x="1055497" y="3689604"/>
                </a:lnTo>
                <a:lnTo>
                  <a:pt x="534797" y="3689604"/>
                </a:lnTo>
                <a:close/>
                <a:moveTo>
                  <a:pt x="534797" y="3699002"/>
                </a:moveTo>
                <a:lnTo>
                  <a:pt x="1055497" y="3699002"/>
                </a:lnTo>
                <a:lnTo>
                  <a:pt x="1055497" y="4219702"/>
                </a:lnTo>
                <a:lnTo>
                  <a:pt x="534797" y="4219702"/>
                </a:lnTo>
                <a:close/>
                <a:moveTo>
                  <a:pt x="534797" y="4229100"/>
                </a:moveTo>
                <a:lnTo>
                  <a:pt x="1055497" y="4229100"/>
                </a:lnTo>
                <a:lnTo>
                  <a:pt x="1055497" y="4749800"/>
                </a:lnTo>
                <a:lnTo>
                  <a:pt x="534797" y="4749800"/>
                </a:lnTo>
                <a:close/>
                <a:moveTo>
                  <a:pt x="534797" y="4759198"/>
                </a:moveTo>
                <a:lnTo>
                  <a:pt x="1055497" y="4759198"/>
                </a:lnTo>
                <a:lnTo>
                  <a:pt x="1055497" y="5279898"/>
                </a:lnTo>
                <a:lnTo>
                  <a:pt x="534797" y="5279898"/>
                </a:lnTo>
                <a:close/>
                <a:moveTo>
                  <a:pt x="534797" y="5289233"/>
                </a:moveTo>
                <a:lnTo>
                  <a:pt x="1055497" y="5289233"/>
                </a:lnTo>
                <a:lnTo>
                  <a:pt x="1055497" y="5809933"/>
                </a:lnTo>
                <a:lnTo>
                  <a:pt x="534797" y="5809933"/>
                </a:lnTo>
                <a:close/>
                <a:moveTo>
                  <a:pt x="534797" y="6339904"/>
                </a:moveTo>
                <a:lnTo>
                  <a:pt x="534797" y="5819204"/>
                </a:lnTo>
                <a:lnTo>
                  <a:pt x="1055497" y="5819204"/>
                </a:lnTo>
                <a:lnTo>
                  <a:pt x="1055497" y="6339904"/>
                </a:lnTo>
                <a:close/>
                <a:moveTo>
                  <a:pt x="1064895" y="6339904"/>
                </a:moveTo>
                <a:lnTo>
                  <a:pt x="1064895" y="5819204"/>
                </a:lnTo>
                <a:lnTo>
                  <a:pt x="1585595" y="5819204"/>
                </a:lnTo>
                <a:lnTo>
                  <a:pt x="1585595" y="6339904"/>
                </a:lnTo>
                <a:close/>
                <a:moveTo>
                  <a:pt x="1594930" y="6339904"/>
                </a:moveTo>
                <a:lnTo>
                  <a:pt x="1594930" y="5819204"/>
                </a:lnTo>
                <a:lnTo>
                  <a:pt x="2115630" y="5819204"/>
                </a:lnTo>
                <a:lnTo>
                  <a:pt x="2115630" y="6339904"/>
                </a:lnTo>
                <a:close/>
                <a:moveTo>
                  <a:pt x="2125028" y="6339904"/>
                </a:moveTo>
                <a:lnTo>
                  <a:pt x="2125028" y="5819204"/>
                </a:lnTo>
                <a:lnTo>
                  <a:pt x="2645728" y="5819204"/>
                </a:lnTo>
                <a:lnTo>
                  <a:pt x="2645728" y="6339904"/>
                </a:lnTo>
                <a:close/>
                <a:moveTo>
                  <a:pt x="2655126" y="6339904"/>
                </a:moveTo>
                <a:lnTo>
                  <a:pt x="2655126" y="5819204"/>
                </a:lnTo>
                <a:lnTo>
                  <a:pt x="3175826" y="5819204"/>
                </a:lnTo>
                <a:lnTo>
                  <a:pt x="3175826" y="6339904"/>
                </a:lnTo>
                <a:close/>
                <a:moveTo>
                  <a:pt x="3185224" y="6339904"/>
                </a:moveTo>
                <a:lnTo>
                  <a:pt x="3185224" y="5819204"/>
                </a:lnTo>
                <a:lnTo>
                  <a:pt x="3705924" y="5819204"/>
                </a:lnTo>
                <a:lnTo>
                  <a:pt x="3705924" y="6339904"/>
                </a:lnTo>
                <a:close/>
                <a:moveTo>
                  <a:pt x="3715322" y="6339904"/>
                </a:moveTo>
                <a:lnTo>
                  <a:pt x="3715322" y="5819204"/>
                </a:lnTo>
                <a:lnTo>
                  <a:pt x="4236022" y="5819204"/>
                </a:lnTo>
                <a:lnTo>
                  <a:pt x="4236022" y="6339904"/>
                </a:lnTo>
                <a:close/>
                <a:moveTo>
                  <a:pt x="4245420" y="6339904"/>
                </a:moveTo>
                <a:lnTo>
                  <a:pt x="4245420" y="5819204"/>
                </a:lnTo>
                <a:lnTo>
                  <a:pt x="4766120" y="5819204"/>
                </a:lnTo>
                <a:lnTo>
                  <a:pt x="4766120" y="6339904"/>
                </a:lnTo>
                <a:close/>
                <a:moveTo>
                  <a:pt x="4775454" y="6339904"/>
                </a:moveTo>
                <a:lnTo>
                  <a:pt x="4775454" y="5819204"/>
                </a:lnTo>
                <a:lnTo>
                  <a:pt x="5296154" y="5819204"/>
                </a:lnTo>
                <a:lnTo>
                  <a:pt x="5296154" y="6339904"/>
                </a:lnTo>
                <a:close/>
                <a:moveTo>
                  <a:pt x="5305552" y="6339904"/>
                </a:moveTo>
                <a:lnTo>
                  <a:pt x="5305552" y="5819204"/>
                </a:lnTo>
                <a:lnTo>
                  <a:pt x="5826252" y="5819204"/>
                </a:lnTo>
                <a:lnTo>
                  <a:pt x="5826252" y="6339904"/>
                </a:lnTo>
                <a:close/>
                <a:moveTo>
                  <a:pt x="5835650" y="6339904"/>
                </a:moveTo>
                <a:lnTo>
                  <a:pt x="5835650" y="5819204"/>
                </a:lnTo>
                <a:lnTo>
                  <a:pt x="6356350" y="5819204"/>
                </a:lnTo>
                <a:lnTo>
                  <a:pt x="6356350" y="6339904"/>
                </a:lnTo>
                <a:close/>
                <a:moveTo>
                  <a:pt x="6365748" y="6339904"/>
                </a:moveTo>
                <a:lnTo>
                  <a:pt x="6365748" y="5819204"/>
                </a:lnTo>
                <a:lnTo>
                  <a:pt x="6886448" y="5819204"/>
                </a:lnTo>
                <a:lnTo>
                  <a:pt x="6886448" y="6339904"/>
                </a:lnTo>
                <a:close/>
                <a:moveTo>
                  <a:pt x="6895846" y="6339904"/>
                </a:moveTo>
                <a:lnTo>
                  <a:pt x="6895846" y="5819204"/>
                </a:lnTo>
                <a:lnTo>
                  <a:pt x="7416546" y="5819204"/>
                </a:lnTo>
                <a:lnTo>
                  <a:pt x="7416546" y="6339904"/>
                </a:lnTo>
                <a:close/>
                <a:moveTo>
                  <a:pt x="7425944" y="6339904"/>
                </a:moveTo>
                <a:lnTo>
                  <a:pt x="7425944" y="5819204"/>
                </a:lnTo>
                <a:lnTo>
                  <a:pt x="7946644" y="5819204"/>
                </a:lnTo>
                <a:lnTo>
                  <a:pt x="7946644" y="6339904"/>
                </a:lnTo>
                <a:close/>
                <a:moveTo>
                  <a:pt x="7955979" y="6339904"/>
                </a:moveTo>
                <a:lnTo>
                  <a:pt x="7955979" y="5819204"/>
                </a:lnTo>
                <a:lnTo>
                  <a:pt x="8476679" y="5819204"/>
                </a:lnTo>
                <a:lnTo>
                  <a:pt x="8476679" y="6339904"/>
                </a:lnTo>
                <a:close/>
                <a:moveTo>
                  <a:pt x="8486077" y="6339904"/>
                </a:moveTo>
                <a:lnTo>
                  <a:pt x="8486077" y="5819204"/>
                </a:lnTo>
                <a:lnTo>
                  <a:pt x="9006777" y="5819204"/>
                </a:lnTo>
                <a:lnTo>
                  <a:pt x="9006777" y="6339904"/>
                </a:lnTo>
                <a:close/>
                <a:moveTo>
                  <a:pt x="9016174" y="6339904"/>
                </a:moveTo>
                <a:lnTo>
                  <a:pt x="9016174" y="5819204"/>
                </a:lnTo>
                <a:lnTo>
                  <a:pt x="9536874" y="5819204"/>
                </a:lnTo>
                <a:lnTo>
                  <a:pt x="9536874" y="6339904"/>
                </a:lnTo>
                <a:close/>
                <a:moveTo>
                  <a:pt x="9546272" y="6339904"/>
                </a:moveTo>
                <a:lnTo>
                  <a:pt x="9546272" y="5819204"/>
                </a:lnTo>
                <a:lnTo>
                  <a:pt x="10066972" y="5819204"/>
                </a:lnTo>
                <a:lnTo>
                  <a:pt x="10066972" y="6339904"/>
                </a:lnTo>
                <a:close/>
                <a:moveTo>
                  <a:pt x="10076370" y="6339904"/>
                </a:moveTo>
                <a:lnTo>
                  <a:pt x="10076370" y="5819204"/>
                </a:lnTo>
                <a:lnTo>
                  <a:pt x="10597070" y="5819204"/>
                </a:lnTo>
                <a:lnTo>
                  <a:pt x="10597070" y="6339904"/>
                </a:lnTo>
                <a:close/>
                <a:moveTo>
                  <a:pt x="10606469" y="6339904"/>
                </a:moveTo>
                <a:lnTo>
                  <a:pt x="10606469" y="5819204"/>
                </a:lnTo>
                <a:lnTo>
                  <a:pt x="11127169" y="5819204"/>
                </a:lnTo>
                <a:lnTo>
                  <a:pt x="11127169" y="6339904"/>
                </a:lnTo>
                <a:close/>
                <a:moveTo>
                  <a:pt x="11657076" y="6339904"/>
                </a:moveTo>
                <a:lnTo>
                  <a:pt x="11136376" y="6339904"/>
                </a:lnTo>
                <a:lnTo>
                  <a:pt x="11136376" y="5819204"/>
                </a:lnTo>
                <a:lnTo>
                  <a:pt x="11657076" y="5819204"/>
                </a:lnTo>
                <a:close/>
                <a:moveTo>
                  <a:pt x="11657076" y="5809806"/>
                </a:moveTo>
                <a:lnTo>
                  <a:pt x="11136376" y="5809806"/>
                </a:lnTo>
                <a:lnTo>
                  <a:pt x="11136376" y="5289106"/>
                </a:lnTo>
                <a:lnTo>
                  <a:pt x="11657076" y="5289106"/>
                </a:lnTo>
                <a:close/>
                <a:moveTo>
                  <a:pt x="11657076" y="5279708"/>
                </a:moveTo>
                <a:lnTo>
                  <a:pt x="11136376" y="5279708"/>
                </a:lnTo>
                <a:lnTo>
                  <a:pt x="11136376" y="4759008"/>
                </a:lnTo>
                <a:lnTo>
                  <a:pt x="11657076" y="4759008"/>
                </a:lnTo>
                <a:close/>
                <a:moveTo>
                  <a:pt x="11657076" y="4749673"/>
                </a:moveTo>
                <a:lnTo>
                  <a:pt x="11136376" y="4749673"/>
                </a:lnTo>
                <a:lnTo>
                  <a:pt x="11136376" y="4229100"/>
                </a:lnTo>
                <a:lnTo>
                  <a:pt x="11657076" y="4229100"/>
                </a:lnTo>
                <a:close/>
                <a:moveTo>
                  <a:pt x="11657076" y="4219575"/>
                </a:moveTo>
                <a:lnTo>
                  <a:pt x="11136376" y="4219575"/>
                </a:lnTo>
                <a:lnTo>
                  <a:pt x="11136376" y="3698875"/>
                </a:lnTo>
                <a:lnTo>
                  <a:pt x="11657076" y="3698875"/>
                </a:lnTo>
                <a:close/>
                <a:moveTo>
                  <a:pt x="11657076" y="3689477"/>
                </a:moveTo>
                <a:lnTo>
                  <a:pt x="11136376" y="3689477"/>
                </a:lnTo>
                <a:lnTo>
                  <a:pt x="11136376" y="3168650"/>
                </a:lnTo>
                <a:lnTo>
                  <a:pt x="11657076" y="3168650"/>
                </a:lnTo>
                <a:close/>
                <a:moveTo>
                  <a:pt x="11657076" y="3159379"/>
                </a:moveTo>
                <a:lnTo>
                  <a:pt x="11136376" y="3159379"/>
                </a:lnTo>
                <a:lnTo>
                  <a:pt x="11136376" y="2638679"/>
                </a:lnTo>
                <a:lnTo>
                  <a:pt x="11657076" y="2638679"/>
                </a:lnTo>
                <a:close/>
                <a:moveTo>
                  <a:pt x="11657076" y="2629281"/>
                </a:moveTo>
                <a:lnTo>
                  <a:pt x="11136376" y="2629281"/>
                </a:lnTo>
                <a:lnTo>
                  <a:pt x="11136376" y="2108581"/>
                </a:lnTo>
                <a:lnTo>
                  <a:pt x="11657076" y="2108581"/>
                </a:lnTo>
                <a:close/>
                <a:moveTo>
                  <a:pt x="11657076" y="2099247"/>
                </a:moveTo>
                <a:lnTo>
                  <a:pt x="11136376" y="2099247"/>
                </a:lnTo>
                <a:lnTo>
                  <a:pt x="11136376" y="1578547"/>
                </a:lnTo>
                <a:lnTo>
                  <a:pt x="11657076" y="1578547"/>
                </a:lnTo>
                <a:close/>
                <a:moveTo>
                  <a:pt x="11657076" y="1569149"/>
                </a:moveTo>
                <a:lnTo>
                  <a:pt x="11136376" y="1569149"/>
                </a:lnTo>
                <a:lnTo>
                  <a:pt x="11136376" y="1048449"/>
                </a:lnTo>
                <a:lnTo>
                  <a:pt x="11657076" y="1048449"/>
                </a:lnTo>
                <a:close/>
                <a:moveTo>
                  <a:pt x="11657076" y="1039051"/>
                </a:moveTo>
                <a:lnTo>
                  <a:pt x="11136376" y="1039051"/>
                </a:lnTo>
                <a:lnTo>
                  <a:pt x="11136376" y="518350"/>
                </a:lnTo>
                <a:lnTo>
                  <a:pt x="11657076" y="518350"/>
                </a:lnTo>
                <a:close/>
              </a:path>
            </a:pathLst>
          </a:custGeom>
          <a:gradFill flip="none" rotWithShape="1">
            <a:gsLst>
              <a:gs pos="0">
                <a:schemeClr val="accent1">
                  <a:alpha val="0"/>
                </a:schemeClr>
              </a:gs>
              <a:gs pos="100000">
                <a:schemeClr val="accent1">
                  <a:alpha val="20000"/>
                </a:schemeClr>
              </a:gs>
            </a:gsLst>
            <a:path path="circle">
              <a:fillToRect l="50000" t="50000" r="50000" b="50000"/>
            </a:path>
            <a:tileRect/>
          </a:gra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5" name="Oval 3">
            <a:extLst>
              <a:ext uri="{FF2B5EF4-FFF2-40B4-BE49-F238E27FC236}">
                <a16:creationId xmlns:a16="http://schemas.microsoft.com/office/drawing/2014/main" id="{B99EA27D-63C0-7C40-FEDF-300098E6D51D}"/>
              </a:ext>
            </a:extLst>
          </p:cNvPr>
          <p:cNvSpPr/>
          <p:nvPr userDrawn="1"/>
        </p:nvSpPr>
        <p:spPr>
          <a:xfrm rot="17841547">
            <a:off x="-1203781" y="-1038470"/>
            <a:ext cx="7005861" cy="7333214"/>
          </a:xfrm>
          <a:custGeom>
            <a:avLst/>
            <a:gdLst>
              <a:gd name="connsiteX0" fmla="*/ 0 w 6338778"/>
              <a:gd name="connsiteY0" fmla="*/ 3108129 h 6216258"/>
              <a:gd name="connsiteX1" fmla="*/ 3169389 w 6338778"/>
              <a:gd name="connsiteY1" fmla="*/ 0 h 6216258"/>
              <a:gd name="connsiteX2" fmla="*/ 6338778 w 6338778"/>
              <a:gd name="connsiteY2" fmla="*/ 3108129 h 6216258"/>
              <a:gd name="connsiteX3" fmla="*/ 3169389 w 6338778"/>
              <a:gd name="connsiteY3" fmla="*/ 6216258 h 6216258"/>
              <a:gd name="connsiteX4" fmla="*/ 0 w 6338778"/>
              <a:gd name="connsiteY4" fmla="*/ 3108129 h 6216258"/>
              <a:gd name="connsiteX0" fmla="*/ 2065 w 6340843"/>
              <a:gd name="connsiteY0" fmla="*/ 3108129 h 4743673"/>
              <a:gd name="connsiteX1" fmla="*/ 3171454 w 6340843"/>
              <a:gd name="connsiteY1" fmla="*/ 0 h 4743673"/>
              <a:gd name="connsiteX2" fmla="*/ 6340843 w 6340843"/>
              <a:gd name="connsiteY2" fmla="*/ 3108129 h 4743673"/>
              <a:gd name="connsiteX3" fmla="*/ 2828554 w 6340843"/>
              <a:gd name="connsiteY3" fmla="*/ 4743058 h 4743673"/>
              <a:gd name="connsiteX4" fmla="*/ 2065 w 6340843"/>
              <a:gd name="connsiteY4" fmla="*/ 3108129 h 4743673"/>
              <a:gd name="connsiteX0" fmla="*/ 1095 w 4117373"/>
              <a:gd name="connsiteY0" fmla="*/ 3109915 h 4747077"/>
              <a:gd name="connsiteX1" fmla="*/ 3170484 w 4117373"/>
              <a:gd name="connsiteY1" fmla="*/ 1786 h 4747077"/>
              <a:gd name="connsiteX2" fmla="*/ 4117373 w 4117373"/>
              <a:gd name="connsiteY2" fmla="*/ 2792415 h 4747077"/>
              <a:gd name="connsiteX3" fmla="*/ 2827584 w 4117373"/>
              <a:gd name="connsiteY3" fmla="*/ 4744844 h 4747077"/>
              <a:gd name="connsiteX4" fmla="*/ 1095 w 4117373"/>
              <a:gd name="connsiteY4" fmla="*/ 3109915 h 4747077"/>
              <a:gd name="connsiteX0" fmla="*/ 1095 w 4810623"/>
              <a:gd name="connsiteY0" fmla="*/ 3110699 h 4747861"/>
              <a:gd name="connsiteX1" fmla="*/ 3170484 w 4810623"/>
              <a:gd name="connsiteY1" fmla="*/ 2570 h 4747861"/>
              <a:gd name="connsiteX2" fmla="*/ 4117373 w 4810623"/>
              <a:gd name="connsiteY2" fmla="*/ 2793199 h 4747861"/>
              <a:gd name="connsiteX3" fmla="*/ 2827584 w 4810623"/>
              <a:gd name="connsiteY3" fmla="*/ 4745628 h 4747861"/>
              <a:gd name="connsiteX4" fmla="*/ 1095 w 4810623"/>
              <a:gd name="connsiteY4" fmla="*/ 3110699 h 4747861"/>
              <a:gd name="connsiteX0" fmla="*/ 1095 w 4117373"/>
              <a:gd name="connsiteY0" fmla="*/ 3109916 h 4747078"/>
              <a:gd name="connsiteX1" fmla="*/ 3170484 w 4117373"/>
              <a:gd name="connsiteY1" fmla="*/ 1787 h 4747078"/>
              <a:gd name="connsiteX2" fmla="*/ 4117373 w 4117373"/>
              <a:gd name="connsiteY2" fmla="*/ 2792416 h 4747078"/>
              <a:gd name="connsiteX3" fmla="*/ 2827584 w 4117373"/>
              <a:gd name="connsiteY3" fmla="*/ 4744845 h 4747078"/>
              <a:gd name="connsiteX4" fmla="*/ 1095 w 4117373"/>
              <a:gd name="connsiteY4" fmla="*/ 3109916 h 4747078"/>
              <a:gd name="connsiteX0" fmla="*/ 1095 w 4365968"/>
              <a:gd name="connsiteY0" fmla="*/ 3111370 h 4748532"/>
              <a:gd name="connsiteX1" fmla="*/ 3170484 w 4365968"/>
              <a:gd name="connsiteY1" fmla="*/ 3241 h 4748532"/>
              <a:gd name="connsiteX2" fmla="*/ 4117373 w 4365968"/>
              <a:gd name="connsiteY2" fmla="*/ 2793870 h 4748532"/>
              <a:gd name="connsiteX3" fmla="*/ 2827584 w 4365968"/>
              <a:gd name="connsiteY3" fmla="*/ 4746299 h 4748532"/>
              <a:gd name="connsiteX4" fmla="*/ 1095 w 4365968"/>
              <a:gd name="connsiteY4" fmla="*/ 3111370 h 4748532"/>
              <a:gd name="connsiteX0" fmla="*/ 1095 w 4192550"/>
              <a:gd name="connsiteY0" fmla="*/ 3109191 h 4746353"/>
              <a:gd name="connsiteX1" fmla="*/ 3170484 w 4192550"/>
              <a:gd name="connsiteY1" fmla="*/ 1062 h 4746353"/>
              <a:gd name="connsiteX2" fmla="*/ 4117373 w 4192550"/>
              <a:gd name="connsiteY2" fmla="*/ 2791691 h 4746353"/>
              <a:gd name="connsiteX3" fmla="*/ 2827584 w 4192550"/>
              <a:gd name="connsiteY3" fmla="*/ 4744120 h 4746353"/>
              <a:gd name="connsiteX4" fmla="*/ 1095 w 4192550"/>
              <a:gd name="connsiteY4" fmla="*/ 3109191 h 4746353"/>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2583 w 4535508"/>
              <a:gd name="connsiteY0" fmla="*/ 3111199 h 4747432"/>
              <a:gd name="connsiteX1" fmla="*/ 3171972 w 4535508"/>
              <a:gd name="connsiteY1" fmla="*/ 3070 h 4747432"/>
              <a:gd name="connsiteX2" fmla="*/ 4118861 w 4535508"/>
              <a:gd name="connsiteY2" fmla="*/ 2793699 h 4747432"/>
              <a:gd name="connsiteX3" fmla="*/ 2829072 w 4535508"/>
              <a:gd name="connsiteY3" fmla="*/ 4746128 h 4747432"/>
              <a:gd name="connsiteX4" fmla="*/ 2583 w 4535508"/>
              <a:gd name="connsiteY4" fmla="*/ 3111199 h 474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508" h="4747432">
                <a:moveTo>
                  <a:pt x="2583" y="3111199"/>
                </a:moveTo>
                <a:cubicBezTo>
                  <a:pt x="59733" y="2320690"/>
                  <a:pt x="2485926" y="55987"/>
                  <a:pt x="3171972" y="3070"/>
                </a:cubicBezTo>
                <a:cubicBezTo>
                  <a:pt x="3858018" y="-49847"/>
                  <a:pt x="5223761" y="569127"/>
                  <a:pt x="4118861" y="2793699"/>
                </a:cubicBezTo>
                <a:cubicBezTo>
                  <a:pt x="3801361" y="3468871"/>
                  <a:pt x="4823218" y="4794811"/>
                  <a:pt x="2829072" y="4746128"/>
                </a:cubicBezTo>
                <a:cubicBezTo>
                  <a:pt x="834926" y="4697445"/>
                  <a:pt x="-54567" y="3901708"/>
                  <a:pt x="2583" y="3111199"/>
                </a:cubicBezTo>
                <a:close/>
              </a:path>
            </a:pathLst>
          </a:custGeom>
          <a:gradFill>
            <a:gsLst>
              <a:gs pos="0">
                <a:schemeClr val="accent1">
                  <a:alpha val="20000"/>
                </a:schemeClr>
              </a:gs>
              <a:gs pos="100000">
                <a:schemeClr val="accent1">
                  <a:alpha val="0"/>
                </a:schemeClr>
              </a:gs>
            </a:gsLst>
            <a:path path="circle">
              <a:fillToRect l="50000" t="50000" r="50000" b="50000"/>
            </a:path>
          </a:gradFill>
          <a:ln>
            <a:noFill/>
          </a:ln>
          <a:effectLst>
            <a:softEdge rad="889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3">
            <a:extLst>
              <a:ext uri="{FF2B5EF4-FFF2-40B4-BE49-F238E27FC236}">
                <a16:creationId xmlns:a16="http://schemas.microsoft.com/office/drawing/2014/main" id="{01A30F14-C72C-4435-120F-F571EE39DD73}"/>
              </a:ext>
            </a:extLst>
          </p:cNvPr>
          <p:cNvSpPr/>
          <p:nvPr userDrawn="1"/>
        </p:nvSpPr>
        <p:spPr>
          <a:xfrm>
            <a:off x="7775052" y="2812776"/>
            <a:ext cx="4535508" cy="4747432"/>
          </a:xfrm>
          <a:custGeom>
            <a:avLst/>
            <a:gdLst>
              <a:gd name="connsiteX0" fmla="*/ 0 w 6338778"/>
              <a:gd name="connsiteY0" fmla="*/ 3108129 h 6216258"/>
              <a:gd name="connsiteX1" fmla="*/ 3169389 w 6338778"/>
              <a:gd name="connsiteY1" fmla="*/ 0 h 6216258"/>
              <a:gd name="connsiteX2" fmla="*/ 6338778 w 6338778"/>
              <a:gd name="connsiteY2" fmla="*/ 3108129 h 6216258"/>
              <a:gd name="connsiteX3" fmla="*/ 3169389 w 6338778"/>
              <a:gd name="connsiteY3" fmla="*/ 6216258 h 6216258"/>
              <a:gd name="connsiteX4" fmla="*/ 0 w 6338778"/>
              <a:gd name="connsiteY4" fmla="*/ 3108129 h 6216258"/>
              <a:gd name="connsiteX0" fmla="*/ 2065 w 6340843"/>
              <a:gd name="connsiteY0" fmla="*/ 3108129 h 4743673"/>
              <a:gd name="connsiteX1" fmla="*/ 3171454 w 6340843"/>
              <a:gd name="connsiteY1" fmla="*/ 0 h 4743673"/>
              <a:gd name="connsiteX2" fmla="*/ 6340843 w 6340843"/>
              <a:gd name="connsiteY2" fmla="*/ 3108129 h 4743673"/>
              <a:gd name="connsiteX3" fmla="*/ 2828554 w 6340843"/>
              <a:gd name="connsiteY3" fmla="*/ 4743058 h 4743673"/>
              <a:gd name="connsiteX4" fmla="*/ 2065 w 6340843"/>
              <a:gd name="connsiteY4" fmla="*/ 3108129 h 4743673"/>
              <a:gd name="connsiteX0" fmla="*/ 1095 w 4117373"/>
              <a:gd name="connsiteY0" fmla="*/ 3109915 h 4747077"/>
              <a:gd name="connsiteX1" fmla="*/ 3170484 w 4117373"/>
              <a:gd name="connsiteY1" fmla="*/ 1786 h 4747077"/>
              <a:gd name="connsiteX2" fmla="*/ 4117373 w 4117373"/>
              <a:gd name="connsiteY2" fmla="*/ 2792415 h 4747077"/>
              <a:gd name="connsiteX3" fmla="*/ 2827584 w 4117373"/>
              <a:gd name="connsiteY3" fmla="*/ 4744844 h 4747077"/>
              <a:gd name="connsiteX4" fmla="*/ 1095 w 4117373"/>
              <a:gd name="connsiteY4" fmla="*/ 3109915 h 4747077"/>
              <a:gd name="connsiteX0" fmla="*/ 1095 w 4810623"/>
              <a:gd name="connsiteY0" fmla="*/ 3110699 h 4747861"/>
              <a:gd name="connsiteX1" fmla="*/ 3170484 w 4810623"/>
              <a:gd name="connsiteY1" fmla="*/ 2570 h 4747861"/>
              <a:gd name="connsiteX2" fmla="*/ 4117373 w 4810623"/>
              <a:gd name="connsiteY2" fmla="*/ 2793199 h 4747861"/>
              <a:gd name="connsiteX3" fmla="*/ 2827584 w 4810623"/>
              <a:gd name="connsiteY3" fmla="*/ 4745628 h 4747861"/>
              <a:gd name="connsiteX4" fmla="*/ 1095 w 4810623"/>
              <a:gd name="connsiteY4" fmla="*/ 3110699 h 4747861"/>
              <a:gd name="connsiteX0" fmla="*/ 1095 w 4117373"/>
              <a:gd name="connsiteY0" fmla="*/ 3109916 h 4747078"/>
              <a:gd name="connsiteX1" fmla="*/ 3170484 w 4117373"/>
              <a:gd name="connsiteY1" fmla="*/ 1787 h 4747078"/>
              <a:gd name="connsiteX2" fmla="*/ 4117373 w 4117373"/>
              <a:gd name="connsiteY2" fmla="*/ 2792416 h 4747078"/>
              <a:gd name="connsiteX3" fmla="*/ 2827584 w 4117373"/>
              <a:gd name="connsiteY3" fmla="*/ 4744845 h 4747078"/>
              <a:gd name="connsiteX4" fmla="*/ 1095 w 4117373"/>
              <a:gd name="connsiteY4" fmla="*/ 3109916 h 4747078"/>
              <a:gd name="connsiteX0" fmla="*/ 1095 w 4365968"/>
              <a:gd name="connsiteY0" fmla="*/ 3111370 h 4748532"/>
              <a:gd name="connsiteX1" fmla="*/ 3170484 w 4365968"/>
              <a:gd name="connsiteY1" fmla="*/ 3241 h 4748532"/>
              <a:gd name="connsiteX2" fmla="*/ 4117373 w 4365968"/>
              <a:gd name="connsiteY2" fmla="*/ 2793870 h 4748532"/>
              <a:gd name="connsiteX3" fmla="*/ 2827584 w 4365968"/>
              <a:gd name="connsiteY3" fmla="*/ 4746299 h 4748532"/>
              <a:gd name="connsiteX4" fmla="*/ 1095 w 4365968"/>
              <a:gd name="connsiteY4" fmla="*/ 3111370 h 4748532"/>
              <a:gd name="connsiteX0" fmla="*/ 1095 w 4192550"/>
              <a:gd name="connsiteY0" fmla="*/ 3109191 h 4746353"/>
              <a:gd name="connsiteX1" fmla="*/ 3170484 w 4192550"/>
              <a:gd name="connsiteY1" fmla="*/ 1062 h 4746353"/>
              <a:gd name="connsiteX2" fmla="*/ 4117373 w 4192550"/>
              <a:gd name="connsiteY2" fmla="*/ 2791691 h 4746353"/>
              <a:gd name="connsiteX3" fmla="*/ 2827584 w 4192550"/>
              <a:gd name="connsiteY3" fmla="*/ 4744120 h 4746353"/>
              <a:gd name="connsiteX4" fmla="*/ 1095 w 4192550"/>
              <a:gd name="connsiteY4" fmla="*/ 3109191 h 4746353"/>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2583 w 4535508"/>
              <a:gd name="connsiteY0" fmla="*/ 3111199 h 4747432"/>
              <a:gd name="connsiteX1" fmla="*/ 3171972 w 4535508"/>
              <a:gd name="connsiteY1" fmla="*/ 3070 h 4747432"/>
              <a:gd name="connsiteX2" fmla="*/ 4118861 w 4535508"/>
              <a:gd name="connsiteY2" fmla="*/ 2793699 h 4747432"/>
              <a:gd name="connsiteX3" fmla="*/ 2829072 w 4535508"/>
              <a:gd name="connsiteY3" fmla="*/ 4746128 h 4747432"/>
              <a:gd name="connsiteX4" fmla="*/ 2583 w 4535508"/>
              <a:gd name="connsiteY4" fmla="*/ 3111199 h 474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508" h="4747432">
                <a:moveTo>
                  <a:pt x="2583" y="3111199"/>
                </a:moveTo>
                <a:cubicBezTo>
                  <a:pt x="59733" y="2320690"/>
                  <a:pt x="2485926" y="55987"/>
                  <a:pt x="3171972" y="3070"/>
                </a:cubicBezTo>
                <a:cubicBezTo>
                  <a:pt x="3858018" y="-49847"/>
                  <a:pt x="5223761" y="569127"/>
                  <a:pt x="4118861" y="2793699"/>
                </a:cubicBezTo>
                <a:cubicBezTo>
                  <a:pt x="3801361" y="3468871"/>
                  <a:pt x="4823218" y="4794811"/>
                  <a:pt x="2829072" y="4746128"/>
                </a:cubicBezTo>
                <a:cubicBezTo>
                  <a:pt x="834926" y="4697445"/>
                  <a:pt x="-54567" y="3901708"/>
                  <a:pt x="2583" y="3111199"/>
                </a:cubicBezTo>
                <a:close/>
              </a:path>
            </a:pathLst>
          </a:custGeom>
          <a:gradFill>
            <a:gsLst>
              <a:gs pos="0">
                <a:schemeClr val="accent2">
                  <a:alpha val="20000"/>
                </a:schemeClr>
              </a:gs>
              <a:gs pos="100000">
                <a:schemeClr val="accent2">
                  <a:alpha val="0"/>
                </a:schemeClr>
              </a:gs>
            </a:gsLst>
            <a:path path="circle">
              <a:fillToRect l="50000" t="50000" r="50000" b="50000"/>
            </a:path>
          </a:gradFill>
          <a:ln>
            <a:noFill/>
          </a:ln>
          <a:effectLst>
            <a:softEdge rad="889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77618721"/>
      </p:ext>
    </p:extLst>
  </p:cSld>
  <p:clrMap bg1="lt1" tx1="dk1" bg2="lt2" tx2="dk2" accent1="accent1" accent2="accent2" accent3="accent3" accent4="accent4" accent5="accent5" accent6="accent6" hlink="hlink" folHlink="folHlink"/>
  <p:sldLayoutIdLst>
    <p:sldLayoutId id="2147483682" r:id="rId1"/>
    <p:sldLayoutId id="2147483655"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Graphic 8">
            <a:extLst>
              <a:ext uri="{FF2B5EF4-FFF2-40B4-BE49-F238E27FC236}">
                <a16:creationId xmlns:a16="http://schemas.microsoft.com/office/drawing/2014/main" id="{ED649966-C253-7B1C-733C-137CC0823189}"/>
              </a:ext>
            </a:extLst>
          </p:cNvPr>
          <p:cNvSpPr/>
          <p:nvPr/>
        </p:nvSpPr>
        <p:spPr>
          <a:xfrm>
            <a:off x="0" y="0"/>
            <a:ext cx="12192000" cy="6858000"/>
          </a:xfrm>
          <a:custGeom>
            <a:avLst/>
            <a:gdLst>
              <a:gd name="connsiteX0" fmla="*/ 12192000 w 12192000"/>
              <a:gd name="connsiteY0" fmla="*/ 518287 h 6858000"/>
              <a:gd name="connsiteX1" fmla="*/ 12192000 w 12192000"/>
              <a:gd name="connsiteY1" fmla="*/ 508762 h 6858000"/>
              <a:gd name="connsiteX2" fmla="*/ 11666665 w 12192000"/>
              <a:gd name="connsiteY2" fmla="*/ 508762 h 6858000"/>
              <a:gd name="connsiteX3" fmla="*/ 11666665 w 12192000"/>
              <a:gd name="connsiteY3" fmla="*/ 0 h 6858000"/>
              <a:gd name="connsiteX4" fmla="*/ 11657140 w 12192000"/>
              <a:gd name="connsiteY4" fmla="*/ 0 h 6858000"/>
              <a:gd name="connsiteX5" fmla="*/ 11657140 w 12192000"/>
              <a:gd name="connsiteY5" fmla="*/ 508762 h 6858000"/>
              <a:gd name="connsiteX6" fmla="*/ 11136440 w 12192000"/>
              <a:gd name="connsiteY6" fmla="*/ 508762 h 6858000"/>
              <a:gd name="connsiteX7" fmla="*/ 11136440 w 12192000"/>
              <a:gd name="connsiteY7" fmla="*/ 0 h 6858000"/>
              <a:gd name="connsiteX8" fmla="*/ 11126915 w 12192000"/>
              <a:gd name="connsiteY8" fmla="*/ 0 h 6858000"/>
              <a:gd name="connsiteX9" fmla="*/ 11126915 w 12192000"/>
              <a:gd name="connsiteY9" fmla="*/ 508762 h 6858000"/>
              <a:gd name="connsiteX10" fmla="*/ 10606215 w 12192000"/>
              <a:gd name="connsiteY10" fmla="*/ 508762 h 6858000"/>
              <a:gd name="connsiteX11" fmla="*/ 10606215 w 12192000"/>
              <a:gd name="connsiteY11" fmla="*/ 0 h 6858000"/>
              <a:gd name="connsiteX12" fmla="*/ 10596690 w 12192000"/>
              <a:gd name="connsiteY12" fmla="*/ 0 h 6858000"/>
              <a:gd name="connsiteX13" fmla="*/ 10596690 w 12192000"/>
              <a:gd name="connsiteY13" fmla="*/ 508762 h 6858000"/>
              <a:gd name="connsiteX14" fmla="*/ 10075990 w 12192000"/>
              <a:gd name="connsiteY14" fmla="*/ 508762 h 6858000"/>
              <a:gd name="connsiteX15" fmla="*/ 10075990 w 12192000"/>
              <a:gd name="connsiteY15" fmla="*/ 0 h 6858000"/>
              <a:gd name="connsiteX16" fmla="*/ 10066465 w 12192000"/>
              <a:gd name="connsiteY16" fmla="*/ 0 h 6858000"/>
              <a:gd name="connsiteX17" fmla="*/ 10066465 w 12192000"/>
              <a:gd name="connsiteY17" fmla="*/ 508762 h 6858000"/>
              <a:gd name="connsiteX18" fmla="*/ 9545765 w 12192000"/>
              <a:gd name="connsiteY18" fmla="*/ 508762 h 6858000"/>
              <a:gd name="connsiteX19" fmla="*/ 9545765 w 12192000"/>
              <a:gd name="connsiteY19" fmla="*/ 0 h 6858000"/>
              <a:gd name="connsiteX20" fmla="*/ 9536240 w 12192000"/>
              <a:gd name="connsiteY20" fmla="*/ 0 h 6858000"/>
              <a:gd name="connsiteX21" fmla="*/ 9536240 w 12192000"/>
              <a:gd name="connsiteY21" fmla="*/ 508762 h 6858000"/>
              <a:gd name="connsiteX22" fmla="*/ 9015540 w 12192000"/>
              <a:gd name="connsiteY22" fmla="*/ 508762 h 6858000"/>
              <a:gd name="connsiteX23" fmla="*/ 9015540 w 12192000"/>
              <a:gd name="connsiteY23" fmla="*/ 0 h 6858000"/>
              <a:gd name="connsiteX24" fmla="*/ 9006015 w 12192000"/>
              <a:gd name="connsiteY24" fmla="*/ 0 h 6858000"/>
              <a:gd name="connsiteX25" fmla="*/ 9006015 w 12192000"/>
              <a:gd name="connsiteY25" fmla="*/ 508762 h 6858000"/>
              <a:gd name="connsiteX26" fmla="*/ 8485315 w 12192000"/>
              <a:gd name="connsiteY26" fmla="*/ 508762 h 6858000"/>
              <a:gd name="connsiteX27" fmla="*/ 8485315 w 12192000"/>
              <a:gd name="connsiteY27" fmla="*/ 0 h 6858000"/>
              <a:gd name="connsiteX28" fmla="*/ 8475790 w 12192000"/>
              <a:gd name="connsiteY28" fmla="*/ 0 h 6858000"/>
              <a:gd name="connsiteX29" fmla="*/ 8475790 w 12192000"/>
              <a:gd name="connsiteY29" fmla="*/ 508762 h 6858000"/>
              <a:gd name="connsiteX30" fmla="*/ 7955090 w 12192000"/>
              <a:gd name="connsiteY30" fmla="*/ 508762 h 6858000"/>
              <a:gd name="connsiteX31" fmla="*/ 7955090 w 12192000"/>
              <a:gd name="connsiteY31" fmla="*/ 0 h 6858000"/>
              <a:gd name="connsiteX32" fmla="*/ 7945565 w 12192000"/>
              <a:gd name="connsiteY32" fmla="*/ 0 h 6858000"/>
              <a:gd name="connsiteX33" fmla="*/ 7945565 w 12192000"/>
              <a:gd name="connsiteY33" fmla="*/ 508762 h 6858000"/>
              <a:gd name="connsiteX34" fmla="*/ 7424865 w 12192000"/>
              <a:gd name="connsiteY34" fmla="*/ 508762 h 6858000"/>
              <a:gd name="connsiteX35" fmla="*/ 7424865 w 12192000"/>
              <a:gd name="connsiteY35" fmla="*/ 0 h 6858000"/>
              <a:gd name="connsiteX36" fmla="*/ 7416800 w 12192000"/>
              <a:gd name="connsiteY36" fmla="*/ 0 h 6858000"/>
              <a:gd name="connsiteX37" fmla="*/ 7416800 w 12192000"/>
              <a:gd name="connsiteY37" fmla="*/ 508762 h 6858000"/>
              <a:gd name="connsiteX38" fmla="*/ 6896100 w 12192000"/>
              <a:gd name="connsiteY38" fmla="*/ 508762 h 6858000"/>
              <a:gd name="connsiteX39" fmla="*/ 6896100 w 12192000"/>
              <a:gd name="connsiteY39" fmla="*/ 0 h 6858000"/>
              <a:gd name="connsiteX40" fmla="*/ 6886575 w 12192000"/>
              <a:gd name="connsiteY40" fmla="*/ 0 h 6858000"/>
              <a:gd name="connsiteX41" fmla="*/ 6886575 w 12192000"/>
              <a:gd name="connsiteY41" fmla="*/ 508762 h 6858000"/>
              <a:gd name="connsiteX42" fmla="*/ 6365875 w 12192000"/>
              <a:gd name="connsiteY42" fmla="*/ 508762 h 6858000"/>
              <a:gd name="connsiteX43" fmla="*/ 6365875 w 12192000"/>
              <a:gd name="connsiteY43" fmla="*/ 0 h 6858000"/>
              <a:gd name="connsiteX44" fmla="*/ 6356350 w 12192000"/>
              <a:gd name="connsiteY44" fmla="*/ 0 h 6858000"/>
              <a:gd name="connsiteX45" fmla="*/ 6356350 w 12192000"/>
              <a:gd name="connsiteY45" fmla="*/ 508762 h 6858000"/>
              <a:gd name="connsiteX46" fmla="*/ 5835650 w 12192000"/>
              <a:gd name="connsiteY46" fmla="*/ 508762 h 6858000"/>
              <a:gd name="connsiteX47" fmla="*/ 5835650 w 12192000"/>
              <a:gd name="connsiteY47" fmla="*/ 0 h 6858000"/>
              <a:gd name="connsiteX48" fmla="*/ 5826125 w 12192000"/>
              <a:gd name="connsiteY48" fmla="*/ 0 h 6858000"/>
              <a:gd name="connsiteX49" fmla="*/ 5826125 w 12192000"/>
              <a:gd name="connsiteY49" fmla="*/ 508762 h 6858000"/>
              <a:gd name="connsiteX50" fmla="*/ 5305425 w 12192000"/>
              <a:gd name="connsiteY50" fmla="*/ 508762 h 6858000"/>
              <a:gd name="connsiteX51" fmla="*/ 5305425 w 12192000"/>
              <a:gd name="connsiteY51" fmla="*/ 0 h 6858000"/>
              <a:gd name="connsiteX52" fmla="*/ 5295900 w 12192000"/>
              <a:gd name="connsiteY52" fmla="*/ 0 h 6858000"/>
              <a:gd name="connsiteX53" fmla="*/ 5295900 w 12192000"/>
              <a:gd name="connsiteY53" fmla="*/ 508762 h 6858000"/>
              <a:gd name="connsiteX54" fmla="*/ 4775200 w 12192000"/>
              <a:gd name="connsiteY54" fmla="*/ 508762 h 6858000"/>
              <a:gd name="connsiteX55" fmla="*/ 4775200 w 12192000"/>
              <a:gd name="connsiteY55" fmla="*/ 0 h 6858000"/>
              <a:gd name="connsiteX56" fmla="*/ 4765675 w 12192000"/>
              <a:gd name="connsiteY56" fmla="*/ 0 h 6858000"/>
              <a:gd name="connsiteX57" fmla="*/ 4765675 w 12192000"/>
              <a:gd name="connsiteY57" fmla="*/ 508762 h 6858000"/>
              <a:gd name="connsiteX58" fmla="*/ 4244975 w 12192000"/>
              <a:gd name="connsiteY58" fmla="*/ 508762 h 6858000"/>
              <a:gd name="connsiteX59" fmla="*/ 4244975 w 12192000"/>
              <a:gd name="connsiteY59" fmla="*/ 0 h 6858000"/>
              <a:gd name="connsiteX60" fmla="*/ 4235450 w 12192000"/>
              <a:gd name="connsiteY60" fmla="*/ 0 h 6858000"/>
              <a:gd name="connsiteX61" fmla="*/ 4235450 w 12192000"/>
              <a:gd name="connsiteY61" fmla="*/ 508762 h 6858000"/>
              <a:gd name="connsiteX62" fmla="*/ 3714750 w 12192000"/>
              <a:gd name="connsiteY62" fmla="*/ 508762 h 6858000"/>
              <a:gd name="connsiteX63" fmla="*/ 3714750 w 12192000"/>
              <a:gd name="connsiteY63" fmla="*/ 0 h 6858000"/>
              <a:gd name="connsiteX64" fmla="*/ 3705225 w 12192000"/>
              <a:gd name="connsiteY64" fmla="*/ 0 h 6858000"/>
              <a:gd name="connsiteX65" fmla="*/ 3705225 w 12192000"/>
              <a:gd name="connsiteY65" fmla="*/ 508762 h 6858000"/>
              <a:gd name="connsiteX66" fmla="*/ 3184525 w 12192000"/>
              <a:gd name="connsiteY66" fmla="*/ 508762 h 6858000"/>
              <a:gd name="connsiteX67" fmla="*/ 3184525 w 12192000"/>
              <a:gd name="connsiteY67" fmla="*/ 0 h 6858000"/>
              <a:gd name="connsiteX68" fmla="*/ 3175000 w 12192000"/>
              <a:gd name="connsiteY68" fmla="*/ 0 h 6858000"/>
              <a:gd name="connsiteX69" fmla="*/ 3175000 w 12192000"/>
              <a:gd name="connsiteY69" fmla="*/ 508762 h 6858000"/>
              <a:gd name="connsiteX70" fmla="*/ 2654300 w 12192000"/>
              <a:gd name="connsiteY70" fmla="*/ 508762 h 6858000"/>
              <a:gd name="connsiteX71" fmla="*/ 2654300 w 12192000"/>
              <a:gd name="connsiteY71" fmla="*/ 0 h 6858000"/>
              <a:gd name="connsiteX72" fmla="*/ 2644775 w 12192000"/>
              <a:gd name="connsiteY72" fmla="*/ 0 h 6858000"/>
              <a:gd name="connsiteX73" fmla="*/ 2644775 w 12192000"/>
              <a:gd name="connsiteY73" fmla="*/ 508762 h 6858000"/>
              <a:gd name="connsiteX74" fmla="*/ 2124075 w 12192000"/>
              <a:gd name="connsiteY74" fmla="*/ 508762 h 6858000"/>
              <a:gd name="connsiteX75" fmla="*/ 2124075 w 12192000"/>
              <a:gd name="connsiteY75" fmla="*/ 0 h 6858000"/>
              <a:gd name="connsiteX76" fmla="*/ 2114550 w 12192000"/>
              <a:gd name="connsiteY76" fmla="*/ 0 h 6858000"/>
              <a:gd name="connsiteX77" fmla="*/ 2114550 w 12192000"/>
              <a:gd name="connsiteY77" fmla="*/ 508762 h 6858000"/>
              <a:gd name="connsiteX78" fmla="*/ 1593850 w 12192000"/>
              <a:gd name="connsiteY78" fmla="*/ 508762 h 6858000"/>
              <a:gd name="connsiteX79" fmla="*/ 1593850 w 12192000"/>
              <a:gd name="connsiteY79" fmla="*/ 0 h 6858000"/>
              <a:gd name="connsiteX80" fmla="*/ 1584325 w 12192000"/>
              <a:gd name="connsiteY80" fmla="*/ 0 h 6858000"/>
              <a:gd name="connsiteX81" fmla="*/ 1584325 w 12192000"/>
              <a:gd name="connsiteY81" fmla="*/ 508762 h 6858000"/>
              <a:gd name="connsiteX82" fmla="*/ 1063625 w 12192000"/>
              <a:gd name="connsiteY82" fmla="*/ 508762 h 6858000"/>
              <a:gd name="connsiteX83" fmla="*/ 1063625 w 12192000"/>
              <a:gd name="connsiteY83" fmla="*/ 0 h 6858000"/>
              <a:gd name="connsiteX84" fmla="*/ 1054100 w 12192000"/>
              <a:gd name="connsiteY84" fmla="*/ 0 h 6858000"/>
              <a:gd name="connsiteX85" fmla="*/ 1054100 w 12192000"/>
              <a:gd name="connsiteY85" fmla="*/ 508762 h 6858000"/>
              <a:gd name="connsiteX86" fmla="*/ 533400 w 12192000"/>
              <a:gd name="connsiteY86" fmla="*/ 508762 h 6858000"/>
              <a:gd name="connsiteX87" fmla="*/ 533400 w 12192000"/>
              <a:gd name="connsiteY87" fmla="*/ 0 h 6858000"/>
              <a:gd name="connsiteX88" fmla="*/ 523875 w 12192000"/>
              <a:gd name="connsiteY88" fmla="*/ 0 h 6858000"/>
              <a:gd name="connsiteX89" fmla="*/ 523875 w 12192000"/>
              <a:gd name="connsiteY89" fmla="*/ 508762 h 6858000"/>
              <a:gd name="connsiteX90" fmla="*/ 0 w 12192000"/>
              <a:gd name="connsiteY90" fmla="*/ 508762 h 6858000"/>
              <a:gd name="connsiteX91" fmla="*/ 0 w 12192000"/>
              <a:gd name="connsiteY91" fmla="*/ 518287 h 6858000"/>
              <a:gd name="connsiteX92" fmla="*/ 525336 w 12192000"/>
              <a:gd name="connsiteY92" fmla="*/ 518287 h 6858000"/>
              <a:gd name="connsiteX93" fmla="*/ 525336 w 12192000"/>
              <a:gd name="connsiteY93" fmla="*/ 1038987 h 6858000"/>
              <a:gd name="connsiteX94" fmla="*/ 0 w 12192000"/>
              <a:gd name="connsiteY94" fmla="*/ 1038987 h 6858000"/>
              <a:gd name="connsiteX95" fmla="*/ 0 w 12192000"/>
              <a:gd name="connsiteY95" fmla="*/ 1048512 h 6858000"/>
              <a:gd name="connsiteX96" fmla="*/ 525336 w 12192000"/>
              <a:gd name="connsiteY96" fmla="*/ 1048512 h 6858000"/>
              <a:gd name="connsiteX97" fmla="*/ 525336 w 12192000"/>
              <a:gd name="connsiteY97" fmla="*/ 1569212 h 6858000"/>
              <a:gd name="connsiteX98" fmla="*/ 0 w 12192000"/>
              <a:gd name="connsiteY98" fmla="*/ 1569212 h 6858000"/>
              <a:gd name="connsiteX99" fmla="*/ 0 w 12192000"/>
              <a:gd name="connsiteY99" fmla="*/ 1578737 h 6858000"/>
              <a:gd name="connsiteX100" fmla="*/ 525336 w 12192000"/>
              <a:gd name="connsiteY100" fmla="*/ 1578737 h 6858000"/>
              <a:gd name="connsiteX101" fmla="*/ 525336 w 12192000"/>
              <a:gd name="connsiteY101" fmla="*/ 2099437 h 6858000"/>
              <a:gd name="connsiteX102" fmla="*/ 0 w 12192000"/>
              <a:gd name="connsiteY102" fmla="*/ 2099437 h 6858000"/>
              <a:gd name="connsiteX103" fmla="*/ 0 w 12192000"/>
              <a:gd name="connsiteY103" fmla="*/ 2108962 h 6858000"/>
              <a:gd name="connsiteX104" fmla="*/ 525336 w 12192000"/>
              <a:gd name="connsiteY104" fmla="*/ 2108962 h 6858000"/>
              <a:gd name="connsiteX105" fmla="*/ 525336 w 12192000"/>
              <a:gd name="connsiteY105" fmla="*/ 2629662 h 6858000"/>
              <a:gd name="connsiteX106" fmla="*/ 0 w 12192000"/>
              <a:gd name="connsiteY106" fmla="*/ 2629662 h 6858000"/>
              <a:gd name="connsiteX107" fmla="*/ 0 w 12192000"/>
              <a:gd name="connsiteY107" fmla="*/ 2639187 h 6858000"/>
              <a:gd name="connsiteX108" fmla="*/ 525336 w 12192000"/>
              <a:gd name="connsiteY108" fmla="*/ 2639187 h 6858000"/>
              <a:gd name="connsiteX109" fmla="*/ 525336 w 12192000"/>
              <a:gd name="connsiteY109" fmla="*/ 3159887 h 6858000"/>
              <a:gd name="connsiteX110" fmla="*/ 0 w 12192000"/>
              <a:gd name="connsiteY110" fmla="*/ 3159887 h 6858000"/>
              <a:gd name="connsiteX111" fmla="*/ 0 w 12192000"/>
              <a:gd name="connsiteY111" fmla="*/ 3168650 h 6858000"/>
              <a:gd name="connsiteX112" fmla="*/ 525336 w 12192000"/>
              <a:gd name="connsiteY112" fmla="*/ 3168650 h 6858000"/>
              <a:gd name="connsiteX113" fmla="*/ 525336 w 12192000"/>
              <a:gd name="connsiteY113" fmla="*/ 3689350 h 6858000"/>
              <a:gd name="connsiteX114" fmla="*/ 0 w 12192000"/>
              <a:gd name="connsiteY114" fmla="*/ 3689350 h 6858000"/>
              <a:gd name="connsiteX115" fmla="*/ 0 w 12192000"/>
              <a:gd name="connsiteY115" fmla="*/ 3698875 h 6858000"/>
              <a:gd name="connsiteX116" fmla="*/ 525336 w 12192000"/>
              <a:gd name="connsiteY116" fmla="*/ 3698875 h 6858000"/>
              <a:gd name="connsiteX117" fmla="*/ 525336 w 12192000"/>
              <a:gd name="connsiteY117" fmla="*/ 4219575 h 6858000"/>
              <a:gd name="connsiteX118" fmla="*/ 0 w 12192000"/>
              <a:gd name="connsiteY118" fmla="*/ 4219575 h 6858000"/>
              <a:gd name="connsiteX119" fmla="*/ 0 w 12192000"/>
              <a:gd name="connsiteY119" fmla="*/ 4229100 h 6858000"/>
              <a:gd name="connsiteX120" fmla="*/ 525336 w 12192000"/>
              <a:gd name="connsiteY120" fmla="*/ 4229100 h 6858000"/>
              <a:gd name="connsiteX121" fmla="*/ 525336 w 12192000"/>
              <a:gd name="connsiteY121" fmla="*/ 4749800 h 6858000"/>
              <a:gd name="connsiteX122" fmla="*/ 0 w 12192000"/>
              <a:gd name="connsiteY122" fmla="*/ 4749800 h 6858000"/>
              <a:gd name="connsiteX123" fmla="*/ 0 w 12192000"/>
              <a:gd name="connsiteY123" fmla="*/ 4759325 h 6858000"/>
              <a:gd name="connsiteX124" fmla="*/ 525336 w 12192000"/>
              <a:gd name="connsiteY124" fmla="*/ 4759325 h 6858000"/>
              <a:gd name="connsiteX125" fmla="*/ 525336 w 12192000"/>
              <a:gd name="connsiteY125" fmla="*/ 5280025 h 6858000"/>
              <a:gd name="connsiteX126" fmla="*/ 0 w 12192000"/>
              <a:gd name="connsiteY126" fmla="*/ 5280025 h 6858000"/>
              <a:gd name="connsiteX127" fmla="*/ 0 w 12192000"/>
              <a:gd name="connsiteY127" fmla="*/ 5289550 h 6858000"/>
              <a:gd name="connsiteX128" fmla="*/ 525336 w 12192000"/>
              <a:gd name="connsiteY128" fmla="*/ 5289550 h 6858000"/>
              <a:gd name="connsiteX129" fmla="*/ 525336 w 12192000"/>
              <a:gd name="connsiteY129" fmla="*/ 5810250 h 6858000"/>
              <a:gd name="connsiteX130" fmla="*/ 0 w 12192000"/>
              <a:gd name="connsiteY130" fmla="*/ 5810250 h 6858000"/>
              <a:gd name="connsiteX131" fmla="*/ 0 w 12192000"/>
              <a:gd name="connsiteY131" fmla="*/ 5819775 h 6858000"/>
              <a:gd name="connsiteX132" fmla="*/ 525336 w 12192000"/>
              <a:gd name="connsiteY132" fmla="*/ 5819775 h 6858000"/>
              <a:gd name="connsiteX133" fmla="*/ 525336 w 12192000"/>
              <a:gd name="connsiteY133" fmla="*/ 6340475 h 6858000"/>
              <a:gd name="connsiteX134" fmla="*/ 0 w 12192000"/>
              <a:gd name="connsiteY134" fmla="*/ 6340475 h 6858000"/>
              <a:gd name="connsiteX135" fmla="*/ 0 w 12192000"/>
              <a:gd name="connsiteY135" fmla="*/ 6350000 h 6858000"/>
              <a:gd name="connsiteX136" fmla="*/ 525336 w 12192000"/>
              <a:gd name="connsiteY136" fmla="*/ 6350000 h 6858000"/>
              <a:gd name="connsiteX137" fmla="*/ 525336 w 12192000"/>
              <a:gd name="connsiteY137" fmla="*/ 6858000 h 6858000"/>
              <a:gd name="connsiteX138" fmla="*/ 534861 w 12192000"/>
              <a:gd name="connsiteY138" fmla="*/ 6858000 h 6858000"/>
              <a:gd name="connsiteX139" fmla="*/ 534861 w 12192000"/>
              <a:gd name="connsiteY139" fmla="*/ 6349238 h 6858000"/>
              <a:gd name="connsiteX140" fmla="*/ 1055561 w 12192000"/>
              <a:gd name="connsiteY140" fmla="*/ 6349238 h 6858000"/>
              <a:gd name="connsiteX141" fmla="*/ 1055561 w 12192000"/>
              <a:gd name="connsiteY141" fmla="*/ 6858000 h 6858000"/>
              <a:gd name="connsiteX142" fmla="*/ 1065086 w 12192000"/>
              <a:gd name="connsiteY142" fmla="*/ 6858000 h 6858000"/>
              <a:gd name="connsiteX143" fmla="*/ 1065086 w 12192000"/>
              <a:gd name="connsiteY143" fmla="*/ 6349238 h 6858000"/>
              <a:gd name="connsiteX144" fmla="*/ 1585786 w 12192000"/>
              <a:gd name="connsiteY144" fmla="*/ 6349238 h 6858000"/>
              <a:gd name="connsiteX145" fmla="*/ 1585786 w 12192000"/>
              <a:gd name="connsiteY145" fmla="*/ 6858000 h 6858000"/>
              <a:gd name="connsiteX146" fmla="*/ 1595311 w 12192000"/>
              <a:gd name="connsiteY146" fmla="*/ 6858000 h 6858000"/>
              <a:gd name="connsiteX147" fmla="*/ 1595311 w 12192000"/>
              <a:gd name="connsiteY147" fmla="*/ 6349238 h 6858000"/>
              <a:gd name="connsiteX148" fmla="*/ 2116011 w 12192000"/>
              <a:gd name="connsiteY148" fmla="*/ 6349238 h 6858000"/>
              <a:gd name="connsiteX149" fmla="*/ 2116011 w 12192000"/>
              <a:gd name="connsiteY149" fmla="*/ 6858000 h 6858000"/>
              <a:gd name="connsiteX150" fmla="*/ 2125536 w 12192000"/>
              <a:gd name="connsiteY150" fmla="*/ 6858000 h 6858000"/>
              <a:gd name="connsiteX151" fmla="*/ 2125536 w 12192000"/>
              <a:gd name="connsiteY151" fmla="*/ 6349238 h 6858000"/>
              <a:gd name="connsiteX152" fmla="*/ 2646236 w 12192000"/>
              <a:gd name="connsiteY152" fmla="*/ 6349238 h 6858000"/>
              <a:gd name="connsiteX153" fmla="*/ 2646236 w 12192000"/>
              <a:gd name="connsiteY153" fmla="*/ 6858000 h 6858000"/>
              <a:gd name="connsiteX154" fmla="*/ 2655761 w 12192000"/>
              <a:gd name="connsiteY154" fmla="*/ 6858000 h 6858000"/>
              <a:gd name="connsiteX155" fmla="*/ 2655761 w 12192000"/>
              <a:gd name="connsiteY155" fmla="*/ 6349238 h 6858000"/>
              <a:gd name="connsiteX156" fmla="*/ 3176461 w 12192000"/>
              <a:gd name="connsiteY156" fmla="*/ 6349238 h 6858000"/>
              <a:gd name="connsiteX157" fmla="*/ 3176461 w 12192000"/>
              <a:gd name="connsiteY157" fmla="*/ 6858000 h 6858000"/>
              <a:gd name="connsiteX158" fmla="*/ 3185986 w 12192000"/>
              <a:gd name="connsiteY158" fmla="*/ 6858000 h 6858000"/>
              <a:gd name="connsiteX159" fmla="*/ 3185986 w 12192000"/>
              <a:gd name="connsiteY159" fmla="*/ 6349238 h 6858000"/>
              <a:gd name="connsiteX160" fmla="*/ 3706686 w 12192000"/>
              <a:gd name="connsiteY160" fmla="*/ 6349238 h 6858000"/>
              <a:gd name="connsiteX161" fmla="*/ 3706686 w 12192000"/>
              <a:gd name="connsiteY161" fmla="*/ 6858000 h 6858000"/>
              <a:gd name="connsiteX162" fmla="*/ 3716211 w 12192000"/>
              <a:gd name="connsiteY162" fmla="*/ 6858000 h 6858000"/>
              <a:gd name="connsiteX163" fmla="*/ 3716211 w 12192000"/>
              <a:gd name="connsiteY163" fmla="*/ 6349238 h 6858000"/>
              <a:gd name="connsiteX164" fmla="*/ 4236911 w 12192000"/>
              <a:gd name="connsiteY164" fmla="*/ 6349238 h 6858000"/>
              <a:gd name="connsiteX165" fmla="*/ 4236911 w 12192000"/>
              <a:gd name="connsiteY165" fmla="*/ 6858000 h 6858000"/>
              <a:gd name="connsiteX166" fmla="*/ 4246436 w 12192000"/>
              <a:gd name="connsiteY166" fmla="*/ 6858000 h 6858000"/>
              <a:gd name="connsiteX167" fmla="*/ 4246436 w 12192000"/>
              <a:gd name="connsiteY167" fmla="*/ 6349238 h 6858000"/>
              <a:gd name="connsiteX168" fmla="*/ 4767136 w 12192000"/>
              <a:gd name="connsiteY168" fmla="*/ 6349238 h 6858000"/>
              <a:gd name="connsiteX169" fmla="*/ 4767136 w 12192000"/>
              <a:gd name="connsiteY169" fmla="*/ 6858000 h 6858000"/>
              <a:gd name="connsiteX170" fmla="*/ 4776661 w 12192000"/>
              <a:gd name="connsiteY170" fmla="*/ 6858000 h 6858000"/>
              <a:gd name="connsiteX171" fmla="*/ 4776661 w 12192000"/>
              <a:gd name="connsiteY171" fmla="*/ 6349238 h 6858000"/>
              <a:gd name="connsiteX172" fmla="*/ 5297361 w 12192000"/>
              <a:gd name="connsiteY172" fmla="*/ 6349238 h 6858000"/>
              <a:gd name="connsiteX173" fmla="*/ 5297361 w 12192000"/>
              <a:gd name="connsiteY173" fmla="*/ 6858000 h 6858000"/>
              <a:gd name="connsiteX174" fmla="*/ 5306886 w 12192000"/>
              <a:gd name="connsiteY174" fmla="*/ 6858000 h 6858000"/>
              <a:gd name="connsiteX175" fmla="*/ 5306886 w 12192000"/>
              <a:gd name="connsiteY175" fmla="*/ 6349238 h 6858000"/>
              <a:gd name="connsiteX176" fmla="*/ 5827586 w 12192000"/>
              <a:gd name="connsiteY176" fmla="*/ 6349238 h 6858000"/>
              <a:gd name="connsiteX177" fmla="*/ 5827586 w 12192000"/>
              <a:gd name="connsiteY177" fmla="*/ 6858000 h 6858000"/>
              <a:gd name="connsiteX178" fmla="*/ 5835650 w 12192000"/>
              <a:gd name="connsiteY178" fmla="*/ 6858000 h 6858000"/>
              <a:gd name="connsiteX179" fmla="*/ 5835650 w 12192000"/>
              <a:gd name="connsiteY179" fmla="*/ 6349238 h 6858000"/>
              <a:gd name="connsiteX180" fmla="*/ 6356350 w 12192000"/>
              <a:gd name="connsiteY180" fmla="*/ 6349238 h 6858000"/>
              <a:gd name="connsiteX181" fmla="*/ 6356350 w 12192000"/>
              <a:gd name="connsiteY181" fmla="*/ 6858000 h 6858000"/>
              <a:gd name="connsiteX182" fmla="*/ 6365875 w 12192000"/>
              <a:gd name="connsiteY182" fmla="*/ 6858000 h 6858000"/>
              <a:gd name="connsiteX183" fmla="*/ 6365875 w 12192000"/>
              <a:gd name="connsiteY183" fmla="*/ 6349238 h 6858000"/>
              <a:gd name="connsiteX184" fmla="*/ 6886575 w 12192000"/>
              <a:gd name="connsiteY184" fmla="*/ 6349238 h 6858000"/>
              <a:gd name="connsiteX185" fmla="*/ 6886575 w 12192000"/>
              <a:gd name="connsiteY185" fmla="*/ 6858000 h 6858000"/>
              <a:gd name="connsiteX186" fmla="*/ 6896100 w 12192000"/>
              <a:gd name="connsiteY186" fmla="*/ 6858000 h 6858000"/>
              <a:gd name="connsiteX187" fmla="*/ 6896100 w 12192000"/>
              <a:gd name="connsiteY187" fmla="*/ 6349238 h 6858000"/>
              <a:gd name="connsiteX188" fmla="*/ 7416800 w 12192000"/>
              <a:gd name="connsiteY188" fmla="*/ 6349238 h 6858000"/>
              <a:gd name="connsiteX189" fmla="*/ 7416800 w 12192000"/>
              <a:gd name="connsiteY189" fmla="*/ 6858000 h 6858000"/>
              <a:gd name="connsiteX190" fmla="*/ 7426325 w 12192000"/>
              <a:gd name="connsiteY190" fmla="*/ 6858000 h 6858000"/>
              <a:gd name="connsiteX191" fmla="*/ 7426325 w 12192000"/>
              <a:gd name="connsiteY191" fmla="*/ 6349238 h 6858000"/>
              <a:gd name="connsiteX192" fmla="*/ 7947025 w 12192000"/>
              <a:gd name="connsiteY192" fmla="*/ 6349238 h 6858000"/>
              <a:gd name="connsiteX193" fmla="*/ 7947025 w 12192000"/>
              <a:gd name="connsiteY193" fmla="*/ 6858000 h 6858000"/>
              <a:gd name="connsiteX194" fmla="*/ 7956550 w 12192000"/>
              <a:gd name="connsiteY194" fmla="*/ 6858000 h 6858000"/>
              <a:gd name="connsiteX195" fmla="*/ 7956550 w 12192000"/>
              <a:gd name="connsiteY195" fmla="*/ 6349238 h 6858000"/>
              <a:gd name="connsiteX196" fmla="*/ 8477250 w 12192000"/>
              <a:gd name="connsiteY196" fmla="*/ 6349238 h 6858000"/>
              <a:gd name="connsiteX197" fmla="*/ 8477250 w 12192000"/>
              <a:gd name="connsiteY197" fmla="*/ 6858000 h 6858000"/>
              <a:gd name="connsiteX198" fmla="*/ 8486775 w 12192000"/>
              <a:gd name="connsiteY198" fmla="*/ 6858000 h 6858000"/>
              <a:gd name="connsiteX199" fmla="*/ 8486775 w 12192000"/>
              <a:gd name="connsiteY199" fmla="*/ 6349238 h 6858000"/>
              <a:gd name="connsiteX200" fmla="*/ 9007475 w 12192000"/>
              <a:gd name="connsiteY200" fmla="*/ 6349238 h 6858000"/>
              <a:gd name="connsiteX201" fmla="*/ 9007475 w 12192000"/>
              <a:gd name="connsiteY201" fmla="*/ 6858000 h 6858000"/>
              <a:gd name="connsiteX202" fmla="*/ 9017000 w 12192000"/>
              <a:gd name="connsiteY202" fmla="*/ 6858000 h 6858000"/>
              <a:gd name="connsiteX203" fmla="*/ 9017000 w 12192000"/>
              <a:gd name="connsiteY203" fmla="*/ 6349238 h 6858000"/>
              <a:gd name="connsiteX204" fmla="*/ 9537700 w 12192000"/>
              <a:gd name="connsiteY204" fmla="*/ 6349238 h 6858000"/>
              <a:gd name="connsiteX205" fmla="*/ 9537700 w 12192000"/>
              <a:gd name="connsiteY205" fmla="*/ 6858000 h 6858000"/>
              <a:gd name="connsiteX206" fmla="*/ 9547225 w 12192000"/>
              <a:gd name="connsiteY206" fmla="*/ 6858000 h 6858000"/>
              <a:gd name="connsiteX207" fmla="*/ 9547225 w 12192000"/>
              <a:gd name="connsiteY207" fmla="*/ 6349238 h 6858000"/>
              <a:gd name="connsiteX208" fmla="*/ 10067925 w 12192000"/>
              <a:gd name="connsiteY208" fmla="*/ 6349238 h 6858000"/>
              <a:gd name="connsiteX209" fmla="*/ 10067925 w 12192000"/>
              <a:gd name="connsiteY209" fmla="*/ 6858000 h 6858000"/>
              <a:gd name="connsiteX210" fmla="*/ 10077450 w 12192000"/>
              <a:gd name="connsiteY210" fmla="*/ 6858000 h 6858000"/>
              <a:gd name="connsiteX211" fmla="*/ 10077450 w 12192000"/>
              <a:gd name="connsiteY211" fmla="*/ 6349238 h 6858000"/>
              <a:gd name="connsiteX212" fmla="*/ 10598150 w 12192000"/>
              <a:gd name="connsiteY212" fmla="*/ 6349238 h 6858000"/>
              <a:gd name="connsiteX213" fmla="*/ 10598150 w 12192000"/>
              <a:gd name="connsiteY213" fmla="*/ 6858000 h 6858000"/>
              <a:gd name="connsiteX214" fmla="*/ 10607675 w 12192000"/>
              <a:gd name="connsiteY214" fmla="*/ 6858000 h 6858000"/>
              <a:gd name="connsiteX215" fmla="*/ 10607675 w 12192000"/>
              <a:gd name="connsiteY215" fmla="*/ 6349238 h 6858000"/>
              <a:gd name="connsiteX216" fmla="*/ 11128375 w 12192000"/>
              <a:gd name="connsiteY216" fmla="*/ 6349238 h 6858000"/>
              <a:gd name="connsiteX217" fmla="*/ 11128375 w 12192000"/>
              <a:gd name="connsiteY217" fmla="*/ 6858000 h 6858000"/>
              <a:gd name="connsiteX218" fmla="*/ 11137900 w 12192000"/>
              <a:gd name="connsiteY218" fmla="*/ 6858000 h 6858000"/>
              <a:gd name="connsiteX219" fmla="*/ 11137900 w 12192000"/>
              <a:gd name="connsiteY219" fmla="*/ 6349238 h 6858000"/>
              <a:gd name="connsiteX220" fmla="*/ 11658600 w 12192000"/>
              <a:gd name="connsiteY220" fmla="*/ 6349238 h 6858000"/>
              <a:gd name="connsiteX221" fmla="*/ 11658600 w 12192000"/>
              <a:gd name="connsiteY221" fmla="*/ 6858000 h 6858000"/>
              <a:gd name="connsiteX222" fmla="*/ 11668125 w 12192000"/>
              <a:gd name="connsiteY222" fmla="*/ 6858000 h 6858000"/>
              <a:gd name="connsiteX223" fmla="*/ 11668125 w 12192000"/>
              <a:gd name="connsiteY223" fmla="*/ 6349238 h 6858000"/>
              <a:gd name="connsiteX224" fmla="*/ 12192000 w 12192000"/>
              <a:gd name="connsiteY224" fmla="*/ 6349238 h 6858000"/>
              <a:gd name="connsiteX225" fmla="*/ 12192000 w 12192000"/>
              <a:gd name="connsiteY225" fmla="*/ 6339713 h 6858000"/>
              <a:gd name="connsiteX226" fmla="*/ 11666665 w 12192000"/>
              <a:gd name="connsiteY226" fmla="*/ 6339713 h 6858000"/>
              <a:gd name="connsiteX227" fmla="*/ 11666665 w 12192000"/>
              <a:gd name="connsiteY227" fmla="*/ 5819013 h 6858000"/>
              <a:gd name="connsiteX228" fmla="*/ 12192000 w 12192000"/>
              <a:gd name="connsiteY228" fmla="*/ 5819013 h 6858000"/>
              <a:gd name="connsiteX229" fmla="*/ 12192000 w 12192000"/>
              <a:gd name="connsiteY229" fmla="*/ 5809488 h 6858000"/>
              <a:gd name="connsiteX230" fmla="*/ 11666665 w 12192000"/>
              <a:gd name="connsiteY230" fmla="*/ 5809488 h 6858000"/>
              <a:gd name="connsiteX231" fmla="*/ 11666665 w 12192000"/>
              <a:gd name="connsiteY231" fmla="*/ 5288788 h 6858000"/>
              <a:gd name="connsiteX232" fmla="*/ 12192000 w 12192000"/>
              <a:gd name="connsiteY232" fmla="*/ 5288788 h 6858000"/>
              <a:gd name="connsiteX233" fmla="*/ 12192000 w 12192000"/>
              <a:gd name="connsiteY233" fmla="*/ 5279263 h 6858000"/>
              <a:gd name="connsiteX234" fmla="*/ 11666665 w 12192000"/>
              <a:gd name="connsiteY234" fmla="*/ 5279263 h 6858000"/>
              <a:gd name="connsiteX235" fmla="*/ 11666665 w 12192000"/>
              <a:gd name="connsiteY235" fmla="*/ 4758563 h 6858000"/>
              <a:gd name="connsiteX236" fmla="*/ 12192000 w 12192000"/>
              <a:gd name="connsiteY236" fmla="*/ 4758563 h 6858000"/>
              <a:gd name="connsiteX237" fmla="*/ 12192000 w 12192000"/>
              <a:gd name="connsiteY237" fmla="*/ 4749800 h 6858000"/>
              <a:gd name="connsiteX238" fmla="*/ 11666665 w 12192000"/>
              <a:gd name="connsiteY238" fmla="*/ 4749800 h 6858000"/>
              <a:gd name="connsiteX239" fmla="*/ 11666665 w 12192000"/>
              <a:gd name="connsiteY239" fmla="*/ 4229100 h 6858000"/>
              <a:gd name="connsiteX240" fmla="*/ 12192000 w 12192000"/>
              <a:gd name="connsiteY240" fmla="*/ 4229100 h 6858000"/>
              <a:gd name="connsiteX241" fmla="*/ 12192000 w 12192000"/>
              <a:gd name="connsiteY241" fmla="*/ 4219575 h 6858000"/>
              <a:gd name="connsiteX242" fmla="*/ 11666665 w 12192000"/>
              <a:gd name="connsiteY242" fmla="*/ 4219575 h 6858000"/>
              <a:gd name="connsiteX243" fmla="*/ 11666665 w 12192000"/>
              <a:gd name="connsiteY243" fmla="*/ 3698875 h 6858000"/>
              <a:gd name="connsiteX244" fmla="*/ 12192000 w 12192000"/>
              <a:gd name="connsiteY244" fmla="*/ 3698875 h 6858000"/>
              <a:gd name="connsiteX245" fmla="*/ 12192000 w 12192000"/>
              <a:gd name="connsiteY245" fmla="*/ 3689350 h 6858000"/>
              <a:gd name="connsiteX246" fmla="*/ 11666665 w 12192000"/>
              <a:gd name="connsiteY246" fmla="*/ 3689350 h 6858000"/>
              <a:gd name="connsiteX247" fmla="*/ 11666665 w 12192000"/>
              <a:gd name="connsiteY247" fmla="*/ 3168650 h 6858000"/>
              <a:gd name="connsiteX248" fmla="*/ 12192000 w 12192000"/>
              <a:gd name="connsiteY248" fmla="*/ 3168650 h 6858000"/>
              <a:gd name="connsiteX249" fmla="*/ 12192000 w 12192000"/>
              <a:gd name="connsiteY249" fmla="*/ 3159125 h 6858000"/>
              <a:gd name="connsiteX250" fmla="*/ 11666665 w 12192000"/>
              <a:gd name="connsiteY250" fmla="*/ 3159125 h 6858000"/>
              <a:gd name="connsiteX251" fmla="*/ 11666665 w 12192000"/>
              <a:gd name="connsiteY251" fmla="*/ 2638425 h 6858000"/>
              <a:gd name="connsiteX252" fmla="*/ 12192000 w 12192000"/>
              <a:gd name="connsiteY252" fmla="*/ 2638425 h 6858000"/>
              <a:gd name="connsiteX253" fmla="*/ 12192000 w 12192000"/>
              <a:gd name="connsiteY253" fmla="*/ 2628900 h 6858000"/>
              <a:gd name="connsiteX254" fmla="*/ 11666665 w 12192000"/>
              <a:gd name="connsiteY254" fmla="*/ 2628900 h 6858000"/>
              <a:gd name="connsiteX255" fmla="*/ 11666665 w 12192000"/>
              <a:gd name="connsiteY255" fmla="*/ 2108200 h 6858000"/>
              <a:gd name="connsiteX256" fmla="*/ 12192000 w 12192000"/>
              <a:gd name="connsiteY256" fmla="*/ 2108200 h 6858000"/>
              <a:gd name="connsiteX257" fmla="*/ 12192000 w 12192000"/>
              <a:gd name="connsiteY257" fmla="*/ 2098675 h 6858000"/>
              <a:gd name="connsiteX258" fmla="*/ 11666665 w 12192000"/>
              <a:gd name="connsiteY258" fmla="*/ 2098675 h 6858000"/>
              <a:gd name="connsiteX259" fmla="*/ 11666665 w 12192000"/>
              <a:gd name="connsiteY259" fmla="*/ 1577975 h 6858000"/>
              <a:gd name="connsiteX260" fmla="*/ 12192000 w 12192000"/>
              <a:gd name="connsiteY260" fmla="*/ 1577975 h 6858000"/>
              <a:gd name="connsiteX261" fmla="*/ 12192000 w 12192000"/>
              <a:gd name="connsiteY261" fmla="*/ 1568450 h 6858000"/>
              <a:gd name="connsiteX262" fmla="*/ 11666665 w 12192000"/>
              <a:gd name="connsiteY262" fmla="*/ 1568450 h 6858000"/>
              <a:gd name="connsiteX263" fmla="*/ 11666665 w 12192000"/>
              <a:gd name="connsiteY263" fmla="*/ 1047750 h 6858000"/>
              <a:gd name="connsiteX264" fmla="*/ 12192000 w 12192000"/>
              <a:gd name="connsiteY264" fmla="*/ 1047750 h 6858000"/>
              <a:gd name="connsiteX265" fmla="*/ 12192000 w 12192000"/>
              <a:gd name="connsiteY265" fmla="*/ 1038225 h 6858000"/>
              <a:gd name="connsiteX266" fmla="*/ 11666665 w 12192000"/>
              <a:gd name="connsiteY266" fmla="*/ 1038225 h 6858000"/>
              <a:gd name="connsiteX267" fmla="*/ 11666665 w 12192000"/>
              <a:gd name="connsiteY267" fmla="*/ 517525 h 6858000"/>
              <a:gd name="connsiteX268" fmla="*/ 11127042 w 12192000"/>
              <a:gd name="connsiteY268" fmla="*/ 518287 h 6858000"/>
              <a:gd name="connsiteX269" fmla="*/ 11127042 w 12192000"/>
              <a:gd name="connsiteY269" fmla="*/ 1038987 h 6858000"/>
              <a:gd name="connsiteX270" fmla="*/ 10606342 w 12192000"/>
              <a:gd name="connsiteY270" fmla="*/ 1038987 h 6858000"/>
              <a:gd name="connsiteX271" fmla="*/ 10606342 w 12192000"/>
              <a:gd name="connsiteY271" fmla="*/ 518287 h 6858000"/>
              <a:gd name="connsiteX272" fmla="*/ 3715385 w 12192000"/>
              <a:gd name="connsiteY272" fmla="*/ 3168650 h 6858000"/>
              <a:gd name="connsiteX273" fmla="*/ 4236085 w 12192000"/>
              <a:gd name="connsiteY273" fmla="*/ 3168650 h 6858000"/>
              <a:gd name="connsiteX274" fmla="*/ 4236085 w 12192000"/>
              <a:gd name="connsiteY274" fmla="*/ 3689350 h 6858000"/>
              <a:gd name="connsiteX275" fmla="*/ 3715385 w 12192000"/>
              <a:gd name="connsiteY275" fmla="*/ 3689350 h 6858000"/>
              <a:gd name="connsiteX276" fmla="*/ 3705860 w 12192000"/>
              <a:gd name="connsiteY276" fmla="*/ 3689350 h 6858000"/>
              <a:gd name="connsiteX277" fmla="*/ 3185160 w 12192000"/>
              <a:gd name="connsiteY277" fmla="*/ 3689350 h 6858000"/>
              <a:gd name="connsiteX278" fmla="*/ 3185160 w 12192000"/>
              <a:gd name="connsiteY278" fmla="*/ 3168650 h 6858000"/>
              <a:gd name="connsiteX279" fmla="*/ 3705860 w 12192000"/>
              <a:gd name="connsiteY279" fmla="*/ 3168650 h 6858000"/>
              <a:gd name="connsiteX280" fmla="*/ 4245610 w 12192000"/>
              <a:gd name="connsiteY280" fmla="*/ 3168650 h 6858000"/>
              <a:gd name="connsiteX281" fmla="*/ 4766310 w 12192000"/>
              <a:gd name="connsiteY281" fmla="*/ 3168650 h 6858000"/>
              <a:gd name="connsiteX282" fmla="*/ 4766310 w 12192000"/>
              <a:gd name="connsiteY282" fmla="*/ 3689350 h 6858000"/>
              <a:gd name="connsiteX283" fmla="*/ 4245610 w 12192000"/>
              <a:gd name="connsiteY283" fmla="*/ 3689350 h 6858000"/>
              <a:gd name="connsiteX284" fmla="*/ 4775645 w 12192000"/>
              <a:gd name="connsiteY284" fmla="*/ 3168650 h 6858000"/>
              <a:gd name="connsiteX285" fmla="*/ 5296345 w 12192000"/>
              <a:gd name="connsiteY285" fmla="*/ 3168650 h 6858000"/>
              <a:gd name="connsiteX286" fmla="*/ 5296345 w 12192000"/>
              <a:gd name="connsiteY286" fmla="*/ 3689350 h 6858000"/>
              <a:gd name="connsiteX287" fmla="*/ 4775645 w 12192000"/>
              <a:gd name="connsiteY287" fmla="*/ 3689350 h 6858000"/>
              <a:gd name="connsiteX288" fmla="*/ 5305743 w 12192000"/>
              <a:gd name="connsiteY288" fmla="*/ 3168650 h 6858000"/>
              <a:gd name="connsiteX289" fmla="*/ 5826443 w 12192000"/>
              <a:gd name="connsiteY289" fmla="*/ 3168650 h 6858000"/>
              <a:gd name="connsiteX290" fmla="*/ 5826443 w 12192000"/>
              <a:gd name="connsiteY290" fmla="*/ 3689350 h 6858000"/>
              <a:gd name="connsiteX291" fmla="*/ 5305743 w 12192000"/>
              <a:gd name="connsiteY291" fmla="*/ 3689350 h 6858000"/>
              <a:gd name="connsiteX292" fmla="*/ 5835650 w 12192000"/>
              <a:gd name="connsiteY292" fmla="*/ 3168650 h 6858000"/>
              <a:gd name="connsiteX293" fmla="*/ 6356350 w 12192000"/>
              <a:gd name="connsiteY293" fmla="*/ 3168650 h 6858000"/>
              <a:gd name="connsiteX294" fmla="*/ 6356350 w 12192000"/>
              <a:gd name="connsiteY294" fmla="*/ 3689350 h 6858000"/>
              <a:gd name="connsiteX295" fmla="*/ 5835650 w 12192000"/>
              <a:gd name="connsiteY295" fmla="*/ 3689350 h 6858000"/>
              <a:gd name="connsiteX296" fmla="*/ 6365748 w 12192000"/>
              <a:gd name="connsiteY296" fmla="*/ 3168650 h 6858000"/>
              <a:gd name="connsiteX297" fmla="*/ 6886448 w 12192000"/>
              <a:gd name="connsiteY297" fmla="*/ 3168650 h 6858000"/>
              <a:gd name="connsiteX298" fmla="*/ 6886448 w 12192000"/>
              <a:gd name="connsiteY298" fmla="*/ 3689350 h 6858000"/>
              <a:gd name="connsiteX299" fmla="*/ 6365748 w 12192000"/>
              <a:gd name="connsiteY299" fmla="*/ 3689350 h 6858000"/>
              <a:gd name="connsiteX300" fmla="*/ 6895846 w 12192000"/>
              <a:gd name="connsiteY300" fmla="*/ 3168650 h 6858000"/>
              <a:gd name="connsiteX301" fmla="*/ 7416546 w 12192000"/>
              <a:gd name="connsiteY301" fmla="*/ 3168650 h 6858000"/>
              <a:gd name="connsiteX302" fmla="*/ 7416546 w 12192000"/>
              <a:gd name="connsiteY302" fmla="*/ 3689350 h 6858000"/>
              <a:gd name="connsiteX303" fmla="*/ 6895846 w 12192000"/>
              <a:gd name="connsiteY303" fmla="*/ 3689350 h 6858000"/>
              <a:gd name="connsiteX304" fmla="*/ 7425944 w 12192000"/>
              <a:gd name="connsiteY304" fmla="*/ 3168650 h 6858000"/>
              <a:gd name="connsiteX305" fmla="*/ 7946644 w 12192000"/>
              <a:gd name="connsiteY305" fmla="*/ 3168650 h 6858000"/>
              <a:gd name="connsiteX306" fmla="*/ 7946644 w 12192000"/>
              <a:gd name="connsiteY306" fmla="*/ 3689350 h 6858000"/>
              <a:gd name="connsiteX307" fmla="*/ 7425944 w 12192000"/>
              <a:gd name="connsiteY307" fmla="*/ 3689350 h 6858000"/>
              <a:gd name="connsiteX308" fmla="*/ 7955979 w 12192000"/>
              <a:gd name="connsiteY308" fmla="*/ 3168650 h 6858000"/>
              <a:gd name="connsiteX309" fmla="*/ 8476679 w 12192000"/>
              <a:gd name="connsiteY309" fmla="*/ 3168650 h 6858000"/>
              <a:gd name="connsiteX310" fmla="*/ 8476679 w 12192000"/>
              <a:gd name="connsiteY310" fmla="*/ 3689350 h 6858000"/>
              <a:gd name="connsiteX311" fmla="*/ 7955979 w 12192000"/>
              <a:gd name="connsiteY311" fmla="*/ 3689350 h 6858000"/>
              <a:gd name="connsiteX312" fmla="*/ 8486077 w 12192000"/>
              <a:gd name="connsiteY312" fmla="*/ 3168650 h 6858000"/>
              <a:gd name="connsiteX313" fmla="*/ 9006777 w 12192000"/>
              <a:gd name="connsiteY313" fmla="*/ 3168650 h 6858000"/>
              <a:gd name="connsiteX314" fmla="*/ 9006777 w 12192000"/>
              <a:gd name="connsiteY314" fmla="*/ 3689350 h 6858000"/>
              <a:gd name="connsiteX315" fmla="*/ 8486077 w 12192000"/>
              <a:gd name="connsiteY315" fmla="*/ 3689350 h 6858000"/>
              <a:gd name="connsiteX316" fmla="*/ 8486077 w 12192000"/>
              <a:gd name="connsiteY316" fmla="*/ 3159125 h 6858000"/>
              <a:gd name="connsiteX317" fmla="*/ 8486077 w 12192000"/>
              <a:gd name="connsiteY317" fmla="*/ 2638425 h 6858000"/>
              <a:gd name="connsiteX318" fmla="*/ 9006777 w 12192000"/>
              <a:gd name="connsiteY318" fmla="*/ 2638425 h 6858000"/>
              <a:gd name="connsiteX319" fmla="*/ 9006777 w 12192000"/>
              <a:gd name="connsiteY319" fmla="*/ 3159125 h 6858000"/>
              <a:gd name="connsiteX320" fmla="*/ 8476552 w 12192000"/>
              <a:gd name="connsiteY320" fmla="*/ 3159125 h 6858000"/>
              <a:gd name="connsiteX321" fmla="*/ 7955852 w 12192000"/>
              <a:gd name="connsiteY321" fmla="*/ 3159125 h 6858000"/>
              <a:gd name="connsiteX322" fmla="*/ 7955852 w 12192000"/>
              <a:gd name="connsiteY322" fmla="*/ 2638425 h 6858000"/>
              <a:gd name="connsiteX323" fmla="*/ 8476552 w 12192000"/>
              <a:gd name="connsiteY323" fmla="*/ 2638425 h 6858000"/>
              <a:gd name="connsiteX324" fmla="*/ 7946454 w 12192000"/>
              <a:gd name="connsiteY324" fmla="*/ 3159125 h 6858000"/>
              <a:gd name="connsiteX325" fmla="*/ 7425754 w 12192000"/>
              <a:gd name="connsiteY325" fmla="*/ 3159125 h 6858000"/>
              <a:gd name="connsiteX326" fmla="*/ 7425754 w 12192000"/>
              <a:gd name="connsiteY326" fmla="*/ 2638425 h 6858000"/>
              <a:gd name="connsiteX327" fmla="*/ 7946454 w 12192000"/>
              <a:gd name="connsiteY327" fmla="*/ 2638425 h 6858000"/>
              <a:gd name="connsiteX328" fmla="*/ 7416419 w 12192000"/>
              <a:gd name="connsiteY328" fmla="*/ 3159125 h 6858000"/>
              <a:gd name="connsiteX329" fmla="*/ 6895719 w 12192000"/>
              <a:gd name="connsiteY329" fmla="*/ 3159125 h 6858000"/>
              <a:gd name="connsiteX330" fmla="*/ 6895719 w 12192000"/>
              <a:gd name="connsiteY330" fmla="*/ 2638425 h 6858000"/>
              <a:gd name="connsiteX331" fmla="*/ 7416419 w 12192000"/>
              <a:gd name="connsiteY331" fmla="*/ 2638425 h 6858000"/>
              <a:gd name="connsiteX332" fmla="*/ 6886321 w 12192000"/>
              <a:gd name="connsiteY332" fmla="*/ 3159125 h 6858000"/>
              <a:gd name="connsiteX333" fmla="*/ 6365621 w 12192000"/>
              <a:gd name="connsiteY333" fmla="*/ 3159125 h 6858000"/>
              <a:gd name="connsiteX334" fmla="*/ 6365621 w 12192000"/>
              <a:gd name="connsiteY334" fmla="*/ 2638425 h 6858000"/>
              <a:gd name="connsiteX335" fmla="*/ 6886321 w 12192000"/>
              <a:gd name="connsiteY335" fmla="*/ 2638425 h 6858000"/>
              <a:gd name="connsiteX336" fmla="*/ 6356223 w 12192000"/>
              <a:gd name="connsiteY336" fmla="*/ 3159125 h 6858000"/>
              <a:gd name="connsiteX337" fmla="*/ 5835650 w 12192000"/>
              <a:gd name="connsiteY337" fmla="*/ 3159125 h 6858000"/>
              <a:gd name="connsiteX338" fmla="*/ 5835650 w 12192000"/>
              <a:gd name="connsiteY338" fmla="*/ 2638425 h 6858000"/>
              <a:gd name="connsiteX339" fmla="*/ 6356350 w 12192000"/>
              <a:gd name="connsiteY339" fmla="*/ 2638425 h 6858000"/>
              <a:gd name="connsiteX340" fmla="*/ 5826125 w 12192000"/>
              <a:gd name="connsiteY340" fmla="*/ 3159125 h 6858000"/>
              <a:gd name="connsiteX341" fmla="*/ 5305425 w 12192000"/>
              <a:gd name="connsiteY341" fmla="*/ 3159125 h 6858000"/>
              <a:gd name="connsiteX342" fmla="*/ 5305425 w 12192000"/>
              <a:gd name="connsiteY342" fmla="*/ 2638425 h 6858000"/>
              <a:gd name="connsiteX343" fmla="*/ 5826125 w 12192000"/>
              <a:gd name="connsiteY343" fmla="*/ 2638425 h 6858000"/>
              <a:gd name="connsiteX344" fmla="*/ 5296027 w 12192000"/>
              <a:gd name="connsiteY344" fmla="*/ 3159125 h 6858000"/>
              <a:gd name="connsiteX345" fmla="*/ 4775327 w 12192000"/>
              <a:gd name="connsiteY345" fmla="*/ 3159125 h 6858000"/>
              <a:gd name="connsiteX346" fmla="*/ 4775327 w 12192000"/>
              <a:gd name="connsiteY346" fmla="*/ 2638425 h 6858000"/>
              <a:gd name="connsiteX347" fmla="*/ 5296027 w 12192000"/>
              <a:gd name="connsiteY347" fmla="*/ 2638425 h 6858000"/>
              <a:gd name="connsiteX348" fmla="*/ 4765929 w 12192000"/>
              <a:gd name="connsiteY348" fmla="*/ 3159125 h 6858000"/>
              <a:gd name="connsiteX349" fmla="*/ 4245229 w 12192000"/>
              <a:gd name="connsiteY349" fmla="*/ 3159125 h 6858000"/>
              <a:gd name="connsiteX350" fmla="*/ 4245229 w 12192000"/>
              <a:gd name="connsiteY350" fmla="*/ 2638425 h 6858000"/>
              <a:gd name="connsiteX351" fmla="*/ 4765929 w 12192000"/>
              <a:gd name="connsiteY351" fmla="*/ 2638425 h 6858000"/>
              <a:gd name="connsiteX352" fmla="*/ 4235895 w 12192000"/>
              <a:gd name="connsiteY352" fmla="*/ 3159125 h 6858000"/>
              <a:gd name="connsiteX353" fmla="*/ 3715195 w 12192000"/>
              <a:gd name="connsiteY353" fmla="*/ 3159125 h 6858000"/>
              <a:gd name="connsiteX354" fmla="*/ 3715195 w 12192000"/>
              <a:gd name="connsiteY354" fmla="*/ 2638425 h 6858000"/>
              <a:gd name="connsiteX355" fmla="*/ 4235895 w 12192000"/>
              <a:gd name="connsiteY355" fmla="*/ 2638425 h 6858000"/>
              <a:gd name="connsiteX356" fmla="*/ 3705797 w 12192000"/>
              <a:gd name="connsiteY356" fmla="*/ 3159125 h 6858000"/>
              <a:gd name="connsiteX357" fmla="*/ 3185097 w 12192000"/>
              <a:gd name="connsiteY357" fmla="*/ 3159125 h 6858000"/>
              <a:gd name="connsiteX358" fmla="*/ 3185097 w 12192000"/>
              <a:gd name="connsiteY358" fmla="*/ 2638425 h 6858000"/>
              <a:gd name="connsiteX359" fmla="*/ 3705797 w 12192000"/>
              <a:gd name="connsiteY359" fmla="*/ 2638425 h 6858000"/>
              <a:gd name="connsiteX360" fmla="*/ 3175699 w 12192000"/>
              <a:gd name="connsiteY360" fmla="*/ 3159125 h 6858000"/>
              <a:gd name="connsiteX361" fmla="*/ 2654999 w 12192000"/>
              <a:gd name="connsiteY361" fmla="*/ 3159125 h 6858000"/>
              <a:gd name="connsiteX362" fmla="*/ 2654999 w 12192000"/>
              <a:gd name="connsiteY362" fmla="*/ 2638425 h 6858000"/>
              <a:gd name="connsiteX363" fmla="*/ 3175699 w 12192000"/>
              <a:gd name="connsiteY363" fmla="*/ 2638425 h 6858000"/>
              <a:gd name="connsiteX364" fmla="*/ 3175699 w 12192000"/>
              <a:gd name="connsiteY364" fmla="*/ 3168650 h 6858000"/>
              <a:gd name="connsiteX365" fmla="*/ 3175699 w 12192000"/>
              <a:gd name="connsiteY365" fmla="*/ 3689350 h 6858000"/>
              <a:gd name="connsiteX366" fmla="*/ 2654999 w 12192000"/>
              <a:gd name="connsiteY366" fmla="*/ 3689350 h 6858000"/>
              <a:gd name="connsiteX367" fmla="*/ 2654999 w 12192000"/>
              <a:gd name="connsiteY367" fmla="*/ 3168650 h 6858000"/>
              <a:gd name="connsiteX368" fmla="*/ 3175699 w 12192000"/>
              <a:gd name="connsiteY368" fmla="*/ 3698748 h 6858000"/>
              <a:gd name="connsiteX369" fmla="*/ 3175699 w 12192000"/>
              <a:gd name="connsiteY369" fmla="*/ 4219448 h 6858000"/>
              <a:gd name="connsiteX370" fmla="*/ 2654999 w 12192000"/>
              <a:gd name="connsiteY370" fmla="*/ 4219448 h 6858000"/>
              <a:gd name="connsiteX371" fmla="*/ 2654999 w 12192000"/>
              <a:gd name="connsiteY371" fmla="*/ 3698748 h 6858000"/>
              <a:gd name="connsiteX372" fmla="*/ 3185224 w 12192000"/>
              <a:gd name="connsiteY372" fmla="*/ 3698748 h 6858000"/>
              <a:gd name="connsiteX373" fmla="*/ 3705924 w 12192000"/>
              <a:gd name="connsiteY373" fmla="*/ 3698748 h 6858000"/>
              <a:gd name="connsiteX374" fmla="*/ 3705924 w 12192000"/>
              <a:gd name="connsiteY374" fmla="*/ 4219448 h 6858000"/>
              <a:gd name="connsiteX375" fmla="*/ 3185224 w 12192000"/>
              <a:gd name="connsiteY375" fmla="*/ 4219448 h 6858000"/>
              <a:gd name="connsiteX376" fmla="*/ 3715322 w 12192000"/>
              <a:gd name="connsiteY376" fmla="*/ 3698748 h 6858000"/>
              <a:gd name="connsiteX377" fmla="*/ 4236022 w 12192000"/>
              <a:gd name="connsiteY377" fmla="*/ 3698748 h 6858000"/>
              <a:gd name="connsiteX378" fmla="*/ 4236022 w 12192000"/>
              <a:gd name="connsiteY378" fmla="*/ 4219448 h 6858000"/>
              <a:gd name="connsiteX379" fmla="*/ 3715322 w 12192000"/>
              <a:gd name="connsiteY379" fmla="*/ 4219448 h 6858000"/>
              <a:gd name="connsiteX380" fmla="*/ 4245420 w 12192000"/>
              <a:gd name="connsiteY380" fmla="*/ 3698748 h 6858000"/>
              <a:gd name="connsiteX381" fmla="*/ 4766120 w 12192000"/>
              <a:gd name="connsiteY381" fmla="*/ 3698748 h 6858000"/>
              <a:gd name="connsiteX382" fmla="*/ 4766120 w 12192000"/>
              <a:gd name="connsiteY382" fmla="*/ 4219448 h 6858000"/>
              <a:gd name="connsiteX383" fmla="*/ 4245420 w 12192000"/>
              <a:gd name="connsiteY383" fmla="*/ 4219448 h 6858000"/>
              <a:gd name="connsiteX384" fmla="*/ 4775454 w 12192000"/>
              <a:gd name="connsiteY384" fmla="*/ 3698748 h 6858000"/>
              <a:gd name="connsiteX385" fmla="*/ 5296154 w 12192000"/>
              <a:gd name="connsiteY385" fmla="*/ 3698748 h 6858000"/>
              <a:gd name="connsiteX386" fmla="*/ 5296154 w 12192000"/>
              <a:gd name="connsiteY386" fmla="*/ 4219448 h 6858000"/>
              <a:gd name="connsiteX387" fmla="*/ 4775454 w 12192000"/>
              <a:gd name="connsiteY387" fmla="*/ 4219448 h 6858000"/>
              <a:gd name="connsiteX388" fmla="*/ 5305552 w 12192000"/>
              <a:gd name="connsiteY388" fmla="*/ 3698748 h 6858000"/>
              <a:gd name="connsiteX389" fmla="*/ 5826252 w 12192000"/>
              <a:gd name="connsiteY389" fmla="*/ 3698748 h 6858000"/>
              <a:gd name="connsiteX390" fmla="*/ 5826252 w 12192000"/>
              <a:gd name="connsiteY390" fmla="*/ 4219448 h 6858000"/>
              <a:gd name="connsiteX391" fmla="*/ 5305552 w 12192000"/>
              <a:gd name="connsiteY391" fmla="*/ 4219448 h 6858000"/>
              <a:gd name="connsiteX392" fmla="*/ 5835650 w 12192000"/>
              <a:gd name="connsiteY392" fmla="*/ 3698748 h 6858000"/>
              <a:gd name="connsiteX393" fmla="*/ 6356350 w 12192000"/>
              <a:gd name="connsiteY393" fmla="*/ 3698748 h 6858000"/>
              <a:gd name="connsiteX394" fmla="*/ 6356350 w 12192000"/>
              <a:gd name="connsiteY394" fmla="*/ 4219448 h 6858000"/>
              <a:gd name="connsiteX395" fmla="*/ 5835650 w 12192000"/>
              <a:gd name="connsiteY395" fmla="*/ 4219448 h 6858000"/>
              <a:gd name="connsiteX396" fmla="*/ 6365748 w 12192000"/>
              <a:gd name="connsiteY396" fmla="*/ 3698748 h 6858000"/>
              <a:gd name="connsiteX397" fmla="*/ 6886448 w 12192000"/>
              <a:gd name="connsiteY397" fmla="*/ 3698748 h 6858000"/>
              <a:gd name="connsiteX398" fmla="*/ 6886448 w 12192000"/>
              <a:gd name="connsiteY398" fmla="*/ 4219448 h 6858000"/>
              <a:gd name="connsiteX399" fmla="*/ 6365748 w 12192000"/>
              <a:gd name="connsiteY399" fmla="*/ 4219448 h 6858000"/>
              <a:gd name="connsiteX400" fmla="*/ 6895846 w 12192000"/>
              <a:gd name="connsiteY400" fmla="*/ 3698748 h 6858000"/>
              <a:gd name="connsiteX401" fmla="*/ 7416546 w 12192000"/>
              <a:gd name="connsiteY401" fmla="*/ 3698748 h 6858000"/>
              <a:gd name="connsiteX402" fmla="*/ 7416546 w 12192000"/>
              <a:gd name="connsiteY402" fmla="*/ 4219448 h 6858000"/>
              <a:gd name="connsiteX403" fmla="*/ 6895846 w 12192000"/>
              <a:gd name="connsiteY403" fmla="*/ 4219448 h 6858000"/>
              <a:gd name="connsiteX404" fmla="*/ 7425944 w 12192000"/>
              <a:gd name="connsiteY404" fmla="*/ 3698748 h 6858000"/>
              <a:gd name="connsiteX405" fmla="*/ 7946644 w 12192000"/>
              <a:gd name="connsiteY405" fmla="*/ 3698748 h 6858000"/>
              <a:gd name="connsiteX406" fmla="*/ 7946644 w 12192000"/>
              <a:gd name="connsiteY406" fmla="*/ 4219448 h 6858000"/>
              <a:gd name="connsiteX407" fmla="*/ 7425944 w 12192000"/>
              <a:gd name="connsiteY407" fmla="*/ 4219448 h 6858000"/>
              <a:gd name="connsiteX408" fmla="*/ 7955979 w 12192000"/>
              <a:gd name="connsiteY408" fmla="*/ 3698748 h 6858000"/>
              <a:gd name="connsiteX409" fmla="*/ 8476679 w 12192000"/>
              <a:gd name="connsiteY409" fmla="*/ 3698748 h 6858000"/>
              <a:gd name="connsiteX410" fmla="*/ 8476679 w 12192000"/>
              <a:gd name="connsiteY410" fmla="*/ 4219448 h 6858000"/>
              <a:gd name="connsiteX411" fmla="*/ 7955979 w 12192000"/>
              <a:gd name="connsiteY411" fmla="*/ 4219448 h 6858000"/>
              <a:gd name="connsiteX412" fmla="*/ 8486077 w 12192000"/>
              <a:gd name="connsiteY412" fmla="*/ 3698748 h 6858000"/>
              <a:gd name="connsiteX413" fmla="*/ 9006777 w 12192000"/>
              <a:gd name="connsiteY413" fmla="*/ 3698748 h 6858000"/>
              <a:gd name="connsiteX414" fmla="*/ 9006777 w 12192000"/>
              <a:gd name="connsiteY414" fmla="*/ 4219448 h 6858000"/>
              <a:gd name="connsiteX415" fmla="*/ 8486077 w 12192000"/>
              <a:gd name="connsiteY415" fmla="*/ 4219448 h 6858000"/>
              <a:gd name="connsiteX416" fmla="*/ 9016174 w 12192000"/>
              <a:gd name="connsiteY416" fmla="*/ 3698748 h 6858000"/>
              <a:gd name="connsiteX417" fmla="*/ 9536874 w 12192000"/>
              <a:gd name="connsiteY417" fmla="*/ 3698748 h 6858000"/>
              <a:gd name="connsiteX418" fmla="*/ 9536874 w 12192000"/>
              <a:gd name="connsiteY418" fmla="*/ 4219448 h 6858000"/>
              <a:gd name="connsiteX419" fmla="*/ 9016174 w 12192000"/>
              <a:gd name="connsiteY419" fmla="*/ 4219448 h 6858000"/>
              <a:gd name="connsiteX420" fmla="*/ 9016174 w 12192000"/>
              <a:gd name="connsiteY420" fmla="*/ 3689223 h 6858000"/>
              <a:gd name="connsiteX421" fmla="*/ 9016174 w 12192000"/>
              <a:gd name="connsiteY421" fmla="*/ 3168650 h 6858000"/>
              <a:gd name="connsiteX422" fmla="*/ 9536874 w 12192000"/>
              <a:gd name="connsiteY422" fmla="*/ 3168650 h 6858000"/>
              <a:gd name="connsiteX423" fmla="*/ 9536874 w 12192000"/>
              <a:gd name="connsiteY423" fmla="*/ 3689350 h 6858000"/>
              <a:gd name="connsiteX424" fmla="*/ 9016174 w 12192000"/>
              <a:gd name="connsiteY424" fmla="*/ 3159125 h 6858000"/>
              <a:gd name="connsiteX425" fmla="*/ 9016174 w 12192000"/>
              <a:gd name="connsiteY425" fmla="*/ 2638425 h 6858000"/>
              <a:gd name="connsiteX426" fmla="*/ 9536874 w 12192000"/>
              <a:gd name="connsiteY426" fmla="*/ 2638425 h 6858000"/>
              <a:gd name="connsiteX427" fmla="*/ 9536874 w 12192000"/>
              <a:gd name="connsiteY427" fmla="*/ 3159125 h 6858000"/>
              <a:gd name="connsiteX428" fmla="*/ 9016174 w 12192000"/>
              <a:gd name="connsiteY428" fmla="*/ 2629027 h 6858000"/>
              <a:gd name="connsiteX429" fmla="*/ 9016174 w 12192000"/>
              <a:gd name="connsiteY429" fmla="*/ 2108327 h 6858000"/>
              <a:gd name="connsiteX430" fmla="*/ 9536874 w 12192000"/>
              <a:gd name="connsiteY430" fmla="*/ 2108327 h 6858000"/>
              <a:gd name="connsiteX431" fmla="*/ 9536874 w 12192000"/>
              <a:gd name="connsiteY431" fmla="*/ 2629027 h 6858000"/>
              <a:gd name="connsiteX432" fmla="*/ 9006649 w 12192000"/>
              <a:gd name="connsiteY432" fmla="*/ 2629027 h 6858000"/>
              <a:gd name="connsiteX433" fmla="*/ 8485949 w 12192000"/>
              <a:gd name="connsiteY433" fmla="*/ 2629027 h 6858000"/>
              <a:gd name="connsiteX434" fmla="*/ 8485949 w 12192000"/>
              <a:gd name="connsiteY434" fmla="*/ 2108327 h 6858000"/>
              <a:gd name="connsiteX435" fmla="*/ 9006649 w 12192000"/>
              <a:gd name="connsiteY435" fmla="*/ 2108327 h 6858000"/>
              <a:gd name="connsiteX436" fmla="*/ 8476552 w 12192000"/>
              <a:gd name="connsiteY436" fmla="*/ 2629027 h 6858000"/>
              <a:gd name="connsiteX437" fmla="*/ 7955852 w 12192000"/>
              <a:gd name="connsiteY437" fmla="*/ 2629027 h 6858000"/>
              <a:gd name="connsiteX438" fmla="*/ 7955852 w 12192000"/>
              <a:gd name="connsiteY438" fmla="*/ 2108327 h 6858000"/>
              <a:gd name="connsiteX439" fmla="*/ 8476552 w 12192000"/>
              <a:gd name="connsiteY439" fmla="*/ 2108327 h 6858000"/>
              <a:gd name="connsiteX440" fmla="*/ 7946454 w 12192000"/>
              <a:gd name="connsiteY440" fmla="*/ 2629027 h 6858000"/>
              <a:gd name="connsiteX441" fmla="*/ 7425754 w 12192000"/>
              <a:gd name="connsiteY441" fmla="*/ 2629027 h 6858000"/>
              <a:gd name="connsiteX442" fmla="*/ 7425754 w 12192000"/>
              <a:gd name="connsiteY442" fmla="*/ 2108327 h 6858000"/>
              <a:gd name="connsiteX443" fmla="*/ 7946454 w 12192000"/>
              <a:gd name="connsiteY443" fmla="*/ 2108327 h 6858000"/>
              <a:gd name="connsiteX444" fmla="*/ 7416800 w 12192000"/>
              <a:gd name="connsiteY444" fmla="*/ 2628900 h 6858000"/>
              <a:gd name="connsiteX445" fmla="*/ 6896100 w 12192000"/>
              <a:gd name="connsiteY445" fmla="*/ 2628900 h 6858000"/>
              <a:gd name="connsiteX446" fmla="*/ 6896100 w 12192000"/>
              <a:gd name="connsiteY446" fmla="*/ 2108200 h 6858000"/>
              <a:gd name="connsiteX447" fmla="*/ 7416800 w 12192000"/>
              <a:gd name="connsiteY447" fmla="*/ 2108200 h 6858000"/>
              <a:gd name="connsiteX448" fmla="*/ 6886702 w 12192000"/>
              <a:gd name="connsiteY448" fmla="*/ 2628900 h 6858000"/>
              <a:gd name="connsiteX449" fmla="*/ 6366002 w 12192000"/>
              <a:gd name="connsiteY449" fmla="*/ 2628900 h 6858000"/>
              <a:gd name="connsiteX450" fmla="*/ 6366002 w 12192000"/>
              <a:gd name="connsiteY450" fmla="*/ 2108200 h 6858000"/>
              <a:gd name="connsiteX451" fmla="*/ 6886702 w 12192000"/>
              <a:gd name="connsiteY451" fmla="*/ 2108200 h 6858000"/>
              <a:gd name="connsiteX452" fmla="*/ 6356350 w 12192000"/>
              <a:gd name="connsiteY452" fmla="*/ 2628900 h 6858000"/>
              <a:gd name="connsiteX453" fmla="*/ 5835650 w 12192000"/>
              <a:gd name="connsiteY453" fmla="*/ 2628900 h 6858000"/>
              <a:gd name="connsiteX454" fmla="*/ 5835650 w 12192000"/>
              <a:gd name="connsiteY454" fmla="*/ 2108200 h 6858000"/>
              <a:gd name="connsiteX455" fmla="*/ 6356350 w 12192000"/>
              <a:gd name="connsiteY455" fmla="*/ 2108200 h 6858000"/>
              <a:gd name="connsiteX456" fmla="*/ 5826252 w 12192000"/>
              <a:gd name="connsiteY456" fmla="*/ 2628900 h 6858000"/>
              <a:gd name="connsiteX457" fmla="*/ 5305552 w 12192000"/>
              <a:gd name="connsiteY457" fmla="*/ 2628900 h 6858000"/>
              <a:gd name="connsiteX458" fmla="*/ 5305552 w 12192000"/>
              <a:gd name="connsiteY458" fmla="*/ 2108200 h 6858000"/>
              <a:gd name="connsiteX459" fmla="*/ 5826252 w 12192000"/>
              <a:gd name="connsiteY459" fmla="*/ 2108200 h 6858000"/>
              <a:gd name="connsiteX460" fmla="*/ 5295900 w 12192000"/>
              <a:gd name="connsiteY460" fmla="*/ 2628900 h 6858000"/>
              <a:gd name="connsiteX461" fmla="*/ 4775200 w 12192000"/>
              <a:gd name="connsiteY461" fmla="*/ 2628900 h 6858000"/>
              <a:gd name="connsiteX462" fmla="*/ 4775200 w 12192000"/>
              <a:gd name="connsiteY462" fmla="*/ 2108200 h 6858000"/>
              <a:gd name="connsiteX463" fmla="*/ 5295900 w 12192000"/>
              <a:gd name="connsiteY463" fmla="*/ 2108200 h 6858000"/>
              <a:gd name="connsiteX464" fmla="*/ 4765802 w 12192000"/>
              <a:gd name="connsiteY464" fmla="*/ 2628900 h 6858000"/>
              <a:gd name="connsiteX465" fmla="*/ 4245102 w 12192000"/>
              <a:gd name="connsiteY465" fmla="*/ 2628900 h 6858000"/>
              <a:gd name="connsiteX466" fmla="*/ 4245102 w 12192000"/>
              <a:gd name="connsiteY466" fmla="*/ 2108200 h 6858000"/>
              <a:gd name="connsiteX467" fmla="*/ 4765802 w 12192000"/>
              <a:gd name="connsiteY467" fmla="*/ 2108200 h 6858000"/>
              <a:gd name="connsiteX468" fmla="*/ 4235768 w 12192000"/>
              <a:gd name="connsiteY468" fmla="*/ 2628900 h 6858000"/>
              <a:gd name="connsiteX469" fmla="*/ 3715068 w 12192000"/>
              <a:gd name="connsiteY469" fmla="*/ 2628900 h 6858000"/>
              <a:gd name="connsiteX470" fmla="*/ 3715068 w 12192000"/>
              <a:gd name="connsiteY470" fmla="*/ 2108200 h 6858000"/>
              <a:gd name="connsiteX471" fmla="*/ 4235768 w 12192000"/>
              <a:gd name="connsiteY471" fmla="*/ 2108200 h 6858000"/>
              <a:gd name="connsiteX472" fmla="*/ 3705670 w 12192000"/>
              <a:gd name="connsiteY472" fmla="*/ 2628900 h 6858000"/>
              <a:gd name="connsiteX473" fmla="*/ 3184970 w 12192000"/>
              <a:gd name="connsiteY473" fmla="*/ 2628900 h 6858000"/>
              <a:gd name="connsiteX474" fmla="*/ 3184970 w 12192000"/>
              <a:gd name="connsiteY474" fmla="*/ 2108200 h 6858000"/>
              <a:gd name="connsiteX475" fmla="*/ 3705670 w 12192000"/>
              <a:gd name="connsiteY475" fmla="*/ 2108200 h 6858000"/>
              <a:gd name="connsiteX476" fmla="*/ 3175572 w 12192000"/>
              <a:gd name="connsiteY476" fmla="*/ 2628900 h 6858000"/>
              <a:gd name="connsiteX477" fmla="*/ 2654872 w 12192000"/>
              <a:gd name="connsiteY477" fmla="*/ 2628900 h 6858000"/>
              <a:gd name="connsiteX478" fmla="*/ 2654872 w 12192000"/>
              <a:gd name="connsiteY478" fmla="*/ 2108200 h 6858000"/>
              <a:gd name="connsiteX479" fmla="*/ 3175572 w 12192000"/>
              <a:gd name="connsiteY479" fmla="*/ 2108200 h 6858000"/>
              <a:gd name="connsiteX480" fmla="*/ 2645474 w 12192000"/>
              <a:gd name="connsiteY480" fmla="*/ 2628900 h 6858000"/>
              <a:gd name="connsiteX481" fmla="*/ 2124774 w 12192000"/>
              <a:gd name="connsiteY481" fmla="*/ 2628900 h 6858000"/>
              <a:gd name="connsiteX482" fmla="*/ 2124774 w 12192000"/>
              <a:gd name="connsiteY482" fmla="*/ 2108200 h 6858000"/>
              <a:gd name="connsiteX483" fmla="*/ 2645474 w 12192000"/>
              <a:gd name="connsiteY483" fmla="*/ 2108200 h 6858000"/>
              <a:gd name="connsiteX484" fmla="*/ 2645474 w 12192000"/>
              <a:gd name="connsiteY484" fmla="*/ 2638425 h 6858000"/>
              <a:gd name="connsiteX485" fmla="*/ 2645474 w 12192000"/>
              <a:gd name="connsiteY485" fmla="*/ 3159125 h 6858000"/>
              <a:gd name="connsiteX486" fmla="*/ 2124774 w 12192000"/>
              <a:gd name="connsiteY486" fmla="*/ 3159125 h 6858000"/>
              <a:gd name="connsiteX487" fmla="*/ 2124774 w 12192000"/>
              <a:gd name="connsiteY487" fmla="*/ 2638425 h 6858000"/>
              <a:gd name="connsiteX488" fmla="*/ 2645474 w 12192000"/>
              <a:gd name="connsiteY488" fmla="*/ 3168523 h 6858000"/>
              <a:gd name="connsiteX489" fmla="*/ 2645474 w 12192000"/>
              <a:gd name="connsiteY489" fmla="*/ 3689223 h 6858000"/>
              <a:gd name="connsiteX490" fmla="*/ 2124774 w 12192000"/>
              <a:gd name="connsiteY490" fmla="*/ 3689223 h 6858000"/>
              <a:gd name="connsiteX491" fmla="*/ 2124774 w 12192000"/>
              <a:gd name="connsiteY491" fmla="*/ 3168650 h 6858000"/>
              <a:gd name="connsiteX492" fmla="*/ 2645474 w 12192000"/>
              <a:gd name="connsiteY492" fmla="*/ 3698621 h 6858000"/>
              <a:gd name="connsiteX493" fmla="*/ 2645474 w 12192000"/>
              <a:gd name="connsiteY493" fmla="*/ 4219321 h 6858000"/>
              <a:gd name="connsiteX494" fmla="*/ 2124774 w 12192000"/>
              <a:gd name="connsiteY494" fmla="*/ 4219321 h 6858000"/>
              <a:gd name="connsiteX495" fmla="*/ 2124774 w 12192000"/>
              <a:gd name="connsiteY495" fmla="*/ 3698621 h 6858000"/>
              <a:gd name="connsiteX496" fmla="*/ 2645474 w 12192000"/>
              <a:gd name="connsiteY496" fmla="*/ 4228719 h 6858000"/>
              <a:gd name="connsiteX497" fmla="*/ 2645474 w 12192000"/>
              <a:gd name="connsiteY497" fmla="*/ 4749419 h 6858000"/>
              <a:gd name="connsiteX498" fmla="*/ 2124774 w 12192000"/>
              <a:gd name="connsiteY498" fmla="*/ 4749419 h 6858000"/>
              <a:gd name="connsiteX499" fmla="*/ 2124774 w 12192000"/>
              <a:gd name="connsiteY499" fmla="*/ 4229100 h 6858000"/>
              <a:gd name="connsiteX500" fmla="*/ 2654999 w 12192000"/>
              <a:gd name="connsiteY500" fmla="*/ 4228719 h 6858000"/>
              <a:gd name="connsiteX501" fmla="*/ 3175699 w 12192000"/>
              <a:gd name="connsiteY501" fmla="*/ 4228719 h 6858000"/>
              <a:gd name="connsiteX502" fmla="*/ 3175699 w 12192000"/>
              <a:gd name="connsiteY502" fmla="*/ 4749419 h 6858000"/>
              <a:gd name="connsiteX503" fmla="*/ 2654999 w 12192000"/>
              <a:gd name="connsiteY503" fmla="*/ 4749419 h 6858000"/>
              <a:gd name="connsiteX504" fmla="*/ 3185097 w 12192000"/>
              <a:gd name="connsiteY504" fmla="*/ 4228719 h 6858000"/>
              <a:gd name="connsiteX505" fmla="*/ 3705797 w 12192000"/>
              <a:gd name="connsiteY505" fmla="*/ 4228719 h 6858000"/>
              <a:gd name="connsiteX506" fmla="*/ 3705797 w 12192000"/>
              <a:gd name="connsiteY506" fmla="*/ 4749419 h 6858000"/>
              <a:gd name="connsiteX507" fmla="*/ 3185097 w 12192000"/>
              <a:gd name="connsiteY507" fmla="*/ 4749419 h 6858000"/>
              <a:gd name="connsiteX508" fmla="*/ 3715195 w 12192000"/>
              <a:gd name="connsiteY508" fmla="*/ 4228719 h 6858000"/>
              <a:gd name="connsiteX509" fmla="*/ 4235895 w 12192000"/>
              <a:gd name="connsiteY509" fmla="*/ 4228719 h 6858000"/>
              <a:gd name="connsiteX510" fmla="*/ 4235895 w 12192000"/>
              <a:gd name="connsiteY510" fmla="*/ 4749419 h 6858000"/>
              <a:gd name="connsiteX511" fmla="*/ 3715195 w 12192000"/>
              <a:gd name="connsiteY511" fmla="*/ 4749419 h 6858000"/>
              <a:gd name="connsiteX512" fmla="*/ 4245293 w 12192000"/>
              <a:gd name="connsiteY512" fmla="*/ 4228719 h 6858000"/>
              <a:gd name="connsiteX513" fmla="*/ 4765993 w 12192000"/>
              <a:gd name="connsiteY513" fmla="*/ 4228719 h 6858000"/>
              <a:gd name="connsiteX514" fmla="*/ 4765993 w 12192000"/>
              <a:gd name="connsiteY514" fmla="*/ 4749419 h 6858000"/>
              <a:gd name="connsiteX515" fmla="*/ 4245293 w 12192000"/>
              <a:gd name="connsiteY515" fmla="*/ 4749419 h 6858000"/>
              <a:gd name="connsiteX516" fmla="*/ 4775327 w 12192000"/>
              <a:gd name="connsiteY516" fmla="*/ 4228719 h 6858000"/>
              <a:gd name="connsiteX517" fmla="*/ 5296027 w 12192000"/>
              <a:gd name="connsiteY517" fmla="*/ 4228719 h 6858000"/>
              <a:gd name="connsiteX518" fmla="*/ 5296027 w 12192000"/>
              <a:gd name="connsiteY518" fmla="*/ 4749419 h 6858000"/>
              <a:gd name="connsiteX519" fmla="*/ 4775327 w 12192000"/>
              <a:gd name="connsiteY519" fmla="*/ 4749419 h 6858000"/>
              <a:gd name="connsiteX520" fmla="*/ 5305425 w 12192000"/>
              <a:gd name="connsiteY520" fmla="*/ 4228719 h 6858000"/>
              <a:gd name="connsiteX521" fmla="*/ 5826125 w 12192000"/>
              <a:gd name="connsiteY521" fmla="*/ 4228719 h 6858000"/>
              <a:gd name="connsiteX522" fmla="*/ 5826125 w 12192000"/>
              <a:gd name="connsiteY522" fmla="*/ 4749419 h 6858000"/>
              <a:gd name="connsiteX523" fmla="*/ 5305425 w 12192000"/>
              <a:gd name="connsiteY523" fmla="*/ 4749419 h 6858000"/>
              <a:gd name="connsiteX524" fmla="*/ 5835650 w 12192000"/>
              <a:gd name="connsiteY524" fmla="*/ 4229100 h 6858000"/>
              <a:gd name="connsiteX525" fmla="*/ 6356350 w 12192000"/>
              <a:gd name="connsiteY525" fmla="*/ 4229100 h 6858000"/>
              <a:gd name="connsiteX526" fmla="*/ 6356350 w 12192000"/>
              <a:gd name="connsiteY526" fmla="*/ 4749800 h 6858000"/>
              <a:gd name="connsiteX527" fmla="*/ 5835650 w 12192000"/>
              <a:gd name="connsiteY527" fmla="*/ 4749800 h 6858000"/>
              <a:gd name="connsiteX528" fmla="*/ 6365748 w 12192000"/>
              <a:gd name="connsiteY528" fmla="*/ 4229100 h 6858000"/>
              <a:gd name="connsiteX529" fmla="*/ 6886448 w 12192000"/>
              <a:gd name="connsiteY529" fmla="*/ 4229100 h 6858000"/>
              <a:gd name="connsiteX530" fmla="*/ 6886448 w 12192000"/>
              <a:gd name="connsiteY530" fmla="*/ 4749800 h 6858000"/>
              <a:gd name="connsiteX531" fmla="*/ 6365748 w 12192000"/>
              <a:gd name="connsiteY531" fmla="*/ 4749800 h 6858000"/>
              <a:gd name="connsiteX532" fmla="*/ 6895846 w 12192000"/>
              <a:gd name="connsiteY532" fmla="*/ 4229100 h 6858000"/>
              <a:gd name="connsiteX533" fmla="*/ 7416546 w 12192000"/>
              <a:gd name="connsiteY533" fmla="*/ 4229100 h 6858000"/>
              <a:gd name="connsiteX534" fmla="*/ 7416546 w 12192000"/>
              <a:gd name="connsiteY534" fmla="*/ 4749800 h 6858000"/>
              <a:gd name="connsiteX535" fmla="*/ 6895846 w 12192000"/>
              <a:gd name="connsiteY535" fmla="*/ 4749800 h 6858000"/>
              <a:gd name="connsiteX536" fmla="*/ 7425944 w 12192000"/>
              <a:gd name="connsiteY536" fmla="*/ 4229100 h 6858000"/>
              <a:gd name="connsiteX537" fmla="*/ 7946644 w 12192000"/>
              <a:gd name="connsiteY537" fmla="*/ 4229100 h 6858000"/>
              <a:gd name="connsiteX538" fmla="*/ 7946644 w 12192000"/>
              <a:gd name="connsiteY538" fmla="*/ 4749800 h 6858000"/>
              <a:gd name="connsiteX539" fmla="*/ 7425944 w 12192000"/>
              <a:gd name="connsiteY539" fmla="*/ 4749800 h 6858000"/>
              <a:gd name="connsiteX540" fmla="*/ 7955979 w 12192000"/>
              <a:gd name="connsiteY540" fmla="*/ 4229100 h 6858000"/>
              <a:gd name="connsiteX541" fmla="*/ 8476679 w 12192000"/>
              <a:gd name="connsiteY541" fmla="*/ 4229100 h 6858000"/>
              <a:gd name="connsiteX542" fmla="*/ 8476679 w 12192000"/>
              <a:gd name="connsiteY542" fmla="*/ 4749800 h 6858000"/>
              <a:gd name="connsiteX543" fmla="*/ 7955979 w 12192000"/>
              <a:gd name="connsiteY543" fmla="*/ 4749800 h 6858000"/>
              <a:gd name="connsiteX544" fmla="*/ 8486077 w 12192000"/>
              <a:gd name="connsiteY544" fmla="*/ 4229100 h 6858000"/>
              <a:gd name="connsiteX545" fmla="*/ 9006777 w 12192000"/>
              <a:gd name="connsiteY545" fmla="*/ 4229100 h 6858000"/>
              <a:gd name="connsiteX546" fmla="*/ 9006777 w 12192000"/>
              <a:gd name="connsiteY546" fmla="*/ 4749800 h 6858000"/>
              <a:gd name="connsiteX547" fmla="*/ 8486077 w 12192000"/>
              <a:gd name="connsiteY547" fmla="*/ 4749800 h 6858000"/>
              <a:gd name="connsiteX548" fmla="*/ 9016174 w 12192000"/>
              <a:gd name="connsiteY548" fmla="*/ 4229100 h 6858000"/>
              <a:gd name="connsiteX549" fmla="*/ 9536874 w 12192000"/>
              <a:gd name="connsiteY549" fmla="*/ 4229100 h 6858000"/>
              <a:gd name="connsiteX550" fmla="*/ 9536874 w 12192000"/>
              <a:gd name="connsiteY550" fmla="*/ 4749800 h 6858000"/>
              <a:gd name="connsiteX551" fmla="*/ 9016174 w 12192000"/>
              <a:gd name="connsiteY551" fmla="*/ 4749800 h 6858000"/>
              <a:gd name="connsiteX552" fmla="*/ 9546272 w 12192000"/>
              <a:gd name="connsiteY552" fmla="*/ 4229100 h 6858000"/>
              <a:gd name="connsiteX553" fmla="*/ 10066972 w 12192000"/>
              <a:gd name="connsiteY553" fmla="*/ 4229100 h 6858000"/>
              <a:gd name="connsiteX554" fmla="*/ 10066972 w 12192000"/>
              <a:gd name="connsiteY554" fmla="*/ 4749800 h 6858000"/>
              <a:gd name="connsiteX555" fmla="*/ 9546272 w 12192000"/>
              <a:gd name="connsiteY555" fmla="*/ 4749800 h 6858000"/>
              <a:gd name="connsiteX556" fmla="*/ 9546272 w 12192000"/>
              <a:gd name="connsiteY556" fmla="*/ 4219575 h 6858000"/>
              <a:gd name="connsiteX557" fmla="*/ 9546272 w 12192000"/>
              <a:gd name="connsiteY557" fmla="*/ 3698875 h 6858000"/>
              <a:gd name="connsiteX558" fmla="*/ 10066972 w 12192000"/>
              <a:gd name="connsiteY558" fmla="*/ 3698875 h 6858000"/>
              <a:gd name="connsiteX559" fmla="*/ 10066972 w 12192000"/>
              <a:gd name="connsiteY559" fmla="*/ 4219575 h 6858000"/>
              <a:gd name="connsiteX560" fmla="*/ 9546272 w 12192000"/>
              <a:gd name="connsiteY560" fmla="*/ 3689477 h 6858000"/>
              <a:gd name="connsiteX561" fmla="*/ 9546272 w 12192000"/>
              <a:gd name="connsiteY561" fmla="*/ 3168650 h 6858000"/>
              <a:gd name="connsiteX562" fmla="*/ 10066972 w 12192000"/>
              <a:gd name="connsiteY562" fmla="*/ 3168650 h 6858000"/>
              <a:gd name="connsiteX563" fmla="*/ 10066972 w 12192000"/>
              <a:gd name="connsiteY563" fmla="*/ 3689350 h 6858000"/>
              <a:gd name="connsiteX564" fmla="*/ 9546272 w 12192000"/>
              <a:gd name="connsiteY564" fmla="*/ 3159379 h 6858000"/>
              <a:gd name="connsiteX565" fmla="*/ 9546272 w 12192000"/>
              <a:gd name="connsiteY565" fmla="*/ 2638679 h 6858000"/>
              <a:gd name="connsiteX566" fmla="*/ 10066972 w 12192000"/>
              <a:gd name="connsiteY566" fmla="*/ 2638679 h 6858000"/>
              <a:gd name="connsiteX567" fmla="*/ 10066972 w 12192000"/>
              <a:gd name="connsiteY567" fmla="*/ 3159379 h 6858000"/>
              <a:gd name="connsiteX568" fmla="*/ 9546272 w 12192000"/>
              <a:gd name="connsiteY568" fmla="*/ 2629281 h 6858000"/>
              <a:gd name="connsiteX569" fmla="*/ 9546272 w 12192000"/>
              <a:gd name="connsiteY569" fmla="*/ 2108581 h 6858000"/>
              <a:gd name="connsiteX570" fmla="*/ 10066972 w 12192000"/>
              <a:gd name="connsiteY570" fmla="*/ 2108581 h 6858000"/>
              <a:gd name="connsiteX571" fmla="*/ 10066972 w 12192000"/>
              <a:gd name="connsiteY571" fmla="*/ 2629281 h 6858000"/>
              <a:gd name="connsiteX572" fmla="*/ 9546272 w 12192000"/>
              <a:gd name="connsiteY572" fmla="*/ 2099247 h 6858000"/>
              <a:gd name="connsiteX573" fmla="*/ 9546272 w 12192000"/>
              <a:gd name="connsiteY573" fmla="*/ 1578547 h 6858000"/>
              <a:gd name="connsiteX574" fmla="*/ 10066972 w 12192000"/>
              <a:gd name="connsiteY574" fmla="*/ 1578547 h 6858000"/>
              <a:gd name="connsiteX575" fmla="*/ 10066972 w 12192000"/>
              <a:gd name="connsiteY575" fmla="*/ 2099247 h 6858000"/>
              <a:gd name="connsiteX576" fmla="*/ 9536747 w 12192000"/>
              <a:gd name="connsiteY576" fmla="*/ 2099247 h 6858000"/>
              <a:gd name="connsiteX577" fmla="*/ 9016047 w 12192000"/>
              <a:gd name="connsiteY577" fmla="*/ 2099247 h 6858000"/>
              <a:gd name="connsiteX578" fmla="*/ 9016047 w 12192000"/>
              <a:gd name="connsiteY578" fmla="*/ 1578547 h 6858000"/>
              <a:gd name="connsiteX579" fmla="*/ 9536747 w 12192000"/>
              <a:gd name="connsiteY579" fmla="*/ 1578547 h 6858000"/>
              <a:gd name="connsiteX580" fmla="*/ 9006649 w 12192000"/>
              <a:gd name="connsiteY580" fmla="*/ 2099247 h 6858000"/>
              <a:gd name="connsiteX581" fmla="*/ 8485949 w 12192000"/>
              <a:gd name="connsiteY581" fmla="*/ 2099247 h 6858000"/>
              <a:gd name="connsiteX582" fmla="*/ 8485949 w 12192000"/>
              <a:gd name="connsiteY582" fmla="*/ 1578547 h 6858000"/>
              <a:gd name="connsiteX583" fmla="*/ 9006649 w 12192000"/>
              <a:gd name="connsiteY583" fmla="*/ 1578547 h 6858000"/>
              <a:gd name="connsiteX584" fmla="*/ 8476552 w 12192000"/>
              <a:gd name="connsiteY584" fmla="*/ 2099247 h 6858000"/>
              <a:gd name="connsiteX585" fmla="*/ 7955852 w 12192000"/>
              <a:gd name="connsiteY585" fmla="*/ 2099247 h 6858000"/>
              <a:gd name="connsiteX586" fmla="*/ 7955852 w 12192000"/>
              <a:gd name="connsiteY586" fmla="*/ 1578547 h 6858000"/>
              <a:gd name="connsiteX587" fmla="*/ 8476552 w 12192000"/>
              <a:gd name="connsiteY587" fmla="*/ 1578547 h 6858000"/>
              <a:gd name="connsiteX588" fmla="*/ 7946454 w 12192000"/>
              <a:gd name="connsiteY588" fmla="*/ 2099247 h 6858000"/>
              <a:gd name="connsiteX589" fmla="*/ 7425754 w 12192000"/>
              <a:gd name="connsiteY589" fmla="*/ 2099247 h 6858000"/>
              <a:gd name="connsiteX590" fmla="*/ 7425754 w 12192000"/>
              <a:gd name="connsiteY590" fmla="*/ 1578547 h 6858000"/>
              <a:gd name="connsiteX591" fmla="*/ 7946454 w 12192000"/>
              <a:gd name="connsiteY591" fmla="*/ 1578547 h 6858000"/>
              <a:gd name="connsiteX592" fmla="*/ 7416419 w 12192000"/>
              <a:gd name="connsiteY592" fmla="*/ 2099247 h 6858000"/>
              <a:gd name="connsiteX593" fmla="*/ 6895719 w 12192000"/>
              <a:gd name="connsiteY593" fmla="*/ 2099247 h 6858000"/>
              <a:gd name="connsiteX594" fmla="*/ 6895719 w 12192000"/>
              <a:gd name="connsiteY594" fmla="*/ 1578547 h 6858000"/>
              <a:gd name="connsiteX595" fmla="*/ 7416419 w 12192000"/>
              <a:gd name="connsiteY595" fmla="*/ 1578547 h 6858000"/>
              <a:gd name="connsiteX596" fmla="*/ 6886321 w 12192000"/>
              <a:gd name="connsiteY596" fmla="*/ 2099247 h 6858000"/>
              <a:gd name="connsiteX597" fmla="*/ 6365621 w 12192000"/>
              <a:gd name="connsiteY597" fmla="*/ 2099247 h 6858000"/>
              <a:gd name="connsiteX598" fmla="*/ 6365621 w 12192000"/>
              <a:gd name="connsiteY598" fmla="*/ 1578547 h 6858000"/>
              <a:gd name="connsiteX599" fmla="*/ 6886321 w 12192000"/>
              <a:gd name="connsiteY599" fmla="*/ 1578547 h 6858000"/>
              <a:gd name="connsiteX600" fmla="*/ 6356223 w 12192000"/>
              <a:gd name="connsiteY600" fmla="*/ 2099247 h 6858000"/>
              <a:gd name="connsiteX601" fmla="*/ 5835650 w 12192000"/>
              <a:gd name="connsiteY601" fmla="*/ 2099247 h 6858000"/>
              <a:gd name="connsiteX602" fmla="*/ 5835650 w 12192000"/>
              <a:gd name="connsiteY602" fmla="*/ 1578547 h 6858000"/>
              <a:gd name="connsiteX603" fmla="*/ 6356350 w 12192000"/>
              <a:gd name="connsiteY603" fmla="*/ 1578547 h 6858000"/>
              <a:gd name="connsiteX604" fmla="*/ 5826125 w 12192000"/>
              <a:gd name="connsiteY604" fmla="*/ 2099247 h 6858000"/>
              <a:gd name="connsiteX605" fmla="*/ 5305425 w 12192000"/>
              <a:gd name="connsiteY605" fmla="*/ 2099247 h 6858000"/>
              <a:gd name="connsiteX606" fmla="*/ 5305425 w 12192000"/>
              <a:gd name="connsiteY606" fmla="*/ 1578547 h 6858000"/>
              <a:gd name="connsiteX607" fmla="*/ 5826125 w 12192000"/>
              <a:gd name="connsiteY607" fmla="*/ 1578547 h 6858000"/>
              <a:gd name="connsiteX608" fmla="*/ 5296027 w 12192000"/>
              <a:gd name="connsiteY608" fmla="*/ 2099247 h 6858000"/>
              <a:gd name="connsiteX609" fmla="*/ 4775327 w 12192000"/>
              <a:gd name="connsiteY609" fmla="*/ 2099247 h 6858000"/>
              <a:gd name="connsiteX610" fmla="*/ 4775327 w 12192000"/>
              <a:gd name="connsiteY610" fmla="*/ 1578547 h 6858000"/>
              <a:gd name="connsiteX611" fmla="*/ 5296027 w 12192000"/>
              <a:gd name="connsiteY611" fmla="*/ 1578547 h 6858000"/>
              <a:gd name="connsiteX612" fmla="*/ 4765929 w 12192000"/>
              <a:gd name="connsiteY612" fmla="*/ 2099247 h 6858000"/>
              <a:gd name="connsiteX613" fmla="*/ 4245229 w 12192000"/>
              <a:gd name="connsiteY613" fmla="*/ 2099247 h 6858000"/>
              <a:gd name="connsiteX614" fmla="*/ 4245229 w 12192000"/>
              <a:gd name="connsiteY614" fmla="*/ 1578547 h 6858000"/>
              <a:gd name="connsiteX615" fmla="*/ 4765929 w 12192000"/>
              <a:gd name="connsiteY615" fmla="*/ 1578547 h 6858000"/>
              <a:gd name="connsiteX616" fmla="*/ 4235895 w 12192000"/>
              <a:gd name="connsiteY616" fmla="*/ 2099247 h 6858000"/>
              <a:gd name="connsiteX617" fmla="*/ 3715195 w 12192000"/>
              <a:gd name="connsiteY617" fmla="*/ 2099247 h 6858000"/>
              <a:gd name="connsiteX618" fmla="*/ 3715195 w 12192000"/>
              <a:gd name="connsiteY618" fmla="*/ 1578547 h 6858000"/>
              <a:gd name="connsiteX619" fmla="*/ 4235895 w 12192000"/>
              <a:gd name="connsiteY619" fmla="*/ 1578547 h 6858000"/>
              <a:gd name="connsiteX620" fmla="*/ 3705797 w 12192000"/>
              <a:gd name="connsiteY620" fmla="*/ 2099247 h 6858000"/>
              <a:gd name="connsiteX621" fmla="*/ 3185097 w 12192000"/>
              <a:gd name="connsiteY621" fmla="*/ 2099247 h 6858000"/>
              <a:gd name="connsiteX622" fmla="*/ 3185097 w 12192000"/>
              <a:gd name="connsiteY622" fmla="*/ 1578547 h 6858000"/>
              <a:gd name="connsiteX623" fmla="*/ 3705797 w 12192000"/>
              <a:gd name="connsiteY623" fmla="*/ 1578547 h 6858000"/>
              <a:gd name="connsiteX624" fmla="*/ 3175699 w 12192000"/>
              <a:gd name="connsiteY624" fmla="*/ 2099247 h 6858000"/>
              <a:gd name="connsiteX625" fmla="*/ 2654999 w 12192000"/>
              <a:gd name="connsiteY625" fmla="*/ 2099247 h 6858000"/>
              <a:gd name="connsiteX626" fmla="*/ 2654999 w 12192000"/>
              <a:gd name="connsiteY626" fmla="*/ 1578547 h 6858000"/>
              <a:gd name="connsiteX627" fmla="*/ 3175699 w 12192000"/>
              <a:gd name="connsiteY627" fmla="*/ 1578547 h 6858000"/>
              <a:gd name="connsiteX628" fmla="*/ 2645601 w 12192000"/>
              <a:gd name="connsiteY628" fmla="*/ 2099247 h 6858000"/>
              <a:gd name="connsiteX629" fmla="*/ 2124901 w 12192000"/>
              <a:gd name="connsiteY629" fmla="*/ 2099247 h 6858000"/>
              <a:gd name="connsiteX630" fmla="*/ 2124901 w 12192000"/>
              <a:gd name="connsiteY630" fmla="*/ 1578547 h 6858000"/>
              <a:gd name="connsiteX631" fmla="*/ 2645601 w 12192000"/>
              <a:gd name="connsiteY631" fmla="*/ 1578547 h 6858000"/>
              <a:gd name="connsiteX632" fmla="*/ 2115503 w 12192000"/>
              <a:gd name="connsiteY632" fmla="*/ 2099247 h 6858000"/>
              <a:gd name="connsiteX633" fmla="*/ 1594803 w 12192000"/>
              <a:gd name="connsiteY633" fmla="*/ 2099247 h 6858000"/>
              <a:gd name="connsiteX634" fmla="*/ 1594803 w 12192000"/>
              <a:gd name="connsiteY634" fmla="*/ 1578547 h 6858000"/>
              <a:gd name="connsiteX635" fmla="*/ 2115503 w 12192000"/>
              <a:gd name="connsiteY635" fmla="*/ 1578547 h 6858000"/>
              <a:gd name="connsiteX636" fmla="*/ 2115503 w 12192000"/>
              <a:gd name="connsiteY636" fmla="*/ 2108772 h 6858000"/>
              <a:gd name="connsiteX637" fmla="*/ 2115503 w 12192000"/>
              <a:gd name="connsiteY637" fmla="*/ 2629472 h 6858000"/>
              <a:gd name="connsiteX638" fmla="*/ 1594803 w 12192000"/>
              <a:gd name="connsiteY638" fmla="*/ 2629472 h 6858000"/>
              <a:gd name="connsiteX639" fmla="*/ 1594803 w 12192000"/>
              <a:gd name="connsiteY639" fmla="*/ 2108772 h 6858000"/>
              <a:gd name="connsiteX640" fmla="*/ 2115503 w 12192000"/>
              <a:gd name="connsiteY640" fmla="*/ 2638806 h 6858000"/>
              <a:gd name="connsiteX641" fmla="*/ 2115503 w 12192000"/>
              <a:gd name="connsiteY641" fmla="*/ 3159506 h 6858000"/>
              <a:gd name="connsiteX642" fmla="*/ 1594803 w 12192000"/>
              <a:gd name="connsiteY642" fmla="*/ 3159506 h 6858000"/>
              <a:gd name="connsiteX643" fmla="*/ 1594803 w 12192000"/>
              <a:gd name="connsiteY643" fmla="*/ 2638806 h 6858000"/>
              <a:gd name="connsiteX644" fmla="*/ 2115503 w 12192000"/>
              <a:gd name="connsiteY644" fmla="*/ 3168904 h 6858000"/>
              <a:gd name="connsiteX645" fmla="*/ 2115503 w 12192000"/>
              <a:gd name="connsiteY645" fmla="*/ 3689604 h 6858000"/>
              <a:gd name="connsiteX646" fmla="*/ 1594803 w 12192000"/>
              <a:gd name="connsiteY646" fmla="*/ 3689604 h 6858000"/>
              <a:gd name="connsiteX647" fmla="*/ 1594803 w 12192000"/>
              <a:gd name="connsiteY647" fmla="*/ 3168650 h 6858000"/>
              <a:gd name="connsiteX648" fmla="*/ 2115503 w 12192000"/>
              <a:gd name="connsiteY648" fmla="*/ 3699002 h 6858000"/>
              <a:gd name="connsiteX649" fmla="*/ 2115503 w 12192000"/>
              <a:gd name="connsiteY649" fmla="*/ 4219702 h 6858000"/>
              <a:gd name="connsiteX650" fmla="*/ 1594803 w 12192000"/>
              <a:gd name="connsiteY650" fmla="*/ 4219702 h 6858000"/>
              <a:gd name="connsiteX651" fmla="*/ 1594803 w 12192000"/>
              <a:gd name="connsiteY651" fmla="*/ 3699002 h 6858000"/>
              <a:gd name="connsiteX652" fmla="*/ 2115503 w 12192000"/>
              <a:gd name="connsiteY652" fmla="*/ 4229100 h 6858000"/>
              <a:gd name="connsiteX653" fmla="*/ 2115503 w 12192000"/>
              <a:gd name="connsiteY653" fmla="*/ 4749800 h 6858000"/>
              <a:gd name="connsiteX654" fmla="*/ 1594803 w 12192000"/>
              <a:gd name="connsiteY654" fmla="*/ 4749800 h 6858000"/>
              <a:gd name="connsiteX655" fmla="*/ 1594803 w 12192000"/>
              <a:gd name="connsiteY655" fmla="*/ 4229100 h 6858000"/>
              <a:gd name="connsiteX656" fmla="*/ 2115503 w 12192000"/>
              <a:gd name="connsiteY656" fmla="*/ 4759198 h 6858000"/>
              <a:gd name="connsiteX657" fmla="*/ 2115503 w 12192000"/>
              <a:gd name="connsiteY657" fmla="*/ 5279898 h 6858000"/>
              <a:gd name="connsiteX658" fmla="*/ 1594803 w 12192000"/>
              <a:gd name="connsiteY658" fmla="*/ 5279898 h 6858000"/>
              <a:gd name="connsiteX659" fmla="*/ 1594803 w 12192000"/>
              <a:gd name="connsiteY659" fmla="*/ 4759198 h 6858000"/>
              <a:gd name="connsiteX660" fmla="*/ 2125028 w 12192000"/>
              <a:gd name="connsiteY660" fmla="*/ 4759198 h 6858000"/>
              <a:gd name="connsiteX661" fmla="*/ 2645728 w 12192000"/>
              <a:gd name="connsiteY661" fmla="*/ 4759198 h 6858000"/>
              <a:gd name="connsiteX662" fmla="*/ 2645728 w 12192000"/>
              <a:gd name="connsiteY662" fmla="*/ 5279898 h 6858000"/>
              <a:gd name="connsiteX663" fmla="*/ 2125028 w 12192000"/>
              <a:gd name="connsiteY663" fmla="*/ 5279898 h 6858000"/>
              <a:gd name="connsiteX664" fmla="*/ 2655126 w 12192000"/>
              <a:gd name="connsiteY664" fmla="*/ 4759198 h 6858000"/>
              <a:gd name="connsiteX665" fmla="*/ 3175826 w 12192000"/>
              <a:gd name="connsiteY665" fmla="*/ 4759198 h 6858000"/>
              <a:gd name="connsiteX666" fmla="*/ 3175826 w 12192000"/>
              <a:gd name="connsiteY666" fmla="*/ 5279898 h 6858000"/>
              <a:gd name="connsiteX667" fmla="*/ 2655126 w 12192000"/>
              <a:gd name="connsiteY667" fmla="*/ 5279898 h 6858000"/>
              <a:gd name="connsiteX668" fmla="*/ 3185224 w 12192000"/>
              <a:gd name="connsiteY668" fmla="*/ 4759198 h 6858000"/>
              <a:gd name="connsiteX669" fmla="*/ 3705924 w 12192000"/>
              <a:gd name="connsiteY669" fmla="*/ 4759198 h 6858000"/>
              <a:gd name="connsiteX670" fmla="*/ 3705924 w 12192000"/>
              <a:gd name="connsiteY670" fmla="*/ 5279898 h 6858000"/>
              <a:gd name="connsiteX671" fmla="*/ 3185224 w 12192000"/>
              <a:gd name="connsiteY671" fmla="*/ 5279898 h 6858000"/>
              <a:gd name="connsiteX672" fmla="*/ 3715322 w 12192000"/>
              <a:gd name="connsiteY672" fmla="*/ 4759198 h 6858000"/>
              <a:gd name="connsiteX673" fmla="*/ 4236022 w 12192000"/>
              <a:gd name="connsiteY673" fmla="*/ 4759198 h 6858000"/>
              <a:gd name="connsiteX674" fmla="*/ 4236022 w 12192000"/>
              <a:gd name="connsiteY674" fmla="*/ 5279898 h 6858000"/>
              <a:gd name="connsiteX675" fmla="*/ 3715322 w 12192000"/>
              <a:gd name="connsiteY675" fmla="*/ 5279898 h 6858000"/>
              <a:gd name="connsiteX676" fmla="*/ 4245420 w 12192000"/>
              <a:gd name="connsiteY676" fmla="*/ 4759198 h 6858000"/>
              <a:gd name="connsiteX677" fmla="*/ 4766120 w 12192000"/>
              <a:gd name="connsiteY677" fmla="*/ 4759198 h 6858000"/>
              <a:gd name="connsiteX678" fmla="*/ 4766120 w 12192000"/>
              <a:gd name="connsiteY678" fmla="*/ 5279898 h 6858000"/>
              <a:gd name="connsiteX679" fmla="*/ 4245420 w 12192000"/>
              <a:gd name="connsiteY679" fmla="*/ 5279898 h 6858000"/>
              <a:gd name="connsiteX680" fmla="*/ 4775454 w 12192000"/>
              <a:gd name="connsiteY680" fmla="*/ 4759198 h 6858000"/>
              <a:gd name="connsiteX681" fmla="*/ 5296154 w 12192000"/>
              <a:gd name="connsiteY681" fmla="*/ 4759198 h 6858000"/>
              <a:gd name="connsiteX682" fmla="*/ 5296154 w 12192000"/>
              <a:gd name="connsiteY682" fmla="*/ 5279898 h 6858000"/>
              <a:gd name="connsiteX683" fmla="*/ 4775454 w 12192000"/>
              <a:gd name="connsiteY683" fmla="*/ 5279898 h 6858000"/>
              <a:gd name="connsiteX684" fmla="*/ 5305552 w 12192000"/>
              <a:gd name="connsiteY684" fmla="*/ 4759198 h 6858000"/>
              <a:gd name="connsiteX685" fmla="*/ 5826252 w 12192000"/>
              <a:gd name="connsiteY685" fmla="*/ 4759198 h 6858000"/>
              <a:gd name="connsiteX686" fmla="*/ 5826252 w 12192000"/>
              <a:gd name="connsiteY686" fmla="*/ 5279898 h 6858000"/>
              <a:gd name="connsiteX687" fmla="*/ 5305552 w 12192000"/>
              <a:gd name="connsiteY687" fmla="*/ 5279898 h 6858000"/>
              <a:gd name="connsiteX688" fmla="*/ 5835650 w 12192000"/>
              <a:gd name="connsiteY688" fmla="*/ 4759198 h 6858000"/>
              <a:gd name="connsiteX689" fmla="*/ 6356350 w 12192000"/>
              <a:gd name="connsiteY689" fmla="*/ 4759198 h 6858000"/>
              <a:gd name="connsiteX690" fmla="*/ 6356350 w 12192000"/>
              <a:gd name="connsiteY690" fmla="*/ 5279898 h 6858000"/>
              <a:gd name="connsiteX691" fmla="*/ 5835650 w 12192000"/>
              <a:gd name="connsiteY691" fmla="*/ 5279898 h 6858000"/>
              <a:gd name="connsiteX692" fmla="*/ 6365748 w 12192000"/>
              <a:gd name="connsiteY692" fmla="*/ 4759198 h 6858000"/>
              <a:gd name="connsiteX693" fmla="*/ 6886448 w 12192000"/>
              <a:gd name="connsiteY693" fmla="*/ 4759198 h 6858000"/>
              <a:gd name="connsiteX694" fmla="*/ 6886448 w 12192000"/>
              <a:gd name="connsiteY694" fmla="*/ 5279898 h 6858000"/>
              <a:gd name="connsiteX695" fmla="*/ 6365748 w 12192000"/>
              <a:gd name="connsiteY695" fmla="*/ 5279898 h 6858000"/>
              <a:gd name="connsiteX696" fmla="*/ 6895846 w 12192000"/>
              <a:gd name="connsiteY696" fmla="*/ 4759198 h 6858000"/>
              <a:gd name="connsiteX697" fmla="*/ 7416546 w 12192000"/>
              <a:gd name="connsiteY697" fmla="*/ 4759198 h 6858000"/>
              <a:gd name="connsiteX698" fmla="*/ 7416546 w 12192000"/>
              <a:gd name="connsiteY698" fmla="*/ 5279898 h 6858000"/>
              <a:gd name="connsiteX699" fmla="*/ 6895846 w 12192000"/>
              <a:gd name="connsiteY699" fmla="*/ 5279898 h 6858000"/>
              <a:gd name="connsiteX700" fmla="*/ 7425944 w 12192000"/>
              <a:gd name="connsiteY700" fmla="*/ 4759198 h 6858000"/>
              <a:gd name="connsiteX701" fmla="*/ 7946644 w 12192000"/>
              <a:gd name="connsiteY701" fmla="*/ 4759198 h 6858000"/>
              <a:gd name="connsiteX702" fmla="*/ 7946644 w 12192000"/>
              <a:gd name="connsiteY702" fmla="*/ 5279898 h 6858000"/>
              <a:gd name="connsiteX703" fmla="*/ 7425944 w 12192000"/>
              <a:gd name="connsiteY703" fmla="*/ 5279898 h 6858000"/>
              <a:gd name="connsiteX704" fmla="*/ 7955979 w 12192000"/>
              <a:gd name="connsiteY704" fmla="*/ 4759198 h 6858000"/>
              <a:gd name="connsiteX705" fmla="*/ 8476679 w 12192000"/>
              <a:gd name="connsiteY705" fmla="*/ 4759198 h 6858000"/>
              <a:gd name="connsiteX706" fmla="*/ 8476679 w 12192000"/>
              <a:gd name="connsiteY706" fmla="*/ 5279898 h 6858000"/>
              <a:gd name="connsiteX707" fmla="*/ 7955979 w 12192000"/>
              <a:gd name="connsiteY707" fmla="*/ 5279898 h 6858000"/>
              <a:gd name="connsiteX708" fmla="*/ 8486077 w 12192000"/>
              <a:gd name="connsiteY708" fmla="*/ 4759198 h 6858000"/>
              <a:gd name="connsiteX709" fmla="*/ 9006777 w 12192000"/>
              <a:gd name="connsiteY709" fmla="*/ 4759198 h 6858000"/>
              <a:gd name="connsiteX710" fmla="*/ 9006777 w 12192000"/>
              <a:gd name="connsiteY710" fmla="*/ 5279898 h 6858000"/>
              <a:gd name="connsiteX711" fmla="*/ 8486077 w 12192000"/>
              <a:gd name="connsiteY711" fmla="*/ 5279898 h 6858000"/>
              <a:gd name="connsiteX712" fmla="*/ 9016174 w 12192000"/>
              <a:gd name="connsiteY712" fmla="*/ 4759198 h 6858000"/>
              <a:gd name="connsiteX713" fmla="*/ 9536874 w 12192000"/>
              <a:gd name="connsiteY713" fmla="*/ 4759198 h 6858000"/>
              <a:gd name="connsiteX714" fmla="*/ 9536874 w 12192000"/>
              <a:gd name="connsiteY714" fmla="*/ 5279898 h 6858000"/>
              <a:gd name="connsiteX715" fmla="*/ 9016174 w 12192000"/>
              <a:gd name="connsiteY715" fmla="*/ 5279898 h 6858000"/>
              <a:gd name="connsiteX716" fmla="*/ 9546272 w 12192000"/>
              <a:gd name="connsiteY716" fmla="*/ 4759198 h 6858000"/>
              <a:gd name="connsiteX717" fmla="*/ 10066972 w 12192000"/>
              <a:gd name="connsiteY717" fmla="*/ 4759198 h 6858000"/>
              <a:gd name="connsiteX718" fmla="*/ 10066972 w 12192000"/>
              <a:gd name="connsiteY718" fmla="*/ 5279898 h 6858000"/>
              <a:gd name="connsiteX719" fmla="*/ 9546272 w 12192000"/>
              <a:gd name="connsiteY719" fmla="*/ 5279898 h 6858000"/>
              <a:gd name="connsiteX720" fmla="*/ 10076370 w 12192000"/>
              <a:gd name="connsiteY720" fmla="*/ 4759198 h 6858000"/>
              <a:gd name="connsiteX721" fmla="*/ 10597070 w 12192000"/>
              <a:gd name="connsiteY721" fmla="*/ 4759198 h 6858000"/>
              <a:gd name="connsiteX722" fmla="*/ 10597070 w 12192000"/>
              <a:gd name="connsiteY722" fmla="*/ 5279898 h 6858000"/>
              <a:gd name="connsiteX723" fmla="*/ 10076370 w 12192000"/>
              <a:gd name="connsiteY723" fmla="*/ 5279898 h 6858000"/>
              <a:gd name="connsiteX724" fmla="*/ 10076370 w 12192000"/>
              <a:gd name="connsiteY724" fmla="*/ 4749673 h 6858000"/>
              <a:gd name="connsiteX725" fmla="*/ 10076370 w 12192000"/>
              <a:gd name="connsiteY725" fmla="*/ 4229100 h 6858000"/>
              <a:gd name="connsiteX726" fmla="*/ 10597070 w 12192000"/>
              <a:gd name="connsiteY726" fmla="*/ 4229100 h 6858000"/>
              <a:gd name="connsiteX727" fmla="*/ 10597070 w 12192000"/>
              <a:gd name="connsiteY727" fmla="*/ 4749800 h 6858000"/>
              <a:gd name="connsiteX728" fmla="*/ 10076370 w 12192000"/>
              <a:gd name="connsiteY728" fmla="*/ 4219575 h 6858000"/>
              <a:gd name="connsiteX729" fmla="*/ 10076370 w 12192000"/>
              <a:gd name="connsiteY729" fmla="*/ 3698875 h 6858000"/>
              <a:gd name="connsiteX730" fmla="*/ 10597070 w 12192000"/>
              <a:gd name="connsiteY730" fmla="*/ 3698875 h 6858000"/>
              <a:gd name="connsiteX731" fmla="*/ 10597070 w 12192000"/>
              <a:gd name="connsiteY731" fmla="*/ 4219575 h 6858000"/>
              <a:gd name="connsiteX732" fmla="*/ 10076370 w 12192000"/>
              <a:gd name="connsiteY732" fmla="*/ 3689477 h 6858000"/>
              <a:gd name="connsiteX733" fmla="*/ 10076370 w 12192000"/>
              <a:gd name="connsiteY733" fmla="*/ 3168650 h 6858000"/>
              <a:gd name="connsiteX734" fmla="*/ 10597070 w 12192000"/>
              <a:gd name="connsiteY734" fmla="*/ 3168650 h 6858000"/>
              <a:gd name="connsiteX735" fmla="*/ 10597070 w 12192000"/>
              <a:gd name="connsiteY735" fmla="*/ 3689350 h 6858000"/>
              <a:gd name="connsiteX736" fmla="*/ 10076370 w 12192000"/>
              <a:gd name="connsiteY736" fmla="*/ 3159379 h 6858000"/>
              <a:gd name="connsiteX737" fmla="*/ 10076370 w 12192000"/>
              <a:gd name="connsiteY737" fmla="*/ 2638679 h 6858000"/>
              <a:gd name="connsiteX738" fmla="*/ 10597070 w 12192000"/>
              <a:gd name="connsiteY738" fmla="*/ 2638679 h 6858000"/>
              <a:gd name="connsiteX739" fmla="*/ 10597070 w 12192000"/>
              <a:gd name="connsiteY739" fmla="*/ 3159379 h 6858000"/>
              <a:gd name="connsiteX740" fmla="*/ 10076370 w 12192000"/>
              <a:gd name="connsiteY740" fmla="*/ 2629281 h 6858000"/>
              <a:gd name="connsiteX741" fmla="*/ 10076370 w 12192000"/>
              <a:gd name="connsiteY741" fmla="*/ 2108581 h 6858000"/>
              <a:gd name="connsiteX742" fmla="*/ 10597070 w 12192000"/>
              <a:gd name="connsiteY742" fmla="*/ 2108581 h 6858000"/>
              <a:gd name="connsiteX743" fmla="*/ 10597070 w 12192000"/>
              <a:gd name="connsiteY743" fmla="*/ 2629281 h 6858000"/>
              <a:gd name="connsiteX744" fmla="*/ 10076370 w 12192000"/>
              <a:gd name="connsiteY744" fmla="*/ 2099247 h 6858000"/>
              <a:gd name="connsiteX745" fmla="*/ 10076370 w 12192000"/>
              <a:gd name="connsiteY745" fmla="*/ 1578547 h 6858000"/>
              <a:gd name="connsiteX746" fmla="*/ 10597070 w 12192000"/>
              <a:gd name="connsiteY746" fmla="*/ 1578547 h 6858000"/>
              <a:gd name="connsiteX747" fmla="*/ 10597070 w 12192000"/>
              <a:gd name="connsiteY747" fmla="*/ 2099247 h 6858000"/>
              <a:gd name="connsiteX748" fmla="*/ 10076370 w 12192000"/>
              <a:gd name="connsiteY748" fmla="*/ 1569149 h 6858000"/>
              <a:gd name="connsiteX749" fmla="*/ 10076370 w 12192000"/>
              <a:gd name="connsiteY749" fmla="*/ 1048449 h 6858000"/>
              <a:gd name="connsiteX750" fmla="*/ 10597070 w 12192000"/>
              <a:gd name="connsiteY750" fmla="*/ 1048449 h 6858000"/>
              <a:gd name="connsiteX751" fmla="*/ 10597070 w 12192000"/>
              <a:gd name="connsiteY751" fmla="*/ 1569149 h 6858000"/>
              <a:gd name="connsiteX752" fmla="*/ 10066845 w 12192000"/>
              <a:gd name="connsiteY752" fmla="*/ 1569149 h 6858000"/>
              <a:gd name="connsiteX753" fmla="*/ 9546145 w 12192000"/>
              <a:gd name="connsiteY753" fmla="*/ 1569149 h 6858000"/>
              <a:gd name="connsiteX754" fmla="*/ 9546145 w 12192000"/>
              <a:gd name="connsiteY754" fmla="*/ 1048449 h 6858000"/>
              <a:gd name="connsiteX755" fmla="*/ 10066845 w 12192000"/>
              <a:gd name="connsiteY755" fmla="*/ 1048449 h 6858000"/>
              <a:gd name="connsiteX756" fmla="*/ 9536747 w 12192000"/>
              <a:gd name="connsiteY756" fmla="*/ 1569149 h 6858000"/>
              <a:gd name="connsiteX757" fmla="*/ 9016047 w 12192000"/>
              <a:gd name="connsiteY757" fmla="*/ 1569149 h 6858000"/>
              <a:gd name="connsiteX758" fmla="*/ 9016047 w 12192000"/>
              <a:gd name="connsiteY758" fmla="*/ 1048449 h 6858000"/>
              <a:gd name="connsiteX759" fmla="*/ 9536747 w 12192000"/>
              <a:gd name="connsiteY759" fmla="*/ 1048449 h 6858000"/>
              <a:gd name="connsiteX760" fmla="*/ 9006649 w 12192000"/>
              <a:gd name="connsiteY760" fmla="*/ 1569149 h 6858000"/>
              <a:gd name="connsiteX761" fmla="*/ 8485949 w 12192000"/>
              <a:gd name="connsiteY761" fmla="*/ 1569149 h 6858000"/>
              <a:gd name="connsiteX762" fmla="*/ 8485949 w 12192000"/>
              <a:gd name="connsiteY762" fmla="*/ 1048449 h 6858000"/>
              <a:gd name="connsiteX763" fmla="*/ 9006649 w 12192000"/>
              <a:gd name="connsiteY763" fmla="*/ 1048449 h 6858000"/>
              <a:gd name="connsiteX764" fmla="*/ 8476552 w 12192000"/>
              <a:gd name="connsiteY764" fmla="*/ 1569149 h 6858000"/>
              <a:gd name="connsiteX765" fmla="*/ 7955852 w 12192000"/>
              <a:gd name="connsiteY765" fmla="*/ 1569149 h 6858000"/>
              <a:gd name="connsiteX766" fmla="*/ 7955852 w 12192000"/>
              <a:gd name="connsiteY766" fmla="*/ 1048449 h 6858000"/>
              <a:gd name="connsiteX767" fmla="*/ 8476552 w 12192000"/>
              <a:gd name="connsiteY767" fmla="*/ 1048449 h 6858000"/>
              <a:gd name="connsiteX768" fmla="*/ 7946454 w 12192000"/>
              <a:gd name="connsiteY768" fmla="*/ 1569149 h 6858000"/>
              <a:gd name="connsiteX769" fmla="*/ 7425754 w 12192000"/>
              <a:gd name="connsiteY769" fmla="*/ 1569149 h 6858000"/>
              <a:gd name="connsiteX770" fmla="*/ 7425754 w 12192000"/>
              <a:gd name="connsiteY770" fmla="*/ 1048449 h 6858000"/>
              <a:gd name="connsiteX771" fmla="*/ 7946454 w 12192000"/>
              <a:gd name="connsiteY771" fmla="*/ 1048449 h 6858000"/>
              <a:gd name="connsiteX772" fmla="*/ 7416419 w 12192000"/>
              <a:gd name="connsiteY772" fmla="*/ 1569149 h 6858000"/>
              <a:gd name="connsiteX773" fmla="*/ 6895719 w 12192000"/>
              <a:gd name="connsiteY773" fmla="*/ 1569149 h 6858000"/>
              <a:gd name="connsiteX774" fmla="*/ 6895719 w 12192000"/>
              <a:gd name="connsiteY774" fmla="*/ 1048449 h 6858000"/>
              <a:gd name="connsiteX775" fmla="*/ 7416419 w 12192000"/>
              <a:gd name="connsiteY775" fmla="*/ 1048449 h 6858000"/>
              <a:gd name="connsiteX776" fmla="*/ 6886321 w 12192000"/>
              <a:gd name="connsiteY776" fmla="*/ 1569149 h 6858000"/>
              <a:gd name="connsiteX777" fmla="*/ 6365621 w 12192000"/>
              <a:gd name="connsiteY777" fmla="*/ 1569149 h 6858000"/>
              <a:gd name="connsiteX778" fmla="*/ 6365621 w 12192000"/>
              <a:gd name="connsiteY778" fmla="*/ 1048449 h 6858000"/>
              <a:gd name="connsiteX779" fmla="*/ 6886321 w 12192000"/>
              <a:gd name="connsiteY779" fmla="*/ 1048449 h 6858000"/>
              <a:gd name="connsiteX780" fmla="*/ 6356223 w 12192000"/>
              <a:gd name="connsiteY780" fmla="*/ 1569149 h 6858000"/>
              <a:gd name="connsiteX781" fmla="*/ 5835650 w 12192000"/>
              <a:gd name="connsiteY781" fmla="*/ 1569149 h 6858000"/>
              <a:gd name="connsiteX782" fmla="*/ 5835650 w 12192000"/>
              <a:gd name="connsiteY782" fmla="*/ 1048449 h 6858000"/>
              <a:gd name="connsiteX783" fmla="*/ 6356350 w 12192000"/>
              <a:gd name="connsiteY783" fmla="*/ 1048449 h 6858000"/>
              <a:gd name="connsiteX784" fmla="*/ 5826125 w 12192000"/>
              <a:gd name="connsiteY784" fmla="*/ 1569149 h 6858000"/>
              <a:gd name="connsiteX785" fmla="*/ 5305425 w 12192000"/>
              <a:gd name="connsiteY785" fmla="*/ 1569149 h 6858000"/>
              <a:gd name="connsiteX786" fmla="*/ 5305425 w 12192000"/>
              <a:gd name="connsiteY786" fmla="*/ 1048449 h 6858000"/>
              <a:gd name="connsiteX787" fmla="*/ 5826125 w 12192000"/>
              <a:gd name="connsiteY787" fmla="*/ 1048449 h 6858000"/>
              <a:gd name="connsiteX788" fmla="*/ 5296027 w 12192000"/>
              <a:gd name="connsiteY788" fmla="*/ 1569149 h 6858000"/>
              <a:gd name="connsiteX789" fmla="*/ 4775327 w 12192000"/>
              <a:gd name="connsiteY789" fmla="*/ 1569149 h 6858000"/>
              <a:gd name="connsiteX790" fmla="*/ 4775327 w 12192000"/>
              <a:gd name="connsiteY790" fmla="*/ 1048449 h 6858000"/>
              <a:gd name="connsiteX791" fmla="*/ 5296027 w 12192000"/>
              <a:gd name="connsiteY791" fmla="*/ 1048449 h 6858000"/>
              <a:gd name="connsiteX792" fmla="*/ 4765929 w 12192000"/>
              <a:gd name="connsiteY792" fmla="*/ 1569149 h 6858000"/>
              <a:gd name="connsiteX793" fmla="*/ 4245229 w 12192000"/>
              <a:gd name="connsiteY793" fmla="*/ 1569149 h 6858000"/>
              <a:gd name="connsiteX794" fmla="*/ 4245229 w 12192000"/>
              <a:gd name="connsiteY794" fmla="*/ 1048449 h 6858000"/>
              <a:gd name="connsiteX795" fmla="*/ 4765929 w 12192000"/>
              <a:gd name="connsiteY795" fmla="*/ 1048449 h 6858000"/>
              <a:gd name="connsiteX796" fmla="*/ 4235895 w 12192000"/>
              <a:gd name="connsiteY796" fmla="*/ 1569149 h 6858000"/>
              <a:gd name="connsiteX797" fmla="*/ 3715195 w 12192000"/>
              <a:gd name="connsiteY797" fmla="*/ 1569149 h 6858000"/>
              <a:gd name="connsiteX798" fmla="*/ 3715195 w 12192000"/>
              <a:gd name="connsiteY798" fmla="*/ 1048449 h 6858000"/>
              <a:gd name="connsiteX799" fmla="*/ 4235895 w 12192000"/>
              <a:gd name="connsiteY799" fmla="*/ 1048449 h 6858000"/>
              <a:gd name="connsiteX800" fmla="*/ 3705797 w 12192000"/>
              <a:gd name="connsiteY800" fmla="*/ 1569149 h 6858000"/>
              <a:gd name="connsiteX801" fmla="*/ 3185097 w 12192000"/>
              <a:gd name="connsiteY801" fmla="*/ 1569149 h 6858000"/>
              <a:gd name="connsiteX802" fmla="*/ 3185097 w 12192000"/>
              <a:gd name="connsiteY802" fmla="*/ 1048449 h 6858000"/>
              <a:gd name="connsiteX803" fmla="*/ 3705797 w 12192000"/>
              <a:gd name="connsiteY803" fmla="*/ 1048449 h 6858000"/>
              <a:gd name="connsiteX804" fmla="*/ 3175699 w 12192000"/>
              <a:gd name="connsiteY804" fmla="*/ 1569149 h 6858000"/>
              <a:gd name="connsiteX805" fmla="*/ 2654999 w 12192000"/>
              <a:gd name="connsiteY805" fmla="*/ 1569149 h 6858000"/>
              <a:gd name="connsiteX806" fmla="*/ 2654999 w 12192000"/>
              <a:gd name="connsiteY806" fmla="*/ 1048449 h 6858000"/>
              <a:gd name="connsiteX807" fmla="*/ 3175699 w 12192000"/>
              <a:gd name="connsiteY807" fmla="*/ 1048449 h 6858000"/>
              <a:gd name="connsiteX808" fmla="*/ 2645601 w 12192000"/>
              <a:gd name="connsiteY808" fmla="*/ 1569149 h 6858000"/>
              <a:gd name="connsiteX809" fmla="*/ 2124901 w 12192000"/>
              <a:gd name="connsiteY809" fmla="*/ 1569149 h 6858000"/>
              <a:gd name="connsiteX810" fmla="*/ 2124901 w 12192000"/>
              <a:gd name="connsiteY810" fmla="*/ 1048449 h 6858000"/>
              <a:gd name="connsiteX811" fmla="*/ 2645601 w 12192000"/>
              <a:gd name="connsiteY811" fmla="*/ 1048449 h 6858000"/>
              <a:gd name="connsiteX812" fmla="*/ 2115503 w 12192000"/>
              <a:gd name="connsiteY812" fmla="*/ 1569149 h 6858000"/>
              <a:gd name="connsiteX813" fmla="*/ 1594803 w 12192000"/>
              <a:gd name="connsiteY813" fmla="*/ 1569149 h 6858000"/>
              <a:gd name="connsiteX814" fmla="*/ 1594803 w 12192000"/>
              <a:gd name="connsiteY814" fmla="*/ 1048449 h 6858000"/>
              <a:gd name="connsiteX815" fmla="*/ 2115503 w 12192000"/>
              <a:gd name="connsiteY815" fmla="*/ 1048449 h 6858000"/>
              <a:gd name="connsiteX816" fmla="*/ 1585405 w 12192000"/>
              <a:gd name="connsiteY816" fmla="*/ 1569149 h 6858000"/>
              <a:gd name="connsiteX817" fmla="*/ 1064705 w 12192000"/>
              <a:gd name="connsiteY817" fmla="*/ 1569149 h 6858000"/>
              <a:gd name="connsiteX818" fmla="*/ 1064705 w 12192000"/>
              <a:gd name="connsiteY818" fmla="*/ 1048449 h 6858000"/>
              <a:gd name="connsiteX819" fmla="*/ 1585405 w 12192000"/>
              <a:gd name="connsiteY819" fmla="*/ 1048449 h 6858000"/>
              <a:gd name="connsiteX820" fmla="*/ 1585405 w 12192000"/>
              <a:gd name="connsiteY820" fmla="*/ 1578674 h 6858000"/>
              <a:gd name="connsiteX821" fmla="*/ 1585405 w 12192000"/>
              <a:gd name="connsiteY821" fmla="*/ 2099374 h 6858000"/>
              <a:gd name="connsiteX822" fmla="*/ 1064705 w 12192000"/>
              <a:gd name="connsiteY822" fmla="*/ 2099374 h 6858000"/>
              <a:gd name="connsiteX823" fmla="*/ 1064705 w 12192000"/>
              <a:gd name="connsiteY823" fmla="*/ 1578674 h 6858000"/>
              <a:gd name="connsiteX824" fmla="*/ 1585405 w 12192000"/>
              <a:gd name="connsiteY824" fmla="*/ 2108772 h 6858000"/>
              <a:gd name="connsiteX825" fmla="*/ 1585405 w 12192000"/>
              <a:gd name="connsiteY825" fmla="*/ 2629472 h 6858000"/>
              <a:gd name="connsiteX826" fmla="*/ 1064705 w 12192000"/>
              <a:gd name="connsiteY826" fmla="*/ 2629472 h 6858000"/>
              <a:gd name="connsiteX827" fmla="*/ 1064705 w 12192000"/>
              <a:gd name="connsiteY827" fmla="*/ 2108772 h 6858000"/>
              <a:gd name="connsiteX828" fmla="*/ 1585405 w 12192000"/>
              <a:gd name="connsiteY828" fmla="*/ 2638806 h 6858000"/>
              <a:gd name="connsiteX829" fmla="*/ 1585405 w 12192000"/>
              <a:gd name="connsiteY829" fmla="*/ 3159506 h 6858000"/>
              <a:gd name="connsiteX830" fmla="*/ 1064705 w 12192000"/>
              <a:gd name="connsiteY830" fmla="*/ 3159506 h 6858000"/>
              <a:gd name="connsiteX831" fmla="*/ 1064705 w 12192000"/>
              <a:gd name="connsiteY831" fmla="*/ 2638806 h 6858000"/>
              <a:gd name="connsiteX832" fmla="*/ 1585405 w 12192000"/>
              <a:gd name="connsiteY832" fmla="*/ 3168904 h 6858000"/>
              <a:gd name="connsiteX833" fmla="*/ 1585405 w 12192000"/>
              <a:gd name="connsiteY833" fmla="*/ 3689604 h 6858000"/>
              <a:gd name="connsiteX834" fmla="*/ 1064705 w 12192000"/>
              <a:gd name="connsiteY834" fmla="*/ 3689604 h 6858000"/>
              <a:gd name="connsiteX835" fmla="*/ 1064705 w 12192000"/>
              <a:gd name="connsiteY835" fmla="*/ 3168650 h 6858000"/>
              <a:gd name="connsiteX836" fmla="*/ 1585405 w 12192000"/>
              <a:gd name="connsiteY836" fmla="*/ 3699002 h 6858000"/>
              <a:gd name="connsiteX837" fmla="*/ 1585405 w 12192000"/>
              <a:gd name="connsiteY837" fmla="*/ 4219702 h 6858000"/>
              <a:gd name="connsiteX838" fmla="*/ 1064705 w 12192000"/>
              <a:gd name="connsiteY838" fmla="*/ 4219702 h 6858000"/>
              <a:gd name="connsiteX839" fmla="*/ 1064705 w 12192000"/>
              <a:gd name="connsiteY839" fmla="*/ 3699002 h 6858000"/>
              <a:gd name="connsiteX840" fmla="*/ 1585405 w 12192000"/>
              <a:gd name="connsiteY840" fmla="*/ 4229100 h 6858000"/>
              <a:gd name="connsiteX841" fmla="*/ 1585405 w 12192000"/>
              <a:gd name="connsiteY841" fmla="*/ 4749800 h 6858000"/>
              <a:gd name="connsiteX842" fmla="*/ 1064705 w 12192000"/>
              <a:gd name="connsiteY842" fmla="*/ 4749800 h 6858000"/>
              <a:gd name="connsiteX843" fmla="*/ 1064705 w 12192000"/>
              <a:gd name="connsiteY843" fmla="*/ 4229100 h 6858000"/>
              <a:gd name="connsiteX844" fmla="*/ 1585405 w 12192000"/>
              <a:gd name="connsiteY844" fmla="*/ 4759198 h 6858000"/>
              <a:gd name="connsiteX845" fmla="*/ 1585405 w 12192000"/>
              <a:gd name="connsiteY845" fmla="*/ 5279898 h 6858000"/>
              <a:gd name="connsiteX846" fmla="*/ 1064705 w 12192000"/>
              <a:gd name="connsiteY846" fmla="*/ 5279898 h 6858000"/>
              <a:gd name="connsiteX847" fmla="*/ 1064705 w 12192000"/>
              <a:gd name="connsiteY847" fmla="*/ 4759198 h 6858000"/>
              <a:gd name="connsiteX848" fmla="*/ 1585405 w 12192000"/>
              <a:gd name="connsiteY848" fmla="*/ 5289233 h 6858000"/>
              <a:gd name="connsiteX849" fmla="*/ 1585405 w 12192000"/>
              <a:gd name="connsiteY849" fmla="*/ 5809933 h 6858000"/>
              <a:gd name="connsiteX850" fmla="*/ 1064705 w 12192000"/>
              <a:gd name="connsiteY850" fmla="*/ 5809933 h 6858000"/>
              <a:gd name="connsiteX851" fmla="*/ 1064705 w 12192000"/>
              <a:gd name="connsiteY851" fmla="*/ 5289233 h 6858000"/>
              <a:gd name="connsiteX852" fmla="*/ 1594930 w 12192000"/>
              <a:gd name="connsiteY852" fmla="*/ 5289233 h 6858000"/>
              <a:gd name="connsiteX853" fmla="*/ 2115630 w 12192000"/>
              <a:gd name="connsiteY853" fmla="*/ 5289233 h 6858000"/>
              <a:gd name="connsiteX854" fmla="*/ 2115630 w 12192000"/>
              <a:gd name="connsiteY854" fmla="*/ 5809933 h 6858000"/>
              <a:gd name="connsiteX855" fmla="*/ 1594930 w 12192000"/>
              <a:gd name="connsiteY855" fmla="*/ 5809933 h 6858000"/>
              <a:gd name="connsiteX856" fmla="*/ 2125028 w 12192000"/>
              <a:gd name="connsiteY856" fmla="*/ 5289233 h 6858000"/>
              <a:gd name="connsiteX857" fmla="*/ 2645728 w 12192000"/>
              <a:gd name="connsiteY857" fmla="*/ 5289233 h 6858000"/>
              <a:gd name="connsiteX858" fmla="*/ 2645728 w 12192000"/>
              <a:gd name="connsiteY858" fmla="*/ 5809933 h 6858000"/>
              <a:gd name="connsiteX859" fmla="*/ 2125028 w 12192000"/>
              <a:gd name="connsiteY859" fmla="*/ 5809933 h 6858000"/>
              <a:gd name="connsiteX860" fmla="*/ 2655126 w 12192000"/>
              <a:gd name="connsiteY860" fmla="*/ 5289233 h 6858000"/>
              <a:gd name="connsiteX861" fmla="*/ 3175826 w 12192000"/>
              <a:gd name="connsiteY861" fmla="*/ 5289233 h 6858000"/>
              <a:gd name="connsiteX862" fmla="*/ 3175826 w 12192000"/>
              <a:gd name="connsiteY862" fmla="*/ 5809933 h 6858000"/>
              <a:gd name="connsiteX863" fmla="*/ 2655126 w 12192000"/>
              <a:gd name="connsiteY863" fmla="*/ 5809933 h 6858000"/>
              <a:gd name="connsiteX864" fmla="*/ 3185224 w 12192000"/>
              <a:gd name="connsiteY864" fmla="*/ 5289233 h 6858000"/>
              <a:gd name="connsiteX865" fmla="*/ 3705924 w 12192000"/>
              <a:gd name="connsiteY865" fmla="*/ 5289233 h 6858000"/>
              <a:gd name="connsiteX866" fmla="*/ 3705924 w 12192000"/>
              <a:gd name="connsiteY866" fmla="*/ 5809933 h 6858000"/>
              <a:gd name="connsiteX867" fmla="*/ 3185224 w 12192000"/>
              <a:gd name="connsiteY867" fmla="*/ 5809933 h 6858000"/>
              <a:gd name="connsiteX868" fmla="*/ 3715322 w 12192000"/>
              <a:gd name="connsiteY868" fmla="*/ 5289233 h 6858000"/>
              <a:gd name="connsiteX869" fmla="*/ 4236022 w 12192000"/>
              <a:gd name="connsiteY869" fmla="*/ 5289233 h 6858000"/>
              <a:gd name="connsiteX870" fmla="*/ 4236022 w 12192000"/>
              <a:gd name="connsiteY870" fmla="*/ 5809933 h 6858000"/>
              <a:gd name="connsiteX871" fmla="*/ 3715322 w 12192000"/>
              <a:gd name="connsiteY871" fmla="*/ 5809933 h 6858000"/>
              <a:gd name="connsiteX872" fmla="*/ 4245420 w 12192000"/>
              <a:gd name="connsiteY872" fmla="*/ 5289233 h 6858000"/>
              <a:gd name="connsiteX873" fmla="*/ 4766120 w 12192000"/>
              <a:gd name="connsiteY873" fmla="*/ 5289233 h 6858000"/>
              <a:gd name="connsiteX874" fmla="*/ 4766120 w 12192000"/>
              <a:gd name="connsiteY874" fmla="*/ 5809933 h 6858000"/>
              <a:gd name="connsiteX875" fmla="*/ 4245420 w 12192000"/>
              <a:gd name="connsiteY875" fmla="*/ 5809933 h 6858000"/>
              <a:gd name="connsiteX876" fmla="*/ 4775454 w 12192000"/>
              <a:gd name="connsiteY876" fmla="*/ 5289233 h 6858000"/>
              <a:gd name="connsiteX877" fmla="*/ 5296154 w 12192000"/>
              <a:gd name="connsiteY877" fmla="*/ 5289233 h 6858000"/>
              <a:gd name="connsiteX878" fmla="*/ 5296154 w 12192000"/>
              <a:gd name="connsiteY878" fmla="*/ 5809933 h 6858000"/>
              <a:gd name="connsiteX879" fmla="*/ 4775454 w 12192000"/>
              <a:gd name="connsiteY879" fmla="*/ 5809933 h 6858000"/>
              <a:gd name="connsiteX880" fmla="*/ 5305552 w 12192000"/>
              <a:gd name="connsiteY880" fmla="*/ 5289233 h 6858000"/>
              <a:gd name="connsiteX881" fmla="*/ 5826252 w 12192000"/>
              <a:gd name="connsiteY881" fmla="*/ 5289233 h 6858000"/>
              <a:gd name="connsiteX882" fmla="*/ 5826252 w 12192000"/>
              <a:gd name="connsiteY882" fmla="*/ 5809933 h 6858000"/>
              <a:gd name="connsiteX883" fmla="*/ 5305552 w 12192000"/>
              <a:gd name="connsiteY883" fmla="*/ 5809933 h 6858000"/>
              <a:gd name="connsiteX884" fmla="*/ 5835650 w 12192000"/>
              <a:gd name="connsiteY884" fmla="*/ 5289233 h 6858000"/>
              <a:gd name="connsiteX885" fmla="*/ 6356350 w 12192000"/>
              <a:gd name="connsiteY885" fmla="*/ 5289233 h 6858000"/>
              <a:gd name="connsiteX886" fmla="*/ 6356350 w 12192000"/>
              <a:gd name="connsiteY886" fmla="*/ 5809933 h 6858000"/>
              <a:gd name="connsiteX887" fmla="*/ 5835650 w 12192000"/>
              <a:gd name="connsiteY887" fmla="*/ 5809933 h 6858000"/>
              <a:gd name="connsiteX888" fmla="*/ 6365748 w 12192000"/>
              <a:gd name="connsiteY888" fmla="*/ 5289233 h 6858000"/>
              <a:gd name="connsiteX889" fmla="*/ 6886448 w 12192000"/>
              <a:gd name="connsiteY889" fmla="*/ 5289233 h 6858000"/>
              <a:gd name="connsiteX890" fmla="*/ 6886448 w 12192000"/>
              <a:gd name="connsiteY890" fmla="*/ 5809933 h 6858000"/>
              <a:gd name="connsiteX891" fmla="*/ 6365748 w 12192000"/>
              <a:gd name="connsiteY891" fmla="*/ 5809933 h 6858000"/>
              <a:gd name="connsiteX892" fmla="*/ 6895846 w 12192000"/>
              <a:gd name="connsiteY892" fmla="*/ 5289233 h 6858000"/>
              <a:gd name="connsiteX893" fmla="*/ 7416546 w 12192000"/>
              <a:gd name="connsiteY893" fmla="*/ 5289233 h 6858000"/>
              <a:gd name="connsiteX894" fmla="*/ 7416546 w 12192000"/>
              <a:gd name="connsiteY894" fmla="*/ 5809933 h 6858000"/>
              <a:gd name="connsiteX895" fmla="*/ 6895846 w 12192000"/>
              <a:gd name="connsiteY895" fmla="*/ 5809933 h 6858000"/>
              <a:gd name="connsiteX896" fmla="*/ 7425944 w 12192000"/>
              <a:gd name="connsiteY896" fmla="*/ 5289233 h 6858000"/>
              <a:gd name="connsiteX897" fmla="*/ 7946644 w 12192000"/>
              <a:gd name="connsiteY897" fmla="*/ 5289233 h 6858000"/>
              <a:gd name="connsiteX898" fmla="*/ 7946644 w 12192000"/>
              <a:gd name="connsiteY898" fmla="*/ 5809933 h 6858000"/>
              <a:gd name="connsiteX899" fmla="*/ 7425944 w 12192000"/>
              <a:gd name="connsiteY899" fmla="*/ 5809933 h 6858000"/>
              <a:gd name="connsiteX900" fmla="*/ 7955979 w 12192000"/>
              <a:gd name="connsiteY900" fmla="*/ 5289233 h 6858000"/>
              <a:gd name="connsiteX901" fmla="*/ 8476679 w 12192000"/>
              <a:gd name="connsiteY901" fmla="*/ 5289233 h 6858000"/>
              <a:gd name="connsiteX902" fmla="*/ 8476679 w 12192000"/>
              <a:gd name="connsiteY902" fmla="*/ 5809933 h 6858000"/>
              <a:gd name="connsiteX903" fmla="*/ 7955979 w 12192000"/>
              <a:gd name="connsiteY903" fmla="*/ 5809933 h 6858000"/>
              <a:gd name="connsiteX904" fmla="*/ 8486077 w 12192000"/>
              <a:gd name="connsiteY904" fmla="*/ 5289233 h 6858000"/>
              <a:gd name="connsiteX905" fmla="*/ 9006777 w 12192000"/>
              <a:gd name="connsiteY905" fmla="*/ 5289233 h 6858000"/>
              <a:gd name="connsiteX906" fmla="*/ 9006777 w 12192000"/>
              <a:gd name="connsiteY906" fmla="*/ 5809933 h 6858000"/>
              <a:gd name="connsiteX907" fmla="*/ 8486077 w 12192000"/>
              <a:gd name="connsiteY907" fmla="*/ 5809933 h 6858000"/>
              <a:gd name="connsiteX908" fmla="*/ 9016174 w 12192000"/>
              <a:gd name="connsiteY908" fmla="*/ 5289233 h 6858000"/>
              <a:gd name="connsiteX909" fmla="*/ 9536874 w 12192000"/>
              <a:gd name="connsiteY909" fmla="*/ 5289233 h 6858000"/>
              <a:gd name="connsiteX910" fmla="*/ 9536874 w 12192000"/>
              <a:gd name="connsiteY910" fmla="*/ 5809933 h 6858000"/>
              <a:gd name="connsiteX911" fmla="*/ 9016174 w 12192000"/>
              <a:gd name="connsiteY911" fmla="*/ 5809933 h 6858000"/>
              <a:gd name="connsiteX912" fmla="*/ 9546272 w 12192000"/>
              <a:gd name="connsiteY912" fmla="*/ 5289233 h 6858000"/>
              <a:gd name="connsiteX913" fmla="*/ 10066972 w 12192000"/>
              <a:gd name="connsiteY913" fmla="*/ 5289233 h 6858000"/>
              <a:gd name="connsiteX914" fmla="*/ 10066972 w 12192000"/>
              <a:gd name="connsiteY914" fmla="*/ 5809933 h 6858000"/>
              <a:gd name="connsiteX915" fmla="*/ 9546272 w 12192000"/>
              <a:gd name="connsiteY915" fmla="*/ 5809933 h 6858000"/>
              <a:gd name="connsiteX916" fmla="*/ 10076370 w 12192000"/>
              <a:gd name="connsiteY916" fmla="*/ 5289233 h 6858000"/>
              <a:gd name="connsiteX917" fmla="*/ 10597070 w 12192000"/>
              <a:gd name="connsiteY917" fmla="*/ 5289233 h 6858000"/>
              <a:gd name="connsiteX918" fmla="*/ 10597070 w 12192000"/>
              <a:gd name="connsiteY918" fmla="*/ 5809933 h 6858000"/>
              <a:gd name="connsiteX919" fmla="*/ 10076370 w 12192000"/>
              <a:gd name="connsiteY919" fmla="*/ 5809933 h 6858000"/>
              <a:gd name="connsiteX920" fmla="*/ 10606469 w 12192000"/>
              <a:gd name="connsiteY920" fmla="*/ 5289233 h 6858000"/>
              <a:gd name="connsiteX921" fmla="*/ 11127169 w 12192000"/>
              <a:gd name="connsiteY921" fmla="*/ 5289233 h 6858000"/>
              <a:gd name="connsiteX922" fmla="*/ 11127169 w 12192000"/>
              <a:gd name="connsiteY922" fmla="*/ 5809933 h 6858000"/>
              <a:gd name="connsiteX923" fmla="*/ 10606469 w 12192000"/>
              <a:gd name="connsiteY923" fmla="*/ 5809933 h 6858000"/>
              <a:gd name="connsiteX924" fmla="*/ 10606469 w 12192000"/>
              <a:gd name="connsiteY924" fmla="*/ 5279708 h 6858000"/>
              <a:gd name="connsiteX925" fmla="*/ 10606469 w 12192000"/>
              <a:gd name="connsiteY925" fmla="*/ 4759008 h 6858000"/>
              <a:gd name="connsiteX926" fmla="*/ 11127169 w 12192000"/>
              <a:gd name="connsiteY926" fmla="*/ 4759008 h 6858000"/>
              <a:gd name="connsiteX927" fmla="*/ 11127169 w 12192000"/>
              <a:gd name="connsiteY927" fmla="*/ 5279708 h 6858000"/>
              <a:gd name="connsiteX928" fmla="*/ 10606469 w 12192000"/>
              <a:gd name="connsiteY928" fmla="*/ 4749673 h 6858000"/>
              <a:gd name="connsiteX929" fmla="*/ 10606469 w 12192000"/>
              <a:gd name="connsiteY929" fmla="*/ 4229100 h 6858000"/>
              <a:gd name="connsiteX930" fmla="*/ 11127169 w 12192000"/>
              <a:gd name="connsiteY930" fmla="*/ 4229100 h 6858000"/>
              <a:gd name="connsiteX931" fmla="*/ 11127169 w 12192000"/>
              <a:gd name="connsiteY931" fmla="*/ 4749800 h 6858000"/>
              <a:gd name="connsiteX932" fmla="*/ 10606469 w 12192000"/>
              <a:gd name="connsiteY932" fmla="*/ 4219575 h 6858000"/>
              <a:gd name="connsiteX933" fmla="*/ 10606469 w 12192000"/>
              <a:gd name="connsiteY933" fmla="*/ 3698875 h 6858000"/>
              <a:gd name="connsiteX934" fmla="*/ 11127169 w 12192000"/>
              <a:gd name="connsiteY934" fmla="*/ 3698875 h 6858000"/>
              <a:gd name="connsiteX935" fmla="*/ 11127169 w 12192000"/>
              <a:gd name="connsiteY935" fmla="*/ 4219575 h 6858000"/>
              <a:gd name="connsiteX936" fmla="*/ 10606469 w 12192000"/>
              <a:gd name="connsiteY936" fmla="*/ 3689477 h 6858000"/>
              <a:gd name="connsiteX937" fmla="*/ 10606469 w 12192000"/>
              <a:gd name="connsiteY937" fmla="*/ 3168650 h 6858000"/>
              <a:gd name="connsiteX938" fmla="*/ 11127169 w 12192000"/>
              <a:gd name="connsiteY938" fmla="*/ 3168650 h 6858000"/>
              <a:gd name="connsiteX939" fmla="*/ 11127169 w 12192000"/>
              <a:gd name="connsiteY939" fmla="*/ 3689350 h 6858000"/>
              <a:gd name="connsiteX940" fmla="*/ 10606469 w 12192000"/>
              <a:gd name="connsiteY940" fmla="*/ 3159379 h 6858000"/>
              <a:gd name="connsiteX941" fmla="*/ 10606469 w 12192000"/>
              <a:gd name="connsiteY941" fmla="*/ 2638679 h 6858000"/>
              <a:gd name="connsiteX942" fmla="*/ 11127169 w 12192000"/>
              <a:gd name="connsiteY942" fmla="*/ 2638679 h 6858000"/>
              <a:gd name="connsiteX943" fmla="*/ 11127169 w 12192000"/>
              <a:gd name="connsiteY943" fmla="*/ 3159379 h 6858000"/>
              <a:gd name="connsiteX944" fmla="*/ 10606469 w 12192000"/>
              <a:gd name="connsiteY944" fmla="*/ 2629281 h 6858000"/>
              <a:gd name="connsiteX945" fmla="*/ 10606469 w 12192000"/>
              <a:gd name="connsiteY945" fmla="*/ 2108581 h 6858000"/>
              <a:gd name="connsiteX946" fmla="*/ 11127169 w 12192000"/>
              <a:gd name="connsiteY946" fmla="*/ 2108581 h 6858000"/>
              <a:gd name="connsiteX947" fmla="*/ 11127169 w 12192000"/>
              <a:gd name="connsiteY947" fmla="*/ 2629281 h 6858000"/>
              <a:gd name="connsiteX948" fmla="*/ 10606469 w 12192000"/>
              <a:gd name="connsiteY948" fmla="*/ 2099247 h 6858000"/>
              <a:gd name="connsiteX949" fmla="*/ 10606469 w 12192000"/>
              <a:gd name="connsiteY949" fmla="*/ 1578547 h 6858000"/>
              <a:gd name="connsiteX950" fmla="*/ 11127169 w 12192000"/>
              <a:gd name="connsiteY950" fmla="*/ 1578547 h 6858000"/>
              <a:gd name="connsiteX951" fmla="*/ 11127169 w 12192000"/>
              <a:gd name="connsiteY951" fmla="*/ 2099247 h 6858000"/>
              <a:gd name="connsiteX952" fmla="*/ 10606469 w 12192000"/>
              <a:gd name="connsiteY952" fmla="*/ 1569149 h 6858000"/>
              <a:gd name="connsiteX953" fmla="*/ 10606469 w 12192000"/>
              <a:gd name="connsiteY953" fmla="*/ 1048449 h 6858000"/>
              <a:gd name="connsiteX954" fmla="*/ 11127169 w 12192000"/>
              <a:gd name="connsiteY954" fmla="*/ 1048449 h 6858000"/>
              <a:gd name="connsiteX955" fmla="*/ 11127169 w 12192000"/>
              <a:gd name="connsiteY955" fmla="*/ 1569149 h 6858000"/>
              <a:gd name="connsiteX956" fmla="*/ 10596944 w 12192000"/>
              <a:gd name="connsiteY956" fmla="*/ 518478 h 6858000"/>
              <a:gd name="connsiteX957" fmla="*/ 10596944 w 12192000"/>
              <a:gd name="connsiteY957" fmla="*/ 1039177 h 6858000"/>
              <a:gd name="connsiteX958" fmla="*/ 10076244 w 12192000"/>
              <a:gd name="connsiteY958" fmla="*/ 1039177 h 6858000"/>
              <a:gd name="connsiteX959" fmla="*/ 10076244 w 12192000"/>
              <a:gd name="connsiteY959" fmla="*/ 518478 h 6858000"/>
              <a:gd name="connsiteX960" fmla="*/ 10066845 w 12192000"/>
              <a:gd name="connsiteY960" fmla="*/ 518478 h 6858000"/>
              <a:gd name="connsiteX961" fmla="*/ 10066845 w 12192000"/>
              <a:gd name="connsiteY961" fmla="*/ 1039177 h 6858000"/>
              <a:gd name="connsiteX962" fmla="*/ 9546145 w 12192000"/>
              <a:gd name="connsiteY962" fmla="*/ 1039177 h 6858000"/>
              <a:gd name="connsiteX963" fmla="*/ 9546145 w 12192000"/>
              <a:gd name="connsiteY963" fmla="*/ 518478 h 6858000"/>
              <a:gd name="connsiteX964" fmla="*/ 9536747 w 12192000"/>
              <a:gd name="connsiteY964" fmla="*/ 518478 h 6858000"/>
              <a:gd name="connsiteX965" fmla="*/ 9536747 w 12192000"/>
              <a:gd name="connsiteY965" fmla="*/ 1039177 h 6858000"/>
              <a:gd name="connsiteX966" fmla="*/ 9016047 w 12192000"/>
              <a:gd name="connsiteY966" fmla="*/ 1039177 h 6858000"/>
              <a:gd name="connsiteX967" fmla="*/ 9016047 w 12192000"/>
              <a:gd name="connsiteY967" fmla="*/ 518478 h 6858000"/>
              <a:gd name="connsiteX968" fmla="*/ 9006649 w 12192000"/>
              <a:gd name="connsiteY968" fmla="*/ 518478 h 6858000"/>
              <a:gd name="connsiteX969" fmla="*/ 9006649 w 12192000"/>
              <a:gd name="connsiteY969" fmla="*/ 1039177 h 6858000"/>
              <a:gd name="connsiteX970" fmla="*/ 8485949 w 12192000"/>
              <a:gd name="connsiteY970" fmla="*/ 1039177 h 6858000"/>
              <a:gd name="connsiteX971" fmla="*/ 8485949 w 12192000"/>
              <a:gd name="connsiteY971" fmla="*/ 518478 h 6858000"/>
              <a:gd name="connsiteX972" fmla="*/ 8476552 w 12192000"/>
              <a:gd name="connsiteY972" fmla="*/ 518478 h 6858000"/>
              <a:gd name="connsiteX973" fmla="*/ 8476552 w 12192000"/>
              <a:gd name="connsiteY973" fmla="*/ 1039177 h 6858000"/>
              <a:gd name="connsiteX974" fmla="*/ 7955852 w 12192000"/>
              <a:gd name="connsiteY974" fmla="*/ 1039177 h 6858000"/>
              <a:gd name="connsiteX975" fmla="*/ 7955852 w 12192000"/>
              <a:gd name="connsiteY975" fmla="*/ 518478 h 6858000"/>
              <a:gd name="connsiteX976" fmla="*/ 7946454 w 12192000"/>
              <a:gd name="connsiteY976" fmla="*/ 518478 h 6858000"/>
              <a:gd name="connsiteX977" fmla="*/ 7946454 w 12192000"/>
              <a:gd name="connsiteY977" fmla="*/ 1039177 h 6858000"/>
              <a:gd name="connsiteX978" fmla="*/ 7425754 w 12192000"/>
              <a:gd name="connsiteY978" fmla="*/ 1039177 h 6858000"/>
              <a:gd name="connsiteX979" fmla="*/ 7425754 w 12192000"/>
              <a:gd name="connsiteY979" fmla="*/ 518478 h 6858000"/>
              <a:gd name="connsiteX980" fmla="*/ 7416419 w 12192000"/>
              <a:gd name="connsiteY980" fmla="*/ 518478 h 6858000"/>
              <a:gd name="connsiteX981" fmla="*/ 7416419 w 12192000"/>
              <a:gd name="connsiteY981" fmla="*/ 1039177 h 6858000"/>
              <a:gd name="connsiteX982" fmla="*/ 6895719 w 12192000"/>
              <a:gd name="connsiteY982" fmla="*/ 1039177 h 6858000"/>
              <a:gd name="connsiteX983" fmla="*/ 6895719 w 12192000"/>
              <a:gd name="connsiteY983" fmla="*/ 518478 h 6858000"/>
              <a:gd name="connsiteX984" fmla="*/ 6886321 w 12192000"/>
              <a:gd name="connsiteY984" fmla="*/ 518478 h 6858000"/>
              <a:gd name="connsiteX985" fmla="*/ 6886321 w 12192000"/>
              <a:gd name="connsiteY985" fmla="*/ 1039177 h 6858000"/>
              <a:gd name="connsiteX986" fmla="*/ 6365621 w 12192000"/>
              <a:gd name="connsiteY986" fmla="*/ 1039177 h 6858000"/>
              <a:gd name="connsiteX987" fmla="*/ 6365621 w 12192000"/>
              <a:gd name="connsiteY987" fmla="*/ 518478 h 6858000"/>
              <a:gd name="connsiteX988" fmla="*/ 6356223 w 12192000"/>
              <a:gd name="connsiteY988" fmla="*/ 518478 h 6858000"/>
              <a:gd name="connsiteX989" fmla="*/ 6356223 w 12192000"/>
              <a:gd name="connsiteY989" fmla="*/ 1039177 h 6858000"/>
              <a:gd name="connsiteX990" fmla="*/ 5835650 w 12192000"/>
              <a:gd name="connsiteY990" fmla="*/ 1039177 h 6858000"/>
              <a:gd name="connsiteX991" fmla="*/ 5835650 w 12192000"/>
              <a:gd name="connsiteY991" fmla="*/ 518478 h 6858000"/>
              <a:gd name="connsiteX992" fmla="*/ 5826125 w 12192000"/>
              <a:gd name="connsiteY992" fmla="*/ 518478 h 6858000"/>
              <a:gd name="connsiteX993" fmla="*/ 5826125 w 12192000"/>
              <a:gd name="connsiteY993" fmla="*/ 1039177 h 6858000"/>
              <a:gd name="connsiteX994" fmla="*/ 5305425 w 12192000"/>
              <a:gd name="connsiteY994" fmla="*/ 1039177 h 6858000"/>
              <a:gd name="connsiteX995" fmla="*/ 5305425 w 12192000"/>
              <a:gd name="connsiteY995" fmla="*/ 518478 h 6858000"/>
              <a:gd name="connsiteX996" fmla="*/ 5296027 w 12192000"/>
              <a:gd name="connsiteY996" fmla="*/ 518478 h 6858000"/>
              <a:gd name="connsiteX997" fmla="*/ 5296027 w 12192000"/>
              <a:gd name="connsiteY997" fmla="*/ 1039177 h 6858000"/>
              <a:gd name="connsiteX998" fmla="*/ 4775327 w 12192000"/>
              <a:gd name="connsiteY998" fmla="*/ 1039177 h 6858000"/>
              <a:gd name="connsiteX999" fmla="*/ 4775327 w 12192000"/>
              <a:gd name="connsiteY999" fmla="*/ 518478 h 6858000"/>
              <a:gd name="connsiteX1000" fmla="*/ 4765929 w 12192000"/>
              <a:gd name="connsiteY1000" fmla="*/ 518478 h 6858000"/>
              <a:gd name="connsiteX1001" fmla="*/ 4765929 w 12192000"/>
              <a:gd name="connsiteY1001" fmla="*/ 1039177 h 6858000"/>
              <a:gd name="connsiteX1002" fmla="*/ 4245229 w 12192000"/>
              <a:gd name="connsiteY1002" fmla="*/ 1039177 h 6858000"/>
              <a:gd name="connsiteX1003" fmla="*/ 4245229 w 12192000"/>
              <a:gd name="connsiteY1003" fmla="*/ 518478 h 6858000"/>
              <a:gd name="connsiteX1004" fmla="*/ 4235895 w 12192000"/>
              <a:gd name="connsiteY1004" fmla="*/ 518478 h 6858000"/>
              <a:gd name="connsiteX1005" fmla="*/ 4235895 w 12192000"/>
              <a:gd name="connsiteY1005" fmla="*/ 1039177 h 6858000"/>
              <a:gd name="connsiteX1006" fmla="*/ 3715195 w 12192000"/>
              <a:gd name="connsiteY1006" fmla="*/ 1039177 h 6858000"/>
              <a:gd name="connsiteX1007" fmla="*/ 3715195 w 12192000"/>
              <a:gd name="connsiteY1007" fmla="*/ 518478 h 6858000"/>
              <a:gd name="connsiteX1008" fmla="*/ 3705797 w 12192000"/>
              <a:gd name="connsiteY1008" fmla="*/ 518478 h 6858000"/>
              <a:gd name="connsiteX1009" fmla="*/ 3705797 w 12192000"/>
              <a:gd name="connsiteY1009" fmla="*/ 1039177 h 6858000"/>
              <a:gd name="connsiteX1010" fmla="*/ 3185097 w 12192000"/>
              <a:gd name="connsiteY1010" fmla="*/ 1039177 h 6858000"/>
              <a:gd name="connsiteX1011" fmla="*/ 3185097 w 12192000"/>
              <a:gd name="connsiteY1011" fmla="*/ 518478 h 6858000"/>
              <a:gd name="connsiteX1012" fmla="*/ 3175699 w 12192000"/>
              <a:gd name="connsiteY1012" fmla="*/ 518478 h 6858000"/>
              <a:gd name="connsiteX1013" fmla="*/ 3175699 w 12192000"/>
              <a:gd name="connsiteY1013" fmla="*/ 1039177 h 6858000"/>
              <a:gd name="connsiteX1014" fmla="*/ 2654999 w 12192000"/>
              <a:gd name="connsiteY1014" fmla="*/ 1039177 h 6858000"/>
              <a:gd name="connsiteX1015" fmla="*/ 2654999 w 12192000"/>
              <a:gd name="connsiteY1015" fmla="*/ 518478 h 6858000"/>
              <a:gd name="connsiteX1016" fmla="*/ 2645601 w 12192000"/>
              <a:gd name="connsiteY1016" fmla="*/ 518478 h 6858000"/>
              <a:gd name="connsiteX1017" fmla="*/ 2645601 w 12192000"/>
              <a:gd name="connsiteY1017" fmla="*/ 1039177 h 6858000"/>
              <a:gd name="connsiteX1018" fmla="*/ 2124901 w 12192000"/>
              <a:gd name="connsiteY1018" fmla="*/ 1039177 h 6858000"/>
              <a:gd name="connsiteX1019" fmla="*/ 2124901 w 12192000"/>
              <a:gd name="connsiteY1019" fmla="*/ 518478 h 6858000"/>
              <a:gd name="connsiteX1020" fmla="*/ 2115503 w 12192000"/>
              <a:gd name="connsiteY1020" fmla="*/ 518478 h 6858000"/>
              <a:gd name="connsiteX1021" fmla="*/ 2115503 w 12192000"/>
              <a:gd name="connsiteY1021" fmla="*/ 1039177 h 6858000"/>
              <a:gd name="connsiteX1022" fmla="*/ 1594803 w 12192000"/>
              <a:gd name="connsiteY1022" fmla="*/ 1039177 h 6858000"/>
              <a:gd name="connsiteX1023" fmla="*/ 1594803 w 12192000"/>
              <a:gd name="connsiteY1023" fmla="*/ 518478 h 6858000"/>
              <a:gd name="connsiteX1024" fmla="*/ 1585405 w 12192000"/>
              <a:gd name="connsiteY1024" fmla="*/ 518478 h 6858000"/>
              <a:gd name="connsiteX1025" fmla="*/ 1585405 w 12192000"/>
              <a:gd name="connsiteY1025" fmla="*/ 1039177 h 6858000"/>
              <a:gd name="connsiteX1026" fmla="*/ 1064705 w 12192000"/>
              <a:gd name="connsiteY1026" fmla="*/ 1039177 h 6858000"/>
              <a:gd name="connsiteX1027" fmla="*/ 1064705 w 12192000"/>
              <a:gd name="connsiteY1027" fmla="*/ 518478 h 6858000"/>
              <a:gd name="connsiteX1028" fmla="*/ 534797 w 12192000"/>
              <a:gd name="connsiteY1028" fmla="*/ 518478 h 6858000"/>
              <a:gd name="connsiteX1029" fmla="*/ 1055497 w 12192000"/>
              <a:gd name="connsiteY1029" fmla="*/ 518478 h 6858000"/>
              <a:gd name="connsiteX1030" fmla="*/ 1055497 w 12192000"/>
              <a:gd name="connsiteY1030" fmla="*/ 1039177 h 6858000"/>
              <a:gd name="connsiteX1031" fmla="*/ 534797 w 12192000"/>
              <a:gd name="connsiteY1031" fmla="*/ 1039177 h 6858000"/>
              <a:gd name="connsiteX1032" fmla="*/ 534797 w 12192000"/>
              <a:gd name="connsiteY1032" fmla="*/ 1048576 h 6858000"/>
              <a:gd name="connsiteX1033" fmla="*/ 1055497 w 12192000"/>
              <a:gd name="connsiteY1033" fmla="*/ 1048576 h 6858000"/>
              <a:gd name="connsiteX1034" fmla="*/ 1055497 w 12192000"/>
              <a:gd name="connsiteY1034" fmla="*/ 1569276 h 6858000"/>
              <a:gd name="connsiteX1035" fmla="*/ 534797 w 12192000"/>
              <a:gd name="connsiteY1035" fmla="*/ 1569276 h 6858000"/>
              <a:gd name="connsiteX1036" fmla="*/ 534797 w 12192000"/>
              <a:gd name="connsiteY1036" fmla="*/ 1578674 h 6858000"/>
              <a:gd name="connsiteX1037" fmla="*/ 1055497 w 12192000"/>
              <a:gd name="connsiteY1037" fmla="*/ 1578674 h 6858000"/>
              <a:gd name="connsiteX1038" fmla="*/ 1055497 w 12192000"/>
              <a:gd name="connsiteY1038" fmla="*/ 2099374 h 6858000"/>
              <a:gd name="connsiteX1039" fmla="*/ 534797 w 12192000"/>
              <a:gd name="connsiteY1039" fmla="*/ 2099374 h 6858000"/>
              <a:gd name="connsiteX1040" fmla="*/ 534797 w 12192000"/>
              <a:gd name="connsiteY1040" fmla="*/ 2108772 h 6858000"/>
              <a:gd name="connsiteX1041" fmla="*/ 1055497 w 12192000"/>
              <a:gd name="connsiteY1041" fmla="*/ 2108772 h 6858000"/>
              <a:gd name="connsiteX1042" fmla="*/ 1055497 w 12192000"/>
              <a:gd name="connsiteY1042" fmla="*/ 2629472 h 6858000"/>
              <a:gd name="connsiteX1043" fmla="*/ 534797 w 12192000"/>
              <a:gd name="connsiteY1043" fmla="*/ 2629472 h 6858000"/>
              <a:gd name="connsiteX1044" fmla="*/ 534797 w 12192000"/>
              <a:gd name="connsiteY1044" fmla="*/ 2638806 h 6858000"/>
              <a:gd name="connsiteX1045" fmla="*/ 1055497 w 12192000"/>
              <a:gd name="connsiteY1045" fmla="*/ 2638806 h 6858000"/>
              <a:gd name="connsiteX1046" fmla="*/ 1055497 w 12192000"/>
              <a:gd name="connsiteY1046" fmla="*/ 3159506 h 6858000"/>
              <a:gd name="connsiteX1047" fmla="*/ 534797 w 12192000"/>
              <a:gd name="connsiteY1047" fmla="*/ 3159506 h 6858000"/>
              <a:gd name="connsiteX1048" fmla="*/ 534797 w 12192000"/>
              <a:gd name="connsiteY1048" fmla="*/ 3168904 h 6858000"/>
              <a:gd name="connsiteX1049" fmla="*/ 1055497 w 12192000"/>
              <a:gd name="connsiteY1049" fmla="*/ 3168904 h 6858000"/>
              <a:gd name="connsiteX1050" fmla="*/ 1055497 w 12192000"/>
              <a:gd name="connsiteY1050" fmla="*/ 3689604 h 6858000"/>
              <a:gd name="connsiteX1051" fmla="*/ 534797 w 12192000"/>
              <a:gd name="connsiteY1051" fmla="*/ 3689604 h 6858000"/>
              <a:gd name="connsiteX1052" fmla="*/ 534797 w 12192000"/>
              <a:gd name="connsiteY1052" fmla="*/ 3699002 h 6858000"/>
              <a:gd name="connsiteX1053" fmla="*/ 1055497 w 12192000"/>
              <a:gd name="connsiteY1053" fmla="*/ 3699002 h 6858000"/>
              <a:gd name="connsiteX1054" fmla="*/ 1055497 w 12192000"/>
              <a:gd name="connsiteY1054" fmla="*/ 4219702 h 6858000"/>
              <a:gd name="connsiteX1055" fmla="*/ 534797 w 12192000"/>
              <a:gd name="connsiteY1055" fmla="*/ 4219702 h 6858000"/>
              <a:gd name="connsiteX1056" fmla="*/ 534797 w 12192000"/>
              <a:gd name="connsiteY1056" fmla="*/ 4229100 h 6858000"/>
              <a:gd name="connsiteX1057" fmla="*/ 1055497 w 12192000"/>
              <a:gd name="connsiteY1057" fmla="*/ 4229100 h 6858000"/>
              <a:gd name="connsiteX1058" fmla="*/ 1055497 w 12192000"/>
              <a:gd name="connsiteY1058" fmla="*/ 4749800 h 6858000"/>
              <a:gd name="connsiteX1059" fmla="*/ 534797 w 12192000"/>
              <a:gd name="connsiteY1059" fmla="*/ 4749800 h 6858000"/>
              <a:gd name="connsiteX1060" fmla="*/ 534797 w 12192000"/>
              <a:gd name="connsiteY1060" fmla="*/ 4759198 h 6858000"/>
              <a:gd name="connsiteX1061" fmla="*/ 1055497 w 12192000"/>
              <a:gd name="connsiteY1061" fmla="*/ 4759198 h 6858000"/>
              <a:gd name="connsiteX1062" fmla="*/ 1055497 w 12192000"/>
              <a:gd name="connsiteY1062" fmla="*/ 5279898 h 6858000"/>
              <a:gd name="connsiteX1063" fmla="*/ 534797 w 12192000"/>
              <a:gd name="connsiteY1063" fmla="*/ 5279898 h 6858000"/>
              <a:gd name="connsiteX1064" fmla="*/ 534797 w 12192000"/>
              <a:gd name="connsiteY1064" fmla="*/ 5289233 h 6858000"/>
              <a:gd name="connsiteX1065" fmla="*/ 1055497 w 12192000"/>
              <a:gd name="connsiteY1065" fmla="*/ 5289233 h 6858000"/>
              <a:gd name="connsiteX1066" fmla="*/ 1055497 w 12192000"/>
              <a:gd name="connsiteY1066" fmla="*/ 5809933 h 6858000"/>
              <a:gd name="connsiteX1067" fmla="*/ 534797 w 12192000"/>
              <a:gd name="connsiteY1067" fmla="*/ 5809933 h 6858000"/>
              <a:gd name="connsiteX1068" fmla="*/ 534797 w 12192000"/>
              <a:gd name="connsiteY1068" fmla="*/ 6339904 h 6858000"/>
              <a:gd name="connsiteX1069" fmla="*/ 534797 w 12192000"/>
              <a:gd name="connsiteY1069" fmla="*/ 5819204 h 6858000"/>
              <a:gd name="connsiteX1070" fmla="*/ 1055497 w 12192000"/>
              <a:gd name="connsiteY1070" fmla="*/ 5819204 h 6858000"/>
              <a:gd name="connsiteX1071" fmla="*/ 1055497 w 12192000"/>
              <a:gd name="connsiteY1071" fmla="*/ 6339904 h 6858000"/>
              <a:gd name="connsiteX1072" fmla="*/ 1064895 w 12192000"/>
              <a:gd name="connsiteY1072" fmla="*/ 6339904 h 6858000"/>
              <a:gd name="connsiteX1073" fmla="*/ 1064895 w 12192000"/>
              <a:gd name="connsiteY1073" fmla="*/ 5819204 h 6858000"/>
              <a:gd name="connsiteX1074" fmla="*/ 1585595 w 12192000"/>
              <a:gd name="connsiteY1074" fmla="*/ 5819204 h 6858000"/>
              <a:gd name="connsiteX1075" fmla="*/ 1585595 w 12192000"/>
              <a:gd name="connsiteY1075" fmla="*/ 6339904 h 6858000"/>
              <a:gd name="connsiteX1076" fmla="*/ 1594930 w 12192000"/>
              <a:gd name="connsiteY1076" fmla="*/ 6339904 h 6858000"/>
              <a:gd name="connsiteX1077" fmla="*/ 1594930 w 12192000"/>
              <a:gd name="connsiteY1077" fmla="*/ 5819204 h 6858000"/>
              <a:gd name="connsiteX1078" fmla="*/ 2115630 w 12192000"/>
              <a:gd name="connsiteY1078" fmla="*/ 5819204 h 6858000"/>
              <a:gd name="connsiteX1079" fmla="*/ 2115630 w 12192000"/>
              <a:gd name="connsiteY1079" fmla="*/ 6339904 h 6858000"/>
              <a:gd name="connsiteX1080" fmla="*/ 2125028 w 12192000"/>
              <a:gd name="connsiteY1080" fmla="*/ 6339904 h 6858000"/>
              <a:gd name="connsiteX1081" fmla="*/ 2125028 w 12192000"/>
              <a:gd name="connsiteY1081" fmla="*/ 5819204 h 6858000"/>
              <a:gd name="connsiteX1082" fmla="*/ 2645728 w 12192000"/>
              <a:gd name="connsiteY1082" fmla="*/ 5819204 h 6858000"/>
              <a:gd name="connsiteX1083" fmla="*/ 2645728 w 12192000"/>
              <a:gd name="connsiteY1083" fmla="*/ 6339904 h 6858000"/>
              <a:gd name="connsiteX1084" fmla="*/ 2655126 w 12192000"/>
              <a:gd name="connsiteY1084" fmla="*/ 6339904 h 6858000"/>
              <a:gd name="connsiteX1085" fmla="*/ 2655126 w 12192000"/>
              <a:gd name="connsiteY1085" fmla="*/ 5819204 h 6858000"/>
              <a:gd name="connsiteX1086" fmla="*/ 3175826 w 12192000"/>
              <a:gd name="connsiteY1086" fmla="*/ 5819204 h 6858000"/>
              <a:gd name="connsiteX1087" fmla="*/ 3175826 w 12192000"/>
              <a:gd name="connsiteY1087" fmla="*/ 6339904 h 6858000"/>
              <a:gd name="connsiteX1088" fmla="*/ 3185224 w 12192000"/>
              <a:gd name="connsiteY1088" fmla="*/ 6339904 h 6858000"/>
              <a:gd name="connsiteX1089" fmla="*/ 3185224 w 12192000"/>
              <a:gd name="connsiteY1089" fmla="*/ 5819204 h 6858000"/>
              <a:gd name="connsiteX1090" fmla="*/ 3705924 w 12192000"/>
              <a:gd name="connsiteY1090" fmla="*/ 5819204 h 6858000"/>
              <a:gd name="connsiteX1091" fmla="*/ 3705924 w 12192000"/>
              <a:gd name="connsiteY1091" fmla="*/ 6339904 h 6858000"/>
              <a:gd name="connsiteX1092" fmla="*/ 3715322 w 12192000"/>
              <a:gd name="connsiteY1092" fmla="*/ 6339904 h 6858000"/>
              <a:gd name="connsiteX1093" fmla="*/ 3715322 w 12192000"/>
              <a:gd name="connsiteY1093" fmla="*/ 5819204 h 6858000"/>
              <a:gd name="connsiteX1094" fmla="*/ 4236022 w 12192000"/>
              <a:gd name="connsiteY1094" fmla="*/ 5819204 h 6858000"/>
              <a:gd name="connsiteX1095" fmla="*/ 4236022 w 12192000"/>
              <a:gd name="connsiteY1095" fmla="*/ 6339904 h 6858000"/>
              <a:gd name="connsiteX1096" fmla="*/ 4245420 w 12192000"/>
              <a:gd name="connsiteY1096" fmla="*/ 6339904 h 6858000"/>
              <a:gd name="connsiteX1097" fmla="*/ 4245420 w 12192000"/>
              <a:gd name="connsiteY1097" fmla="*/ 5819204 h 6858000"/>
              <a:gd name="connsiteX1098" fmla="*/ 4766120 w 12192000"/>
              <a:gd name="connsiteY1098" fmla="*/ 5819204 h 6858000"/>
              <a:gd name="connsiteX1099" fmla="*/ 4766120 w 12192000"/>
              <a:gd name="connsiteY1099" fmla="*/ 6339904 h 6858000"/>
              <a:gd name="connsiteX1100" fmla="*/ 4775454 w 12192000"/>
              <a:gd name="connsiteY1100" fmla="*/ 6339904 h 6858000"/>
              <a:gd name="connsiteX1101" fmla="*/ 4775454 w 12192000"/>
              <a:gd name="connsiteY1101" fmla="*/ 5819204 h 6858000"/>
              <a:gd name="connsiteX1102" fmla="*/ 5296154 w 12192000"/>
              <a:gd name="connsiteY1102" fmla="*/ 5819204 h 6858000"/>
              <a:gd name="connsiteX1103" fmla="*/ 5296154 w 12192000"/>
              <a:gd name="connsiteY1103" fmla="*/ 6339904 h 6858000"/>
              <a:gd name="connsiteX1104" fmla="*/ 5305552 w 12192000"/>
              <a:gd name="connsiteY1104" fmla="*/ 6339904 h 6858000"/>
              <a:gd name="connsiteX1105" fmla="*/ 5305552 w 12192000"/>
              <a:gd name="connsiteY1105" fmla="*/ 5819204 h 6858000"/>
              <a:gd name="connsiteX1106" fmla="*/ 5826252 w 12192000"/>
              <a:gd name="connsiteY1106" fmla="*/ 5819204 h 6858000"/>
              <a:gd name="connsiteX1107" fmla="*/ 5826252 w 12192000"/>
              <a:gd name="connsiteY1107" fmla="*/ 6339904 h 6858000"/>
              <a:gd name="connsiteX1108" fmla="*/ 5835650 w 12192000"/>
              <a:gd name="connsiteY1108" fmla="*/ 6339904 h 6858000"/>
              <a:gd name="connsiteX1109" fmla="*/ 5835650 w 12192000"/>
              <a:gd name="connsiteY1109" fmla="*/ 5819204 h 6858000"/>
              <a:gd name="connsiteX1110" fmla="*/ 6356350 w 12192000"/>
              <a:gd name="connsiteY1110" fmla="*/ 5819204 h 6858000"/>
              <a:gd name="connsiteX1111" fmla="*/ 6356350 w 12192000"/>
              <a:gd name="connsiteY1111" fmla="*/ 6339904 h 6858000"/>
              <a:gd name="connsiteX1112" fmla="*/ 6365748 w 12192000"/>
              <a:gd name="connsiteY1112" fmla="*/ 6339904 h 6858000"/>
              <a:gd name="connsiteX1113" fmla="*/ 6365748 w 12192000"/>
              <a:gd name="connsiteY1113" fmla="*/ 5819204 h 6858000"/>
              <a:gd name="connsiteX1114" fmla="*/ 6886448 w 12192000"/>
              <a:gd name="connsiteY1114" fmla="*/ 5819204 h 6858000"/>
              <a:gd name="connsiteX1115" fmla="*/ 6886448 w 12192000"/>
              <a:gd name="connsiteY1115" fmla="*/ 6339904 h 6858000"/>
              <a:gd name="connsiteX1116" fmla="*/ 6895846 w 12192000"/>
              <a:gd name="connsiteY1116" fmla="*/ 6339904 h 6858000"/>
              <a:gd name="connsiteX1117" fmla="*/ 6895846 w 12192000"/>
              <a:gd name="connsiteY1117" fmla="*/ 5819204 h 6858000"/>
              <a:gd name="connsiteX1118" fmla="*/ 7416546 w 12192000"/>
              <a:gd name="connsiteY1118" fmla="*/ 5819204 h 6858000"/>
              <a:gd name="connsiteX1119" fmla="*/ 7416546 w 12192000"/>
              <a:gd name="connsiteY1119" fmla="*/ 6339904 h 6858000"/>
              <a:gd name="connsiteX1120" fmla="*/ 7425944 w 12192000"/>
              <a:gd name="connsiteY1120" fmla="*/ 6339904 h 6858000"/>
              <a:gd name="connsiteX1121" fmla="*/ 7425944 w 12192000"/>
              <a:gd name="connsiteY1121" fmla="*/ 5819204 h 6858000"/>
              <a:gd name="connsiteX1122" fmla="*/ 7946644 w 12192000"/>
              <a:gd name="connsiteY1122" fmla="*/ 5819204 h 6858000"/>
              <a:gd name="connsiteX1123" fmla="*/ 7946644 w 12192000"/>
              <a:gd name="connsiteY1123" fmla="*/ 6339904 h 6858000"/>
              <a:gd name="connsiteX1124" fmla="*/ 7955979 w 12192000"/>
              <a:gd name="connsiteY1124" fmla="*/ 6339904 h 6858000"/>
              <a:gd name="connsiteX1125" fmla="*/ 7955979 w 12192000"/>
              <a:gd name="connsiteY1125" fmla="*/ 5819204 h 6858000"/>
              <a:gd name="connsiteX1126" fmla="*/ 8476679 w 12192000"/>
              <a:gd name="connsiteY1126" fmla="*/ 5819204 h 6858000"/>
              <a:gd name="connsiteX1127" fmla="*/ 8476679 w 12192000"/>
              <a:gd name="connsiteY1127" fmla="*/ 6339904 h 6858000"/>
              <a:gd name="connsiteX1128" fmla="*/ 8486077 w 12192000"/>
              <a:gd name="connsiteY1128" fmla="*/ 6339904 h 6858000"/>
              <a:gd name="connsiteX1129" fmla="*/ 8486077 w 12192000"/>
              <a:gd name="connsiteY1129" fmla="*/ 5819204 h 6858000"/>
              <a:gd name="connsiteX1130" fmla="*/ 9006777 w 12192000"/>
              <a:gd name="connsiteY1130" fmla="*/ 5819204 h 6858000"/>
              <a:gd name="connsiteX1131" fmla="*/ 9006777 w 12192000"/>
              <a:gd name="connsiteY1131" fmla="*/ 6339904 h 6858000"/>
              <a:gd name="connsiteX1132" fmla="*/ 9016174 w 12192000"/>
              <a:gd name="connsiteY1132" fmla="*/ 6339904 h 6858000"/>
              <a:gd name="connsiteX1133" fmla="*/ 9016174 w 12192000"/>
              <a:gd name="connsiteY1133" fmla="*/ 5819204 h 6858000"/>
              <a:gd name="connsiteX1134" fmla="*/ 9536874 w 12192000"/>
              <a:gd name="connsiteY1134" fmla="*/ 5819204 h 6858000"/>
              <a:gd name="connsiteX1135" fmla="*/ 9536874 w 12192000"/>
              <a:gd name="connsiteY1135" fmla="*/ 6339904 h 6858000"/>
              <a:gd name="connsiteX1136" fmla="*/ 9546272 w 12192000"/>
              <a:gd name="connsiteY1136" fmla="*/ 6339904 h 6858000"/>
              <a:gd name="connsiteX1137" fmla="*/ 9546272 w 12192000"/>
              <a:gd name="connsiteY1137" fmla="*/ 5819204 h 6858000"/>
              <a:gd name="connsiteX1138" fmla="*/ 10066972 w 12192000"/>
              <a:gd name="connsiteY1138" fmla="*/ 5819204 h 6858000"/>
              <a:gd name="connsiteX1139" fmla="*/ 10066972 w 12192000"/>
              <a:gd name="connsiteY1139" fmla="*/ 6339904 h 6858000"/>
              <a:gd name="connsiteX1140" fmla="*/ 10076370 w 12192000"/>
              <a:gd name="connsiteY1140" fmla="*/ 6339904 h 6858000"/>
              <a:gd name="connsiteX1141" fmla="*/ 10076370 w 12192000"/>
              <a:gd name="connsiteY1141" fmla="*/ 5819204 h 6858000"/>
              <a:gd name="connsiteX1142" fmla="*/ 10597070 w 12192000"/>
              <a:gd name="connsiteY1142" fmla="*/ 5819204 h 6858000"/>
              <a:gd name="connsiteX1143" fmla="*/ 10597070 w 12192000"/>
              <a:gd name="connsiteY1143" fmla="*/ 6339904 h 6858000"/>
              <a:gd name="connsiteX1144" fmla="*/ 10606469 w 12192000"/>
              <a:gd name="connsiteY1144" fmla="*/ 6339904 h 6858000"/>
              <a:gd name="connsiteX1145" fmla="*/ 10606469 w 12192000"/>
              <a:gd name="connsiteY1145" fmla="*/ 5819204 h 6858000"/>
              <a:gd name="connsiteX1146" fmla="*/ 11127169 w 12192000"/>
              <a:gd name="connsiteY1146" fmla="*/ 5819204 h 6858000"/>
              <a:gd name="connsiteX1147" fmla="*/ 11127169 w 12192000"/>
              <a:gd name="connsiteY1147" fmla="*/ 6339904 h 6858000"/>
              <a:gd name="connsiteX1148" fmla="*/ 11657076 w 12192000"/>
              <a:gd name="connsiteY1148" fmla="*/ 6339904 h 6858000"/>
              <a:gd name="connsiteX1149" fmla="*/ 11136376 w 12192000"/>
              <a:gd name="connsiteY1149" fmla="*/ 6339904 h 6858000"/>
              <a:gd name="connsiteX1150" fmla="*/ 11136376 w 12192000"/>
              <a:gd name="connsiteY1150" fmla="*/ 5819204 h 6858000"/>
              <a:gd name="connsiteX1151" fmla="*/ 11657076 w 12192000"/>
              <a:gd name="connsiteY1151" fmla="*/ 5819204 h 6858000"/>
              <a:gd name="connsiteX1152" fmla="*/ 11657076 w 12192000"/>
              <a:gd name="connsiteY1152" fmla="*/ 5809806 h 6858000"/>
              <a:gd name="connsiteX1153" fmla="*/ 11136376 w 12192000"/>
              <a:gd name="connsiteY1153" fmla="*/ 5809806 h 6858000"/>
              <a:gd name="connsiteX1154" fmla="*/ 11136376 w 12192000"/>
              <a:gd name="connsiteY1154" fmla="*/ 5289106 h 6858000"/>
              <a:gd name="connsiteX1155" fmla="*/ 11657076 w 12192000"/>
              <a:gd name="connsiteY1155" fmla="*/ 5289106 h 6858000"/>
              <a:gd name="connsiteX1156" fmla="*/ 11657076 w 12192000"/>
              <a:gd name="connsiteY1156" fmla="*/ 5279708 h 6858000"/>
              <a:gd name="connsiteX1157" fmla="*/ 11136376 w 12192000"/>
              <a:gd name="connsiteY1157" fmla="*/ 5279708 h 6858000"/>
              <a:gd name="connsiteX1158" fmla="*/ 11136376 w 12192000"/>
              <a:gd name="connsiteY1158" fmla="*/ 4759008 h 6858000"/>
              <a:gd name="connsiteX1159" fmla="*/ 11657076 w 12192000"/>
              <a:gd name="connsiteY1159" fmla="*/ 4759008 h 6858000"/>
              <a:gd name="connsiteX1160" fmla="*/ 11657076 w 12192000"/>
              <a:gd name="connsiteY1160" fmla="*/ 4749673 h 6858000"/>
              <a:gd name="connsiteX1161" fmla="*/ 11136376 w 12192000"/>
              <a:gd name="connsiteY1161" fmla="*/ 4749673 h 6858000"/>
              <a:gd name="connsiteX1162" fmla="*/ 11136376 w 12192000"/>
              <a:gd name="connsiteY1162" fmla="*/ 4229100 h 6858000"/>
              <a:gd name="connsiteX1163" fmla="*/ 11657076 w 12192000"/>
              <a:gd name="connsiteY1163" fmla="*/ 4229100 h 6858000"/>
              <a:gd name="connsiteX1164" fmla="*/ 11657076 w 12192000"/>
              <a:gd name="connsiteY1164" fmla="*/ 4219575 h 6858000"/>
              <a:gd name="connsiteX1165" fmla="*/ 11136376 w 12192000"/>
              <a:gd name="connsiteY1165" fmla="*/ 4219575 h 6858000"/>
              <a:gd name="connsiteX1166" fmla="*/ 11136376 w 12192000"/>
              <a:gd name="connsiteY1166" fmla="*/ 3698875 h 6858000"/>
              <a:gd name="connsiteX1167" fmla="*/ 11657076 w 12192000"/>
              <a:gd name="connsiteY1167" fmla="*/ 3698875 h 6858000"/>
              <a:gd name="connsiteX1168" fmla="*/ 11657076 w 12192000"/>
              <a:gd name="connsiteY1168" fmla="*/ 3689477 h 6858000"/>
              <a:gd name="connsiteX1169" fmla="*/ 11136376 w 12192000"/>
              <a:gd name="connsiteY1169" fmla="*/ 3689477 h 6858000"/>
              <a:gd name="connsiteX1170" fmla="*/ 11136376 w 12192000"/>
              <a:gd name="connsiteY1170" fmla="*/ 3168650 h 6858000"/>
              <a:gd name="connsiteX1171" fmla="*/ 11657076 w 12192000"/>
              <a:gd name="connsiteY1171" fmla="*/ 3168650 h 6858000"/>
              <a:gd name="connsiteX1172" fmla="*/ 11657076 w 12192000"/>
              <a:gd name="connsiteY1172" fmla="*/ 3159379 h 6858000"/>
              <a:gd name="connsiteX1173" fmla="*/ 11136376 w 12192000"/>
              <a:gd name="connsiteY1173" fmla="*/ 3159379 h 6858000"/>
              <a:gd name="connsiteX1174" fmla="*/ 11136376 w 12192000"/>
              <a:gd name="connsiteY1174" fmla="*/ 2638679 h 6858000"/>
              <a:gd name="connsiteX1175" fmla="*/ 11657076 w 12192000"/>
              <a:gd name="connsiteY1175" fmla="*/ 2638679 h 6858000"/>
              <a:gd name="connsiteX1176" fmla="*/ 11657076 w 12192000"/>
              <a:gd name="connsiteY1176" fmla="*/ 2629281 h 6858000"/>
              <a:gd name="connsiteX1177" fmla="*/ 11136376 w 12192000"/>
              <a:gd name="connsiteY1177" fmla="*/ 2629281 h 6858000"/>
              <a:gd name="connsiteX1178" fmla="*/ 11136376 w 12192000"/>
              <a:gd name="connsiteY1178" fmla="*/ 2108581 h 6858000"/>
              <a:gd name="connsiteX1179" fmla="*/ 11657076 w 12192000"/>
              <a:gd name="connsiteY1179" fmla="*/ 2108581 h 6858000"/>
              <a:gd name="connsiteX1180" fmla="*/ 11657076 w 12192000"/>
              <a:gd name="connsiteY1180" fmla="*/ 2099247 h 6858000"/>
              <a:gd name="connsiteX1181" fmla="*/ 11136376 w 12192000"/>
              <a:gd name="connsiteY1181" fmla="*/ 2099247 h 6858000"/>
              <a:gd name="connsiteX1182" fmla="*/ 11136376 w 12192000"/>
              <a:gd name="connsiteY1182" fmla="*/ 1578547 h 6858000"/>
              <a:gd name="connsiteX1183" fmla="*/ 11657076 w 12192000"/>
              <a:gd name="connsiteY1183" fmla="*/ 1578547 h 6858000"/>
              <a:gd name="connsiteX1184" fmla="*/ 11657076 w 12192000"/>
              <a:gd name="connsiteY1184" fmla="*/ 1569149 h 6858000"/>
              <a:gd name="connsiteX1185" fmla="*/ 11136376 w 12192000"/>
              <a:gd name="connsiteY1185" fmla="*/ 1569149 h 6858000"/>
              <a:gd name="connsiteX1186" fmla="*/ 11136376 w 12192000"/>
              <a:gd name="connsiteY1186" fmla="*/ 1048449 h 6858000"/>
              <a:gd name="connsiteX1187" fmla="*/ 11657076 w 12192000"/>
              <a:gd name="connsiteY1187" fmla="*/ 1048449 h 6858000"/>
              <a:gd name="connsiteX1188" fmla="*/ 11657076 w 12192000"/>
              <a:gd name="connsiteY1188" fmla="*/ 1039051 h 6858000"/>
              <a:gd name="connsiteX1189" fmla="*/ 11136376 w 12192000"/>
              <a:gd name="connsiteY1189" fmla="*/ 1039051 h 6858000"/>
              <a:gd name="connsiteX1190" fmla="*/ 11136376 w 12192000"/>
              <a:gd name="connsiteY1190" fmla="*/ 518350 h 6858000"/>
              <a:gd name="connsiteX1191" fmla="*/ 11657076 w 12192000"/>
              <a:gd name="connsiteY1191" fmla="*/ 5183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Lst>
            <a:rect l="l" t="t" r="r" b="b"/>
            <a:pathLst>
              <a:path w="12192000" h="6858000">
                <a:moveTo>
                  <a:pt x="12192000" y="518287"/>
                </a:moveTo>
                <a:lnTo>
                  <a:pt x="12192000" y="508762"/>
                </a:lnTo>
                <a:lnTo>
                  <a:pt x="11666665" y="508762"/>
                </a:lnTo>
                <a:lnTo>
                  <a:pt x="11666665" y="0"/>
                </a:lnTo>
                <a:lnTo>
                  <a:pt x="11657140" y="0"/>
                </a:lnTo>
                <a:lnTo>
                  <a:pt x="11657140" y="508762"/>
                </a:lnTo>
                <a:lnTo>
                  <a:pt x="11136440" y="508762"/>
                </a:lnTo>
                <a:lnTo>
                  <a:pt x="11136440" y="0"/>
                </a:lnTo>
                <a:lnTo>
                  <a:pt x="11126915" y="0"/>
                </a:lnTo>
                <a:lnTo>
                  <a:pt x="11126915" y="508762"/>
                </a:lnTo>
                <a:lnTo>
                  <a:pt x="10606215" y="508762"/>
                </a:lnTo>
                <a:lnTo>
                  <a:pt x="10606215" y="0"/>
                </a:lnTo>
                <a:lnTo>
                  <a:pt x="10596690" y="0"/>
                </a:lnTo>
                <a:lnTo>
                  <a:pt x="10596690" y="508762"/>
                </a:lnTo>
                <a:lnTo>
                  <a:pt x="10075990" y="508762"/>
                </a:lnTo>
                <a:lnTo>
                  <a:pt x="10075990" y="0"/>
                </a:lnTo>
                <a:lnTo>
                  <a:pt x="10066465" y="0"/>
                </a:lnTo>
                <a:lnTo>
                  <a:pt x="10066465" y="508762"/>
                </a:lnTo>
                <a:lnTo>
                  <a:pt x="9545765" y="508762"/>
                </a:lnTo>
                <a:lnTo>
                  <a:pt x="9545765" y="0"/>
                </a:lnTo>
                <a:lnTo>
                  <a:pt x="9536240" y="0"/>
                </a:lnTo>
                <a:lnTo>
                  <a:pt x="9536240" y="508762"/>
                </a:lnTo>
                <a:lnTo>
                  <a:pt x="9015540" y="508762"/>
                </a:lnTo>
                <a:lnTo>
                  <a:pt x="9015540" y="0"/>
                </a:lnTo>
                <a:lnTo>
                  <a:pt x="9006015" y="0"/>
                </a:lnTo>
                <a:lnTo>
                  <a:pt x="9006015" y="508762"/>
                </a:lnTo>
                <a:lnTo>
                  <a:pt x="8485315" y="508762"/>
                </a:lnTo>
                <a:lnTo>
                  <a:pt x="8485315" y="0"/>
                </a:lnTo>
                <a:lnTo>
                  <a:pt x="8475790" y="0"/>
                </a:lnTo>
                <a:lnTo>
                  <a:pt x="8475790" y="508762"/>
                </a:lnTo>
                <a:lnTo>
                  <a:pt x="7955090" y="508762"/>
                </a:lnTo>
                <a:lnTo>
                  <a:pt x="7955090" y="0"/>
                </a:lnTo>
                <a:lnTo>
                  <a:pt x="7945565" y="0"/>
                </a:lnTo>
                <a:lnTo>
                  <a:pt x="7945565" y="508762"/>
                </a:lnTo>
                <a:lnTo>
                  <a:pt x="7424865" y="508762"/>
                </a:lnTo>
                <a:lnTo>
                  <a:pt x="7424865" y="0"/>
                </a:lnTo>
                <a:lnTo>
                  <a:pt x="7416800" y="0"/>
                </a:lnTo>
                <a:lnTo>
                  <a:pt x="7416800" y="508762"/>
                </a:lnTo>
                <a:lnTo>
                  <a:pt x="6896100" y="508762"/>
                </a:lnTo>
                <a:lnTo>
                  <a:pt x="6896100" y="0"/>
                </a:lnTo>
                <a:lnTo>
                  <a:pt x="6886575" y="0"/>
                </a:lnTo>
                <a:lnTo>
                  <a:pt x="6886575" y="508762"/>
                </a:lnTo>
                <a:lnTo>
                  <a:pt x="6365875" y="508762"/>
                </a:lnTo>
                <a:lnTo>
                  <a:pt x="6365875" y="0"/>
                </a:lnTo>
                <a:lnTo>
                  <a:pt x="6356350" y="0"/>
                </a:lnTo>
                <a:lnTo>
                  <a:pt x="6356350" y="508762"/>
                </a:lnTo>
                <a:lnTo>
                  <a:pt x="5835650" y="508762"/>
                </a:lnTo>
                <a:lnTo>
                  <a:pt x="5835650" y="0"/>
                </a:lnTo>
                <a:lnTo>
                  <a:pt x="5826125" y="0"/>
                </a:lnTo>
                <a:lnTo>
                  <a:pt x="5826125" y="508762"/>
                </a:lnTo>
                <a:lnTo>
                  <a:pt x="5305425" y="508762"/>
                </a:lnTo>
                <a:lnTo>
                  <a:pt x="5305425" y="0"/>
                </a:lnTo>
                <a:lnTo>
                  <a:pt x="5295900" y="0"/>
                </a:lnTo>
                <a:lnTo>
                  <a:pt x="5295900" y="508762"/>
                </a:lnTo>
                <a:lnTo>
                  <a:pt x="4775200" y="508762"/>
                </a:lnTo>
                <a:lnTo>
                  <a:pt x="4775200" y="0"/>
                </a:lnTo>
                <a:lnTo>
                  <a:pt x="4765675" y="0"/>
                </a:lnTo>
                <a:lnTo>
                  <a:pt x="4765675" y="508762"/>
                </a:lnTo>
                <a:lnTo>
                  <a:pt x="4244975" y="508762"/>
                </a:lnTo>
                <a:lnTo>
                  <a:pt x="4244975" y="0"/>
                </a:lnTo>
                <a:lnTo>
                  <a:pt x="4235450" y="0"/>
                </a:lnTo>
                <a:lnTo>
                  <a:pt x="4235450" y="508762"/>
                </a:lnTo>
                <a:lnTo>
                  <a:pt x="3714750" y="508762"/>
                </a:lnTo>
                <a:lnTo>
                  <a:pt x="3714750" y="0"/>
                </a:lnTo>
                <a:lnTo>
                  <a:pt x="3705225" y="0"/>
                </a:lnTo>
                <a:lnTo>
                  <a:pt x="3705225" y="508762"/>
                </a:lnTo>
                <a:lnTo>
                  <a:pt x="3184525" y="508762"/>
                </a:lnTo>
                <a:lnTo>
                  <a:pt x="3184525" y="0"/>
                </a:lnTo>
                <a:lnTo>
                  <a:pt x="3175000" y="0"/>
                </a:lnTo>
                <a:lnTo>
                  <a:pt x="3175000" y="508762"/>
                </a:lnTo>
                <a:lnTo>
                  <a:pt x="2654300" y="508762"/>
                </a:lnTo>
                <a:lnTo>
                  <a:pt x="2654300" y="0"/>
                </a:lnTo>
                <a:lnTo>
                  <a:pt x="2644775" y="0"/>
                </a:lnTo>
                <a:lnTo>
                  <a:pt x="2644775" y="508762"/>
                </a:lnTo>
                <a:lnTo>
                  <a:pt x="2124075" y="508762"/>
                </a:lnTo>
                <a:lnTo>
                  <a:pt x="2124075" y="0"/>
                </a:lnTo>
                <a:lnTo>
                  <a:pt x="2114550" y="0"/>
                </a:lnTo>
                <a:lnTo>
                  <a:pt x="2114550" y="508762"/>
                </a:lnTo>
                <a:lnTo>
                  <a:pt x="1593850" y="508762"/>
                </a:lnTo>
                <a:lnTo>
                  <a:pt x="1593850" y="0"/>
                </a:lnTo>
                <a:lnTo>
                  <a:pt x="1584325" y="0"/>
                </a:lnTo>
                <a:lnTo>
                  <a:pt x="1584325" y="508762"/>
                </a:lnTo>
                <a:lnTo>
                  <a:pt x="1063625" y="508762"/>
                </a:lnTo>
                <a:lnTo>
                  <a:pt x="1063625" y="0"/>
                </a:lnTo>
                <a:lnTo>
                  <a:pt x="1054100" y="0"/>
                </a:lnTo>
                <a:lnTo>
                  <a:pt x="1054100" y="508762"/>
                </a:lnTo>
                <a:lnTo>
                  <a:pt x="533400" y="508762"/>
                </a:lnTo>
                <a:lnTo>
                  <a:pt x="533400" y="0"/>
                </a:lnTo>
                <a:lnTo>
                  <a:pt x="523875" y="0"/>
                </a:lnTo>
                <a:lnTo>
                  <a:pt x="523875" y="508762"/>
                </a:lnTo>
                <a:lnTo>
                  <a:pt x="0" y="508762"/>
                </a:lnTo>
                <a:lnTo>
                  <a:pt x="0" y="518287"/>
                </a:lnTo>
                <a:lnTo>
                  <a:pt x="525336" y="518287"/>
                </a:lnTo>
                <a:lnTo>
                  <a:pt x="525336" y="1038987"/>
                </a:lnTo>
                <a:lnTo>
                  <a:pt x="0" y="1038987"/>
                </a:lnTo>
                <a:lnTo>
                  <a:pt x="0" y="1048512"/>
                </a:lnTo>
                <a:lnTo>
                  <a:pt x="525336" y="1048512"/>
                </a:lnTo>
                <a:lnTo>
                  <a:pt x="525336" y="1569212"/>
                </a:lnTo>
                <a:lnTo>
                  <a:pt x="0" y="1569212"/>
                </a:lnTo>
                <a:lnTo>
                  <a:pt x="0" y="1578737"/>
                </a:lnTo>
                <a:lnTo>
                  <a:pt x="525336" y="1578737"/>
                </a:lnTo>
                <a:lnTo>
                  <a:pt x="525336" y="2099437"/>
                </a:lnTo>
                <a:lnTo>
                  <a:pt x="0" y="2099437"/>
                </a:lnTo>
                <a:lnTo>
                  <a:pt x="0" y="2108962"/>
                </a:lnTo>
                <a:lnTo>
                  <a:pt x="525336" y="2108962"/>
                </a:lnTo>
                <a:lnTo>
                  <a:pt x="525336" y="2629662"/>
                </a:lnTo>
                <a:lnTo>
                  <a:pt x="0" y="2629662"/>
                </a:lnTo>
                <a:lnTo>
                  <a:pt x="0" y="2639187"/>
                </a:lnTo>
                <a:lnTo>
                  <a:pt x="525336" y="2639187"/>
                </a:lnTo>
                <a:lnTo>
                  <a:pt x="525336" y="3159887"/>
                </a:lnTo>
                <a:lnTo>
                  <a:pt x="0" y="3159887"/>
                </a:lnTo>
                <a:lnTo>
                  <a:pt x="0" y="3168650"/>
                </a:lnTo>
                <a:lnTo>
                  <a:pt x="525336" y="3168650"/>
                </a:lnTo>
                <a:lnTo>
                  <a:pt x="525336" y="3689350"/>
                </a:lnTo>
                <a:lnTo>
                  <a:pt x="0" y="3689350"/>
                </a:lnTo>
                <a:lnTo>
                  <a:pt x="0" y="3698875"/>
                </a:lnTo>
                <a:lnTo>
                  <a:pt x="525336" y="3698875"/>
                </a:lnTo>
                <a:lnTo>
                  <a:pt x="525336" y="4219575"/>
                </a:lnTo>
                <a:lnTo>
                  <a:pt x="0" y="4219575"/>
                </a:lnTo>
                <a:lnTo>
                  <a:pt x="0" y="4229100"/>
                </a:lnTo>
                <a:lnTo>
                  <a:pt x="525336" y="4229100"/>
                </a:lnTo>
                <a:lnTo>
                  <a:pt x="525336" y="4749800"/>
                </a:lnTo>
                <a:lnTo>
                  <a:pt x="0" y="4749800"/>
                </a:lnTo>
                <a:lnTo>
                  <a:pt x="0" y="4759325"/>
                </a:lnTo>
                <a:lnTo>
                  <a:pt x="525336" y="4759325"/>
                </a:lnTo>
                <a:lnTo>
                  <a:pt x="525336" y="5280025"/>
                </a:lnTo>
                <a:lnTo>
                  <a:pt x="0" y="5280025"/>
                </a:lnTo>
                <a:lnTo>
                  <a:pt x="0" y="5289550"/>
                </a:lnTo>
                <a:lnTo>
                  <a:pt x="525336" y="5289550"/>
                </a:lnTo>
                <a:lnTo>
                  <a:pt x="525336" y="5810250"/>
                </a:lnTo>
                <a:lnTo>
                  <a:pt x="0" y="5810250"/>
                </a:lnTo>
                <a:lnTo>
                  <a:pt x="0" y="5819775"/>
                </a:lnTo>
                <a:lnTo>
                  <a:pt x="525336" y="5819775"/>
                </a:lnTo>
                <a:lnTo>
                  <a:pt x="525336" y="6340475"/>
                </a:lnTo>
                <a:lnTo>
                  <a:pt x="0" y="6340475"/>
                </a:lnTo>
                <a:lnTo>
                  <a:pt x="0" y="6350000"/>
                </a:lnTo>
                <a:lnTo>
                  <a:pt x="525336" y="6350000"/>
                </a:lnTo>
                <a:lnTo>
                  <a:pt x="525336" y="6858000"/>
                </a:lnTo>
                <a:lnTo>
                  <a:pt x="534861" y="6858000"/>
                </a:lnTo>
                <a:lnTo>
                  <a:pt x="534861" y="6349238"/>
                </a:lnTo>
                <a:lnTo>
                  <a:pt x="1055561" y="6349238"/>
                </a:lnTo>
                <a:lnTo>
                  <a:pt x="1055561" y="6858000"/>
                </a:lnTo>
                <a:lnTo>
                  <a:pt x="1065086" y="6858000"/>
                </a:lnTo>
                <a:lnTo>
                  <a:pt x="1065086" y="6349238"/>
                </a:lnTo>
                <a:lnTo>
                  <a:pt x="1585786" y="6349238"/>
                </a:lnTo>
                <a:lnTo>
                  <a:pt x="1585786" y="6858000"/>
                </a:lnTo>
                <a:lnTo>
                  <a:pt x="1595311" y="6858000"/>
                </a:lnTo>
                <a:lnTo>
                  <a:pt x="1595311" y="6349238"/>
                </a:lnTo>
                <a:lnTo>
                  <a:pt x="2116011" y="6349238"/>
                </a:lnTo>
                <a:lnTo>
                  <a:pt x="2116011" y="6858000"/>
                </a:lnTo>
                <a:lnTo>
                  <a:pt x="2125536" y="6858000"/>
                </a:lnTo>
                <a:lnTo>
                  <a:pt x="2125536" y="6349238"/>
                </a:lnTo>
                <a:lnTo>
                  <a:pt x="2646236" y="6349238"/>
                </a:lnTo>
                <a:lnTo>
                  <a:pt x="2646236" y="6858000"/>
                </a:lnTo>
                <a:lnTo>
                  <a:pt x="2655761" y="6858000"/>
                </a:lnTo>
                <a:lnTo>
                  <a:pt x="2655761" y="6349238"/>
                </a:lnTo>
                <a:lnTo>
                  <a:pt x="3176461" y="6349238"/>
                </a:lnTo>
                <a:lnTo>
                  <a:pt x="3176461" y="6858000"/>
                </a:lnTo>
                <a:lnTo>
                  <a:pt x="3185986" y="6858000"/>
                </a:lnTo>
                <a:lnTo>
                  <a:pt x="3185986" y="6349238"/>
                </a:lnTo>
                <a:lnTo>
                  <a:pt x="3706686" y="6349238"/>
                </a:lnTo>
                <a:lnTo>
                  <a:pt x="3706686" y="6858000"/>
                </a:lnTo>
                <a:lnTo>
                  <a:pt x="3716211" y="6858000"/>
                </a:lnTo>
                <a:lnTo>
                  <a:pt x="3716211" y="6349238"/>
                </a:lnTo>
                <a:lnTo>
                  <a:pt x="4236911" y="6349238"/>
                </a:lnTo>
                <a:lnTo>
                  <a:pt x="4236911" y="6858000"/>
                </a:lnTo>
                <a:lnTo>
                  <a:pt x="4246436" y="6858000"/>
                </a:lnTo>
                <a:lnTo>
                  <a:pt x="4246436" y="6349238"/>
                </a:lnTo>
                <a:lnTo>
                  <a:pt x="4767136" y="6349238"/>
                </a:lnTo>
                <a:lnTo>
                  <a:pt x="4767136" y="6858000"/>
                </a:lnTo>
                <a:lnTo>
                  <a:pt x="4776661" y="6858000"/>
                </a:lnTo>
                <a:lnTo>
                  <a:pt x="4776661" y="6349238"/>
                </a:lnTo>
                <a:lnTo>
                  <a:pt x="5297361" y="6349238"/>
                </a:lnTo>
                <a:lnTo>
                  <a:pt x="5297361" y="6858000"/>
                </a:lnTo>
                <a:lnTo>
                  <a:pt x="5306886" y="6858000"/>
                </a:lnTo>
                <a:lnTo>
                  <a:pt x="5306886" y="6349238"/>
                </a:lnTo>
                <a:lnTo>
                  <a:pt x="5827586" y="6349238"/>
                </a:lnTo>
                <a:lnTo>
                  <a:pt x="5827586" y="6858000"/>
                </a:lnTo>
                <a:lnTo>
                  <a:pt x="5835650" y="6858000"/>
                </a:lnTo>
                <a:lnTo>
                  <a:pt x="5835650" y="6349238"/>
                </a:lnTo>
                <a:lnTo>
                  <a:pt x="6356350" y="6349238"/>
                </a:lnTo>
                <a:lnTo>
                  <a:pt x="6356350" y="6858000"/>
                </a:lnTo>
                <a:lnTo>
                  <a:pt x="6365875" y="6858000"/>
                </a:lnTo>
                <a:lnTo>
                  <a:pt x="6365875" y="6349238"/>
                </a:lnTo>
                <a:lnTo>
                  <a:pt x="6886575" y="6349238"/>
                </a:lnTo>
                <a:lnTo>
                  <a:pt x="6886575" y="6858000"/>
                </a:lnTo>
                <a:lnTo>
                  <a:pt x="6896100" y="6858000"/>
                </a:lnTo>
                <a:lnTo>
                  <a:pt x="6896100" y="6349238"/>
                </a:lnTo>
                <a:lnTo>
                  <a:pt x="7416800" y="6349238"/>
                </a:lnTo>
                <a:lnTo>
                  <a:pt x="7416800" y="6858000"/>
                </a:lnTo>
                <a:lnTo>
                  <a:pt x="7426325" y="6858000"/>
                </a:lnTo>
                <a:lnTo>
                  <a:pt x="7426325" y="6349238"/>
                </a:lnTo>
                <a:lnTo>
                  <a:pt x="7947025" y="6349238"/>
                </a:lnTo>
                <a:lnTo>
                  <a:pt x="7947025" y="6858000"/>
                </a:lnTo>
                <a:lnTo>
                  <a:pt x="7956550" y="6858000"/>
                </a:lnTo>
                <a:lnTo>
                  <a:pt x="7956550" y="6349238"/>
                </a:lnTo>
                <a:lnTo>
                  <a:pt x="8477250" y="6349238"/>
                </a:lnTo>
                <a:lnTo>
                  <a:pt x="8477250" y="6858000"/>
                </a:lnTo>
                <a:lnTo>
                  <a:pt x="8486775" y="6858000"/>
                </a:lnTo>
                <a:lnTo>
                  <a:pt x="8486775" y="6349238"/>
                </a:lnTo>
                <a:lnTo>
                  <a:pt x="9007475" y="6349238"/>
                </a:lnTo>
                <a:lnTo>
                  <a:pt x="9007475" y="6858000"/>
                </a:lnTo>
                <a:lnTo>
                  <a:pt x="9017000" y="6858000"/>
                </a:lnTo>
                <a:lnTo>
                  <a:pt x="9017000" y="6349238"/>
                </a:lnTo>
                <a:lnTo>
                  <a:pt x="9537700" y="6349238"/>
                </a:lnTo>
                <a:lnTo>
                  <a:pt x="9537700" y="6858000"/>
                </a:lnTo>
                <a:lnTo>
                  <a:pt x="9547225" y="6858000"/>
                </a:lnTo>
                <a:lnTo>
                  <a:pt x="9547225" y="6349238"/>
                </a:lnTo>
                <a:lnTo>
                  <a:pt x="10067925" y="6349238"/>
                </a:lnTo>
                <a:lnTo>
                  <a:pt x="10067925" y="6858000"/>
                </a:lnTo>
                <a:lnTo>
                  <a:pt x="10077450" y="6858000"/>
                </a:lnTo>
                <a:lnTo>
                  <a:pt x="10077450" y="6349238"/>
                </a:lnTo>
                <a:lnTo>
                  <a:pt x="10598150" y="6349238"/>
                </a:lnTo>
                <a:lnTo>
                  <a:pt x="10598150" y="6858000"/>
                </a:lnTo>
                <a:lnTo>
                  <a:pt x="10607675" y="6858000"/>
                </a:lnTo>
                <a:lnTo>
                  <a:pt x="10607675" y="6349238"/>
                </a:lnTo>
                <a:lnTo>
                  <a:pt x="11128375" y="6349238"/>
                </a:lnTo>
                <a:lnTo>
                  <a:pt x="11128375" y="6858000"/>
                </a:lnTo>
                <a:lnTo>
                  <a:pt x="11137900" y="6858000"/>
                </a:lnTo>
                <a:lnTo>
                  <a:pt x="11137900" y="6349238"/>
                </a:lnTo>
                <a:lnTo>
                  <a:pt x="11658600" y="6349238"/>
                </a:lnTo>
                <a:lnTo>
                  <a:pt x="11658600" y="6858000"/>
                </a:lnTo>
                <a:lnTo>
                  <a:pt x="11668125" y="6858000"/>
                </a:lnTo>
                <a:lnTo>
                  <a:pt x="11668125" y="6349238"/>
                </a:lnTo>
                <a:lnTo>
                  <a:pt x="12192000" y="6349238"/>
                </a:lnTo>
                <a:lnTo>
                  <a:pt x="12192000" y="6339713"/>
                </a:lnTo>
                <a:lnTo>
                  <a:pt x="11666665" y="6339713"/>
                </a:lnTo>
                <a:lnTo>
                  <a:pt x="11666665" y="5819013"/>
                </a:lnTo>
                <a:lnTo>
                  <a:pt x="12192000" y="5819013"/>
                </a:lnTo>
                <a:lnTo>
                  <a:pt x="12192000" y="5809488"/>
                </a:lnTo>
                <a:lnTo>
                  <a:pt x="11666665" y="5809488"/>
                </a:lnTo>
                <a:lnTo>
                  <a:pt x="11666665" y="5288788"/>
                </a:lnTo>
                <a:lnTo>
                  <a:pt x="12192000" y="5288788"/>
                </a:lnTo>
                <a:lnTo>
                  <a:pt x="12192000" y="5279263"/>
                </a:lnTo>
                <a:lnTo>
                  <a:pt x="11666665" y="5279263"/>
                </a:lnTo>
                <a:lnTo>
                  <a:pt x="11666665" y="4758563"/>
                </a:lnTo>
                <a:lnTo>
                  <a:pt x="12192000" y="4758563"/>
                </a:lnTo>
                <a:lnTo>
                  <a:pt x="12192000" y="4749800"/>
                </a:lnTo>
                <a:lnTo>
                  <a:pt x="11666665" y="4749800"/>
                </a:lnTo>
                <a:lnTo>
                  <a:pt x="11666665" y="4229100"/>
                </a:lnTo>
                <a:lnTo>
                  <a:pt x="12192000" y="4229100"/>
                </a:lnTo>
                <a:lnTo>
                  <a:pt x="12192000" y="4219575"/>
                </a:lnTo>
                <a:lnTo>
                  <a:pt x="11666665" y="4219575"/>
                </a:lnTo>
                <a:lnTo>
                  <a:pt x="11666665" y="3698875"/>
                </a:lnTo>
                <a:lnTo>
                  <a:pt x="12192000" y="3698875"/>
                </a:lnTo>
                <a:lnTo>
                  <a:pt x="12192000" y="3689350"/>
                </a:lnTo>
                <a:lnTo>
                  <a:pt x="11666665" y="3689350"/>
                </a:lnTo>
                <a:lnTo>
                  <a:pt x="11666665" y="3168650"/>
                </a:lnTo>
                <a:lnTo>
                  <a:pt x="12192000" y="3168650"/>
                </a:lnTo>
                <a:lnTo>
                  <a:pt x="12192000" y="3159125"/>
                </a:lnTo>
                <a:lnTo>
                  <a:pt x="11666665" y="3159125"/>
                </a:lnTo>
                <a:lnTo>
                  <a:pt x="11666665" y="2638425"/>
                </a:lnTo>
                <a:lnTo>
                  <a:pt x="12192000" y="2638425"/>
                </a:lnTo>
                <a:lnTo>
                  <a:pt x="12192000" y="2628900"/>
                </a:lnTo>
                <a:lnTo>
                  <a:pt x="11666665" y="2628900"/>
                </a:lnTo>
                <a:lnTo>
                  <a:pt x="11666665" y="2108200"/>
                </a:lnTo>
                <a:lnTo>
                  <a:pt x="12192000" y="2108200"/>
                </a:lnTo>
                <a:lnTo>
                  <a:pt x="12192000" y="2098675"/>
                </a:lnTo>
                <a:lnTo>
                  <a:pt x="11666665" y="2098675"/>
                </a:lnTo>
                <a:lnTo>
                  <a:pt x="11666665" y="1577975"/>
                </a:lnTo>
                <a:lnTo>
                  <a:pt x="12192000" y="1577975"/>
                </a:lnTo>
                <a:lnTo>
                  <a:pt x="12192000" y="1568450"/>
                </a:lnTo>
                <a:lnTo>
                  <a:pt x="11666665" y="1568450"/>
                </a:lnTo>
                <a:lnTo>
                  <a:pt x="11666665" y="1047750"/>
                </a:lnTo>
                <a:lnTo>
                  <a:pt x="12192000" y="1047750"/>
                </a:lnTo>
                <a:lnTo>
                  <a:pt x="12192000" y="1038225"/>
                </a:lnTo>
                <a:lnTo>
                  <a:pt x="11666665" y="1038225"/>
                </a:lnTo>
                <a:lnTo>
                  <a:pt x="11666665" y="517525"/>
                </a:lnTo>
                <a:close/>
                <a:moveTo>
                  <a:pt x="11127042" y="518287"/>
                </a:moveTo>
                <a:lnTo>
                  <a:pt x="11127042" y="1038987"/>
                </a:lnTo>
                <a:lnTo>
                  <a:pt x="10606342" y="1038987"/>
                </a:lnTo>
                <a:lnTo>
                  <a:pt x="10606342" y="518287"/>
                </a:lnTo>
                <a:close/>
                <a:moveTo>
                  <a:pt x="3715385" y="3168650"/>
                </a:moveTo>
                <a:lnTo>
                  <a:pt x="4236085" y="3168650"/>
                </a:lnTo>
                <a:lnTo>
                  <a:pt x="4236085" y="3689350"/>
                </a:lnTo>
                <a:lnTo>
                  <a:pt x="3715385" y="3689350"/>
                </a:lnTo>
                <a:close/>
                <a:moveTo>
                  <a:pt x="3705860" y="3689350"/>
                </a:moveTo>
                <a:lnTo>
                  <a:pt x="3185160" y="3689350"/>
                </a:lnTo>
                <a:lnTo>
                  <a:pt x="3185160" y="3168650"/>
                </a:lnTo>
                <a:lnTo>
                  <a:pt x="3705860" y="3168650"/>
                </a:lnTo>
                <a:close/>
                <a:moveTo>
                  <a:pt x="4245610" y="3168650"/>
                </a:moveTo>
                <a:lnTo>
                  <a:pt x="4766310" y="3168650"/>
                </a:lnTo>
                <a:lnTo>
                  <a:pt x="4766310" y="3689350"/>
                </a:lnTo>
                <a:lnTo>
                  <a:pt x="4245610" y="3689350"/>
                </a:lnTo>
                <a:close/>
                <a:moveTo>
                  <a:pt x="4775645" y="3168650"/>
                </a:moveTo>
                <a:lnTo>
                  <a:pt x="5296345" y="3168650"/>
                </a:lnTo>
                <a:lnTo>
                  <a:pt x="5296345" y="3689350"/>
                </a:lnTo>
                <a:lnTo>
                  <a:pt x="4775645" y="3689350"/>
                </a:lnTo>
                <a:close/>
                <a:moveTo>
                  <a:pt x="5305743" y="3168650"/>
                </a:moveTo>
                <a:lnTo>
                  <a:pt x="5826443" y="3168650"/>
                </a:lnTo>
                <a:lnTo>
                  <a:pt x="5826443" y="3689350"/>
                </a:lnTo>
                <a:lnTo>
                  <a:pt x="5305743" y="3689350"/>
                </a:lnTo>
                <a:close/>
                <a:moveTo>
                  <a:pt x="5835650" y="3168650"/>
                </a:moveTo>
                <a:lnTo>
                  <a:pt x="6356350" y="3168650"/>
                </a:lnTo>
                <a:lnTo>
                  <a:pt x="6356350" y="3689350"/>
                </a:lnTo>
                <a:lnTo>
                  <a:pt x="5835650" y="3689350"/>
                </a:lnTo>
                <a:close/>
                <a:moveTo>
                  <a:pt x="6365748" y="3168650"/>
                </a:moveTo>
                <a:lnTo>
                  <a:pt x="6886448" y="3168650"/>
                </a:lnTo>
                <a:lnTo>
                  <a:pt x="6886448" y="3689350"/>
                </a:lnTo>
                <a:lnTo>
                  <a:pt x="6365748" y="3689350"/>
                </a:lnTo>
                <a:close/>
                <a:moveTo>
                  <a:pt x="6895846" y="3168650"/>
                </a:moveTo>
                <a:lnTo>
                  <a:pt x="7416546" y="3168650"/>
                </a:lnTo>
                <a:lnTo>
                  <a:pt x="7416546" y="3689350"/>
                </a:lnTo>
                <a:lnTo>
                  <a:pt x="6895846" y="3689350"/>
                </a:lnTo>
                <a:close/>
                <a:moveTo>
                  <a:pt x="7425944" y="3168650"/>
                </a:moveTo>
                <a:lnTo>
                  <a:pt x="7946644" y="3168650"/>
                </a:lnTo>
                <a:lnTo>
                  <a:pt x="7946644" y="3689350"/>
                </a:lnTo>
                <a:lnTo>
                  <a:pt x="7425944" y="3689350"/>
                </a:lnTo>
                <a:close/>
                <a:moveTo>
                  <a:pt x="7955979" y="3168650"/>
                </a:moveTo>
                <a:lnTo>
                  <a:pt x="8476679" y="3168650"/>
                </a:lnTo>
                <a:lnTo>
                  <a:pt x="8476679" y="3689350"/>
                </a:lnTo>
                <a:lnTo>
                  <a:pt x="7955979" y="3689350"/>
                </a:lnTo>
                <a:close/>
                <a:moveTo>
                  <a:pt x="8486077" y="3168650"/>
                </a:moveTo>
                <a:lnTo>
                  <a:pt x="9006777" y="3168650"/>
                </a:lnTo>
                <a:lnTo>
                  <a:pt x="9006777" y="3689350"/>
                </a:lnTo>
                <a:lnTo>
                  <a:pt x="8486077" y="3689350"/>
                </a:lnTo>
                <a:close/>
                <a:moveTo>
                  <a:pt x="8486077" y="3159125"/>
                </a:moveTo>
                <a:lnTo>
                  <a:pt x="8486077" y="2638425"/>
                </a:lnTo>
                <a:lnTo>
                  <a:pt x="9006777" y="2638425"/>
                </a:lnTo>
                <a:lnTo>
                  <a:pt x="9006777" y="3159125"/>
                </a:lnTo>
                <a:close/>
                <a:moveTo>
                  <a:pt x="8476552" y="3159125"/>
                </a:moveTo>
                <a:lnTo>
                  <a:pt x="7955852" y="3159125"/>
                </a:lnTo>
                <a:lnTo>
                  <a:pt x="7955852" y="2638425"/>
                </a:lnTo>
                <a:lnTo>
                  <a:pt x="8476552" y="2638425"/>
                </a:lnTo>
                <a:close/>
                <a:moveTo>
                  <a:pt x="7946454" y="3159125"/>
                </a:moveTo>
                <a:lnTo>
                  <a:pt x="7425754" y="3159125"/>
                </a:lnTo>
                <a:lnTo>
                  <a:pt x="7425754" y="2638425"/>
                </a:lnTo>
                <a:lnTo>
                  <a:pt x="7946454" y="2638425"/>
                </a:lnTo>
                <a:close/>
                <a:moveTo>
                  <a:pt x="7416419" y="3159125"/>
                </a:moveTo>
                <a:lnTo>
                  <a:pt x="6895719" y="3159125"/>
                </a:lnTo>
                <a:lnTo>
                  <a:pt x="6895719" y="2638425"/>
                </a:lnTo>
                <a:lnTo>
                  <a:pt x="7416419" y="2638425"/>
                </a:lnTo>
                <a:close/>
                <a:moveTo>
                  <a:pt x="6886321" y="3159125"/>
                </a:moveTo>
                <a:lnTo>
                  <a:pt x="6365621" y="3159125"/>
                </a:lnTo>
                <a:lnTo>
                  <a:pt x="6365621" y="2638425"/>
                </a:lnTo>
                <a:lnTo>
                  <a:pt x="6886321" y="2638425"/>
                </a:lnTo>
                <a:close/>
                <a:moveTo>
                  <a:pt x="6356223" y="3159125"/>
                </a:moveTo>
                <a:lnTo>
                  <a:pt x="5835650" y="3159125"/>
                </a:lnTo>
                <a:lnTo>
                  <a:pt x="5835650" y="2638425"/>
                </a:lnTo>
                <a:lnTo>
                  <a:pt x="6356350" y="2638425"/>
                </a:lnTo>
                <a:close/>
                <a:moveTo>
                  <a:pt x="5826125" y="3159125"/>
                </a:moveTo>
                <a:lnTo>
                  <a:pt x="5305425" y="3159125"/>
                </a:lnTo>
                <a:lnTo>
                  <a:pt x="5305425" y="2638425"/>
                </a:lnTo>
                <a:lnTo>
                  <a:pt x="5826125" y="2638425"/>
                </a:lnTo>
                <a:close/>
                <a:moveTo>
                  <a:pt x="5296027" y="3159125"/>
                </a:moveTo>
                <a:lnTo>
                  <a:pt x="4775327" y="3159125"/>
                </a:lnTo>
                <a:lnTo>
                  <a:pt x="4775327" y="2638425"/>
                </a:lnTo>
                <a:lnTo>
                  <a:pt x="5296027" y="2638425"/>
                </a:lnTo>
                <a:close/>
                <a:moveTo>
                  <a:pt x="4765929" y="3159125"/>
                </a:moveTo>
                <a:lnTo>
                  <a:pt x="4245229" y="3159125"/>
                </a:lnTo>
                <a:lnTo>
                  <a:pt x="4245229" y="2638425"/>
                </a:lnTo>
                <a:lnTo>
                  <a:pt x="4765929" y="2638425"/>
                </a:lnTo>
                <a:close/>
                <a:moveTo>
                  <a:pt x="4235895" y="3159125"/>
                </a:moveTo>
                <a:lnTo>
                  <a:pt x="3715195" y="3159125"/>
                </a:lnTo>
                <a:lnTo>
                  <a:pt x="3715195" y="2638425"/>
                </a:lnTo>
                <a:lnTo>
                  <a:pt x="4235895" y="2638425"/>
                </a:lnTo>
                <a:close/>
                <a:moveTo>
                  <a:pt x="3705797" y="3159125"/>
                </a:moveTo>
                <a:lnTo>
                  <a:pt x="3185097" y="3159125"/>
                </a:lnTo>
                <a:lnTo>
                  <a:pt x="3185097" y="2638425"/>
                </a:lnTo>
                <a:lnTo>
                  <a:pt x="3705797" y="2638425"/>
                </a:lnTo>
                <a:close/>
                <a:moveTo>
                  <a:pt x="3175699" y="3159125"/>
                </a:moveTo>
                <a:lnTo>
                  <a:pt x="2654999" y="3159125"/>
                </a:lnTo>
                <a:lnTo>
                  <a:pt x="2654999" y="2638425"/>
                </a:lnTo>
                <a:lnTo>
                  <a:pt x="3175699" y="2638425"/>
                </a:lnTo>
                <a:close/>
                <a:moveTo>
                  <a:pt x="3175699" y="3168650"/>
                </a:moveTo>
                <a:lnTo>
                  <a:pt x="3175699" y="3689350"/>
                </a:lnTo>
                <a:lnTo>
                  <a:pt x="2654999" y="3689350"/>
                </a:lnTo>
                <a:lnTo>
                  <a:pt x="2654999" y="3168650"/>
                </a:lnTo>
                <a:close/>
                <a:moveTo>
                  <a:pt x="3175699" y="3698748"/>
                </a:moveTo>
                <a:lnTo>
                  <a:pt x="3175699" y="4219448"/>
                </a:lnTo>
                <a:lnTo>
                  <a:pt x="2654999" y="4219448"/>
                </a:lnTo>
                <a:lnTo>
                  <a:pt x="2654999" y="3698748"/>
                </a:lnTo>
                <a:close/>
                <a:moveTo>
                  <a:pt x="3185224" y="3698748"/>
                </a:moveTo>
                <a:lnTo>
                  <a:pt x="3705924" y="3698748"/>
                </a:lnTo>
                <a:lnTo>
                  <a:pt x="3705924" y="4219448"/>
                </a:lnTo>
                <a:lnTo>
                  <a:pt x="3185224" y="4219448"/>
                </a:lnTo>
                <a:close/>
                <a:moveTo>
                  <a:pt x="3715322" y="3698748"/>
                </a:moveTo>
                <a:lnTo>
                  <a:pt x="4236022" y="3698748"/>
                </a:lnTo>
                <a:lnTo>
                  <a:pt x="4236022" y="4219448"/>
                </a:lnTo>
                <a:lnTo>
                  <a:pt x="3715322" y="4219448"/>
                </a:lnTo>
                <a:close/>
                <a:moveTo>
                  <a:pt x="4245420" y="3698748"/>
                </a:moveTo>
                <a:lnTo>
                  <a:pt x="4766120" y="3698748"/>
                </a:lnTo>
                <a:lnTo>
                  <a:pt x="4766120" y="4219448"/>
                </a:lnTo>
                <a:lnTo>
                  <a:pt x="4245420" y="4219448"/>
                </a:lnTo>
                <a:close/>
                <a:moveTo>
                  <a:pt x="4775454" y="3698748"/>
                </a:moveTo>
                <a:lnTo>
                  <a:pt x="5296154" y="3698748"/>
                </a:lnTo>
                <a:lnTo>
                  <a:pt x="5296154" y="4219448"/>
                </a:lnTo>
                <a:lnTo>
                  <a:pt x="4775454" y="4219448"/>
                </a:lnTo>
                <a:close/>
                <a:moveTo>
                  <a:pt x="5305552" y="3698748"/>
                </a:moveTo>
                <a:lnTo>
                  <a:pt x="5826252" y="3698748"/>
                </a:lnTo>
                <a:lnTo>
                  <a:pt x="5826252" y="4219448"/>
                </a:lnTo>
                <a:lnTo>
                  <a:pt x="5305552" y="4219448"/>
                </a:lnTo>
                <a:close/>
                <a:moveTo>
                  <a:pt x="5835650" y="3698748"/>
                </a:moveTo>
                <a:lnTo>
                  <a:pt x="6356350" y="3698748"/>
                </a:lnTo>
                <a:lnTo>
                  <a:pt x="6356350" y="4219448"/>
                </a:lnTo>
                <a:lnTo>
                  <a:pt x="5835650" y="4219448"/>
                </a:lnTo>
                <a:close/>
                <a:moveTo>
                  <a:pt x="6365748" y="3698748"/>
                </a:moveTo>
                <a:lnTo>
                  <a:pt x="6886448" y="3698748"/>
                </a:lnTo>
                <a:lnTo>
                  <a:pt x="6886448" y="4219448"/>
                </a:lnTo>
                <a:lnTo>
                  <a:pt x="6365748" y="4219448"/>
                </a:lnTo>
                <a:close/>
                <a:moveTo>
                  <a:pt x="6895846" y="3698748"/>
                </a:moveTo>
                <a:lnTo>
                  <a:pt x="7416546" y="3698748"/>
                </a:lnTo>
                <a:lnTo>
                  <a:pt x="7416546" y="4219448"/>
                </a:lnTo>
                <a:lnTo>
                  <a:pt x="6895846" y="4219448"/>
                </a:lnTo>
                <a:close/>
                <a:moveTo>
                  <a:pt x="7425944" y="3698748"/>
                </a:moveTo>
                <a:lnTo>
                  <a:pt x="7946644" y="3698748"/>
                </a:lnTo>
                <a:lnTo>
                  <a:pt x="7946644" y="4219448"/>
                </a:lnTo>
                <a:lnTo>
                  <a:pt x="7425944" y="4219448"/>
                </a:lnTo>
                <a:close/>
                <a:moveTo>
                  <a:pt x="7955979" y="3698748"/>
                </a:moveTo>
                <a:lnTo>
                  <a:pt x="8476679" y="3698748"/>
                </a:lnTo>
                <a:lnTo>
                  <a:pt x="8476679" y="4219448"/>
                </a:lnTo>
                <a:lnTo>
                  <a:pt x="7955979" y="4219448"/>
                </a:lnTo>
                <a:close/>
                <a:moveTo>
                  <a:pt x="8486077" y="3698748"/>
                </a:moveTo>
                <a:lnTo>
                  <a:pt x="9006777" y="3698748"/>
                </a:lnTo>
                <a:lnTo>
                  <a:pt x="9006777" y="4219448"/>
                </a:lnTo>
                <a:lnTo>
                  <a:pt x="8486077" y="4219448"/>
                </a:lnTo>
                <a:close/>
                <a:moveTo>
                  <a:pt x="9016174" y="3698748"/>
                </a:moveTo>
                <a:lnTo>
                  <a:pt x="9536874" y="3698748"/>
                </a:lnTo>
                <a:lnTo>
                  <a:pt x="9536874" y="4219448"/>
                </a:lnTo>
                <a:lnTo>
                  <a:pt x="9016174" y="4219448"/>
                </a:lnTo>
                <a:close/>
                <a:moveTo>
                  <a:pt x="9016174" y="3689223"/>
                </a:moveTo>
                <a:lnTo>
                  <a:pt x="9016174" y="3168650"/>
                </a:lnTo>
                <a:lnTo>
                  <a:pt x="9536874" y="3168650"/>
                </a:lnTo>
                <a:lnTo>
                  <a:pt x="9536874" y="3689350"/>
                </a:lnTo>
                <a:close/>
                <a:moveTo>
                  <a:pt x="9016174" y="3159125"/>
                </a:moveTo>
                <a:lnTo>
                  <a:pt x="9016174" y="2638425"/>
                </a:lnTo>
                <a:lnTo>
                  <a:pt x="9536874" y="2638425"/>
                </a:lnTo>
                <a:lnTo>
                  <a:pt x="9536874" y="3159125"/>
                </a:lnTo>
                <a:close/>
                <a:moveTo>
                  <a:pt x="9016174" y="2629027"/>
                </a:moveTo>
                <a:lnTo>
                  <a:pt x="9016174" y="2108327"/>
                </a:lnTo>
                <a:lnTo>
                  <a:pt x="9536874" y="2108327"/>
                </a:lnTo>
                <a:lnTo>
                  <a:pt x="9536874" y="2629027"/>
                </a:lnTo>
                <a:close/>
                <a:moveTo>
                  <a:pt x="9006649" y="2629027"/>
                </a:moveTo>
                <a:lnTo>
                  <a:pt x="8485949" y="2629027"/>
                </a:lnTo>
                <a:lnTo>
                  <a:pt x="8485949" y="2108327"/>
                </a:lnTo>
                <a:lnTo>
                  <a:pt x="9006649" y="2108327"/>
                </a:lnTo>
                <a:close/>
                <a:moveTo>
                  <a:pt x="8476552" y="2629027"/>
                </a:moveTo>
                <a:lnTo>
                  <a:pt x="7955852" y="2629027"/>
                </a:lnTo>
                <a:lnTo>
                  <a:pt x="7955852" y="2108327"/>
                </a:lnTo>
                <a:lnTo>
                  <a:pt x="8476552" y="2108327"/>
                </a:lnTo>
                <a:close/>
                <a:moveTo>
                  <a:pt x="7946454" y="2629027"/>
                </a:moveTo>
                <a:lnTo>
                  <a:pt x="7425754" y="2629027"/>
                </a:lnTo>
                <a:lnTo>
                  <a:pt x="7425754" y="2108327"/>
                </a:lnTo>
                <a:lnTo>
                  <a:pt x="7946454" y="2108327"/>
                </a:lnTo>
                <a:close/>
                <a:moveTo>
                  <a:pt x="7416800" y="2628900"/>
                </a:moveTo>
                <a:lnTo>
                  <a:pt x="6896100" y="2628900"/>
                </a:lnTo>
                <a:lnTo>
                  <a:pt x="6896100" y="2108200"/>
                </a:lnTo>
                <a:lnTo>
                  <a:pt x="7416800" y="2108200"/>
                </a:lnTo>
                <a:close/>
                <a:moveTo>
                  <a:pt x="6886702" y="2628900"/>
                </a:moveTo>
                <a:lnTo>
                  <a:pt x="6366002" y="2628900"/>
                </a:lnTo>
                <a:lnTo>
                  <a:pt x="6366002" y="2108200"/>
                </a:lnTo>
                <a:lnTo>
                  <a:pt x="6886702" y="2108200"/>
                </a:lnTo>
                <a:close/>
                <a:moveTo>
                  <a:pt x="6356350" y="2628900"/>
                </a:moveTo>
                <a:lnTo>
                  <a:pt x="5835650" y="2628900"/>
                </a:lnTo>
                <a:lnTo>
                  <a:pt x="5835650" y="2108200"/>
                </a:lnTo>
                <a:lnTo>
                  <a:pt x="6356350" y="2108200"/>
                </a:lnTo>
                <a:close/>
                <a:moveTo>
                  <a:pt x="5826252" y="2628900"/>
                </a:moveTo>
                <a:lnTo>
                  <a:pt x="5305552" y="2628900"/>
                </a:lnTo>
                <a:lnTo>
                  <a:pt x="5305552" y="2108200"/>
                </a:lnTo>
                <a:lnTo>
                  <a:pt x="5826252" y="2108200"/>
                </a:lnTo>
                <a:close/>
                <a:moveTo>
                  <a:pt x="5295900" y="2628900"/>
                </a:moveTo>
                <a:lnTo>
                  <a:pt x="4775200" y="2628900"/>
                </a:lnTo>
                <a:lnTo>
                  <a:pt x="4775200" y="2108200"/>
                </a:lnTo>
                <a:lnTo>
                  <a:pt x="5295900" y="2108200"/>
                </a:lnTo>
                <a:close/>
                <a:moveTo>
                  <a:pt x="4765802" y="2628900"/>
                </a:moveTo>
                <a:lnTo>
                  <a:pt x="4245102" y="2628900"/>
                </a:lnTo>
                <a:lnTo>
                  <a:pt x="4245102" y="2108200"/>
                </a:lnTo>
                <a:lnTo>
                  <a:pt x="4765802" y="2108200"/>
                </a:lnTo>
                <a:close/>
                <a:moveTo>
                  <a:pt x="4235768" y="2628900"/>
                </a:moveTo>
                <a:lnTo>
                  <a:pt x="3715068" y="2628900"/>
                </a:lnTo>
                <a:lnTo>
                  <a:pt x="3715068" y="2108200"/>
                </a:lnTo>
                <a:lnTo>
                  <a:pt x="4235768" y="2108200"/>
                </a:lnTo>
                <a:close/>
                <a:moveTo>
                  <a:pt x="3705670" y="2628900"/>
                </a:moveTo>
                <a:lnTo>
                  <a:pt x="3184970" y="2628900"/>
                </a:lnTo>
                <a:lnTo>
                  <a:pt x="3184970" y="2108200"/>
                </a:lnTo>
                <a:lnTo>
                  <a:pt x="3705670" y="2108200"/>
                </a:lnTo>
                <a:close/>
                <a:moveTo>
                  <a:pt x="3175572" y="2628900"/>
                </a:moveTo>
                <a:lnTo>
                  <a:pt x="2654872" y="2628900"/>
                </a:lnTo>
                <a:lnTo>
                  <a:pt x="2654872" y="2108200"/>
                </a:lnTo>
                <a:lnTo>
                  <a:pt x="3175572" y="2108200"/>
                </a:lnTo>
                <a:close/>
                <a:moveTo>
                  <a:pt x="2645474" y="2628900"/>
                </a:moveTo>
                <a:lnTo>
                  <a:pt x="2124774" y="2628900"/>
                </a:lnTo>
                <a:lnTo>
                  <a:pt x="2124774" y="2108200"/>
                </a:lnTo>
                <a:lnTo>
                  <a:pt x="2645474" y="2108200"/>
                </a:lnTo>
                <a:close/>
                <a:moveTo>
                  <a:pt x="2645474" y="2638425"/>
                </a:moveTo>
                <a:lnTo>
                  <a:pt x="2645474" y="3159125"/>
                </a:lnTo>
                <a:lnTo>
                  <a:pt x="2124774" y="3159125"/>
                </a:lnTo>
                <a:lnTo>
                  <a:pt x="2124774" y="2638425"/>
                </a:lnTo>
                <a:close/>
                <a:moveTo>
                  <a:pt x="2645474" y="3168523"/>
                </a:moveTo>
                <a:lnTo>
                  <a:pt x="2645474" y="3689223"/>
                </a:lnTo>
                <a:lnTo>
                  <a:pt x="2124774" y="3689223"/>
                </a:lnTo>
                <a:lnTo>
                  <a:pt x="2124774" y="3168650"/>
                </a:lnTo>
                <a:close/>
                <a:moveTo>
                  <a:pt x="2645474" y="3698621"/>
                </a:moveTo>
                <a:lnTo>
                  <a:pt x="2645474" y="4219321"/>
                </a:lnTo>
                <a:lnTo>
                  <a:pt x="2124774" y="4219321"/>
                </a:lnTo>
                <a:lnTo>
                  <a:pt x="2124774" y="3698621"/>
                </a:lnTo>
                <a:close/>
                <a:moveTo>
                  <a:pt x="2645474" y="4228719"/>
                </a:moveTo>
                <a:lnTo>
                  <a:pt x="2645474" y="4749419"/>
                </a:lnTo>
                <a:lnTo>
                  <a:pt x="2124774" y="4749419"/>
                </a:lnTo>
                <a:lnTo>
                  <a:pt x="2124774" y="4229100"/>
                </a:lnTo>
                <a:close/>
                <a:moveTo>
                  <a:pt x="2654999" y="4228719"/>
                </a:moveTo>
                <a:lnTo>
                  <a:pt x="3175699" y="4228719"/>
                </a:lnTo>
                <a:lnTo>
                  <a:pt x="3175699" y="4749419"/>
                </a:lnTo>
                <a:lnTo>
                  <a:pt x="2654999" y="4749419"/>
                </a:lnTo>
                <a:close/>
                <a:moveTo>
                  <a:pt x="3185097" y="4228719"/>
                </a:moveTo>
                <a:lnTo>
                  <a:pt x="3705797" y="4228719"/>
                </a:lnTo>
                <a:lnTo>
                  <a:pt x="3705797" y="4749419"/>
                </a:lnTo>
                <a:lnTo>
                  <a:pt x="3185097" y="4749419"/>
                </a:lnTo>
                <a:close/>
                <a:moveTo>
                  <a:pt x="3715195" y="4228719"/>
                </a:moveTo>
                <a:lnTo>
                  <a:pt x="4235895" y="4228719"/>
                </a:lnTo>
                <a:lnTo>
                  <a:pt x="4235895" y="4749419"/>
                </a:lnTo>
                <a:lnTo>
                  <a:pt x="3715195" y="4749419"/>
                </a:lnTo>
                <a:close/>
                <a:moveTo>
                  <a:pt x="4245293" y="4228719"/>
                </a:moveTo>
                <a:lnTo>
                  <a:pt x="4765993" y="4228719"/>
                </a:lnTo>
                <a:lnTo>
                  <a:pt x="4765993" y="4749419"/>
                </a:lnTo>
                <a:lnTo>
                  <a:pt x="4245293" y="4749419"/>
                </a:lnTo>
                <a:close/>
                <a:moveTo>
                  <a:pt x="4775327" y="4228719"/>
                </a:moveTo>
                <a:lnTo>
                  <a:pt x="5296027" y="4228719"/>
                </a:lnTo>
                <a:lnTo>
                  <a:pt x="5296027" y="4749419"/>
                </a:lnTo>
                <a:lnTo>
                  <a:pt x="4775327" y="4749419"/>
                </a:lnTo>
                <a:close/>
                <a:moveTo>
                  <a:pt x="5305425" y="4228719"/>
                </a:moveTo>
                <a:lnTo>
                  <a:pt x="5826125" y="4228719"/>
                </a:lnTo>
                <a:lnTo>
                  <a:pt x="5826125" y="4749419"/>
                </a:lnTo>
                <a:lnTo>
                  <a:pt x="5305425" y="4749419"/>
                </a:lnTo>
                <a:close/>
                <a:moveTo>
                  <a:pt x="5835650" y="4229100"/>
                </a:moveTo>
                <a:lnTo>
                  <a:pt x="6356350" y="4229100"/>
                </a:lnTo>
                <a:lnTo>
                  <a:pt x="6356350" y="4749800"/>
                </a:lnTo>
                <a:lnTo>
                  <a:pt x="5835650" y="4749800"/>
                </a:lnTo>
                <a:close/>
                <a:moveTo>
                  <a:pt x="6365748" y="4229100"/>
                </a:moveTo>
                <a:lnTo>
                  <a:pt x="6886448" y="4229100"/>
                </a:lnTo>
                <a:lnTo>
                  <a:pt x="6886448" y="4749800"/>
                </a:lnTo>
                <a:lnTo>
                  <a:pt x="6365748" y="4749800"/>
                </a:lnTo>
                <a:close/>
                <a:moveTo>
                  <a:pt x="6895846" y="4229100"/>
                </a:moveTo>
                <a:lnTo>
                  <a:pt x="7416546" y="4229100"/>
                </a:lnTo>
                <a:lnTo>
                  <a:pt x="7416546" y="4749800"/>
                </a:lnTo>
                <a:lnTo>
                  <a:pt x="6895846" y="4749800"/>
                </a:lnTo>
                <a:close/>
                <a:moveTo>
                  <a:pt x="7425944" y="4229100"/>
                </a:moveTo>
                <a:lnTo>
                  <a:pt x="7946644" y="4229100"/>
                </a:lnTo>
                <a:lnTo>
                  <a:pt x="7946644" y="4749800"/>
                </a:lnTo>
                <a:lnTo>
                  <a:pt x="7425944" y="4749800"/>
                </a:lnTo>
                <a:close/>
                <a:moveTo>
                  <a:pt x="7955979" y="4229100"/>
                </a:moveTo>
                <a:lnTo>
                  <a:pt x="8476679" y="4229100"/>
                </a:lnTo>
                <a:lnTo>
                  <a:pt x="8476679" y="4749800"/>
                </a:lnTo>
                <a:lnTo>
                  <a:pt x="7955979" y="4749800"/>
                </a:lnTo>
                <a:close/>
                <a:moveTo>
                  <a:pt x="8486077" y="4229100"/>
                </a:moveTo>
                <a:lnTo>
                  <a:pt x="9006777" y="4229100"/>
                </a:lnTo>
                <a:lnTo>
                  <a:pt x="9006777" y="4749800"/>
                </a:lnTo>
                <a:lnTo>
                  <a:pt x="8486077" y="4749800"/>
                </a:lnTo>
                <a:close/>
                <a:moveTo>
                  <a:pt x="9016174" y="4229100"/>
                </a:moveTo>
                <a:lnTo>
                  <a:pt x="9536874" y="4229100"/>
                </a:lnTo>
                <a:lnTo>
                  <a:pt x="9536874" y="4749800"/>
                </a:lnTo>
                <a:lnTo>
                  <a:pt x="9016174" y="4749800"/>
                </a:lnTo>
                <a:close/>
                <a:moveTo>
                  <a:pt x="9546272" y="4229100"/>
                </a:moveTo>
                <a:lnTo>
                  <a:pt x="10066972" y="4229100"/>
                </a:lnTo>
                <a:lnTo>
                  <a:pt x="10066972" y="4749800"/>
                </a:lnTo>
                <a:lnTo>
                  <a:pt x="9546272" y="4749800"/>
                </a:lnTo>
                <a:close/>
                <a:moveTo>
                  <a:pt x="9546272" y="4219575"/>
                </a:moveTo>
                <a:lnTo>
                  <a:pt x="9546272" y="3698875"/>
                </a:lnTo>
                <a:lnTo>
                  <a:pt x="10066972" y="3698875"/>
                </a:lnTo>
                <a:lnTo>
                  <a:pt x="10066972" y="4219575"/>
                </a:lnTo>
                <a:close/>
                <a:moveTo>
                  <a:pt x="9546272" y="3689477"/>
                </a:moveTo>
                <a:lnTo>
                  <a:pt x="9546272" y="3168650"/>
                </a:lnTo>
                <a:lnTo>
                  <a:pt x="10066972" y="3168650"/>
                </a:lnTo>
                <a:lnTo>
                  <a:pt x="10066972" y="3689350"/>
                </a:lnTo>
                <a:close/>
                <a:moveTo>
                  <a:pt x="9546272" y="3159379"/>
                </a:moveTo>
                <a:lnTo>
                  <a:pt x="9546272" y="2638679"/>
                </a:lnTo>
                <a:lnTo>
                  <a:pt x="10066972" y="2638679"/>
                </a:lnTo>
                <a:lnTo>
                  <a:pt x="10066972" y="3159379"/>
                </a:lnTo>
                <a:close/>
                <a:moveTo>
                  <a:pt x="9546272" y="2629281"/>
                </a:moveTo>
                <a:lnTo>
                  <a:pt x="9546272" y="2108581"/>
                </a:lnTo>
                <a:lnTo>
                  <a:pt x="10066972" y="2108581"/>
                </a:lnTo>
                <a:lnTo>
                  <a:pt x="10066972" y="2629281"/>
                </a:lnTo>
                <a:close/>
                <a:moveTo>
                  <a:pt x="9546272" y="2099247"/>
                </a:moveTo>
                <a:lnTo>
                  <a:pt x="9546272" y="1578547"/>
                </a:lnTo>
                <a:lnTo>
                  <a:pt x="10066972" y="1578547"/>
                </a:lnTo>
                <a:lnTo>
                  <a:pt x="10066972" y="2099247"/>
                </a:lnTo>
                <a:close/>
                <a:moveTo>
                  <a:pt x="9536747" y="2099247"/>
                </a:moveTo>
                <a:lnTo>
                  <a:pt x="9016047" y="2099247"/>
                </a:lnTo>
                <a:lnTo>
                  <a:pt x="9016047" y="1578547"/>
                </a:lnTo>
                <a:lnTo>
                  <a:pt x="9536747" y="1578547"/>
                </a:lnTo>
                <a:close/>
                <a:moveTo>
                  <a:pt x="9006649" y="2099247"/>
                </a:moveTo>
                <a:lnTo>
                  <a:pt x="8485949" y="2099247"/>
                </a:lnTo>
                <a:lnTo>
                  <a:pt x="8485949" y="1578547"/>
                </a:lnTo>
                <a:lnTo>
                  <a:pt x="9006649" y="1578547"/>
                </a:lnTo>
                <a:close/>
                <a:moveTo>
                  <a:pt x="8476552" y="2099247"/>
                </a:moveTo>
                <a:lnTo>
                  <a:pt x="7955852" y="2099247"/>
                </a:lnTo>
                <a:lnTo>
                  <a:pt x="7955852" y="1578547"/>
                </a:lnTo>
                <a:lnTo>
                  <a:pt x="8476552" y="1578547"/>
                </a:lnTo>
                <a:close/>
                <a:moveTo>
                  <a:pt x="7946454" y="2099247"/>
                </a:moveTo>
                <a:lnTo>
                  <a:pt x="7425754" y="2099247"/>
                </a:lnTo>
                <a:lnTo>
                  <a:pt x="7425754" y="1578547"/>
                </a:lnTo>
                <a:lnTo>
                  <a:pt x="7946454" y="1578547"/>
                </a:lnTo>
                <a:close/>
                <a:moveTo>
                  <a:pt x="7416419" y="2099247"/>
                </a:moveTo>
                <a:lnTo>
                  <a:pt x="6895719" y="2099247"/>
                </a:lnTo>
                <a:lnTo>
                  <a:pt x="6895719" y="1578547"/>
                </a:lnTo>
                <a:lnTo>
                  <a:pt x="7416419" y="1578547"/>
                </a:lnTo>
                <a:close/>
                <a:moveTo>
                  <a:pt x="6886321" y="2099247"/>
                </a:moveTo>
                <a:lnTo>
                  <a:pt x="6365621" y="2099247"/>
                </a:lnTo>
                <a:lnTo>
                  <a:pt x="6365621" y="1578547"/>
                </a:lnTo>
                <a:lnTo>
                  <a:pt x="6886321" y="1578547"/>
                </a:lnTo>
                <a:close/>
                <a:moveTo>
                  <a:pt x="6356223" y="2099247"/>
                </a:moveTo>
                <a:lnTo>
                  <a:pt x="5835650" y="2099247"/>
                </a:lnTo>
                <a:lnTo>
                  <a:pt x="5835650" y="1578547"/>
                </a:lnTo>
                <a:lnTo>
                  <a:pt x="6356350" y="1578547"/>
                </a:lnTo>
                <a:close/>
                <a:moveTo>
                  <a:pt x="5826125" y="2099247"/>
                </a:moveTo>
                <a:lnTo>
                  <a:pt x="5305425" y="2099247"/>
                </a:lnTo>
                <a:lnTo>
                  <a:pt x="5305425" y="1578547"/>
                </a:lnTo>
                <a:lnTo>
                  <a:pt x="5826125" y="1578547"/>
                </a:lnTo>
                <a:close/>
                <a:moveTo>
                  <a:pt x="5296027" y="2099247"/>
                </a:moveTo>
                <a:lnTo>
                  <a:pt x="4775327" y="2099247"/>
                </a:lnTo>
                <a:lnTo>
                  <a:pt x="4775327" y="1578547"/>
                </a:lnTo>
                <a:lnTo>
                  <a:pt x="5296027" y="1578547"/>
                </a:lnTo>
                <a:close/>
                <a:moveTo>
                  <a:pt x="4765929" y="2099247"/>
                </a:moveTo>
                <a:lnTo>
                  <a:pt x="4245229" y="2099247"/>
                </a:lnTo>
                <a:lnTo>
                  <a:pt x="4245229" y="1578547"/>
                </a:lnTo>
                <a:lnTo>
                  <a:pt x="4765929" y="1578547"/>
                </a:lnTo>
                <a:close/>
                <a:moveTo>
                  <a:pt x="4235895" y="2099247"/>
                </a:moveTo>
                <a:lnTo>
                  <a:pt x="3715195" y="2099247"/>
                </a:lnTo>
                <a:lnTo>
                  <a:pt x="3715195" y="1578547"/>
                </a:lnTo>
                <a:lnTo>
                  <a:pt x="4235895" y="1578547"/>
                </a:lnTo>
                <a:close/>
                <a:moveTo>
                  <a:pt x="3705797" y="2099247"/>
                </a:moveTo>
                <a:lnTo>
                  <a:pt x="3185097" y="2099247"/>
                </a:lnTo>
                <a:lnTo>
                  <a:pt x="3185097" y="1578547"/>
                </a:lnTo>
                <a:lnTo>
                  <a:pt x="3705797" y="1578547"/>
                </a:lnTo>
                <a:close/>
                <a:moveTo>
                  <a:pt x="3175699" y="2099247"/>
                </a:moveTo>
                <a:lnTo>
                  <a:pt x="2654999" y="2099247"/>
                </a:lnTo>
                <a:lnTo>
                  <a:pt x="2654999" y="1578547"/>
                </a:lnTo>
                <a:lnTo>
                  <a:pt x="3175699" y="1578547"/>
                </a:lnTo>
                <a:close/>
                <a:moveTo>
                  <a:pt x="2645601" y="2099247"/>
                </a:moveTo>
                <a:lnTo>
                  <a:pt x="2124901" y="2099247"/>
                </a:lnTo>
                <a:lnTo>
                  <a:pt x="2124901" y="1578547"/>
                </a:lnTo>
                <a:lnTo>
                  <a:pt x="2645601" y="1578547"/>
                </a:lnTo>
                <a:close/>
                <a:moveTo>
                  <a:pt x="2115503" y="2099247"/>
                </a:moveTo>
                <a:lnTo>
                  <a:pt x="1594803" y="2099247"/>
                </a:lnTo>
                <a:lnTo>
                  <a:pt x="1594803" y="1578547"/>
                </a:lnTo>
                <a:lnTo>
                  <a:pt x="2115503" y="1578547"/>
                </a:lnTo>
                <a:close/>
                <a:moveTo>
                  <a:pt x="2115503" y="2108772"/>
                </a:moveTo>
                <a:lnTo>
                  <a:pt x="2115503" y="2629472"/>
                </a:lnTo>
                <a:lnTo>
                  <a:pt x="1594803" y="2629472"/>
                </a:lnTo>
                <a:lnTo>
                  <a:pt x="1594803" y="2108772"/>
                </a:lnTo>
                <a:close/>
                <a:moveTo>
                  <a:pt x="2115503" y="2638806"/>
                </a:moveTo>
                <a:lnTo>
                  <a:pt x="2115503" y="3159506"/>
                </a:lnTo>
                <a:lnTo>
                  <a:pt x="1594803" y="3159506"/>
                </a:lnTo>
                <a:lnTo>
                  <a:pt x="1594803" y="2638806"/>
                </a:lnTo>
                <a:close/>
                <a:moveTo>
                  <a:pt x="2115503" y="3168904"/>
                </a:moveTo>
                <a:lnTo>
                  <a:pt x="2115503" y="3689604"/>
                </a:lnTo>
                <a:lnTo>
                  <a:pt x="1594803" y="3689604"/>
                </a:lnTo>
                <a:lnTo>
                  <a:pt x="1594803" y="3168650"/>
                </a:lnTo>
                <a:close/>
                <a:moveTo>
                  <a:pt x="2115503" y="3699002"/>
                </a:moveTo>
                <a:lnTo>
                  <a:pt x="2115503" y="4219702"/>
                </a:lnTo>
                <a:lnTo>
                  <a:pt x="1594803" y="4219702"/>
                </a:lnTo>
                <a:lnTo>
                  <a:pt x="1594803" y="3699002"/>
                </a:lnTo>
                <a:close/>
                <a:moveTo>
                  <a:pt x="2115503" y="4229100"/>
                </a:moveTo>
                <a:lnTo>
                  <a:pt x="2115503" y="4749800"/>
                </a:lnTo>
                <a:lnTo>
                  <a:pt x="1594803" y="4749800"/>
                </a:lnTo>
                <a:lnTo>
                  <a:pt x="1594803" y="4229100"/>
                </a:lnTo>
                <a:close/>
                <a:moveTo>
                  <a:pt x="2115503" y="4759198"/>
                </a:moveTo>
                <a:lnTo>
                  <a:pt x="2115503" y="5279898"/>
                </a:lnTo>
                <a:lnTo>
                  <a:pt x="1594803" y="5279898"/>
                </a:lnTo>
                <a:lnTo>
                  <a:pt x="1594803" y="4759198"/>
                </a:lnTo>
                <a:close/>
                <a:moveTo>
                  <a:pt x="2125028" y="4759198"/>
                </a:moveTo>
                <a:lnTo>
                  <a:pt x="2645728" y="4759198"/>
                </a:lnTo>
                <a:lnTo>
                  <a:pt x="2645728" y="5279898"/>
                </a:lnTo>
                <a:lnTo>
                  <a:pt x="2125028" y="5279898"/>
                </a:lnTo>
                <a:close/>
                <a:moveTo>
                  <a:pt x="2655126" y="4759198"/>
                </a:moveTo>
                <a:lnTo>
                  <a:pt x="3175826" y="4759198"/>
                </a:lnTo>
                <a:lnTo>
                  <a:pt x="3175826" y="5279898"/>
                </a:lnTo>
                <a:lnTo>
                  <a:pt x="2655126" y="5279898"/>
                </a:lnTo>
                <a:close/>
                <a:moveTo>
                  <a:pt x="3185224" y="4759198"/>
                </a:moveTo>
                <a:lnTo>
                  <a:pt x="3705924" y="4759198"/>
                </a:lnTo>
                <a:lnTo>
                  <a:pt x="3705924" y="5279898"/>
                </a:lnTo>
                <a:lnTo>
                  <a:pt x="3185224" y="5279898"/>
                </a:lnTo>
                <a:close/>
                <a:moveTo>
                  <a:pt x="3715322" y="4759198"/>
                </a:moveTo>
                <a:lnTo>
                  <a:pt x="4236022" y="4759198"/>
                </a:lnTo>
                <a:lnTo>
                  <a:pt x="4236022" y="5279898"/>
                </a:lnTo>
                <a:lnTo>
                  <a:pt x="3715322" y="5279898"/>
                </a:lnTo>
                <a:close/>
                <a:moveTo>
                  <a:pt x="4245420" y="4759198"/>
                </a:moveTo>
                <a:lnTo>
                  <a:pt x="4766120" y="4759198"/>
                </a:lnTo>
                <a:lnTo>
                  <a:pt x="4766120" y="5279898"/>
                </a:lnTo>
                <a:lnTo>
                  <a:pt x="4245420" y="5279898"/>
                </a:lnTo>
                <a:close/>
                <a:moveTo>
                  <a:pt x="4775454" y="4759198"/>
                </a:moveTo>
                <a:lnTo>
                  <a:pt x="5296154" y="4759198"/>
                </a:lnTo>
                <a:lnTo>
                  <a:pt x="5296154" y="5279898"/>
                </a:lnTo>
                <a:lnTo>
                  <a:pt x="4775454" y="5279898"/>
                </a:lnTo>
                <a:close/>
                <a:moveTo>
                  <a:pt x="5305552" y="4759198"/>
                </a:moveTo>
                <a:lnTo>
                  <a:pt x="5826252" y="4759198"/>
                </a:lnTo>
                <a:lnTo>
                  <a:pt x="5826252" y="5279898"/>
                </a:lnTo>
                <a:lnTo>
                  <a:pt x="5305552" y="5279898"/>
                </a:lnTo>
                <a:close/>
                <a:moveTo>
                  <a:pt x="5835650" y="4759198"/>
                </a:moveTo>
                <a:lnTo>
                  <a:pt x="6356350" y="4759198"/>
                </a:lnTo>
                <a:lnTo>
                  <a:pt x="6356350" y="5279898"/>
                </a:lnTo>
                <a:lnTo>
                  <a:pt x="5835650" y="5279898"/>
                </a:lnTo>
                <a:close/>
                <a:moveTo>
                  <a:pt x="6365748" y="4759198"/>
                </a:moveTo>
                <a:lnTo>
                  <a:pt x="6886448" y="4759198"/>
                </a:lnTo>
                <a:lnTo>
                  <a:pt x="6886448" y="5279898"/>
                </a:lnTo>
                <a:lnTo>
                  <a:pt x="6365748" y="5279898"/>
                </a:lnTo>
                <a:close/>
                <a:moveTo>
                  <a:pt x="6895846" y="4759198"/>
                </a:moveTo>
                <a:lnTo>
                  <a:pt x="7416546" y="4759198"/>
                </a:lnTo>
                <a:lnTo>
                  <a:pt x="7416546" y="5279898"/>
                </a:lnTo>
                <a:lnTo>
                  <a:pt x="6895846" y="5279898"/>
                </a:lnTo>
                <a:close/>
                <a:moveTo>
                  <a:pt x="7425944" y="4759198"/>
                </a:moveTo>
                <a:lnTo>
                  <a:pt x="7946644" y="4759198"/>
                </a:lnTo>
                <a:lnTo>
                  <a:pt x="7946644" y="5279898"/>
                </a:lnTo>
                <a:lnTo>
                  <a:pt x="7425944" y="5279898"/>
                </a:lnTo>
                <a:close/>
                <a:moveTo>
                  <a:pt x="7955979" y="4759198"/>
                </a:moveTo>
                <a:lnTo>
                  <a:pt x="8476679" y="4759198"/>
                </a:lnTo>
                <a:lnTo>
                  <a:pt x="8476679" y="5279898"/>
                </a:lnTo>
                <a:lnTo>
                  <a:pt x="7955979" y="5279898"/>
                </a:lnTo>
                <a:close/>
                <a:moveTo>
                  <a:pt x="8486077" y="4759198"/>
                </a:moveTo>
                <a:lnTo>
                  <a:pt x="9006777" y="4759198"/>
                </a:lnTo>
                <a:lnTo>
                  <a:pt x="9006777" y="5279898"/>
                </a:lnTo>
                <a:lnTo>
                  <a:pt x="8486077" y="5279898"/>
                </a:lnTo>
                <a:close/>
                <a:moveTo>
                  <a:pt x="9016174" y="4759198"/>
                </a:moveTo>
                <a:lnTo>
                  <a:pt x="9536874" y="4759198"/>
                </a:lnTo>
                <a:lnTo>
                  <a:pt x="9536874" y="5279898"/>
                </a:lnTo>
                <a:lnTo>
                  <a:pt x="9016174" y="5279898"/>
                </a:lnTo>
                <a:close/>
                <a:moveTo>
                  <a:pt x="9546272" y="4759198"/>
                </a:moveTo>
                <a:lnTo>
                  <a:pt x="10066972" y="4759198"/>
                </a:lnTo>
                <a:lnTo>
                  <a:pt x="10066972" y="5279898"/>
                </a:lnTo>
                <a:lnTo>
                  <a:pt x="9546272" y="5279898"/>
                </a:lnTo>
                <a:close/>
                <a:moveTo>
                  <a:pt x="10076370" y="4759198"/>
                </a:moveTo>
                <a:lnTo>
                  <a:pt x="10597070" y="4759198"/>
                </a:lnTo>
                <a:lnTo>
                  <a:pt x="10597070" y="5279898"/>
                </a:lnTo>
                <a:lnTo>
                  <a:pt x="10076370" y="5279898"/>
                </a:lnTo>
                <a:close/>
                <a:moveTo>
                  <a:pt x="10076370" y="4749673"/>
                </a:moveTo>
                <a:lnTo>
                  <a:pt x="10076370" y="4229100"/>
                </a:lnTo>
                <a:lnTo>
                  <a:pt x="10597070" y="4229100"/>
                </a:lnTo>
                <a:lnTo>
                  <a:pt x="10597070" y="4749800"/>
                </a:lnTo>
                <a:close/>
                <a:moveTo>
                  <a:pt x="10076370" y="4219575"/>
                </a:moveTo>
                <a:lnTo>
                  <a:pt x="10076370" y="3698875"/>
                </a:lnTo>
                <a:lnTo>
                  <a:pt x="10597070" y="3698875"/>
                </a:lnTo>
                <a:lnTo>
                  <a:pt x="10597070" y="4219575"/>
                </a:lnTo>
                <a:close/>
                <a:moveTo>
                  <a:pt x="10076370" y="3689477"/>
                </a:moveTo>
                <a:lnTo>
                  <a:pt x="10076370" y="3168650"/>
                </a:lnTo>
                <a:lnTo>
                  <a:pt x="10597070" y="3168650"/>
                </a:lnTo>
                <a:lnTo>
                  <a:pt x="10597070" y="3689350"/>
                </a:lnTo>
                <a:close/>
                <a:moveTo>
                  <a:pt x="10076370" y="3159379"/>
                </a:moveTo>
                <a:lnTo>
                  <a:pt x="10076370" y="2638679"/>
                </a:lnTo>
                <a:lnTo>
                  <a:pt x="10597070" y="2638679"/>
                </a:lnTo>
                <a:lnTo>
                  <a:pt x="10597070" y="3159379"/>
                </a:lnTo>
                <a:close/>
                <a:moveTo>
                  <a:pt x="10076370" y="2629281"/>
                </a:moveTo>
                <a:lnTo>
                  <a:pt x="10076370" y="2108581"/>
                </a:lnTo>
                <a:lnTo>
                  <a:pt x="10597070" y="2108581"/>
                </a:lnTo>
                <a:lnTo>
                  <a:pt x="10597070" y="2629281"/>
                </a:lnTo>
                <a:close/>
                <a:moveTo>
                  <a:pt x="10076370" y="2099247"/>
                </a:moveTo>
                <a:lnTo>
                  <a:pt x="10076370" y="1578547"/>
                </a:lnTo>
                <a:lnTo>
                  <a:pt x="10597070" y="1578547"/>
                </a:lnTo>
                <a:lnTo>
                  <a:pt x="10597070" y="2099247"/>
                </a:lnTo>
                <a:close/>
                <a:moveTo>
                  <a:pt x="10076370" y="1569149"/>
                </a:moveTo>
                <a:lnTo>
                  <a:pt x="10076370" y="1048449"/>
                </a:lnTo>
                <a:lnTo>
                  <a:pt x="10597070" y="1048449"/>
                </a:lnTo>
                <a:lnTo>
                  <a:pt x="10597070" y="1569149"/>
                </a:lnTo>
                <a:close/>
                <a:moveTo>
                  <a:pt x="10066845" y="1569149"/>
                </a:moveTo>
                <a:lnTo>
                  <a:pt x="9546145" y="1569149"/>
                </a:lnTo>
                <a:lnTo>
                  <a:pt x="9546145" y="1048449"/>
                </a:lnTo>
                <a:lnTo>
                  <a:pt x="10066845" y="1048449"/>
                </a:lnTo>
                <a:close/>
                <a:moveTo>
                  <a:pt x="9536747" y="1569149"/>
                </a:moveTo>
                <a:lnTo>
                  <a:pt x="9016047" y="1569149"/>
                </a:lnTo>
                <a:lnTo>
                  <a:pt x="9016047" y="1048449"/>
                </a:lnTo>
                <a:lnTo>
                  <a:pt x="9536747" y="1048449"/>
                </a:lnTo>
                <a:close/>
                <a:moveTo>
                  <a:pt x="9006649" y="1569149"/>
                </a:moveTo>
                <a:lnTo>
                  <a:pt x="8485949" y="1569149"/>
                </a:lnTo>
                <a:lnTo>
                  <a:pt x="8485949" y="1048449"/>
                </a:lnTo>
                <a:lnTo>
                  <a:pt x="9006649" y="1048449"/>
                </a:lnTo>
                <a:close/>
                <a:moveTo>
                  <a:pt x="8476552" y="1569149"/>
                </a:moveTo>
                <a:lnTo>
                  <a:pt x="7955852" y="1569149"/>
                </a:lnTo>
                <a:lnTo>
                  <a:pt x="7955852" y="1048449"/>
                </a:lnTo>
                <a:lnTo>
                  <a:pt x="8476552" y="1048449"/>
                </a:lnTo>
                <a:close/>
                <a:moveTo>
                  <a:pt x="7946454" y="1569149"/>
                </a:moveTo>
                <a:lnTo>
                  <a:pt x="7425754" y="1569149"/>
                </a:lnTo>
                <a:lnTo>
                  <a:pt x="7425754" y="1048449"/>
                </a:lnTo>
                <a:lnTo>
                  <a:pt x="7946454" y="1048449"/>
                </a:lnTo>
                <a:close/>
                <a:moveTo>
                  <a:pt x="7416419" y="1569149"/>
                </a:moveTo>
                <a:lnTo>
                  <a:pt x="6895719" y="1569149"/>
                </a:lnTo>
                <a:lnTo>
                  <a:pt x="6895719" y="1048449"/>
                </a:lnTo>
                <a:lnTo>
                  <a:pt x="7416419" y="1048449"/>
                </a:lnTo>
                <a:close/>
                <a:moveTo>
                  <a:pt x="6886321" y="1569149"/>
                </a:moveTo>
                <a:lnTo>
                  <a:pt x="6365621" y="1569149"/>
                </a:lnTo>
                <a:lnTo>
                  <a:pt x="6365621" y="1048449"/>
                </a:lnTo>
                <a:lnTo>
                  <a:pt x="6886321" y="1048449"/>
                </a:lnTo>
                <a:close/>
                <a:moveTo>
                  <a:pt x="6356223" y="1569149"/>
                </a:moveTo>
                <a:lnTo>
                  <a:pt x="5835650" y="1569149"/>
                </a:lnTo>
                <a:lnTo>
                  <a:pt x="5835650" y="1048449"/>
                </a:lnTo>
                <a:lnTo>
                  <a:pt x="6356350" y="1048449"/>
                </a:lnTo>
                <a:close/>
                <a:moveTo>
                  <a:pt x="5826125" y="1569149"/>
                </a:moveTo>
                <a:lnTo>
                  <a:pt x="5305425" y="1569149"/>
                </a:lnTo>
                <a:lnTo>
                  <a:pt x="5305425" y="1048449"/>
                </a:lnTo>
                <a:lnTo>
                  <a:pt x="5826125" y="1048449"/>
                </a:lnTo>
                <a:close/>
                <a:moveTo>
                  <a:pt x="5296027" y="1569149"/>
                </a:moveTo>
                <a:lnTo>
                  <a:pt x="4775327" y="1569149"/>
                </a:lnTo>
                <a:lnTo>
                  <a:pt x="4775327" y="1048449"/>
                </a:lnTo>
                <a:lnTo>
                  <a:pt x="5296027" y="1048449"/>
                </a:lnTo>
                <a:close/>
                <a:moveTo>
                  <a:pt x="4765929" y="1569149"/>
                </a:moveTo>
                <a:lnTo>
                  <a:pt x="4245229" y="1569149"/>
                </a:lnTo>
                <a:lnTo>
                  <a:pt x="4245229" y="1048449"/>
                </a:lnTo>
                <a:lnTo>
                  <a:pt x="4765929" y="1048449"/>
                </a:lnTo>
                <a:close/>
                <a:moveTo>
                  <a:pt x="4235895" y="1569149"/>
                </a:moveTo>
                <a:lnTo>
                  <a:pt x="3715195" y="1569149"/>
                </a:lnTo>
                <a:lnTo>
                  <a:pt x="3715195" y="1048449"/>
                </a:lnTo>
                <a:lnTo>
                  <a:pt x="4235895" y="1048449"/>
                </a:lnTo>
                <a:close/>
                <a:moveTo>
                  <a:pt x="3705797" y="1569149"/>
                </a:moveTo>
                <a:lnTo>
                  <a:pt x="3185097" y="1569149"/>
                </a:lnTo>
                <a:lnTo>
                  <a:pt x="3185097" y="1048449"/>
                </a:lnTo>
                <a:lnTo>
                  <a:pt x="3705797" y="1048449"/>
                </a:lnTo>
                <a:close/>
                <a:moveTo>
                  <a:pt x="3175699" y="1569149"/>
                </a:moveTo>
                <a:lnTo>
                  <a:pt x="2654999" y="1569149"/>
                </a:lnTo>
                <a:lnTo>
                  <a:pt x="2654999" y="1048449"/>
                </a:lnTo>
                <a:lnTo>
                  <a:pt x="3175699" y="1048449"/>
                </a:lnTo>
                <a:close/>
                <a:moveTo>
                  <a:pt x="2645601" y="1569149"/>
                </a:moveTo>
                <a:lnTo>
                  <a:pt x="2124901" y="1569149"/>
                </a:lnTo>
                <a:lnTo>
                  <a:pt x="2124901" y="1048449"/>
                </a:lnTo>
                <a:lnTo>
                  <a:pt x="2645601" y="1048449"/>
                </a:lnTo>
                <a:close/>
                <a:moveTo>
                  <a:pt x="2115503" y="1569149"/>
                </a:moveTo>
                <a:lnTo>
                  <a:pt x="1594803" y="1569149"/>
                </a:lnTo>
                <a:lnTo>
                  <a:pt x="1594803" y="1048449"/>
                </a:lnTo>
                <a:lnTo>
                  <a:pt x="2115503" y="1048449"/>
                </a:lnTo>
                <a:close/>
                <a:moveTo>
                  <a:pt x="1585405" y="1569149"/>
                </a:moveTo>
                <a:lnTo>
                  <a:pt x="1064705" y="1569149"/>
                </a:lnTo>
                <a:lnTo>
                  <a:pt x="1064705" y="1048449"/>
                </a:lnTo>
                <a:lnTo>
                  <a:pt x="1585405" y="1048449"/>
                </a:lnTo>
                <a:close/>
                <a:moveTo>
                  <a:pt x="1585405" y="1578674"/>
                </a:moveTo>
                <a:lnTo>
                  <a:pt x="1585405" y="2099374"/>
                </a:lnTo>
                <a:lnTo>
                  <a:pt x="1064705" y="2099374"/>
                </a:lnTo>
                <a:lnTo>
                  <a:pt x="1064705" y="1578674"/>
                </a:lnTo>
                <a:close/>
                <a:moveTo>
                  <a:pt x="1585405" y="2108772"/>
                </a:moveTo>
                <a:lnTo>
                  <a:pt x="1585405" y="2629472"/>
                </a:lnTo>
                <a:lnTo>
                  <a:pt x="1064705" y="2629472"/>
                </a:lnTo>
                <a:lnTo>
                  <a:pt x="1064705" y="2108772"/>
                </a:lnTo>
                <a:close/>
                <a:moveTo>
                  <a:pt x="1585405" y="2638806"/>
                </a:moveTo>
                <a:lnTo>
                  <a:pt x="1585405" y="3159506"/>
                </a:lnTo>
                <a:lnTo>
                  <a:pt x="1064705" y="3159506"/>
                </a:lnTo>
                <a:lnTo>
                  <a:pt x="1064705" y="2638806"/>
                </a:lnTo>
                <a:close/>
                <a:moveTo>
                  <a:pt x="1585405" y="3168904"/>
                </a:moveTo>
                <a:lnTo>
                  <a:pt x="1585405" y="3689604"/>
                </a:lnTo>
                <a:lnTo>
                  <a:pt x="1064705" y="3689604"/>
                </a:lnTo>
                <a:lnTo>
                  <a:pt x="1064705" y="3168650"/>
                </a:lnTo>
                <a:close/>
                <a:moveTo>
                  <a:pt x="1585405" y="3699002"/>
                </a:moveTo>
                <a:lnTo>
                  <a:pt x="1585405" y="4219702"/>
                </a:lnTo>
                <a:lnTo>
                  <a:pt x="1064705" y="4219702"/>
                </a:lnTo>
                <a:lnTo>
                  <a:pt x="1064705" y="3699002"/>
                </a:lnTo>
                <a:close/>
                <a:moveTo>
                  <a:pt x="1585405" y="4229100"/>
                </a:moveTo>
                <a:lnTo>
                  <a:pt x="1585405" y="4749800"/>
                </a:lnTo>
                <a:lnTo>
                  <a:pt x="1064705" y="4749800"/>
                </a:lnTo>
                <a:lnTo>
                  <a:pt x="1064705" y="4229100"/>
                </a:lnTo>
                <a:close/>
                <a:moveTo>
                  <a:pt x="1585405" y="4759198"/>
                </a:moveTo>
                <a:lnTo>
                  <a:pt x="1585405" y="5279898"/>
                </a:lnTo>
                <a:lnTo>
                  <a:pt x="1064705" y="5279898"/>
                </a:lnTo>
                <a:lnTo>
                  <a:pt x="1064705" y="4759198"/>
                </a:lnTo>
                <a:close/>
                <a:moveTo>
                  <a:pt x="1585405" y="5289233"/>
                </a:moveTo>
                <a:lnTo>
                  <a:pt x="1585405" y="5809933"/>
                </a:lnTo>
                <a:lnTo>
                  <a:pt x="1064705" y="5809933"/>
                </a:lnTo>
                <a:lnTo>
                  <a:pt x="1064705" y="5289233"/>
                </a:lnTo>
                <a:close/>
                <a:moveTo>
                  <a:pt x="1594930" y="5289233"/>
                </a:moveTo>
                <a:lnTo>
                  <a:pt x="2115630" y="5289233"/>
                </a:lnTo>
                <a:lnTo>
                  <a:pt x="2115630" y="5809933"/>
                </a:lnTo>
                <a:lnTo>
                  <a:pt x="1594930" y="5809933"/>
                </a:lnTo>
                <a:close/>
                <a:moveTo>
                  <a:pt x="2125028" y="5289233"/>
                </a:moveTo>
                <a:lnTo>
                  <a:pt x="2645728" y="5289233"/>
                </a:lnTo>
                <a:lnTo>
                  <a:pt x="2645728" y="5809933"/>
                </a:lnTo>
                <a:lnTo>
                  <a:pt x="2125028" y="5809933"/>
                </a:lnTo>
                <a:close/>
                <a:moveTo>
                  <a:pt x="2655126" y="5289233"/>
                </a:moveTo>
                <a:lnTo>
                  <a:pt x="3175826" y="5289233"/>
                </a:lnTo>
                <a:lnTo>
                  <a:pt x="3175826" y="5809933"/>
                </a:lnTo>
                <a:lnTo>
                  <a:pt x="2655126" y="5809933"/>
                </a:lnTo>
                <a:close/>
                <a:moveTo>
                  <a:pt x="3185224" y="5289233"/>
                </a:moveTo>
                <a:lnTo>
                  <a:pt x="3705924" y="5289233"/>
                </a:lnTo>
                <a:lnTo>
                  <a:pt x="3705924" y="5809933"/>
                </a:lnTo>
                <a:lnTo>
                  <a:pt x="3185224" y="5809933"/>
                </a:lnTo>
                <a:close/>
                <a:moveTo>
                  <a:pt x="3715322" y="5289233"/>
                </a:moveTo>
                <a:lnTo>
                  <a:pt x="4236022" y="5289233"/>
                </a:lnTo>
                <a:lnTo>
                  <a:pt x="4236022" y="5809933"/>
                </a:lnTo>
                <a:lnTo>
                  <a:pt x="3715322" y="5809933"/>
                </a:lnTo>
                <a:close/>
                <a:moveTo>
                  <a:pt x="4245420" y="5289233"/>
                </a:moveTo>
                <a:lnTo>
                  <a:pt x="4766120" y="5289233"/>
                </a:lnTo>
                <a:lnTo>
                  <a:pt x="4766120" y="5809933"/>
                </a:lnTo>
                <a:lnTo>
                  <a:pt x="4245420" y="5809933"/>
                </a:lnTo>
                <a:close/>
                <a:moveTo>
                  <a:pt x="4775454" y="5289233"/>
                </a:moveTo>
                <a:lnTo>
                  <a:pt x="5296154" y="5289233"/>
                </a:lnTo>
                <a:lnTo>
                  <a:pt x="5296154" y="5809933"/>
                </a:lnTo>
                <a:lnTo>
                  <a:pt x="4775454" y="5809933"/>
                </a:lnTo>
                <a:close/>
                <a:moveTo>
                  <a:pt x="5305552" y="5289233"/>
                </a:moveTo>
                <a:lnTo>
                  <a:pt x="5826252" y="5289233"/>
                </a:lnTo>
                <a:lnTo>
                  <a:pt x="5826252" y="5809933"/>
                </a:lnTo>
                <a:lnTo>
                  <a:pt x="5305552" y="5809933"/>
                </a:lnTo>
                <a:close/>
                <a:moveTo>
                  <a:pt x="5835650" y="5289233"/>
                </a:moveTo>
                <a:lnTo>
                  <a:pt x="6356350" y="5289233"/>
                </a:lnTo>
                <a:lnTo>
                  <a:pt x="6356350" y="5809933"/>
                </a:lnTo>
                <a:lnTo>
                  <a:pt x="5835650" y="5809933"/>
                </a:lnTo>
                <a:close/>
                <a:moveTo>
                  <a:pt x="6365748" y="5289233"/>
                </a:moveTo>
                <a:lnTo>
                  <a:pt x="6886448" y="5289233"/>
                </a:lnTo>
                <a:lnTo>
                  <a:pt x="6886448" y="5809933"/>
                </a:lnTo>
                <a:lnTo>
                  <a:pt x="6365748" y="5809933"/>
                </a:lnTo>
                <a:close/>
                <a:moveTo>
                  <a:pt x="6895846" y="5289233"/>
                </a:moveTo>
                <a:lnTo>
                  <a:pt x="7416546" y="5289233"/>
                </a:lnTo>
                <a:lnTo>
                  <a:pt x="7416546" y="5809933"/>
                </a:lnTo>
                <a:lnTo>
                  <a:pt x="6895846" y="5809933"/>
                </a:lnTo>
                <a:close/>
                <a:moveTo>
                  <a:pt x="7425944" y="5289233"/>
                </a:moveTo>
                <a:lnTo>
                  <a:pt x="7946644" y="5289233"/>
                </a:lnTo>
                <a:lnTo>
                  <a:pt x="7946644" y="5809933"/>
                </a:lnTo>
                <a:lnTo>
                  <a:pt x="7425944" y="5809933"/>
                </a:lnTo>
                <a:close/>
                <a:moveTo>
                  <a:pt x="7955979" y="5289233"/>
                </a:moveTo>
                <a:lnTo>
                  <a:pt x="8476679" y="5289233"/>
                </a:lnTo>
                <a:lnTo>
                  <a:pt x="8476679" y="5809933"/>
                </a:lnTo>
                <a:lnTo>
                  <a:pt x="7955979" y="5809933"/>
                </a:lnTo>
                <a:close/>
                <a:moveTo>
                  <a:pt x="8486077" y="5289233"/>
                </a:moveTo>
                <a:lnTo>
                  <a:pt x="9006777" y="5289233"/>
                </a:lnTo>
                <a:lnTo>
                  <a:pt x="9006777" y="5809933"/>
                </a:lnTo>
                <a:lnTo>
                  <a:pt x="8486077" y="5809933"/>
                </a:lnTo>
                <a:close/>
                <a:moveTo>
                  <a:pt x="9016174" y="5289233"/>
                </a:moveTo>
                <a:lnTo>
                  <a:pt x="9536874" y="5289233"/>
                </a:lnTo>
                <a:lnTo>
                  <a:pt x="9536874" y="5809933"/>
                </a:lnTo>
                <a:lnTo>
                  <a:pt x="9016174" y="5809933"/>
                </a:lnTo>
                <a:close/>
                <a:moveTo>
                  <a:pt x="9546272" y="5289233"/>
                </a:moveTo>
                <a:lnTo>
                  <a:pt x="10066972" y="5289233"/>
                </a:lnTo>
                <a:lnTo>
                  <a:pt x="10066972" y="5809933"/>
                </a:lnTo>
                <a:lnTo>
                  <a:pt x="9546272" y="5809933"/>
                </a:lnTo>
                <a:close/>
                <a:moveTo>
                  <a:pt x="10076370" y="5289233"/>
                </a:moveTo>
                <a:lnTo>
                  <a:pt x="10597070" y="5289233"/>
                </a:lnTo>
                <a:lnTo>
                  <a:pt x="10597070" y="5809933"/>
                </a:lnTo>
                <a:lnTo>
                  <a:pt x="10076370" y="5809933"/>
                </a:lnTo>
                <a:close/>
                <a:moveTo>
                  <a:pt x="10606469" y="5289233"/>
                </a:moveTo>
                <a:lnTo>
                  <a:pt x="11127169" y="5289233"/>
                </a:lnTo>
                <a:lnTo>
                  <a:pt x="11127169" y="5809933"/>
                </a:lnTo>
                <a:lnTo>
                  <a:pt x="10606469" y="5809933"/>
                </a:lnTo>
                <a:close/>
                <a:moveTo>
                  <a:pt x="10606469" y="5279708"/>
                </a:moveTo>
                <a:lnTo>
                  <a:pt x="10606469" y="4759008"/>
                </a:lnTo>
                <a:lnTo>
                  <a:pt x="11127169" y="4759008"/>
                </a:lnTo>
                <a:lnTo>
                  <a:pt x="11127169" y="5279708"/>
                </a:lnTo>
                <a:close/>
                <a:moveTo>
                  <a:pt x="10606469" y="4749673"/>
                </a:moveTo>
                <a:lnTo>
                  <a:pt x="10606469" y="4229100"/>
                </a:lnTo>
                <a:lnTo>
                  <a:pt x="11127169" y="4229100"/>
                </a:lnTo>
                <a:lnTo>
                  <a:pt x="11127169" y="4749800"/>
                </a:lnTo>
                <a:close/>
                <a:moveTo>
                  <a:pt x="10606469" y="4219575"/>
                </a:moveTo>
                <a:lnTo>
                  <a:pt x="10606469" y="3698875"/>
                </a:lnTo>
                <a:lnTo>
                  <a:pt x="11127169" y="3698875"/>
                </a:lnTo>
                <a:lnTo>
                  <a:pt x="11127169" y="4219575"/>
                </a:lnTo>
                <a:close/>
                <a:moveTo>
                  <a:pt x="10606469" y="3689477"/>
                </a:moveTo>
                <a:lnTo>
                  <a:pt x="10606469" y="3168650"/>
                </a:lnTo>
                <a:lnTo>
                  <a:pt x="11127169" y="3168650"/>
                </a:lnTo>
                <a:lnTo>
                  <a:pt x="11127169" y="3689350"/>
                </a:lnTo>
                <a:close/>
                <a:moveTo>
                  <a:pt x="10606469" y="3159379"/>
                </a:moveTo>
                <a:lnTo>
                  <a:pt x="10606469" y="2638679"/>
                </a:lnTo>
                <a:lnTo>
                  <a:pt x="11127169" y="2638679"/>
                </a:lnTo>
                <a:lnTo>
                  <a:pt x="11127169" y="3159379"/>
                </a:lnTo>
                <a:close/>
                <a:moveTo>
                  <a:pt x="10606469" y="2629281"/>
                </a:moveTo>
                <a:lnTo>
                  <a:pt x="10606469" y="2108581"/>
                </a:lnTo>
                <a:lnTo>
                  <a:pt x="11127169" y="2108581"/>
                </a:lnTo>
                <a:lnTo>
                  <a:pt x="11127169" y="2629281"/>
                </a:lnTo>
                <a:close/>
                <a:moveTo>
                  <a:pt x="10606469" y="2099247"/>
                </a:moveTo>
                <a:lnTo>
                  <a:pt x="10606469" y="1578547"/>
                </a:lnTo>
                <a:lnTo>
                  <a:pt x="11127169" y="1578547"/>
                </a:lnTo>
                <a:lnTo>
                  <a:pt x="11127169" y="2099247"/>
                </a:lnTo>
                <a:close/>
                <a:moveTo>
                  <a:pt x="10606469" y="1569149"/>
                </a:moveTo>
                <a:lnTo>
                  <a:pt x="10606469" y="1048449"/>
                </a:lnTo>
                <a:lnTo>
                  <a:pt x="11127169" y="1048449"/>
                </a:lnTo>
                <a:lnTo>
                  <a:pt x="11127169" y="1569149"/>
                </a:lnTo>
                <a:close/>
                <a:moveTo>
                  <a:pt x="10596944" y="518478"/>
                </a:moveTo>
                <a:lnTo>
                  <a:pt x="10596944" y="1039177"/>
                </a:lnTo>
                <a:lnTo>
                  <a:pt x="10076244" y="1039177"/>
                </a:lnTo>
                <a:lnTo>
                  <a:pt x="10076244" y="518478"/>
                </a:lnTo>
                <a:close/>
                <a:moveTo>
                  <a:pt x="10066845" y="518478"/>
                </a:moveTo>
                <a:lnTo>
                  <a:pt x="10066845" y="1039177"/>
                </a:lnTo>
                <a:lnTo>
                  <a:pt x="9546145" y="1039177"/>
                </a:lnTo>
                <a:lnTo>
                  <a:pt x="9546145" y="518478"/>
                </a:lnTo>
                <a:close/>
                <a:moveTo>
                  <a:pt x="9536747" y="518478"/>
                </a:moveTo>
                <a:lnTo>
                  <a:pt x="9536747" y="1039177"/>
                </a:lnTo>
                <a:lnTo>
                  <a:pt x="9016047" y="1039177"/>
                </a:lnTo>
                <a:lnTo>
                  <a:pt x="9016047" y="518478"/>
                </a:lnTo>
                <a:close/>
                <a:moveTo>
                  <a:pt x="9006649" y="518478"/>
                </a:moveTo>
                <a:lnTo>
                  <a:pt x="9006649" y="1039177"/>
                </a:lnTo>
                <a:lnTo>
                  <a:pt x="8485949" y="1039177"/>
                </a:lnTo>
                <a:lnTo>
                  <a:pt x="8485949" y="518478"/>
                </a:lnTo>
                <a:close/>
                <a:moveTo>
                  <a:pt x="8476552" y="518478"/>
                </a:moveTo>
                <a:lnTo>
                  <a:pt x="8476552" y="1039177"/>
                </a:lnTo>
                <a:lnTo>
                  <a:pt x="7955852" y="1039177"/>
                </a:lnTo>
                <a:lnTo>
                  <a:pt x="7955852" y="518478"/>
                </a:lnTo>
                <a:close/>
                <a:moveTo>
                  <a:pt x="7946454" y="518478"/>
                </a:moveTo>
                <a:lnTo>
                  <a:pt x="7946454" y="1039177"/>
                </a:lnTo>
                <a:lnTo>
                  <a:pt x="7425754" y="1039177"/>
                </a:lnTo>
                <a:lnTo>
                  <a:pt x="7425754" y="518478"/>
                </a:lnTo>
                <a:close/>
                <a:moveTo>
                  <a:pt x="7416419" y="518478"/>
                </a:moveTo>
                <a:lnTo>
                  <a:pt x="7416419" y="1039177"/>
                </a:lnTo>
                <a:lnTo>
                  <a:pt x="6895719" y="1039177"/>
                </a:lnTo>
                <a:lnTo>
                  <a:pt x="6895719" y="518478"/>
                </a:lnTo>
                <a:close/>
                <a:moveTo>
                  <a:pt x="6886321" y="518478"/>
                </a:moveTo>
                <a:lnTo>
                  <a:pt x="6886321" y="1039177"/>
                </a:lnTo>
                <a:lnTo>
                  <a:pt x="6365621" y="1039177"/>
                </a:lnTo>
                <a:lnTo>
                  <a:pt x="6365621" y="518478"/>
                </a:lnTo>
                <a:close/>
                <a:moveTo>
                  <a:pt x="6356223" y="518478"/>
                </a:moveTo>
                <a:lnTo>
                  <a:pt x="6356223" y="1039177"/>
                </a:lnTo>
                <a:lnTo>
                  <a:pt x="5835650" y="1039177"/>
                </a:lnTo>
                <a:lnTo>
                  <a:pt x="5835650" y="518478"/>
                </a:lnTo>
                <a:close/>
                <a:moveTo>
                  <a:pt x="5826125" y="518478"/>
                </a:moveTo>
                <a:lnTo>
                  <a:pt x="5826125" y="1039177"/>
                </a:lnTo>
                <a:lnTo>
                  <a:pt x="5305425" y="1039177"/>
                </a:lnTo>
                <a:lnTo>
                  <a:pt x="5305425" y="518478"/>
                </a:lnTo>
                <a:close/>
                <a:moveTo>
                  <a:pt x="5296027" y="518478"/>
                </a:moveTo>
                <a:lnTo>
                  <a:pt x="5296027" y="1039177"/>
                </a:lnTo>
                <a:lnTo>
                  <a:pt x="4775327" y="1039177"/>
                </a:lnTo>
                <a:lnTo>
                  <a:pt x="4775327" y="518478"/>
                </a:lnTo>
                <a:close/>
                <a:moveTo>
                  <a:pt x="4765929" y="518478"/>
                </a:moveTo>
                <a:lnTo>
                  <a:pt x="4765929" y="1039177"/>
                </a:lnTo>
                <a:lnTo>
                  <a:pt x="4245229" y="1039177"/>
                </a:lnTo>
                <a:lnTo>
                  <a:pt x="4245229" y="518478"/>
                </a:lnTo>
                <a:close/>
                <a:moveTo>
                  <a:pt x="4235895" y="518478"/>
                </a:moveTo>
                <a:lnTo>
                  <a:pt x="4235895" y="1039177"/>
                </a:lnTo>
                <a:lnTo>
                  <a:pt x="3715195" y="1039177"/>
                </a:lnTo>
                <a:lnTo>
                  <a:pt x="3715195" y="518478"/>
                </a:lnTo>
                <a:close/>
                <a:moveTo>
                  <a:pt x="3705797" y="518478"/>
                </a:moveTo>
                <a:lnTo>
                  <a:pt x="3705797" y="1039177"/>
                </a:lnTo>
                <a:lnTo>
                  <a:pt x="3185097" y="1039177"/>
                </a:lnTo>
                <a:lnTo>
                  <a:pt x="3185097" y="518478"/>
                </a:lnTo>
                <a:close/>
                <a:moveTo>
                  <a:pt x="3175699" y="518478"/>
                </a:moveTo>
                <a:lnTo>
                  <a:pt x="3175699" y="1039177"/>
                </a:lnTo>
                <a:lnTo>
                  <a:pt x="2654999" y="1039177"/>
                </a:lnTo>
                <a:lnTo>
                  <a:pt x="2654999" y="518478"/>
                </a:lnTo>
                <a:close/>
                <a:moveTo>
                  <a:pt x="2645601" y="518478"/>
                </a:moveTo>
                <a:lnTo>
                  <a:pt x="2645601" y="1039177"/>
                </a:lnTo>
                <a:lnTo>
                  <a:pt x="2124901" y="1039177"/>
                </a:lnTo>
                <a:lnTo>
                  <a:pt x="2124901" y="518478"/>
                </a:lnTo>
                <a:close/>
                <a:moveTo>
                  <a:pt x="2115503" y="518478"/>
                </a:moveTo>
                <a:lnTo>
                  <a:pt x="2115503" y="1039177"/>
                </a:lnTo>
                <a:lnTo>
                  <a:pt x="1594803" y="1039177"/>
                </a:lnTo>
                <a:lnTo>
                  <a:pt x="1594803" y="518478"/>
                </a:lnTo>
                <a:close/>
                <a:moveTo>
                  <a:pt x="1585405" y="518478"/>
                </a:moveTo>
                <a:lnTo>
                  <a:pt x="1585405" y="1039177"/>
                </a:lnTo>
                <a:lnTo>
                  <a:pt x="1064705" y="1039177"/>
                </a:lnTo>
                <a:lnTo>
                  <a:pt x="1064705" y="518478"/>
                </a:lnTo>
                <a:close/>
                <a:moveTo>
                  <a:pt x="534797" y="518478"/>
                </a:moveTo>
                <a:lnTo>
                  <a:pt x="1055497" y="518478"/>
                </a:lnTo>
                <a:lnTo>
                  <a:pt x="1055497" y="1039177"/>
                </a:lnTo>
                <a:lnTo>
                  <a:pt x="534797" y="1039177"/>
                </a:lnTo>
                <a:close/>
                <a:moveTo>
                  <a:pt x="534797" y="1048576"/>
                </a:moveTo>
                <a:lnTo>
                  <a:pt x="1055497" y="1048576"/>
                </a:lnTo>
                <a:lnTo>
                  <a:pt x="1055497" y="1569276"/>
                </a:lnTo>
                <a:lnTo>
                  <a:pt x="534797" y="1569276"/>
                </a:lnTo>
                <a:close/>
                <a:moveTo>
                  <a:pt x="534797" y="1578674"/>
                </a:moveTo>
                <a:lnTo>
                  <a:pt x="1055497" y="1578674"/>
                </a:lnTo>
                <a:lnTo>
                  <a:pt x="1055497" y="2099374"/>
                </a:lnTo>
                <a:lnTo>
                  <a:pt x="534797" y="2099374"/>
                </a:lnTo>
                <a:close/>
                <a:moveTo>
                  <a:pt x="534797" y="2108772"/>
                </a:moveTo>
                <a:lnTo>
                  <a:pt x="1055497" y="2108772"/>
                </a:lnTo>
                <a:lnTo>
                  <a:pt x="1055497" y="2629472"/>
                </a:lnTo>
                <a:lnTo>
                  <a:pt x="534797" y="2629472"/>
                </a:lnTo>
                <a:close/>
                <a:moveTo>
                  <a:pt x="534797" y="2638806"/>
                </a:moveTo>
                <a:lnTo>
                  <a:pt x="1055497" y="2638806"/>
                </a:lnTo>
                <a:lnTo>
                  <a:pt x="1055497" y="3159506"/>
                </a:lnTo>
                <a:lnTo>
                  <a:pt x="534797" y="3159506"/>
                </a:lnTo>
                <a:close/>
                <a:moveTo>
                  <a:pt x="534797" y="3168904"/>
                </a:moveTo>
                <a:lnTo>
                  <a:pt x="1055497" y="3168904"/>
                </a:lnTo>
                <a:lnTo>
                  <a:pt x="1055497" y="3689604"/>
                </a:lnTo>
                <a:lnTo>
                  <a:pt x="534797" y="3689604"/>
                </a:lnTo>
                <a:close/>
                <a:moveTo>
                  <a:pt x="534797" y="3699002"/>
                </a:moveTo>
                <a:lnTo>
                  <a:pt x="1055497" y="3699002"/>
                </a:lnTo>
                <a:lnTo>
                  <a:pt x="1055497" y="4219702"/>
                </a:lnTo>
                <a:lnTo>
                  <a:pt x="534797" y="4219702"/>
                </a:lnTo>
                <a:close/>
                <a:moveTo>
                  <a:pt x="534797" y="4229100"/>
                </a:moveTo>
                <a:lnTo>
                  <a:pt x="1055497" y="4229100"/>
                </a:lnTo>
                <a:lnTo>
                  <a:pt x="1055497" y="4749800"/>
                </a:lnTo>
                <a:lnTo>
                  <a:pt x="534797" y="4749800"/>
                </a:lnTo>
                <a:close/>
                <a:moveTo>
                  <a:pt x="534797" y="4759198"/>
                </a:moveTo>
                <a:lnTo>
                  <a:pt x="1055497" y="4759198"/>
                </a:lnTo>
                <a:lnTo>
                  <a:pt x="1055497" y="5279898"/>
                </a:lnTo>
                <a:lnTo>
                  <a:pt x="534797" y="5279898"/>
                </a:lnTo>
                <a:close/>
                <a:moveTo>
                  <a:pt x="534797" y="5289233"/>
                </a:moveTo>
                <a:lnTo>
                  <a:pt x="1055497" y="5289233"/>
                </a:lnTo>
                <a:lnTo>
                  <a:pt x="1055497" y="5809933"/>
                </a:lnTo>
                <a:lnTo>
                  <a:pt x="534797" y="5809933"/>
                </a:lnTo>
                <a:close/>
                <a:moveTo>
                  <a:pt x="534797" y="6339904"/>
                </a:moveTo>
                <a:lnTo>
                  <a:pt x="534797" y="5819204"/>
                </a:lnTo>
                <a:lnTo>
                  <a:pt x="1055497" y="5819204"/>
                </a:lnTo>
                <a:lnTo>
                  <a:pt x="1055497" y="6339904"/>
                </a:lnTo>
                <a:close/>
                <a:moveTo>
                  <a:pt x="1064895" y="6339904"/>
                </a:moveTo>
                <a:lnTo>
                  <a:pt x="1064895" y="5819204"/>
                </a:lnTo>
                <a:lnTo>
                  <a:pt x="1585595" y="5819204"/>
                </a:lnTo>
                <a:lnTo>
                  <a:pt x="1585595" y="6339904"/>
                </a:lnTo>
                <a:close/>
                <a:moveTo>
                  <a:pt x="1594930" y="6339904"/>
                </a:moveTo>
                <a:lnTo>
                  <a:pt x="1594930" y="5819204"/>
                </a:lnTo>
                <a:lnTo>
                  <a:pt x="2115630" y="5819204"/>
                </a:lnTo>
                <a:lnTo>
                  <a:pt x="2115630" y="6339904"/>
                </a:lnTo>
                <a:close/>
                <a:moveTo>
                  <a:pt x="2125028" y="6339904"/>
                </a:moveTo>
                <a:lnTo>
                  <a:pt x="2125028" y="5819204"/>
                </a:lnTo>
                <a:lnTo>
                  <a:pt x="2645728" y="5819204"/>
                </a:lnTo>
                <a:lnTo>
                  <a:pt x="2645728" y="6339904"/>
                </a:lnTo>
                <a:close/>
                <a:moveTo>
                  <a:pt x="2655126" y="6339904"/>
                </a:moveTo>
                <a:lnTo>
                  <a:pt x="2655126" y="5819204"/>
                </a:lnTo>
                <a:lnTo>
                  <a:pt x="3175826" y="5819204"/>
                </a:lnTo>
                <a:lnTo>
                  <a:pt x="3175826" y="6339904"/>
                </a:lnTo>
                <a:close/>
                <a:moveTo>
                  <a:pt x="3185224" y="6339904"/>
                </a:moveTo>
                <a:lnTo>
                  <a:pt x="3185224" y="5819204"/>
                </a:lnTo>
                <a:lnTo>
                  <a:pt x="3705924" y="5819204"/>
                </a:lnTo>
                <a:lnTo>
                  <a:pt x="3705924" y="6339904"/>
                </a:lnTo>
                <a:close/>
                <a:moveTo>
                  <a:pt x="3715322" y="6339904"/>
                </a:moveTo>
                <a:lnTo>
                  <a:pt x="3715322" y="5819204"/>
                </a:lnTo>
                <a:lnTo>
                  <a:pt x="4236022" y="5819204"/>
                </a:lnTo>
                <a:lnTo>
                  <a:pt x="4236022" y="6339904"/>
                </a:lnTo>
                <a:close/>
                <a:moveTo>
                  <a:pt x="4245420" y="6339904"/>
                </a:moveTo>
                <a:lnTo>
                  <a:pt x="4245420" y="5819204"/>
                </a:lnTo>
                <a:lnTo>
                  <a:pt x="4766120" y="5819204"/>
                </a:lnTo>
                <a:lnTo>
                  <a:pt x="4766120" y="6339904"/>
                </a:lnTo>
                <a:close/>
                <a:moveTo>
                  <a:pt x="4775454" y="6339904"/>
                </a:moveTo>
                <a:lnTo>
                  <a:pt x="4775454" y="5819204"/>
                </a:lnTo>
                <a:lnTo>
                  <a:pt x="5296154" y="5819204"/>
                </a:lnTo>
                <a:lnTo>
                  <a:pt x="5296154" y="6339904"/>
                </a:lnTo>
                <a:close/>
                <a:moveTo>
                  <a:pt x="5305552" y="6339904"/>
                </a:moveTo>
                <a:lnTo>
                  <a:pt x="5305552" y="5819204"/>
                </a:lnTo>
                <a:lnTo>
                  <a:pt x="5826252" y="5819204"/>
                </a:lnTo>
                <a:lnTo>
                  <a:pt x="5826252" y="6339904"/>
                </a:lnTo>
                <a:close/>
                <a:moveTo>
                  <a:pt x="5835650" y="6339904"/>
                </a:moveTo>
                <a:lnTo>
                  <a:pt x="5835650" y="5819204"/>
                </a:lnTo>
                <a:lnTo>
                  <a:pt x="6356350" y="5819204"/>
                </a:lnTo>
                <a:lnTo>
                  <a:pt x="6356350" y="6339904"/>
                </a:lnTo>
                <a:close/>
                <a:moveTo>
                  <a:pt x="6365748" y="6339904"/>
                </a:moveTo>
                <a:lnTo>
                  <a:pt x="6365748" y="5819204"/>
                </a:lnTo>
                <a:lnTo>
                  <a:pt x="6886448" y="5819204"/>
                </a:lnTo>
                <a:lnTo>
                  <a:pt x="6886448" y="6339904"/>
                </a:lnTo>
                <a:close/>
                <a:moveTo>
                  <a:pt x="6895846" y="6339904"/>
                </a:moveTo>
                <a:lnTo>
                  <a:pt x="6895846" y="5819204"/>
                </a:lnTo>
                <a:lnTo>
                  <a:pt x="7416546" y="5819204"/>
                </a:lnTo>
                <a:lnTo>
                  <a:pt x="7416546" y="6339904"/>
                </a:lnTo>
                <a:close/>
                <a:moveTo>
                  <a:pt x="7425944" y="6339904"/>
                </a:moveTo>
                <a:lnTo>
                  <a:pt x="7425944" y="5819204"/>
                </a:lnTo>
                <a:lnTo>
                  <a:pt x="7946644" y="5819204"/>
                </a:lnTo>
                <a:lnTo>
                  <a:pt x="7946644" y="6339904"/>
                </a:lnTo>
                <a:close/>
                <a:moveTo>
                  <a:pt x="7955979" y="6339904"/>
                </a:moveTo>
                <a:lnTo>
                  <a:pt x="7955979" y="5819204"/>
                </a:lnTo>
                <a:lnTo>
                  <a:pt x="8476679" y="5819204"/>
                </a:lnTo>
                <a:lnTo>
                  <a:pt x="8476679" y="6339904"/>
                </a:lnTo>
                <a:close/>
                <a:moveTo>
                  <a:pt x="8486077" y="6339904"/>
                </a:moveTo>
                <a:lnTo>
                  <a:pt x="8486077" y="5819204"/>
                </a:lnTo>
                <a:lnTo>
                  <a:pt x="9006777" y="5819204"/>
                </a:lnTo>
                <a:lnTo>
                  <a:pt x="9006777" y="6339904"/>
                </a:lnTo>
                <a:close/>
                <a:moveTo>
                  <a:pt x="9016174" y="6339904"/>
                </a:moveTo>
                <a:lnTo>
                  <a:pt x="9016174" y="5819204"/>
                </a:lnTo>
                <a:lnTo>
                  <a:pt x="9536874" y="5819204"/>
                </a:lnTo>
                <a:lnTo>
                  <a:pt x="9536874" y="6339904"/>
                </a:lnTo>
                <a:close/>
                <a:moveTo>
                  <a:pt x="9546272" y="6339904"/>
                </a:moveTo>
                <a:lnTo>
                  <a:pt x="9546272" y="5819204"/>
                </a:lnTo>
                <a:lnTo>
                  <a:pt x="10066972" y="5819204"/>
                </a:lnTo>
                <a:lnTo>
                  <a:pt x="10066972" y="6339904"/>
                </a:lnTo>
                <a:close/>
                <a:moveTo>
                  <a:pt x="10076370" y="6339904"/>
                </a:moveTo>
                <a:lnTo>
                  <a:pt x="10076370" y="5819204"/>
                </a:lnTo>
                <a:lnTo>
                  <a:pt x="10597070" y="5819204"/>
                </a:lnTo>
                <a:lnTo>
                  <a:pt x="10597070" y="6339904"/>
                </a:lnTo>
                <a:close/>
                <a:moveTo>
                  <a:pt x="10606469" y="6339904"/>
                </a:moveTo>
                <a:lnTo>
                  <a:pt x="10606469" y="5819204"/>
                </a:lnTo>
                <a:lnTo>
                  <a:pt x="11127169" y="5819204"/>
                </a:lnTo>
                <a:lnTo>
                  <a:pt x="11127169" y="6339904"/>
                </a:lnTo>
                <a:close/>
                <a:moveTo>
                  <a:pt x="11657076" y="6339904"/>
                </a:moveTo>
                <a:lnTo>
                  <a:pt x="11136376" y="6339904"/>
                </a:lnTo>
                <a:lnTo>
                  <a:pt x="11136376" y="5819204"/>
                </a:lnTo>
                <a:lnTo>
                  <a:pt x="11657076" y="5819204"/>
                </a:lnTo>
                <a:close/>
                <a:moveTo>
                  <a:pt x="11657076" y="5809806"/>
                </a:moveTo>
                <a:lnTo>
                  <a:pt x="11136376" y="5809806"/>
                </a:lnTo>
                <a:lnTo>
                  <a:pt x="11136376" y="5289106"/>
                </a:lnTo>
                <a:lnTo>
                  <a:pt x="11657076" y="5289106"/>
                </a:lnTo>
                <a:close/>
                <a:moveTo>
                  <a:pt x="11657076" y="5279708"/>
                </a:moveTo>
                <a:lnTo>
                  <a:pt x="11136376" y="5279708"/>
                </a:lnTo>
                <a:lnTo>
                  <a:pt x="11136376" y="4759008"/>
                </a:lnTo>
                <a:lnTo>
                  <a:pt x="11657076" y="4759008"/>
                </a:lnTo>
                <a:close/>
                <a:moveTo>
                  <a:pt x="11657076" y="4749673"/>
                </a:moveTo>
                <a:lnTo>
                  <a:pt x="11136376" y="4749673"/>
                </a:lnTo>
                <a:lnTo>
                  <a:pt x="11136376" y="4229100"/>
                </a:lnTo>
                <a:lnTo>
                  <a:pt x="11657076" y="4229100"/>
                </a:lnTo>
                <a:close/>
                <a:moveTo>
                  <a:pt x="11657076" y="4219575"/>
                </a:moveTo>
                <a:lnTo>
                  <a:pt x="11136376" y="4219575"/>
                </a:lnTo>
                <a:lnTo>
                  <a:pt x="11136376" y="3698875"/>
                </a:lnTo>
                <a:lnTo>
                  <a:pt x="11657076" y="3698875"/>
                </a:lnTo>
                <a:close/>
                <a:moveTo>
                  <a:pt x="11657076" y="3689477"/>
                </a:moveTo>
                <a:lnTo>
                  <a:pt x="11136376" y="3689477"/>
                </a:lnTo>
                <a:lnTo>
                  <a:pt x="11136376" y="3168650"/>
                </a:lnTo>
                <a:lnTo>
                  <a:pt x="11657076" y="3168650"/>
                </a:lnTo>
                <a:close/>
                <a:moveTo>
                  <a:pt x="11657076" y="3159379"/>
                </a:moveTo>
                <a:lnTo>
                  <a:pt x="11136376" y="3159379"/>
                </a:lnTo>
                <a:lnTo>
                  <a:pt x="11136376" y="2638679"/>
                </a:lnTo>
                <a:lnTo>
                  <a:pt x="11657076" y="2638679"/>
                </a:lnTo>
                <a:close/>
                <a:moveTo>
                  <a:pt x="11657076" y="2629281"/>
                </a:moveTo>
                <a:lnTo>
                  <a:pt x="11136376" y="2629281"/>
                </a:lnTo>
                <a:lnTo>
                  <a:pt x="11136376" y="2108581"/>
                </a:lnTo>
                <a:lnTo>
                  <a:pt x="11657076" y="2108581"/>
                </a:lnTo>
                <a:close/>
                <a:moveTo>
                  <a:pt x="11657076" y="2099247"/>
                </a:moveTo>
                <a:lnTo>
                  <a:pt x="11136376" y="2099247"/>
                </a:lnTo>
                <a:lnTo>
                  <a:pt x="11136376" y="1578547"/>
                </a:lnTo>
                <a:lnTo>
                  <a:pt x="11657076" y="1578547"/>
                </a:lnTo>
                <a:close/>
                <a:moveTo>
                  <a:pt x="11657076" y="1569149"/>
                </a:moveTo>
                <a:lnTo>
                  <a:pt x="11136376" y="1569149"/>
                </a:lnTo>
                <a:lnTo>
                  <a:pt x="11136376" y="1048449"/>
                </a:lnTo>
                <a:lnTo>
                  <a:pt x="11657076" y="1048449"/>
                </a:lnTo>
                <a:close/>
                <a:moveTo>
                  <a:pt x="11657076" y="1039051"/>
                </a:moveTo>
                <a:lnTo>
                  <a:pt x="11136376" y="1039051"/>
                </a:lnTo>
                <a:lnTo>
                  <a:pt x="11136376" y="518350"/>
                </a:lnTo>
                <a:lnTo>
                  <a:pt x="11657076" y="518350"/>
                </a:lnTo>
                <a:close/>
              </a:path>
            </a:pathLst>
          </a:custGeom>
          <a:gradFill flip="none" rotWithShape="1">
            <a:gsLst>
              <a:gs pos="0">
                <a:schemeClr val="accent1">
                  <a:alpha val="0"/>
                </a:schemeClr>
              </a:gs>
              <a:gs pos="100000">
                <a:schemeClr val="accent1">
                  <a:alpha val="20000"/>
                </a:schemeClr>
              </a:gs>
            </a:gsLst>
            <a:path path="circle">
              <a:fillToRect l="50000" t="50000" r="50000" b="50000"/>
            </a:path>
            <a:tileRect/>
          </a:gra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6" name="Oval 3">
            <a:extLst>
              <a:ext uri="{FF2B5EF4-FFF2-40B4-BE49-F238E27FC236}">
                <a16:creationId xmlns:a16="http://schemas.microsoft.com/office/drawing/2014/main" id="{88B3A998-DC13-ECF2-5675-51009A09D03C}"/>
              </a:ext>
            </a:extLst>
          </p:cNvPr>
          <p:cNvSpPr/>
          <p:nvPr userDrawn="1"/>
        </p:nvSpPr>
        <p:spPr>
          <a:xfrm>
            <a:off x="8035790" y="2676859"/>
            <a:ext cx="4535508" cy="4747432"/>
          </a:xfrm>
          <a:custGeom>
            <a:avLst/>
            <a:gdLst>
              <a:gd name="connsiteX0" fmla="*/ 0 w 6338778"/>
              <a:gd name="connsiteY0" fmla="*/ 3108129 h 6216258"/>
              <a:gd name="connsiteX1" fmla="*/ 3169389 w 6338778"/>
              <a:gd name="connsiteY1" fmla="*/ 0 h 6216258"/>
              <a:gd name="connsiteX2" fmla="*/ 6338778 w 6338778"/>
              <a:gd name="connsiteY2" fmla="*/ 3108129 h 6216258"/>
              <a:gd name="connsiteX3" fmla="*/ 3169389 w 6338778"/>
              <a:gd name="connsiteY3" fmla="*/ 6216258 h 6216258"/>
              <a:gd name="connsiteX4" fmla="*/ 0 w 6338778"/>
              <a:gd name="connsiteY4" fmla="*/ 3108129 h 6216258"/>
              <a:gd name="connsiteX0" fmla="*/ 2065 w 6340843"/>
              <a:gd name="connsiteY0" fmla="*/ 3108129 h 4743673"/>
              <a:gd name="connsiteX1" fmla="*/ 3171454 w 6340843"/>
              <a:gd name="connsiteY1" fmla="*/ 0 h 4743673"/>
              <a:gd name="connsiteX2" fmla="*/ 6340843 w 6340843"/>
              <a:gd name="connsiteY2" fmla="*/ 3108129 h 4743673"/>
              <a:gd name="connsiteX3" fmla="*/ 2828554 w 6340843"/>
              <a:gd name="connsiteY3" fmla="*/ 4743058 h 4743673"/>
              <a:gd name="connsiteX4" fmla="*/ 2065 w 6340843"/>
              <a:gd name="connsiteY4" fmla="*/ 3108129 h 4743673"/>
              <a:gd name="connsiteX0" fmla="*/ 1095 w 4117373"/>
              <a:gd name="connsiteY0" fmla="*/ 3109915 h 4747077"/>
              <a:gd name="connsiteX1" fmla="*/ 3170484 w 4117373"/>
              <a:gd name="connsiteY1" fmla="*/ 1786 h 4747077"/>
              <a:gd name="connsiteX2" fmla="*/ 4117373 w 4117373"/>
              <a:gd name="connsiteY2" fmla="*/ 2792415 h 4747077"/>
              <a:gd name="connsiteX3" fmla="*/ 2827584 w 4117373"/>
              <a:gd name="connsiteY3" fmla="*/ 4744844 h 4747077"/>
              <a:gd name="connsiteX4" fmla="*/ 1095 w 4117373"/>
              <a:gd name="connsiteY4" fmla="*/ 3109915 h 4747077"/>
              <a:gd name="connsiteX0" fmla="*/ 1095 w 4810623"/>
              <a:gd name="connsiteY0" fmla="*/ 3110699 h 4747861"/>
              <a:gd name="connsiteX1" fmla="*/ 3170484 w 4810623"/>
              <a:gd name="connsiteY1" fmla="*/ 2570 h 4747861"/>
              <a:gd name="connsiteX2" fmla="*/ 4117373 w 4810623"/>
              <a:gd name="connsiteY2" fmla="*/ 2793199 h 4747861"/>
              <a:gd name="connsiteX3" fmla="*/ 2827584 w 4810623"/>
              <a:gd name="connsiteY3" fmla="*/ 4745628 h 4747861"/>
              <a:gd name="connsiteX4" fmla="*/ 1095 w 4810623"/>
              <a:gd name="connsiteY4" fmla="*/ 3110699 h 4747861"/>
              <a:gd name="connsiteX0" fmla="*/ 1095 w 4117373"/>
              <a:gd name="connsiteY0" fmla="*/ 3109916 h 4747078"/>
              <a:gd name="connsiteX1" fmla="*/ 3170484 w 4117373"/>
              <a:gd name="connsiteY1" fmla="*/ 1787 h 4747078"/>
              <a:gd name="connsiteX2" fmla="*/ 4117373 w 4117373"/>
              <a:gd name="connsiteY2" fmla="*/ 2792416 h 4747078"/>
              <a:gd name="connsiteX3" fmla="*/ 2827584 w 4117373"/>
              <a:gd name="connsiteY3" fmla="*/ 4744845 h 4747078"/>
              <a:gd name="connsiteX4" fmla="*/ 1095 w 4117373"/>
              <a:gd name="connsiteY4" fmla="*/ 3109916 h 4747078"/>
              <a:gd name="connsiteX0" fmla="*/ 1095 w 4365968"/>
              <a:gd name="connsiteY0" fmla="*/ 3111370 h 4748532"/>
              <a:gd name="connsiteX1" fmla="*/ 3170484 w 4365968"/>
              <a:gd name="connsiteY1" fmla="*/ 3241 h 4748532"/>
              <a:gd name="connsiteX2" fmla="*/ 4117373 w 4365968"/>
              <a:gd name="connsiteY2" fmla="*/ 2793870 h 4748532"/>
              <a:gd name="connsiteX3" fmla="*/ 2827584 w 4365968"/>
              <a:gd name="connsiteY3" fmla="*/ 4746299 h 4748532"/>
              <a:gd name="connsiteX4" fmla="*/ 1095 w 4365968"/>
              <a:gd name="connsiteY4" fmla="*/ 3111370 h 4748532"/>
              <a:gd name="connsiteX0" fmla="*/ 1095 w 4192550"/>
              <a:gd name="connsiteY0" fmla="*/ 3109191 h 4746353"/>
              <a:gd name="connsiteX1" fmla="*/ 3170484 w 4192550"/>
              <a:gd name="connsiteY1" fmla="*/ 1062 h 4746353"/>
              <a:gd name="connsiteX2" fmla="*/ 4117373 w 4192550"/>
              <a:gd name="connsiteY2" fmla="*/ 2791691 h 4746353"/>
              <a:gd name="connsiteX3" fmla="*/ 2827584 w 4192550"/>
              <a:gd name="connsiteY3" fmla="*/ 4744120 h 4746353"/>
              <a:gd name="connsiteX4" fmla="*/ 1095 w 4192550"/>
              <a:gd name="connsiteY4" fmla="*/ 3109191 h 4746353"/>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2583 w 4535508"/>
              <a:gd name="connsiteY0" fmla="*/ 3111199 h 4747432"/>
              <a:gd name="connsiteX1" fmla="*/ 3171972 w 4535508"/>
              <a:gd name="connsiteY1" fmla="*/ 3070 h 4747432"/>
              <a:gd name="connsiteX2" fmla="*/ 4118861 w 4535508"/>
              <a:gd name="connsiteY2" fmla="*/ 2793699 h 4747432"/>
              <a:gd name="connsiteX3" fmla="*/ 2829072 w 4535508"/>
              <a:gd name="connsiteY3" fmla="*/ 4746128 h 4747432"/>
              <a:gd name="connsiteX4" fmla="*/ 2583 w 4535508"/>
              <a:gd name="connsiteY4" fmla="*/ 3111199 h 474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508" h="4747432">
                <a:moveTo>
                  <a:pt x="2583" y="3111199"/>
                </a:moveTo>
                <a:cubicBezTo>
                  <a:pt x="59733" y="2320690"/>
                  <a:pt x="2485926" y="55987"/>
                  <a:pt x="3171972" y="3070"/>
                </a:cubicBezTo>
                <a:cubicBezTo>
                  <a:pt x="3858018" y="-49847"/>
                  <a:pt x="5223761" y="569127"/>
                  <a:pt x="4118861" y="2793699"/>
                </a:cubicBezTo>
                <a:cubicBezTo>
                  <a:pt x="3801361" y="3468871"/>
                  <a:pt x="4823218" y="4794811"/>
                  <a:pt x="2829072" y="4746128"/>
                </a:cubicBezTo>
                <a:cubicBezTo>
                  <a:pt x="834926" y="4697445"/>
                  <a:pt x="-54567" y="3901708"/>
                  <a:pt x="2583" y="3111199"/>
                </a:cubicBezTo>
                <a:close/>
              </a:path>
            </a:pathLst>
          </a:custGeom>
          <a:gradFill>
            <a:gsLst>
              <a:gs pos="0">
                <a:schemeClr val="accent2">
                  <a:alpha val="20000"/>
                </a:schemeClr>
              </a:gs>
              <a:gs pos="100000">
                <a:schemeClr val="accent2">
                  <a:alpha val="0"/>
                </a:schemeClr>
              </a:gs>
            </a:gsLst>
            <a:path path="circle">
              <a:fillToRect l="50000" t="50000" r="50000" b="50000"/>
            </a:path>
          </a:gradFill>
          <a:ln>
            <a:noFill/>
          </a:ln>
          <a:effectLst>
            <a:softEdge rad="889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3">
            <a:extLst>
              <a:ext uri="{FF2B5EF4-FFF2-40B4-BE49-F238E27FC236}">
                <a16:creationId xmlns:a16="http://schemas.microsoft.com/office/drawing/2014/main" id="{7CD31D6B-BD00-E46C-EE13-42C1568F5E6E}"/>
              </a:ext>
            </a:extLst>
          </p:cNvPr>
          <p:cNvSpPr/>
          <p:nvPr userDrawn="1"/>
        </p:nvSpPr>
        <p:spPr>
          <a:xfrm rot="17841547">
            <a:off x="-1203781" y="-1038470"/>
            <a:ext cx="7005861" cy="7333214"/>
          </a:xfrm>
          <a:custGeom>
            <a:avLst/>
            <a:gdLst>
              <a:gd name="connsiteX0" fmla="*/ 0 w 6338778"/>
              <a:gd name="connsiteY0" fmla="*/ 3108129 h 6216258"/>
              <a:gd name="connsiteX1" fmla="*/ 3169389 w 6338778"/>
              <a:gd name="connsiteY1" fmla="*/ 0 h 6216258"/>
              <a:gd name="connsiteX2" fmla="*/ 6338778 w 6338778"/>
              <a:gd name="connsiteY2" fmla="*/ 3108129 h 6216258"/>
              <a:gd name="connsiteX3" fmla="*/ 3169389 w 6338778"/>
              <a:gd name="connsiteY3" fmla="*/ 6216258 h 6216258"/>
              <a:gd name="connsiteX4" fmla="*/ 0 w 6338778"/>
              <a:gd name="connsiteY4" fmla="*/ 3108129 h 6216258"/>
              <a:gd name="connsiteX0" fmla="*/ 2065 w 6340843"/>
              <a:gd name="connsiteY0" fmla="*/ 3108129 h 4743673"/>
              <a:gd name="connsiteX1" fmla="*/ 3171454 w 6340843"/>
              <a:gd name="connsiteY1" fmla="*/ 0 h 4743673"/>
              <a:gd name="connsiteX2" fmla="*/ 6340843 w 6340843"/>
              <a:gd name="connsiteY2" fmla="*/ 3108129 h 4743673"/>
              <a:gd name="connsiteX3" fmla="*/ 2828554 w 6340843"/>
              <a:gd name="connsiteY3" fmla="*/ 4743058 h 4743673"/>
              <a:gd name="connsiteX4" fmla="*/ 2065 w 6340843"/>
              <a:gd name="connsiteY4" fmla="*/ 3108129 h 4743673"/>
              <a:gd name="connsiteX0" fmla="*/ 1095 w 4117373"/>
              <a:gd name="connsiteY0" fmla="*/ 3109915 h 4747077"/>
              <a:gd name="connsiteX1" fmla="*/ 3170484 w 4117373"/>
              <a:gd name="connsiteY1" fmla="*/ 1786 h 4747077"/>
              <a:gd name="connsiteX2" fmla="*/ 4117373 w 4117373"/>
              <a:gd name="connsiteY2" fmla="*/ 2792415 h 4747077"/>
              <a:gd name="connsiteX3" fmla="*/ 2827584 w 4117373"/>
              <a:gd name="connsiteY3" fmla="*/ 4744844 h 4747077"/>
              <a:gd name="connsiteX4" fmla="*/ 1095 w 4117373"/>
              <a:gd name="connsiteY4" fmla="*/ 3109915 h 4747077"/>
              <a:gd name="connsiteX0" fmla="*/ 1095 w 4810623"/>
              <a:gd name="connsiteY0" fmla="*/ 3110699 h 4747861"/>
              <a:gd name="connsiteX1" fmla="*/ 3170484 w 4810623"/>
              <a:gd name="connsiteY1" fmla="*/ 2570 h 4747861"/>
              <a:gd name="connsiteX2" fmla="*/ 4117373 w 4810623"/>
              <a:gd name="connsiteY2" fmla="*/ 2793199 h 4747861"/>
              <a:gd name="connsiteX3" fmla="*/ 2827584 w 4810623"/>
              <a:gd name="connsiteY3" fmla="*/ 4745628 h 4747861"/>
              <a:gd name="connsiteX4" fmla="*/ 1095 w 4810623"/>
              <a:gd name="connsiteY4" fmla="*/ 3110699 h 4747861"/>
              <a:gd name="connsiteX0" fmla="*/ 1095 w 4117373"/>
              <a:gd name="connsiteY0" fmla="*/ 3109916 h 4747078"/>
              <a:gd name="connsiteX1" fmla="*/ 3170484 w 4117373"/>
              <a:gd name="connsiteY1" fmla="*/ 1787 h 4747078"/>
              <a:gd name="connsiteX2" fmla="*/ 4117373 w 4117373"/>
              <a:gd name="connsiteY2" fmla="*/ 2792416 h 4747078"/>
              <a:gd name="connsiteX3" fmla="*/ 2827584 w 4117373"/>
              <a:gd name="connsiteY3" fmla="*/ 4744845 h 4747078"/>
              <a:gd name="connsiteX4" fmla="*/ 1095 w 4117373"/>
              <a:gd name="connsiteY4" fmla="*/ 3109916 h 4747078"/>
              <a:gd name="connsiteX0" fmla="*/ 1095 w 4365968"/>
              <a:gd name="connsiteY0" fmla="*/ 3111370 h 4748532"/>
              <a:gd name="connsiteX1" fmla="*/ 3170484 w 4365968"/>
              <a:gd name="connsiteY1" fmla="*/ 3241 h 4748532"/>
              <a:gd name="connsiteX2" fmla="*/ 4117373 w 4365968"/>
              <a:gd name="connsiteY2" fmla="*/ 2793870 h 4748532"/>
              <a:gd name="connsiteX3" fmla="*/ 2827584 w 4365968"/>
              <a:gd name="connsiteY3" fmla="*/ 4746299 h 4748532"/>
              <a:gd name="connsiteX4" fmla="*/ 1095 w 4365968"/>
              <a:gd name="connsiteY4" fmla="*/ 3111370 h 4748532"/>
              <a:gd name="connsiteX0" fmla="*/ 1095 w 4192550"/>
              <a:gd name="connsiteY0" fmla="*/ 3109191 h 4746353"/>
              <a:gd name="connsiteX1" fmla="*/ 3170484 w 4192550"/>
              <a:gd name="connsiteY1" fmla="*/ 1062 h 4746353"/>
              <a:gd name="connsiteX2" fmla="*/ 4117373 w 4192550"/>
              <a:gd name="connsiteY2" fmla="*/ 2791691 h 4746353"/>
              <a:gd name="connsiteX3" fmla="*/ 2827584 w 4192550"/>
              <a:gd name="connsiteY3" fmla="*/ 4744120 h 4746353"/>
              <a:gd name="connsiteX4" fmla="*/ 1095 w 4192550"/>
              <a:gd name="connsiteY4" fmla="*/ 3109191 h 4746353"/>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2583 w 4535508"/>
              <a:gd name="connsiteY0" fmla="*/ 3111199 h 4747432"/>
              <a:gd name="connsiteX1" fmla="*/ 3171972 w 4535508"/>
              <a:gd name="connsiteY1" fmla="*/ 3070 h 4747432"/>
              <a:gd name="connsiteX2" fmla="*/ 4118861 w 4535508"/>
              <a:gd name="connsiteY2" fmla="*/ 2793699 h 4747432"/>
              <a:gd name="connsiteX3" fmla="*/ 2829072 w 4535508"/>
              <a:gd name="connsiteY3" fmla="*/ 4746128 h 4747432"/>
              <a:gd name="connsiteX4" fmla="*/ 2583 w 4535508"/>
              <a:gd name="connsiteY4" fmla="*/ 3111199 h 474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508" h="4747432">
                <a:moveTo>
                  <a:pt x="2583" y="3111199"/>
                </a:moveTo>
                <a:cubicBezTo>
                  <a:pt x="59733" y="2320690"/>
                  <a:pt x="2485926" y="55987"/>
                  <a:pt x="3171972" y="3070"/>
                </a:cubicBezTo>
                <a:cubicBezTo>
                  <a:pt x="3858018" y="-49847"/>
                  <a:pt x="5223761" y="569127"/>
                  <a:pt x="4118861" y="2793699"/>
                </a:cubicBezTo>
                <a:cubicBezTo>
                  <a:pt x="3801361" y="3468871"/>
                  <a:pt x="4823218" y="4794811"/>
                  <a:pt x="2829072" y="4746128"/>
                </a:cubicBezTo>
                <a:cubicBezTo>
                  <a:pt x="834926" y="4697445"/>
                  <a:pt x="-54567" y="3901708"/>
                  <a:pt x="2583" y="3111199"/>
                </a:cubicBezTo>
                <a:close/>
              </a:path>
            </a:pathLst>
          </a:custGeom>
          <a:gradFill>
            <a:gsLst>
              <a:gs pos="0">
                <a:schemeClr val="accent1">
                  <a:alpha val="20000"/>
                </a:schemeClr>
              </a:gs>
              <a:gs pos="100000">
                <a:schemeClr val="accent1">
                  <a:alpha val="0"/>
                </a:schemeClr>
              </a:gs>
            </a:gsLst>
            <a:path path="circle">
              <a:fillToRect l="50000" t="50000" r="50000" b="50000"/>
            </a:path>
          </a:gradFill>
          <a:ln>
            <a:noFill/>
          </a:ln>
          <a:effectLst>
            <a:softEdge rad="889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5733869"/>
      </p:ext>
    </p:extLst>
  </p:cSld>
  <p:clrMap bg1="lt1" tx1="dk1" bg2="lt2" tx2="dk2" accent1="accent1" accent2="accent2" accent3="accent3" accent4="accent4" accent5="accent5" accent6="accent6" hlink="hlink" folHlink="folHlink"/>
  <p:sldLayoutIdLst>
    <p:sldLayoutId id="2147483658"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Graphic 8">
            <a:extLst>
              <a:ext uri="{FF2B5EF4-FFF2-40B4-BE49-F238E27FC236}">
                <a16:creationId xmlns:a16="http://schemas.microsoft.com/office/drawing/2014/main" id="{ED649966-C253-7B1C-733C-137CC0823189}"/>
              </a:ext>
            </a:extLst>
          </p:cNvPr>
          <p:cNvSpPr/>
          <p:nvPr/>
        </p:nvSpPr>
        <p:spPr>
          <a:xfrm>
            <a:off x="0" y="0"/>
            <a:ext cx="12192000" cy="6858000"/>
          </a:xfrm>
          <a:custGeom>
            <a:avLst/>
            <a:gdLst>
              <a:gd name="connsiteX0" fmla="*/ 12192000 w 12192000"/>
              <a:gd name="connsiteY0" fmla="*/ 518287 h 6858000"/>
              <a:gd name="connsiteX1" fmla="*/ 12192000 w 12192000"/>
              <a:gd name="connsiteY1" fmla="*/ 508762 h 6858000"/>
              <a:gd name="connsiteX2" fmla="*/ 11666665 w 12192000"/>
              <a:gd name="connsiteY2" fmla="*/ 508762 h 6858000"/>
              <a:gd name="connsiteX3" fmla="*/ 11666665 w 12192000"/>
              <a:gd name="connsiteY3" fmla="*/ 0 h 6858000"/>
              <a:gd name="connsiteX4" fmla="*/ 11657140 w 12192000"/>
              <a:gd name="connsiteY4" fmla="*/ 0 h 6858000"/>
              <a:gd name="connsiteX5" fmla="*/ 11657140 w 12192000"/>
              <a:gd name="connsiteY5" fmla="*/ 508762 h 6858000"/>
              <a:gd name="connsiteX6" fmla="*/ 11136440 w 12192000"/>
              <a:gd name="connsiteY6" fmla="*/ 508762 h 6858000"/>
              <a:gd name="connsiteX7" fmla="*/ 11136440 w 12192000"/>
              <a:gd name="connsiteY7" fmla="*/ 0 h 6858000"/>
              <a:gd name="connsiteX8" fmla="*/ 11126915 w 12192000"/>
              <a:gd name="connsiteY8" fmla="*/ 0 h 6858000"/>
              <a:gd name="connsiteX9" fmla="*/ 11126915 w 12192000"/>
              <a:gd name="connsiteY9" fmla="*/ 508762 h 6858000"/>
              <a:gd name="connsiteX10" fmla="*/ 10606215 w 12192000"/>
              <a:gd name="connsiteY10" fmla="*/ 508762 h 6858000"/>
              <a:gd name="connsiteX11" fmla="*/ 10606215 w 12192000"/>
              <a:gd name="connsiteY11" fmla="*/ 0 h 6858000"/>
              <a:gd name="connsiteX12" fmla="*/ 10596690 w 12192000"/>
              <a:gd name="connsiteY12" fmla="*/ 0 h 6858000"/>
              <a:gd name="connsiteX13" fmla="*/ 10596690 w 12192000"/>
              <a:gd name="connsiteY13" fmla="*/ 508762 h 6858000"/>
              <a:gd name="connsiteX14" fmla="*/ 10075990 w 12192000"/>
              <a:gd name="connsiteY14" fmla="*/ 508762 h 6858000"/>
              <a:gd name="connsiteX15" fmla="*/ 10075990 w 12192000"/>
              <a:gd name="connsiteY15" fmla="*/ 0 h 6858000"/>
              <a:gd name="connsiteX16" fmla="*/ 10066465 w 12192000"/>
              <a:gd name="connsiteY16" fmla="*/ 0 h 6858000"/>
              <a:gd name="connsiteX17" fmla="*/ 10066465 w 12192000"/>
              <a:gd name="connsiteY17" fmla="*/ 508762 h 6858000"/>
              <a:gd name="connsiteX18" fmla="*/ 9545765 w 12192000"/>
              <a:gd name="connsiteY18" fmla="*/ 508762 h 6858000"/>
              <a:gd name="connsiteX19" fmla="*/ 9545765 w 12192000"/>
              <a:gd name="connsiteY19" fmla="*/ 0 h 6858000"/>
              <a:gd name="connsiteX20" fmla="*/ 9536240 w 12192000"/>
              <a:gd name="connsiteY20" fmla="*/ 0 h 6858000"/>
              <a:gd name="connsiteX21" fmla="*/ 9536240 w 12192000"/>
              <a:gd name="connsiteY21" fmla="*/ 508762 h 6858000"/>
              <a:gd name="connsiteX22" fmla="*/ 9015540 w 12192000"/>
              <a:gd name="connsiteY22" fmla="*/ 508762 h 6858000"/>
              <a:gd name="connsiteX23" fmla="*/ 9015540 w 12192000"/>
              <a:gd name="connsiteY23" fmla="*/ 0 h 6858000"/>
              <a:gd name="connsiteX24" fmla="*/ 9006015 w 12192000"/>
              <a:gd name="connsiteY24" fmla="*/ 0 h 6858000"/>
              <a:gd name="connsiteX25" fmla="*/ 9006015 w 12192000"/>
              <a:gd name="connsiteY25" fmla="*/ 508762 h 6858000"/>
              <a:gd name="connsiteX26" fmla="*/ 8485315 w 12192000"/>
              <a:gd name="connsiteY26" fmla="*/ 508762 h 6858000"/>
              <a:gd name="connsiteX27" fmla="*/ 8485315 w 12192000"/>
              <a:gd name="connsiteY27" fmla="*/ 0 h 6858000"/>
              <a:gd name="connsiteX28" fmla="*/ 8475790 w 12192000"/>
              <a:gd name="connsiteY28" fmla="*/ 0 h 6858000"/>
              <a:gd name="connsiteX29" fmla="*/ 8475790 w 12192000"/>
              <a:gd name="connsiteY29" fmla="*/ 508762 h 6858000"/>
              <a:gd name="connsiteX30" fmla="*/ 7955090 w 12192000"/>
              <a:gd name="connsiteY30" fmla="*/ 508762 h 6858000"/>
              <a:gd name="connsiteX31" fmla="*/ 7955090 w 12192000"/>
              <a:gd name="connsiteY31" fmla="*/ 0 h 6858000"/>
              <a:gd name="connsiteX32" fmla="*/ 7945565 w 12192000"/>
              <a:gd name="connsiteY32" fmla="*/ 0 h 6858000"/>
              <a:gd name="connsiteX33" fmla="*/ 7945565 w 12192000"/>
              <a:gd name="connsiteY33" fmla="*/ 508762 h 6858000"/>
              <a:gd name="connsiteX34" fmla="*/ 7424865 w 12192000"/>
              <a:gd name="connsiteY34" fmla="*/ 508762 h 6858000"/>
              <a:gd name="connsiteX35" fmla="*/ 7424865 w 12192000"/>
              <a:gd name="connsiteY35" fmla="*/ 0 h 6858000"/>
              <a:gd name="connsiteX36" fmla="*/ 7416800 w 12192000"/>
              <a:gd name="connsiteY36" fmla="*/ 0 h 6858000"/>
              <a:gd name="connsiteX37" fmla="*/ 7416800 w 12192000"/>
              <a:gd name="connsiteY37" fmla="*/ 508762 h 6858000"/>
              <a:gd name="connsiteX38" fmla="*/ 6896100 w 12192000"/>
              <a:gd name="connsiteY38" fmla="*/ 508762 h 6858000"/>
              <a:gd name="connsiteX39" fmla="*/ 6896100 w 12192000"/>
              <a:gd name="connsiteY39" fmla="*/ 0 h 6858000"/>
              <a:gd name="connsiteX40" fmla="*/ 6886575 w 12192000"/>
              <a:gd name="connsiteY40" fmla="*/ 0 h 6858000"/>
              <a:gd name="connsiteX41" fmla="*/ 6886575 w 12192000"/>
              <a:gd name="connsiteY41" fmla="*/ 508762 h 6858000"/>
              <a:gd name="connsiteX42" fmla="*/ 6365875 w 12192000"/>
              <a:gd name="connsiteY42" fmla="*/ 508762 h 6858000"/>
              <a:gd name="connsiteX43" fmla="*/ 6365875 w 12192000"/>
              <a:gd name="connsiteY43" fmla="*/ 0 h 6858000"/>
              <a:gd name="connsiteX44" fmla="*/ 6356350 w 12192000"/>
              <a:gd name="connsiteY44" fmla="*/ 0 h 6858000"/>
              <a:gd name="connsiteX45" fmla="*/ 6356350 w 12192000"/>
              <a:gd name="connsiteY45" fmla="*/ 508762 h 6858000"/>
              <a:gd name="connsiteX46" fmla="*/ 5835650 w 12192000"/>
              <a:gd name="connsiteY46" fmla="*/ 508762 h 6858000"/>
              <a:gd name="connsiteX47" fmla="*/ 5835650 w 12192000"/>
              <a:gd name="connsiteY47" fmla="*/ 0 h 6858000"/>
              <a:gd name="connsiteX48" fmla="*/ 5826125 w 12192000"/>
              <a:gd name="connsiteY48" fmla="*/ 0 h 6858000"/>
              <a:gd name="connsiteX49" fmla="*/ 5826125 w 12192000"/>
              <a:gd name="connsiteY49" fmla="*/ 508762 h 6858000"/>
              <a:gd name="connsiteX50" fmla="*/ 5305425 w 12192000"/>
              <a:gd name="connsiteY50" fmla="*/ 508762 h 6858000"/>
              <a:gd name="connsiteX51" fmla="*/ 5305425 w 12192000"/>
              <a:gd name="connsiteY51" fmla="*/ 0 h 6858000"/>
              <a:gd name="connsiteX52" fmla="*/ 5295900 w 12192000"/>
              <a:gd name="connsiteY52" fmla="*/ 0 h 6858000"/>
              <a:gd name="connsiteX53" fmla="*/ 5295900 w 12192000"/>
              <a:gd name="connsiteY53" fmla="*/ 508762 h 6858000"/>
              <a:gd name="connsiteX54" fmla="*/ 4775200 w 12192000"/>
              <a:gd name="connsiteY54" fmla="*/ 508762 h 6858000"/>
              <a:gd name="connsiteX55" fmla="*/ 4775200 w 12192000"/>
              <a:gd name="connsiteY55" fmla="*/ 0 h 6858000"/>
              <a:gd name="connsiteX56" fmla="*/ 4765675 w 12192000"/>
              <a:gd name="connsiteY56" fmla="*/ 0 h 6858000"/>
              <a:gd name="connsiteX57" fmla="*/ 4765675 w 12192000"/>
              <a:gd name="connsiteY57" fmla="*/ 508762 h 6858000"/>
              <a:gd name="connsiteX58" fmla="*/ 4244975 w 12192000"/>
              <a:gd name="connsiteY58" fmla="*/ 508762 h 6858000"/>
              <a:gd name="connsiteX59" fmla="*/ 4244975 w 12192000"/>
              <a:gd name="connsiteY59" fmla="*/ 0 h 6858000"/>
              <a:gd name="connsiteX60" fmla="*/ 4235450 w 12192000"/>
              <a:gd name="connsiteY60" fmla="*/ 0 h 6858000"/>
              <a:gd name="connsiteX61" fmla="*/ 4235450 w 12192000"/>
              <a:gd name="connsiteY61" fmla="*/ 508762 h 6858000"/>
              <a:gd name="connsiteX62" fmla="*/ 3714750 w 12192000"/>
              <a:gd name="connsiteY62" fmla="*/ 508762 h 6858000"/>
              <a:gd name="connsiteX63" fmla="*/ 3714750 w 12192000"/>
              <a:gd name="connsiteY63" fmla="*/ 0 h 6858000"/>
              <a:gd name="connsiteX64" fmla="*/ 3705225 w 12192000"/>
              <a:gd name="connsiteY64" fmla="*/ 0 h 6858000"/>
              <a:gd name="connsiteX65" fmla="*/ 3705225 w 12192000"/>
              <a:gd name="connsiteY65" fmla="*/ 508762 h 6858000"/>
              <a:gd name="connsiteX66" fmla="*/ 3184525 w 12192000"/>
              <a:gd name="connsiteY66" fmla="*/ 508762 h 6858000"/>
              <a:gd name="connsiteX67" fmla="*/ 3184525 w 12192000"/>
              <a:gd name="connsiteY67" fmla="*/ 0 h 6858000"/>
              <a:gd name="connsiteX68" fmla="*/ 3175000 w 12192000"/>
              <a:gd name="connsiteY68" fmla="*/ 0 h 6858000"/>
              <a:gd name="connsiteX69" fmla="*/ 3175000 w 12192000"/>
              <a:gd name="connsiteY69" fmla="*/ 508762 h 6858000"/>
              <a:gd name="connsiteX70" fmla="*/ 2654300 w 12192000"/>
              <a:gd name="connsiteY70" fmla="*/ 508762 h 6858000"/>
              <a:gd name="connsiteX71" fmla="*/ 2654300 w 12192000"/>
              <a:gd name="connsiteY71" fmla="*/ 0 h 6858000"/>
              <a:gd name="connsiteX72" fmla="*/ 2644775 w 12192000"/>
              <a:gd name="connsiteY72" fmla="*/ 0 h 6858000"/>
              <a:gd name="connsiteX73" fmla="*/ 2644775 w 12192000"/>
              <a:gd name="connsiteY73" fmla="*/ 508762 h 6858000"/>
              <a:gd name="connsiteX74" fmla="*/ 2124075 w 12192000"/>
              <a:gd name="connsiteY74" fmla="*/ 508762 h 6858000"/>
              <a:gd name="connsiteX75" fmla="*/ 2124075 w 12192000"/>
              <a:gd name="connsiteY75" fmla="*/ 0 h 6858000"/>
              <a:gd name="connsiteX76" fmla="*/ 2114550 w 12192000"/>
              <a:gd name="connsiteY76" fmla="*/ 0 h 6858000"/>
              <a:gd name="connsiteX77" fmla="*/ 2114550 w 12192000"/>
              <a:gd name="connsiteY77" fmla="*/ 508762 h 6858000"/>
              <a:gd name="connsiteX78" fmla="*/ 1593850 w 12192000"/>
              <a:gd name="connsiteY78" fmla="*/ 508762 h 6858000"/>
              <a:gd name="connsiteX79" fmla="*/ 1593850 w 12192000"/>
              <a:gd name="connsiteY79" fmla="*/ 0 h 6858000"/>
              <a:gd name="connsiteX80" fmla="*/ 1584325 w 12192000"/>
              <a:gd name="connsiteY80" fmla="*/ 0 h 6858000"/>
              <a:gd name="connsiteX81" fmla="*/ 1584325 w 12192000"/>
              <a:gd name="connsiteY81" fmla="*/ 508762 h 6858000"/>
              <a:gd name="connsiteX82" fmla="*/ 1063625 w 12192000"/>
              <a:gd name="connsiteY82" fmla="*/ 508762 h 6858000"/>
              <a:gd name="connsiteX83" fmla="*/ 1063625 w 12192000"/>
              <a:gd name="connsiteY83" fmla="*/ 0 h 6858000"/>
              <a:gd name="connsiteX84" fmla="*/ 1054100 w 12192000"/>
              <a:gd name="connsiteY84" fmla="*/ 0 h 6858000"/>
              <a:gd name="connsiteX85" fmla="*/ 1054100 w 12192000"/>
              <a:gd name="connsiteY85" fmla="*/ 508762 h 6858000"/>
              <a:gd name="connsiteX86" fmla="*/ 533400 w 12192000"/>
              <a:gd name="connsiteY86" fmla="*/ 508762 h 6858000"/>
              <a:gd name="connsiteX87" fmla="*/ 533400 w 12192000"/>
              <a:gd name="connsiteY87" fmla="*/ 0 h 6858000"/>
              <a:gd name="connsiteX88" fmla="*/ 523875 w 12192000"/>
              <a:gd name="connsiteY88" fmla="*/ 0 h 6858000"/>
              <a:gd name="connsiteX89" fmla="*/ 523875 w 12192000"/>
              <a:gd name="connsiteY89" fmla="*/ 508762 h 6858000"/>
              <a:gd name="connsiteX90" fmla="*/ 0 w 12192000"/>
              <a:gd name="connsiteY90" fmla="*/ 508762 h 6858000"/>
              <a:gd name="connsiteX91" fmla="*/ 0 w 12192000"/>
              <a:gd name="connsiteY91" fmla="*/ 518287 h 6858000"/>
              <a:gd name="connsiteX92" fmla="*/ 525336 w 12192000"/>
              <a:gd name="connsiteY92" fmla="*/ 518287 h 6858000"/>
              <a:gd name="connsiteX93" fmla="*/ 525336 w 12192000"/>
              <a:gd name="connsiteY93" fmla="*/ 1038987 h 6858000"/>
              <a:gd name="connsiteX94" fmla="*/ 0 w 12192000"/>
              <a:gd name="connsiteY94" fmla="*/ 1038987 h 6858000"/>
              <a:gd name="connsiteX95" fmla="*/ 0 w 12192000"/>
              <a:gd name="connsiteY95" fmla="*/ 1048512 h 6858000"/>
              <a:gd name="connsiteX96" fmla="*/ 525336 w 12192000"/>
              <a:gd name="connsiteY96" fmla="*/ 1048512 h 6858000"/>
              <a:gd name="connsiteX97" fmla="*/ 525336 w 12192000"/>
              <a:gd name="connsiteY97" fmla="*/ 1569212 h 6858000"/>
              <a:gd name="connsiteX98" fmla="*/ 0 w 12192000"/>
              <a:gd name="connsiteY98" fmla="*/ 1569212 h 6858000"/>
              <a:gd name="connsiteX99" fmla="*/ 0 w 12192000"/>
              <a:gd name="connsiteY99" fmla="*/ 1578737 h 6858000"/>
              <a:gd name="connsiteX100" fmla="*/ 525336 w 12192000"/>
              <a:gd name="connsiteY100" fmla="*/ 1578737 h 6858000"/>
              <a:gd name="connsiteX101" fmla="*/ 525336 w 12192000"/>
              <a:gd name="connsiteY101" fmla="*/ 2099437 h 6858000"/>
              <a:gd name="connsiteX102" fmla="*/ 0 w 12192000"/>
              <a:gd name="connsiteY102" fmla="*/ 2099437 h 6858000"/>
              <a:gd name="connsiteX103" fmla="*/ 0 w 12192000"/>
              <a:gd name="connsiteY103" fmla="*/ 2108962 h 6858000"/>
              <a:gd name="connsiteX104" fmla="*/ 525336 w 12192000"/>
              <a:gd name="connsiteY104" fmla="*/ 2108962 h 6858000"/>
              <a:gd name="connsiteX105" fmla="*/ 525336 w 12192000"/>
              <a:gd name="connsiteY105" fmla="*/ 2629662 h 6858000"/>
              <a:gd name="connsiteX106" fmla="*/ 0 w 12192000"/>
              <a:gd name="connsiteY106" fmla="*/ 2629662 h 6858000"/>
              <a:gd name="connsiteX107" fmla="*/ 0 w 12192000"/>
              <a:gd name="connsiteY107" fmla="*/ 2639187 h 6858000"/>
              <a:gd name="connsiteX108" fmla="*/ 525336 w 12192000"/>
              <a:gd name="connsiteY108" fmla="*/ 2639187 h 6858000"/>
              <a:gd name="connsiteX109" fmla="*/ 525336 w 12192000"/>
              <a:gd name="connsiteY109" fmla="*/ 3159887 h 6858000"/>
              <a:gd name="connsiteX110" fmla="*/ 0 w 12192000"/>
              <a:gd name="connsiteY110" fmla="*/ 3159887 h 6858000"/>
              <a:gd name="connsiteX111" fmla="*/ 0 w 12192000"/>
              <a:gd name="connsiteY111" fmla="*/ 3168650 h 6858000"/>
              <a:gd name="connsiteX112" fmla="*/ 525336 w 12192000"/>
              <a:gd name="connsiteY112" fmla="*/ 3168650 h 6858000"/>
              <a:gd name="connsiteX113" fmla="*/ 525336 w 12192000"/>
              <a:gd name="connsiteY113" fmla="*/ 3689350 h 6858000"/>
              <a:gd name="connsiteX114" fmla="*/ 0 w 12192000"/>
              <a:gd name="connsiteY114" fmla="*/ 3689350 h 6858000"/>
              <a:gd name="connsiteX115" fmla="*/ 0 w 12192000"/>
              <a:gd name="connsiteY115" fmla="*/ 3698875 h 6858000"/>
              <a:gd name="connsiteX116" fmla="*/ 525336 w 12192000"/>
              <a:gd name="connsiteY116" fmla="*/ 3698875 h 6858000"/>
              <a:gd name="connsiteX117" fmla="*/ 525336 w 12192000"/>
              <a:gd name="connsiteY117" fmla="*/ 4219575 h 6858000"/>
              <a:gd name="connsiteX118" fmla="*/ 0 w 12192000"/>
              <a:gd name="connsiteY118" fmla="*/ 4219575 h 6858000"/>
              <a:gd name="connsiteX119" fmla="*/ 0 w 12192000"/>
              <a:gd name="connsiteY119" fmla="*/ 4229100 h 6858000"/>
              <a:gd name="connsiteX120" fmla="*/ 525336 w 12192000"/>
              <a:gd name="connsiteY120" fmla="*/ 4229100 h 6858000"/>
              <a:gd name="connsiteX121" fmla="*/ 525336 w 12192000"/>
              <a:gd name="connsiteY121" fmla="*/ 4749800 h 6858000"/>
              <a:gd name="connsiteX122" fmla="*/ 0 w 12192000"/>
              <a:gd name="connsiteY122" fmla="*/ 4749800 h 6858000"/>
              <a:gd name="connsiteX123" fmla="*/ 0 w 12192000"/>
              <a:gd name="connsiteY123" fmla="*/ 4759325 h 6858000"/>
              <a:gd name="connsiteX124" fmla="*/ 525336 w 12192000"/>
              <a:gd name="connsiteY124" fmla="*/ 4759325 h 6858000"/>
              <a:gd name="connsiteX125" fmla="*/ 525336 w 12192000"/>
              <a:gd name="connsiteY125" fmla="*/ 5280025 h 6858000"/>
              <a:gd name="connsiteX126" fmla="*/ 0 w 12192000"/>
              <a:gd name="connsiteY126" fmla="*/ 5280025 h 6858000"/>
              <a:gd name="connsiteX127" fmla="*/ 0 w 12192000"/>
              <a:gd name="connsiteY127" fmla="*/ 5289550 h 6858000"/>
              <a:gd name="connsiteX128" fmla="*/ 525336 w 12192000"/>
              <a:gd name="connsiteY128" fmla="*/ 5289550 h 6858000"/>
              <a:gd name="connsiteX129" fmla="*/ 525336 w 12192000"/>
              <a:gd name="connsiteY129" fmla="*/ 5810250 h 6858000"/>
              <a:gd name="connsiteX130" fmla="*/ 0 w 12192000"/>
              <a:gd name="connsiteY130" fmla="*/ 5810250 h 6858000"/>
              <a:gd name="connsiteX131" fmla="*/ 0 w 12192000"/>
              <a:gd name="connsiteY131" fmla="*/ 5819775 h 6858000"/>
              <a:gd name="connsiteX132" fmla="*/ 525336 w 12192000"/>
              <a:gd name="connsiteY132" fmla="*/ 5819775 h 6858000"/>
              <a:gd name="connsiteX133" fmla="*/ 525336 w 12192000"/>
              <a:gd name="connsiteY133" fmla="*/ 6340475 h 6858000"/>
              <a:gd name="connsiteX134" fmla="*/ 0 w 12192000"/>
              <a:gd name="connsiteY134" fmla="*/ 6340475 h 6858000"/>
              <a:gd name="connsiteX135" fmla="*/ 0 w 12192000"/>
              <a:gd name="connsiteY135" fmla="*/ 6350000 h 6858000"/>
              <a:gd name="connsiteX136" fmla="*/ 525336 w 12192000"/>
              <a:gd name="connsiteY136" fmla="*/ 6350000 h 6858000"/>
              <a:gd name="connsiteX137" fmla="*/ 525336 w 12192000"/>
              <a:gd name="connsiteY137" fmla="*/ 6858000 h 6858000"/>
              <a:gd name="connsiteX138" fmla="*/ 534861 w 12192000"/>
              <a:gd name="connsiteY138" fmla="*/ 6858000 h 6858000"/>
              <a:gd name="connsiteX139" fmla="*/ 534861 w 12192000"/>
              <a:gd name="connsiteY139" fmla="*/ 6349238 h 6858000"/>
              <a:gd name="connsiteX140" fmla="*/ 1055561 w 12192000"/>
              <a:gd name="connsiteY140" fmla="*/ 6349238 h 6858000"/>
              <a:gd name="connsiteX141" fmla="*/ 1055561 w 12192000"/>
              <a:gd name="connsiteY141" fmla="*/ 6858000 h 6858000"/>
              <a:gd name="connsiteX142" fmla="*/ 1065086 w 12192000"/>
              <a:gd name="connsiteY142" fmla="*/ 6858000 h 6858000"/>
              <a:gd name="connsiteX143" fmla="*/ 1065086 w 12192000"/>
              <a:gd name="connsiteY143" fmla="*/ 6349238 h 6858000"/>
              <a:gd name="connsiteX144" fmla="*/ 1585786 w 12192000"/>
              <a:gd name="connsiteY144" fmla="*/ 6349238 h 6858000"/>
              <a:gd name="connsiteX145" fmla="*/ 1585786 w 12192000"/>
              <a:gd name="connsiteY145" fmla="*/ 6858000 h 6858000"/>
              <a:gd name="connsiteX146" fmla="*/ 1595311 w 12192000"/>
              <a:gd name="connsiteY146" fmla="*/ 6858000 h 6858000"/>
              <a:gd name="connsiteX147" fmla="*/ 1595311 w 12192000"/>
              <a:gd name="connsiteY147" fmla="*/ 6349238 h 6858000"/>
              <a:gd name="connsiteX148" fmla="*/ 2116011 w 12192000"/>
              <a:gd name="connsiteY148" fmla="*/ 6349238 h 6858000"/>
              <a:gd name="connsiteX149" fmla="*/ 2116011 w 12192000"/>
              <a:gd name="connsiteY149" fmla="*/ 6858000 h 6858000"/>
              <a:gd name="connsiteX150" fmla="*/ 2125536 w 12192000"/>
              <a:gd name="connsiteY150" fmla="*/ 6858000 h 6858000"/>
              <a:gd name="connsiteX151" fmla="*/ 2125536 w 12192000"/>
              <a:gd name="connsiteY151" fmla="*/ 6349238 h 6858000"/>
              <a:gd name="connsiteX152" fmla="*/ 2646236 w 12192000"/>
              <a:gd name="connsiteY152" fmla="*/ 6349238 h 6858000"/>
              <a:gd name="connsiteX153" fmla="*/ 2646236 w 12192000"/>
              <a:gd name="connsiteY153" fmla="*/ 6858000 h 6858000"/>
              <a:gd name="connsiteX154" fmla="*/ 2655761 w 12192000"/>
              <a:gd name="connsiteY154" fmla="*/ 6858000 h 6858000"/>
              <a:gd name="connsiteX155" fmla="*/ 2655761 w 12192000"/>
              <a:gd name="connsiteY155" fmla="*/ 6349238 h 6858000"/>
              <a:gd name="connsiteX156" fmla="*/ 3176461 w 12192000"/>
              <a:gd name="connsiteY156" fmla="*/ 6349238 h 6858000"/>
              <a:gd name="connsiteX157" fmla="*/ 3176461 w 12192000"/>
              <a:gd name="connsiteY157" fmla="*/ 6858000 h 6858000"/>
              <a:gd name="connsiteX158" fmla="*/ 3185986 w 12192000"/>
              <a:gd name="connsiteY158" fmla="*/ 6858000 h 6858000"/>
              <a:gd name="connsiteX159" fmla="*/ 3185986 w 12192000"/>
              <a:gd name="connsiteY159" fmla="*/ 6349238 h 6858000"/>
              <a:gd name="connsiteX160" fmla="*/ 3706686 w 12192000"/>
              <a:gd name="connsiteY160" fmla="*/ 6349238 h 6858000"/>
              <a:gd name="connsiteX161" fmla="*/ 3706686 w 12192000"/>
              <a:gd name="connsiteY161" fmla="*/ 6858000 h 6858000"/>
              <a:gd name="connsiteX162" fmla="*/ 3716211 w 12192000"/>
              <a:gd name="connsiteY162" fmla="*/ 6858000 h 6858000"/>
              <a:gd name="connsiteX163" fmla="*/ 3716211 w 12192000"/>
              <a:gd name="connsiteY163" fmla="*/ 6349238 h 6858000"/>
              <a:gd name="connsiteX164" fmla="*/ 4236911 w 12192000"/>
              <a:gd name="connsiteY164" fmla="*/ 6349238 h 6858000"/>
              <a:gd name="connsiteX165" fmla="*/ 4236911 w 12192000"/>
              <a:gd name="connsiteY165" fmla="*/ 6858000 h 6858000"/>
              <a:gd name="connsiteX166" fmla="*/ 4246436 w 12192000"/>
              <a:gd name="connsiteY166" fmla="*/ 6858000 h 6858000"/>
              <a:gd name="connsiteX167" fmla="*/ 4246436 w 12192000"/>
              <a:gd name="connsiteY167" fmla="*/ 6349238 h 6858000"/>
              <a:gd name="connsiteX168" fmla="*/ 4767136 w 12192000"/>
              <a:gd name="connsiteY168" fmla="*/ 6349238 h 6858000"/>
              <a:gd name="connsiteX169" fmla="*/ 4767136 w 12192000"/>
              <a:gd name="connsiteY169" fmla="*/ 6858000 h 6858000"/>
              <a:gd name="connsiteX170" fmla="*/ 4776661 w 12192000"/>
              <a:gd name="connsiteY170" fmla="*/ 6858000 h 6858000"/>
              <a:gd name="connsiteX171" fmla="*/ 4776661 w 12192000"/>
              <a:gd name="connsiteY171" fmla="*/ 6349238 h 6858000"/>
              <a:gd name="connsiteX172" fmla="*/ 5297361 w 12192000"/>
              <a:gd name="connsiteY172" fmla="*/ 6349238 h 6858000"/>
              <a:gd name="connsiteX173" fmla="*/ 5297361 w 12192000"/>
              <a:gd name="connsiteY173" fmla="*/ 6858000 h 6858000"/>
              <a:gd name="connsiteX174" fmla="*/ 5306886 w 12192000"/>
              <a:gd name="connsiteY174" fmla="*/ 6858000 h 6858000"/>
              <a:gd name="connsiteX175" fmla="*/ 5306886 w 12192000"/>
              <a:gd name="connsiteY175" fmla="*/ 6349238 h 6858000"/>
              <a:gd name="connsiteX176" fmla="*/ 5827586 w 12192000"/>
              <a:gd name="connsiteY176" fmla="*/ 6349238 h 6858000"/>
              <a:gd name="connsiteX177" fmla="*/ 5827586 w 12192000"/>
              <a:gd name="connsiteY177" fmla="*/ 6858000 h 6858000"/>
              <a:gd name="connsiteX178" fmla="*/ 5835650 w 12192000"/>
              <a:gd name="connsiteY178" fmla="*/ 6858000 h 6858000"/>
              <a:gd name="connsiteX179" fmla="*/ 5835650 w 12192000"/>
              <a:gd name="connsiteY179" fmla="*/ 6349238 h 6858000"/>
              <a:gd name="connsiteX180" fmla="*/ 6356350 w 12192000"/>
              <a:gd name="connsiteY180" fmla="*/ 6349238 h 6858000"/>
              <a:gd name="connsiteX181" fmla="*/ 6356350 w 12192000"/>
              <a:gd name="connsiteY181" fmla="*/ 6858000 h 6858000"/>
              <a:gd name="connsiteX182" fmla="*/ 6365875 w 12192000"/>
              <a:gd name="connsiteY182" fmla="*/ 6858000 h 6858000"/>
              <a:gd name="connsiteX183" fmla="*/ 6365875 w 12192000"/>
              <a:gd name="connsiteY183" fmla="*/ 6349238 h 6858000"/>
              <a:gd name="connsiteX184" fmla="*/ 6886575 w 12192000"/>
              <a:gd name="connsiteY184" fmla="*/ 6349238 h 6858000"/>
              <a:gd name="connsiteX185" fmla="*/ 6886575 w 12192000"/>
              <a:gd name="connsiteY185" fmla="*/ 6858000 h 6858000"/>
              <a:gd name="connsiteX186" fmla="*/ 6896100 w 12192000"/>
              <a:gd name="connsiteY186" fmla="*/ 6858000 h 6858000"/>
              <a:gd name="connsiteX187" fmla="*/ 6896100 w 12192000"/>
              <a:gd name="connsiteY187" fmla="*/ 6349238 h 6858000"/>
              <a:gd name="connsiteX188" fmla="*/ 7416800 w 12192000"/>
              <a:gd name="connsiteY188" fmla="*/ 6349238 h 6858000"/>
              <a:gd name="connsiteX189" fmla="*/ 7416800 w 12192000"/>
              <a:gd name="connsiteY189" fmla="*/ 6858000 h 6858000"/>
              <a:gd name="connsiteX190" fmla="*/ 7426325 w 12192000"/>
              <a:gd name="connsiteY190" fmla="*/ 6858000 h 6858000"/>
              <a:gd name="connsiteX191" fmla="*/ 7426325 w 12192000"/>
              <a:gd name="connsiteY191" fmla="*/ 6349238 h 6858000"/>
              <a:gd name="connsiteX192" fmla="*/ 7947025 w 12192000"/>
              <a:gd name="connsiteY192" fmla="*/ 6349238 h 6858000"/>
              <a:gd name="connsiteX193" fmla="*/ 7947025 w 12192000"/>
              <a:gd name="connsiteY193" fmla="*/ 6858000 h 6858000"/>
              <a:gd name="connsiteX194" fmla="*/ 7956550 w 12192000"/>
              <a:gd name="connsiteY194" fmla="*/ 6858000 h 6858000"/>
              <a:gd name="connsiteX195" fmla="*/ 7956550 w 12192000"/>
              <a:gd name="connsiteY195" fmla="*/ 6349238 h 6858000"/>
              <a:gd name="connsiteX196" fmla="*/ 8477250 w 12192000"/>
              <a:gd name="connsiteY196" fmla="*/ 6349238 h 6858000"/>
              <a:gd name="connsiteX197" fmla="*/ 8477250 w 12192000"/>
              <a:gd name="connsiteY197" fmla="*/ 6858000 h 6858000"/>
              <a:gd name="connsiteX198" fmla="*/ 8486775 w 12192000"/>
              <a:gd name="connsiteY198" fmla="*/ 6858000 h 6858000"/>
              <a:gd name="connsiteX199" fmla="*/ 8486775 w 12192000"/>
              <a:gd name="connsiteY199" fmla="*/ 6349238 h 6858000"/>
              <a:gd name="connsiteX200" fmla="*/ 9007475 w 12192000"/>
              <a:gd name="connsiteY200" fmla="*/ 6349238 h 6858000"/>
              <a:gd name="connsiteX201" fmla="*/ 9007475 w 12192000"/>
              <a:gd name="connsiteY201" fmla="*/ 6858000 h 6858000"/>
              <a:gd name="connsiteX202" fmla="*/ 9017000 w 12192000"/>
              <a:gd name="connsiteY202" fmla="*/ 6858000 h 6858000"/>
              <a:gd name="connsiteX203" fmla="*/ 9017000 w 12192000"/>
              <a:gd name="connsiteY203" fmla="*/ 6349238 h 6858000"/>
              <a:gd name="connsiteX204" fmla="*/ 9537700 w 12192000"/>
              <a:gd name="connsiteY204" fmla="*/ 6349238 h 6858000"/>
              <a:gd name="connsiteX205" fmla="*/ 9537700 w 12192000"/>
              <a:gd name="connsiteY205" fmla="*/ 6858000 h 6858000"/>
              <a:gd name="connsiteX206" fmla="*/ 9547225 w 12192000"/>
              <a:gd name="connsiteY206" fmla="*/ 6858000 h 6858000"/>
              <a:gd name="connsiteX207" fmla="*/ 9547225 w 12192000"/>
              <a:gd name="connsiteY207" fmla="*/ 6349238 h 6858000"/>
              <a:gd name="connsiteX208" fmla="*/ 10067925 w 12192000"/>
              <a:gd name="connsiteY208" fmla="*/ 6349238 h 6858000"/>
              <a:gd name="connsiteX209" fmla="*/ 10067925 w 12192000"/>
              <a:gd name="connsiteY209" fmla="*/ 6858000 h 6858000"/>
              <a:gd name="connsiteX210" fmla="*/ 10077450 w 12192000"/>
              <a:gd name="connsiteY210" fmla="*/ 6858000 h 6858000"/>
              <a:gd name="connsiteX211" fmla="*/ 10077450 w 12192000"/>
              <a:gd name="connsiteY211" fmla="*/ 6349238 h 6858000"/>
              <a:gd name="connsiteX212" fmla="*/ 10598150 w 12192000"/>
              <a:gd name="connsiteY212" fmla="*/ 6349238 h 6858000"/>
              <a:gd name="connsiteX213" fmla="*/ 10598150 w 12192000"/>
              <a:gd name="connsiteY213" fmla="*/ 6858000 h 6858000"/>
              <a:gd name="connsiteX214" fmla="*/ 10607675 w 12192000"/>
              <a:gd name="connsiteY214" fmla="*/ 6858000 h 6858000"/>
              <a:gd name="connsiteX215" fmla="*/ 10607675 w 12192000"/>
              <a:gd name="connsiteY215" fmla="*/ 6349238 h 6858000"/>
              <a:gd name="connsiteX216" fmla="*/ 11128375 w 12192000"/>
              <a:gd name="connsiteY216" fmla="*/ 6349238 h 6858000"/>
              <a:gd name="connsiteX217" fmla="*/ 11128375 w 12192000"/>
              <a:gd name="connsiteY217" fmla="*/ 6858000 h 6858000"/>
              <a:gd name="connsiteX218" fmla="*/ 11137900 w 12192000"/>
              <a:gd name="connsiteY218" fmla="*/ 6858000 h 6858000"/>
              <a:gd name="connsiteX219" fmla="*/ 11137900 w 12192000"/>
              <a:gd name="connsiteY219" fmla="*/ 6349238 h 6858000"/>
              <a:gd name="connsiteX220" fmla="*/ 11658600 w 12192000"/>
              <a:gd name="connsiteY220" fmla="*/ 6349238 h 6858000"/>
              <a:gd name="connsiteX221" fmla="*/ 11658600 w 12192000"/>
              <a:gd name="connsiteY221" fmla="*/ 6858000 h 6858000"/>
              <a:gd name="connsiteX222" fmla="*/ 11668125 w 12192000"/>
              <a:gd name="connsiteY222" fmla="*/ 6858000 h 6858000"/>
              <a:gd name="connsiteX223" fmla="*/ 11668125 w 12192000"/>
              <a:gd name="connsiteY223" fmla="*/ 6349238 h 6858000"/>
              <a:gd name="connsiteX224" fmla="*/ 12192000 w 12192000"/>
              <a:gd name="connsiteY224" fmla="*/ 6349238 h 6858000"/>
              <a:gd name="connsiteX225" fmla="*/ 12192000 w 12192000"/>
              <a:gd name="connsiteY225" fmla="*/ 6339713 h 6858000"/>
              <a:gd name="connsiteX226" fmla="*/ 11666665 w 12192000"/>
              <a:gd name="connsiteY226" fmla="*/ 6339713 h 6858000"/>
              <a:gd name="connsiteX227" fmla="*/ 11666665 w 12192000"/>
              <a:gd name="connsiteY227" fmla="*/ 5819013 h 6858000"/>
              <a:gd name="connsiteX228" fmla="*/ 12192000 w 12192000"/>
              <a:gd name="connsiteY228" fmla="*/ 5819013 h 6858000"/>
              <a:gd name="connsiteX229" fmla="*/ 12192000 w 12192000"/>
              <a:gd name="connsiteY229" fmla="*/ 5809488 h 6858000"/>
              <a:gd name="connsiteX230" fmla="*/ 11666665 w 12192000"/>
              <a:gd name="connsiteY230" fmla="*/ 5809488 h 6858000"/>
              <a:gd name="connsiteX231" fmla="*/ 11666665 w 12192000"/>
              <a:gd name="connsiteY231" fmla="*/ 5288788 h 6858000"/>
              <a:gd name="connsiteX232" fmla="*/ 12192000 w 12192000"/>
              <a:gd name="connsiteY232" fmla="*/ 5288788 h 6858000"/>
              <a:gd name="connsiteX233" fmla="*/ 12192000 w 12192000"/>
              <a:gd name="connsiteY233" fmla="*/ 5279263 h 6858000"/>
              <a:gd name="connsiteX234" fmla="*/ 11666665 w 12192000"/>
              <a:gd name="connsiteY234" fmla="*/ 5279263 h 6858000"/>
              <a:gd name="connsiteX235" fmla="*/ 11666665 w 12192000"/>
              <a:gd name="connsiteY235" fmla="*/ 4758563 h 6858000"/>
              <a:gd name="connsiteX236" fmla="*/ 12192000 w 12192000"/>
              <a:gd name="connsiteY236" fmla="*/ 4758563 h 6858000"/>
              <a:gd name="connsiteX237" fmla="*/ 12192000 w 12192000"/>
              <a:gd name="connsiteY237" fmla="*/ 4749800 h 6858000"/>
              <a:gd name="connsiteX238" fmla="*/ 11666665 w 12192000"/>
              <a:gd name="connsiteY238" fmla="*/ 4749800 h 6858000"/>
              <a:gd name="connsiteX239" fmla="*/ 11666665 w 12192000"/>
              <a:gd name="connsiteY239" fmla="*/ 4229100 h 6858000"/>
              <a:gd name="connsiteX240" fmla="*/ 12192000 w 12192000"/>
              <a:gd name="connsiteY240" fmla="*/ 4229100 h 6858000"/>
              <a:gd name="connsiteX241" fmla="*/ 12192000 w 12192000"/>
              <a:gd name="connsiteY241" fmla="*/ 4219575 h 6858000"/>
              <a:gd name="connsiteX242" fmla="*/ 11666665 w 12192000"/>
              <a:gd name="connsiteY242" fmla="*/ 4219575 h 6858000"/>
              <a:gd name="connsiteX243" fmla="*/ 11666665 w 12192000"/>
              <a:gd name="connsiteY243" fmla="*/ 3698875 h 6858000"/>
              <a:gd name="connsiteX244" fmla="*/ 12192000 w 12192000"/>
              <a:gd name="connsiteY244" fmla="*/ 3698875 h 6858000"/>
              <a:gd name="connsiteX245" fmla="*/ 12192000 w 12192000"/>
              <a:gd name="connsiteY245" fmla="*/ 3689350 h 6858000"/>
              <a:gd name="connsiteX246" fmla="*/ 11666665 w 12192000"/>
              <a:gd name="connsiteY246" fmla="*/ 3689350 h 6858000"/>
              <a:gd name="connsiteX247" fmla="*/ 11666665 w 12192000"/>
              <a:gd name="connsiteY247" fmla="*/ 3168650 h 6858000"/>
              <a:gd name="connsiteX248" fmla="*/ 12192000 w 12192000"/>
              <a:gd name="connsiteY248" fmla="*/ 3168650 h 6858000"/>
              <a:gd name="connsiteX249" fmla="*/ 12192000 w 12192000"/>
              <a:gd name="connsiteY249" fmla="*/ 3159125 h 6858000"/>
              <a:gd name="connsiteX250" fmla="*/ 11666665 w 12192000"/>
              <a:gd name="connsiteY250" fmla="*/ 3159125 h 6858000"/>
              <a:gd name="connsiteX251" fmla="*/ 11666665 w 12192000"/>
              <a:gd name="connsiteY251" fmla="*/ 2638425 h 6858000"/>
              <a:gd name="connsiteX252" fmla="*/ 12192000 w 12192000"/>
              <a:gd name="connsiteY252" fmla="*/ 2638425 h 6858000"/>
              <a:gd name="connsiteX253" fmla="*/ 12192000 w 12192000"/>
              <a:gd name="connsiteY253" fmla="*/ 2628900 h 6858000"/>
              <a:gd name="connsiteX254" fmla="*/ 11666665 w 12192000"/>
              <a:gd name="connsiteY254" fmla="*/ 2628900 h 6858000"/>
              <a:gd name="connsiteX255" fmla="*/ 11666665 w 12192000"/>
              <a:gd name="connsiteY255" fmla="*/ 2108200 h 6858000"/>
              <a:gd name="connsiteX256" fmla="*/ 12192000 w 12192000"/>
              <a:gd name="connsiteY256" fmla="*/ 2108200 h 6858000"/>
              <a:gd name="connsiteX257" fmla="*/ 12192000 w 12192000"/>
              <a:gd name="connsiteY257" fmla="*/ 2098675 h 6858000"/>
              <a:gd name="connsiteX258" fmla="*/ 11666665 w 12192000"/>
              <a:gd name="connsiteY258" fmla="*/ 2098675 h 6858000"/>
              <a:gd name="connsiteX259" fmla="*/ 11666665 w 12192000"/>
              <a:gd name="connsiteY259" fmla="*/ 1577975 h 6858000"/>
              <a:gd name="connsiteX260" fmla="*/ 12192000 w 12192000"/>
              <a:gd name="connsiteY260" fmla="*/ 1577975 h 6858000"/>
              <a:gd name="connsiteX261" fmla="*/ 12192000 w 12192000"/>
              <a:gd name="connsiteY261" fmla="*/ 1568450 h 6858000"/>
              <a:gd name="connsiteX262" fmla="*/ 11666665 w 12192000"/>
              <a:gd name="connsiteY262" fmla="*/ 1568450 h 6858000"/>
              <a:gd name="connsiteX263" fmla="*/ 11666665 w 12192000"/>
              <a:gd name="connsiteY263" fmla="*/ 1047750 h 6858000"/>
              <a:gd name="connsiteX264" fmla="*/ 12192000 w 12192000"/>
              <a:gd name="connsiteY264" fmla="*/ 1047750 h 6858000"/>
              <a:gd name="connsiteX265" fmla="*/ 12192000 w 12192000"/>
              <a:gd name="connsiteY265" fmla="*/ 1038225 h 6858000"/>
              <a:gd name="connsiteX266" fmla="*/ 11666665 w 12192000"/>
              <a:gd name="connsiteY266" fmla="*/ 1038225 h 6858000"/>
              <a:gd name="connsiteX267" fmla="*/ 11666665 w 12192000"/>
              <a:gd name="connsiteY267" fmla="*/ 517525 h 6858000"/>
              <a:gd name="connsiteX268" fmla="*/ 11127042 w 12192000"/>
              <a:gd name="connsiteY268" fmla="*/ 518287 h 6858000"/>
              <a:gd name="connsiteX269" fmla="*/ 11127042 w 12192000"/>
              <a:gd name="connsiteY269" fmla="*/ 1038987 h 6858000"/>
              <a:gd name="connsiteX270" fmla="*/ 10606342 w 12192000"/>
              <a:gd name="connsiteY270" fmla="*/ 1038987 h 6858000"/>
              <a:gd name="connsiteX271" fmla="*/ 10606342 w 12192000"/>
              <a:gd name="connsiteY271" fmla="*/ 518287 h 6858000"/>
              <a:gd name="connsiteX272" fmla="*/ 3715385 w 12192000"/>
              <a:gd name="connsiteY272" fmla="*/ 3168650 h 6858000"/>
              <a:gd name="connsiteX273" fmla="*/ 4236085 w 12192000"/>
              <a:gd name="connsiteY273" fmla="*/ 3168650 h 6858000"/>
              <a:gd name="connsiteX274" fmla="*/ 4236085 w 12192000"/>
              <a:gd name="connsiteY274" fmla="*/ 3689350 h 6858000"/>
              <a:gd name="connsiteX275" fmla="*/ 3715385 w 12192000"/>
              <a:gd name="connsiteY275" fmla="*/ 3689350 h 6858000"/>
              <a:gd name="connsiteX276" fmla="*/ 3705860 w 12192000"/>
              <a:gd name="connsiteY276" fmla="*/ 3689350 h 6858000"/>
              <a:gd name="connsiteX277" fmla="*/ 3185160 w 12192000"/>
              <a:gd name="connsiteY277" fmla="*/ 3689350 h 6858000"/>
              <a:gd name="connsiteX278" fmla="*/ 3185160 w 12192000"/>
              <a:gd name="connsiteY278" fmla="*/ 3168650 h 6858000"/>
              <a:gd name="connsiteX279" fmla="*/ 3705860 w 12192000"/>
              <a:gd name="connsiteY279" fmla="*/ 3168650 h 6858000"/>
              <a:gd name="connsiteX280" fmla="*/ 4245610 w 12192000"/>
              <a:gd name="connsiteY280" fmla="*/ 3168650 h 6858000"/>
              <a:gd name="connsiteX281" fmla="*/ 4766310 w 12192000"/>
              <a:gd name="connsiteY281" fmla="*/ 3168650 h 6858000"/>
              <a:gd name="connsiteX282" fmla="*/ 4766310 w 12192000"/>
              <a:gd name="connsiteY282" fmla="*/ 3689350 h 6858000"/>
              <a:gd name="connsiteX283" fmla="*/ 4245610 w 12192000"/>
              <a:gd name="connsiteY283" fmla="*/ 3689350 h 6858000"/>
              <a:gd name="connsiteX284" fmla="*/ 4775645 w 12192000"/>
              <a:gd name="connsiteY284" fmla="*/ 3168650 h 6858000"/>
              <a:gd name="connsiteX285" fmla="*/ 5296345 w 12192000"/>
              <a:gd name="connsiteY285" fmla="*/ 3168650 h 6858000"/>
              <a:gd name="connsiteX286" fmla="*/ 5296345 w 12192000"/>
              <a:gd name="connsiteY286" fmla="*/ 3689350 h 6858000"/>
              <a:gd name="connsiteX287" fmla="*/ 4775645 w 12192000"/>
              <a:gd name="connsiteY287" fmla="*/ 3689350 h 6858000"/>
              <a:gd name="connsiteX288" fmla="*/ 5305743 w 12192000"/>
              <a:gd name="connsiteY288" fmla="*/ 3168650 h 6858000"/>
              <a:gd name="connsiteX289" fmla="*/ 5826443 w 12192000"/>
              <a:gd name="connsiteY289" fmla="*/ 3168650 h 6858000"/>
              <a:gd name="connsiteX290" fmla="*/ 5826443 w 12192000"/>
              <a:gd name="connsiteY290" fmla="*/ 3689350 h 6858000"/>
              <a:gd name="connsiteX291" fmla="*/ 5305743 w 12192000"/>
              <a:gd name="connsiteY291" fmla="*/ 3689350 h 6858000"/>
              <a:gd name="connsiteX292" fmla="*/ 5835650 w 12192000"/>
              <a:gd name="connsiteY292" fmla="*/ 3168650 h 6858000"/>
              <a:gd name="connsiteX293" fmla="*/ 6356350 w 12192000"/>
              <a:gd name="connsiteY293" fmla="*/ 3168650 h 6858000"/>
              <a:gd name="connsiteX294" fmla="*/ 6356350 w 12192000"/>
              <a:gd name="connsiteY294" fmla="*/ 3689350 h 6858000"/>
              <a:gd name="connsiteX295" fmla="*/ 5835650 w 12192000"/>
              <a:gd name="connsiteY295" fmla="*/ 3689350 h 6858000"/>
              <a:gd name="connsiteX296" fmla="*/ 6365748 w 12192000"/>
              <a:gd name="connsiteY296" fmla="*/ 3168650 h 6858000"/>
              <a:gd name="connsiteX297" fmla="*/ 6886448 w 12192000"/>
              <a:gd name="connsiteY297" fmla="*/ 3168650 h 6858000"/>
              <a:gd name="connsiteX298" fmla="*/ 6886448 w 12192000"/>
              <a:gd name="connsiteY298" fmla="*/ 3689350 h 6858000"/>
              <a:gd name="connsiteX299" fmla="*/ 6365748 w 12192000"/>
              <a:gd name="connsiteY299" fmla="*/ 3689350 h 6858000"/>
              <a:gd name="connsiteX300" fmla="*/ 6895846 w 12192000"/>
              <a:gd name="connsiteY300" fmla="*/ 3168650 h 6858000"/>
              <a:gd name="connsiteX301" fmla="*/ 7416546 w 12192000"/>
              <a:gd name="connsiteY301" fmla="*/ 3168650 h 6858000"/>
              <a:gd name="connsiteX302" fmla="*/ 7416546 w 12192000"/>
              <a:gd name="connsiteY302" fmla="*/ 3689350 h 6858000"/>
              <a:gd name="connsiteX303" fmla="*/ 6895846 w 12192000"/>
              <a:gd name="connsiteY303" fmla="*/ 3689350 h 6858000"/>
              <a:gd name="connsiteX304" fmla="*/ 7425944 w 12192000"/>
              <a:gd name="connsiteY304" fmla="*/ 3168650 h 6858000"/>
              <a:gd name="connsiteX305" fmla="*/ 7946644 w 12192000"/>
              <a:gd name="connsiteY305" fmla="*/ 3168650 h 6858000"/>
              <a:gd name="connsiteX306" fmla="*/ 7946644 w 12192000"/>
              <a:gd name="connsiteY306" fmla="*/ 3689350 h 6858000"/>
              <a:gd name="connsiteX307" fmla="*/ 7425944 w 12192000"/>
              <a:gd name="connsiteY307" fmla="*/ 3689350 h 6858000"/>
              <a:gd name="connsiteX308" fmla="*/ 7955979 w 12192000"/>
              <a:gd name="connsiteY308" fmla="*/ 3168650 h 6858000"/>
              <a:gd name="connsiteX309" fmla="*/ 8476679 w 12192000"/>
              <a:gd name="connsiteY309" fmla="*/ 3168650 h 6858000"/>
              <a:gd name="connsiteX310" fmla="*/ 8476679 w 12192000"/>
              <a:gd name="connsiteY310" fmla="*/ 3689350 h 6858000"/>
              <a:gd name="connsiteX311" fmla="*/ 7955979 w 12192000"/>
              <a:gd name="connsiteY311" fmla="*/ 3689350 h 6858000"/>
              <a:gd name="connsiteX312" fmla="*/ 8486077 w 12192000"/>
              <a:gd name="connsiteY312" fmla="*/ 3168650 h 6858000"/>
              <a:gd name="connsiteX313" fmla="*/ 9006777 w 12192000"/>
              <a:gd name="connsiteY313" fmla="*/ 3168650 h 6858000"/>
              <a:gd name="connsiteX314" fmla="*/ 9006777 w 12192000"/>
              <a:gd name="connsiteY314" fmla="*/ 3689350 h 6858000"/>
              <a:gd name="connsiteX315" fmla="*/ 8486077 w 12192000"/>
              <a:gd name="connsiteY315" fmla="*/ 3689350 h 6858000"/>
              <a:gd name="connsiteX316" fmla="*/ 8486077 w 12192000"/>
              <a:gd name="connsiteY316" fmla="*/ 3159125 h 6858000"/>
              <a:gd name="connsiteX317" fmla="*/ 8486077 w 12192000"/>
              <a:gd name="connsiteY317" fmla="*/ 2638425 h 6858000"/>
              <a:gd name="connsiteX318" fmla="*/ 9006777 w 12192000"/>
              <a:gd name="connsiteY318" fmla="*/ 2638425 h 6858000"/>
              <a:gd name="connsiteX319" fmla="*/ 9006777 w 12192000"/>
              <a:gd name="connsiteY319" fmla="*/ 3159125 h 6858000"/>
              <a:gd name="connsiteX320" fmla="*/ 8476552 w 12192000"/>
              <a:gd name="connsiteY320" fmla="*/ 3159125 h 6858000"/>
              <a:gd name="connsiteX321" fmla="*/ 7955852 w 12192000"/>
              <a:gd name="connsiteY321" fmla="*/ 3159125 h 6858000"/>
              <a:gd name="connsiteX322" fmla="*/ 7955852 w 12192000"/>
              <a:gd name="connsiteY322" fmla="*/ 2638425 h 6858000"/>
              <a:gd name="connsiteX323" fmla="*/ 8476552 w 12192000"/>
              <a:gd name="connsiteY323" fmla="*/ 2638425 h 6858000"/>
              <a:gd name="connsiteX324" fmla="*/ 7946454 w 12192000"/>
              <a:gd name="connsiteY324" fmla="*/ 3159125 h 6858000"/>
              <a:gd name="connsiteX325" fmla="*/ 7425754 w 12192000"/>
              <a:gd name="connsiteY325" fmla="*/ 3159125 h 6858000"/>
              <a:gd name="connsiteX326" fmla="*/ 7425754 w 12192000"/>
              <a:gd name="connsiteY326" fmla="*/ 2638425 h 6858000"/>
              <a:gd name="connsiteX327" fmla="*/ 7946454 w 12192000"/>
              <a:gd name="connsiteY327" fmla="*/ 2638425 h 6858000"/>
              <a:gd name="connsiteX328" fmla="*/ 7416419 w 12192000"/>
              <a:gd name="connsiteY328" fmla="*/ 3159125 h 6858000"/>
              <a:gd name="connsiteX329" fmla="*/ 6895719 w 12192000"/>
              <a:gd name="connsiteY329" fmla="*/ 3159125 h 6858000"/>
              <a:gd name="connsiteX330" fmla="*/ 6895719 w 12192000"/>
              <a:gd name="connsiteY330" fmla="*/ 2638425 h 6858000"/>
              <a:gd name="connsiteX331" fmla="*/ 7416419 w 12192000"/>
              <a:gd name="connsiteY331" fmla="*/ 2638425 h 6858000"/>
              <a:gd name="connsiteX332" fmla="*/ 6886321 w 12192000"/>
              <a:gd name="connsiteY332" fmla="*/ 3159125 h 6858000"/>
              <a:gd name="connsiteX333" fmla="*/ 6365621 w 12192000"/>
              <a:gd name="connsiteY333" fmla="*/ 3159125 h 6858000"/>
              <a:gd name="connsiteX334" fmla="*/ 6365621 w 12192000"/>
              <a:gd name="connsiteY334" fmla="*/ 2638425 h 6858000"/>
              <a:gd name="connsiteX335" fmla="*/ 6886321 w 12192000"/>
              <a:gd name="connsiteY335" fmla="*/ 2638425 h 6858000"/>
              <a:gd name="connsiteX336" fmla="*/ 6356223 w 12192000"/>
              <a:gd name="connsiteY336" fmla="*/ 3159125 h 6858000"/>
              <a:gd name="connsiteX337" fmla="*/ 5835650 w 12192000"/>
              <a:gd name="connsiteY337" fmla="*/ 3159125 h 6858000"/>
              <a:gd name="connsiteX338" fmla="*/ 5835650 w 12192000"/>
              <a:gd name="connsiteY338" fmla="*/ 2638425 h 6858000"/>
              <a:gd name="connsiteX339" fmla="*/ 6356350 w 12192000"/>
              <a:gd name="connsiteY339" fmla="*/ 2638425 h 6858000"/>
              <a:gd name="connsiteX340" fmla="*/ 5826125 w 12192000"/>
              <a:gd name="connsiteY340" fmla="*/ 3159125 h 6858000"/>
              <a:gd name="connsiteX341" fmla="*/ 5305425 w 12192000"/>
              <a:gd name="connsiteY341" fmla="*/ 3159125 h 6858000"/>
              <a:gd name="connsiteX342" fmla="*/ 5305425 w 12192000"/>
              <a:gd name="connsiteY342" fmla="*/ 2638425 h 6858000"/>
              <a:gd name="connsiteX343" fmla="*/ 5826125 w 12192000"/>
              <a:gd name="connsiteY343" fmla="*/ 2638425 h 6858000"/>
              <a:gd name="connsiteX344" fmla="*/ 5296027 w 12192000"/>
              <a:gd name="connsiteY344" fmla="*/ 3159125 h 6858000"/>
              <a:gd name="connsiteX345" fmla="*/ 4775327 w 12192000"/>
              <a:gd name="connsiteY345" fmla="*/ 3159125 h 6858000"/>
              <a:gd name="connsiteX346" fmla="*/ 4775327 w 12192000"/>
              <a:gd name="connsiteY346" fmla="*/ 2638425 h 6858000"/>
              <a:gd name="connsiteX347" fmla="*/ 5296027 w 12192000"/>
              <a:gd name="connsiteY347" fmla="*/ 2638425 h 6858000"/>
              <a:gd name="connsiteX348" fmla="*/ 4765929 w 12192000"/>
              <a:gd name="connsiteY348" fmla="*/ 3159125 h 6858000"/>
              <a:gd name="connsiteX349" fmla="*/ 4245229 w 12192000"/>
              <a:gd name="connsiteY349" fmla="*/ 3159125 h 6858000"/>
              <a:gd name="connsiteX350" fmla="*/ 4245229 w 12192000"/>
              <a:gd name="connsiteY350" fmla="*/ 2638425 h 6858000"/>
              <a:gd name="connsiteX351" fmla="*/ 4765929 w 12192000"/>
              <a:gd name="connsiteY351" fmla="*/ 2638425 h 6858000"/>
              <a:gd name="connsiteX352" fmla="*/ 4235895 w 12192000"/>
              <a:gd name="connsiteY352" fmla="*/ 3159125 h 6858000"/>
              <a:gd name="connsiteX353" fmla="*/ 3715195 w 12192000"/>
              <a:gd name="connsiteY353" fmla="*/ 3159125 h 6858000"/>
              <a:gd name="connsiteX354" fmla="*/ 3715195 w 12192000"/>
              <a:gd name="connsiteY354" fmla="*/ 2638425 h 6858000"/>
              <a:gd name="connsiteX355" fmla="*/ 4235895 w 12192000"/>
              <a:gd name="connsiteY355" fmla="*/ 2638425 h 6858000"/>
              <a:gd name="connsiteX356" fmla="*/ 3705797 w 12192000"/>
              <a:gd name="connsiteY356" fmla="*/ 3159125 h 6858000"/>
              <a:gd name="connsiteX357" fmla="*/ 3185097 w 12192000"/>
              <a:gd name="connsiteY357" fmla="*/ 3159125 h 6858000"/>
              <a:gd name="connsiteX358" fmla="*/ 3185097 w 12192000"/>
              <a:gd name="connsiteY358" fmla="*/ 2638425 h 6858000"/>
              <a:gd name="connsiteX359" fmla="*/ 3705797 w 12192000"/>
              <a:gd name="connsiteY359" fmla="*/ 2638425 h 6858000"/>
              <a:gd name="connsiteX360" fmla="*/ 3175699 w 12192000"/>
              <a:gd name="connsiteY360" fmla="*/ 3159125 h 6858000"/>
              <a:gd name="connsiteX361" fmla="*/ 2654999 w 12192000"/>
              <a:gd name="connsiteY361" fmla="*/ 3159125 h 6858000"/>
              <a:gd name="connsiteX362" fmla="*/ 2654999 w 12192000"/>
              <a:gd name="connsiteY362" fmla="*/ 2638425 h 6858000"/>
              <a:gd name="connsiteX363" fmla="*/ 3175699 w 12192000"/>
              <a:gd name="connsiteY363" fmla="*/ 2638425 h 6858000"/>
              <a:gd name="connsiteX364" fmla="*/ 3175699 w 12192000"/>
              <a:gd name="connsiteY364" fmla="*/ 3168650 h 6858000"/>
              <a:gd name="connsiteX365" fmla="*/ 3175699 w 12192000"/>
              <a:gd name="connsiteY365" fmla="*/ 3689350 h 6858000"/>
              <a:gd name="connsiteX366" fmla="*/ 2654999 w 12192000"/>
              <a:gd name="connsiteY366" fmla="*/ 3689350 h 6858000"/>
              <a:gd name="connsiteX367" fmla="*/ 2654999 w 12192000"/>
              <a:gd name="connsiteY367" fmla="*/ 3168650 h 6858000"/>
              <a:gd name="connsiteX368" fmla="*/ 3175699 w 12192000"/>
              <a:gd name="connsiteY368" fmla="*/ 3698748 h 6858000"/>
              <a:gd name="connsiteX369" fmla="*/ 3175699 w 12192000"/>
              <a:gd name="connsiteY369" fmla="*/ 4219448 h 6858000"/>
              <a:gd name="connsiteX370" fmla="*/ 2654999 w 12192000"/>
              <a:gd name="connsiteY370" fmla="*/ 4219448 h 6858000"/>
              <a:gd name="connsiteX371" fmla="*/ 2654999 w 12192000"/>
              <a:gd name="connsiteY371" fmla="*/ 3698748 h 6858000"/>
              <a:gd name="connsiteX372" fmla="*/ 3185224 w 12192000"/>
              <a:gd name="connsiteY372" fmla="*/ 3698748 h 6858000"/>
              <a:gd name="connsiteX373" fmla="*/ 3705924 w 12192000"/>
              <a:gd name="connsiteY373" fmla="*/ 3698748 h 6858000"/>
              <a:gd name="connsiteX374" fmla="*/ 3705924 w 12192000"/>
              <a:gd name="connsiteY374" fmla="*/ 4219448 h 6858000"/>
              <a:gd name="connsiteX375" fmla="*/ 3185224 w 12192000"/>
              <a:gd name="connsiteY375" fmla="*/ 4219448 h 6858000"/>
              <a:gd name="connsiteX376" fmla="*/ 3715322 w 12192000"/>
              <a:gd name="connsiteY376" fmla="*/ 3698748 h 6858000"/>
              <a:gd name="connsiteX377" fmla="*/ 4236022 w 12192000"/>
              <a:gd name="connsiteY377" fmla="*/ 3698748 h 6858000"/>
              <a:gd name="connsiteX378" fmla="*/ 4236022 w 12192000"/>
              <a:gd name="connsiteY378" fmla="*/ 4219448 h 6858000"/>
              <a:gd name="connsiteX379" fmla="*/ 3715322 w 12192000"/>
              <a:gd name="connsiteY379" fmla="*/ 4219448 h 6858000"/>
              <a:gd name="connsiteX380" fmla="*/ 4245420 w 12192000"/>
              <a:gd name="connsiteY380" fmla="*/ 3698748 h 6858000"/>
              <a:gd name="connsiteX381" fmla="*/ 4766120 w 12192000"/>
              <a:gd name="connsiteY381" fmla="*/ 3698748 h 6858000"/>
              <a:gd name="connsiteX382" fmla="*/ 4766120 w 12192000"/>
              <a:gd name="connsiteY382" fmla="*/ 4219448 h 6858000"/>
              <a:gd name="connsiteX383" fmla="*/ 4245420 w 12192000"/>
              <a:gd name="connsiteY383" fmla="*/ 4219448 h 6858000"/>
              <a:gd name="connsiteX384" fmla="*/ 4775454 w 12192000"/>
              <a:gd name="connsiteY384" fmla="*/ 3698748 h 6858000"/>
              <a:gd name="connsiteX385" fmla="*/ 5296154 w 12192000"/>
              <a:gd name="connsiteY385" fmla="*/ 3698748 h 6858000"/>
              <a:gd name="connsiteX386" fmla="*/ 5296154 w 12192000"/>
              <a:gd name="connsiteY386" fmla="*/ 4219448 h 6858000"/>
              <a:gd name="connsiteX387" fmla="*/ 4775454 w 12192000"/>
              <a:gd name="connsiteY387" fmla="*/ 4219448 h 6858000"/>
              <a:gd name="connsiteX388" fmla="*/ 5305552 w 12192000"/>
              <a:gd name="connsiteY388" fmla="*/ 3698748 h 6858000"/>
              <a:gd name="connsiteX389" fmla="*/ 5826252 w 12192000"/>
              <a:gd name="connsiteY389" fmla="*/ 3698748 h 6858000"/>
              <a:gd name="connsiteX390" fmla="*/ 5826252 w 12192000"/>
              <a:gd name="connsiteY390" fmla="*/ 4219448 h 6858000"/>
              <a:gd name="connsiteX391" fmla="*/ 5305552 w 12192000"/>
              <a:gd name="connsiteY391" fmla="*/ 4219448 h 6858000"/>
              <a:gd name="connsiteX392" fmla="*/ 5835650 w 12192000"/>
              <a:gd name="connsiteY392" fmla="*/ 3698748 h 6858000"/>
              <a:gd name="connsiteX393" fmla="*/ 6356350 w 12192000"/>
              <a:gd name="connsiteY393" fmla="*/ 3698748 h 6858000"/>
              <a:gd name="connsiteX394" fmla="*/ 6356350 w 12192000"/>
              <a:gd name="connsiteY394" fmla="*/ 4219448 h 6858000"/>
              <a:gd name="connsiteX395" fmla="*/ 5835650 w 12192000"/>
              <a:gd name="connsiteY395" fmla="*/ 4219448 h 6858000"/>
              <a:gd name="connsiteX396" fmla="*/ 6365748 w 12192000"/>
              <a:gd name="connsiteY396" fmla="*/ 3698748 h 6858000"/>
              <a:gd name="connsiteX397" fmla="*/ 6886448 w 12192000"/>
              <a:gd name="connsiteY397" fmla="*/ 3698748 h 6858000"/>
              <a:gd name="connsiteX398" fmla="*/ 6886448 w 12192000"/>
              <a:gd name="connsiteY398" fmla="*/ 4219448 h 6858000"/>
              <a:gd name="connsiteX399" fmla="*/ 6365748 w 12192000"/>
              <a:gd name="connsiteY399" fmla="*/ 4219448 h 6858000"/>
              <a:gd name="connsiteX400" fmla="*/ 6895846 w 12192000"/>
              <a:gd name="connsiteY400" fmla="*/ 3698748 h 6858000"/>
              <a:gd name="connsiteX401" fmla="*/ 7416546 w 12192000"/>
              <a:gd name="connsiteY401" fmla="*/ 3698748 h 6858000"/>
              <a:gd name="connsiteX402" fmla="*/ 7416546 w 12192000"/>
              <a:gd name="connsiteY402" fmla="*/ 4219448 h 6858000"/>
              <a:gd name="connsiteX403" fmla="*/ 6895846 w 12192000"/>
              <a:gd name="connsiteY403" fmla="*/ 4219448 h 6858000"/>
              <a:gd name="connsiteX404" fmla="*/ 7425944 w 12192000"/>
              <a:gd name="connsiteY404" fmla="*/ 3698748 h 6858000"/>
              <a:gd name="connsiteX405" fmla="*/ 7946644 w 12192000"/>
              <a:gd name="connsiteY405" fmla="*/ 3698748 h 6858000"/>
              <a:gd name="connsiteX406" fmla="*/ 7946644 w 12192000"/>
              <a:gd name="connsiteY406" fmla="*/ 4219448 h 6858000"/>
              <a:gd name="connsiteX407" fmla="*/ 7425944 w 12192000"/>
              <a:gd name="connsiteY407" fmla="*/ 4219448 h 6858000"/>
              <a:gd name="connsiteX408" fmla="*/ 7955979 w 12192000"/>
              <a:gd name="connsiteY408" fmla="*/ 3698748 h 6858000"/>
              <a:gd name="connsiteX409" fmla="*/ 8476679 w 12192000"/>
              <a:gd name="connsiteY409" fmla="*/ 3698748 h 6858000"/>
              <a:gd name="connsiteX410" fmla="*/ 8476679 w 12192000"/>
              <a:gd name="connsiteY410" fmla="*/ 4219448 h 6858000"/>
              <a:gd name="connsiteX411" fmla="*/ 7955979 w 12192000"/>
              <a:gd name="connsiteY411" fmla="*/ 4219448 h 6858000"/>
              <a:gd name="connsiteX412" fmla="*/ 8486077 w 12192000"/>
              <a:gd name="connsiteY412" fmla="*/ 3698748 h 6858000"/>
              <a:gd name="connsiteX413" fmla="*/ 9006777 w 12192000"/>
              <a:gd name="connsiteY413" fmla="*/ 3698748 h 6858000"/>
              <a:gd name="connsiteX414" fmla="*/ 9006777 w 12192000"/>
              <a:gd name="connsiteY414" fmla="*/ 4219448 h 6858000"/>
              <a:gd name="connsiteX415" fmla="*/ 8486077 w 12192000"/>
              <a:gd name="connsiteY415" fmla="*/ 4219448 h 6858000"/>
              <a:gd name="connsiteX416" fmla="*/ 9016174 w 12192000"/>
              <a:gd name="connsiteY416" fmla="*/ 3698748 h 6858000"/>
              <a:gd name="connsiteX417" fmla="*/ 9536874 w 12192000"/>
              <a:gd name="connsiteY417" fmla="*/ 3698748 h 6858000"/>
              <a:gd name="connsiteX418" fmla="*/ 9536874 w 12192000"/>
              <a:gd name="connsiteY418" fmla="*/ 4219448 h 6858000"/>
              <a:gd name="connsiteX419" fmla="*/ 9016174 w 12192000"/>
              <a:gd name="connsiteY419" fmla="*/ 4219448 h 6858000"/>
              <a:gd name="connsiteX420" fmla="*/ 9016174 w 12192000"/>
              <a:gd name="connsiteY420" fmla="*/ 3689223 h 6858000"/>
              <a:gd name="connsiteX421" fmla="*/ 9016174 w 12192000"/>
              <a:gd name="connsiteY421" fmla="*/ 3168650 h 6858000"/>
              <a:gd name="connsiteX422" fmla="*/ 9536874 w 12192000"/>
              <a:gd name="connsiteY422" fmla="*/ 3168650 h 6858000"/>
              <a:gd name="connsiteX423" fmla="*/ 9536874 w 12192000"/>
              <a:gd name="connsiteY423" fmla="*/ 3689350 h 6858000"/>
              <a:gd name="connsiteX424" fmla="*/ 9016174 w 12192000"/>
              <a:gd name="connsiteY424" fmla="*/ 3159125 h 6858000"/>
              <a:gd name="connsiteX425" fmla="*/ 9016174 w 12192000"/>
              <a:gd name="connsiteY425" fmla="*/ 2638425 h 6858000"/>
              <a:gd name="connsiteX426" fmla="*/ 9536874 w 12192000"/>
              <a:gd name="connsiteY426" fmla="*/ 2638425 h 6858000"/>
              <a:gd name="connsiteX427" fmla="*/ 9536874 w 12192000"/>
              <a:gd name="connsiteY427" fmla="*/ 3159125 h 6858000"/>
              <a:gd name="connsiteX428" fmla="*/ 9016174 w 12192000"/>
              <a:gd name="connsiteY428" fmla="*/ 2629027 h 6858000"/>
              <a:gd name="connsiteX429" fmla="*/ 9016174 w 12192000"/>
              <a:gd name="connsiteY429" fmla="*/ 2108327 h 6858000"/>
              <a:gd name="connsiteX430" fmla="*/ 9536874 w 12192000"/>
              <a:gd name="connsiteY430" fmla="*/ 2108327 h 6858000"/>
              <a:gd name="connsiteX431" fmla="*/ 9536874 w 12192000"/>
              <a:gd name="connsiteY431" fmla="*/ 2629027 h 6858000"/>
              <a:gd name="connsiteX432" fmla="*/ 9006649 w 12192000"/>
              <a:gd name="connsiteY432" fmla="*/ 2629027 h 6858000"/>
              <a:gd name="connsiteX433" fmla="*/ 8485949 w 12192000"/>
              <a:gd name="connsiteY433" fmla="*/ 2629027 h 6858000"/>
              <a:gd name="connsiteX434" fmla="*/ 8485949 w 12192000"/>
              <a:gd name="connsiteY434" fmla="*/ 2108327 h 6858000"/>
              <a:gd name="connsiteX435" fmla="*/ 9006649 w 12192000"/>
              <a:gd name="connsiteY435" fmla="*/ 2108327 h 6858000"/>
              <a:gd name="connsiteX436" fmla="*/ 8476552 w 12192000"/>
              <a:gd name="connsiteY436" fmla="*/ 2629027 h 6858000"/>
              <a:gd name="connsiteX437" fmla="*/ 7955852 w 12192000"/>
              <a:gd name="connsiteY437" fmla="*/ 2629027 h 6858000"/>
              <a:gd name="connsiteX438" fmla="*/ 7955852 w 12192000"/>
              <a:gd name="connsiteY438" fmla="*/ 2108327 h 6858000"/>
              <a:gd name="connsiteX439" fmla="*/ 8476552 w 12192000"/>
              <a:gd name="connsiteY439" fmla="*/ 2108327 h 6858000"/>
              <a:gd name="connsiteX440" fmla="*/ 7946454 w 12192000"/>
              <a:gd name="connsiteY440" fmla="*/ 2629027 h 6858000"/>
              <a:gd name="connsiteX441" fmla="*/ 7425754 w 12192000"/>
              <a:gd name="connsiteY441" fmla="*/ 2629027 h 6858000"/>
              <a:gd name="connsiteX442" fmla="*/ 7425754 w 12192000"/>
              <a:gd name="connsiteY442" fmla="*/ 2108327 h 6858000"/>
              <a:gd name="connsiteX443" fmla="*/ 7946454 w 12192000"/>
              <a:gd name="connsiteY443" fmla="*/ 2108327 h 6858000"/>
              <a:gd name="connsiteX444" fmla="*/ 7416800 w 12192000"/>
              <a:gd name="connsiteY444" fmla="*/ 2628900 h 6858000"/>
              <a:gd name="connsiteX445" fmla="*/ 6896100 w 12192000"/>
              <a:gd name="connsiteY445" fmla="*/ 2628900 h 6858000"/>
              <a:gd name="connsiteX446" fmla="*/ 6896100 w 12192000"/>
              <a:gd name="connsiteY446" fmla="*/ 2108200 h 6858000"/>
              <a:gd name="connsiteX447" fmla="*/ 7416800 w 12192000"/>
              <a:gd name="connsiteY447" fmla="*/ 2108200 h 6858000"/>
              <a:gd name="connsiteX448" fmla="*/ 6886702 w 12192000"/>
              <a:gd name="connsiteY448" fmla="*/ 2628900 h 6858000"/>
              <a:gd name="connsiteX449" fmla="*/ 6366002 w 12192000"/>
              <a:gd name="connsiteY449" fmla="*/ 2628900 h 6858000"/>
              <a:gd name="connsiteX450" fmla="*/ 6366002 w 12192000"/>
              <a:gd name="connsiteY450" fmla="*/ 2108200 h 6858000"/>
              <a:gd name="connsiteX451" fmla="*/ 6886702 w 12192000"/>
              <a:gd name="connsiteY451" fmla="*/ 2108200 h 6858000"/>
              <a:gd name="connsiteX452" fmla="*/ 6356350 w 12192000"/>
              <a:gd name="connsiteY452" fmla="*/ 2628900 h 6858000"/>
              <a:gd name="connsiteX453" fmla="*/ 5835650 w 12192000"/>
              <a:gd name="connsiteY453" fmla="*/ 2628900 h 6858000"/>
              <a:gd name="connsiteX454" fmla="*/ 5835650 w 12192000"/>
              <a:gd name="connsiteY454" fmla="*/ 2108200 h 6858000"/>
              <a:gd name="connsiteX455" fmla="*/ 6356350 w 12192000"/>
              <a:gd name="connsiteY455" fmla="*/ 2108200 h 6858000"/>
              <a:gd name="connsiteX456" fmla="*/ 5826252 w 12192000"/>
              <a:gd name="connsiteY456" fmla="*/ 2628900 h 6858000"/>
              <a:gd name="connsiteX457" fmla="*/ 5305552 w 12192000"/>
              <a:gd name="connsiteY457" fmla="*/ 2628900 h 6858000"/>
              <a:gd name="connsiteX458" fmla="*/ 5305552 w 12192000"/>
              <a:gd name="connsiteY458" fmla="*/ 2108200 h 6858000"/>
              <a:gd name="connsiteX459" fmla="*/ 5826252 w 12192000"/>
              <a:gd name="connsiteY459" fmla="*/ 2108200 h 6858000"/>
              <a:gd name="connsiteX460" fmla="*/ 5295900 w 12192000"/>
              <a:gd name="connsiteY460" fmla="*/ 2628900 h 6858000"/>
              <a:gd name="connsiteX461" fmla="*/ 4775200 w 12192000"/>
              <a:gd name="connsiteY461" fmla="*/ 2628900 h 6858000"/>
              <a:gd name="connsiteX462" fmla="*/ 4775200 w 12192000"/>
              <a:gd name="connsiteY462" fmla="*/ 2108200 h 6858000"/>
              <a:gd name="connsiteX463" fmla="*/ 5295900 w 12192000"/>
              <a:gd name="connsiteY463" fmla="*/ 2108200 h 6858000"/>
              <a:gd name="connsiteX464" fmla="*/ 4765802 w 12192000"/>
              <a:gd name="connsiteY464" fmla="*/ 2628900 h 6858000"/>
              <a:gd name="connsiteX465" fmla="*/ 4245102 w 12192000"/>
              <a:gd name="connsiteY465" fmla="*/ 2628900 h 6858000"/>
              <a:gd name="connsiteX466" fmla="*/ 4245102 w 12192000"/>
              <a:gd name="connsiteY466" fmla="*/ 2108200 h 6858000"/>
              <a:gd name="connsiteX467" fmla="*/ 4765802 w 12192000"/>
              <a:gd name="connsiteY467" fmla="*/ 2108200 h 6858000"/>
              <a:gd name="connsiteX468" fmla="*/ 4235768 w 12192000"/>
              <a:gd name="connsiteY468" fmla="*/ 2628900 h 6858000"/>
              <a:gd name="connsiteX469" fmla="*/ 3715068 w 12192000"/>
              <a:gd name="connsiteY469" fmla="*/ 2628900 h 6858000"/>
              <a:gd name="connsiteX470" fmla="*/ 3715068 w 12192000"/>
              <a:gd name="connsiteY470" fmla="*/ 2108200 h 6858000"/>
              <a:gd name="connsiteX471" fmla="*/ 4235768 w 12192000"/>
              <a:gd name="connsiteY471" fmla="*/ 2108200 h 6858000"/>
              <a:gd name="connsiteX472" fmla="*/ 3705670 w 12192000"/>
              <a:gd name="connsiteY472" fmla="*/ 2628900 h 6858000"/>
              <a:gd name="connsiteX473" fmla="*/ 3184970 w 12192000"/>
              <a:gd name="connsiteY473" fmla="*/ 2628900 h 6858000"/>
              <a:gd name="connsiteX474" fmla="*/ 3184970 w 12192000"/>
              <a:gd name="connsiteY474" fmla="*/ 2108200 h 6858000"/>
              <a:gd name="connsiteX475" fmla="*/ 3705670 w 12192000"/>
              <a:gd name="connsiteY475" fmla="*/ 2108200 h 6858000"/>
              <a:gd name="connsiteX476" fmla="*/ 3175572 w 12192000"/>
              <a:gd name="connsiteY476" fmla="*/ 2628900 h 6858000"/>
              <a:gd name="connsiteX477" fmla="*/ 2654872 w 12192000"/>
              <a:gd name="connsiteY477" fmla="*/ 2628900 h 6858000"/>
              <a:gd name="connsiteX478" fmla="*/ 2654872 w 12192000"/>
              <a:gd name="connsiteY478" fmla="*/ 2108200 h 6858000"/>
              <a:gd name="connsiteX479" fmla="*/ 3175572 w 12192000"/>
              <a:gd name="connsiteY479" fmla="*/ 2108200 h 6858000"/>
              <a:gd name="connsiteX480" fmla="*/ 2645474 w 12192000"/>
              <a:gd name="connsiteY480" fmla="*/ 2628900 h 6858000"/>
              <a:gd name="connsiteX481" fmla="*/ 2124774 w 12192000"/>
              <a:gd name="connsiteY481" fmla="*/ 2628900 h 6858000"/>
              <a:gd name="connsiteX482" fmla="*/ 2124774 w 12192000"/>
              <a:gd name="connsiteY482" fmla="*/ 2108200 h 6858000"/>
              <a:gd name="connsiteX483" fmla="*/ 2645474 w 12192000"/>
              <a:gd name="connsiteY483" fmla="*/ 2108200 h 6858000"/>
              <a:gd name="connsiteX484" fmla="*/ 2645474 w 12192000"/>
              <a:gd name="connsiteY484" fmla="*/ 2638425 h 6858000"/>
              <a:gd name="connsiteX485" fmla="*/ 2645474 w 12192000"/>
              <a:gd name="connsiteY485" fmla="*/ 3159125 h 6858000"/>
              <a:gd name="connsiteX486" fmla="*/ 2124774 w 12192000"/>
              <a:gd name="connsiteY486" fmla="*/ 3159125 h 6858000"/>
              <a:gd name="connsiteX487" fmla="*/ 2124774 w 12192000"/>
              <a:gd name="connsiteY487" fmla="*/ 2638425 h 6858000"/>
              <a:gd name="connsiteX488" fmla="*/ 2645474 w 12192000"/>
              <a:gd name="connsiteY488" fmla="*/ 3168523 h 6858000"/>
              <a:gd name="connsiteX489" fmla="*/ 2645474 w 12192000"/>
              <a:gd name="connsiteY489" fmla="*/ 3689223 h 6858000"/>
              <a:gd name="connsiteX490" fmla="*/ 2124774 w 12192000"/>
              <a:gd name="connsiteY490" fmla="*/ 3689223 h 6858000"/>
              <a:gd name="connsiteX491" fmla="*/ 2124774 w 12192000"/>
              <a:gd name="connsiteY491" fmla="*/ 3168650 h 6858000"/>
              <a:gd name="connsiteX492" fmla="*/ 2645474 w 12192000"/>
              <a:gd name="connsiteY492" fmla="*/ 3698621 h 6858000"/>
              <a:gd name="connsiteX493" fmla="*/ 2645474 w 12192000"/>
              <a:gd name="connsiteY493" fmla="*/ 4219321 h 6858000"/>
              <a:gd name="connsiteX494" fmla="*/ 2124774 w 12192000"/>
              <a:gd name="connsiteY494" fmla="*/ 4219321 h 6858000"/>
              <a:gd name="connsiteX495" fmla="*/ 2124774 w 12192000"/>
              <a:gd name="connsiteY495" fmla="*/ 3698621 h 6858000"/>
              <a:gd name="connsiteX496" fmla="*/ 2645474 w 12192000"/>
              <a:gd name="connsiteY496" fmla="*/ 4228719 h 6858000"/>
              <a:gd name="connsiteX497" fmla="*/ 2645474 w 12192000"/>
              <a:gd name="connsiteY497" fmla="*/ 4749419 h 6858000"/>
              <a:gd name="connsiteX498" fmla="*/ 2124774 w 12192000"/>
              <a:gd name="connsiteY498" fmla="*/ 4749419 h 6858000"/>
              <a:gd name="connsiteX499" fmla="*/ 2124774 w 12192000"/>
              <a:gd name="connsiteY499" fmla="*/ 4229100 h 6858000"/>
              <a:gd name="connsiteX500" fmla="*/ 2654999 w 12192000"/>
              <a:gd name="connsiteY500" fmla="*/ 4228719 h 6858000"/>
              <a:gd name="connsiteX501" fmla="*/ 3175699 w 12192000"/>
              <a:gd name="connsiteY501" fmla="*/ 4228719 h 6858000"/>
              <a:gd name="connsiteX502" fmla="*/ 3175699 w 12192000"/>
              <a:gd name="connsiteY502" fmla="*/ 4749419 h 6858000"/>
              <a:gd name="connsiteX503" fmla="*/ 2654999 w 12192000"/>
              <a:gd name="connsiteY503" fmla="*/ 4749419 h 6858000"/>
              <a:gd name="connsiteX504" fmla="*/ 3185097 w 12192000"/>
              <a:gd name="connsiteY504" fmla="*/ 4228719 h 6858000"/>
              <a:gd name="connsiteX505" fmla="*/ 3705797 w 12192000"/>
              <a:gd name="connsiteY505" fmla="*/ 4228719 h 6858000"/>
              <a:gd name="connsiteX506" fmla="*/ 3705797 w 12192000"/>
              <a:gd name="connsiteY506" fmla="*/ 4749419 h 6858000"/>
              <a:gd name="connsiteX507" fmla="*/ 3185097 w 12192000"/>
              <a:gd name="connsiteY507" fmla="*/ 4749419 h 6858000"/>
              <a:gd name="connsiteX508" fmla="*/ 3715195 w 12192000"/>
              <a:gd name="connsiteY508" fmla="*/ 4228719 h 6858000"/>
              <a:gd name="connsiteX509" fmla="*/ 4235895 w 12192000"/>
              <a:gd name="connsiteY509" fmla="*/ 4228719 h 6858000"/>
              <a:gd name="connsiteX510" fmla="*/ 4235895 w 12192000"/>
              <a:gd name="connsiteY510" fmla="*/ 4749419 h 6858000"/>
              <a:gd name="connsiteX511" fmla="*/ 3715195 w 12192000"/>
              <a:gd name="connsiteY511" fmla="*/ 4749419 h 6858000"/>
              <a:gd name="connsiteX512" fmla="*/ 4245293 w 12192000"/>
              <a:gd name="connsiteY512" fmla="*/ 4228719 h 6858000"/>
              <a:gd name="connsiteX513" fmla="*/ 4765993 w 12192000"/>
              <a:gd name="connsiteY513" fmla="*/ 4228719 h 6858000"/>
              <a:gd name="connsiteX514" fmla="*/ 4765993 w 12192000"/>
              <a:gd name="connsiteY514" fmla="*/ 4749419 h 6858000"/>
              <a:gd name="connsiteX515" fmla="*/ 4245293 w 12192000"/>
              <a:gd name="connsiteY515" fmla="*/ 4749419 h 6858000"/>
              <a:gd name="connsiteX516" fmla="*/ 4775327 w 12192000"/>
              <a:gd name="connsiteY516" fmla="*/ 4228719 h 6858000"/>
              <a:gd name="connsiteX517" fmla="*/ 5296027 w 12192000"/>
              <a:gd name="connsiteY517" fmla="*/ 4228719 h 6858000"/>
              <a:gd name="connsiteX518" fmla="*/ 5296027 w 12192000"/>
              <a:gd name="connsiteY518" fmla="*/ 4749419 h 6858000"/>
              <a:gd name="connsiteX519" fmla="*/ 4775327 w 12192000"/>
              <a:gd name="connsiteY519" fmla="*/ 4749419 h 6858000"/>
              <a:gd name="connsiteX520" fmla="*/ 5305425 w 12192000"/>
              <a:gd name="connsiteY520" fmla="*/ 4228719 h 6858000"/>
              <a:gd name="connsiteX521" fmla="*/ 5826125 w 12192000"/>
              <a:gd name="connsiteY521" fmla="*/ 4228719 h 6858000"/>
              <a:gd name="connsiteX522" fmla="*/ 5826125 w 12192000"/>
              <a:gd name="connsiteY522" fmla="*/ 4749419 h 6858000"/>
              <a:gd name="connsiteX523" fmla="*/ 5305425 w 12192000"/>
              <a:gd name="connsiteY523" fmla="*/ 4749419 h 6858000"/>
              <a:gd name="connsiteX524" fmla="*/ 5835650 w 12192000"/>
              <a:gd name="connsiteY524" fmla="*/ 4229100 h 6858000"/>
              <a:gd name="connsiteX525" fmla="*/ 6356350 w 12192000"/>
              <a:gd name="connsiteY525" fmla="*/ 4229100 h 6858000"/>
              <a:gd name="connsiteX526" fmla="*/ 6356350 w 12192000"/>
              <a:gd name="connsiteY526" fmla="*/ 4749800 h 6858000"/>
              <a:gd name="connsiteX527" fmla="*/ 5835650 w 12192000"/>
              <a:gd name="connsiteY527" fmla="*/ 4749800 h 6858000"/>
              <a:gd name="connsiteX528" fmla="*/ 6365748 w 12192000"/>
              <a:gd name="connsiteY528" fmla="*/ 4229100 h 6858000"/>
              <a:gd name="connsiteX529" fmla="*/ 6886448 w 12192000"/>
              <a:gd name="connsiteY529" fmla="*/ 4229100 h 6858000"/>
              <a:gd name="connsiteX530" fmla="*/ 6886448 w 12192000"/>
              <a:gd name="connsiteY530" fmla="*/ 4749800 h 6858000"/>
              <a:gd name="connsiteX531" fmla="*/ 6365748 w 12192000"/>
              <a:gd name="connsiteY531" fmla="*/ 4749800 h 6858000"/>
              <a:gd name="connsiteX532" fmla="*/ 6895846 w 12192000"/>
              <a:gd name="connsiteY532" fmla="*/ 4229100 h 6858000"/>
              <a:gd name="connsiteX533" fmla="*/ 7416546 w 12192000"/>
              <a:gd name="connsiteY533" fmla="*/ 4229100 h 6858000"/>
              <a:gd name="connsiteX534" fmla="*/ 7416546 w 12192000"/>
              <a:gd name="connsiteY534" fmla="*/ 4749800 h 6858000"/>
              <a:gd name="connsiteX535" fmla="*/ 6895846 w 12192000"/>
              <a:gd name="connsiteY535" fmla="*/ 4749800 h 6858000"/>
              <a:gd name="connsiteX536" fmla="*/ 7425944 w 12192000"/>
              <a:gd name="connsiteY536" fmla="*/ 4229100 h 6858000"/>
              <a:gd name="connsiteX537" fmla="*/ 7946644 w 12192000"/>
              <a:gd name="connsiteY537" fmla="*/ 4229100 h 6858000"/>
              <a:gd name="connsiteX538" fmla="*/ 7946644 w 12192000"/>
              <a:gd name="connsiteY538" fmla="*/ 4749800 h 6858000"/>
              <a:gd name="connsiteX539" fmla="*/ 7425944 w 12192000"/>
              <a:gd name="connsiteY539" fmla="*/ 4749800 h 6858000"/>
              <a:gd name="connsiteX540" fmla="*/ 7955979 w 12192000"/>
              <a:gd name="connsiteY540" fmla="*/ 4229100 h 6858000"/>
              <a:gd name="connsiteX541" fmla="*/ 8476679 w 12192000"/>
              <a:gd name="connsiteY541" fmla="*/ 4229100 h 6858000"/>
              <a:gd name="connsiteX542" fmla="*/ 8476679 w 12192000"/>
              <a:gd name="connsiteY542" fmla="*/ 4749800 h 6858000"/>
              <a:gd name="connsiteX543" fmla="*/ 7955979 w 12192000"/>
              <a:gd name="connsiteY543" fmla="*/ 4749800 h 6858000"/>
              <a:gd name="connsiteX544" fmla="*/ 8486077 w 12192000"/>
              <a:gd name="connsiteY544" fmla="*/ 4229100 h 6858000"/>
              <a:gd name="connsiteX545" fmla="*/ 9006777 w 12192000"/>
              <a:gd name="connsiteY545" fmla="*/ 4229100 h 6858000"/>
              <a:gd name="connsiteX546" fmla="*/ 9006777 w 12192000"/>
              <a:gd name="connsiteY546" fmla="*/ 4749800 h 6858000"/>
              <a:gd name="connsiteX547" fmla="*/ 8486077 w 12192000"/>
              <a:gd name="connsiteY547" fmla="*/ 4749800 h 6858000"/>
              <a:gd name="connsiteX548" fmla="*/ 9016174 w 12192000"/>
              <a:gd name="connsiteY548" fmla="*/ 4229100 h 6858000"/>
              <a:gd name="connsiteX549" fmla="*/ 9536874 w 12192000"/>
              <a:gd name="connsiteY549" fmla="*/ 4229100 h 6858000"/>
              <a:gd name="connsiteX550" fmla="*/ 9536874 w 12192000"/>
              <a:gd name="connsiteY550" fmla="*/ 4749800 h 6858000"/>
              <a:gd name="connsiteX551" fmla="*/ 9016174 w 12192000"/>
              <a:gd name="connsiteY551" fmla="*/ 4749800 h 6858000"/>
              <a:gd name="connsiteX552" fmla="*/ 9546272 w 12192000"/>
              <a:gd name="connsiteY552" fmla="*/ 4229100 h 6858000"/>
              <a:gd name="connsiteX553" fmla="*/ 10066972 w 12192000"/>
              <a:gd name="connsiteY553" fmla="*/ 4229100 h 6858000"/>
              <a:gd name="connsiteX554" fmla="*/ 10066972 w 12192000"/>
              <a:gd name="connsiteY554" fmla="*/ 4749800 h 6858000"/>
              <a:gd name="connsiteX555" fmla="*/ 9546272 w 12192000"/>
              <a:gd name="connsiteY555" fmla="*/ 4749800 h 6858000"/>
              <a:gd name="connsiteX556" fmla="*/ 9546272 w 12192000"/>
              <a:gd name="connsiteY556" fmla="*/ 4219575 h 6858000"/>
              <a:gd name="connsiteX557" fmla="*/ 9546272 w 12192000"/>
              <a:gd name="connsiteY557" fmla="*/ 3698875 h 6858000"/>
              <a:gd name="connsiteX558" fmla="*/ 10066972 w 12192000"/>
              <a:gd name="connsiteY558" fmla="*/ 3698875 h 6858000"/>
              <a:gd name="connsiteX559" fmla="*/ 10066972 w 12192000"/>
              <a:gd name="connsiteY559" fmla="*/ 4219575 h 6858000"/>
              <a:gd name="connsiteX560" fmla="*/ 9546272 w 12192000"/>
              <a:gd name="connsiteY560" fmla="*/ 3689477 h 6858000"/>
              <a:gd name="connsiteX561" fmla="*/ 9546272 w 12192000"/>
              <a:gd name="connsiteY561" fmla="*/ 3168650 h 6858000"/>
              <a:gd name="connsiteX562" fmla="*/ 10066972 w 12192000"/>
              <a:gd name="connsiteY562" fmla="*/ 3168650 h 6858000"/>
              <a:gd name="connsiteX563" fmla="*/ 10066972 w 12192000"/>
              <a:gd name="connsiteY563" fmla="*/ 3689350 h 6858000"/>
              <a:gd name="connsiteX564" fmla="*/ 9546272 w 12192000"/>
              <a:gd name="connsiteY564" fmla="*/ 3159379 h 6858000"/>
              <a:gd name="connsiteX565" fmla="*/ 9546272 w 12192000"/>
              <a:gd name="connsiteY565" fmla="*/ 2638679 h 6858000"/>
              <a:gd name="connsiteX566" fmla="*/ 10066972 w 12192000"/>
              <a:gd name="connsiteY566" fmla="*/ 2638679 h 6858000"/>
              <a:gd name="connsiteX567" fmla="*/ 10066972 w 12192000"/>
              <a:gd name="connsiteY567" fmla="*/ 3159379 h 6858000"/>
              <a:gd name="connsiteX568" fmla="*/ 9546272 w 12192000"/>
              <a:gd name="connsiteY568" fmla="*/ 2629281 h 6858000"/>
              <a:gd name="connsiteX569" fmla="*/ 9546272 w 12192000"/>
              <a:gd name="connsiteY569" fmla="*/ 2108581 h 6858000"/>
              <a:gd name="connsiteX570" fmla="*/ 10066972 w 12192000"/>
              <a:gd name="connsiteY570" fmla="*/ 2108581 h 6858000"/>
              <a:gd name="connsiteX571" fmla="*/ 10066972 w 12192000"/>
              <a:gd name="connsiteY571" fmla="*/ 2629281 h 6858000"/>
              <a:gd name="connsiteX572" fmla="*/ 9546272 w 12192000"/>
              <a:gd name="connsiteY572" fmla="*/ 2099247 h 6858000"/>
              <a:gd name="connsiteX573" fmla="*/ 9546272 w 12192000"/>
              <a:gd name="connsiteY573" fmla="*/ 1578547 h 6858000"/>
              <a:gd name="connsiteX574" fmla="*/ 10066972 w 12192000"/>
              <a:gd name="connsiteY574" fmla="*/ 1578547 h 6858000"/>
              <a:gd name="connsiteX575" fmla="*/ 10066972 w 12192000"/>
              <a:gd name="connsiteY575" fmla="*/ 2099247 h 6858000"/>
              <a:gd name="connsiteX576" fmla="*/ 9536747 w 12192000"/>
              <a:gd name="connsiteY576" fmla="*/ 2099247 h 6858000"/>
              <a:gd name="connsiteX577" fmla="*/ 9016047 w 12192000"/>
              <a:gd name="connsiteY577" fmla="*/ 2099247 h 6858000"/>
              <a:gd name="connsiteX578" fmla="*/ 9016047 w 12192000"/>
              <a:gd name="connsiteY578" fmla="*/ 1578547 h 6858000"/>
              <a:gd name="connsiteX579" fmla="*/ 9536747 w 12192000"/>
              <a:gd name="connsiteY579" fmla="*/ 1578547 h 6858000"/>
              <a:gd name="connsiteX580" fmla="*/ 9006649 w 12192000"/>
              <a:gd name="connsiteY580" fmla="*/ 2099247 h 6858000"/>
              <a:gd name="connsiteX581" fmla="*/ 8485949 w 12192000"/>
              <a:gd name="connsiteY581" fmla="*/ 2099247 h 6858000"/>
              <a:gd name="connsiteX582" fmla="*/ 8485949 w 12192000"/>
              <a:gd name="connsiteY582" fmla="*/ 1578547 h 6858000"/>
              <a:gd name="connsiteX583" fmla="*/ 9006649 w 12192000"/>
              <a:gd name="connsiteY583" fmla="*/ 1578547 h 6858000"/>
              <a:gd name="connsiteX584" fmla="*/ 8476552 w 12192000"/>
              <a:gd name="connsiteY584" fmla="*/ 2099247 h 6858000"/>
              <a:gd name="connsiteX585" fmla="*/ 7955852 w 12192000"/>
              <a:gd name="connsiteY585" fmla="*/ 2099247 h 6858000"/>
              <a:gd name="connsiteX586" fmla="*/ 7955852 w 12192000"/>
              <a:gd name="connsiteY586" fmla="*/ 1578547 h 6858000"/>
              <a:gd name="connsiteX587" fmla="*/ 8476552 w 12192000"/>
              <a:gd name="connsiteY587" fmla="*/ 1578547 h 6858000"/>
              <a:gd name="connsiteX588" fmla="*/ 7946454 w 12192000"/>
              <a:gd name="connsiteY588" fmla="*/ 2099247 h 6858000"/>
              <a:gd name="connsiteX589" fmla="*/ 7425754 w 12192000"/>
              <a:gd name="connsiteY589" fmla="*/ 2099247 h 6858000"/>
              <a:gd name="connsiteX590" fmla="*/ 7425754 w 12192000"/>
              <a:gd name="connsiteY590" fmla="*/ 1578547 h 6858000"/>
              <a:gd name="connsiteX591" fmla="*/ 7946454 w 12192000"/>
              <a:gd name="connsiteY591" fmla="*/ 1578547 h 6858000"/>
              <a:gd name="connsiteX592" fmla="*/ 7416419 w 12192000"/>
              <a:gd name="connsiteY592" fmla="*/ 2099247 h 6858000"/>
              <a:gd name="connsiteX593" fmla="*/ 6895719 w 12192000"/>
              <a:gd name="connsiteY593" fmla="*/ 2099247 h 6858000"/>
              <a:gd name="connsiteX594" fmla="*/ 6895719 w 12192000"/>
              <a:gd name="connsiteY594" fmla="*/ 1578547 h 6858000"/>
              <a:gd name="connsiteX595" fmla="*/ 7416419 w 12192000"/>
              <a:gd name="connsiteY595" fmla="*/ 1578547 h 6858000"/>
              <a:gd name="connsiteX596" fmla="*/ 6886321 w 12192000"/>
              <a:gd name="connsiteY596" fmla="*/ 2099247 h 6858000"/>
              <a:gd name="connsiteX597" fmla="*/ 6365621 w 12192000"/>
              <a:gd name="connsiteY597" fmla="*/ 2099247 h 6858000"/>
              <a:gd name="connsiteX598" fmla="*/ 6365621 w 12192000"/>
              <a:gd name="connsiteY598" fmla="*/ 1578547 h 6858000"/>
              <a:gd name="connsiteX599" fmla="*/ 6886321 w 12192000"/>
              <a:gd name="connsiteY599" fmla="*/ 1578547 h 6858000"/>
              <a:gd name="connsiteX600" fmla="*/ 6356223 w 12192000"/>
              <a:gd name="connsiteY600" fmla="*/ 2099247 h 6858000"/>
              <a:gd name="connsiteX601" fmla="*/ 5835650 w 12192000"/>
              <a:gd name="connsiteY601" fmla="*/ 2099247 h 6858000"/>
              <a:gd name="connsiteX602" fmla="*/ 5835650 w 12192000"/>
              <a:gd name="connsiteY602" fmla="*/ 1578547 h 6858000"/>
              <a:gd name="connsiteX603" fmla="*/ 6356350 w 12192000"/>
              <a:gd name="connsiteY603" fmla="*/ 1578547 h 6858000"/>
              <a:gd name="connsiteX604" fmla="*/ 5826125 w 12192000"/>
              <a:gd name="connsiteY604" fmla="*/ 2099247 h 6858000"/>
              <a:gd name="connsiteX605" fmla="*/ 5305425 w 12192000"/>
              <a:gd name="connsiteY605" fmla="*/ 2099247 h 6858000"/>
              <a:gd name="connsiteX606" fmla="*/ 5305425 w 12192000"/>
              <a:gd name="connsiteY606" fmla="*/ 1578547 h 6858000"/>
              <a:gd name="connsiteX607" fmla="*/ 5826125 w 12192000"/>
              <a:gd name="connsiteY607" fmla="*/ 1578547 h 6858000"/>
              <a:gd name="connsiteX608" fmla="*/ 5296027 w 12192000"/>
              <a:gd name="connsiteY608" fmla="*/ 2099247 h 6858000"/>
              <a:gd name="connsiteX609" fmla="*/ 4775327 w 12192000"/>
              <a:gd name="connsiteY609" fmla="*/ 2099247 h 6858000"/>
              <a:gd name="connsiteX610" fmla="*/ 4775327 w 12192000"/>
              <a:gd name="connsiteY610" fmla="*/ 1578547 h 6858000"/>
              <a:gd name="connsiteX611" fmla="*/ 5296027 w 12192000"/>
              <a:gd name="connsiteY611" fmla="*/ 1578547 h 6858000"/>
              <a:gd name="connsiteX612" fmla="*/ 4765929 w 12192000"/>
              <a:gd name="connsiteY612" fmla="*/ 2099247 h 6858000"/>
              <a:gd name="connsiteX613" fmla="*/ 4245229 w 12192000"/>
              <a:gd name="connsiteY613" fmla="*/ 2099247 h 6858000"/>
              <a:gd name="connsiteX614" fmla="*/ 4245229 w 12192000"/>
              <a:gd name="connsiteY614" fmla="*/ 1578547 h 6858000"/>
              <a:gd name="connsiteX615" fmla="*/ 4765929 w 12192000"/>
              <a:gd name="connsiteY615" fmla="*/ 1578547 h 6858000"/>
              <a:gd name="connsiteX616" fmla="*/ 4235895 w 12192000"/>
              <a:gd name="connsiteY616" fmla="*/ 2099247 h 6858000"/>
              <a:gd name="connsiteX617" fmla="*/ 3715195 w 12192000"/>
              <a:gd name="connsiteY617" fmla="*/ 2099247 h 6858000"/>
              <a:gd name="connsiteX618" fmla="*/ 3715195 w 12192000"/>
              <a:gd name="connsiteY618" fmla="*/ 1578547 h 6858000"/>
              <a:gd name="connsiteX619" fmla="*/ 4235895 w 12192000"/>
              <a:gd name="connsiteY619" fmla="*/ 1578547 h 6858000"/>
              <a:gd name="connsiteX620" fmla="*/ 3705797 w 12192000"/>
              <a:gd name="connsiteY620" fmla="*/ 2099247 h 6858000"/>
              <a:gd name="connsiteX621" fmla="*/ 3185097 w 12192000"/>
              <a:gd name="connsiteY621" fmla="*/ 2099247 h 6858000"/>
              <a:gd name="connsiteX622" fmla="*/ 3185097 w 12192000"/>
              <a:gd name="connsiteY622" fmla="*/ 1578547 h 6858000"/>
              <a:gd name="connsiteX623" fmla="*/ 3705797 w 12192000"/>
              <a:gd name="connsiteY623" fmla="*/ 1578547 h 6858000"/>
              <a:gd name="connsiteX624" fmla="*/ 3175699 w 12192000"/>
              <a:gd name="connsiteY624" fmla="*/ 2099247 h 6858000"/>
              <a:gd name="connsiteX625" fmla="*/ 2654999 w 12192000"/>
              <a:gd name="connsiteY625" fmla="*/ 2099247 h 6858000"/>
              <a:gd name="connsiteX626" fmla="*/ 2654999 w 12192000"/>
              <a:gd name="connsiteY626" fmla="*/ 1578547 h 6858000"/>
              <a:gd name="connsiteX627" fmla="*/ 3175699 w 12192000"/>
              <a:gd name="connsiteY627" fmla="*/ 1578547 h 6858000"/>
              <a:gd name="connsiteX628" fmla="*/ 2645601 w 12192000"/>
              <a:gd name="connsiteY628" fmla="*/ 2099247 h 6858000"/>
              <a:gd name="connsiteX629" fmla="*/ 2124901 w 12192000"/>
              <a:gd name="connsiteY629" fmla="*/ 2099247 h 6858000"/>
              <a:gd name="connsiteX630" fmla="*/ 2124901 w 12192000"/>
              <a:gd name="connsiteY630" fmla="*/ 1578547 h 6858000"/>
              <a:gd name="connsiteX631" fmla="*/ 2645601 w 12192000"/>
              <a:gd name="connsiteY631" fmla="*/ 1578547 h 6858000"/>
              <a:gd name="connsiteX632" fmla="*/ 2115503 w 12192000"/>
              <a:gd name="connsiteY632" fmla="*/ 2099247 h 6858000"/>
              <a:gd name="connsiteX633" fmla="*/ 1594803 w 12192000"/>
              <a:gd name="connsiteY633" fmla="*/ 2099247 h 6858000"/>
              <a:gd name="connsiteX634" fmla="*/ 1594803 w 12192000"/>
              <a:gd name="connsiteY634" fmla="*/ 1578547 h 6858000"/>
              <a:gd name="connsiteX635" fmla="*/ 2115503 w 12192000"/>
              <a:gd name="connsiteY635" fmla="*/ 1578547 h 6858000"/>
              <a:gd name="connsiteX636" fmla="*/ 2115503 w 12192000"/>
              <a:gd name="connsiteY636" fmla="*/ 2108772 h 6858000"/>
              <a:gd name="connsiteX637" fmla="*/ 2115503 w 12192000"/>
              <a:gd name="connsiteY637" fmla="*/ 2629472 h 6858000"/>
              <a:gd name="connsiteX638" fmla="*/ 1594803 w 12192000"/>
              <a:gd name="connsiteY638" fmla="*/ 2629472 h 6858000"/>
              <a:gd name="connsiteX639" fmla="*/ 1594803 w 12192000"/>
              <a:gd name="connsiteY639" fmla="*/ 2108772 h 6858000"/>
              <a:gd name="connsiteX640" fmla="*/ 2115503 w 12192000"/>
              <a:gd name="connsiteY640" fmla="*/ 2638806 h 6858000"/>
              <a:gd name="connsiteX641" fmla="*/ 2115503 w 12192000"/>
              <a:gd name="connsiteY641" fmla="*/ 3159506 h 6858000"/>
              <a:gd name="connsiteX642" fmla="*/ 1594803 w 12192000"/>
              <a:gd name="connsiteY642" fmla="*/ 3159506 h 6858000"/>
              <a:gd name="connsiteX643" fmla="*/ 1594803 w 12192000"/>
              <a:gd name="connsiteY643" fmla="*/ 2638806 h 6858000"/>
              <a:gd name="connsiteX644" fmla="*/ 2115503 w 12192000"/>
              <a:gd name="connsiteY644" fmla="*/ 3168904 h 6858000"/>
              <a:gd name="connsiteX645" fmla="*/ 2115503 w 12192000"/>
              <a:gd name="connsiteY645" fmla="*/ 3689604 h 6858000"/>
              <a:gd name="connsiteX646" fmla="*/ 1594803 w 12192000"/>
              <a:gd name="connsiteY646" fmla="*/ 3689604 h 6858000"/>
              <a:gd name="connsiteX647" fmla="*/ 1594803 w 12192000"/>
              <a:gd name="connsiteY647" fmla="*/ 3168650 h 6858000"/>
              <a:gd name="connsiteX648" fmla="*/ 2115503 w 12192000"/>
              <a:gd name="connsiteY648" fmla="*/ 3699002 h 6858000"/>
              <a:gd name="connsiteX649" fmla="*/ 2115503 w 12192000"/>
              <a:gd name="connsiteY649" fmla="*/ 4219702 h 6858000"/>
              <a:gd name="connsiteX650" fmla="*/ 1594803 w 12192000"/>
              <a:gd name="connsiteY650" fmla="*/ 4219702 h 6858000"/>
              <a:gd name="connsiteX651" fmla="*/ 1594803 w 12192000"/>
              <a:gd name="connsiteY651" fmla="*/ 3699002 h 6858000"/>
              <a:gd name="connsiteX652" fmla="*/ 2115503 w 12192000"/>
              <a:gd name="connsiteY652" fmla="*/ 4229100 h 6858000"/>
              <a:gd name="connsiteX653" fmla="*/ 2115503 w 12192000"/>
              <a:gd name="connsiteY653" fmla="*/ 4749800 h 6858000"/>
              <a:gd name="connsiteX654" fmla="*/ 1594803 w 12192000"/>
              <a:gd name="connsiteY654" fmla="*/ 4749800 h 6858000"/>
              <a:gd name="connsiteX655" fmla="*/ 1594803 w 12192000"/>
              <a:gd name="connsiteY655" fmla="*/ 4229100 h 6858000"/>
              <a:gd name="connsiteX656" fmla="*/ 2115503 w 12192000"/>
              <a:gd name="connsiteY656" fmla="*/ 4759198 h 6858000"/>
              <a:gd name="connsiteX657" fmla="*/ 2115503 w 12192000"/>
              <a:gd name="connsiteY657" fmla="*/ 5279898 h 6858000"/>
              <a:gd name="connsiteX658" fmla="*/ 1594803 w 12192000"/>
              <a:gd name="connsiteY658" fmla="*/ 5279898 h 6858000"/>
              <a:gd name="connsiteX659" fmla="*/ 1594803 w 12192000"/>
              <a:gd name="connsiteY659" fmla="*/ 4759198 h 6858000"/>
              <a:gd name="connsiteX660" fmla="*/ 2125028 w 12192000"/>
              <a:gd name="connsiteY660" fmla="*/ 4759198 h 6858000"/>
              <a:gd name="connsiteX661" fmla="*/ 2645728 w 12192000"/>
              <a:gd name="connsiteY661" fmla="*/ 4759198 h 6858000"/>
              <a:gd name="connsiteX662" fmla="*/ 2645728 w 12192000"/>
              <a:gd name="connsiteY662" fmla="*/ 5279898 h 6858000"/>
              <a:gd name="connsiteX663" fmla="*/ 2125028 w 12192000"/>
              <a:gd name="connsiteY663" fmla="*/ 5279898 h 6858000"/>
              <a:gd name="connsiteX664" fmla="*/ 2655126 w 12192000"/>
              <a:gd name="connsiteY664" fmla="*/ 4759198 h 6858000"/>
              <a:gd name="connsiteX665" fmla="*/ 3175826 w 12192000"/>
              <a:gd name="connsiteY665" fmla="*/ 4759198 h 6858000"/>
              <a:gd name="connsiteX666" fmla="*/ 3175826 w 12192000"/>
              <a:gd name="connsiteY666" fmla="*/ 5279898 h 6858000"/>
              <a:gd name="connsiteX667" fmla="*/ 2655126 w 12192000"/>
              <a:gd name="connsiteY667" fmla="*/ 5279898 h 6858000"/>
              <a:gd name="connsiteX668" fmla="*/ 3185224 w 12192000"/>
              <a:gd name="connsiteY668" fmla="*/ 4759198 h 6858000"/>
              <a:gd name="connsiteX669" fmla="*/ 3705924 w 12192000"/>
              <a:gd name="connsiteY669" fmla="*/ 4759198 h 6858000"/>
              <a:gd name="connsiteX670" fmla="*/ 3705924 w 12192000"/>
              <a:gd name="connsiteY670" fmla="*/ 5279898 h 6858000"/>
              <a:gd name="connsiteX671" fmla="*/ 3185224 w 12192000"/>
              <a:gd name="connsiteY671" fmla="*/ 5279898 h 6858000"/>
              <a:gd name="connsiteX672" fmla="*/ 3715322 w 12192000"/>
              <a:gd name="connsiteY672" fmla="*/ 4759198 h 6858000"/>
              <a:gd name="connsiteX673" fmla="*/ 4236022 w 12192000"/>
              <a:gd name="connsiteY673" fmla="*/ 4759198 h 6858000"/>
              <a:gd name="connsiteX674" fmla="*/ 4236022 w 12192000"/>
              <a:gd name="connsiteY674" fmla="*/ 5279898 h 6858000"/>
              <a:gd name="connsiteX675" fmla="*/ 3715322 w 12192000"/>
              <a:gd name="connsiteY675" fmla="*/ 5279898 h 6858000"/>
              <a:gd name="connsiteX676" fmla="*/ 4245420 w 12192000"/>
              <a:gd name="connsiteY676" fmla="*/ 4759198 h 6858000"/>
              <a:gd name="connsiteX677" fmla="*/ 4766120 w 12192000"/>
              <a:gd name="connsiteY677" fmla="*/ 4759198 h 6858000"/>
              <a:gd name="connsiteX678" fmla="*/ 4766120 w 12192000"/>
              <a:gd name="connsiteY678" fmla="*/ 5279898 h 6858000"/>
              <a:gd name="connsiteX679" fmla="*/ 4245420 w 12192000"/>
              <a:gd name="connsiteY679" fmla="*/ 5279898 h 6858000"/>
              <a:gd name="connsiteX680" fmla="*/ 4775454 w 12192000"/>
              <a:gd name="connsiteY680" fmla="*/ 4759198 h 6858000"/>
              <a:gd name="connsiteX681" fmla="*/ 5296154 w 12192000"/>
              <a:gd name="connsiteY681" fmla="*/ 4759198 h 6858000"/>
              <a:gd name="connsiteX682" fmla="*/ 5296154 w 12192000"/>
              <a:gd name="connsiteY682" fmla="*/ 5279898 h 6858000"/>
              <a:gd name="connsiteX683" fmla="*/ 4775454 w 12192000"/>
              <a:gd name="connsiteY683" fmla="*/ 5279898 h 6858000"/>
              <a:gd name="connsiteX684" fmla="*/ 5305552 w 12192000"/>
              <a:gd name="connsiteY684" fmla="*/ 4759198 h 6858000"/>
              <a:gd name="connsiteX685" fmla="*/ 5826252 w 12192000"/>
              <a:gd name="connsiteY685" fmla="*/ 4759198 h 6858000"/>
              <a:gd name="connsiteX686" fmla="*/ 5826252 w 12192000"/>
              <a:gd name="connsiteY686" fmla="*/ 5279898 h 6858000"/>
              <a:gd name="connsiteX687" fmla="*/ 5305552 w 12192000"/>
              <a:gd name="connsiteY687" fmla="*/ 5279898 h 6858000"/>
              <a:gd name="connsiteX688" fmla="*/ 5835650 w 12192000"/>
              <a:gd name="connsiteY688" fmla="*/ 4759198 h 6858000"/>
              <a:gd name="connsiteX689" fmla="*/ 6356350 w 12192000"/>
              <a:gd name="connsiteY689" fmla="*/ 4759198 h 6858000"/>
              <a:gd name="connsiteX690" fmla="*/ 6356350 w 12192000"/>
              <a:gd name="connsiteY690" fmla="*/ 5279898 h 6858000"/>
              <a:gd name="connsiteX691" fmla="*/ 5835650 w 12192000"/>
              <a:gd name="connsiteY691" fmla="*/ 5279898 h 6858000"/>
              <a:gd name="connsiteX692" fmla="*/ 6365748 w 12192000"/>
              <a:gd name="connsiteY692" fmla="*/ 4759198 h 6858000"/>
              <a:gd name="connsiteX693" fmla="*/ 6886448 w 12192000"/>
              <a:gd name="connsiteY693" fmla="*/ 4759198 h 6858000"/>
              <a:gd name="connsiteX694" fmla="*/ 6886448 w 12192000"/>
              <a:gd name="connsiteY694" fmla="*/ 5279898 h 6858000"/>
              <a:gd name="connsiteX695" fmla="*/ 6365748 w 12192000"/>
              <a:gd name="connsiteY695" fmla="*/ 5279898 h 6858000"/>
              <a:gd name="connsiteX696" fmla="*/ 6895846 w 12192000"/>
              <a:gd name="connsiteY696" fmla="*/ 4759198 h 6858000"/>
              <a:gd name="connsiteX697" fmla="*/ 7416546 w 12192000"/>
              <a:gd name="connsiteY697" fmla="*/ 4759198 h 6858000"/>
              <a:gd name="connsiteX698" fmla="*/ 7416546 w 12192000"/>
              <a:gd name="connsiteY698" fmla="*/ 5279898 h 6858000"/>
              <a:gd name="connsiteX699" fmla="*/ 6895846 w 12192000"/>
              <a:gd name="connsiteY699" fmla="*/ 5279898 h 6858000"/>
              <a:gd name="connsiteX700" fmla="*/ 7425944 w 12192000"/>
              <a:gd name="connsiteY700" fmla="*/ 4759198 h 6858000"/>
              <a:gd name="connsiteX701" fmla="*/ 7946644 w 12192000"/>
              <a:gd name="connsiteY701" fmla="*/ 4759198 h 6858000"/>
              <a:gd name="connsiteX702" fmla="*/ 7946644 w 12192000"/>
              <a:gd name="connsiteY702" fmla="*/ 5279898 h 6858000"/>
              <a:gd name="connsiteX703" fmla="*/ 7425944 w 12192000"/>
              <a:gd name="connsiteY703" fmla="*/ 5279898 h 6858000"/>
              <a:gd name="connsiteX704" fmla="*/ 7955979 w 12192000"/>
              <a:gd name="connsiteY704" fmla="*/ 4759198 h 6858000"/>
              <a:gd name="connsiteX705" fmla="*/ 8476679 w 12192000"/>
              <a:gd name="connsiteY705" fmla="*/ 4759198 h 6858000"/>
              <a:gd name="connsiteX706" fmla="*/ 8476679 w 12192000"/>
              <a:gd name="connsiteY706" fmla="*/ 5279898 h 6858000"/>
              <a:gd name="connsiteX707" fmla="*/ 7955979 w 12192000"/>
              <a:gd name="connsiteY707" fmla="*/ 5279898 h 6858000"/>
              <a:gd name="connsiteX708" fmla="*/ 8486077 w 12192000"/>
              <a:gd name="connsiteY708" fmla="*/ 4759198 h 6858000"/>
              <a:gd name="connsiteX709" fmla="*/ 9006777 w 12192000"/>
              <a:gd name="connsiteY709" fmla="*/ 4759198 h 6858000"/>
              <a:gd name="connsiteX710" fmla="*/ 9006777 w 12192000"/>
              <a:gd name="connsiteY710" fmla="*/ 5279898 h 6858000"/>
              <a:gd name="connsiteX711" fmla="*/ 8486077 w 12192000"/>
              <a:gd name="connsiteY711" fmla="*/ 5279898 h 6858000"/>
              <a:gd name="connsiteX712" fmla="*/ 9016174 w 12192000"/>
              <a:gd name="connsiteY712" fmla="*/ 4759198 h 6858000"/>
              <a:gd name="connsiteX713" fmla="*/ 9536874 w 12192000"/>
              <a:gd name="connsiteY713" fmla="*/ 4759198 h 6858000"/>
              <a:gd name="connsiteX714" fmla="*/ 9536874 w 12192000"/>
              <a:gd name="connsiteY714" fmla="*/ 5279898 h 6858000"/>
              <a:gd name="connsiteX715" fmla="*/ 9016174 w 12192000"/>
              <a:gd name="connsiteY715" fmla="*/ 5279898 h 6858000"/>
              <a:gd name="connsiteX716" fmla="*/ 9546272 w 12192000"/>
              <a:gd name="connsiteY716" fmla="*/ 4759198 h 6858000"/>
              <a:gd name="connsiteX717" fmla="*/ 10066972 w 12192000"/>
              <a:gd name="connsiteY717" fmla="*/ 4759198 h 6858000"/>
              <a:gd name="connsiteX718" fmla="*/ 10066972 w 12192000"/>
              <a:gd name="connsiteY718" fmla="*/ 5279898 h 6858000"/>
              <a:gd name="connsiteX719" fmla="*/ 9546272 w 12192000"/>
              <a:gd name="connsiteY719" fmla="*/ 5279898 h 6858000"/>
              <a:gd name="connsiteX720" fmla="*/ 10076370 w 12192000"/>
              <a:gd name="connsiteY720" fmla="*/ 4759198 h 6858000"/>
              <a:gd name="connsiteX721" fmla="*/ 10597070 w 12192000"/>
              <a:gd name="connsiteY721" fmla="*/ 4759198 h 6858000"/>
              <a:gd name="connsiteX722" fmla="*/ 10597070 w 12192000"/>
              <a:gd name="connsiteY722" fmla="*/ 5279898 h 6858000"/>
              <a:gd name="connsiteX723" fmla="*/ 10076370 w 12192000"/>
              <a:gd name="connsiteY723" fmla="*/ 5279898 h 6858000"/>
              <a:gd name="connsiteX724" fmla="*/ 10076370 w 12192000"/>
              <a:gd name="connsiteY724" fmla="*/ 4749673 h 6858000"/>
              <a:gd name="connsiteX725" fmla="*/ 10076370 w 12192000"/>
              <a:gd name="connsiteY725" fmla="*/ 4229100 h 6858000"/>
              <a:gd name="connsiteX726" fmla="*/ 10597070 w 12192000"/>
              <a:gd name="connsiteY726" fmla="*/ 4229100 h 6858000"/>
              <a:gd name="connsiteX727" fmla="*/ 10597070 w 12192000"/>
              <a:gd name="connsiteY727" fmla="*/ 4749800 h 6858000"/>
              <a:gd name="connsiteX728" fmla="*/ 10076370 w 12192000"/>
              <a:gd name="connsiteY728" fmla="*/ 4219575 h 6858000"/>
              <a:gd name="connsiteX729" fmla="*/ 10076370 w 12192000"/>
              <a:gd name="connsiteY729" fmla="*/ 3698875 h 6858000"/>
              <a:gd name="connsiteX730" fmla="*/ 10597070 w 12192000"/>
              <a:gd name="connsiteY730" fmla="*/ 3698875 h 6858000"/>
              <a:gd name="connsiteX731" fmla="*/ 10597070 w 12192000"/>
              <a:gd name="connsiteY731" fmla="*/ 4219575 h 6858000"/>
              <a:gd name="connsiteX732" fmla="*/ 10076370 w 12192000"/>
              <a:gd name="connsiteY732" fmla="*/ 3689477 h 6858000"/>
              <a:gd name="connsiteX733" fmla="*/ 10076370 w 12192000"/>
              <a:gd name="connsiteY733" fmla="*/ 3168650 h 6858000"/>
              <a:gd name="connsiteX734" fmla="*/ 10597070 w 12192000"/>
              <a:gd name="connsiteY734" fmla="*/ 3168650 h 6858000"/>
              <a:gd name="connsiteX735" fmla="*/ 10597070 w 12192000"/>
              <a:gd name="connsiteY735" fmla="*/ 3689350 h 6858000"/>
              <a:gd name="connsiteX736" fmla="*/ 10076370 w 12192000"/>
              <a:gd name="connsiteY736" fmla="*/ 3159379 h 6858000"/>
              <a:gd name="connsiteX737" fmla="*/ 10076370 w 12192000"/>
              <a:gd name="connsiteY737" fmla="*/ 2638679 h 6858000"/>
              <a:gd name="connsiteX738" fmla="*/ 10597070 w 12192000"/>
              <a:gd name="connsiteY738" fmla="*/ 2638679 h 6858000"/>
              <a:gd name="connsiteX739" fmla="*/ 10597070 w 12192000"/>
              <a:gd name="connsiteY739" fmla="*/ 3159379 h 6858000"/>
              <a:gd name="connsiteX740" fmla="*/ 10076370 w 12192000"/>
              <a:gd name="connsiteY740" fmla="*/ 2629281 h 6858000"/>
              <a:gd name="connsiteX741" fmla="*/ 10076370 w 12192000"/>
              <a:gd name="connsiteY741" fmla="*/ 2108581 h 6858000"/>
              <a:gd name="connsiteX742" fmla="*/ 10597070 w 12192000"/>
              <a:gd name="connsiteY742" fmla="*/ 2108581 h 6858000"/>
              <a:gd name="connsiteX743" fmla="*/ 10597070 w 12192000"/>
              <a:gd name="connsiteY743" fmla="*/ 2629281 h 6858000"/>
              <a:gd name="connsiteX744" fmla="*/ 10076370 w 12192000"/>
              <a:gd name="connsiteY744" fmla="*/ 2099247 h 6858000"/>
              <a:gd name="connsiteX745" fmla="*/ 10076370 w 12192000"/>
              <a:gd name="connsiteY745" fmla="*/ 1578547 h 6858000"/>
              <a:gd name="connsiteX746" fmla="*/ 10597070 w 12192000"/>
              <a:gd name="connsiteY746" fmla="*/ 1578547 h 6858000"/>
              <a:gd name="connsiteX747" fmla="*/ 10597070 w 12192000"/>
              <a:gd name="connsiteY747" fmla="*/ 2099247 h 6858000"/>
              <a:gd name="connsiteX748" fmla="*/ 10076370 w 12192000"/>
              <a:gd name="connsiteY748" fmla="*/ 1569149 h 6858000"/>
              <a:gd name="connsiteX749" fmla="*/ 10076370 w 12192000"/>
              <a:gd name="connsiteY749" fmla="*/ 1048449 h 6858000"/>
              <a:gd name="connsiteX750" fmla="*/ 10597070 w 12192000"/>
              <a:gd name="connsiteY750" fmla="*/ 1048449 h 6858000"/>
              <a:gd name="connsiteX751" fmla="*/ 10597070 w 12192000"/>
              <a:gd name="connsiteY751" fmla="*/ 1569149 h 6858000"/>
              <a:gd name="connsiteX752" fmla="*/ 10066845 w 12192000"/>
              <a:gd name="connsiteY752" fmla="*/ 1569149 h 6858000"/>
              <a:gd name="connsiteX753" fmla="*/ 9546145 w 12192000"/>
              <a:gd name="connsiteY753" fmla="*/ 1569149 h 6858000"/>
              <a:gd name="connsiteX754" fmla="*/ 9546145 w 12192000"/>
              <a:gd name="connsiteY754" fmla="*/ 1048449 h 6858000"/>
              <a:gd name="connsiteX755" fmla="*/ 10066845 w 12192000"/>
              <a:gd name="connsiteY755" fmla="*/ 1048449 h 6858000"/>
              <a:gd name="connsiteX756" fmla="*/ 9536747 w 12192000"/>
              <a:gd name="connsiteY756" fmla="*/ 1569149 h 6858000"/>
              <a:gd name="connsiteX757" fmla="*/ 9016047 w 12192000"/>
              <a:gd name="connsiteY757" fmla="*/ 1569149 h 6858000"/>
              <a:gd name="connsiteX758" fmla="*/ 9016047 w 12192000"/>
              <a:gd name="connsiteY758" fmla="*/ 1048449 h 6858000"/>
              <a:gd name="connsiteX759" fmla="*/ 9536747 w 12192000"/>
              <a:gd name="connsiteY759" fmla="*/ 1048449 h 6858000"/>
              <a:gd name="connsiteX760" fmla="*/ 9006649 w 12192000"/>
              <a:gd name="connsiteY760" fmla="*/ 1569149 h 6858000"/>
              <a:gd name="connsiteX761" fmla="*/ 8485949 w 12192000"/>
              <a:gd name="connsiteY761" fmla="*/ 1569149 h 6858000"/>
              <a:gd name="connsiteX762" fmla="*/ 8485949 w 12192000"/>
              <a:gd name="connsiteY762" fmla="*/ 1048449 h 6858000"/>
              <a:gd name="connsiteX763" fmla="*/ 9006649 w 12192000"/>
              <a:gd name="connsiteY763" fmla="*/ 1048449 h 6858000"/>
              <a:gd name="connsiteX764" fmla="*/ 8476552 w 12192000"/>
              <a:gd name="connsiteY764" fmla="*/ 1569149 h 6858000"/>
              <a:gd name="connsiteX765" fmla="*/ 7955852 w 12192000"/>
              <a:gd name="connsiteY765" fmla="*/ 1569149 h 6858000"/>
              <a:gd name="connsiteX766" fmla="*/ 7955852 w 12192000"/>
              <a:gd name="connsiteY766" fmla="*/ 1048449 h 6858000"/>
              <a:gd name="connsiteX767" fmla="*/ 8476552 w 12192000"/>
              <a:gd name="connsiteY767" fmla="*/ 1048449 h 6858000"/>
              <a:gd name="connsiteX768" fmla="*/ 7946454 w 12192000"/>
              <a:gd name="connsiteY768" fmla="*/ 1569149 h 6858000"/>
              <a:gd name="connsiteX769" fmla="*/ 7425754 w 12192000"/>
              <a:gd name="connsiteY769" fmla="*/ 1569149 h 6858000"/>
              <a:gd name="connsiteX770" fmla="*/ 7425754 w 12192000"/>
              <a:gd name="connsiteY770" fmla="*/ 1048449 h 6858000"/>
              <a:gd name="connsiteX771" fmla="*/ 7946454 w 12192000"/>
              <a:gd name="connsiteY771" fmla="*/ 1048449 h 6858000"/>
              <a:gd name="connsiteX772" fmla="*/ 7416419 w 12192000"/>
              <a:gd name="connsiteY772" fmla="*/ 1569149 h 6858000"/>
              <a:gd name="connsiteX773" fmla="*/ 6895719 w 12192000"/>
              <a:gd name="connsiteY773" fmla="*/ 1569149 h 6858000"/>
              <a:gd name="connsiteX774" fmla="*/ 6895719 w 12192000"/>
              <a:gd name="connsiteY774" fmla="*/ 1048449 h 6858000"/>
              <a:gd name="connsiteX775" fmla="*/ 7416419 w 12192000"/>
              <a:gd name="connsiteY775" fmla="*/ 1048449 h 6858000"/>
              <a:gd name="connsiteX776" fmla="*/ 6886321 w 12192000"/>
              <a:gd name="connsiteY776" fmla="*/ 1569149 h 6858000"/>
              <a:gd name="connsiteX777" fmla="*/ 6365621 w 12192000"/>
              <a:gd name="connsiteY777" fmla="*/ 1569149 h 6858000"/>
              <a:gd name="connsiteX778" fmla="*/ 6365621 w 12192000"/>
              <a:gd name="connsiteY778" fmla="*/ 1048449 h 6858000"/>
              <a:gd name="connsiteX779" fmla="*/ 6886321 w 12192000"/>
              <a:gd name="connsiteY779" fmla="*/ 1048449 h 6858000"/>
              <a:gd name="connsiteX780" fmla="*/ 6356223 w 12192000"/>
              <a:gd name="connsiteY780" fmla="*/ 1569149 h 6858000"/>
              <a:gd name="connsiteX781" fmla="*/ 5835650 w 12192000"/>
              <a:gd name="connsiteY781" fmla="*/ 1569149 h 6858000"/>
              <a:gd name="connsiteX782" fmla="*/ 5835650 w 12192000"/>
              <a:gd name="connsiteY782" fmla="*/ 1048449 h 6858000"/>
              <a:gd name="connsiteX783" fmla="*/ 6356350 w 12192000"/>
              <a:gd name="connsiteY783" fmla="*/ 1048449 h 6858000"/>
              <a:gd name="connsiteX784" fmla="*/ 5826125 w 12192000"/>
              <a:gd name="connsiteY784" fmla="*/ 1569149 h 6858000"/>
              <a:gd name="connsiteX785" fmla="*/ 5305425 w 12192000"/>
              <a:gd name="connsiteY785" fmla="*/ 1569149 h 6858000"/>
              <a:gd name="connsiteX786" fmla="*/ 5305425 w 12192000"/>
              <a:gd name="connsiteY786" fmla="*/ 1048449 h 6858000"/>
              <a:gd name="connsiteX787" fmla="*/ 5826125 w 12192000"/>
              <a:gd name="connsiteY787" fmla="*/ 1048449 h 6858000"/>
              <a:gd name="connsiteX788" fmla="*/ 5296027 w 12192000"/>
              <a:gd name="connsiteY788" fmla="*/ 1569149 h 6858000"/>
              <a:gd name="connsiteX789" fmla="*/ 4775327 w 12192000"/>
              <a:gd name="connsiteY789" fmla="*/ 1569149 h 6858000"/>
              <a:gd name="connsiteX790" fmla="*/ 4775327 w 12192000"/>
              <a:gd name="connsiteY790" fmla="*/ 1048449 h 6858000"/>
              <a:gd name="connsiteX791" fmla="*/ 5296027 w 12192000"/>
              <a:gd name="connsiteY791" fmla="*/ 1048449 h 6858000"/>
              <a:gd name="connsiteX792" fmla="*/ 4765929 w 12192000"/>
              <a:gd name="connsiteY792" fmla="*/ 1569149 h 6858000"/>
              <a:gd name="connsiteX793" fmla="*/ 4245229 w 12192000"/>
              <a:gd name="connsiteY793" fmla="*/ 1569149 h 6858000"/>
              <a:gd name="connsiteX794" fmla="*/ 4245229 w 12192000"/>
              <a:gd name="connsiteY794" fmla="*/ 1048449 h 6858000"/>
              <a:gd name="connsiteX795" fmla="*/ 4765929 w 12192000"/>
              <a:gd name="connsiteY795" fmla="*/ 1048449 h 6858000"/>
              <a:gd name="connsiteX796" fmla="*/ 4235895 w 12192000"/>
              <a:gd name="connsiteY796" fmla="*/ 1569149 h 6858000"/>
              <a:gd name="connsiteX797" fmla="*/ 3715195 w 12192000"/>
              <a:gd name="connsiteY797" fmla="*/ 1569149 h 6858000"/>
              <a:gd name="connsiteX798" fmla="*/ 3715195 w 12192000"/>
              <a:gd name="connsiteY798" fmla="*/ 1048449 h 6858000"/>
              <a:gd name="connsiteX799" fmla="*/ 4235895 w 12192000"/>
              <a:gd name="connsiteY799" fmla="*/ 1048449 h 6858000"/>
              <a:gd name="connsiteX800" fmla="*/ 3705797 w 12192000"/>
              <a:gd name="connsiteY800" fmla="*/ 1569149 h 6858000"/>
              <a:gd name="connsiteX801" fmla="*/ 3185097 w 12192000"/>
              <a:gd name="connsiteY801" fmla="*/ 1569149 h 6858000"/>
              <a:gd name="connsiteX802" fmla="*/ 3185097 w 12192000"/>
              <a:gd name="connsiteY802" fmla="*/ 1048449 h 6858000"/>
              <a:gd name="connsiteX803" fmla="*/ 3705797 w 12192000"/>
              <a:gd name="connsiteY803" fmla="*/ 1048449 h 6858000"/>
              <a:gd name="connsiteX804" fmla="*/ 3175699 w 12192000"/>
              <a:gd name="connsiteY804" fmla="*/ 1569149 h 6858000"/>
              <a:gd name="connsiteX805" fmla="*/ 2654999 w 12192000"/>
              <a:gd name="connsiteY805" fmla="*/ 1569149 h 6858000"/>
              <a:gd name="connsiteX806" fmla="*/ 2654999 w 12192000"/>
              <a:gd name="connsiteY806" fmla="*/ 1048449 h 6858000"/>
              <a:gd name="connsiteX807" fmla="*/ 3175699 w 12192000"/>
              <a:gd name="connsiteY807" fmla="*/ 1048449 h 6858000"/>
              <a:gd name="connsiteX808" fmla="*/ 2645601 w 12192000"/>
              <a:gd name="connsiteY808" fmla="*/ 1569149 h 6858000"/>
              <a:gd name="connsiteX809" fmla="*/ 2124901 w 12192000"/>
              <a:gd name="connsiteY809" fmla="*/ 1569149 h 6858000"/>
              <a:gd name="connsiteX810" fmla="*/ 2124901 w 12192000"/>
              <a:gd name="connsiteY810" fmla="*/ 1048449 h 6858000"/>
              <a:gd name="connsiteX811" fmla="*/ 2645601 w 12192000"/>
              <a:gd name="connsiteY811" fmla="*/ 1048449 h 6858000"/>
              <a:gd name="connsiteX812" fmla="*/ 2115503 w 12192000"/>
              <a:gd name="connsiteY812" fmla="*/ 1569149 h 6858000"/>
              <a:gd name="connsiteX813" fmla="*/ 1594803 w 12192000"/>
              <a:gd name="connsiteY813" fmla="*/ 1569149 h 6858000"/>
              <a:gd name="connsiteX814" fmla="*/ 1594803 w 12192000"/>
              <a:gd name="connsiteY814" fmla="*/ 1048449 h 6858000"/>
              <a:gd name="connsiteX815" fmla="*/ 2115503 w 12192000"/>
              <a:gd name="connsiteY815" fmla="*/ 1048449 h 6858000"/>
              <a:gd name="connsiteX816" fmla="*/ 1585405 w 12192000"/>
              <a:gd name="connsiteY816" fmla="*/ 1569149 h 6858000"/>
              <a:gd name="connsiteX817" fmla="*/ 1064705 w 12192000"/>
              <a:gd name="connsiteY817" fmla="*/ 1569149 h 6858000"/>
              <a:gd name="connsiteX818" fmla="*/ 1064705 w 12192000"/>
              <a:gd name="connsiteY818" fmla="*/ 1048449 h 6858000"/>
              <a:gd name="connsiteX819" fmla="*/ 1585405 w 12192000"/>
              <a:gd name="connsiteY819" fmla="*/ 1048449 h 6858000"/>
              <a:gd name="connsiteX820" fmla="*/ 1585405 w 12192000"/>
              <a:gd name="connsiteY820" fmla="*/ 1578674 h 6858000"/>
              <a:gd name="connsiteX821" fmla="*/ 1585405 w 12192000"/>
              <a:gd name="connsiteY821" fmla="*/ 2099374 h 6858000"/>
              <a:gd name="connsiteX822" fmla="*/ 1064705 w 12192000"/>
              <a:gd name="connsiteY822" fmla="*/ 2099374 h 6858000"/>
              <a:gd name="connsiteX823" fmla="*/ 1064705 w 12192000"/>
              <a:gd name="connsiteY823" fmla="*/ 1578674 h 6858000"/>
              <a:gd name="connsiteX824" fmla="*/ 1585405 w 12192000"/>
              <a:gd name="connsiteY824" fmla="*/ 2108772 h 6858000"/>
              <a:gd name="connsiteX825" fmla="*/ 1585405 w 12192000"/>
              <a:gd name="connsiteY825" fmla="*/ 2629472 h 6858000"/>
              <a:gd name="connsiteX826" fmla="*/ 1064705 w 12192000"/>
              <a:gd name="connsiteY826" fmla="*/ 2629472 h 6858000"/>
              <a:gd name="connsiteX827" fmla="*/ 1064705 w 12192000"/>
              <a:gd name="connsiteY827" fmla="*/ 2108772 h 6858000"/>
              <a:gd name="connsiteX828" fmla="*/ 1585405 w 12192000"/>
              <a:gd name="connsiteY828" fmla="*/ 2638806 h 6858000"/>
              <a:gd name="connsiteX829" fmla="*/ 1585405 w 12192000"/>
              <a:gd name="connsiteY829" fmla="*/ 3159506 h 6858000"/>
              <a:gd name="connsiteX830" fmla="*/ 1064705 w 12192000"/>
              <a:gd name="connsiteY830" fmla="*/ 3159506 h 6858000"/>
              <a:gd name="connsiteX831" fmla="*/ 1064705 w 12192000"/>
              <a:gd name="connsiteY831" fmla="*/ 2638806 h 6858000"/>
              <a:gd name="connsiteX832" fmla="*/ 1585405 w 12192000"/>
              <a:gd name="connsiteY832" fmla="*/ 3168904 h 6858000"/>
              <a:gd name="connsiteX833" fmla="*/ 1585405 w 12192000"/>
              <a:gd name="connsiteY833" fmla="*/ 3689604 h 6858000"/>
              <a:gd name="connsiteX834" fmla="*/ 1064705 w 12192000"/>
              <a:gd name="connsiteY834" fmla="*/ 3689604 h 6858000"/>
              <a:gd name="connsiteX835" fmla="*/ 1064705 w 12192000"/>
              <a:gd name="connsiteY835" fmla="*/ 3168650 h 6858000"/>
              <a:gd name="connsiteX836" fmla="*/ 1585405 w 12192000"/>
              <a:gd name="connsiteY836" fmla="*/ 3699002 h 6858000"/>
              <a:gd name="connsiteX837" fmla="*/ 1585405 w 12192000"/>
              <a:gd name="connsiteY837" fmla="*/ 4219702 h 6858000"/>
              <a:gd name="connsiteX838" fmla="*/ 1064705 w 12192000"/>
              <a:gd name="connsiteY838" fmla="*/ 4219702 h 6858000"/>
              <a:gd name="connsiteX839" fmla="*/ 1064705 w 12192000"/>
              <a:gd name="connsiteY839" fmla="*/ 3699002 h 6858000"/>
              <a:gd name="connsiteX840" fmla="*/ 1585405 w 12192000"/>
              <a:gd name="connsiteY840" fmla="*/ 4229100 h 6858000"/>
              <a:gd name="connsiteX841" fmla="*/ 1585405 w 12192000"/>
              <a:gd name="connsiteY841" fmla="*/ 4749800 h 6858000"/>
              <a:gd name="connsiteX842" fmla="*/ 1064705 w 12192000"/>
              <a:gd name="connsiteY842" fmla="*/ 4749800 h 6858000"/>
              <a:gd name="connsiteX843" fmla="*/ 1064705 w 12192000"/>
              <a:gd name="connsiteY843" fmla="*/ 4229100 h 6858000"/>
              <a:gd name="connsiteX844" fmla="*/ 1585405 w 12192000"/>
              <a:gd name="connsiteY844" fmla="*/ 4759198 h 6858000"/>
              <a:gd name="connsiteX845" fmla="*/ 1585405 w 12192000"/>
              <a:gd name="connsiteY845" fmla="*/ 5279898 h 6858000"/>
              <a:gd name="connsiteX846" fmla="*/ 1064705 w 12192000"/>
              <a:gd name="connsiteY846" fmla="*/ 5279898 h 6858000"/>
              <a:gd name="connsiteX847" fmla="*/ 1064705 w 12192000"/>
              <a:gd name="connsiteY847" fmla="*/ 4759198 h 6858000"/>
              <a:gd name="connsiteX848" fmla="*/ 1585405 w 12192000"/>
              <a:gd name="connsiteY848" fmla="*/ 5289233 h 6858000"/>
              <a:gd name="connsiteX849" fmla="*/ 1585405 w 12192000"/>
              <a:gd name="connsiteY849" fmla="*/ 5809933 h 6858000"/>
              <a:gd name="connsiteX850" fmla="*/ 1064705 w 12192000"/>
              <a:gd name="connsiteY850" fmla="*/ 5809933 h 6858000"/>
              <a:gd name="connsiteX851" fmla="*/ 1064705 w 12192000"/>
              <a:gd name="connsiteY851" fmla="*/ 5289233 h 6858000"/>
              <a:gd name="connsiteX852" fmla="*/ 1594930 w 12192000"/>
              <a:gd name="connsiteY852" fmla="*/ 5289233 h 6858000"/>
              <a:gd name="connsiteX853" fmla="*/ 2115630 w 12192000"/>
              <a:gd name="connsiteY853" fmla="*/ 5289233 h 6858000"/>
              <a:gd name="connsiteX854" fmla="*/ 2115630 w 12192000"/>
              <a:gd name="connsiteY854" fmla="*/ 5809933 h 6858000"/>
              <a:gd name="connsiteX855" fmla="*/ 1594930 w 12192000"/>
              <a:gd name="connsiteY855" fmla="*/ 5809933 h 6858000"/>
              <a:gd name="connsiteX856" fmla="*/ 2125028 w 12192000"/>
              <a:gd name="connsiteY856" fmla="*/ 5289233 h 6858000"/>
              <a:gd name="connsiteX857" fmla="*/ 2645728 w 12192000"/>
              <a:gd name="connsiteY857" fmla="*/ 5289233 h 6858000"/>
              <a:gd name="connsiteX858" fmla="*/ 2645728 w 12192000"/>
              <a:gd name="connsiteY858" fmla="*/ 5809933 h 6858000"/>
              <a:gd name="connsiteX859" fmla="*/ 2125028 w 12192000"/>
              <a:gd name="connsiteY859" fmla="*/ 5809933 h 6858000"/>
              <a:gd name="connsiteX860" fmla="*/ 2655126 w 12192000"/>
              <a:gd name="connsiteY860" fmla="*/ 5289233 h 6858000"/>
              <a:gd name="connsiteX861" fmla="*/ 3175826 w 12192000"/>
              <a:gd name="connsiteY861" fmla="*/ 5289233 h 6858000"/>
              <a:gd name="connsiteX862" fmla="*/ 3175826 w 12192000"/>
              <a:gd name="connsiteY862" fmla="*/ 5809933 h 6858000"/>
              <a:gd name="connsiteX863" fmla="*/ 2655126 w 12192000"/>
              <a:gd name="connsiteY863" fmla="*/ 5809933 h 6858000"/>
              <a:gd name="connsiteX864" fmla="*/ 3185224 w 12192000"/>
              <a:gd name="connsiteY864" fmla="*/ 5289233 h 6858000"/>
              <a:gd name="connsiteX865" fmla="*/ 3705924 w 12192000"/>
              <a:gd name="connsiteY865" fmla="*/ 5289233 h 6858000"/>
              <a:gd name="connsiteX866" fmla="*/ 3705924 w 12192000"/>
              <a:gd name="connsiteY866" fmla="*/ 5809933 h 6858000"/>
              <a:gd name="connsiteX867" fmla="*/ 3185224 w 12192000"/>
              <a:gd name="connsiteY867" fmla="*/ 5809933 h 6858000"/>
              <a:gd name="connsiteX868" fmla="*/ 3715322 w 12192000"/>
              <a:gd name="connsiteY868" fmla="*/ 5289233 h 6858000"/>
              <a:gd name="connsiteX869" fmla="*/ 4236022 w 12192000"/>
              <a:gd name="connsiteY869" fmla="*/ 5289233 h 6858000"/>
              <a:gd name="connsiteX870" fmla="*/ 4236022 w 12192000"/>
              <a:gd name="connsiteY870" fmla="*/ 5809933 h 6858000"/>
              <a:gd name="connsiteX871" fmla="*/ 3715322 w 12192000"/>
              <a:gd name="connsiteY871" fmla="*/ 5809933 h 6858000"/>
              <a:gd name="connsiteX872" fmla="*/ 4245420 w 12192000"/>
              <a:gd name="connsiteY872" fmla="*/ 5289233 h 6858000"/>
              <a:gd name="connsiteX873" fmla="*/ 4766120 w 12192000"/>
              <a:gd name="connsiteY873" fmla="*/ 5289233 h 6858000"/>
              <a:gd name="connsiteX874" fmla="*/ 4766120 w 12192000"/>
              <a:gd name="connsiteY874" fmla="*/ 5809933 h 6858000"/>
              <a:gd name="connsiteX875" fmla="*/ 4245420 w 12192000"/>
              <a:gd name="connsiteY875" fmla="*/ 5809933 h 6858000"/>
              <a:gd name="connsiteX876" fmla="*/ 4775454 w 12192000"/>
              <a:gd name="connsiteY876" fmla="*/ 5289233 h 6858000"/>
              <a:gd name="connsiteX877" fmla="*/ 5296154 w 12192000"/>
              <a:gd name="connsiteY877" fmla="*/ 5289233 h 6858000"/>
              <a:gd name="connsiteX878" fmla="*/ 5296154 w 12192000"/>
              <a:gd name="connsiteY878" fmla="*/ 5809933 h 6858000"/>
              <a:gd name="connsiteX879" fmla="*/ 4775454 w 12192000"/>
              <a:gd name="connsiteY879" fmla="*/ 5809933 h 6858000"/>
              <a:gd name="connsiteX880" fmla="*/ 5305552 w 12192000"/>
              <a:gd name="connsiteY880" fmla="*/ 5289233 h 6858000"/>
              <a:gd name="connsiteX881" fmla="*/ 5826252 w 12192000"/>
              <a:gd name="connsiteY881" fmla="*/ 5289233 h 6858000"/>
              <a:gd name="connsiteX882" fmla="*/ 5826252 w 12192000"/>
              <a:gd name="connsiteY882" fmla="*/ 5809933 h 6858000"/>
              <a:gd name="connsiteX883" fmla="*/ 5305552 w 12192000"/>
              <a:gd name="connsiteY883" fmla="*/ 5809933 h 6858000"/>
              <a:gd name="connsiteX884" fmla="*/ 5835650 w 12192000"/>
              <a:gd name="connsiteY884" fmla="*/ 5289233 h 6858000"/>
              <a:gd name="connsiteX885" fmla="*/ 6356350 w 12192000"/>
              <a:gd name="connsiteY885" fmla="*/ 5289233 h 6858000"/>
              <a:gd name="connsiteX886" fmla="*/ 6356350 w 12192000"/>
              <a:gd name="connsiteY886" fmla="*/ 5809933 h 6858000"/>
              <a:gd name="connsiteX887" fmla="*/ 5835650 w 12192000"/>
              <a:gd name="connsiteY887" fmla="*/ 5809933 h 6858000"/>
              <a:gd name="connsiteX888" fmla="*/ 6365748 w 12192000"/>
              <a:gd name="connsiteY888" fmla="*/ 5289233 h 6858000"/>
              <a:gd name="connsiteX889" fmla="*/ 6886448 w 12192000"/>
              <a:gd name="connsiteY889" fmla="*/ 5289233 h 6858000"/>
              <a:gd name="connsiteX890" fmla="*/ 6886448 w 12192000"/>
              <a:gd name="connsiteY890" fmla="*/ 5809933 h 6858000"/>
              <a:gd name="connsiteX891" fmla="*/ 6365748 w 12192000"/>
              <a:gd name="connsiteY891" fmla="*/ 5809933 h 6858000"/>
              <a:gd name="connsiteX892" fmla="*/ 6895846 w 12192000"/>
              <a:gd name="connsiteY892" fmla="*/ 5289233 h 6858000"/>
              <a:gd name="connsiteX893" fmla="*/ 7416546 w 12192000"/>
              <a:gd name="connsiteY893" fmla="*/ 5289233 h 6858000"/>
              <a:gd name="connsiteX894" fmla="*/ 7416546 w 12192000"/>
              <a:gd name="connsiteY894" fmla="*/ 5809933 h 6858000"/>
              <a:gd name="connsiteX895" fmla="*/ 6895846 w 12192000"/>
              <a:gd name="connsiteY895" fmla="*/ 5809933 h 6858000"/>
              <a:gd name="connsiteX896" fmla="*/ 7425944 w 12192000"/>
              <a:gd name="connsiteY896" fmla="*/ 5289233 h 6858000"/>
              <a:gd name="connsiteX897" fmla="*/ 7946644 w 12192000"/>
              <a:gd name="connsiteY897" fmla="*/ 5289233 h 6858000"/>
              <a:gd name="connsiteX898" fmla="*/ 7946644 w 12192000"/>
              <a:gd name="connsiteY898" fmla="*/ 5809933 h 6858000"/>
              <a:gd name="connsiteX899" fmla="*/ 7425944 w 12192000"/>
              <a:gd name="connsiteY899" fmla="*/ 5809933 h 6858000"/>
              <a:gd name="connsiteX900" fmla="*/ 7955979 w 12192000"/>
              <a:gd name="connsiteY900" fmla="*/ 5289233 h 6858000"/>
              <a:gd name="connsiteX901" fmla="*/ 8476679 w 12192000"/>
              <a:gd name="connsiteY901" fmla="*/ 5289233 h 6858000"/>
              <a:gd name="connsiteX902" fmla="*/ 8476679 w 12192000"/>
              <a:gd name="connsiteY902" fmla="*/ 5809933 h 6858000"/>
              <a:gd name="connsiteX903" fmla="*/ 7955979 w 12192000"/>
              <a:gd name="connsiteY903" fmla="*/ 5809933 h 6858000"/>
              <a:gd name="connsiteX904" fmla="*/ 8486077 w 12192000"/>
              <a:gd name="connsiteY904" fmla="*/ 5289233 h 6858000"/>
              <a:gd name="connsiteX905" fmla="*/ 9006777 w 12192000"/>
              <a:gd name="connsiteY905" fmla="*/ 5289233 h 6858000"/>
              <a:gd name="connsiteX906" fmla="*/ 9006777 w 12192000"/>
              <a:gd name="connsiteY906" fmla="*/ 5809933 h 6858000"/>
              <a:gd name="connsiteX907" fmla="*/ 8486077 w 12192000"/>
              <a:gd name="connsiteY907" fmla="*/ 5809933 h 6858000"/>
              <a:gd name="connsiteX908" fmla="*/ 9016174 w 12192000"/>
              <a:gd name="connsiteY908" fmla="*/ 5289233 h 6858000"/>
              <a:gd name="connsiteX909" fmla="*/ 9536874 w 12192000"/>
              <a:gd name="connsiteY909" fmla="*/ 5289233 h 6858000"/>
              <a:gd name="connsiteX910" fmla="*/ 9536874 w 12192000"/>
              <a:gd name="connsiteY910" fmla="*/ 5809933 h 6858000"/>
              <a:gd name="connsiteX911" fmla="*/ 9016174 w 12192000"/>
              <a:gd name="connsiteY911" fmla="*/ 5809933 h 6858000"/>
              <a:gd name="connsiteX912" fmla="*/ 9546272 w 12192000"/>
              <a:gd name="connsiteY912" fmla="*/ 5289233 h 6858000"/>
              <a:gd name="connsiteX913" fmla="*/ 10066972 w 12192000"/>
              <a:gd name="connsiteY913" fmla="*/ 5289233 h 6858000"/>
              <a:gd name="connsiteX914" fmla="*/ 10066972 w 12192000"/>
              <a:gd name="connsiteY914" fmla="*/ 5809933 h 6858000"/>
              <a:gd name="connsiteX915" fmla="*/ 9546272 w 12192000"/>
              <a:gd name="connsiteY915" fmla="*/ 5809933 h 6858000"/>
              <a:gd name="connsiteX916" fmla="*/ 10076370 w 12192000"/>
              <a:gd name="connsiteY916" fmla="*/ 5289233 h 6858000"/>
              <a:gd name="connsiteX917" fmla="*/ 10597070 w 12192000"/>
              <a:gd name="connsiteY917" fmla="*/ 5289233 h 6858000"/>
              <a:gd name="connsiteX918" fmla="*/ 10597070 w 12192000"/>
              <a:gd name="connsiteY918" fmla="*/ 5809933 h 6858000"/>
              <a:gd name="connsiteX919" fmla="*/ 10076370 w 12192000"/>
              <a:gd name="connsiteY919" fmla="*/ 5809933 h 6858000"/>
              <a:gd name="connsiteX920" fmla="*/ 10606469 w 12192000"/>
              <a:gd name="connsiteY920" fmla="*/ 5289233 h 6858000"/>
              <a:gd name="connsiteX921" fmla="*/ 11127169 w 12192000"/>
              <a:gd name="connsiteY921" fmla="*/ 5289233 h 6858000"/>
              <a:gd name="connsiteX922" fmla="*/ 11127169 w 12192000"/>
              <a:gd name="connsiteY922" fmla="*/ 5809933 h 6858000"/>
              <a:gd name="connsiteX923" fmla="*/ 10606469 w 12192000"/>
              <a:gd name="connsiteY923" fmla="*/ 5809933 h 6858000"/>
              <a:gd name="connsiteX924" fmla="*/ 10606469 w 12192000"/>
              <a:gd name="connsiteY924" fmla="*/ 5279708 h 6858000"/>
              <a:gd name="connsiteX925" fmla="*/ 10606469 w 12192000"/>
              <a:gd name="connsiteY925" fmla="*/ 4759008 h 6858000"/>
              <a:gd name="connsiteX926" fmla="*/ 11127169 w 12192000"/>
              <a:gd name="connsiteY926" fmla="*/ 4759008 h 6858000"/>
              <a:gd name="connsiteX927" fmla="*/ 11127169 w 12192000"/>
              <a:gd name="connsiteY927" fmla="*/ 5279708 h 6858000"/>
              <a:gd name="connsiteX928" fmla="*/ 10606469 w 12192000"/>
              <a:gd name="connsiteY928" fmla="*/ 4749673 h 6858000"/>
              <a:gd name="connsiteX929" fmla="*/ 10606469 w 12192000"/>
              <a:gd name="connsiteY929" fmla="*/ 4229100 h 6858000"/>
              <a:gd name="connsiteX930" fmla="*/ 11127169 w 12192000"/>
              <a:gd name="connsiteY930" fmla="*/ 4229100 h 6858000"/>
              <a:gd name="connsiteX931" fmla="*/ 11127169 w 12192000"/>
              <a:gd name="connsiteY931" fmla="*/ 4749800 h 6858000"/>
              <a:gd name="connsiteX932" fmla="*/ 10606469 w 12192000"/>
              <a:gd name="connsiteY932" fmla="*/ 4219575 h 6858000"/>
              <a:gd name="connsiteX933" fmla="*/ 10606469 w 12192000"/>
              <a:gd name="connsiteY933" fmla="*/ 3698875 h 6858000"/>
              <a:gd name="connsiteX934" fmla="*/ 11127169 w 12192000"/>
              <a:gd name="connsiteY934" fmla="*/ 3698875 h 6858000"/>
              <a:gd name="connsiteX935" fmla="*/ 11127169 w 12192000"/>
              <a:gd name="connsiteY935" fmla="*/ 4219575 h 6858000"/>
              <a:gd name="connsiteX936" fmla="*/ 10606469 w 12192000"/>
              <a:gd name="connsiteY936" fmla="*/ 3689477 h 6858000"/>
              <a:gd name="connsiteX937" fmla="*/ 10606469 w 12192000"/>
              <a:gd name="connsiteY937" fmla="*/ 3168650 h 6858000"/>
              <a:gd name="connsiteX938" fmla="*/ 11127169 w 12192000"/>
              <a:gd name="connsiteY938" fmla="*/ 3168650 h 6858000"/>
              <a:gd name="connsiteX939" fmla="*/ 11127169 w 12192000"/>
              <a:gd name="connsiteY939" fmla="*/ 3689350 h 6858000"/>
              <a:gd name="connsiteX940" fmla="*/ 10606469 w 12192000"/>
              <a:gd name="connsiteY940" fmla="*/ 3159379 h 6858000"/>
              <a:gd name="connsiteX941" fmla="*/ 10606469 w 12192000"/>
              <a:gd name="connsiteY941" fmla="*/ 2638679 h 6858000"/>
              <a:gd name="connsiteX942" fmla="*/ 11127169 w 12192000"/>
              <a:gd name="connsiteY942" fmla="*/ 2638679 h 6858000"/>
              <a:gd name="connsiteX943" fmla="*/ 11127169 w 12192000"/>
              <a:gd name="connsiteY943" fmla="*/ 3159379 h 6858000"/>
              <a:gd name="connsiteX944" fmla="*/ 10606469 w 12192000"/>
              <a:gd name="connsiteY944" fmla="*/ 2629281 h 6858000"/>
              <a:gd name="connsiteX945" fmla="*/ 10606469 w 12192000"/>
              <a:gd name="connsiteY945" fmla="*/ 2108581 h 6858000"/>
              <a:gd name="connsiteX946" fmla="*/ 11127169 w 12192000"/>
              <a:gd name="connsiteY946" fmla="*/ 2108581 h 6858000"/>
              <a:gd name="connsiteX947" fmla="*/ 11127169 w 12192000"/>
              <a:gd name="connsiteY947" fmla="*/ 2629281 h 6858000"/>
              <a:gd name="connsiteX948" fmla="*/ 10606469 w 12192000"/>
              <a:gd name="connsiteY948" fmla="*/ 2099247 h 6858000"/>
              <a:gd name="connsiteX949" fmla="*/ 10606469 w 12192000"/>
              <a:gd name="connsiteY949" fmla="*/ 1578547 h 6858000"/>
              <a:gd name="connsiteX950" fmla="*/ 11127169 w 12192000"/>
              <a:gd name="connsiteY950" fmla="*/ 1578547 h 6858000"/>
              <a:gd name="connsiteX951" fmla="*/ 11127169 w 12192000"/>
              <a:gd name="connsiteY951" fmla="*/ 2099247 h 6858000"/>
              <a:gd name="connsiteX952" fmla="*/ 10606469 w 12192000"/>
              <a:gd name="connsiteY952" fmla="*/ 1569149 h 6858000"/>
              <a:gd name="connsiteX953" fmla="*/ 10606469 w 12192000"/>
              <a:gd name="connsiteY953" fmla="*/ 1048449 h 6858000"/>
              <a:gd name="connsiteX954" fmla="*/ 11127169 w 12192000"/>
              <a:gd name="connsiteY954" fmla="*/ 1048449 h 6858000"/>
              <a:gd name="connsiteX955" fmla="*/ 11127169 w 12192000"/>
              <a:gd name="connsiteY955" fmla="*/ 1569149 h 6858000"/>
              <a:gd name="connsiteX956" fmla="*/ 10596944 w 12192000"/>
              <a:gd name="connsiteY956" fmla="*/ 518478 h 6858000"/>
              <a:gd name="connsiteX957" fmla="*/ 10596944 w 12192000"/>
              <a:gd name="connsiteY957" fmla="*/ 1039177 h 6858000"/>
              <a:gd name="connsiteX958" fmla="*/ 10076244 w 12192000"/>
              <a:gd name="connsiteY958" fmla="*/ 1039177 h 6858000"/>
              <a:gd name="connsiteX959" fmla="*/ 10076244 w 12192000"/>
              <a:gd name="connsiteY959" fmla="*/ 518478 h 6858000"/>
              <a:gd name="connsiteX960" fmla="*/ 10066845 w 12192000"/>
              <a:gd name="connsiteY960" fmla="*/ 518478 h 6858000"/>
              <a:gd name="connsiteX961" fmla="*/ 10066845 w 12192000"/>
              <a:gd name="connsiteY961" fmla="*/ 1039177 h 6858000"/>
              <a:gd name="connsiteX962" fmla="*/ 9546145 w 12192000"/>
              <a:gd name="connsiteY962" fmla="*/ 1039177 h 6858000"/>
              <a:gd name="connsiteX963" fmla="*/ 9546145 w 12192000"/>
              <a:gd name="connsiteY963" fmla="*/ 518478 h 6858000"/>
              <a:gd name="connsiteX964" fmla="*/ 9536747 w 12192000"/>
              <a:gd name="connsiteY964" fmla="*/ 518478 h 6858000"/>
              <a:gd name="connsiteX965" fmla="*/ 9536747 w 12192000"/>
              <a:gd name="connsiteY965" fmla="*/ 1039177 h 6858000"/>
              <a:gd name="connsiteX966" fmla="*/ 9016047 w 12192000"/>
              <a:gd name="connsiteY966" fmla="*/ 1039177 h 6858000"/>
              <a:gd name="connsiteX967" fmla="*/ 9016047 w 12192000"/>
              <a:gd name="connsiteY967" fmla="*/ 518478 h 6858000"/>
              <a:gd name="connsiteX968" fmla="*/ 9006649 w 12192000"/>
              <a:gd name="connsiteY968" fmla="*/ 518478 h 6858000"/>
              <a:gd name="connsiteX969" fmla="*/ 9006649 w 12192000"/>
              <a:gd name="connsiteY969" fmla="*/ 1039177 h 6858000"/>
              <a:gd name="connsiteX970" fmla="*/ 8485949 w 12192000"/>
              <a:gd name="connsiteY970" fmla="*/ 1039177 h 6858000"/>
              <a:gd name="connsiteX971" fmla="*/ 8485949 w 12192000"/>
              <a:gd name="connsiteY971" fmla="*/ 518478 h 6858000"/>
              <a:gd name="connsiteX972" fmla="*/ 8476552 w 12192000"/>
              <a:gd name="connsiteY972" fmla="*/ 518478 h 6858000"/>
              <a:gd name="connsiteX973" fmla="*/ 8476552 w 12192000"/>
              <a:gd name="connsiteY973" fmla="*/ 1039177 h 6858000"/>
              <a:gd name="connsiteX974" fmla="*/ 7955852 w 12192000"/>
              <a:gd name="connsiteY974" fmla="*/ 1039177 h 6858000"/>
              <a:gd name="connsiteX975" fmla="*/ 7955852 w 12192000"/>
              <a:gd name="connsiteY975" fmla="*/ 518478 h 6858000"/>
              <a:gd name="connsiteX976" fmla="*/ 7946454 w 12192000"/>
              <a:gd name="connsiteY976" fmla="*/ 518478 h 6858000"/>
              <a:gd name="connsiteX977" fmla="*/ 7946454 w 12192000"/>
              <a:gd name="connsiteY977" fmla="*/ 1039177 h 6858000"/>
              <a:gd name="connsiteX978" fmla="*/ 7425754 w 12192000"/>
              <a:gd name="connsiteY978" fmla="*/ 1039177 h 6858000"/>
              <a:gd name="connsiteX979" fmla="*/ 7425754 w 12192000"/>
              <a:gd name="connsiteY979" fmla="*/ 518478 h 6858000"/>
              <a:gd name="connsiteX980" fmla="*/ 7416419 w 12192000"/>
              <a:gd name="connsiteY980" fmla="*/ 518478 h 6858000"/>
              <a:gd name="connsiteX981" fmla="*/ 7416419 w 12192000"/>
              <a:gd name="connsiteY981" fmla="*/ 1039177 h 6858000"/>
              <a:gd name="connsiteX982" fmla="*/ 6895719 w 12192000"/>
              <a:gd name="connsiteY982" fmla="*/ 1039177 h 6858000"/>
              <a:gd name="connsiteX983" fmla="*/ 6895719 w 12192000"/>
              <a:gd name="connsiteY983" fmla="*/ 518478 h 6858000"/>
              <a:gd name="connsiteX984" fmla="*/ 6886321 w 12192000"/>
              <a:gd name="connsiteY984" fmla="*/ 518478 h 6858000"/>
              <a:gd name="connsiteX985" fmla="*/ 6886321 w 12192000"/>
              <a:gd name="connsiteY985" fmla="*/ 1039177 h 6858000"/>
              <a:gd name="connsiteX986" fmla="*/ 6365621 w 12192000"/>
              <a:gd name="connsiteY986" fmla="*/ 1039177 h 6858000"/>
              <a:gd name="connsiteX987" fmla="*/ 6365621 w 12192000"/>
              <a:gd name="connsiteY987" fmla="*/ 518478 h 6858000"/>
              <a:gd name="connsiteX988" fmla="*/ 6356223 w 12192000"/>
              <a:gd name="connsiteY988" fmla="*/ 518478 h 6858000"/>
              <a:gd name="connsiteX989" fmla="*/ 6356223 w 12192000"/>
              <a:gd name="connsiteY989" fmla="*/ 1039177 h 6858000"/>
              <a:gd name="connsiteX990" fmla="*/ 5835650 w 12192000"/>
              <a:gd name="connsiteY990" fmla="*/ 1039177 h 6858000"/>
              <a:gd name="connsiteX991" fmla="*/ 5835650 w 12192000"/>
              <a:gd name="connsiteY991" fmla="*/ 518478 h 6858000"/>
              <a:gd name="connsiteX992" fmla="*/ 5826125 w 12192000"/>
              <a:gd name="connsiteY992" fmla="*/ 518478 h 6858000"/>
              <a:gd name="connsiteX993" fmla="*/ 5826125 w 12192000"/>
              <a:gd name="connsiteY993" fmla="*/ 1039177 h 6858000"/>
              <a:gd name="connsiteX994" fmla="*/ 5305425 w 12192000"/>
              <a:gd name="connsiteY994" fmla="*/ 1039177 h 6858000"/>
              <a:gd name="connsiteX995" fmla="*/ 5305425 w 12192000"/>
              <a:gd name="connsiteY995" fmla="*/ 518478 h 6858000"/>
              <a:gd name="connsiteX996" fmla="*/ 5296027 w 12192000"/>
              <a:gd name="connsiteY996" fmla="*/ 518478 h 6858000"/>
              <a:gd name="connsiteX997" fmla="*/ 5296027 w 12192000"/>
              <a:gd name="connsiteY997" fmla="*/ 1039177 h 6858000"/>
              <a:gd name="connsiteX998" fmla="*/ 4775327 w 12192000"/>
              <a:gd name="connsiteY998" fmla="*/ 1039177 h 6858000"/>
              <a:gd name="connsiteX999" fmla="*/ 4775327 w 12192000"/>
              <a:gd name="connsiteY999" fmla="*/ 518478 h 6858000"/>
              <a:gd name="connsiteX1000" fmla="*/ 4765929 w 12192000"/>
              <a:gd name="connsiteY1000" fmla="*/ 518478 h 6858000"/>
              <a:gd name="connsiteX1001" fmla="*/ 4765929 w 12192000"/>
              <a:gd name="connsiteY1001" fmla="*/ 1039177 h 6858000"/>
              <a:gd name="connsiteX1002" fmla="*/ 4245229 w 12192000"/>
              <a:gd name="connsiteY1002" fmla="*/ 1039177 h 6858000"/>
              <a:gd name="connsiteX1003" fmla="*/ 4245229 w 12192000"/>
              <a:gd name="connsiteY1003" fmla="*/ 518478 h 6858000"/>
              <a:gd name="connsiteX1004" fmla="*/ 4235895 w 12192000"/>
              <a:gd name="connsiteY1004" fmla="*/ 518478 h 6858000"/>
              <a:gd name="connsiteX1005" fmla="*/ 4235895 w 12192000"/>
              <a:gd name="connsiteY1005" fmla="*/ 1039177 h 6858000"/>
              <a:gd name="connsiteX1006" fmla="*/ 3715195 w 12192000"/>
              <a:gd name="connsiteY1006" fmla="*/ 1039177 h 6858000"/>
              <a:gd name="connsiteX1007" fmla="*/ 3715195 w 12192000"/>
              <a:gd name="connsiteY1007" fmla="*/ 518478 h 6858000"/>
              <a:gd name="connsiteX1008" fmla="*/ 3705797 w 12192000"/>
              <a:gd name="connsiteY1008" fmla="*/ 518478 h 6858000"/>
              <a:gd name="connsiteX1009" fmla="*/ 3705797 w 12192000"/>
              <a:gd name="connsiteY1009" fmla="*/ 1039177 h 6858000"/>
              <a:gd name="connsiteX1010" fmla="*/ 3185097 w 12192000"/>
              <a:gd name="connsiteY1010" fmla="*/ 1039177 h 6858000"/>
              <a:gd name="connsiteX1011" fmla="*/ 3185097 w 12192000"/>
              <a:gd name="connsiteY1011" fmla="*/ 518478 h 6858000"/>
              <a:gd name="connsiteX1012" fmla="*/ 3175699 w 12192000"/>
              <a:gd name="connsiteY1012" fmla="*/ 518478 h 6858000"/>
              <a:gd name="connsiteX1013" fmla="*/ 3175699 w 12192000"/>
              <a:gd name="connsiteY1013" fmla="*/ 1039177 h 6858000"/>
              <a:gd name="connsiteX1014" fmla="*/ 2654999 w 12192000"/>
              <a:gd name="connsiteY1014" fmla="*/ 1039177 h 6858000"/>
              <a:gd name="connsiteX1015" fmla="*/ 2654999 w 12192000"/>
              <a:gd name="connsiteY1015" fmla="*/ 518478 h 6858000"/>
              <a:gd name="connsiteX1016" fmla="*/ 2645601 w 12192000"/>
              <a:gd name="connsiteY1016" fmla="*/ 518478 h 6858000"/>
              <a:gd name="connsiteX1017" fmla="*/ 2645601 w 12192000"/>
              <a:gd name="connsiteY1017" fmla="*/ 1039177 h 6858000"/>
              <a:gd name="connsiteX1018" fmla="*/ 2124901 w 12192000"/>
              <a:gd name="connsiteY1018" fmla="*/ 1039177 h 6858000"/>
              <a:gd name="connsiteX1019" fmla="*/ 2124901 w 12192000"/>
              <a:gd name="connsiteY1019" fmla="*/ 518478 h 6858000"/>
              <a:gd name="connsiteX1020" fmla="*/ 2115503 w 12192000"/>
              <a:gd name="connsiteY1020" fmla="*/ 518478 h 6858000"/>
              <a:gd name="connsiteX1021" fmla="*/ 2115503 w 12192000"/>
              <a:gd name="connsiteY1021" fmla="*/ 1039177 h 6858000"/>
              <a:gd name="connsiteX1022" fmla="*/ 1594803 w 12192000"/>
              <a:gd name="connsiteY1022" fmla="*/ 1039177 h 6858000"/>
              <a:gd name="connsiteX1023" fmla="*/ 1594803 w 12192000"/>
              <a:gd name="connsiteY1023" fmla="*/ 518478 h 6858000"/>
              <a:gd name="connsiteX1024" fmla="*/ 1585405 w 12192000"/>
              <a:gd name="connsiteY1024" fmla="*/ 518478 h 6858000"/>
              <a:gd name="connsiteX1025" fmla="*/ 1585405 w 12192000"/>
              <a:gd name="connsiteY1025" fmla="*/ 1039177 h 6858000"/>
              <a:gd name="connsiteX1026" fmla="*/ 1064705 w 12192000"/>
              <a:gd name="connsiteY1026" fmla="*/ 1039177 h 6858000"/>
              <a:gd name="connsiteX1027" fmla="*/ 1064705 w 12192000"/>
              <a:gd name="connsiteY1027" fmla="*/ 518478 h 6858000"/>
              <a:gd name="connsiteX1028" fmla="*/ 534797 w 12192000"/>
              <a:gd name="connsiteY1028" fmla="*/ 518478 h 6858000"/>
              <a:gd name="connsiteX1029" fmla="*/ 1055497 w 12192000"/>
              <a:gd name="connsiteY1029" fmla="*/ 518478 h 6858000"/>
              <a:gd name="connsiteX1030" fmla="*/ 1055497 w 12192000"/>
              <a:gd name="connsiteY1030" fmla="*/ 1039177 h 6858000"/>
              <a:gd name="connsiteX1031" fmla="*/ 534797 w 12192000"/>
              <a:gd name="connsiteY1031" fmla="*/ 1039177 h 6858000"/>
              <a:gd name="connsiteX1032" fmla="*/ 534797 w 12192000"/>
              <a:gd name="connsiteY1032" fmla="*/ 1048576 h 6858000"/>
              <a:gd name="connsiteX1033" fmla="*/ 1055497 w 12192000"/>
              <a:gd name="connsiteY1033" fmla="*/ 1048576 h 6858000"/>
              <a:gd name="connsiteX1034" fmla="*/ 1055497 w 12192000"/>
              <a:gd name="connsiteY1034" fmla="*/ 1569276 h 6858000"/>
              <a:gd name="connsiteX1035" fmla="*/ 534797 w 12192000"/>
              <a:gd name="connsiteY1035" fmla="*/ 1569276 h 6858000"/>
              <a:gd name="connsiteX1036" fmla="*/ 534797 w 12192000"/>
              <a:gd name="connsiteY1036" fmla="*/ 1578674 h 6858000"/>
              <a:gd name="connsiteX1037" fmla="*/ 1055497 w 12192000"/>
              <a:gd name="connsiteY1037" fmla="*/ 1578674 h 6858000"/>
              <a:gd name="connsiteX1038" fmla="*/ 1055497 w 12192000"/>
              <a:gd name="connsiteY1038" fmla="*/ 2099374 h 6858000"/>
              <a:gd name="connsiteX1039" fmla="*/ 534797 w 12192000"/>
              <a:gd name="connsiteY1039" fmla="*/ 2099374 h 6858000"/>
              <a:gd name="connsiteX1040" fmla="*/ 534797 w 12192000"/>
              <a:gd name="connsiteY1040" fmla="*/ 2108772 h 6858000"/>
              <a:gd name="connsiteX1041" fmla="*/ 1055497 w 12192000"/>
              <a:gd name="connsiteY1041" fmla="*/ 2108772 h 6858000"/>
              <a:gd name="connsiteX1042" fmla="*/ 1055497 w 12192000"/>
              <a:gd name="connsiteY1042" fmla="*/ 2629472 h 6858000"/>
              <a:gd name="connsiteX1043" fmla="*/ 534797 w 12192000"/>
              <a:gd name="connsiteY1043" fmla="*/ 2629472 h 6858000"/>
              <a:gd name="connsiteX1044" fmla="*/ 534797 w 12192000"/>
              <a:gd name="connsiteY1044" fmla="*/ 2638806 h 6858000"/>
              <a:gd name="connsiteX1045" fmla="*/ 1055497 w 12192000"/>
              <a:gd name="connsiteY1045" fmla="*/ 2638806 h 6858000"/>
              <a:gd name="connsiteX1046" fmla="*/ 1055497 w 12192000"/>
              <a:gd name="connsiteY1046" fmla="*/ 3159506 h 6858000"/>
              <a:gd name="connsiteX1047" fmla="*/ 534797 w 12192000"/>
              <a:gd name="connsiteY1047" fmla="*/ 3159506 h 6858000"/>
              <a:gd name="connsiteX1048" fmla="*/ 534797 w 12192000"/>
              <a:gd name="connsiteY1048" fmla="*/ 3168904 h 6858000"/>
              <a:gd name="connsiteX1049" fmla="*/ 1055497 w 12192000"/>
              <a:gd name="connsiteY1049" fmla="*/ 3168904 h 6858000"/>
              <a:gd name="connsiteX1050" fmla="*/ 1055497 w 12192000"/>
              <a:gd name="connsiteY1050" fmla="*/ 3689604 h 6858000"/>
              <a:gd name="connsiteX1051" fmla="*/ 534797 w 12192000"/>
              <a:gd name="connsiteY1051" fmla="*/ 3689604 h 6858000"/>
              <a:gd name="connsiteX1052" fmla="*/ 534797 w 12192000"/>
              <a:gd name="connsiteY1052" fmla="*/ 3699002 h 6858000"/>
              <a:gd name="connsiteX1053" fmla="*/ 1055497 w 12192000"/>
              <a:gd name="connsiteY1053" fmla="*/ 3699002 h 6858000"/>
              <a:gd name="connsiteX1054" fmla="*/ 1055497 w 12192000"/>
              <a:gd name="connsiteY1054" fmla="*/ 4219702 h 6858000"/>
              <a:gd name="connsiteX1055" fmla="*/ 534797 w 12192000"/>
              <a:gd name="connsiteY1055" fmla="*/ 4219702 h 6858000"/>
              <a:gd name="connsiteX1056" fmla="*/ 534797 w 12192000"/>
              <a:gd name="connsiteY1056" fmla="*/ 4229100 h 6858000"/>
              <a:gd name="connsiteX1057" fmla="*/ 1055497 w 12192000"/>
              <a:gd name="connsiteY1057" fmla="*/ 4229100 h 6858000"/>
              <a:gd name="connsiteX1058" fmla="*/ 1055497 w 12192000"/>
              <a:gd name="connsiteY1058" fmla="*/ 4749800 h 6858000"/>
              <a:gd name="connsiteX1059" fmla="*/ 534797 w 12192000"/>
              <a:gd name="connsiteY1059" fmla="*/ 4749800 h 6858000"/>
              <a:gd name="connsiteX1060" fmla="*/ 534797 w 12192000"/>
              <a:gd name="connsiteY1060" fmla="*/ 4759198 h 6858000"/>
              <a:gd name="connsiteX1061" fmla="*/ 1055497 w 12192000"/>
              <a:gd name="connsiteY1061" fmla="*/ 4759198 h 6858000"/>
              <a:gd name="connsiteX1062" fmla="*/ 1055497 w 12192000"/>
              <a:gd name="connsiteY1062" fmla="*/ 5279898 h 6858000"/>
              <a:gd name="connsiteX1063" fmla="*/ 534797 w 12192000"/>
              <a:gd name="connsiteY1063" fmla="*/ 5279898 h 6858000"/>
              <a:gd name="connsiteX1064" fmla="*/ 534797 w 12192000"/>
              <a:gd name="connsiteY1064" fmla="*/ 5289233 h 6858000"/>
              <a:gd name="connsiteX1065" fmla="*/ 1055497 w 12192000"/>
              <a:gd name="connsiteY1065" fmla="*/ 5289233 h 6858000"/>
              <a:gd name="connsiteX1066" fmla="*/ 1055497 w 12192000"/>
              <a:gd name="connsiteY1066" fmla="*/ 5809933 h 6858000"/>
              <a:gd name="connsiteX1067" fmla="*/ 534797 w 12192000"/>
              <a:gd name="connsiteY1067" fmla="*/ 5809933 h 6858000"/>
              <a:gd name="connsiteX1068" fmla="*/ 534797 w 12192000"/>
              <a:gd name="connsiteY1068" fmla="*/ 6339904 h 6858000"/>
              <a:gd name="connsiteX1069" fmla="*/ 534797 w 12192000"/>
              <a:gd name="connsiteY1069" fmla="*/ 5819204 h 6858000"/>
              <a:gd name="connsiteX1070" fmla="*/ 1055497 w 12192000"/>
              <a:gd name="connsiteY1070" fmla="*/ 5819204 h 6858000"/>
              <a:gd name="connsiteX1071" fmla="*/ 1055497 w 12192000"/>
              <a:gd name="connsiteY1071" fmla="*/ 6339904 h 6858000"/>
              <a:gd name="connsiteX1072" fmla="*/ 1064895 w 12192000"/>
              <a:gd name="connsiteY1072" fmla="*/ 6339904 h 6858000"/>
              <a:gd name="connsiteX1073" fmla="*/ 1064895 w 12192000"/>
              <a:gd name="connsiteY1073" fmla="*/ 5819204 h 6858000"/>
              <a:gd name="connsiteX1074" fmla="*/ 1585595 w 12192000"/>
              <a:gd name="connsiteY1074" fmla="*/ 5819204 h 6858000"/>
              <a:gd name="connsiteX1075" fmla="*/ 1585595 w 12192000"/>
              <a:gd name="connsiteY1075" fmla="*/ 6339904 h 6858000"/>
              <a:gd name="connsiteX1076" fmla="*/ 1594930 w 12192000"/>
              <a:gd name="connsiteY1076" fmla="*/ 6339904 h 6858000"/>
              <a:gd name="connsiteX1077" fmla="*/ 1594930 w 12192000"/>
              <a:gd name="connsiteY1077" fmla="*/ 5819204 h 6858000"/>
              <a:gd name="connsiteX1078" fmla="*/ 2115630 w 12192000"/>
              <a:gd name="connsiteY1078" fmla="*/ 5819204 h 6858000"/>
              <a:gd name="connsiteX1079" fmla="*/ 2115630 w 12192000"/>
              <a:gd name="connsiteY1079" fmla="*/ 6339904 h 6858000"/>
              <a:gd name="connsiteX1080" fmla="*/ 2125028 w 12192000"/>
              <a:gd name="connsiteY1080" fmla="*/ 6339904 h 6858000"/>
              <a:gd name="connsiteX1081" fmla="*/ 2125028 w 12192000"/>
              <a:gd name="connsiteY1081" fmla="*/ 5819204 h 6858000"/>
              <a:gd name="connsiteX1082" fmla="*/ 2645728 w 12192000"/>
              <a:gd name="connsiteY1082" fmla="*/ 5819204 h 6858000"/>
              <a:gd name="connsiteX1083" fmla="*/ 2645728 w 12192000"/>
              <a:gd name="connsiteY1083" fmla="*/ 6339904 h 6858000"/>
              <a:gd name="connsiteX1084" fmla="*/ 2655126 w 12192000"/>
              <a:gd name="connsiteY1084" fmla="*/ 6339904 h 6858000"/>
              <a:gd name="connsiteX1085" fmla="*/ 2655126 w 12192000"/>
              <a:gd name="connsiteY1085" fmla="*/ 5819204 h 6858000"/>
              <a:gd name="connsiteX1086" fmla="*/ 3175826 w 12192000"/>
              <a:gd name="connsiteY1086" fmla="*/ 5819204 h 6858000"/>
              <a:gd name="connsiteX1087" fmla="*/ 3175826 w 12192000"/>
              <a:gd name="connsiteY1087" fmla="*/ 6339904 h 6858000"/>
              <a:gd name="connsiteX1088" fmla="*/ 3185224 w 12192000"/>
              <a:gd name="connsiteY1088" fmla="*/ 6339904 h 6858000"/>
              <a:gd name="connsiteX1089" fmla="*/ 3185224 w 12192000"/>
              <a:gd name="connsiteY1089" fmla="*/ 5819204 h 6858000"/>
              <a:gd name="connsiteX1090" fmla="*/ 3705924 w 12192000"/>
              <a:gd name="connsiteY1090" fmla="*/ 5819204 h 6858000"/>
              <a:gd name="connsiteX1091" fmla="*/ 3705924 w 12192000"/>
              <a:gd name="connsiteY1091" fmla="*/ 6339904 h 6858000"/>
              <a:gd name="connsiteX1092" fmla="*/ 3715322 w 12192000"/>
              <a:gd name="connsiteY1092" fmla="*/ 6339904 h 6858000"/>
              <a:gd name="connsiteX1093" fmla="*/ 3715322 w 12192000"/>
              <a:gd name="connsiteY1093" fmla="*/ 5819204 h 6858000"/>
              <a:gd name="connsiteX1094" fmla="*/ 4236022 w 12192000"/>
              <a:gd name="connsiteY1094" fmla="*/ 5819204 h 6858000"/>
              <a:gd name="connsiteX1095" fmla="*/ 4236022 w 12192000"/>
              <a:gd name="connsiteY1095" fmla="*/ 6339904 h 6858000"/>
              <a:gd name="connsiteX1096" fmla="*/ 4245420 w 12192000"/>
              <a:gd name="connsiteY1096" fmla="*/ 6339904 h 6858000"/>
              <a:gd name="connsiteX1097" fmla="*/ 4245420 w 12192000"/>
              <a:gd name="connsiteY1097" fmla="*/ 5819204 h 6858000"/>
              <a:gd name="connsiteX1098" fmla="*/ 4766120 w 12192000"/>
              <a:gd name="connsiteY1098" fmla="*/ 5819204 h 6858000"/>
              <a:gd name="connsiteX1099" fmla="*/ 4766120 w 12192000"/>
              <a:gd name="connsiteY1099" fmla="*/ 6339904 h 6858000"/>
              <a:gd name="connsiteX1100" fmla="*/ 4775454 w 12192000"/>
              <a:gd name="connsiteY1100" fmla="*/ 6339904 h 6858000"/>
              <a:gd name="connsiteX1101" fmla="*/ 4775454 w 12192000"/>
              <a:gd name="connsiteY1101" fmla="*/ 5819204 h 6858000"/>
              <a:gd name="connsiteX1102" fmla="*/ 5296154 w 12192000"/>
              <a:gd name="connsiteY1102" fmla="*/ 5819204 h 6858000"/>
              <a:gd name="connsiteX1103" fmla="*/ 5296154 w 12192000"/>
              <a:gd name="connsiteY1103" fmla="*/ 6339904 h 6858000"/>
              <a:gd name="connsiteX1104" fmla="*/ 5305552 w 12192000"/>
              <a:gd name="connsiteY1104" fmla="*/ 6339904 h 6858000"/>
              <a:gd name="connsiteX1105" fmla="*/ 5305552 w 12192000"/>
              <a:gd name="connsiteY1105" fmla="*/ 5819204 h 6858000"/>
              <a:gd name="connsiteX1106" fmla="*/ 5826252 w 12192000"/>
              <a:gd name="connsiteY1106" fmla="*/ 5819204 h 6858000"/>
              <a:gd name="connsiteX1107" fmla="*/ 5826252 w 12192000"/>
              <a:gd name="connsiteY1107" fmla="*/ 6339904 h 6858000"/>
              <a:gd name="connsiteX1108" fmla="*/ 5835650 w 12192000"/>
              <a:gd name="connsiteY1108" fmla="*/ 6339904 h 6858000"/>
              <a:gd name="connsiteX1109" fmla="*/ 5835650 w 12192000"/>
              <a:gd name="connsiteY1109" fmla="*/ 5819204 h 6858000"/>
              <a:gd name="connsiteX1110" fmla="*/ 6356350 w 12192000"/>
              <a:gd name="connsiteY1110" fmla="*/ 5819204 h 6858000"/>
              <a:gd name="connsiteX1111" fmla="*/ 6356350 w 12192000"/>
              <a:gd name="connsiteY1111" fmla="*/ 6339904 h 6858000"/>
              <a:gd name="connsiteX1112" fmla="*/ 6365748 w 12192000"/>
              <a:gd name="connsiteY1112" fmla="*/ 6339904 h 6858000"/>
              <a:gd name="connsiteX1113" fmla="*/ 6365748 w 12192000"/>
              <a:gd name="connsiteY1113" fmla="*/ 5819204 h 6858000"/>
              <a:gd name="connsiteX1114" fmla="*/ 6886448 w 12192000"/>
              <a:gd name="connsiteY1114" fmla="*/ 5819204 h 6858000"/>
              <a:gd name="connsiteX1115" fmla="*/ 6886448 w 12192000"/>
              <a:gd name="connsiteY1115" fmla="*/ 6339904 h 6858000"/>
              <a:gd name="connsiteX1116" fmla="*/ 6895846 w 12192000"/>
              <a:gd name="connsiteY1116" fmla="*/ 6339904 h 6858000"/>
              <a:gd name="connsiteX1117" fmla="*/ 6895846 w 12192000"/>
              <a:gd name="connsiteY1117" fmla="*/ 5819204 h 6858000"/>
              <a:gd name="connsiteX1118" fmla="*/ 7416546 w 12192000"/>
              <a:gd name="connsiteY1118" fmla="*/ 5819204 h 6858000"/>
              <a:gd name="connsiteX1119" fmla="*/ 7416546 w 12192000"/>
              <a:gd name="connsiteY1119" fmla="*/ 6339904 h 6858000"/>
              <a:gd name="connsiteX1120" fmla="*/ 7425944 w 12192000"/>
              <a:gd name="connsiteY1120" fmla="*/ 6339904 h 6858000"/>
              <a:gd name="connsiteX1121" fmla="*/ 7425944 w 12192000"/>
              <a:gd name="connsiteY1121" fmla="*/ 5819204 h 6858000"/>
              <a:gd name="connsiteX1122" fmla="*/ 7946644 w 12192000"/>
              <a:gd name="connsiteY1122" fmla="*/ 5819204 h 6858000"/>
              <a:gd name="connsiteX1123" fmla="*/ 7946644 w 12192000"/>
              <a:gd name="connsiteY1123" fmla="*/ 6339904 h 6858000"/>
              <a:gd name="connsiteX1124" fmla="*/ 7955979 w 12192000"/>
              <a:gd name="connsiteY1124" fmla="*/ 6339904 h 6858000"/>
              <a:gd name="connsiteX1125" fmla="*/ 7955979 w 12192000"/>
              <a:gd name="connsiteY1125" fmla="*/ 5819204 h 6858000"/>
              <a:gd name="connsiteX1126" fmla="*/ 8476679 w 12192000"/>
              <a:gd name="connsiteY1126" fmla="*/ 5819204 h 6858000"/>
              <a:gd name="connsiteX1127" fmla="*/ 8476679 w 12192000"/>
              <a:gd name="connsiteY1127" fmla="*/ 6339904 h 6858000"/>
              <a:gd name="connsiteX1128" fmla="*/ 8486077 w 12192000"/>
              <a:gd name="connsiteY1128" fmla="*/ 6339904 h 6858000"/>
              <a:gd name="connsiteX1129" fmla="*/ 8486077 w 12192000"/>
              <a:gd name="connsiteY1129" fmla="*/ 5819204 h 6858000"/>
              <a:gd name="connsiteX1130" fmla="*/ 9006777 w 12192000"/>
              <a:gd name="connsiteY1130" fmla="*/ 5819204 h 6858000"/>
              <a:gd name="connsiteX1131" fmla="*/ 9006777 w 12192000"/>
              <a:gd name="connsiteY1131" fmla="*/ 6339904 h 6858000"/>
              <a:gd name="connsiteX1132" fmla="*/ 9016174 w 12192000"/>
              <a:gd name="connsiteY1132" fmla="*/ 6339904 h 6858000"/>
              <a:gd name="connsiteX1133" fmla="*/ 9016174 w 12192000"/>
              <a:gd name="connsiteY1133" fmla="*/ 5819204 h 6858000"/>
              <a:gd name="connsiteX1134" fmla="*/ 9536874 w 12192000"/>
              <a:gd name="connsiteY1134" fmla="*/ 5819204 h 6858000"/>
              <a:gd name="connsiteX1135" fmla="*/ 9536874 w 12192000"/>
              <a:gd name="connsiteY1135" fmla="*/ 6339904 h 6858000"/>
              <a:gd name="connsiteX1136" fmla="*/ 9546272 w 12192000"/>
              <a:gd name="connsiteY1136" fmla="*/ 6339904 h 6858000"/>
              <a:gd name="connsiteX1137" fmla="*/ 9546272 w 12192000"/>
              <a:gd name="connsiteY1137" fmla="*/ 5819204 h 6858000"/>
              <a:gd name="connsiteX1138" fmla="*/ 10066972 w 12192000"/>
              <a:gd name="connsiteY1138" fmla="*/ 5819204 h 6858000"/>
              <a:gd name="connsiteX1139" fmla="*/ 10066972 w 12192000"/>
              <a:gd name="connsiteY1139" fmla="*/ 6339904 h 6858000"/>
              <a:gd name="connsiteX1140" fmla="*/ 10076370 w 12192000"/>
              <a:gd name="connsiteY1140" fmla="*/ 6339904 h 6858000"/>
              <a:gd name="connsiteX1141" fmla="*/ 10076370 w 12192000"/>
              <a:gd name="connsiteY1141" fmla="*/ 5819204 h 6858000"/>
              <a:gd name="connsiteX1142" fmla="*/ 10597070 w 12192000"/>
              <a:gd name="connsiteY1142" fmla="*/ 5819204 h 6858000"/>
              <a:gd name="connsiteX1143" fmla="*/ 10597070 w 12192000"/>
              <a:gd name="connsiteY1143" fmla="*/ 6339904 h 6858000"/>
              <a:gd name="connsiteX1144" fmla="*/ 10606469 w 12192000"/>
              <a:gd name="connsiteY1144" fmla="*/ 6339904 h 6858000"/>
              <a:gd name="connsiteX1145" fmla="*/ 10606469 w 12192000"/>
              <a:gd name="connsiteY1145" fmla="*/ 5819204 h 6858000"/>
              <a:gd name="connsiteX1146" fmla="*/ 11127169 w 12192000"/>
              <a:gd name="connsiteY1146" fmla="*/ 5819204 h 6858000"/>
              <a:gd name="connsiteX1147" fmla="*/ 11127169 w 12192000"/>
              <a:gd name="connsiteY1147" fmla="*/ 6339904 h 6858000"/>
              <a:gd name="connsiteX1148" fmla="*/ 11657076 w 12192000"/>
              <a:gd name="connsiteY1148" fmla="*/ 6339904 h 6858000"/>
              <a:gd name="connsiteX1149" fmla="*/ 11136376 w 12192000"/>
              <a:gd name="connsiteY1149" fmla="*/ 6339904 h 6858000"/>
              <a:gd name="connsiteX1150" fmla="*/ 11136376 w 12192000"/>
              <a:gd name="connsiteY1150" fmla="*/ 5819204 h 6858000"/>
              <a:gd name="connsiteX1151" fmla="*/ 11657076 w 12192000"/>
              <a:gd name="connsiteY1151" fmla="*/ 5819204 h 6858000"/>
              <a:gd name="connsiteX1152" fmla="*/ 11657076 w 12192000"/>
              <a:gd name="connsiteY1152" fmla="*/ 5809806 h 6858000"/>
              <a:gd name="connsiteX1153" fmla="*/ 11136376 w 12192000"/>
              <a:gd name="connsiteY1153" fmla="*/ 5809806 h 6858000"/>
              <a:gd name="connsiteX1154" fmla="*/ 11136376 w 12192000"/>
              <a:gd name="connsiteY1154" fmla="*/ 5289106 h 6858000"/>
              <a:gd name="connsiteX1155" fmla="*/ 11657076 w 12192000"/>
              <a:gd name="connsiteY1155" fmla="*/ 5289106 h 6858000"/>
              <a:gd name="connsiteX1156" fmla="*/ 11657076 w 12192000"/>
              <a:gd name="connsiteY1156" fmla="*/ 5279708 h 6858000"/>
              <a:gd name="connsiteX1157" fmla="*/ 11136376 w 12192000"/>
              <a:gd name="connsiteY1157" fmla="*/ 5279708 h 6858000"/>
              <a:gd name="connsiteX1158" fmla="*/ 11136376 w 12192000"/>
              <a:gd name="connsiteY1158" fmla="*/ 4759008 h 6858000"/>
              <a:gd name="connsiteX1159" fmla="*/ 11657076 w 12192000"/>
              <a:gd name="connsiteY1159" fmla="*/ 4759008 h 6858000"/>
              <a:gd name="connsiteX1160" fmla="*/ 11657076 w 12192000"/>
              <a:gd name="connsiteY1160" fmla="*/ 4749673 h 6858000"/>
              <a:gd name="connsiteX1161" fmla="*/ 11136376 w 12192000"/>
              <a:gd name="connsiteY1161" fmla="*/ 4749673 h 6858000"/>
              <a:gd name="connsiteX1162" fmla="*/ 11136376 w 12192000"/>
              <a:gd name="connsiteY1162" fmla="*/ 4229100 h 6858000"/>
              <a:gd name="connsiteX1163" fmla="*/ 11657076 w 12192000"/>
              <a:gd name="connsiteY1163" fmla="*/ 4229100 h 6858000"/>
              <a:gd name="connsiteX1164" fmla="*/ 11657076 w 12192000"/>
              <a:gd name="connsiteY1164" fmla="*/ 4219575 h 6858000"/>
              <a:gd name="connsiteX1165" fmla="*/ 11136376 w 12192000"/>
              <a:gd name="connsiteY1165" fmla="*/ 4219575 h 6858000"/>
              <a:gd name="connsiteX1166" fmla="*/ 11136376 w 12192000"/>
              <a:gd name="connsiteY1166" fmla="*/ 3698875 h 6858000"/>
              <a:gd name="connsiteX1167" fmla="*/ 11657076 w 12192000"/>
              <a:gd name="connsiteY1167" fmla="*/ 3698875 h 6858000"/>
              <a:gd name="connsiteX1168" fmla="*/ 11657076 w 12192000"/>
              <a:gd name="connsiteY1168" fmla="*/ 3689477 h 6858000"/>
              <a:gd name="connsiteX1169" fmla="*/ 11136376 w 12192000"/>
              <a:gd name="connsiteY1169" fmla="*/ 3689477 h 6858000"/>
              <a:gd name="connsiteX1170" fmla="*/ 11136376 w 12192000"/>
              <a:gd name="connsiteY1170" fmla="*/ 3168650 h 6858000"/>
              <a:gd name="connsiteX1171" fmla="*/ 11657076 w 12192000"/>
              <a:gd name="connsiteY1171" fmla="*/ 3168650 h 6858000"/>
              <a:gd name="connsiteX1172" fmla="*/ 11657076 w 12192000"/>
              <a:gd name="connsiteY1172" fmla="*/ 3159379 h 6858000"/>
              <a:gd name="connsiteX1173" fmla="*/ 11136376 w 12192000"/>
              <a:gd name="connsiteY1173" fmla="*/ 3159379 h 6858000"/>
              <a:gd name="connsiteX1174" fmla="*/ 11136376 w 12192000"/>
              <a:gd name="connsiteY1174" fmla="*/ 2638679 h 6858000"/>
              <a:gd name="connsiteX1175" fmla="*/ 11657076 w 12192000"/>
              <a:gd name="connsiteY1175" fmla="*/ 2638679 h 6858000"/>
              <a:gd name="connsiteX1176" fmla="*/ 11657076 w 12192000"/>
              <a:gd name="connsiteY1176" fmla="*/ 2629281 h 6858000"/>
              <a:gd name="connsiteX1177" fmla="*/ 11136376 w 12192000"/>
              <a:gd name="connsiteY1177" fmla="*/ 2629281 h 6858000"/>
              <a:gd name="connsiteX1178" fmla="*/ 11136376 w 12192000"/>
              <a:gd name="connsiteY1178" fmla="*/ 2108581 h 6858000"/>
              <a:gd name="connsiteX1179" fmla="*/ 11657076 w 12192000"/>
              <a:gd name="connsiteY1179" fmla="*/ 2108581 h 6858000"/>
              <a:gd name="connsiteX1180" fmla="*/ 11657076 w 12192000"/>
              <a:gd name="connsiteY1180" fmla="*/ 2099247 h 6858000"/>
              <a:gd name="connsiteX1181" fmla="*/ 11136376 w 12192000"/>
              <a:gd name="connsiteY1181" fmla="*/ 2099247 h 6858000"/>
              <a:gd name="connsiteX1182" fmla="*/ 11136376 w 12192000"/>
              <a:gd name="connsiteY1182" fmla="*/ 1578547 h 6858000"/>
              <a:gd name="connsiteX1183" fmla="*/ 11657076 w 12192000"/>
              <a:gd name="connsiteY1183" fmla="*/ 1578547 h 6858000"/>
              <a:gd name="connsiteX1184" fmla="*/ 11657076 w 12192000"/>
              <a:gd name="connsiteY1184" fmla="*/ 1569149 h 6858000"/>
              <a:gd name="connsiteX1185" fmla="*/ 11136376 w 12192000"/>
              <a:gd name="connsiteY1185" fmla="*/ 1569149 h 6858000"/>
              <a:gd name="connsiteX1186" fmla="*/ 11136376 w 12192000"/>
              <a:gd name="connsiteY1186" fmla="*/ 1048449 h 6858000"/>
              <a:gd name="connsiteX1187" fmla="*/ 11657076 w 12192000"/>
              <a:gd name="connsiteY1187" fmla="*/ 1048449 h 6858000"/>
              <a:gd name="connsiteX1188" fmla="*/ 11657076 w 12192000"/>
              <a:gd name="connsiteY1188" fmla="*/ 1039051 h 6858000"/>
              <a:gd name="connsiteX1189" fmla="*/ 11136376 w 12192000"/>
              <a:gd name="connsiteY1189" fmla="*/ 1039051 h 6858000"/>
              <a:gd name="connsiteX1190" fmla="*/ 11136376 w 12192000"/>
              <a:gd name="connsiteY1190" fmla="*/ 518350 h 6858000"/>
              <a:gd name="connsiteX1191" fmla="*/ 11657076 w 12192000"/>
              <a:gd name="connsiteY1191" fmla="*/ 5183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Lst>
            <a:rect l="l" t="t" r="r" b="b"/>
            <a:pathLst>
              <a:path w="12192000" h="6858000">
                <a:moveTo>
                  <a:pt x="12192000" y="518287"/>
                </a:moveTo>
                <a:lnTo>
                  <a:pt x="12192000" y="508762"/>
                </a:lnTo>
                <a:lnTo>
                  <a:pt x="11666665" y="508762"/>
                </a:lnTo>
                <a:lnTo>
                  <a:pt x="11666665" y="0"/>
                </a:lnTo>
                <a:lnTo>
                  <a:pt x="11657140" y="0"/>
                </a:lnTo>
                <a:lnTo>
                  <a:pt x="11657140" y="508762"/>
                </a:lnTo>
                <a:lnTo>
                  <a:pt x="11136440" y="508762"/>
                </a:lnTo>
                <a:lnTo>
                  <a:pt x="11136440" y="0"/>
                </a:lnTo>
                <a:lnTo>
                  <a:pt x="11126915" y="0"/>
                </a:lnTo>
                <a:lnTo>
                  <a:pt x="11126915" y="508762"/>
                </a:lnTo>
                <a:lnTo>
                  <a:pt x="10606215" y="508762"/>
                </a:lnTo>
                <a:lnTo>
                  <a:pt x="10606215" y="0"/>
                </a:lnTo>
                <a:lnTo>
                  <a:pt x="10596690" y="0"/>
                </a:lnTo>
                <a:lnTo>
                  <a:pt x="10596690" y="508762"/>
                </a:lnTo>
                <a:lnTo>
                  <a:pt x="10075990" y="508762"/>
                </a:lnTo>
                <a:lnTo>
                  <a:pt x="10075990" y="0"/>
                </a:lnTo>
                <a:lnTo>
                  <a:pt x="10066465" y="0"/>
                </a:lnTo>
                <a:lnTo>
                  <a:pt x="10066465" y="508762"/>
                </a:lnTo>
                <a:lnTo>
                  <a:pt x="9545765" y="508762"/>
                </a:lnTo>
                <a:lnTo>
                  <a:pt x="9545765" y="0"/>
                </a:lnTo>
                <a:lnTo>
                  <a:pt x="9536240" y="0"/>
                </a:lnTo>
                <a:lnTo>
                  <a:pt x="9536240" y="508762"/>
                </a:lnTo>
                <a:lnTo>
                  <a:pt x="9015540" y="508762"/>
                </a:lnTo>
                <a:lnTo>
                  <a:pt x="9015540" y="0"/>
                </a:lnTo>
                <a:lnTo>
                  <a:pt x="9006015" y="0"/>
                </a:lnTo>
                <a:lnTo>
                  <a:pt x="9006015" y="508762"/>
                </a:lnTo>
                <a:lnTo>
                  <a:pt x="8485315" y="508762"/>
                </a:lnTo>
                <a:lnTo>
                  <a:pt x="8485315" y="0"/>
                </a:lnTo>
                <a:lnTo>
                  <a:pt x="8475790" y="0"/>
                </a:lnTo>
                <a:lnTo>
                  <a:pt x="8475790" y="508762"/>
                </a:lnTo>
                <a:lnTo>
                  <a:pt x="7955090" y="508762"/>
                </a:lnTo>
                <a:lnTo>
                  <a:pt x="7955090" y="0"/>
                </a:lnTo>
                <a:lnTo>
                  <a:pt x="7945565" y="0"/>
                </a:lnTo>
                <a:lnTo>
                  <a:pt x="7945565" y="508762"/>
                </a:lnTo>
                <a:lnTo>
                  <a:pt x="7424865" y="508762"/>
                </a:lnTo>
                <a:lnTo>
                  <a:pt x="7424865" y="0"/>
                </a:lnTo>
                <a:lnTo>
                  <a:pt x="7416800" y="0"/>
                </a:lnTo>
                <a:lnTo>
                  <a:pt x="7416800" y="508762"/>
                </a:lnTo>
                <a:lnTo>
                  <a:pt x="6896100" y="508762"/>
                </a:lnTo>
                <a:lnTo>
                  <a:pt x="6896100" y="0"/>
                </a:lnTo>
                <a:lnTo>
                  <a:pt x="6886575" y="0"/>
                </a:lnTo>
                <a:lnTo>
                  <a:pt x="6886575" y="508762"/>
                </a:lnTo>
                <a:lnTo>
                  <a:pt x="6365875" y="508762"/>
                </a:lnTo>
                <a:lnTo>
                  <a:pt x="6365875" y="0"/>
                </a:lnTo>
                <a:lnTo>
                  <a:pt x="6356350" y="0"/>
                </a:lnTo>
                <a:lnTo>
                  <a:pt x="6356350" y="508762"/>
                </a:lnTo>
                <a:lnTo>
                  <a:pt x="5835650" y="508762"/>
                </a:lnTo>
                <a:lnTo>
                  <a:pt x="5835650" y="0"/>
                </a:lnTo>
                <a:lnTo>
                  <a:pt x="5826125" y="0"/>
                </a:lnTo>
                <a:lnTo>
                  <a:pt x="5826125" y="508762"/>
                </a:lnTo>
                <a:lnTo>
                  <a:pt x="5305425" y="508762"/>
                </a:lnTo>
                <a:lnTo>
                  <a:pt x="5305425" y="0"/>
                </a:lnTo>
                <a:lnTo>
                  <a:pt x="5295900" y="0"/>
                </a:lnTo>
                <a:lnTo>
                  <a:pt x="5295900" y="508762"/>
                </a:lnTo>
                <a:lnTo>
                  <a:pt x="4775200" y="508762"/>
                </a:lnTo>
                <a:lnTo>
                  <a:pt x="4775200" y="0"/>
                </a:lnTo>
                <a:lnTo>
                  <a:pt x="4765675" y="0"/>
                </a:lnTo>
                <a:lnTo>
                  <a:pt x="4765675" y="508762"/>
                </a:lnTo>
                <a:lnTo>
                  <a:pt x="4244975" y="508762"/>
                </a:lnTo>
                <a:lnTo>
                  <a:pt x="4244975" y="0"/>
                </a:lnTo>
                <a:lnTo>
                  <a:pt x="4235450" y="0"/>
                </a:lnTo>
                <a:lnTo>
                  <a:pt x="4235450" y="508762"/>
                </a:lnTo>
                <a:lnTo>
                  <a:pt x="3714750" y="508762"/>
                </a:lnTo>
                <a:lnTo>
                  <a:pt x="3714750" y="0"/>
                </a:lnTo>
                <a:lnTo>
                  <a:pt x="3705225" y="0"/>
                </a:lnTo>
                <a:lnTo>
                  <a:pt x="3705225" y="508762"/>
                </a:lnTo>
                <a:lnTo>
                  <a:pt x="3184525" y="508762"/>
                </a:lnTo>
                <a:lnTo>
                  <a:pt x="3184525" y="0"/>
                </a:lnTo>
                <a:lnTo>
                  <a:pt x="3175000" y="0"/>
                </a:lnTo>
                <a:lnTo>
                  <a:pt x="3175000" y="508762"/>
                </a:lnTo>
                <a:lnTo>
                  <a:pt x="2654300" y="508762"/>
                </a:lnTo>
                <a:lnTo>
                  <a:pt x="2654300" y="0"/>
                </a:lnTo>
                <a:lnTo>
                  <a:pt x="2644775" y="0"/>
                </a:lnTo>
                <a:lnTo>
                  <a:pt x="2644775" y="508762"/>
                </a:lnTo>
                <a:lnTo>
                  <a:pt x="2124075" y="508762"/>
                </a:lnTo>
                <a:lnTo>
                  <a:pt x="2124075" y="0"/>
                </a:lnTo>
                <a:lnTo>
                  <a:pt x="2114550" y="0"/>
                </a:lnTo>
                <a:lnTo>
                  <a:pt x="2114550" y="508762"/>
                </a:lnTo>
                <a:lnTo>
                  <a:pt x="1593850" y="508762"/>
                </a:lnTo>
                <a:lnTo>
                  <a:pt x="1593850" y="0"/>
                </a:lnTo>
                <a:lnTo>
                  <a:pt x="1584325" y="0"/>
                </a:lnTo>
                <a:lnTo>
                  <a:pt x="1584325" y="508762"/>
                </a:lnTo>
                <a:lnTo>
                  <a:pt x="1063625" y="508762"/>
                </a:lnTo>
                <a:lnTo>
                  <a:pt x="1063625" y="0"/>
                </a:lnTo>
                <a:lnTo>
                  <a:pt x="1054100" y="0"/>
                </a:lnTo>
                <a:lnTo>
                  <a:pt x="1054100" y="508762"/>
                </a:lnTo>
                <a:lnTo>
                  <a:pt x="533400" y="508762"/>
                </a:lnTo>
                <a:lnTo>
                  <a:pt x="533400" y="0"/>
                </a:lnTo>
                <a:lnTo>
                  <a:pt x="523875" y="0"/>
                </a:lnTo>
                <a:lnTo>
                  <a:pt x="523875" y="508762"/>
                </a:lnTo>
                <a:lnTo>
                  <a:pt x="0" y="508762"/>
                </a:lnTo>
                <a:lnTo>
                  <a:pt x="0" y="518287"/>
                </a:lnTo>
                <a:lnTo>
                  <a:pt x="525336" y="518287"/>
                </a:lnTo>
                <a:lnTo>
                  <a:pt x="525336" y="1038987"/>
                </a:lnTo>
                <a:lnTo>
                  <a:pt x="0" y="1038987"/>
                </a:lnTo>
                <a:lnTo>
                  <a:pt x="0" y="1048512"/>
                </a:lnTo>
                <a:lnTo>
                  <a:pt x="525336" y="1048512"/>
                </a:lnTo>
                <a:lnTo>
                  <a:pt x="525336" y="1569212"/>
                </a:lnTo>
                <a:lnTo>
                  <a:pt x="0" y="1569212"/>
                </a:lnTo>
                <a:lnTo>
                  <a:pt x="0" y="1578737"/>
                </a:lnTo>
                <a:lnTo>
                  <a:pt x="525336" y="1578737"/>
                </a:lnTo>
                <a:lnTo>
                  <a:pt x="525336" y="2099437"/>
                </a:lnTo>
                <a:lnTo>
                  <a:pt x="0" y="2099437"/>
                </a:lnTo>
                <a:lnTo>
                  <a:pt x="0" y="2108962"/>
                </a:lnTo>
                <a:lnTo>
                  <a:pt x="525336" y="2108962"/>
                </a:lnTo>
                <a:lnTo>
                  <a:pt x="525336" y="2629662"/>
                </a:lnTo>
                <a:lnTo>
                  <a:pt x="0" y="2629662"/>
                </a:lnTo>
                <a:lnTo>
                  <a:pt x="0" y="2639187"/>
                </a:lnTo>
                <a:lnTo>
                  <a:pt x="525336" y="2639187"/>
                </a:lnTo>
                <a:lnTo>
                  <a:pt x="525336" y="3159887"/>
                </a:lnTo>
                <a:lnTo>
                  <a:pt x="0" y="3159887"/>
                </a:lnTo>
                <a:lnTo>
                  <a:pt x="0" y="3168650"/>
                </a:lnTo>
                <a:lnTo>
                  <a:pt x="525336" y="3168650"/>
                </a:lnTo>
                <a:lnTo>
                  <a:pt x="525336" y="3689350"/>
                </a:lnTo>
                <a:lnTo>
                  <a:pt x="0" y="3689350"/>
                </a:lnTo>
                <a:lnTo>
                  <a:pt x="0" y="3698875"/>
                </a:lnTo>
                <a:lnTo>
                  <a:pt x="525336" y="3698875"/>
                </a:lnTo>
                <a:lnTo>
                  <a:pt x="525336" y="4219575"/>
                </a:lnTo>
                <a:lnTo>
                  <a:pt x="0" y="4219575"/>
                </a:lnTo>
                <a:lnTo>
                  <a:pt x="0" y="4229100"/>
                </a:lnTo>
                <a:lnTo>
                  <a:pt x="525336" y="4229100"/>
                </a:lnTo>
                <a:lnTo>
                  <a:pt x="525336" y="4749800"/>
                </a:lnTo>
                <a:lnTo>
                  <a:pt x="0" y="4749800"/>
                </a:lnTo>
                <a:lnTo>
                  <a:pt x="0" y="4759325"/>
                </a:lnTo>
                <a:lnTo>
                  <a:pt x="525336" y="4759325"/>
                </a:lnTo>
                <a:lnTo>
                  <a:pt x="525336" y="5280025"/>
                </a:lnTo>
                <a:lnTo>
                  <a:pt x="0" y="5280025"/>
                </a:lnTo>
                <a:lnTo>
                  <a:pt x="0" y="5289550"/>
                </a:lnTo>
                <a:lnTo>
                  <a:pt x="525336" y="5289550"/>
                </a:lnTo>
                <a:lnTo>
                  <a:pt x="525336" y="5810250"/>
                </a:lnTo>
                <a:lnTo>
                  <a:pt x="0" y="5810250"/>
                </a:lnTo>
                <a:lnTo>
                  <a:pt x="0" y="5819775"/>
                </a:lnTo>
                <a:lnTo>
                  <a:pt x="525336" y="5819775"/>
                </a:lnTo>
                <a:lnTo>
                  <a:pt x="525336" y="6340475"/>
                </a:lnTo>
                <a:lnTo>
                  <a:pt x="0" y="6340475"/>
                </a:lnTo>
                <a:lnTo>
                  <a:pt x="0" y="6350000"/>
                </a:lnTo>
                <a:lnTo>
                  <a:pt x="525336" y="6350000"/>
                </a:lnTo>
                <a:lnTo>
                  <a:pt x="525336" y="6858000"/>
                </a:lnTo>
                <a:lnTo>
                  <a:pt x="534861" y="6858000"/>
                </a:lnTo>
                <a:lnTo>
                  <a:pt x="534861" y="6349238"/>
                </a:lnTo>
                <a:lnTo>
                  <a:pt x="1055561" y="6349238"/>
                </a:lnTo>
                <a:lnTo>
                  <a:pt x="1055561" y="6858000"/>
                </a:lnTo>
                <a:lnTo>
                  <a:pt x="1065086" y="6858000"/>
                </a:lnTo>
                <a:lnTo>
                  <a:pt x="1065086" y="6349238"/>
                </a:lnTo>
                <a:lnTo>
                  <a:pt x="1585786" y="6349238"/>
                </a:lnTo>
                <a:lnTo>
                  <a:pt x="1585786" y="6858000"/>
                </a:lnTo>
                <a:lnTo>
                  <a:pt x="1595311" y="6858000"/>
                </a:lnTo>
                <a:lnTo>
                  <a:pt x="1595311" y="6349238"/>
                </a:lnTo>
                <a:lnTo>
                  <a:pt x="2116011" y="6349238"/>
                </a:lnTo>
                <a:lnTo>
                  <a:pt x="2116011" y="6858000"/>
                </a:lnTo>
                <a:lnTo>
                  <a:pt x="2125536" y="6858000"/>
                </a:lnTo>
                <a:lnTo>
                  <a:pt x="2125536" y="6349238"/>
                </a:lnTo>
                <a:lnTo>
                  <a:pt x="2646236" y="6349238"/>
                </a:lnTo>
                <a:lnTo>
                  <a:pt x="2646236" y="6858000"/>
                </a:lnTo>
                <a:lnTo>
                  <a:pt x="2655761" y="6858000"/>
                </a:lnTo>
                <a:lnTo>
                  <a:pt x="2655761" y="6349238"/>
                </a:lnTo>
                <a:lnTo>
                  <a:pt x="3176461" y="6349238"/>
                </a:lnTo>
                <a:lnTo>
                  <a:pt x="3176461" y="6858000"/>
                </a:lnTo>
                <a:lnTo>
                  <a:pt x="3185986" y="6858000"/>
                </a:lnTo>
                <a:lnTo>
                  <a:pt x="3185986" y="6349238"/>
                </a:lnTo>
                <a:lnTo>
                  <a:pt x="3706686" y="6349238"/>
                </a:lnTo>
                <a:lnTo>
                  <a:pt x="3706686" y="6858000"/>
                </a:lnTo>
                <a:lnTo>
                  <a:pt x="3716211" y="6858000"/>
                </a:lnTo>
                <a:lnTo>
                  <a:pt x="3716211" y="6349238"/>
                </a:lnTo>
                <a:lnTo>
                  <a:pt x="4236911" y="6349238"/>
                </a:lnTo>
                <a:lnTo>
                  <a:pt x="4236911" y="6858000"/>
                </a:lnTo>
                <a:lnTo>
                  <a:pt x="4246436" y="6858000"/>
                </a:lnTo>
                <a:lnTo>
                  <a:pt x="4246436" y="6349238"/>
                </a:lnTo>
                <a:lnTo>
                  <a:pt x="4767136" y="6349238"/>
                </a:lnTo>
                <a:lnTo>
                  <a:pt x="4767136" y="6858000"/>
                </a:lnTo>
                <a:lnTo>
                  <a:pt x="4776661" y="6858000"/>
                </a:lnTo>
                <a:lnTo>
                  <a:pt x="4776661" y="6349238"/>
                </a:lnTo>
                <a:lnTo>
                  <a:pt x="5297361" y="6349238"/>
                </a:lnTo>
                <a:lnTo>
                  <a:pt x="5297361" y="6858000"/>
                </a:lnTo>
                <a:lnTo>
                  <a:pt x="5306886" y="6858000"/>
                </a:lnTo>
                <a:lnTo>
                  <a:pt x="5306886" y="6349238"/>
                </a:lnTo>
                <a:lnTo>
                  <a:pt x="5827586" y="6349238"/>
                </a:lnTo>
                <a:lnTo>
                  <a:pt x="5827586" y="6858000"/>
                </a:lnTo>
                <a:lnTo>
                  <a:pt x="5835650" y="6858000"/>
                </a:lnTo>
                <a:lnTo>
                  <a:pt x="5835650" y="6349238"/>
                </a:lnTo>
                <a:lnTo>
                  <a:pt x="6356350" y="6349238"/>
                </a:lnTo>
                <a:lnTo>
                  <a:pt x="6356350" y="6858000"/>
                </a:lnTo>
                <a:lnTo>
                  <a:pt x="6365875" y="6858000"/>
                </a:lnTo>
                <a:lnTo>
                  <a:pt x="6365875" y="6349238"/>
                </a:lnTo>
                <a:lnTo>
                  <a:pt x="6886575" y="6349238"/>
                </a:lnTo>
                <a:lnTo>
                  <a:pt x="6886575" y="6858000"/>
                </a:lnTo>
                <a:lnTo>
                  <a:pt x="6896100" y="6858000"/>
                </a:lnTo>
                <a:lnTo>
                  <a:pt x="6896100" y="6349238"/>
                </a:lnTo>
                <a:lnTo>
                  <a:pt x="7416800" y="6349238"/>
                </a:lnTo>
                <a:lnTo>
                  <a:pt x="7416800" y="6858000"/>
                </a:lnTo>
                <a:lnTo>
                  <a:pt x="7426325" y="6858000"/>
                </a:lnTo>
                <a:lnTo>
                  <a:pt x="7426325" y="6349238"/>
                </a:lnTo>
                <a:lnTo>
                  <a:pt x="7947025" y="6349238"/>
                </a:lnTo>
                <a:lnTo>
                  <a:pt x="7947025" y="6858000"/>
                </a:lnTo>
                <a:lnTo>
                  <a:pt x="7956550" y="6858000"/>
                </a:lnTo>
                <a:lnTo>
                  <a:pt x="7956550" y="6349238"/>
                </a:lnTo>
                <a:lnTo>
                  <a:pt x="8477250" y="6349238"/>
                </a:lnTo>
                <a:lnTo>
                  <a:pt x="8477250" y="6858000"/>
                </a:lnTo>
                <a:lnTo>
                  <a:pt x="8486775" y="6858000"/>
                </a:lnTo>
                <a:lnTo>
                  <a:pt x="8486775" y="6349238"/>
                </a:lnTo>
                <a:lnTo>
                  <a:pt x="9007475" y="6349238"/>
                </a:lnTo>
                <a:lnTo>
                  <a:pt x="9007475" y="6858000"/>
                </a:lnTo>
                <a:lnTo>
                  <a:pt x="9017000" y="6858000"/>
                </a:lnTo>
                <a:lnTo>
                  <a:pt x="9017000" y="6349238"/>
                </a:lnTo>
                <a:lnTo>
                  <a:pt x="9537700" y="6349238"/>
                </a:lnTo>
                <a:lnTo>
                  <a:pt x="9537700" y="6858000"/>
                </a:lnTo>
                <a:lnTo>
                  <a:pt x="9547225" y="6858000"/>
                </a:lnTo>
                <a:lnTo>
                  <a:pt x="9547225" y="6349238"/>
                </a:lnTo>
                <a:lnTo>
                  <a:pt x="10067925" y="6349238"/>
                </a:lnTo>
                <a:lnTo>
                  <a:pt x="10067925" y="6858000"/>
                </a:lnTo>
                <a:lnTo>
                  <a:pt x="10077450" y="6858000"/>
                </a:lnTo>
                <a:lnTo>
                  <a:pt x="10077450" y="6349238"/>
                </a:lnTo>
                <a:lnTo>
                  <a:pt x="10598150" y="6349238"/>
                </a:lnTo>
                <a:lnTo>
                  <a:pt x="10598150" y="6858000"/>
                </a:lnTo>
                <a:lnTo>
                  <a:pt x="10607675" y="6858000"/>
                </a:lnTo>
                <a:lnTo>
                  <a:pt x="10607675" y="6349238"/>
                </a:lnTo>
                <a:lnTo>
                  <a:pt x="11128375" y="6349238"/>
                </a:lnTo>
                <a:lnTo>
                  <a:pt x="11128375" y="6858000"/>
                </a:lnTo>
                <a:lnTo>
                  <a:pt x="11137900" y="6858000"/>
                </a:lnTo>
                <a:lnTo>
                  <a:pt x="11137900" y="6349238"/>
                </a:lnTo>
                <a:lnTo>
                  <a:pt x="11658600" y="6349238"/>
                </a:lnTo>
                <a:lnTo>
                  <a:pt x="11658600" y="6858000"/>
                </a:lnTo>
                <a:lnTo>
                  <a:pt x="11668125" y="6858000"/>
                </a:lnTo>
                <a:lnTo>
                  <a:pt x="11668125" y="6349238"/>
                </a:lnTo>
                <a:lnTo>
                  <a:pt x="12192000" y="6349238"/>
                </a:lnTo>
                <a:lnTo>
                  <a:pt x="12192000" y="6339713"/>
                </a:lnTo>
                <a:lnTo>
                  <a:pt x="11666665" y="6339713"/>
                </a:lnTo>
                <a:lnTo>
                  <a:pt x="11666665" y="5819013"/>
                </a:lnTo>
                <a:lnTo>
                  <a:pt x="12192000" y="5819013"/>
                </a:lnTo>
                <a:lnTo>
                  <a:pt x="12192000" y="5809488"/>
                </a:lnTo>
                <a:lnTo>
                  <a:pt x="11666665" y="5809488"/>
                </a:lnTo>
                <a:lnTo>
                  <a:pt x="11666665" y="5288788"/>
                </a:lnTo>
                <a:lnTo>
                  <a:pt x="12192000" y="5288788"/>
                </a:lnTo>
                <a:lnTo>
                  <a:pt x="12192000" y="5279263"/>
                </a:lnTo>
                <a:lnTo>
                  <a:pt x="11666665" y="5279263"/>
                </a:lnTo>
                <a:lnTo>
                  <a:pt x="11666665" y="4758563"/>
                </a:lnTo>
                <a:lnTo>
                  <a:pt x="12192000" y="4758563"/>
                </a:lnTo>
                <a:lnTo>
                  <a:pt x="12192000" y="4749800"/>
                </a:lnTo>
                <a:lnTo>
                  <a:pt x="11666665" y="4749800"/>
                </a:lnTo>
                <a:lnTo>
                  <a:pt x="11666665" y="4229100"/>
                </a:lnTo>
                <a:lnTo>
                  <a:pt x="12192000" y="4229100"/>
                </a:lnTo>
                <a:lnTo>
                  <a:pt x="12192000" y="4219575"/>
                </a:lnTo>
                <a:lnTo>
                  <a:pt x="11666665" y="4219575"/>
                </a:lnTo>
                <a:lnTo>
                  <a:pt x="11666665" y="3698875"/>
                </a:lnTo>
                <a:lnTo>
                  <a:pt x="12192000" y="3698875"/>
                </a:lnTo>
                <a:lnTo>
                  <a:pt x="12192000" y="3689350"/>
                </a:lnTo>
                <a:lnTo>
                  <a:pt x="11666665" y="3689350"/>
                </a:lnTo>
                <a:lnTo>
                  <a:pt x="11666665" y="3168650"/>
                </a:lnTo>
                <a:lnTo>
                  <a:pt x="12192000" y="3168650"/>
                </a:lnTo>
                <a:lnTo>
                  <a:pt x="12192000" y="3159125"/>
                </a:lnTo>
                <a:lnTo>
                  <a:pt x="11666665" y="3159125"/>
                </a:lnTo>
                <a:lnTo>
                  <a:pt x="11666665" y="2638425"/>
                </a:lnTo>
                <a:lnTo>
                  <a:pt x="12192000" y="2638425"/>
                </a:lnTo>
                <a:lnTo>
                  <a:pt x="12192000" y="2628900"/>
                </a:lnTo>
                <a:lnTo>
                  <a:pt x="11666665" y="2628900"/>
                </a:lnTo>
                <a:lnTo>
                  <a:pt x="11666665" y="2108200"/>
                </a:lnTo>
                <a:lnTo>
                  <a:pt x="12192000" y="2108200"/>
                </a:lnTo>
                <a:lnTo>
                  <a:pt x="12192000" y="2098675"/>
                </a:lnTo>
                <a:lnTo>
                  <a:pt x="11666665" y="2098675"/>
                </a:lnTo>
                <a:lnTo>
                  <a:pt x="11666665" y="1577975"/>
                </a:lnTo>
                <a:lnTo>
                  <a:pt x="12192000" y="1577975"/>
                </a:lnTo>
                <a:lnTo>
                  <a:pt x="12192000" y="1568450"/>
                </a:lnTo>
                <a:lnTo>
                  <a:pt x="11666665" y="1568450"/>
                </a:lnTo>
                <a:lnTo>
                  <a:pt x="11666665" y="1047750"/>
                </a:lnTo>
                <a:lnTo>
                  <a:pt x="12192000" y="1047750"/>
                </a:lnTo>
                <a:lnTo>
                  <a:pt x="12192000" y="1038225"/>
                </a:lnTo>
                <a:lnTo>
                  <a:pt x="11666665" y="1038225"/>
                </a:lnTo>
                <a:lnTo>
                  <a:pt x="11666665" y="517525"/>
                </a:lnTo>
                <a:close/>
                <a:moveTo>
                  <a:pt x="11127042" y="518287"/>
                </a:moveTo>
                <a:lnTo>
                  <a:pt x="11127042" y="1038987"/>
                </a:lnTo>
                <a:lnTo>
                  <a:pt x="10606342" y="1038987"/>
                </a:lnTo>
                <a:lnTo>
                  <a:pt x="10606342" y="518287"/>
                </a:lnTo>
                <a:close/>
                <a:moveTo>
                  <a:pt x="3715385" y="3168650"/>
                </a:moveTo>
                <a:lnTo>
                  <a:pt x="4236085" y="3168650"/>
                </a:lnTo>
                <a:lnTo>
                  <a:pt x="4236085" y="3689350"/>
                </a:lnTo>
                <a:lnTo>
                  <a:pt x="3715385" y="3689350"/>
                </a:lnTo>
                <a:close/>
                <a:moveTo>
                  <a:pt x="3705860" y="3689350"/>
                </a:moveTo>
                <a:lnTo>
                  <a:pt x="3185160" y="3689350"/>
                </a:lnTo>
                <a:lnTo>
                  <a:pt x="3185160" y="3168650"/>
                </a:lnTo>
                <a:lnTo>
                  <a:pt x="3705860" y="3168650"/>
                </a:lnTo>
                <a:close/>
                <a:moveTo>
                  <a:pt x="4245610" y="3168650"/>
                </a:moveTo>
                <a:lnTo>
                  <a:pt x="4766310" y="3168650"/>
                </a:lnTo>
                <a:lnTo>
                  <a:pt x="4766310" y="3689350"/>
                </a:lnTo>
                <a:lnTo>
                  <a:pt x="4245610" y="3689350"/>
                </a:lnTo>
                <a:close/>
                <a:moveTo>
                  <a:pt x="4775645" y="3168650"/>
                </a:moveTo>
                <a:lnTo>
                  <a:pt x="5296345" y="3168650"/>
                </a:lnTo>
                <a:lnTo>
                  <a:pt x="5296345" y="3689350"/>
                </a:lnTo>
                <a:lnTo>
                  <a:pt x="4775645" y="3689350"/>
                </a:lnTo>
                <a:close/>
                <a:moveTo>
                  <a:pt x="5305743" y="3168650"/>
                </a:moveTo>
                <a:lnTo>
                  <a:pt x="5826443" y="3168650"/>
                </a:lnTo>
                <a:lnTo>
                  <a:pt x="5826443" y="3689350"/>
                </a:lnTo>
                <a:lnTo>
                  <a:pt x="5305743" y="3689350"/>
                </a:lnTo>
                <a:close/>
                <a:moveTo>
                  <a:pt x="5835650" y="3168650"/>
                </a:moveTo>
                <a:lnTo>
                  <a:pt x="6356350" y="3168650"/>
                </a:lnTo>
                <a:lnTo>
                  <a:pt x="6356350" y="3689350"/>
                </a:lnTo>
                <a:lnTo>
                  <a:pt x="5835650" y="3689350"/>
                </a:lnTo>
                <a:close/>
                <a:moveTo>
                  <a:pt x="6365748" y="3168650"/>
                </a:moveTo>
                <a:lnTo>
                  <a:pt x="6886448" y="3168650"/>
                </a:lnTo>
                <a:lnTo>
                  <a:pt x="6886448" y="3689350"/>
                </a:lnTo>
                <a:lnTo>
                  <a:pt x="6365748" y="3689350"/>
                </a:lnTo>
                <a:close/>
                <a:moveTo>
                  <a:pt x="6895846" y="3168650"/>
                </a:moveTo>
                <a:lnTo>
                  <a:pt x="7416546" y="3168650"/>
                </a:lnTo>
                <a:lnTo>
                  <a:pt x="7416546" y="3689350"/>
                </a:lnTo>
                <a:lnTo>
                  <a:pt x="6895846" y="3689350"/>
                </a:lnTo>
                <a:close/>
                <a:moveTo>
                  <a:pt x="7425944" y="3168650"/>
                </a:moveTo>
                <a:lnTo>
                  <a:pt x="7946644" y="3168650"/>
                </a:lnTo>
                <a:lnTo>
                  <a:pt x="7946644" y="3689350"/>
                </a:lnTo>
                <a:lnTo>
                  <a:pt x="7425944" y="3689350"/>
                </a:lnTo>
                <a:close/>
                <a:moveTo>
                  <a:pt x="7955979" y="3168650"/>
                </a:moveTo>
                <a:lnTo>
                  <a:pt x="8476679" y="3168650"/>
                </a:lnTo>
                <a:lnTo>
                  <a:pt x="8476679" y="3689350"/>
                </a:lnTo>
                <a:lnTo>
                  <a:pt x="7955979" y="3689350"/>
                </a:lnTo>
                <a:close/>
                <a:moveTo>
                  <a:pt x="8486077" y="3168650"/>
                </a:moveTo>
                <a:lnTo>
                  <a:pt x="9006777" y="3168650"/>
                </a:lnTo>
                <a:lnTo>
                  <a:pt x="9006777" y="3689350"/>
                </a:lnTo>
                <a:lnTo>
                  <a:pt x="8486077" y="3689350"/>
                </a:lnTo>
                <a:close/>
                <a:moveTo>
                  <a:pt x="8486077" y="3159125"/>
                </a:moveTo>
                <a:lnTo>
                  <a:pt x="8486077" y="2638425"/>
                </a:lnTo>
                <a:lnTo>
                  <a:pt x="9006777" y="2638425"/>
                </a:lnTo>
                <a:lnTo>
                  <a:pt x="9006777" y="3159125"/>
                </a:lnTo>
                <a:close/>
                <a:moveTo>
                  <a:pt x="8476552" y="3159125"/>
                </a:moveTo>
                <a:lnTo>
                  <a:pt x="7955852" y="3159125"/>
                </a:lnTo>
                <a:lnTo>
                  <a:pt x="7955852" y="2638425"/>
                </a:lnTo>
                <a:lnTo>
                  <a:pt x="8476552" y="2638425"/>
                </a:lnTo>
                <a:close/>
                <a:moveTo>
                  <a:pt x="7946454" y="3159125"/>
                </a:moveTo>
                <a:lnTo>
                  <a:pt x="7425754" y="3159125"/>
                </a:lnTo>
                <a:lnTo>
                  <a:pt x="7425754" y="2638425"/>
                </a:lnTo>
                <a:lnTo>
                  <a:pt x="7946454" y="2638425"/>
                </a:lnTo>
                <a:close/>
                <a:moveTo>
                  <a:pt x="7416419" y="3159125"/>
                </a:moveTo>
                <a:lnTo>
                  <a:pt x="6895719" y="3159125"/>
                </a:lnTo>
                <a:lnTo>
                  <a:pt x="6895719" y="2638425"/>
                </a:lnTo>
                <a:lnTo>
                  <a:pt x="7416419" y="2638425"/>
                </a:lnTo>
                <a:close/>
                <a:moveTo>
                  <a:pt x="6886321" y="3159125"/>
                </a:moveTo>
                <a:lnTo>
                  <a:pt x="6365621" y="3159125"/>
                </a:lnTo>
                <a:lnTo>
                  <a:pt x="6365621" y="2638425"/>
                </a:lnTo>
                <a:lnTo>
                  <a:pt x="6886321" y="2638425"/>
                </a:lnTo>
                <a:close/>
                <a:moveTo>
                  <a:pt x="6356223" y="3159125"/>
                </a:moveTo>
                <a:lnTo>
                  <a:pt x="5835650" y="3159125"/>
                </a:lnTo>
                <a:lnTo>
                  <a:pt x="5835650" y="2638425"/>
                </a:lnTo>
                <a:lnTo>
                  <a:pt x="6356350" y="2638425"/>
                </a:lnTo>
                <a:close/>
                <a:moveTo>
                  <a:pt x="5826125" y="3159125"/>
                </a:moveTo>
                <a:lnTo>
                  <a:pt x="5305425" y="3159125"/>
                </a:lnTo>
                <a:lnTo>
                  <a:pt x="5305425" y="2638425"/>
                </a:lnTo>
                <a:lnTo>
                  <a:pt x="5826125" y="2638425"/>
                </a:lnTo>
                <a:close/>
                <a:moveTo>
                  <a:pt x="5296027" y="3159125"/>
                </a:moveTo>
                <a:lnTo>
                  <a:pt x="4775327" y="3159125"/>
                </a:lnTo>
                <a:lnTo>
                  <a:pt x="4775327" y="2638425"/>
                </a:lnTo>
                <a:lnTo>
                  <a:pt x="5296027" y="2638425"/>
                </a:lnTo>
                <a:close/>
                <a:moveTo>
                  <a:pt x="4765929" y="3159125"/>
                </a:moveTo>
                <a:lnTo>
                  <a:pt x="4245229" y="3159125"/>
                </a:lnTo>
                <a:lnTo>
                  <a:pt x="4245229" y="2638425"/>
                </a:lnTo>
                <a:lnTo>
                  <a:pt x="4765929" y="2638425"/>
                </a:lnTo>
                <a:close/>
                <a:moveTo>
                  <a:pt x="4235895" y="3159125"/>
                </a:moveTo>
                <a:lnTo>
                  <a:pt x="3715195" y="3159125"/>
                </a:lnTo>
                <a:lnTo>
                  <a:pt x="3715195" y="2638425"/>
                </a:lnTo>
                <a:lnTo>
                  <a:pt x="4235895" y="2638425"/>
                </a:lnTo>
                <a:close/>
                <a:moveTo>
                  <a:pt x="3705797" y="3159125"/>
                </a:moveTo>
                <a:lnTo>
                  <a:pt x="3185097" y="3159125"/>
                </a:lnTo>
                <a:lnTo>
                  <a:pt x="3185097" y="2638425"/>
                </a:lnTo>
                <a:lnTo>
                  <a:pt x="3705797" y="2638425"/>
                </a:lnTo>
                <a:close/>
                <a:moveTo>
                  <a:pt x="3175699" y="3159125"/>
                </a:moveTo>
                <a:lnTo>
                  <a:pt x="2654999" y="3159125"/>
                </a:lnTo>
                <a:lnTo>
                  <a:pt x="2654999" y="2638425"/>
                </a:lnTo>
                <a:lnTo>
                  <a:pt x="3175699" y="2638425"/>
                </a:lnTo>
                <a:close/>
                <a:moveTo>
                  <a:pt x="3175699" y="3168650"/>
                </a:moveTo>
                <a:lnTo>
                  <a:pt x="3175699" y="3689350"/>
                </a:lnTo>
                <a:lnTo>
                  <a:pt x="2654999" y="3689350"/>
                </a:lnTo>
                <a:lnTo>
                  <a:pt x="2654999" y="3168650"/>
                </a:lnTo>
                <a:close/>
                <a:moveTo>
                  <a:pt x="3175699" y="3698748"/>
                </a:moveTo>
                <a:lnTo>
                  <a:pt x="3175699" y="4219448"/>
                </a:lnTo>
                <a:lnTo>
                  <a:pt x="2654999" y="4219448"/>
                </a:lnTo>
                <a:lnTo>
                  <a:pt x="2654999" y="3698748"/>
                </a:lnTo>
                <a:close/>
                <a:moveTo>
                  <a:pt x="3185224" y="3698748"/>
                </a:moveTo>
                <a:lnTo>
                  <a:pt x="3705924" y="3698748"/>
                </a:lnTo>
                <a:lnTo>
                  <a:pt x="3705924" y="4219448"/>
                </a:lnTo>
                <a:lnTo>
                  <a:pt x="3185224" y="4219448"/>
                </a:lnTo>
                <a:close/>
                <a:moveTo>
                  <a:pt x="3715322" y="3698748"/>
                </a:moveTo>
                <a:lnTo>
                  <a:pt x="4236022" y="3698748"/>
                </a:lnTo>
                <a:lnTo>
                  <a:pt x="4236022" y="4219448"/>
                </a:lnTo>
                <a:lnTo>
                  <a:pt x="3715322" y="4219448"/>
                </a:lnTo>
                <a:close/>
                <a:moveTo>
                  <a:pt x="4245420" y="3698748"/>
                </a:moveTo>
                <a:lnTo>
                  <a:pt x="4766120" y="3698748"/>
                </a:lnTo>
                <a:lnTo>
                  <a:pt x="4766120" y="4219448"/>
                </a:lnTo>
                <a:lnTo>
                  <a:pt x="4245420" y="4219448"/>
                </a:lnTo>
                <a:close/>
                <a:moveTo>
                  <a:pt x="4775454" y="3698748"/>
                </a:moveTo>
                <a:lnTo>
                  <a:pt x="5296154" y="3698748"/>
                </a:lnTo>
                <a:lnTo>
                  <a:pt x="5296154" y="4219448"/>
                </a:lnTo>
                <a:lnTo>
                  <a:pt x="4775454" y="4219448"/>
                </a:lnTo>
                <a:close/>
                <a:moveTo>
                  <a:pt x="5305552" y="3698748"/>
                </a:moveTo>
                <a:lnTo>
                  <a:pt x="5826252" y="3698748"/>
                </a:lnTo>
                <a:lnTo>
                  <a:pt x="5826252" y="4219448"/>
                </a:lnTo>
                <a:lnTo>
                  <a:pt x="5305552" y="4219448"/>
                </a:lnTo>
                <a:close/>
                <a:moveTo>
                  <a:pt x="5835650" y="3698748"/>
                </a:moveTo>
                <a:lnTo>
                  <a:pt x="6356350" y="3698748"/>
                </a:lnTo>
                <a:lnTo>
                  <a:pt x="6356350" y="4219448"/>
                </a:lnTo>
                <a:lnTo>
                  <a:pt x="5835650" y="4219448"/>
                </a:lnTo>
                <a:close/>
                <a:moveTo>
                  <a:pt x="6365748" y="3698748"/>
                </a:moveTo>
                <a:lnTo>
                  <a:pt x="6886448" y="3698748"/>
                </a:lnTo>
                <a:lnTo>
                  <a:pt x="6886448" y="4219448"/>
                </a:lnTo>
                <a:lnTo>
                  <a:pt x="6365748" y="4219448"/>
                </a:lnTo>
                <a:close/>
                <a:moveTo>
                  <a:pt x="6895846" y="3698748"/>
                </a:moveTo>
                <a:lnTo>
                  <a:pt x="7416546" y="3698748"/>
                </a:lnTo>
                <a:lnTo>
                  <a:pt x="7416546" y="4219448"/>
                </a:lnTo>
                <a:lnTo>
                  <a:pt x="6895846" y="4219448"/>
                </a:lnTo>
                <a:close/>
                <a:moveTo>
                  <a:pt x="7425944" y="3698748"/>
                </a:moveTo>
                <a:lnTo>
                  <a:pt x="7946644" y="3698748"/>
                </a:lnTo>
                <a:lnTo>
                  <a:pt x="7946644" y="4219448"/>
                </a:lnTo>
                <a:lnTo>
                  <a:pt x="7425944" y="4219448"/>
                </a:lnTo>
                <a:close/>
                <a:moveTo>
                  <a:pt x="7955979" y="3698748"/>
                </a:moveTo>
                <a:lnTo>
                  <a:pt x="8476679" y="3698748"/>
                </a:lnTo>
                <a:lnTo>
                  <a:pt x="8476679" y="4219448"/>
                </a:lnTo>
                <a:lnTo>
                  <a:pt x="7955979" y="4219448"/>
                </a:lnTo>
                <a:close/>
                <a:moveTo>
                  <a:pt x="8486077" y="3698748"/>
                </a:moveTo>
                <a:lnTo>
                  <a:pt x="9006777" y="3698748"/>
                </a:lnTo>
                <a:lnTo>
                  <a:pt x="9006777" y="4219448"/>
                </a:lnTo>
                <a:lnTo>
                  <a:pt x="8486077" y="4219448"/>
                </a:lnTo>
                <a:close/>
                <a:moveTo>
                  <a:pt x="9016174" y="3698748"/>
                </a:moveTo>
                <a:lnTo>
                  <a:pt x="9536874" y="3698748"/>
                </a:lnTo>
                <a:lnTo>
                  <a:pt x="9536874" y="4219448"/>
                </a:lnTo>
                <a:lnTo>
                  <a:pt x="9016174" y="4219448"/>
                </a:lnTo>
                <a:close/>
                <a:moveTo>
                  <a:pt x="9016174" y="3689223"/>
                </a:moveTo>
                <a:lnTo>
                  <a:pt x="9016174" y="3168650"/>
                </a:lnTo>
                <a:lnTo>
                  <a:pt x="9536874" y="3168650"/>
                </a:lnTo>
                <a:lnTo>
                  <a:pt x="9536874" y="3689350"/>
                </a:lnTo>
                <a:close/>
                <a:moveTo>
                  <a:pt x="9016174" y="3159125"/>
                </a:moveTo>
                <a:lnTo>
                  <a:pt x="9016174" y="2638425"/>
                </a:lnTo>
                <a:lnTo>
                  <a:pt x="9536874" y="2638425"/>
                </a:lnTo>
                <a:lnTo>
                  <a:pt x="9536874" y="3159125"/>
                </a:lnTo>
                <a:close/>
                <a:moveTo>
                  <a:pt x="9016174" y="2629027"/>
                </a:moveTo>
                <a:lnTo>
                  <a:pt x="9016174" y="2108327"/>
                </a:lnTo>
                <a:lnTo>
                  <a:pt x="9536874" y="2108327"/>
                </a:lnTo>
                <a:lnTo>
                  <a:pt x="9536874" y="2629027"/>
                </a:lnTo>
                <a:close/>
                <a:moveTo>
                  <a:pt x="9006649" y="2629027"/>
                </a:moveTo>
                <a:lnTo>
                  <a:pt x="8485949" y="2629027"/>
                </a:lnTo>
                <a:lnTo>
                  <a:pt x="8485949" y="2108327"/>
                </a:lnTo>
                <a:lnTo>
                  <a:pt x="9006649" y="2108327"/>
                </a:lnTo>
                <a:close/>
                <a:moveTo>
                  <a:pt x="8476552" y="2629027"/>
                </a:moveTo>
                <a:lnTo>
                  <a:pt x="7955852" y="2629027"/>
                </a:lnTo>
                <a:lnTo>
                  <a:pt x="7955852" y="2108327"/>
                </a:lnTo>
                <a:lnTo>
                  <a:pt x="8476552" y="2108327"/>
                </a:lnTo>
                <a:close/>
                <a:moveTo>
                  <a:pt x="7946454" y="2629027"/>
                </a:moveTo>
                <a:lnTo>
                  <a:pt x="7425754" y="2629027"/>
                </a:lnTo>
                <a:lnTo>
                  <a:pt x="7425754" y="2108327"/>
                </a:lnTo>
                <a:lnTo>
                  <a:pt x="7946454" y="2108327"/>
                </a:lnTo>
                <a:close/>
                <a:moveTo>
                  <a:pt x="7416800" y="2628900"/>
                </a:moveTo>
                <a:lnTo>
                  <a:pt x="6896100" y="2628900"/>
                </a:lnTo>
                <a:lnTo>
                  <a:pt x="6896100" y="2108200"/>
                </a:lnTo>
                <a:lnTo>
                  <a:pt x="7416800" y="2108200"/>
                </a:lnTo>
                <a:close/>
                <a:moveTo>
                  <a:pt x="6886702" y="2628900"/>
                </a:moveTo>
                <a:lnTo>
                  <a:pt x="6366002" y="2628900"/>
                </a:lnTo>
                <a:lnTo>
                  <a:pt x="6366002" y="2108200"/>
                </a:lnTo>
                <a:lnTo>
                  <a:pt x="6886702" y="2108200"/>
                </a:lnTo>
                <a:close/>
                <a:moveTo>
                  <a:pt x="6356350" y="2628900"/>
                </a:moveTo>
                <a:lnTo>
                  <a:pt x="5835650" y="2628900"/>
                </a:lnTo>
                <a:lnTo>
                  <a:pt x="5835650" y="2108200"/>
                </a:lnTo>
                <a:lnTo>
                  <a:pt x="6356350" y="2108200"/>
                </a:lnTo>
                <a:close/>
                <a:moveTo>
                  <a:pt x="5826252" y="2628900"/>
                </a:moveTo>
                <a:lnTo>
                  <a:pt x="5305552" y="2628900"/>
                </a:lnTo>
                <a:lnTo>
                  <a:pt x="5305552" y="2108200"/>
                </a:lnTo>
                <a:lnTo>
                  <a:pt x="5826252" y="2108200"/>
                </a:lnTo>
                <a:close/>
                <a:moveTo>
                  <a:pt x="5295900" y="2628900"/>
                </a:moveTo>
                <a:lnTo>
                  <a:pt x="4775200" y="2628900"/>
                </a:lnTo>
                <a:lnTo>
                  <a:pt x="4775200" y="2108200"/>
                </a:lnTo>
                <a:lnTo>
                  <a:pt x="5295900" y="2108200"/>
                </a:lnTo>
                <a:close/>
                <a:moveTo>
                  <a:pt x="4765802" y="2628900"/>
                </a:moveTo>
                <a:lnTo>
                  <a:pt x="4245102" y="2628900"/>
                </a:lnTo>
                <a:lnTo>
                  <a:pt x="4245102" y="2108200"/>
                </a:lnTo>
                <a:lnTo>
                  <a:pt x="4765802" y="2108200"/>
                </a:lnTo>
                <a:close/>
                <a:moveTo>
                  <a:pt x="4235768" y="2628900"/>
                </a:moveTo>
                <a:lnTo>
                  <a:pt x="3715068" y="2628900"/>
                </a:lnTo>
                <a:lnTo>
                  <a:pt x="3715068" y="2108200"/>
                </a:lnTo>
                <a:lnTo>
                  <a:pt x="4235768" y="2108200"/>
                </a:lnTo>
                <a:close/>
                <a:moveTo>
                  <a:pt x="3705670" y="2628900"/>
                </a:moveTo>
                <a:lnTo>
                  <a:pt x="3184970" y="2628900"/>
                </a:lnTo>
                <a:lnTo>
                  <a:pt x="3184970" y="2108200"/>
                </a:lnTo>
                <a:lnTo>
                  <a:pt x="3705670" y="2108200"/>
                </a:lnTo>
                <a:close/>
                <a:moveTo>
                  <a:pt x="3175572" y="2628900"/>
                </a:moveTo>
                <a:lnTo>
                  <a:pt x="2654872" y="2628900"/>
                </a:lnTo>
                <a:lnTo>
                  <a:pt x="2654872" y="2108200"/>
                </a:lnTo>
                <a:lnTo>
                  <a:pt x="3175572" y="2108200"/>
                </a:lnTo>
                <a:close/>
                <a:moveTo>
                  <a:pt x="2645474" y="2628900"/>
                </a:moveTo>
                <a:lnTo>
                  <a:pt x="2124774" y="2628900"/>
                </a:lnTo>
                <a:lnTo>
                  <a:pt x="2124774" y="2108200"/>
                </a:lnTo>
                <a:lnTo>
                  <a:pt x="2645474" y="2108200"/>
                </a:lnTo>
                <a:close/>
                <a:moveTo>
                  <a:pt x="2645474" y="2638425"/>
                </a:moveTo>
                <a:lnTo>
                  <a:pt x="2645474" y="3159125"/>
                </a:lnTo>
                <a:lnTo>
                  <a:pt x="2124774" y="3159125"/>
                </a:lnTo>
                <a:lnTo>
                  <a:pt x="2124774" y="2638425"/>
                </a:lnTo>
                <a:close/>
                <a:moveTo>
                  <a:pt x="2645474" y="3168523"/>
                </a:moveTo>
                <a:lnTo>
                  <a:pt x="2645474" y="3689223"/>
                </a:lnTo>
                <a:lnTo>
                  <a:pt x="2124774" y="3689223"/>
                </a:lnTo>
                <a:lnTo>
                  <a:pt x="2124774" y="3168650"/>
                </a:lnTo>
                <a:close/>
                <a:moveTo>
                  <a:pt x="2645474" y="3698621"/>
                </a:moveTo>
                <a:lnTo>
                  <a:pt x="2645474" y="4219321"/>
                </a:lnTo>
                <a:lnTo>
                  <a:pt x="2124774" y="4219321"/>
                </a:lnTo>
                <a:lnTo>
                  <a:pt x="2124774" y="3698621"/>
                </a:lnTo>
                <a:close/>
                <a:moveTo>
                  <a:pt x="2645474" y="4228719"/>
                </a:moveTo>
                <a:lnTo>
                  <a:pt x="2645474" y="4749419"/>
                </a:lnTo>
                <a:lnTo>
                  <a:pt x="2124774" y="4749419"/>
                </a:lnTo>
                <a:lnTo>
                  <a:pt x="2124774" y="4229100"/>
                </a:lnTo>
                <a:close/>
                <a:moveTo>
                  <a:pt x="2654999" y="4228719"/>
                </a:moveTo>
                <a:lnTo>
                  <a:pt x="3175699" y="4228719"/>
                </a:lnTo>
                <a:lnTo>
                  <a:pt x="3175699" y="4749419"/>
                </a:lnTo>
                <a:lnTo>
                  <a:pt x="2654999" y="4749419"/>
                </a:lnTo>
                <a:close/>
                <a:moveTo>
                  <a:pt x="3185097" y="4228719"/>
                </a:moveTo>
                <a:lnTo>
                  <a:pt x="3705797" y="4228719"/>
                </a:lnTo>
                <a:lnTo>
                  <a:pt x="3705797" y="4749419"/>
                </a:lnTo>
                <a:lnTo>
                  <a:pt x="3185097" y="4749419"/>
                </a:lnTo>
                <a:close/>
                <a:moveTo>
                  <a:pt x="3715195" y="4228719"/>
                </a:moveTo>
                <a:lnTo>
                  <a:pt x="4235895" y="4228719"/>
                </a:lnTo>
                <a:lnTo>
                  <a:pt x="4235895" y="4749419"/>
                </a:lnTo>
                <a:lnTo>
                  <a:pt x="3715195" y="4749419"/>
                </a:lnTo>
                <a:close/>
                <a:moveTo>
                  <a:pt x="4245293" y="4228719"/>
                </a:moveTo>
                <a:lnTo>
                  <a:pt x="4765993" y="4228719"/>
                </a:lnTo>
                <a:lnTo>
                  <a:pt x="4765993" y="4749419"/>
                </a:lnTo>
                <a:lnTo>
                  <a:pt x="4245293" y="4749419"/>
                </a:lnTo>
                <a:close/>
                <a:moveTo>
                  <a:pt x="4775327" y="4228719"/>
                </a:moveTo>
                <a:lnTo>
                  <a:pt x="5296027" y="4228719"/>
                </a:lnTo>
                <a:lnTo>
                  <a:pt x="5296027" y="4749419"/>
                </a:lnTo>
                <a:lnTo>
                  <a:pt x="4775327" y="4749419"/>
                </a:lnTo>
                <a:close/>
                <a:moveTo>
                  <a:pt x="5305425" y="4228719"/>
                </a:moveTo>
                <a:lnTo>
                  <a:pt x="5826125" y="4228719"/>
                </a:lnTo>
                <a:lnTo>
                  <a:pt x="5826125" y="4749419"/>
                </a:lnTo>
                <a:lnTo>
                  <a:pt x="5305425" y="4749419"/>
                </a:lnTo>
                <a:close/>
                <a:moveTo>
                  <a:pt x="5835650" y="4229100"/>
                </a:moveTo>
                <a:lnTo>
                  <a:pt x="6356350" y="4229100"/>
                </a:lnTo>
                <a:lnTo>
                  <a:pt x="6356350" y="4749800"/>
                </a:lnTo>
                <a:lnTo>
                  <a:pt x="5835650" y="4749800"/>
                </a:lnTo>
                <a:close/>
                <a:moveTo>
                  <a:pt x="6365748" y="4229100"/>
                </a:moveTo>
                <a:lnTo>
                  <a:pt x="6886448" y="4229100"/>
                </a:lnTo>
                <a:lnTo>
                  <a:pt x="6886448" y="4749800"/>
                </a:lnTo>
                <a:lnTo>
                  <a:pt x="6365748" y="4749800"/>
                </a:lnTo>
                <a:close/>
                <a:moveTo>
                  <a:pt x="6895846" y="4229100"/>
                </a:moveTo>
                <a:lnTo>
                  <a:pt x="7416546" y="4229100"/>
                </a:lnTo>
                <a:lnTo>
                  <a:pt x="7416546" y="4749800"/>
                </a:lnTo>
                <a:lnTo>
                  <a:pt x="6895846" y="4749800"/>
                </a:lnTo>
                <a:close/>
                <a:moveTo>
                  <a:pt x="7425944" y="4229100"/>
                </a:moveTo>
                <a:lnTo>
                  <a:pt x="7946644" y="4229100"/>
                </a:lnTo>
                <a:lnTo>
                  <a:pt x="7946644" y="4749800"/>
                </a:lnTo>
                <a:lnTo>
                  <a:pt x="7425944" y="4749800"/>
                </a:lnTo>
                <a:close/>
                <a:moveTo>
                  <a:pt x="7955979" y="4229100"/>
                </a:moveTo>
                <a:lnTo>
                  <a:pt x="8476679" y="4229100"/>
                </a:lnTo>
                <a:lnTo>
                  <a:pt x="8476679" y="4749800"/>
                </a:lnTo>
                <a:lnTo>
                  <a:pt x="7955979" y="4749800"/>
                </a:lnTo>
                <a:close/>
                <a:moveTo>
                  <a:pt x="8486077" y="4229100"/>
                </a:moveTo>
                <a:lnTo>
                  <a:pt x="9006777" y="4229100"/>
                </a:lnTo>
                <a:lnTo>
                  <a:pt x="9006777" y="4749800"/>
                </a:lnTo>
                <a:lnTo>
                  <a:pt x="8486077" y="4749800"/>
                </a:lnTo>
                <a:close/>
                <a:moveTo>
                  <a:pt x="9016174" y="4229100"/>
                </a:moveTo>
                <a:lnTo>
                  <a:pt x="9536874" y="4229100"/>
                </a:lnTo>
                <a:lnTo>
                  <a:pt x="9536874" y="4749800"/>
                </a:lnTo>
                <a:lnTo>
                  <a:pt x="9016174" y="4749800"/>
                </a:lnTo>
                <a:close/>
                <a:moveTo>
                  <a:pt x="9546272" y="4229100"/>
                </a:moveTo>
                <a:lnTo>
                  <a:pt x="10066972" y="4229100"/>
                </a:lnTo>
                <a:lnTo>
                  <a:pt x="10066972" y="4749800"/>
                </a:lnTo>
                <a:lnTo>
                  <a:pt x="9546272" y="4749800"/>
                </a:lnTo>
                <a:close/>
                <a:moveTo>
                  <a:pt x="9546272" y="4219575"/>
                </a:moveTo>
                <a:lnTo>
                  <a:pt x="9546272" y="3698875"/>
                </a:lnTo>
                <a:lnTo>
                  <a:pt x="10066972" y="3698875"/>
                </a:lnTo>
                <a:lnTo>
                  <a:pt x="10066972" y="4219575"/>
                </a:lnTo>
                <a:close/>
                <a:moveTo>
                  <a:pt x="9546272" y="3689477"/>
                </a:moveTo>
                <a:lnTo>
                  <a:pt x="9546272" y="3168650"/>
                </a:lnTo>
                <a:lnTo>
                  <a:pt x="10066972" y="3168650"/>
                </a:lnTo>
                <a:lnTo>
                  <a:pt x="10066972" y="3689350"/>
                </a:lnTo>
                <a:close/>
                <a:moveTo>
                  <a:pt x="9546272" y="3159379"/>
                </a:moveTo>
                <a:lnTo>
                  <a:pt x="9546272" y="2638679"/>
                </a:lnTo>
                <a:lnTo>
                  <a:pt x="10066972" y="2638679"/>
                </a:lnTo>
                <a:lnTo>
                  <a:pt x="10066972" y="3159379"/>
                </a:lnTo>
                <a:close/>
                <a:moveTo>
                  <a:pt x="9546272" y="2629281"/>
                </a:moveTo>
                <a:lnTo>
                  <a:pt x="9546272" y="2108581"/>
                </a:lnTo>
                <a:lnTo>
                  <a:pt x="10066972" y="2108581"/>
                </a:lnTo>
                <a:lnTo>
                  <a:pt x="10066972" y="2629281"/>
                </a:lnTo>
                <a:close/>
                <a:moveTo>
                  <a:pt x="9546272" y="2099247"/>
                </a:moveTo>
                <a:lnTo>
                  <a:pt x="9546272" y="1578547"/>
                </a:lnTo>
                <a:lnTo>
                  <a:pt x="10066972" y="1578547"/>
                </a:lnTo>
                <a:lnTo>
                  <a:pt x="10066972" y="2099247"/>
                </a:lnTo>
                <a:close/>
                <a:moveTo>
                  <a:pt x="9536747" y="2099247"/>
                </a:moveTo>
                <a:lnTo>
                  <a:pt x="9016047" y="2099247"/>
                </a:lnTo>
                <a:lnTo>
                  <a:pt x="9016047" y="1578547"/>
                </a:lnTo>
                <a:lnTo>
                  <a:pt x="9536747" y="1578547"/>
                </a:lnTo>
                <a:close/>
                <a:moveTo>
                  <a:pt x="9006649" y="2099247"/>
                </a:moveTo>
                <a:lnTo>
                  <a:pt x="8485949" y="2099247"/>
                </a:lnTo>
                <a:lnTo>
                  <a:pt x="8485949" y="1578547"/>
                </a:lnTo>
                <a:lnTo>
                  <a:pt x="9006649" y="1578547"/>
                </a:lnTo>
                <a:close/>
                <a:moveTo>
                  <a:pt x="8476552" y="2099247"/>
                </a:moveTo>
                <a:lnTo>
                  <a:pt x="7955852" y="2099247"/>
                </a:lnTo>
                <a:lnTo>
                  <a:pt x="7955852" y="1578547"/>
                </a:lnTo>
                <a:lnTo>
                  <a:pt x="8476552" y="1578547"/>
                </a:lnTo>
                <a:close/>
                <a:moveTo>
                  <a:pt x="7946454" y="2099247"/>
                </a:moveTo>
                <a:lnTo>
                  <a:pt x="7425754" y="2099247"/>
                </a:lnTo>
                <a:lnTo>
                  <a:pt x="7425754" y="1578547"/>
                </a:lnTo>
                <a:lnTo>
                  <a:pt x="7946454" y="1578547"/>
                </a:lnTo>
                <a:close/>
                <a:moveTo>
                  <a:pt x="7416419" y="2099247"/>
                </a:moveTo>
                <a:lnTo>
                  <a:pt x="6895719" y="2099247"/>
                </a:lnTo>
                <a:lnTo>
                  <a:pt x="6895719" y="1578547"/>
                </a:lnTo>
                <a:lnTo>
                  <a:pt x="7416419" y="1578547"/>
                </a:lnTo>
                <a:close/>
                <a:moveTo>
                  <a:pt x="6886321" y="2099247"/>
                </a:moveTo>
                <a:lnTo>
                  <a:pt x="6365621" y="2099247"/>
                </a:lnTo>
                <a:lnTo>
                  <a:pt x="6365621" y="1578547"/>
                </a:lnTo>
                <a:lnTo>
                  <a:pt x="6886321" y="1578547"/>
                </a:lnTo>
                <a:close/>
                <a:moveTo>
                  <a:pt x="6356223" y="2099247"/>
                </a:moveTo>
                <a:lnTo>
                  <a:pt x="5835650" y="2099247"/>
                </a:lnTo>
                <a:lnTo>
                  <a:pt x="5835650" y="1578547"/>
                </a:lnTo>
                <a:lnTo>
                  <a:pt x="6356350" y="1578547"/>
                </a:lnTo>
                <a:close/>
                <a:moveTo>
                  <a:pt x="5826125" y="2099247"/>
                </a:moveTo>
                <a:lnTo>
                  <a:pt x="5305425" y="2099247"/>
                </a:lnTo>
                <a:lnTo>
                  <a:pt x="5305425" y="1578547"/>
                </a:lnTo>
                <a:lnTo>
                  <a:pt x="5826125" y="1578547"/>
                </a:lnTo>
                <a:close/>
                <a:moveTo>
                  <a:pt x="5296027" y="2099247"/>
                </a:moveTo>
                <a:lnTo>
                  <a:pt x="4775327" y="2099247"/>
                </a:lnTo>
                <a:lnTo>
                  <a:pt x="4775327" y="1578547"/>
                </a:lnTo>
                <a:lnTo>
                  <a:pt x="5296027" y="1578547"/>
                </a:lnTo>
                <a:close/>
                <a:moveTo>
                  <a:pt x="4765929" y="2099247"/>
                </a:moveTo>
                <a:lnTo>
                  <a:pt x="4245229" y="2099247"/>
                </a:lnTo>
                <a:lnTo>
                  <a:pt x="4245229" y="1578547"/>
                </a:lnTo>
                <a:lnTo>
                  <a:pt x="4765929" y="1578547"/>
                </a:lnTo>
                <a:close/>
                <a:moveTo>
                  <a:pt x="4235895" y="2099247"/>
                </a:moveTo>
                <a:lnTo>
                  <a:pt x="3715195" y="2099247"/>
                </a:lnTo>
                <a:lnTo>
                  <a:pt x="3715195" y="1578547"/>
                </a:lnTo>
                <a:lnTo>
                  <a:pt x="4235895" y="1578547"/>
                </a:lnTo>
                <a:close/>
                <a:moveTo>
                  <a:pt x="3705797" y="2099247"/>
                </a:moveTo>
                <a:lnTo>
                  <a:pt x="3185097" y="2099247"/>
                </a:lnTo>
                <a:lnTo>
                  <a:pt x="3185097" y="1578547"/>
                </a:lnTo>
                <a:lnTo>
                  <a:pt x="3705797" y="1578547"/>
                </a:lnTo>
                <a:close/>
                <a:moveTo>
                  <a:pt x="3175699" y="2099247"/>
                </a:moveTo>
                <a:lnTo>
                  <a:pt x="2654999" y="2099247"/>
                </a:lnTo>
                <a:lnTo>
                  <a:pt x="2654999" y="1578547"/>
                </a:lnTo>
                <a:lnTo>
                  <a:pt x="3175699" y="1578547"/>
                </a:lnTo>
                <a:close/>
                <a:moveTo>
                  <a:pt x="2645601" y="2099247"/>
                </a:moveTo>
                <a:lnTo>
                  <a:pt x="2124901" y="2099247"/>
                </a:lnTo>
                <a:lnTo>
                  <a:pt x="2124901" y="1578547"/>
                </a:lnTo>
                <a:lnTo>
                  <a:pt x="2645601" y="1578547"/>
                </a:lnTo>
                <a:close/>
                <a:moveTo>
                  <a:pt x="2115503" y="2099247"/>
                </a:moveTo>
                <a:lnTo>
                  <a:pt x="1594803" y="2099247"/>
                </a:lnTo>
                <a:lnTo>
                  <a:pt x="1594803" y="1578547"/>
                </a:lnTo>
                <a:lnTo>
                  <a:pt x="2115503" y="1578547"/>
                </a:lnTo>
                <a:close/>
                <a:moveTo>
                  <a:pt x="2115503" y="2108772"/>
                </a:moveTo>
                <a:lnTo>
                  <a:pt x="2115503" y="2629472"/>
                </a:lnTo>
                <a:lnTo>
                  <a:pt x="1594803" y="2629472"/>
                </a:lnTo>
                <a:lnTo>
                  <a:pt x="1594803" y="2108772"/>
                </a:lnTo>
                <a:close/>
                <a:moveTo>
                  <a:pt x="2115503" y="2638806"/>
                </a:moveTo>
                <a:lnTo>
                  <a:pt x="2115503" y="3159506"/>
                </a:lnTo>
                <a:lnTo>
                  <a:pt x="1594803" y="3159506"/>
                </a:lnTo>
                <a:lnTo>
                  <a:pt x="1594803" y="2638806"/>
                </a:lnTo>
                <a:close/>
                <a:moveTo>
                  <a:pt x="2115503" y="3168904"/>
                </a:moveTo>
                <a:lnTo>
                  <a:pt x="2115503" y="3689604"/>
                </a:lnTo>
                <a:lnTo>
                  <a:pt x="1594803" y="3689604"/>
                </a:lnTo>
                <a:lnTo>
                  <a:pt x="1594803" y="3168650"/>
                </a:lnTo>
                <a:close/>
                <a:moveTo>
                  <a:pt x="2115503" y="3699002"/>
                </a:moveTo>
                <a:lnTo>
                  <a:pt x="2115503" y="4219702"/>
                </a:lnTo>
                <a:lnTo>
                  <a:pt x="1594803" y="4219702"/>
                </a:lnTo>
                <a:lnTo>
                  <a:pt x="1594803" y="3699002"/>
                </a:lnTo>
                <a:close/>
                <a:moveTo>
                  <a:pt x="2115503" y="4229100"/>
                </a:moveTo>
                <a:lnTo>
                  <a:pt x="2115503" y="4749800"/>
                </a:lnTo>
                <a:lnTo>
                  <a:pt x="1594803" y="4749800"/>
                </a:lnTo>
                <a:lnTo>
                  <a:pt x="1594803" y="4229100"/>
                </a:lnTo>
                <a:close/>
                <a:moveTo>
                  <a:pt x="2115503" y="4759198"/>
                </a:moveTo>
                <a:lnTo>
                  <a:pt x="2115503" y="5279898"/>
                </a:lnTo>
                <a:lnTo>
                  <a:pt x="1594803" y="5279898"/>
                </a:lnTo>
                <a:lnTo>
                  <a:pt x="1594803" y="4759198"/>
                </a:lnTo>
                <a:close/>
                <a:moveTo>
                  <a:pt x="2125028" y="4759198"/>
                </a:moveTo>
                <a:lnTo>
                  <a:pt x="2645728" y="4759198"/>
                </a:lnTo>
                <a:lnTo>
                  <a:pt x="2645728" y="5279898"/>
                </a:lnTo>
                <a:lnTo>
                  <a:pt x="2125028" y="5279898"/>
                </a:lnTo>
                <a:close/>
                <a:moveTo>
                  <a:pt x="2655126" y="4759198"/>
                </a:moveTo>
                <a:lnTo>
                  <a:pt x="3175826" y="4759198"/>
                </a:lnTo>
                <a:lnTo>
                  <a:pt x="3175826" y="5279898"/>
                </a:lnTo>
                <a:lnTo>
                  <a:pt x="2655126" y="5279898"/>
                </a:lnTo>
                <a:close/>
                <a:moveTo>
                  <a:pt x="3185224" y="4759198"/>
                </a:moveTo>
                <a:lnTo>
                  <a:pt x="3705924" y="4759198"/>
                </a:lnTo>
                <a:lnTo>
                  <a:pt x="3705924" y="5279898"/>
                </a:lnTo>
                <a:lnTo>
                  <a:pt x="3185224" y="5279898"/>
                </a:lnTo>
                <a:close/>
                <a:moveTo>
                  <a:pt x="3715322" y="4759198"/>
                </a:moveTo>
                <a:lnTo>
                  <a:pt x="4236022" y="4759198"/>
                </a:lnTo>
                <a:lnTo>
                  <a:pt x="4236022" y="5279898"/>
                </a:lnTo>
                <a:lnTo>
                  <a:pt x="3715322" y="5279898"/>
                </a:lnTo>
                <a:close/>
                <a:moveTo>
                  <a:pt x="4245420" y="4759198"/>
                </a:moveTo>
                <a:lnTo>
                  <a:pt x="4766120" y="4759198"/>
                </a:lnTo>
                <a:lnTo>
                  <a:pt x="4766120" y="5279898"/>
                </a:lnTo>
                <a:lnTo>
                  <a:pt x="4245420" y="5279898"/>
                </a:lnTo>
                <a:close/>
                <a:moveTo>
                  <a:pt x="4775454" y="4759198"/>
                </a:moveTo>
                <a:lnTo>
                  <a:pt x="5296154" y="4759198"/>
                </a:lnTo>
                <a:lnTo>
                  <a:pt x="5296154" y="5279898"/>
                </a:lnTo>
                <a:lnTo>
                  <a:pt x="4775454" y="5279898"/>
                </a:lnTo>
                <a:close/>
                <a:moveTo>
                  <a:pt x="5305552" y="4759198"/>
                </a:moveTo>
                <a:lnTo>
                  <a:pt x="5826252" y="4759198"/>
                </a:lnTo>
                <a:lnTo>
                  <a:pt x="5826252" y="5279898"/>
                </a:lnTo>
                <a:lnTo>
                  <a:pt x="5305552" y="5279898"/>
                </a:lnTo>
                <a:close/>
                <a:moveTo>
                  <a:pt x="5835650" y="4759198"/>
                </a:moveTo>
                <a:lnTo>
                  <a:pt x="6356350" y="4759198"/>
                </a:lnTo>
                <a:lnTo>
                  <a:pt x="6356350" y="5279898"/>
                </a:lnTo>
                <a:lnTo>
                  <a:pt x="5835650" y="5279898"/>
                </a:lnTo>
                <a:close/>
                <a:moveTo>
                  <a:pt x="6365748" y="4759198"/>
                </a:moveTo>
                <a:lnTo>
                  <a:pt x="6886448" y="4759198"/>
                </a:lnTo>
                <a:lnTo>
                  <a:pt x="6886448" y="5279898"/>
                </a:lnTo>
                <a:lnTo>
                  <a:pt x="6365748" y="5279898"/>
                </a:lnTo>
                <a:close/>
                <a:moveTo>
                  <a:pt x="6895846" y="4759198"/>
                </a:moveTo>
                <a:lnTo>
                  <a:pt x="7416546" y="4759198"/>
                </a:lnTo>
                <a:lnTo>
                  <a:pt x="7416546" y="5279898"/>
                </a:lnTo>
                <a:lnTo>
                  <a:pt x="6895846" y="5279898"/>
                </a:lnTo>
                <a:close/>
                <a:moveTo>
                  <a:pt x="7425944" y="4759198"/>
                </a:moveTo>
                <a:lnTo>
                  <a:pt x="7946644" y="4759198"/>
                </a:lnTo>
                <a:lnTo>
                  <a:pt x="7946644" y="5279898"/>
                </a:lnTo>
                <a:lnTo>
                  <a:pt x="7425944" y="5279898"/>
                </a:lnTo>
                <a:close/>
                <a:moveTo>
                  <a:pt x="7955979" y="4759198"/>
                </a:moveTo>
                <a:lnTo>
                  <a:pt x="8476679" y="4759198"/>
                </a:lnTo>
                <a:lnTo>
                  <a:pt x="8476679" y="5279898"/>
                </a:lnTo>
                <a:lnTo>
                  <a:pt x="7955979" y="5279898"/>
                </a:lnTo>
                <a:close/>
                <a:moveTo>
                  <a:pt x="8486077" y="4759198"/>
                </a:moveTo>
                <a:lnTo>
                  <a:pt x="9006777" y="4759198"/>
                </a:lnTo>
                <a:lnTo>
                  <a:pt x="9006777" y="5279898"/>
                </a:lnTo>
                <a:lnTo>
                  <a:pt x="8486077" y="5279898"/>
                </a:lnTo>
                <a:close/>
                <a:moveTo>
                  <a:pt x="9016174" y="4759198"/>
                </a:moveTo>
                <a:lnTo>
                  <a:pt x="9536874" y="4759198"/>
                </a:lnTo>
                <a:lnTo>
                  <a:pt x="9536874" y="5279898"/>
                </a:lnTo>
                <a:lnTo>
                  <a:pt x="9016174" y="5279898"/>
                </a:lnTo>
                <a:close/>
                <a:moveTo>
                  <a:pt x="9546272" y="4759198"/>
                </a:moveTo>
                <a:lnTo>
                  <a:pt x="10066972" y="4759198"/>
                </a:lnTo>
                <a:lnTo>
                  <a:pt x="10066972" y="5279898"/>
                </a:lnTo>
                <a:lnTo>
                  <a:pt x="9546272" y="5279898"/>
                </a:lnTo>
                <a:close/>
                <a:moveTo>
                  <a:pt x="10076370" y="4759198"/>
                </a:moveTo>
                <a:lnTo>
                  <a:pt x="10597070" y="4759198"/>
                </a:lnTo>
                <a:lnTo>
                  <a:pt x="10597070" y="5279898"/>
                </a:lnTo>
                <a:lnTo>
                  <a:pt x="10076370" y="5279898"/>
                </a:lnTo>
                <a:close/>
                <a:moveTo>
                  <a:pt x="10076370" y="4749673"/>
                </a:moveTo>
                <a:lnTo>
                  <a:pt x="10076370" y="4229100"/>
                </a:lnTo>
                <a:lnTo>
                  <a:pt x="10597070" y="4229100"/>
                </a:lnTo>
                <a:lnTo>
                  <a:pt x="10597070" y="4749800"/>
                </a:lnTo>
                <a:close/>
                <a:moveTo>
                  <a:pt x="10076370" y="4219575"/>
                </a:moveTo>
                <a:lnTo>
                  <a:pt x="10076370" y="3698875"/>
                </a:lnTo>
                <a:lnTo>
                  <a:pt x="10597070" y="3698875"/>
                </a:lnTo>
                <a:lnTo>
                  <a:pt x="10597070" y="4219575"/>
                </a:lnTo>
                <a:close/>
                <a:moveTo>
                  <a:pt x="10076370" y="3689477"/>
                </a:moveTo>
                <a:lnTo>
                  <a:pt x="10076370" y="3168650"/>
                </a:lnTo>
                <a:lnTo>
                  <a:pt x="10597070" y="3168650"/>
                </a:lnTo>
                <a:lnTo>
                  <a:pt x="10597070" y="3689350"/>
                </a:lnTo>
                <a:close/>
                <a:moveTo>
                  <a:pt x="10076370" y="3159379"/>
                </a:moveTo>
                <a:lnTo>
                  <a:pt x="10076370" y="2638679"/>
                </a:lnTo>
                <a:lnTo>
                  <a:pt x="10597070" y="2638679"/>
                </a:lnTo>
                <a:lnTo>
                  <a:pt x="10597070" y="3159379"/>
                </a:lnTo>
                <a:close/>
                <a:moveTo>
                  <a:pt x="10076370" y="2629281"/>
                </a:moveTo>
                <a:lnTo>
                  <a:pt x="10076370" y="2108581"/>
                </a:lnTo>
                <a:lnTo>
                  <a:pt x="10597070" y="2108581"/>
                </a:lnTo>
                <a:lnTo>
                  <a:pt x="10597070" y="2629281"/>
                </a:lnTo>
                <a:close/>
                <a:moveTo>
                  <a:pt x="10076370" y="2099247"/>
                </a:moveTo>
                <a:lnTo>
                  <a:pt x="10076370" y="1578547"/>
                </a:lnTo>
                <a:lnTo>
                  <a:pt x="10597070" y="1578547"/>
                </a:lnTo>
                <a:lnTo>
                  <a:pt x="10597070" y="2099247"/>
                </a:lnTo>
                <a:close/>
                <a:moveTo>
                  <a:pt x="10076370" y="1569149"/>
                </a:moveTo>
                <a:lnTo>
                  <a:pt x="10076370" y="1048449"/>
                </a:lnTo>
                <a:lnTo>
                  <a:pt x="10597070" y="1048449"/>
                </a:lnTo>
                <a:lnTo>
                  <a:pt x="10597070" y="1569149"/>
                </a:lnTo>
                <a:close/>
                <a:moveTo>
                  <a:pt x="10066845" y="1569149"/>
                </a:moveTo>
                <a:lnTo>
                  <a:pt x="9546145" y="1569149"/>
                </a:lnTo>
                <a:lnTo>
                  <a:pt x="9546145" y="1048449"/>
                </a:lnTo>
                <a:lnTo>
                  <a:pt x="10066845" y="1048449"/>
                </a:lnTo>
                <a:close/>
                <a:moveTo>
                  <a:pt x="9536747" y="1569149"/>
                </a:moveTo>
                <a:lnTo>
                  <a:pt x="9016047" y="1569149"/>
                </a:lnTo>
                <a:lnTo>
                  <a:pt x="9016047" y="1048449"/>
                </a:lnTo>
                <a:lnTo>
                  <a:pt x="9536747" y="1048449"/>
                </a:lnTo>
                <a:close/>
                <a:moveTo>
                  <a:pt x="9006649" y="1569149"/>
                </a:moveTo>
                <a:lnTo>
                  <a:pt x="8485949" y="1569149"/>
                </a:lnTo>
                <a:lnTo>
                  <a:pt x="8485949" y="1048449"/>
                </a:lnTo>
                <a:lnTo>
                  <a:pt x="9006649" y="1048449"/>
                </a:lnTo>
                <a:close/>
                <a:moveTo>
                  <a:pt x="8476552" y="1569149"/>
                </a:moveTo>
                <a:lnTo>
                  <a:pt x="7955852" y="1569149"/>
                </a:lnTo>
                <a:lnTo>
                  <a:pt x="7955852" y="1048449"/>
                </a:lnTo>
                <a:lnTo>
                  <a:pt x="8476552" y="1048449"/>
                </a:lnTo>
                <a:close/>
                <a:moveTo>
                  <a:pt x="7946454" y="1569149"/>
                </a:moveTo>
                <a:lnTo>
                  <a:pt x="7425754" y="1569149"/>
                </a:lnTo>
                <a:lnTo>
                  <a:pt x="7425754" y="1048449"/>
                </a:lnTo>
                <a:lnTo>
                  <a:pt x="7946454" y="1048449"/>
                </a:lnTo>
                <a:close/>
                <a:moveTo>
                  <a:pt x="7416419" y="1569149"/>
                </a:moveTo>
                <a:lnTo>
                  <a:pt x="6895719" y="1569149"/>
                </a:lnTo>
                <a:lnTo>
                  <a:pt x="6895719" y="1048449"/>
                </a:lnTo>
                <a:lnTo>
                  <a:pt x="7416419" y="1048449"/>
                </a:lnTo>
                <a:close/>
                <a:moveTo>
                  <a:pt x="6886321" y="1569149"/>
                </a:moveTo>
                <a:lnTo>
                  <a:pt x="6365621" y="1569149"/>
                </a:lnTo>
                <a:lnTo>
                  <a:pt x="6365621" y="1048449"/>
                </a:lnTo>
                <a:lnTo>
                  <a:pt x="6886321" y="1048449"/>
                </a:lnTo>
                <a:close/>
                <a:moveTo>
                  <a:pt x="6356223" y="1569149"/>
                </a:moveTo>
                <a:lnTo>
                  <a:pt x="5835650" y="1569149"/>
                </a:lnTo>
                <a:lnTo>
                  <a:pt x="5835650" y="1048449"/>
                </a:lnTo>
                <a:lnTo>
                  <a:pt x="6356350" y="1048449"/>
                </a:lnTo>
                <a:close/>
                <a:moveTo>
                  <a:pt x="5826125" y="1569149"/>
                </a:moveTo>
                <a:lnTo>
                  <a:pt x="5305425" y="1569149"/>
                </a:lnTo>
                <a:lnTo>
                  <a:pt x="5305425" y="1048449"/>
                </a:lnTo>
                <a:lnTo>
                  <a:pt x="5826125" y="1048449"/>
                </a:lnTo>
                <a:close/>
                <a:moveTo>
                  <a:pt x="5296027" y="1569149"/>
                </a:moveTo>
                <a:lnTo>
                  <a:pt x="4775327" y="1569149"/>
                </a:lnTo>
                <a:lnTo>
                  <a:pt x="4775327" y="1048449"/>
                </a:lnTo>
                <a:lnTo>
                  <a:pt x="5296027" y="1048449"/>
                </a:lnTo>
                <a:close/>
                <a:moveTo>
                  <a:pt x="4765929" y="1569149"/>
                </a:moveTo>
                <a:lnTo>
                  <a:pt x="4245229" y="1569149"/>
                </a:lnTo>
                <a:lnTo>
                  <a:pt x="4245229" y="1048449"/>
                </a:lnTo>
                <a:lnTo>
                  <a:pt x="4765929" y="1048449"/>
                </a:lnTo>
                <a:close/>
                <a:moveTo>
                  <a:pt x="4235895" y="1569149"/>
                </a:moveTo>
                <a:lnTo>
                  <a:pt x="3715195" y="1569149"/>
                </a:lnTo>
                <a:lnTo>
                  <a:pt x="3715195" y="1048449"/>
                </a:lnTo>
                <a:lnTo>
                  <a:pt x="4235895" y="1048449"/>
                </a:lnTo>
                <a:close/>
                <a:moveTo>
                  <a:pt x="3705797" y="1569149"/>
                </a:moveTo>
                <a:lnTo>
                  <a:pt x="3185097" y="1569149"/>
                </a:lnTo>
                <a:lnTo>
                  <a:pt x="3185097" y="1048449"/>
                </a:lnTo>
                <a:lnTo>
                  <a:pt x="3705797" y="1048449"/>
                </a:lnTo>
                <a:close/>
                <a:moveTo>
                  <a:pt x="3175699" y="1569149"/>
                </a:moveTo>
                <a:lnTo>
                  <a:pt x="2654999" y="1569149"/>
                </a:lnTo>
                <a:lnTo>
                  <a:pt x="2654999" y="1048449"/>
                </a:lnTo>
                <a:lnTo>
                  <a:pt x="3175699" y="1048449"/>
                </a:lnTo>
                <a:close/>
                <a:moveTo>
                  <a:pt x="2645601" y="1569149"/>
                </a:moveTo>
                <a:lnTo>
                  <a:pt x="2124901" y="1569149"/>
                </a:lnTo>
                <a:lnTo>
                  <a:pt x="2124901" y="1048449"/>
                </a:lnTo>
                <a:lnTo>
                  <a:pt x="2645601" y="1048449"/>
                </a:lnTo>
                <a:close/>
                <a:moveTo>
                  <a:pt x="2115503" y="1569149"/>
                </a:moveTo>
                <a:lnTo>
                  <a:pt x="1594803" y="1569149"/>
                </a:lnTo>
                <a:lnTo>
                  <a:pt x="1594803" y="1048449"/>
                </a:lnTo>
                <a:lnTo>
                  <a:pt x="2115503" y="1048449"/>
                </a:lnTo>
                <a:close/>
                <a:moveTo>
                  <a:pt x="1585405" y="1569149"/>
                </a:moveTo>
                <a:lnTo>
                  <a:pt x="1064705" y="1569149"/>
                </a:lnTo>
                <a:lnTo>
                  <a:pt x="1064705" y="1048449"/>
                </a:lnTo>
                <a:lnTo>
                  <a:pt x="1585405" y="1048449"/>
                </a:lnTo>
                <a:close/>
                <a:moveTo>
                  <a:pt x="1585405" y="1578674"/>
                </a:moveTo>
                <a:lnTo>
                  <a:pt x="1585405" y="2099374"/>
                </a:lnTo>
                <a:lnTo>
                  <a:pt x="1064705" y="2099374"/>
                </a:lnTo>
                <a:lnTo>
                  <a:pt x="1064705" y="1578674"/>
                </a:lnTo>
                <a:close/>
                <a:moveTo>
                  <a:pt x="1585405" y="2108772"/>
                </a:moveTo>
                <a:lnTo>
                  <a:pt x="1585405" y="2629472"/>
                </a:lnTo>
                <a:lnTo>
                  <a:pt x="1064705" y="2629472"/>
                </a:lnTo>
                <a:lnTo>
                  <a:pt x="1064705" y="2108772"/>
                </a:lnTo>
                <a:close/>
                <a:moveTo>
                  <a:pt x="1585405" y="2638806"/>
                </a:moveTo>
                <a:lnTo>
                  <a:pt x="1585405" y="3159506"/>
                </a:lnTo>
                <a:lnTo>
                  <a:pt x="1064705" y="3159506"/>
                </a:lnTo>
                <a:lnTo>
                  <a:pt x="1064705" y="2638806"/>
                </a:lnTo>
                <a:close/>
                <a:moveTo>
                  <a:pt x="1585405" y="3168904"/>
                </a:moveTo>
                <a:lnTo>
                  <a:pt x="1585405" y="3689604"/>
                </a:lnTo>
                <a:lnTo>
                  <a:pt x="1064705" y="3689604"/>
                </a:lnTo>
                <a:lnTo>
                  <a:pt x="1064705" y="3168650"/>
                </a:lnTo>
                <a:close/>
                <a:moveTo>
                  <a:pt x="1585405" y="3699002"/>
                </a:moveTo>
                <a:lnTo>
                  <a:pt x="1585405" y="4219702"/>
                </a:lnTo>
                <a:lnTo>
                  <a:pt x="1064705" y="4219702"/>
                </a:lnTo>
                <a:lnTo>
                  <a:pt x="1064705" y="3699002"/>
                </a:lnTo>
                <a:close/>
                <a:moveTo>
                  <a:pt x="1585405" y="4229100"/>
                </a:moveTo>
                <a:lnTo>
                  <a:pt x="1585405" y="4749800"/>
                </a:lnTo>
                <a:lnTo>
                  <a:pt x="1064705" y="4749800"/>
                </a:lnTo>
                <a:lnTo>
                  <a:pt x="1064705" y="4229100"/>
                </a:lnTo>
                <a:close/>
                <a:moveTo>
                  <a:pt x="1585405" y="4759198"/>
                </a:moveTo>
                <a:lnTo>
                  <a:pt x="1585405" y="5279898"/>
                </a:lnTo>
                <a:lnTo>
                  <a:pt x="1064705" y="5279898"/>
                </a:lnTo>
                <a:lnTo>
                  <a:pt x="1064705" y="4759198"/>
                </a:lnTo>
                <a:close/>
                <a:moveTo>
                  <a:pt x="1585405" y="5289233"/>
                </a:moveTo>
                <a:lnTo>
                  <a:pt x="1585405" y="5809933"/>
                </a:lnTo>
                <a:lnTo>
                  <a:pt x="1064705" y="5809933"/>
                </a:lnTo>
                <a:lnTo>
                  <a:pt x="1064705" y="5289233"/>
                </a:lnTo>
                <a:close/>
                <a:moveTo>
                  <a:pt x="1594930" y="5289233"/>
                </a:moveTo>
                <a:lnTo>
                  <a:pt x="2115630" y="5289233"/>
                </a:lnTo>
                <a:lnTo>
                  <a:pt x="2115630" y="5809933"/>
                </a:lnTo>
                <a:lnTo>
                  <a:pt x="1594930" y="5809933"/>
                </a:lnTo>
                <a:close/>
                <a:moveTo>
                  <a:pt x="2125028" y="5289233"/>
                </a:moveTo>
                <a:lnTo>
                  <a:pt x="2645728" y="5289233"/>
                </a:lnTo>
                <a:lnTo>
                  <a:pt x="2645728" y="5809933"/>
                </a:lnTo>
                <a:lnTo>
                  <a:pt x="2125028" y="5809933"/>
                </a:lnTo>
                <a:close/>
                <a:moveTo>
                  <a:pt x="2655126" y="5289233"/>
                </a:moveTo>
                <a:lnTo>
                  <a:pt x="3175826" y="5289233"/>
                </a:lnTo>
                <a:lnTo>
                  <a:pt x="3175826" y="5809933"/>
                </a:lnTo>
                <a:lnTo>
                  <a:pt x="2655126" y="5809933"/>
                </a:lnTo>
                <a:close/>
                <a:moveTo>
                  <a:pt x="3185224" y="5289233"/>
                </a:moveTo>
                <a:lnTo>
                  <a:pt x="3705924" y="5289233"/>
                </a:lnTo>
                <a:lnTo>
                  <a:pt x="3705924" y="5809933"/>
                </a:lnTo>
                <a:lnTo>
                  <a:pt x="3185224" y="5809933"/>
                </a:lnTo>
                <a:close/>
                <a:moveTo>
                  <a:pt x="3715322" y="5289233"/>
                </a:moveTo>
                <a:lnTo>
                  <a:pt x="4236022" y="5289233"/>
                </a:lnTo>
                <a:lnTo>
                  <a:pt x="4236022" y="5809933"/>
                </a:lnTo>
                <a:lnTo>
                  <a:pt x="3715322" y="5809933"/>
                </a:lnTo>
                <a:close/>
                <a:moveTo>
                  <a:pt x="4245420" y="5289233"/>
                </a:moveTo>
                <a:lnTo>
                  <a:pt x="4766120" y="5289233"/>
                </a:lnTo>
                <a:lnTo>
                  <a:pt x="4766120" y="5809933"/>
                </a:lnTo>
                <a:lnTo>
                  <a:pt x="4245420" y="5809933"/>
                </a:lnTo>
                <a:close/>
                <a:moveTo>
                  <a:pt x="4775454" y="5289233"/>
                </a:moveTo>
                <a:lnTo>
                  <a:pt x="5296154" y="5289233"/>
                </a:lnTo>
                <a:lnTo>
                  <a:pt x="5296154" y="5809933"/>
                </a:lnTo>
                <a:lnTo>
                  <a:pt x="4775454" y="5809933"/>
                </a:lnTo>
                <a:close/>
                <a:moveTo>
                  <a:pt x="5305552" y="5289233"/>
                </a:moveTo>
                <a:lnTo>
                  <a:pt x="5826252" y="5289233"/>
                </a:lnTo>
                <a:lnTo>
                  <a:pt x="5826252" y="5809933"/>
                </a:lnTo>
                <a:lnTo>
                  <a:pt x="5305552" y="5809933"/>
                </a:lnTo>
                <a:close/>
                <a:moveTo>
                  <a:pt x="5835650" y="5289233"/>
                </a:moveTo>
                <a:lnTo>
                  <a:pt x="6356350" y="5289233"/>
                </a:lnTo>
                <a:lnTo>
                  <a:pt x="6356350" y="5809933"/>
                </a:lnTo>
                <a:lnTo>
                  <a:pt x="5835650" y="5809933"/>
                </a:lnTo>
                <a:close/>
                <a:moveTo>
                  <a:pt x="6365748" y="5289233"/>
                </a:moveTo>
                <a:lnTo>
                  <a:pt x="6886448" y="5289233"/>
                </a:lnTo>
                <a:lnTo>
                  <a:pt x="6886448" y="5809933"/>
                </a:lnTo>
                <a:lnTo>
                  <a:pt x="6365748" y="5809933"/>
                </a:lnTo>
                <a:close/>
                <a:moveTo>
                  <a:pt x="6895846" y="5289233"/>
                </a:moveTo>
                <a:lnTo>
                  <a:pt x="7416546" y="5289233"/>
                </a:lnTo>
                <a:lnTo>
                  <a:pt x="7416546" y="5809933"/>
                </a:lnTo>
                <a:lnTo>
                  <a:pt x="6895846" y="5809933"/>
                </a:lnTo>
                <a:close/>
                <a:moveTo>
                  <a:pt x="7425944" y="5289233"/>
                </a:moveTo>
                <a:lnTo>
                  <a:pt x="7946644" y="5289233"/>
                </a:lnTo>
                <a:lnTo>
                  <a:pt x="7946644" y="5809933"/>
                </a:lnTo>
                <a:lnTo>
                  <a:pt x="7425944" y="5809933"/>
                </a:lnTo>
                <a:close/>
                <a:moveTo>
                  <a:pt x="7955979" y="5289233"/>
                </a:moveTo>
                <a:lnTo>
                  <a:pt x="8476679" y="5289233"/>
                </a:lnTo>
                <a:lnTo>
                  <a:pt x="8476679" y="5809933"/>
                </a:lnTo>
                <a:lnTo>
                  <a:pt x="7955979" y="5809933"/>
                </a:lnTo>
                <a:close/>
                <a:moveTo>
                  <a:pt x="8486077" y="5289233"/>
                </a:moveTo>
                <a:lnTo>
                  <a:pt x="9006777" y="5289233"/>
                </a:lnTo>
                <a:lnTo>
                  <a:pt x="9006777" y="5809933"/>
                </a:lnTo>
                <a:lnTo>
                  <a:pt x="8486077" y="5809933"/>
                </a:lnTo>
                <a:close/>
                <a:moveTo>
                  <a:pt x="9016174" y="5289233"/>
                </a:moveTo>
                <a:lnTo>
                  <a:pt x="9536874" y="5289233"/>
                </a:lnTo>
                <a:lnTo>
                  <a:pt x="9536874" y="5809933"/>
                </a:lnTo>
                <a:lnTo>
                  <a:pt x="9016174" y="5809933"/>
                </a:lnTo>
                <a:close/>
                <a:moveTo>
                  <a:pt x="9546272" y="5289233"/>
                </a:moveTo>
                <a:lnTo>
                  <a:pt x="10066972" y="5289233"/>
                </a:lnTo>
                <a:lnTo>
                  <a:pt x="10066972" y="5809933"/>
                </a:lnTo>
                <a:lnTo>
                  <a:pt x="9546272" y="5809933"/>
                </a:lnTo>
                <a:close/>
                <a:moveTo>
                  <a:pt x="10076370" y="5289233"/>
                </a:moveTo>
                <a:lnTo>
                  <a:pt x="10597070" y="5289233"/>
                </a:lnTo>
                <a:lnTo>
                  <a:pt x="10597070" y="5809933"/>
                </a:lnTo>
                <a:lnTo>
                  <a:pt x="10076370" y="5809933"/>
                </a:lnTo>
                <a:close/>
                <a:moveTo>
                  <a:pt x="10606469" y="5289233"/>
                </a:moveTo>
                <a:lnTo>
                  <a:pt x="11127169" y="5289233"/>
                </a:lnTo>
                <a:lnTo>
                  <a:pt x="11127169" y="5809933"/>
                </a:lnTo>
                <a:lnTo>
                  <a:pt x="10606469" y="5809933"/>
                </a:lnTo>
                <a:close/>
                <a:moveTo>
                  <a:pt x="10606469" y="5279708"/>
                </a:moveTo>
                <a:lnTo>
                  <a:pt x="10606469" y="4759008"/>
                </a:lnTo>
                <a:lnTo>
                  <a:pt x="11127169" y="4759008"/>
                </a:lnTo>
                <a:lnTo>
                  <a:pt x="11127169" y="5279708"/>
                </a:lnTo>
                <a:close/>
                <a:moveTo>
                  <a:pt x="10606469" y="4749673"/>
                </a:moveTo>
                <a:lnTo>
                  <a:pt x="10606469" y="4229100"/>
                </a:lnTo>
                <a:lnTo>
                  <a:pt x="11127169" y="4229100"/>
                </a:lnTo>
                <a:lnTo>
                  <a:pt x="11127169" y="4749800"/>
                </a:lnTo>
                <a:close/>
                <a:moveTo>
                  <a:pt x="10606469" y="4219575"/>
                </a:moveTo>
                <a:lnTo>
                  <a:pt x="10606469" y="3698875"/>
                </a:lnTo>
                <a:lnTo>
                  <a:pt x="11127169" y="3698875"/>
                </a:lnTo>
                <a:lnTo>
                  <a:pt x="11127169" y="4219575"/>
                </a:lnTo>
                <a:close/>
                <a:moveTo>
                  <a:pt x="10606469" y="3689477"/>
                </a:moveTo>
                <a:lnTo>
                  <a:pt x="10606469" y="3168650"/>
                </a:lnTo>
                <a:lnTo>
                  <a:pt x="11127169" y="3168650"/>
                </a:lnTo>
                <a:lnTo>
                  <a:pt x="11127169" y="3689350"/>
                </a:lnTo>
                <a:close/>
                <a:moveTo>
                  <a:pt x="10606469" y="3159379"/>
                </a:moveTo>
                <a:lnTo>
                  <a:pt x="10606469" y="2638679"/>
                </a:lnTo>
                <a:lnTo>
                  <a:pt x="11127169" y="2638679"/>
                </a:lnTo>
                <a:lnTo>
                  <a:pt x="11127169" y="3159379"/>
                </a:lnTo>
                <a:close/>
                <a:moveTo>
                  <a:pt x="10606469" y="2629281"/>
                </a:moveTo>
                <a:lnTo>
                  <a:pt x="10606469" y="2108581"/>
                </a:lnTo>
                <a:lnTo>
                  <a:pt x="11127169" y="2108581"/>
                </a:lnTo>
                <a:lnTo>
                  <a:pt x="11127169" y="2629281"/>
                </a:lnTo>
                <a:close/>
                <a:moveTo>
                  <a:pt x="10606469" y="2099247"/>
                </a:moveTo>
                <a:lnTo>
                  <a:pt x="10606469" y="1578547"/>
                </a:lnTo>
                <a:lnTo>
                  <a:pt x="11127169" y="1578547"/>
                </a:lnTo>
                <a:lnTo>
                  <a:pt x="11127169" y="2099247"/>
                </a:lnTo>
                <a:close/>
                <a:moveTo>
                  <a:pt x="10606469" y="1569149"/>
                </a:moveTo>
                <a:lnTo>
                  <a:pt x="10606469" y="1048449"/>
                </a:lnTo>
                <a:lnTo>
                  <a:pt x="11127169" y="1048449"/>
                </a:lnTo>
                <a:lnTo>
                  <a:pt x="11127169" y="1569149"/>
                </a:lnTo>
                <a:close/>
                <a:moveTo>
                  <a:pt x="10596944" y="518478"/>
                </a:moveTo>
                <a:lnTo>
                  <a:pt x="10596944" y="1039177"/>
                </a:lnTo>
                <a:lnTo>
                  <a:pt x="10076244" y="1039177"/>
                </a:lnTo>
                <a:lnTo>
                  <a:pt x="10076244" y="518478"/>
                </a:lnTo>
                <a:close/>
                <a:moveTo>
                  <a:pt x="10066845" y="518478"/>
                </a:moveTo>
                <a:lnTo>
                  <a:pt x="10066845" y="1039177"/>
                </a:lnTo>
                <a:lnTo>
                  <a:pt x="9546145" y="1039177"/>
                </a:lnTo>
                <a:lnTo>
                  <a:pt x="9546145" y="518478"/>
                </a:lnTo>
                <a:close/>
                <a:moveTo>
                  <a:pt x="9536747" y="518478"/>
                </a:moveTo>
                <a:lnTo>
                  <a:pt x="9536747" y="1039177"/>
                </a:lnTo>
                <a:lnTo>
                  <a:pt x="9016047" y="1039177"/>
                </a:lnTo>
                <a:lnTo>
                  <a:pt x="9016047" y="518478"/>
                </a:lnTo>
                <a:close/>
                <a:moveTo>
                  <a:pt x="9006649" y="518478"/>
                </a:moveTo>
                <a:lnTo>
                  <a:pt x="9006649" y="1039177"/>
                </a:lnTo>
                <a:lnTo>
                  <a:pt x="8485949" y="1039177"/>
                </a:lnTo>
                <a:lnTo>
                  <a:pt x="8485949" y="518478"/>
                </a:lnTo>
                <a:close/>
                <a:moveTo>
                  <a:pt x="8476552" y="518478"/>
                </a:moveTo>
                <a:lnTo>
                  <a:pt x="8476552" y="1039177"/>
                </a:lnTo>
                <a:lnTo>
                  <a:pt x="7955852" y="1039177"/>
                </a:lnTo>
                <a:lnTo>
                  <a:pt x="7955852" y="518478"/>
                </a:lnTo>
                <a:close/>
                <a:moveTo>
                  <a:pt x="7946454" y="518478"/>
                </a:moveTo>
                <a:lnTo>
                  <a:pt x="7946454" y="1039177"/>
                </a:lnTo>
                <a:lnTo>
                  <a:pt x="7425754" y="1039177"/>
                </a:lnTo>
                <a:lnTo>
                  <a:pt x="7425754" y="518478"/>
                </a:lnTo>
                <a:close/>
                <a:moveTo>
                  <a:pt x="7416419" y="518478"/>
                </a:moveTo>
                <a:lnTo>
                  <a:pt x="7416419" y="1039177"/>
                </a:lnTo>
                <a:lnTo>
                  <a:pt x="6895719" y="1039177"/>
                </a:lnTo>
                <a:lnTo>
                  <a:pt x="6895719" y="518478"/>
                </a:lnTo>
                <a:close/>
                <a:moveTo>
                  <a:pt x="6886321" y="518478"/>
                </a:moveTo>
                <a:lnTo>
                  <a:pt x="6886321" y="1039177"/>
                </a:lnTo>
                <a:lnTo>
                  <a:pt x="6365621" y="1039177"/>
                </a:lnTo>
                <a:lnTo>
                  <a:pt x="6365621" y="518478"/>
                </a:lnTo>
                <a:close/>
                <a:moveTo>
                  <a:pt x="6356223" y="518478"/>
                </a:moveTo>
                <a:lnTo>
                  <a:pt x="6356223" y="1039177"/>
                </a:lnTo>
                <a:lnTo>
                  <a:pt x="5835650" y="1039177"/>
                </a:lnTo>
                <a:lnTo>
                  <a:pt x="5835650" y="518478"/>
                </a:lnTo>
                <a:close/>
                <a:moveTo>
                  <a:pt x="5826125" y="518478"/>
                </a:moveTo>
                <a:lnTo>
                  <a:pt x="5826125" y="1039177"/>
                </a:lnTo>
                <a:lnTo>
                  <a:pt x="5305425" y="1039177"/>
                </a:lnTo>
                <a:lnTo>
                  <a:pt x="5305425" y="518478"/>
                </a:lnTo>
                <a:close/>
                <a:moveTo>
                  <a:pt x="5296027" y="518478"/>
                </a:moveTo>
                <a:lnTo>
                  <a:pt x="5296027" y="1039177"/>
                </a:lnTo>
                <a:lnTo>
                  <a:pt x="4775327" y="1039177"/>
                </a:lnTo>
                <a:lnTo>
                  <a:pt x="4775327" y="518478"/>
                </a:lnTo>
                <a:close/>
                <a:moveTo>
                  <a:pt x="4765929" y="518478"/>
                </a:moveTo>
                <a:lnTo>
                  <a:pt x="4765929" y="1039177"/>
                </a:lnTo>
                <a:lnTo>
                  <a:pt x="4245229" y="1039177"/>
                </a:lnTo>
                <a:lnTo>
                  <a:pt x="4245229" y="518478"/>
                </a:lnTo>
                <a:close/>
                <a:moveTo>
                  <a:pt x="4235895" y="518478"/>
                </a:moveTo>
                <a:lnTo>
                  <a:pt x="4235895" y="1039177"/>
                </a:lnTo>
                <a:lnTo>
                  <a:pt x="3715195" y="1039177"/>
                </a:lnTo>
                <a:lnTo>
                  <a:pt x="3715195" y="518478"/>
                </a:lnTo>
                <a:close/>
                <a:moveTo>
                  <a:pt x="3705797" y="518478"/>
                </a:moveTo>
                <a:lnTo>
                  <a:pt x="3705797" y="1039177"/>
                </a:lnTo>
                <a:lnTo>
                  <a:pt x="3185097" y="1039177"/>
                </a:lnTo>
                <a:lnTo>
                  <a:pt x="3185097" y="518478"/>
                </a:lnTo>
                <a:close/>
                <a:moveTo>
                  <a:pt x="3175699" y="518478"/>
                </a:moveTo>
                <a:lnTo>
                  <a:pt x="3175699" y="1039177"/>
                </a:lnTo>
                <a:lnTo>
                  <a:pt x="2654999" y="1039177"/>
                </a:lnTo>
                <a:lnTo>
                  <a:pt x="2654999" y="518478"/>
                </a:lnTo>
                <a:close/>
                <a:moveTo>
                  <a:pt x="2645601" y="518478"/>
                </a:moveTo>
                <a:lnTo>
                  <a:pt x="2645601" y="1039177"/>
                </a:lnTo>
                <a:lnTo>
                  <a:pt x="2124901" y="1039177"/>
                </a:lnTo>
                <a:lnTo>
                  <a:pt x="2124901" y="518478"/>
                </a:lnTo>
                <a:close/>
                <a:moveTo>
                  <a:pt x="2115503" y="518478"/>
                </a:moveTo>
                <a:lnTo>
                  <a:pt x="2115503" y="1039177"/>
                </a:lnTo>
                <a:lnTo>
                  <a:pt x="1594803" y="1039177"/>
                </a:lnTo>
                <a:lnTo>
                  <a:pt x="1594803" y="518478"/>
                </a:lnTo>
                <a:close/>
                <a:moveTo>
                  <a:pt x="1585405" y="518478"/>
                </a:moveTo>
                <a:lnTo>
                  <a:pt x="1585405" y="1039177"/>
                </a:lnTo>
                <a:lnTo>
                  <a:pt x="1064705" y="1039177"/>
                </a:lnTo>
                <a:lnTo>
                  <a:pt x="1064705" y="518478"/>
                </a:lnTo>
                <a:close/>
                <a:moveTo>
                  <a:pt x="534797" y="518478"/>
                </a:moveTo>
                <a:lnTo>
                  <a:pt x="1055497" y="518478"/>
                </a:lnTo>
                <a:lnTo>
                  <a:pt x="1055497" y="1039177"/>
                </a:lnTo>
                <a:lnTo>
                  <a:pt x="534797" y="1039177"/>
                </a:lnTo>
                <a:close/>
                <a:moveTo>
                  <a:pt x="534797" y="1048576"/>
                </a:moveTo>
                <a:lnTo>
                  <a:pt x="1055497" y="1048576"/>
                </a:lnTo>
                <a:lnTo>
                  <a:pt x="1055497" y="1569276"/>
                </a:lnTo>
                <a:lnTo>
                  <a:pt x="534797" y="1569276"/>
                </a:lnTo>
                <a:close/>
                <a:moveTo>
                  <a:pt x="534797" y="1578674"/>
                </a:moveTo>
                <a:lnTo>
                  <a:pt x="1055497" y="1578674"/>
                </a:lnTo>
                <a:lnTo>
                  <a:pt x="1055497" y="2099374"/>
                </a:lnTo>
                <a:lnTo>
                  <a:pt x="534797" y="2099374"/>
                </a:lnTo>
                <a:close/>
                <a:moveTo>
                  <a:pt x="534797" y="2108772"/>
                </a:moveTo>
                <a:lnTo>
                  <a:pt x="1055497" y="2108772"/>
                </a:lnTo>
                <a:lnTo>
                  <a:pt x="1055497" y="2629472"/>
                </a:lnTo>
                <a:lnTo>
                  <a:pt x="534797" y="2629472"/>
                </a:lnTo>
                <a:close/>
                <a:moveTo>
                  <a:pt x="534797" y="2638806"/>
                </a:moveTo>
                <a:lnTo>
                  <a:pt x="1055497" y="2638806"/>
                </a:lnTo>
                <a:lnTo>
                  <a:pt x="1055497" y="3159506"/>
                </a:lnTo>
                <a:lnTo>
                  <a:pt x="534797" y="3159506"/>
                </a:lnTo>
                <a:close/>
                <a:moveTo>
                  <a:pt x="534797" y="3168904"/>
                </a:moveTo>
                <a:lnTo>
                  <a:pt x="1055497" y="3168904"/>
                </a:lnTo>
                <a:lnTo>
                  <a:pt x="1055497" y="3689604"/>
                </a:lnTo>
                <a:lnTo>
                  <a:pt x="534797" y="3689604"/>
                </a:lnTo>
                <a:close/>
                <a:moveTo>
                  <a:pt x="534797" y="3699002"/>
                </a:moveTo>
                <a:lnTo>
                  <a:pt x="1055497" y="3699002"/>
                </a:lnTo>
                <a:lnTo>
                  <a:pt x="1055497" y="4219702"/>
                </a:lnTo>
                <a:lnTo>
                  <a:pt x="534797" y="4219702"/>
                </a:lnTo>
                <a:close/>
                <a:moveTo>
                  <a:pt x="534797" y="4229100"/>
                </a:moveTo>
                <a:lnTo>
                  <a:pt x="1055497" y="4229100"/>
                </a:lnTo>
                <a:lnTo>
                  <a:pt x="1055497" y="4749800"/>
                </a:lnTo>
                <a:lnTo>
                  <a:pt x="534797" y="4749800"/>
                </a:lnTo>
                <a:close/>
                <a:moveTo>
                  <a:pt x="534797" y="4759198"/>
                </a:moveTo>
                <a:lnTo>
                  <a:pt x="1055497" y="4759198"/>
                </a:lnTo>
                <a:lnTo>
                  <a:pt x="1055497" y="5279898"/>
                </a:lnTo>
                <a:lnTo>
                  <a:pt x="534797" y="5279898"/>
                </a:lnTo>
                <a:close/>
                <a:moveTo>
                  <a:pt x="534797" y="5289233"/>
                </a:moveTo>
                <a:lnTo>
                  <a:pt x="1055497" y="5289233"/>
                </a:lnTo>
                <a:lnTo>
                  <a:pt x="1055497" y="5809933"/>
                </a:lnTo>
                <a:lnTo>
                  <a:pt x="534797" y="5809933"/>
                </a:lnTo>
                <a:close/>
                <a:moveTo>
                  <a:pt x="534797" y="6339904"/>
                </a:moveTo>
                <a:lnTo>
                  <a:pt x="534797" y="5819204"/>
                </a:lnTo>
                <a:lnTo>
                  <a:pt x="1055497" y="5819204"/>
                </a:lnTo>
                <a:lnTo>
                  <a:pt x="1055497" y="6339904"/>
                </a:lnTo>
                <a:close/>
                <a:moveTo>
                  <a:pt x="1064895" y="6339904"/>
                </a:moveTo>
                <a:lnTo>
                  <a:pt x="1064895" y="5819204"/>
                </a:lnTo>
                <a:lnTo>
                  <a:pt x="1585595" y="5819204"/>
                </a:lnTo>
                <a:lnTo>
                  <a:pt x="1585595" y="6339904"/>
                </a:lnTo>
                <a:close/>
                <a:moveTo>
                  <a:pt x="1594930" y="6339904"/>
                </a:moveTo>
                <a:lnTo>
                  <a:pt x="1594930" y="5819204"/>
                </a:lnTo>
                <a:lnTo>
                  <a:pt x="2115630" y="5819204"/>
                </a:lnTo>
                <a:lnTo>
                  <a:pt x="2115630" y="6339904"/>
                </a:lnTo>
                <a:close/>
                <a:moveTo>
                  <a:pt x="2125028" y="6339904"/>
                </a:moveTo>
                <a:lnTo>
                  <a:pt x="2125028" y="5819204"/>
                </a:lnTo>
                <a:lnTo>
                  <a:pt x="2645728" y="5819204"/>
                </a:lnTo>
                <a:lnTo>
                  <a:pt x="2645728" y="6339904"/>
                </a:lnTo>
                <a:close/>
                <a:moveTo>
                  <a:pt x="2655126" y="6339904"/>
                </a:moveTo>
                <a:lnTo>
                  <a:pt x="2655126" y="5819204"/>
                </a:lnTo>
                <a:lnTo>
                  <a:pt x="3175826" y="5819204"/>
                </a:lnTo>
                <a:lnTo>
                  <a:pt x="3175826" y="6339904"/>
                </a:lnTo>
                <a:close/>
                <a:moveTo>
                  <a:pt x="3185224" y="6339904"/>
                </a:moveTo>
                <a:lnTo>
                  <a:pt x="3185224" y="5819204"/>
                </a:lnTo>
                <a:lnTo>
                  <a:pt x="3705924" y="5819204"/>
                </a:lnTo>
                <a:lnTo>
                  <a:pt x="3705924" y="6339904"/>
                </a:lnTo>
                <a:close/>
                <a:moveTo>
                  <a:pt x="3715322" y="6339904"/>
                </a:moveTo>
                <a:lnTo>
                  <a:pt x="3715322" y="5819204"/>
                </a:lnTo>
                <a:lnTo>
                  <a:pt x="4236022" y="5819204"/>
                </a:lnTo>
                <a:lnTo>
                  <a:pt x="4236022" y="6339904"/>
                </a:lnTo>
                <a:close/>
                <a:moveTo>
                  <a:pt x="4245420" y="6339904"/>
                </a:moveTo>
                <a:lnTo>
                  <a:pt x="4245420" y="5819204"/>
                </a:lnTo>
                <a:lnTo>
                  <a:pt x="4766120" y="5819204"/>
                </a:lnTo>
                <a:lnTo>
                  <a:pt x="4766120" y="6339904"/>
                </a:lnTo>
                <a:close/>
                <a:moveTo>
                  <a:pt x="4775454" y="6339904"/>
                </a:moveTo>
                <a:lnTo>
                  <a:pt x="4775454" y="5819204"/>
                </a:lnTo>
                <a:lnTo>
                  <a:pt x="5296154" y="5819204"/>
                </a:lnTo>
                <a:lnTo>
                  <a:pt x="5296154" y="6339904"/>
                </a:lnTo>
                <a:close/>
                <a:moveTo>
                  <a:pt x="5305552" y="6339904"/>
                </a:moveTo>
                <a:lnTo>
                  <a:pt x="5305552" y="5819204"/>
                </a:lnTo>
                <a:lnTo>
                  <a:pt x="5826252" y="5819204"/>
                </a:lnTo>
                <a:lnTo>
                  <a:pt x="5826252" y="6339904"/>
                </a:lnTo>
                <a:close/>
                <a:moveTo>
                  <a:pt x="5835650" y="6339904"/>
                </a:moveTo>
                <a:lnTo>
                  <a:pt x="5835650" y="5819204"/>
                </a:lnTo>
                <a:lnTo>
                  <a:pt x="6356350" y="5819204"/>
                </a:lnTo>
                <a:lnTo>
                  <a:pt x="6356350" y="6339904"/>
                </a:lnTo>
                <a:close/>
                <a:moveTo>
                  <a:pt x="6365748" y="6339904"/>
                </a:moveTo>
                <a:lnTo>
                  <a:pt x="6365748" y="5819204"/>
                </a:lnTo>
                <a:lnTo>
                  <a:pt x="6886448" y="5819204"/>
                </a:lnTo>
                <a:lnTo>
                  <a:pt x="6886448" y="6339904"/>
                </a:lnTo>
                <a:close/>
                <a:moveTo>
                  <a:pt x="6895846" y="6339904"/>
                </a:moveTo>
                <a:lnTo>
                  <a:pt x="6895846" y="5819204"/>
                </a:lnTo>
                <a:lnTo>
                  <a:pt x="7416546" y="5819204"/>
                </a:lnTo>
                <a:lnTo>
                  <a:pt x="7416546" y="6339904"/>
                </a:lnTo>
                <a:close/>
                <a:moveTo>
                  <a:pt x="7425944" y="6339904"/>
                </a:moveTo>
                <a:lnTo>
                  <a:pt x="7425944" y="5819204"/>
                </a:lnTo>
                <a:lnTo>
                  <a:pt x="7946644" y="5819204"/>
                </a:lnTo>
                <a:lnTo>
                  <a:pt x="7946644" y="6339904"/>
                </a:lnTo>
                <a:close/>
                <a:moveTo>
                  <a:pt x="7955979" y="6339904"/>
                </a:moveTo>
                <a:lnTo>
                  <a:pt x="7955979" y="5819204"/>
                </a:lnTo>
                <a:lnTo>
                  <a:pt x="8476679" y="5819204"/>
                </a:lnTo>
                <a:lnTo>
                  <a:pt x="8476679" y="6339904"/>
                </a:lnTo>
                <a:close/>
                <a:moveTo>
                  <a:pt x="8486077" y="6339904"/>
                </a:moveTo>
                <a:lnTo>
                  <a:pt x="8486077" y="5819204"/>
                </a:lnTo>
                <a:lnTo>
                  <a:pt x="9006777" y="5819204"/>
                </a:lnTo>
                <a:lnTo>
                  <a:pt x="9006777" y="6339904"/>
                </a:lnTo>
                <a:close/>
                <a:moveTo>
                  <a:pt x="9016174" y="6339904"/>
                </a:moveTo>
                <a:lnTo>
                  <a:pt x="9016174" y="5819204"/>
                </a:lnTo>
                <a:lnTo>
                  <a:pt x="9536874" y="5819204"/>
                </a:lnTo>
                <a:lnTo>
                  <a:pt x="9536874" y="6339904"/>
                </a:lnTo>
                <a:close/>
                <a:moveTo>
                  <a:pt x="9546272" y="6339904"/>
                </a:moveTo>
                <a:lnTo>
                  <a:pt x="9546272" y="5819204"/>
                </a:lnTo>
                <a:lnTo>
                  <a:pt x="10066972" y="5819204"/>
                </a:lnTo>
                <a:lnTo>
                  <a:pt x="10066972" y="6339904"/>
                </a:lnTo>
                <a:close/>
                <a:moveTo>
                  <a:pt x="10076370" y="6339904"/>
                </a:moveTo>
                <a:lnTo>
                  <a:pt x="10076370" y="5819204"/>
                </a:lnTo>
                <a:lnTo>
                  <a:pt x="10597070" y="5819204"/>
                </a:lnTo>
                <a:lnTo>
                  <a:pt x="10597070" y="6339904"/>
                </a:lnTo>
                <a:close/>
                <a:moveTo>
                  <a:pt x="10606469" y="6339904"/>
                </a:moveTo>
                <a:lnTo>
                  <a:pt x="10606469" y="5819204"/>
                </a:lnTo>
                <a:lnTo>
                  <a:pt x="11127169" y="5819204"/>
                </a:lnTo>
                <a:lnTo>
                  <a:pt x="11127169" y="6339904"/>
                </a:lnTo>
                <a:close/>
                <a:moveTo>
                  <a:pt x="11657076" y="6339904"/>
                </a:moveTo>
                <a:lnTo>
                  <a:pt x="11136376" y="6339904"/>
                </a:lnTo>
                <a:lnTo>
                  <a:pt x="11136376" y="5819204"/>
                </a:lnTo>
                <a:lnTo>
                  <a:pt x="11657076" y="5819204"/>
                </a:lnTo>
                <a:close/>
                <a:moveTo>
                  <a:pt x="11657076" y="5809806"/>
                </a:moveTo>
                <a:lnTo>
                  <a:pt x="11136376" y="5809806"/>
                </a:lnTo>
                <a:lnTo>
                  <a:pt x="11136376" y="5289106"/>
                </a:lnTo>
                <a:lnTo>
                  <a:pt x="11657076" y="5289106"/>
                </a:lnTo>
                <a:close/>
                <a:moveTo>
                  <a:pt x="11657076" y="5279708"/>
                </a:moveTo>
                <a:lnTo>
                  <a:pt x="11136376" y="5279708"/>
                </a:lnTo>
                <a:lnTo>
                  <a:pt x="11136376" y="4759008"/>
                </a:lnTo>
                <a:lnTo>
                  <a:pt x="11657076" y="4759008"/>
                </a:lnTo>
                <a:close/>
                <a:moveTo>
                  <a:pt x="11657076" y="4749673"/>
                </a:moveTo>
                <a:lnTo>
                  <a:pt x="11136376" y="4749673"/>
                </a:lnTo>
                <a:lnTo>
                  <a:pt x="11136376" y="4229100"/>
                </a:lnTo>
                <a:lnTo>
                  <a:pt x="11657076" y="4229100"/>
                </a:lnTo>
                <a:close/>
                <a:moveTo>
                  <a:pt x="11657076" y="4219575"/>
                </a:moveTo>
                <a:lnTo>
                  <a:pt x="11136376" y="4219575"/>
                </a:lnTo>
                <a:lnTo>
                  <a:pt x="11136376" y="3698875"/>
                </a:lnTo>
                <a:lnTo>
                  <a:pt x="11657076" y="3698875"/>
                </a:lnTo>
                <a:close/>
                <a:moveTo>
                  <a:pt x="11657076" y="3689477"/>
                </a:moveTo>
                <a:lnTo>
                  <a:pt x="11136376" y="3689477"/>
                </a:lnTo>
                <a:lnTo>
                  <a:pt x="11136376" y="3168650"/>
                </a:lnTo>
                <a:lnTo>
                  <a:pt x="11657076" y="3168650"/>
                </a:lnTo>
                <a:close/>
                <a:moveTo>
                  <a:pt x="11657076" y="3159379"/>
                </a:moveTo>
                <a:lnTo>
                  <a:pt x="11136376" y="3159379"/>
                </a:lnTo>
                <a:lnTo>
                  <a:pt x="11136376" y="2638679"/>
                </a:lnTo>
                <a:lnTo>
                  <a:pt x="11657076" y="2638679"/>
                </a:lnTo>
                <a:close/>
                <a:moveTo>
                  <a:pt x="11657076" y="2629281"/>
                </a:moveTo>
                <a:lnTo>
                  <a:pt x="11136376" y="2629281"/>
                </a:lnTo>
                <a:lnTo>
                  <a:pt x="11136376" y="2108581"/>
                </a:lnTo>
                <a:lnTo>
                  <a:pt x="11657076" y="2108581"/>
                </a:lnTo>
                <a:close/>
                <a:moveTo>
                  <a:pt x="11657076" y="2099247"/>
                </a:moveTo>
                <a:lnTo>
                  <a:pt x="11136376" y="2099247"/>
                </a:lnTo>
                <a:lnTo>
                  <a:pt x="11136376" y="1578547"/>
                </a:lnTo>
                <a:lnTo>
                  <a:pt x="11657076" y="1578547"/>
                </a:lnTo>
                <a:close/>
                <a:moveTo>
                  <a:pt x="11657076" y="1569149"/>
                </a:moveTo>
                <a:lnTo>
                  <a:pt x="11136376" y="1569149"/>
                </a:lnTo>
                <a:lnTo>
                  <a:pt x="11136376" y="1048449"/>
                </a:lnTo>
                <a:lnTo>
                  <a:pt x="11657076" y="1048449"/>
                </a:lnTo>
                <a:close/>
                <a:moveTo>
                  <a:pt x="11657076" y="1039051"/>
                </a:moveTo>
                <a:lnTo>
                  <a:pt x="11136376" y="1039051"/>
                </a:lnTo>
                <a:lnTo>
                  <a:pt x="11136376" y="518350"/>
                </a:lnTo>
                <a:lnTo>
                  <a:pt x="11657076" y="518350"/>
                </a:lnTo>
                <a:close/>
              </a:path>
            </a:pathLst>
          </a:custGeom>
          <a:gradFill flip="none" rotWithShape="1">
            <a:gsLst>
              <a:gs pos="0">
                <a:schemeClr val="accent1">
                  <a:alpha val="0"/>
                </a:schemeClr>
              </a:gs>
              <a:gs pos="100000">
                <a:schemeClr val="accent1">
                  <a:alpha val="20000"/>
                </a:schemeClr>
              </a:gs>
            </a:gsLst>
            <a:path path="circle">
              <a:fillToRect l="50000" t="50000" r="50000" b="50000"/>
            </a:path>
            <a:tileRect/>
          </a:gra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6" name="Oval 3">
            <a:extLst>
              <a:ext uri="{FF2B5EF4-FFF2-40B4-BE49-F238E27FC236}">
                <a16:creationId xmlns:a16="http://schemas.microsoft.com/office/drawing/2014/main" id="{88B3A998-DC13-ECF2-5675-51009A09D03C}"/>
              </a:ext>
            </a:extLst>
          </p:cNvPr>
          <p:cNvSpPr/>
          <p:nvPr userDrawn="1"/>
        </p:nvSpPr>
        <p:spPr>
          <a:xfrm>
            <a:off x="8035790" y="2676859"/>
            <a:ext cx="4535508" cy="4747432"/>
          </a:xfrm>
          <a:custGeom>
            <a:avLst/>
            <a:gdLst>
              <a:gd name="connsiteX0" fmla="*/ 0 w 6338778"/>
              <a:gd name="connsiteY0" fmla="*/ 3108129 h 6216258"/>
              <a:gd name="connsiteX1" fmla="*/ 3169389 w 6338778"/>
              <a:gd name="connsiteY1" fmla="*/ 0 h 6216258"/>
              <a:gd name="connsiteX2" fmla="*/ 6338778 w 6338778"/>
              <a:gd name="connsiteY2" fmla="*/ 3108129 h 6216258"/>
              <a:gd name="connsiteX3" fmla="*/ 3169389 w 6338778"/>
              <a:gd name="connsiteY3" fmla="*/ 6216258 h 6216258"/>
              <a:gd name="connsiteX4" fmla="*/ 0 w 6338778"/>
              <a:gd name="connsiteY4" fmla="*/ 3108129 h 6216258"/>
              <a:gd name="connsiteX0" fmla="*/ 2065 w 6340843"/>
              <a:gd name="connsiteY0" fmla="*/ 3108129 h 4743673"/>
              <a:gd name="connsiteX1" fmla="*/ 3171454 w 6340843"/>
              <a:gd name="connsiteY1" fmla="*/ 0 h 4743673"/>
              <a:gd name="connsiteX2" fmla="*/ 6340843 w 6340843"/>
              <a:gd name="connsiteY2" fmla="*/ 3108129 h 4743673"/>
              <a:gd name="connsiteX3" fmla="*/ 2828554 w 6340843"/>
              <a:gd name="connsiteY3" fmla="*/ 4743058 h 4743673"/>
              <a:gd name="connsiteX4" fmla="*/ 2065 w 6340843"/>
              <a:gd name="connsiteY4" fmla="*/ 3108129 h 4743673"/>
              <a:gd name="connsiteX0" fmla="*/ 1095 w 4117373"/>
              <a:gd name="connsiteY0" fmla="*/ 3109915 h 4747077"/>
              <a:gd name="connsiteX1" fmla="*/ 3170484 w 4117373"/>
              <a:gd name="connsiteY1" fmla="*/ 1786 h 4747077"/>
              <a:gd name="connsiteX2" fmla="*/ 4117373 w 4117373"/>
              <a:gd name="connsiteY2" fmla="*/ 2792415 h 4747077"/>
              <a:gd name="connsiteX3" fmla="*/ 2827584 w 4117373"/>
              <a:gd name="connsiteY3" fmla="*/ 4744844 h 4747077"/>
              <a:gd name="connsiteX4" fmla="*/ 1095 w 4117373"/>
              <a:gd name="connsiteY4" fmla="*/ 3109915 h 4747077"/>
              <a:gd name="connsiteX0" fmla="*/ 1095 w 4810623"/>
              <a:gd name="connsiteY0" fmla="*/ 3110699 h 4747861"/>
              <a:gd name="connsiteX1" fmla="*/ 3170484 w 4810623"/>
              <a:gd name="connsiteY1" fmla="*/ 2570 h 4747861"/>
              <a:gd name="connsiteX2" fmla="*/ 4117373 w 4810623"/>
              <a:gd name="connsiteY2" fmla="*/ 2793199 h 4747861"/>
              <a:gd name="connsiteX3" fmla="*/ 2827584 w 4810623"/>
              <a:gd name="connsiteY3" fmla="*/ 4745628 h 4747861"/>
              <a:gd name="connsiteX4" fmla="*/ 1095 w 4810623"/>
              <a:gd name="connsiteY4" fmla="*/ 3110699 h 4747861"/>
              <a:gd name="connsiteX0" fmla="*/ 1095 w 4117373"/>
              <a:gd name="connsiteY0" fmla="*/ 3109916 h 4747078"/>
              <a:gd name="connsiteX1" fmla="*/ 3170484 w 4117373"/>
              <a:gd name="connsiteY1" fmla="*/ 1787 h 4747078"/>
              <a:gd name="connsiteX2" fmla="*/ 4117373 w 4117373"/>
              <a:gd name="connsiteY2" fmla="*/ 2792416 h 4747078"/>
              <a:gd name="connsiteX3" fmla="*/ 2827584 w 4117373"/>
              <a:gd name="connsiteY3" fmla="*/ 4744845 h 4747078"/>
              <a:gd name="connsiteX4" fmla="*/ 1095 w 4117373"/>
              <a:gd name="connsiteY4" fmla="*/ 3109916 h 4747078"/>
              <a:gd name="connsiteX0" fmla="*/ 1095 w 4365968"/>
              <a:gd name="connsiteY0" fmla="*/ 3111370 h 4748532"/>
              <a:gd name="connsiteX1" fmla="*/ 3170484 w 4365968"/>
              <a:gd name="connsiteY1" fmla="*/ 3241 h 4748532"/>
              <a:gd name="connsiteX2" fmla="*/ 4117373 w 4365968"/>
              <a:gd name="connsiteY2" fmla="*/ 2793870 h 4748532"/>
              <a:gd name="connsiteX3" fmla="*/ 2827584 w 4365968"/>
              <a:gd name="connsiteY3" fmla="*/ 4746299 h 4748532"/>
              <a:gd name="connsiteX4" fmla="*/ 1095 w 4365968"/>
              <a:gd name="connsiteY4" fmla="*/ 3111370 h 4748532"/>
              <a:gd name="connsiteX0" fmla="*/ 1095 w 4192550"/>
              <a:gd name="connsiteY0" fmla="*/ 3109191 h 4746353"/>
              <a:gd name="connsiteX1" fmla="*/ 3170484 w 4192550"/>
              <a:gd name="connsiteY1" fmla="*/ 1062 h 4746353"/>
              <a:gd name="connsiteX2" fmla="*/ 4117373 w 4192550"/>
              <a:gd name="connsiteY2" fmla="*/ 2791691 h 4746353"/>
              <a:gd name="connsiteX3" fmla="*/ 2827584 w 4192550"/>
              <a:gd name="connsiteY3" fmla="*/ 4744120 h 4746353"/>
              <a:gd name="connsiteX4" fmla="*/ 1095 w 4192550"/>
              <a:gd name="connsiteY4" fmla="*/ 3109191 h 4746353"/>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2583 w 4535508"/>
              <a:gd name="connsiteY0" fmla="*/ 3111199 h 4747432"/>
              <a:gd name="connsiteX1" fmla="*/ 3171972 w 4535508"/>
              <a:gd name="connsiteY1" fmla="*/ 3070 h 4747432"/>
              <a:gd name="connsiteX2" fmla="*/ 4118861 w 4535508"/>
              <a:gd name="connsiteY2" fmla="*/ 2793699 h 4747432"/>
              <a:gd name="connsiteX3" fmla="*/ 2829072 w 4535508"/>
              <a:gd name="connsiteY3" fmla="*/ 4746128 h 4747432"/>
              <a:gd name="connsiteX4" fmla="*/ 2583 w 4535508"/>
              <a:gd name="connsiteY4" fmla="*/ 3111199 h 474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508" h="4747432">
                <a:moveTo>
                  <a:pt x="2583" y="3111199"/>
                </a:moveTo>
                <a:cubicBezTo>
                  <a:pt x="59733" y="2320690"/>
                  <a:pt x="2485926" y="55987"/>
                  <a:pt x="3171972" y="3070"/>
                </a:cubicBezTo>
                <a:cubicBezTo>
                  <a:pt x="3858018" y="-49847"/>
                  <a:pt x="5223761" y="569127"/>
                  <a:pt x="4118861" y="2793699"/>
                </a:cubicBezTo>
                <a:cubicBezTo>
                  <a:pt x="3801361" y="3468871"/>
                  <a:pt x="4823218" y="4794811"/>
                  <a:pt x="2829072" y="4746128"/>
                </a:cubicBezTo>
                <a:cubicBezTo>
                  <a:pt x="834926" y="4697445"/>
                  <a:pt x="-54567" y="3901708"/>
                  <a:pt x="2583" y="3111199"/>
                </a:cubicBezTo>
                <a:close/>
              </a:path>
            </a:pathLst>
          </a:custGeom>
          <a:gradFill>
            <a:gsLst>
              <a:gs pos="0">
                <a:schemeClr val="accent2">
                  <a:alpha val="20000"/>
                </a:schemeClr>
              </a:gs>
              <a:gs pos="100000">
                <a:schemeClr val="accent2">
                  <a:alpha val="0"/>
                </a:schemeClr>
              </a:gs>
            </a:gsLst>
            <a:path path="circle">
              <a:fillToRect l="50000" t="50000" r="50000" b="50000"/>
            </a:path>
          </a:gradFill>
          <a:ln>
            <a:noFill/>
          </a:ln>
          <a:effectLst>
            <a:softEdge rad="889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3">
            <a:extLst>
              <a:ext uri="{FF2B5EF4-FFF2-40B4-BE49-F238E27FC236}">
                <a16:creationId xmlns:a16="http://schemas.microsoft.com/office/drawing/2014/main" id="{7CD31D6B-BD00-E46C-EE13-42C1568F5E6E}"/>
              </a:ext>
            </a:extLst>
          </p:cNvPr>
          <p:cNvSpPr/>
          <p:nvPr userDrawn="1"/>
        </p:nvSpPr>
        <p:spPr>
          <a:xfrm rot="17841547">
            <a:off x="-1203781" y="-1038470"/>
            <a:ext cx="7005861" cy="7333214"/>
          </a:xfrm>
          <a:custGeom>
            <a:avLst/>
            <a:gdLst>
              <a:gd name="connsiteX0" fmla="*/ 0 w 6338778"/>
              <a:gd name="connsiteY0" fmla="*/ 3108129 h 6216258"/>
              <a:gd name="connsiteX1" fmla="*/ 3169389 w 6338778"/>
              <a:gd name="connsiteY1" fmla="*/ 0 h 6216258"/>
              <a:gd name="connsiteX2" fmla="*/ 6338778 w 6338778"/>
              <a:gd name="connsiteY2" fmla="*/ 3108129 h 6216258"/>
              <a:gd name="connsiteX3" fmla="*/ 3169389 w 6338778"/>
              <a:gd name="connsiteY3" fmla="*/ 6216258 h 6216258"/>
              <a:gd name="connsiteX4" fmla="*/ 0 w 6338778"/>
              <a:gd name="connsiteY4" fmla="*/ 3108129 h 6216258"/>
              <a:gd name="connsiteX0" fmla="*/ 2065 w 6340843"/>
              <a:gd name="connsiteY0" fmla="*/ 3108129 h 4743673"/>
              <a:gd name="connsiteX1" fmla="*/ 3171454 w 6340843"/>
              <a:gd name="connsiteY1" fmla="*/ 0 h 4743673"/>
              <a:gd name="connsiteX2" fmla="*/ 6340843 w 6340843"/>
              <a:gd name="connsiteY2" fmla="*/ 3108129 h 4743673"/>
              <a:gd name="connsiteX3" fmla="*/ 2828554 w 6340843"/>
              <a:gd name="connsiteY3" fmla="*/ 4743058 h 4743673"/>
              <a:gd name="connsiteX4" fmla="*/ 2065 w 6340843"/>
              <a:gd name="connsiteY4" fmla="*/ 3108129 h 4743673"/>
              <a:gd name="connsiteX0" fmla="*/ 1095 w 4117373"/>
              <a:gd name="connsiteY0" fmla="*/ 3109915 h 4747077"/>
              <a:gd name="connsiteX1" fmla="*/ 3170484 w 4117373"/>
              <a:gd name="connsiteY1" fmla="*/ 1786 h 4747077"/>
              <a:gd name="connsiteX2" fmla="*/ 4117373 w 4117373"/>
              <a:gd name="connsiteY2" fmla="*/ 2792415 h 4747077"/>
              <a:gd name="connsiteX3" fmla="*/ 2827584 w 4117373"/>
              <a:gd name="connsiteY3" fmla="*/ 4744844 h 4747077"/>
              <a:gd name="connsiteX4" fmla="*/ 1095 w 4117373"/>
              <a:gd name="connsiteY4" fmla="*/ 3109915 h 4747077"/>
              <a:gd name="connsiteX0" fmla="*/ 1095 w 4810623"/>
              <a:gd name="connsiteY0" fmla="*/ 3110699 h 4747861"/>
              <a:gd name="connsiteX1" fmla="*/ 3170484 w 4810623"/>
              <a:gd name="connsiteY1" fmla="*/ 2570 h 4747861"/>
              <a:gd name="connsiteX2" fmla="*/ 4117373 w 4810623"/>
              <a:gd name="connsiteY2" fmla="*/ 2793199 h 4747861"/>
              <a:gd name="connsiteX3" fmla="*/ 2827584 w 4810623"/>
              <a:gd name="connsiteY3" fmla="*/ 4745628 h 4747861"/>
              <a:gd name="connsiteX4" fmla="*/ 1095 w 4810623"/>
              <a:gd name="connsiteY4" fmla="*/ 3110699 h 4747861"/>
              <a:gd name="connsiteX0" fmla="*/ 1095 w 4117373"/>
              <a:gd name="connsiteY0" fmla="*/ 3109916 h 4747078"/>
              <a:gd name="connsiteX1" fmla="*/ 3170484 w 4117373"/>
              <a:gd name="connsiteY1" fmla="*/ 1787 h 4747078"/>
              <a:gd name="connsiteX2" fmla="*/ 4117373 w 4117373"/>
              <a:gd name="connsiteY2" fmla="*/ 2792416 h 4747078"/>
              <a:gd name="connsiteX3" fmla="*/ 2827584 w 4117373"/>
              <a:gd name="connsiteY3" fmla="*/ 4744845 h 4747078"/>
              <a:gd name="connsiteX4" fmla="*/ 1095 w 4117373"/>
              <a:gd name="connsiteY4" fmla="*/ 3109916 h 4747078"/>
              <a:gd name="connsiteX0" fmla="*/ 1095 w 4365968"/>
              <a:gd name="connsiteY0" fmla="*/ 3111370 h 4748532"/>
              <a:gd name="connsiteX1" fmla="*/ 3170484 w 4365968"/>
              <a:gd name="connsiteY1" fmla="*/ 3241 h 4748532"/>
              <a:gd name="connsiteX2" fmla="*/ 4117373 w 4365968"/>
              <a:gd name="connsiteY2" fmla="*/ 2793870 h 4748532"/>
              <a:gd name="connsiteX3" fmla="*/ 2827584 w 4365968"/>
              <a:gd name="connsiteY3" fmla="*/ 4746299 h 4748532"/>
              <a:gd name="connsiteX4" fmla="*/ 1095 w 4365968"/>
              <a:gd name="connsiteY4" fmla="*/ 3111370 h 4748532"/>
              <a:gd name="connsiteX0" fmla="*/ 1095 w 4192550"/>
              <a:gd name="connsiteY0" fmla="*/ 3109191 h 4746353"/>
              <a:gd name="connsiteX1" fmla="*/ 3170484 w 4192550"/>
              <a:gd name="connsiteY1" fmla="*/ 1062 h 4746353"/>
              <a:gd name="connsiteX2" fmla="*/ 4117373 w 4192550"/>
              <a:gd name="connsiteY2" fmla="*/ 2791691 h 4746353"/>
              <a:gd name="connsiteX3" fmla="*/ 2827584 w 4192550"/>
              <a:gd name="connsiteY3" fmla="*/ 4744120 h 4746353"/>
              <a:gd name="connsiteX4" fmla="*/ 1095 w 4192550"/>
              <a:gd name="connsiteY4" fmla="*/ 3109191 h 4746353"/>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1095 w 4534020"/>
              <a:gd name="connsiteY0" fmla="*/ 3111199 h 4748361"/>
              <a:gd name="connsiteX1" fmla="*/ 3170484 w 4534020"/>
              <a:gd name="connsiteY1" fmla="*/ 3070 h 4748361"/>
              <a:gd name="connsiteX2" fmla="*/ 4117373 w 4534020"/>
              <a:gd name="connsiteY2" fmla="*/ 2793699 h 4748361"/>
              <a:gd name="connsiteX3" fmla="*/ 2827584 w 4534020"/>
              <a:gd name="connsiteY3" fmla="*/ 4746128 h 4748361"/>
              <a:gd name="connsiteX4" fmla="*/ 1095 w 4534020"/>
              <a:gd name="connsiteY4" fmla="*/ 3111199 h 4748361"/>
              <a:gd name="connsiteX0" fmla="*/ 2583 w 4535508"/>
              <a:gd name="connsiteY0" fmla="*/ 3111199 h 4747432"/>
              <a:gd name="connsiteX1" fmla="*/ 3171972 w 4535508"/>
              <a:gd name="connsiteY1" fmla="*/ 3070 h 4747432"/>
              <a:gd name="connsiteX2" fmla="*/ 4118861 w 4535508"/>
              <a:gd name="connsiteY2" fmla="*/ 2793699 h 4747432"/>
              <a:gd name="connsiteX3" fmla="*/ 2829072 w 4535508"/>
              <a:gd name="connsiteY3" fmla="*/ 4746128 h 4747432"/>
              <a:gd name="connsiteX4" fmla="*/ 2583 w 4535508"/>
              <a:gd name="connsiteY4" fmla="*/ 3111199 h 474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508" h="4747432">
                <a:moveTo>
                  <a:pt x="2583" y="3111199"/>
                </a:moveTo>
                <a:cubicBezTo>
                  <a:pt x="59733" y="2320690"/>
                  <a:pt x="2485926" y="55987"/>
                  <a:pt x="3171972" y="3070"/>
                </a:cubicBezTo>
                <a:cubicBezTo>
                  <a:pt x="3858018" y="-49847"/>
                  <a:pt x="5223761" y="569127"/>
                  <a:pt x="4118861" y="2793699"/>
                </a:cubicBezTo>
                <a:cubicBezTo>
                  <a:pt x="3801361" y="3468871"/>
                  <a:pt x="4823218" y="4794811"/>
                  <a:pt x="2829072" y="4746128"/>
                </a:cubicBezTo>
                <a:cubicBezTo>
                  <a:pt x="834926" y="4697445"/>
                  <a:pt x="-54567" y="3901708"/>
                  <a:pt x="2583" y="3111199"/>
                </a:cubicBezTo>
                <a:close/>
              </a:path>
            </a:pathLst>
          </a:custGeom>
          <a:gradFill>
            <a:gsLst>
              <a:gs pos="0">
                <a:schemeClr val="accent1">
                  <a:alpha val="20000"/>
                </a:schemeClr>
              </a:gs>
              <a:gs pos="100000">
                <a:schemeClr val="accent1">
                  <a:alpha val="0"/>
                </a:schemeClr>
              </a:gs>
            </a:gsLst>
            <a:path path="circle">
              <a:fillToRect l="50000" t="50000" r="50000" b="50000"/>
            </a:path>
          </a:gradFill>
          <a:ln>
            <a:noFill/>
          </a:ln>
          <a:effectLst>
            <a:softEdge rad="889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7295673"/>
      </p:ext>
    </p:extLst>
  </p:cSld>
  <p:clrMap bg1="lt1" tx1="dk1" bg2="lt2" tx2="dk2" accent1="accent1" accent2="accent2" accent3="accent3" accent4="accent4" accent5="accent5" accent6="accent6" hlink="hlink" folHlink="folHlink"/>
  <p:sldLayoutIdLst>
    <p:sldLayoutId id="2147483684"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4.xml"/><Relationship Id="rId7" Type="http://schemas.openxmlformats.org/officeDocument/2006/relationships/image" Target="../media/image2.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11" Type="http://schemas.openxmlformats.org/officeDocument/2006/relationships/image" Target="../media/image4.svg"/><Relationship Id="rId5" Type="http://schemas.openxmlformats.org/officeDocument/2006/relationships/tags" Target="../tags/tag6.xml"/><Relationship Id="rId10" Type="http://schemas.openxmlformats.org/officeDocument/2006/relationships/hyperlink" Target="https://www.slido.com/support/ppi/how-to-change-the-design" TargetMode="External"/><Relationship Id="rId4" Type="http://schemas.openxmlformats.org/officeDocument/2006/relationships/tags" Target="../tags/tag5.xml"/><Relationship Id="rId9"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sv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e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hyperlink" Target="https://www.piqsels.com/fr/search?q=informatique" TargetMode="Externa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hyperlink" Target="https://www.piqsels.com/fr/search?q=informatique" TargetMode="External"/><Relationship Id="rId4"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svg"/></Relationships>
</file>

<file path=ppt/slides/_rels/slide2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4.svg"/><Relationship Id="rId4" Type="http://schemas.openxmlformats.org/officeDocument/2006/relationships/notesSlide" Target="../notesSlides/notesSlide91.xml"/></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24.svg"/><Relationship Id="rId4" Type="http://schemas.openxmlformats.org/officeDocument/2006/relationships/notesSlide" Target="../notesSlides/notesSlide92.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4.svg"/><Relationship Id="rId4" Type="http://schemas.openxmlformats.org/officeDocument/2006/relationships/notesSlide" Target="../notesSlides/notesSlide93.xml"/></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24.svg"/><Relationship Id="rId4" Type="http://schemas.openxmlformats.org/officeDocument/2006/relationships/notesSlide" Target="../notesSlides/notesSlide94.xml"/></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24.svg"/><Relationship Id="rId4" Type="http://schemas.openxmlformats.org/officeDocument/2006/relationships/notesSlide" Target="../notesSlides/notesSlide95.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24.svg"/><Relationship Id="rId4" Type="http://schemas.openxmlformats.org/officeDocument/2006/relationships/notesSlide" Target="../notesSlides/notesSlide96.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24.svg"/><Relationship Id="rId4" Type="http://schemas.openxmlformats.org/officeDocument/2006/relationships/notesSlide" Target="../notesSlides/notesSlide97.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24.svg"/><Relationship Id="rId4" Type="http://schemas.openxmlformats.org/officeDocument/2006/relationships/notesSlide" Target="../notesSlides/notesSlide98.xml"/></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24.svg"/><Relationship Id="rId4" Type="http://schemas.openxmlformats.org/officeDocument/2006/relationships/notesSlide" Target="../notesSlides/notesSlide99.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4.svg"/><Relationship Id="rId4" Type="http://schemas.openxmlformats.org/officeDocument/2006/relationships/notesSlide" Target="../notesSlides/notesSlide100.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24.svg"/><Relationship Id="rId4" Type="http://schemas.openxmlformats.org/officeDocument/2006/relationships/notesSlide" Target="../notesSlides/notesSlide101.xml"/></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24.svg"/><Relationship Id="rId4" Type="http://schemas.openxmlformats.org/officeDocument/2006/relationships/notesSlide" Target="../notesSlides/notesSlide102.xml"/></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24.svg"/><Relationship Id="rId4" Type="http://schemas.openxmlformats.org/officeDocument/2006/relationships/notesSlide" Target="../notesSlides/notesSlide103.xml"/></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24.svg"/><Relationship Id="rId4" Type="http://schemas.openxmlformats.org/officeDocument/2006/relationships/notesSlide" Target="../notesSlides/notesSlide104.xml"/></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24.svg"/><Relationship Id="rId4" Type="http://schemas.openxmlformats.org/officeDocument/2006/relationships/notesSlide" Target="../notesSlides/notesSlide105.xml"/></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24.svg"/><Relationship Id="rId4" Type="http://schemas.openxmlformats.org/officeDocument/2006/relationships/notesSlide" Target="../notesSlides/notesSlide106.xml"/></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24.svg"/><Relationship Id="rId4" Type="http://schemas.openxmlformats.org/officeDocument/2006/relationships/notesSlide" Target="../notesSlides/notesSlide107.xml"/></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24.svg"/><Relationship Id="rId4" Type="http://schemas.openxmlformats.org/officeDocument/2006/relationships/notesSlide" Target="../notesSlides/notesSlide108.xml"/></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24.svg"/><Relationship Id="rId4" Type="http://schemas.openxmlformats.org/officeDocument/2006/relationships/notesSlide" Target="../notesSlides/notesSlide109.xml"/></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24.svg"/><Relationship Id="rId4" Type="http://schemas.openxmlformats.org/officeDocument/2006/relationships/notesSlide" Target="../notesSlides/notesSlide110.xml"/></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24.svg"/><Relationship Id="rId4" Type="http://schemas.openxmlformats.org/officeDocument/2006/relationships/notesSlide" Target="../notesSlides/notesSlide111.xml"/></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24.svg"/><Relationship Id="rId4" Type="http://schemas.openxmlformats.org/officeDocument/2006/relationships/notesSlide" Target="../notesSlides/notesSlide112.xml"/></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24.svg"/><Relationship Id="rId4" Type="http://schemas.openxmlformats.org/officeDocument/2006/relationships/notesSlide" Target="../notesSlides/notesSlide113.xml"/></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24.svg"/><Relationship Id="rId4" Type="http://schemas.openxmlformats.org/officeDocument/2006/relationships/notesSlide" Target="../notesSlides/notesSlide114.xml"/></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24.svg"/><Relationship Id="rId4" Type="http://schemas.openxmlformats.org/officeDocument/2006/relationships/notesSlide" Target="../notesSlides/notesSlide115.xml"/></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24.svg"/><Relationship Id="rId4" Type="http://schemas.openxmlformats.org/officeDocument/2006/relationships/notesSlide" Target="../notesSlides/notesSlide116.xml"/></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24.svg"/><Relationship Id="rId4" Type="http://schemas.openxmlformats.org/officeDocument/2006/relationships/notesSlide" Target="../notesSlides/notesSlide117.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24.svg"/><Relationship Id="rId4" Type="http://schemas.openxmlformats.org/officeDocument/2006/relationships/notesSlide" Target="../notesSlides/notesSlide118.xml"/></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24.svg"/><Relationship Id="rId4" Type="http://schemas.openxmlformats.org/officeDocument/2006/relationships/notesSlide" Target="../notesSlides/notesSlide119.xml"/></Relationships>
</file>

<file path=ppt/slides/_rels/slide1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24.svg"/><Relationship Id="rId4" Type="http://schemas.openxmlformats.org/officeDocument/2006/relationships/notesSlide" Target="../notesSlides/notesSlide120.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Layout" Target="../slideLayouts/slideLayout11.xml"/><Relationship Id="rId4" Type="http://schemas.openxmlformats.org/officeDocument/2006/relationships/image" Target="../media/image34.svg"/></Relationships>
</file>

<file path=ppt/slides/_rels/slide17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svg"/></Relationships>
</file>

<file path=ppt/slides/_rels/slide17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6.svg"/><Relationship Id="rId1" Type="http://schemas.openxmlformats.org/officeDocument/2006/relationships/slideLayout" Target="../slideLayouts/slideLayout16.xml"/><Relationship Id="rId4" Type="http://schemas.openxmlformats.org/officeDocument/2006/relationships/image" Target="../media/image37.svg"/></Relationships>
</file>

<file path=ppt/slides/_rels/slide18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svg"/><Relationship Id="rId1" Type="http://schemas.openxmlformats.org/officeDocument/2006/relationships/slideLayout" Target="../slideLayouts/slideLayout1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5.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slideLayout" Target="../slideLayouts/slideLayout21.xml"/><Relationship Id="rId4" Type="http://schemas.openxmlformats.org/officeDocument/2006/relationships/image" Target="../media/image40.sv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17.png"/><Relationship Id="rId1" Type="http://schemas.openxmlformats.org/officeDocument/2006/relationships/slideLayout" Target="../slideLayouts/slideLayout23.xml"/><Relationship Id="rId4" Type="http://schemas.openxmlformats.org/officeDocument/2006/relationships/image" Target="../media/image42.svg"/></Relationships>
</file>

<file path=ppt/slides/_rels/slide190.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17.png"/><Relationship Id="rId1" Type="http://schemas.openxmlformats.org/officeDocument/2006/relationships/slideLayout" Target="../slideLayouts/slideLayout23.xml"/><Relationship Id="rId4" Type="http://schemas.openxmlformats.org/officeDocument/2006/relationships/image" Target="../media/image42.svg"/></Relationships>
</file>

<file path=ppt/slides/_rels/slide19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4.xml"/></Relationships>
</file>

<file path=ppt/slides/_rels/slide19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25.xml"/><Relationship Id="rId5" Type="http://schemas.openxmlformats.org/officeDocument/2006/relationships/image" Target="../media/image47.svg"/><Relationship Id="rId4" Type="http://schemas.openxmlformats.org/officeDocument/2006/relationships/image" Target="../media/image4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FFEA7E2-372F-7267-C564-24EE71BBFB25}"/>
              </a:ext>
            </a:extLst>
          </p:cNvPr>
          <p:cNvSpPr>
            <a:spLocks noGrp="1"/>
          </p:cNvSpPr>
          <p:nvPr>
            <p:ph type="pic" sz="quarter" idx="10"/>
          </p:nvPr>
        </p:nvSpPr>
        <p:spPr>
          <a:xfrm>
            <a:off x="14514" y="15521"/>
            <a:ext cx="12192000" cy="6858000"/>
          </a:xfrm>
        </p:spPr>
        <p:txBody>
          <a:bodyPr/>
          <a:lstStyle/>
          <a:p>
            <a:endParaRPr lang="en-US" dirty="0"/>
          </a:p>
        </p:txBody>
      </p:sp>
      <p:sp>
        <p:nvSpPr>
          <p:cNvPr id="58" name="Rectangle: Rounded Corners 62">
            <a:extLst>
              <a:ext uri="{FF2B5EF4-FFF2-40B4-BE49-F238E27FC236}">
                <a16:creationId xmlns:a16="http://schemas.microsoft.com/office/drawing/2014/main" id="{8F309CD6-A129-E517-A5FC-F0F2EFA06EE0}"/>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Freeform: Shape 3">
            <a:extLst>
              <a:ext uri="{FF2B5EF4-FFF2-40B4-BE49-F238E27FC236}">
                <a16:creationId xmlns:a16="http://schemas.microsoft.com/office/drawing/2014/main" id="{1BF917B3-42FC-6272-2210-611141848762}"/>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Shape 4">
            <a:extLst>
              <a:ext uri="{FF2B5EF4-FFF2-40B4-BE49-F238E27FC236}">
                <a16:creationId xmlns:a16="http://schemas.microsoft.com/office/drawing/2014/main" id="{85F8D95F-37B0-3D9D-8BAB-B87DA8105EB4}"/>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178D47F2-F8F5-F852-B94B-0CDAE15D1BD3}"/>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C1066CF-1F5A-F945-3F90-D3682FD6F968}"/>
              </a:ext>
            </a:extLst>
          </p:cNvPr>
          <p:cNvSpPr txBox="1"/>
          <p:nvPr/>
        </p:nvSpPr>
        <p:spPr>
          <a:xfrm>
            <a:off x="14514" y="2884601"/>
            <a:ext cx="12192000" cy="1938992"/>
          </a:xfrm>
          <a:prstGeom prst="rect">
            <a:avLst/>
          </a:prstGeom>
          <a:noFill/>
        </p:spPr>
        <p:txBody>
          <a:bodyPr wrap="square" rtlCol="0">
            <a:spAutoFit/>
          </a:bodyPr>
          <a:lstStyle/>
          <a:p>
            <a:pPr algn="ctr"/>
            <a:r>
              <a:rPr lang="fr-FR" sz="6000" dirty="0">
                <a:solidFill>
                  <a:schemeClr val="tx2"/>
                </a:solidFill>
                <a:latin typeface="Space Grotesk Medium" pitchFamily="2" charset="0"/>
              </a:rPr>
              <a:t>L'Intelligence Artificielle </a:t>
            </a:r>
            <a:br>
              <a:rPr lang="fr-FR" sz="6000" dirty="0">
                <a:solidFill>
                  <a:schemeClr val="tx2"/>
                </a:solidFill>
                <a:latin typeface="Space Grotesk Medium" pitchFamily="2" charset="0"/>
              </a:rPr>
            </a:br>
            <a:r>
              <a:rPr lang="fr-FR" sz="6000" dirty="0">
                <a:solidFill>
                  <a:schemeClr val="tx2"/>
                </a:solidFill>
                <a:latin typeface="Space Grotesk Medium" pitchFamily="2" charset="0"/>
              </a:rPr>
              <a:t>au service de l'Expertise Immobilière</a:t>
            </a:r>
            <a:endParaRPr lang="en-US" sz="6000" dirty="0">
              <a:solidFill>
                <a:schemeClr val="tx2"/>
              </a:solidFill>
              <a:latin typeface="Space Grotesk Medium" pitchFamily="2" charset="0"/>
            </a:endParaRPr>
          </a:p>
        </p:txBody>
      </p:sp>
      <p:sp>
        <p:nvSpPr>
          <p:cNvPr id="8" name="TextBox 7">
            <a:extLst>
              <a:ext uri="{FF2B5EF4-FFF2-40B4-BE49-F238E27FC236}">
                <a16:creationId xmlns:a16="http://schemas.microsoft.com/office/drawing/2014/main" id="{A016A00A-E5BF-27BA-884F-F9E8B0E0289E}"/>
              </a:ext>
            </a:extLst>
          </p:cNvPr>
          <p:cNvSpPr txBox="1"/>
          <p:nvPr/>
        </p:nvSpPr>
        <p:spPr>
          <a:xfrm>
            <a:off x="3855034" y="5658458"/>
            <a:ext cx="4481933" cy="892552"/>
          </a:xfrm>
          <a:prstGeom prst="rect">
            <a:avLst/>
          </a:prstGeom>
          <a:noFill/>
        </p:spPr>
        <p:txBody>
          <a:bodyPr wrap="none" rtlCol="0">
            <a:spAutoFit/>
          </a:bodyPr>
          <a:lstStyle>
            <a:defPPr>
              <a:defRPr lang="en-US"/>
            </a:defPPr>
            <a:lvl1pPr>
              <a:defRPr sz="1300">
                <a:solidFill>
                  <a:schemeClr val="tx2"/>
                </a:solidFill>
                <a:latin typeface="Figtree Medium" pitchFamily="2" charset="0"/>
              </a:defRPr>
            </a:lvl1pPr>
          </a:lstStyle>
          <a:p>
            <a:pPr algn="ctr"/>
            <a:r>
              <a:rPr lang="en-US" sz="2600" dirty="0" err="1"/>
              <a:t>Présenté</a:t>
            </a:r>
            <a:r>
              <a:rPr lang="en-US" sz="2600" dirty="0"/>
              <a:t> par Robert BESSOUDO</a:t>
            </a:r>
          </a:p>
          <a:p>
            <a:pPr algn="ctr"/>
            <a:r>
              <a:rPr lang="en-US" sz="2600" dirty="0"/>
              <a:t>16 </a:t>
            </a:r>
            <a:r>
              <a:rPr lang="en-US" sz="2600" dirty="0" err="1"/>
              <a:t>octobre</a:t>
            </a:r>
            <a:r>
              <a:rPr lang="en-US" sz="2600" dirty="0"/>
              <a:t> 2026</a:t>
            </a:r>
          </a:p>
        </p:txBody>
      </p:sp>
    </p:spTree>
    <p:extLst>
      <p:ext uri="{BB962C8B-B14F-4D97-AF65-F5344CB8AC3E}">
        <p14:creationId xmlns:p14="http://schemas.microsoft.com/office/powerpoint/2010/main" val="34170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012F08-4587-35BB-8FC6-F4090F9EA46B}"/>
              </a:ext>
            </a:extLst>
          </p:cNvPr>
          <p:cNvSpPr txBox="1"/>
          <p:nvPr/>
        </p:nvSpPr>
        <p:spPr>
          <a:xfrm>
            <a:off x="794047" y="1097188"/>
            <a:ext cx="5207602" cy="2800767"/>
          </a:xfrm>
          <a:prstGeom prst="rect">
            <a:avLst/>
          </a:prstGeom>
          <a:noFill/>
        </p:spPr>
        <p:txBody>
          <a:bodyPr wrap="square" rtlCol="0">
            <a:spAutoFit/>
          </a:bodyPr>
          <a:lstStyle/>
          <a:p>
            <a:r>
              <a:rPr lang="fr-FR" sz="4400" dirty="0">
                <a:latin typeface="Space Grotesk Medium"/>
              </a:rPr>
              <a:t>L’IA et l'expertise immobilière : le </a:t>
            </a:r>
            <a:r>
              <a:rPr lang="fr-FR" sz="4400" b="1" u="sng" dirty="0">
                <a:latin typeface="Space Grotesk Medium"/>
              </a:rPr>
              <a:t>jugement</a:t>
            </a:r>
            <a:r>
              <a:rPr lang="fr-FR" sz="4400" dirty="0">
                <a:latin typeface="Space Grotesk Medium"/>
              </a:rPr>
              <a:t>, plus que jamais le maître mot</a:t>
            </a:r>
            <a:endParaRPr lang="en-US" sz="4400" dirty="0">
              <a:solidFill>
                <a:schemeClr val="tx2"/>
              </a:solidFill>
              <a:latin typeface="Space Grotesk Medium"/>
              <a:sym typeface="Manrope"/>
            </a:endParaRPr>
          </a:p>
        </p:txBody>
      </p:sp>
      <p:sp>
        <p:nvSpPr>
          <p:cNvPr id="11" name="Freeform: Shape 10">
            <a:extLst>
              <a:ext uri="{FF2B5EF4-FFF2-40B4-BE49-F238E27FC236}">
                <a16:creationId xmlns:a16="http://schemas.microsoft.com/office/drawing/2014/main" id="{DBD8531D-8B0B-F31B-9F4B-2AFAAB86A285}"/>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93EFDD0A-A526-694A-7854-B4B10A1E32B3}"/>
              </a:ext>
            </a:extLst>
          </p:cNvPr>
          <p:cNvSpPr/>
          <p:nvPr/>
        </p:nvSpPr>
        <p:spPr>
          <a:xfrm>
            <a:off x="6401833" y="1575150"/>
            <a:ext cx="5525535" cy="2100915"/>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18" name="Groupe 17">
            <a:extLst>
              <a:ext uri="{FF2B5EF4-FFF2-40B4-BE49-F238E27FC236}">
                <a16:creationId xmlns:a16="http://schemas.microsoft.com/office/drawing/2014/main" id="{454E0700-D567-D82D-156B-BE8BE7847459}"/>
              </a:ext>
            </a:extLst>
          </p:cNvPr>
          <p:cNvGrpSpPr/>
          <p:nvPr/>
        </p:nvGrpSpPr>
        <p:grpSpPr>
          <a:xfrm>
            <a:off x="5544551" y="1751267"/>
            <a:ext cx="547042" cy="547042"/>
            <a:chOff x="2883144" y="3841563"/>
            <a:chExt cx="1249169" cy="1249169"/>
          </a:xfrm>
        </p:grpSpPr>
        <p:sp>
          <p:nvSpPr>
            <p:cNvPr id="111" name="Oval 110">
              <a:extLst>
                <a:ext uri="{FF2B5EF4-FFF2-40B4-BE49-F238E27FC236}">
                  <a16:creationId xmlns:a16="http://schemas.microsoft.com/office/drawing/2014/main" id="{9385D5F3-7319-9B44-FE75-0450D1C2F18B}"/>
                </a:ext>
              </a:extLst>
            </p:cNvPr>
            <p:cNvSpPr/>
            <p:nvPr/>
          </p:nvSpPr>
          <p:spPr>
            <a:xfrm>
              <a:off x="2883144" y="3841563"/>
              <a:ext cx="1249169" cy="1249169"/>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8540C44B-B6EC-AD3A-AD2C-FFBCD188A9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177494" y="4135913"/>
              <a:ext cx="660468" cy="660468"/>
            </a:xfrm>
            <a:prstGeom prst="rect">
              <a:avLst/>
            </a:prstGeom>
          </p:spPr>
        </p:pic>
      </p:grpSp>
      <p:sp>
        <p:nvSpPr>
          <p:cNvPr id="9" name="TextBox 1">
            <a:extLst>
              <a:ext uri="{FF2B5EF4-FFF2-40B4-BE49-F238E27FC236}">
                <a16:creationId xmlns:a16="http://schemas.microsoft.com/office/drawing/2014/main" id="{EBEF5CA5-85DE-3D5C-B036-C4AE70ABA57B}"/>
              </a:ext>
            </a:extLst>
          </p:cNvPr>
          <p:cNvSpPr txBox="1"/>
          <p:nvPr/>
        </p:nvSpPr>
        <p:spPr>
          <a:xfrm>
            <a:off x="755087" y="480115"/>
            <a:ext cx="610124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Introduction</a:t>
            </a:r>
            <a:endParaRPr lang="en-US" sz="2800" b="1" dirty="0">
              <a:solidFill>
                <a:schemeClr val="accent1">
                  <a:lumMod val="60000"/>
                  <a:lumOff val="40000"/>
                </a:schemeClr>
              </a:solidFill>
              <a:latin typeface="Space Grotesk Medium"/>
              <a:sym typeface="Manrope"/>
            </a:endParaRPr>
          </a:p>
        </p:txBody>
      </p:sp>
      <p:sp>
        <p:nvSpPr>
          <p:cNvPr id="4" name="TextBox 3">
            <a:extLst>
              <a:ext uri="{FF2B5EF4-FFF2-40B4-BE49-F238E27FC236}">
                <a16:creationId xmlns:a16="http://schemas.microsoft.com/office/drawing/2014/main" id="{59C941A9-11AF-BE5A-5B5B-3AE8D4B9F303}"/>
              </a:ext>
            </a:extLst>
          </p:cNvPr>
          <p:cNvSpPr txBox="1"/>
          <p:nvPr/>
        </p:nvSpPr>
        <p:spPr>
          <a:xfrm>
            <a:off x="6635263" y="1788497"/>
            <a:ext cx="5138671" cy="1697068"/>
          </a:xfrm>
          <a:prstGeom prst="rect">
            <a:avLst/>
          </a:prstGeom>
          <a:noFill/>
        </p:spPr>
        <p:txBody>
          <a:bodyPr wrap="square" rtlCol="0">
            <a:spAutoFit/>
          </a:bodyPr>
          <a:lstStyle/>
          <a:p>
            <a:pPr>
              <a:lnSpc>
                <a:spcPct val="110000"/>
              </a:lnSpc>
            </a:pPr>
            <a:r>
              <a:rPr lang="fr-FR" sz="2400" dirty="0">
                <a:latin typeface="Figtree"/>
              </a:rPr>
              <a:t>Avec l’avènement de l’IA, un constat s’impose : l’intégration de l’intelligence artificielle est devenue inéluctable dans le domaine de l’évaluation immobilière.</a:t>
            </a:r>
            <a:endParaRPr lang="en-US" sz="2400" dirty="0">
              <a:solidFill>
                <a:schemeClr val="tx2"/>
              </a:solidFill>
              <a:latin typeface="Figtree"/>
              <a:ea typeface="Manrope Medium"/>
              <a:cs typeface="Manrope Medium"/>
              <a:sym typeface="Manrope Medium"/>
            </a:endParaRPr>
          </a:p>
        </p:txBody>
      </p:sp>
      <p:sp>
        <p:nvSpPr>
          <p:cNvPr id="22" name="Rectangle: Rounded Corners 108">
            <a:extLst>
              <a:ext uri="{FF2B5EF4-FFF2-40B4-BE49-F238E27FC236}">
                <a16:creationId xmlns:a16="http://schemas.microsoft.com/office/drawing/2014/main" id="{3E7D3385-505D-9A68-4C97-1072C7F75E35}"/>
              </a:ext>
            </a:extLst>
          </p:cNvPr>
          <p:cNvSpPr/>
          <p:nvPr/>
        </p:nvSpPr>
        <p:spPr>
          <a:xfrm>
            <a:off x="566058" y="4247881"/>
            <a:ext cx="5525535" cy="2100915"/>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4" name="TextBox 3">
            <a:extLst>
              <a:ext uri="{FF2B5EF4-FFF2-40B4-BE49-F238E27FC236}">
                <a16:creationId xmlns:a16="http://schemas.microsoft.com/office/drawing/2014/main" id="{A74C5214-5AB8-F2AD-72FE-728F422596AC}"/>
              </a:ext>
            </a:extLst>
          </p:cNvPr>
          <p:cNvSpPr txBox="1"/>
          <p:nvPr/>
        </p:nvSpPr>
        <p:spPr>
          <a:xfrm>
            <a:off x="799488" y="4461228"/>
            <a:ext cx="5138671" cy="1697068"/>
          </a:xfrm>
          <a:prstGeom prst="rect">
            <a:avLst/>
          </a:prstGeom>
          <a:noFill/>
        </p:spPr>
        <p:txBody>
          <a:bodyPr wrap="square" rtlCol="0">
            <a:spAutoFit/>
          </a:bodyPr>
          <a:lstStyle/>
          <a:p>
            <a:pPr>
              <a:lnSpc>
                <a:spcPct val="110000"/>
              </a:lnSpc>
            </a:pPr>
            <a:r>
              <a:rPr lang="fr-FR" sz="2400" dirty="0">
                <a:latin typeface="Figtree"/>
              </a:rPr>
              <a:t>Si l'IA est un amplificateur de performance, il est crucial de rappeler </a:t>
            </a:r>
            <a:r>
              <a:rPr lang="fr-FR" sz="2400" b="1" dirty="0">
                <a:solidFill>
                  <a:srgbClr val="FF0000"/>
                </a:solidFill>
                <a:latin typeface="Figtree"/>
              </a:rPr>
              <a:t>qu'elle ne doit pas désactiver le bon sens professionnel.</a:t>
            </a:r>
            <a:endParaRPr lang="en-US" sz="2400" b="1" dirty="0">
              <a:solidFill>
                <a:srgbClr val="FF0000"/>
              </a:solidFill>
              <a:latin typeface="Figtree"/>
              <a:ea typeface="Manrope Medium"/>
              <a:cs typeface="Manrope Medium"/>
              <a:sym typeface="Manrope Medium"/>
            </a:endParaRPr>
          </a:p>
        </p:txBody>
      </p:sp>
      <p:sp>
        <p:nvSpPr>
          <p:cNvPr id="26" name="TextBox 1">
            <a:extLst>
              <a:ext uri="{FF2B5EF4-FFF2-40B4-BE49-F238E27FC236}">
                <a16:creationId xmlns:a16="http://schemas.microsoft.com/office/drawing/2014/main" id="{2C386EBD-0C03-D36B-E8D4-1BDE550FB6DF}"/>
              </a:ext>
            </a:extLst>
          </p:cNvPr>
          <p:cNvSpPr txBox="1"/>
          <p:nvPr/>
        </p:nvSpPr>
        <p:spPr>
          <a:xfrm>
            <a:off x="6566332" y="4347391"/>
            <a:ext cx="5207602" cy="1815882"/>
          </a:xfrm>
          <a:prstGeom prst="rect">
            <a:avLst/>
          </a:prstGeom>
          <a:noFill/>
        </p:spPr>
        <p:txBody>
          <a:bodyPr wrap="square" rtlCol="0">
            <a:spAutoFit/>
          </a:bodyPr>
          <a:lstStyle/>
          <a:p>
            <a:r>
              <a:rPr lang="fr-FR" sz="2800" b="1" dirty="0">
                <a:latin typeface="Space Grotesk Medium"/>
              </a:rPr>
              <a:t>« </a:t>
            </a:r>
            <a:r>
              <a:rPr lang="fr-FR" sz="2800" b="1" dirty="0">
                <a:solidFill>
                  <a:srgbClr val="FF0000"/>
                </a:solidFill>
                <a:latin typeface="Space Grotesk Medium"/>
              </a:rPr>
              <a:t>L'IA ne remplacera jamais le jugement de l'expert, </a:t>
            </a:r>
            <a:r>
              <a:rPr lang="fr-FR" sz="2800" b="1" dirty="0">
                <a:latin typeface="Space Grotesk Medium"/>
              </a:rPr>
              <a:t>mais l'expert qui maîtrise l'IA remplacera celui qui la refuse. »</a:t>
            </a:r>
            <a:endParaRPr lang="en-US" sz="2800" b="1" dirty="0">
              <a:solidFill>
                <a:schemeClr val="tx2"/>
              </a:solidFill>
              <a:latin typeface="Space Grotesk Medium"/>
              <a:sym typeface="Manrope"/>
            </a:endParaRPr>
          </a:p>
        </p:txBody>
      </p:sp>
    </p:spTree>
    <p:extLst>
      <p:ext uri="{BB962C8B-B14F-4D97-AF65-F5344CB8AC3E}">
        <p14:creationId xmlns:p14="http://schemas.microsoft.com/office/powerpoint/2010/main" val="3648782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0416819-44FD-E490-BAD6-041280E324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3FF0B6-ACE4-A5EE-AB6B-03D5F20FF73C}"/>
              </a:ext>
            </a:extLst>
          </p:cNvPr>
          <p:cNvSpPr txBox="1"/>
          <p:nvPr/>
        </p:nvSpPr>
        <p:spPr>
          <a:xfrm>
            <a:off x="755087" y="1122647"/>
            <a:ext cx="8780799" cy="769441"/>
          </a:xfrm>
          <a:prstGeom prst="rect">
            <a:avLst/>
          </a:prstGeom>
          <a:noFill/>
        </p:spPr>
        <p:txBody>
          <a:bodyPr wrap="square" rtlCol="0">
            <a:spAutoFit/>
          </a:bodyPr>
          <a:lstStyle/>
          <a:p>
            <a:r>
              <a:rPr lang="fr-FR" sz="4400" dirty="0">
                <a:latin typeface="Space Grotesk Medium"/>
              </a:rPr>
              <a:t>L’angle directeur de cette formation</a:t>
            </a:r>
            <a:endParaRPr lang="en-US" sz="4400" dirty="0">
              <a:solidFill>
                <a:schemeClr val="tx2"/>
              </a:solidFill>
              <a:latin typeface="Space Grotesk Medium"/>
              <a:sym typeface="Manrope"/>
            </a:endParaRPr>
          </a:p>
        </p:txBody>
      </p:sp>
      <p:sp>
        <p:nvSpPr>
          <p:cNvPr id="11" name="Freeform: Shape 10">
            <a:extLst>
              <a:ext uri="{FF2B5EF4-FFF2-40B4-BE49-F238E27FC236}">
                <a16:creationId xmlns:a16="http://schemas.microsoft.com/office/drawing/2014/main" id="{E2DC1D84-0B81-573D-8388-24FD47B848DA}"/>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B0B7A0E1-DC0C-2F36-FEE8-2D545CE12D92}"/>
              </a:ext>
            </a:extLst>
          </p:cNvPr>
          <p:cNvSpPr/>
          <p:nvPr/>
        </p:nvSpPr>
        <p:spPr>
          <a:xfrm>
            <a:off x="1947264" y="2293285"/>
            <a:ext cx="8492136" cy="3442068"/>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18" name="Groupe 17">
            <a:extLst>
              <a:ext uri="{FF2B5EF4-FFF2-40B4-BE49-F238E27FC236}">
                <a16:creationId xmlns:a16="http://schemas.microsoft.com/office/drawing/2014/main" id="{4074DEFB-E514-481B-1561-ABEEECDFE54D}"/>
              </a:ext>
            </a:extLst>
          </p:cNvPr>
          <p:cNvGrpSpPr/>
          <p:nvPr/>
        </p:nvGrpSpPr>
        <p:grpSpPr>
          <a:xfrm>
            <a:off x="1234245" y="2630244"/>
            <a:ext cx="547042" cy="547042"/>
            <a:chOff x="2883144" y="3841563"/>
            <a:chExt cx="1249169" cy="1249169"/>
          </a:xfrm>
        </p:grpSpPr>
        <p:sp>
          <p:nvSpPr>
            <p:cNvPr id="111" name="Oval 110">
              <a:extLst>
                <a:ext uri="{FF2B5EF4-FFF2-40B4-BE49-F238E27FC236}">
                  <a16:creationId xmlns:a16="http://schemas.microsoft.com/office/drawing/2014/main" id="{3D8B14E4-272B-DF40-8BFB-598672FAD208}"/>
                </a:ext>
              </a:extLst>
            </p:cNvPr>
            <p:cNvSpPr/>
            <p:nvPr/>
          </p:nvSpPr>
          <p:spPr>
            <a:xfrm>
              <a:off x="2883144" y="3841563"/>
              <a:ext cx="1249169" cy="1249169"/>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E3AD518C-BDFA-6E4D-3E3A-9F3DD53761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177494" y="4135913"/>
              <a:ext cx="660468" cy="660468"/>
            </a:xfrm>
            <a:prstGeom prst="rect">
              <a:avLst/>
            </a:prstGeom>
          </p:spPr>
        </p:pic>
      </p:grpSp>
      <p:sp>
        <p:nvSpPr>
          <p:cNvPr id="9" name="TextBox 1">
            <a:extLst>
              <a:ext uri="{FF2B5EF4-FFF2-40B4-BE49-F238E27FC236}">
                <a16:creationId xmlns:a16="http://schemas.microsoft.com/office/drawing/2014/main" id="{C5C93C7E-1FDF-2D07-D022-05B3C774263D}"/>
              </a:ext>
            </a:extLst>
          </p:cNvPr>
          <p:cNvSpPr txBox="1"/>
          <p:nvPr/>
        </p:nvSpPr>
        <p:spPr>
          <a:xfrm>
            <a:off x="755087" y="480115"/>
            <a:ext cx="610124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Introduction</a:t>
            </a:r>
            <a:endParaRPr lang="en-US" sz="2800" b="1" dirty="0">
              <a:solidFill>
                <a:schemeClr val="accent1">
                  <a:lumMod val="60000"/>
                  <a:lumOff val="40000"/>
                </a:schemeClr>
              </a:solidFill>
              <a:latin typeface="Space Grotesk Medium"/>
              <a:sym typeface="Manrope"/>
            </a:endParaRPr>
          </a:p>
        </p:txBody>
      </p:sp>
      <p:sp>
        <p:nvSpPr>
          <p:cNvPr id="4" name="TextBox 3">
            <a:extLst>
              <a:ext uri="{FF2B5EF4-FFF2-40B4-BE49-F238E27FC236}">
                <a16:creationId xmlns:a16="http://schemas.microsoft.com/office/drawing/2014/main" id="{17C1D502-4595-2B5C-813F-F80E502524D8}"/>
              </a:ext>
            </a:extLst>
          </p:cNvPr>
          <p:cNvSpPr txBox="1"/>
          <p:nvPr/>
        </p:nvSpPr>
        <p:spPr>
          <a:xfrm>
            <a:off x="2152140" y="2596942"/>
            <a:ext cx="8082384" cy="2915863"/>
          </a:xfrm>
          <a:prstGeom prst="rect">
            <a:avLst/>
          </a:prstGeom>
          <a:noFill/>
        </p:spPr>
        <p:txBody>
          <a:bodyPr wrap="square" rtlCol="0">
            <a:spAutoFit/>
          </a:bodyPr>
          <a:lstStyle/>
          <a:p>
            <a:pPr>
              <a:lnSpc>
                <a:spcPct val="110000"/>
              </a:lnSpc>
            </a:pPr>
            <a:r>
              <a:rPr lang="fr-FR" sz="2400" b="1" u="sng" dirty="0">
                <a:latin typeface="Figtree"/>
              </a:rPr>
              <a:t>l'IA n'est pas un Expert Immobilier</a:t>
            </a:r>
            <a:r>
              <a:rPr lang="fr-FR" sz="2400" b="1" dirty="0">
                <a:latin typeface="Figtree"/>
              </a:rPr>
              <a:t>, c'est un rédacteur très compétent qui ne sait, que ce que vous lui donnez</a:t>
            </a:r>
            <a:r>
              <a:rPr lang="fr-FR" sz="2400" dirty="0">
                <a:latin typeface="Figtree"/>
              </a:rPr>
              <a:t>. Plus vous lui donnez d'informations précises et structurées, plus son output est exploitable. Le métier de l'expert — la visite, le jugement, la responsabilité — reste irremplaçable. </a:t>
            </a:r>
            <a:r>
              <a:rPr lang="fr-FR" sz="2400" b="1" dirty="0">
                <a:latin typeface="Figtree"/>
              </a:rPr>
              <a:t>L'IA libère du temps sur la rédaction </a:t>
            </a:r>
            <a:r>
              <a:rPr lang="fr-FR" sz="2400" b="1" dirty="0">
                <a:solidFill>
                  <a:srgbClr val="FF0000"/>
                </a:solidFill>
                <a:latin typeface="Figtree"/>
              </a:rPr>
              <a:t>pour que l'expert se concentre sur l'analyse.</a:t>
            </a:r>
            <a:endParaRPr lang="en-US" sz="2400" b="1" dirty="0">
              <a:solidFill>
                <a:srgbClr val="FF0000"/>
              </a:solidFill>
              <a:latin typeface="Figtree"/>
              <a:ea typeface="Manrope Medium"/>
              <a:cs typeface="Manrope Medium"/>
              <a:sym typeface="Manrope Medium"/>
            </a:endParaRPr>
          </a:p>
        </p:txBody>
      </p:sp>
    </p:spTree>
    <p:extLst>
      <p:ext uri="{BB962C8B-B14F-4D97-AF65-F5344CB8AC3E}">
        <p14:creationId xmlns:p14="http://schemas.microsoft.com/office/powerpoint/2010/main" val="4182395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59A6179-525D-3DC2-1CEF-CB04A95823E2}"/>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E071D89-EA34-4864-3C09-8ECFBF93DF97}"/>
              </a:ext>
            </a:extLst>
          </p:cNvPr>
          <p:cNvSpPr>
            <a:spLocks noGrp="1"/>
          </p:cNvSpPr>
          <p:nvPr>
            <p:ph type="pic" sz="quarter" idx="10"/>
          </p:nvPr>
        </p:nvSpPr>
        <p:spPr>
          <a:xfrm>
            <a:off x="14514" y="15521"/>
            <a:ext cx="12192000" cy="6858000"/>
          </a:xfrm>
        </p:spPr>
        <p:txBody>
          <a:bodyPr/>
          <a:lstStyle/>
          <a:p>
            <a:endParaRPr lang="en-US" dirty="0"/>
          </a:p>
        </p:txBody>
      </p:sp>
      <p:sp>
        <p:nvSpPr>
          <p:cNvPr id="58" name="Rectangle: Rounded Corners 62">
            <a:extLst>
              <a:ext uri="{FF2B5EF4-FFF2-40B4-BE49-F238E27FC236}">
                <a16:creationId xmlns:a16="http://schemas.microsoft.com/office/drawing/2014/main" id="{FABB7D54-44BC-B973-070E-E3E5E6478625}"/>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Freeform: Shape 3">
            <a:extLst>
              <a:ext uri="{FF2B5EF4-FFF2-40B4-BE49-F238E27FC236}">
                <a16:creationId xmlns:a16="http://schemas.microsoft.com/office/drawing/2014/main" id="{D35AD313-CD12-A10A-EC96-8062D41DCD1F}"/>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Shape 4">
            <a:extLst>
              <a:ext uri="{FF2B5EF4-FFF2-40B4-BE49-F238E27FC236}">
                <a16:creationId xmlns:a16="http://schemas.microsoft.com/office/drawing/2014/main" id="{F9437BD6-2C62-29DD-6B7E-85FE079ADBE0}"/>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2E9F6B77-7CD7-405C-C69F-B6683B19432E}"/>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7641972-2D1F-A0BE-E794-04AE77C023B1}"/>
              </a:ext>
            </a:extLst>
          </p:cNvPr>
          <p:cNvSpPr txBox="1"/>
          <p:nvPr/>
        </p:nvSpPr>
        <p:spPr>
          <a:xfrm>
            <a:off x="14514" y="728629"/>
            <a:ext cx="12192000" cy="1015663"/>
          </a:xfrm>
          <a:prstGeom prst="rect">
            <a:avLst/>
          </a:prstGeom>
          <a:noFill/>
        </p:spPr>
        <p:txBody>
          <a:bodyPr wrap="square" rtlCol="0">
            <a:spAutoFit/>
          </a:bodyPr>
          <a:lstStyle/>
          <a:p>
            <a:pPr algn="ctr"/>
            <a:r>
              <a:rPr lang="fr-FR" sz="6000" dirty="0">
                <a:solidFill>
                  <a:schemeClr val="bg1"/>
                </a:solidFill>
                <a:latin typeface="Space Grotesk Medium" pitchFamily="2" charset="0"/>
              </a:rPr>
              <a:t>Module 1</a:t>
            </a:r>
            <a:endParaRPr lang="en-US" sz="6000" dirty="0">
              <a:solidFill>
                <a:schemeClr val="bg1"/>
              </a:solidFill>
              <a:latin typeface="Space Grotesk Medium" pitchFamily="2" charset="0"/>
            </a:endParaRPr>
          </a:p>
        </p:txBody>
      </p:sp>
      <p:sp>
        <p:nvSpPr>
          <p:cNvPr id="9" name="Rectangle: Rounded Corners 14">
            <a:extLst>
              <a:ext uri="{FF2B5EF4-FFF2-40B4-BE49-F238E27FC236}">
                <a16:creationId xmlns:a16="http://schemas.microsoft.com/office/drawing/2014/main" id="{36997E8C-DA0D-88EC-3EB4-8F1E88852B49}"/>
              </a:ext>
            </a:extLst>
          </p:cNvPr>
          <p:cNvSpPr/>
          <p:nvPr/>
        </p:nvSpPr>
        <p:spPr>
          <a:xfrm>
            <a:off x="2399070" y="2481177"/>
            <a:ext cx="7641392"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7">
            <a:extLst>
              <a:ext uri="{FF2B5EF4-FFF2-40B4-BE49-F238E27FC236}">
                <a16:creationId xmlns:a16="http://schemas.microsoft.com/office/drawing/2014/main" id="{1C9DE979-6A51-4C8F-AA52-81FB07247C29}"/>
              </a:ext>
            </a:extLst>
          </p:cNvPr>
          <p:cNvSpPr txBox="1"/>
          <p:nvPr/>
        </p:nvSpPr>
        <p:spPr>
          <a:xfrm>
            <a:off x="2399069" y="4059950"/>
            <a:ext cx="7641392" cy="50629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en-US" sz="2000" b="1" dirty="0" err="1">
                <a:solidFill>
                  <a:schemeClr val="tx2">
                    <a:alpha val="60000"/>
                  </a:schemeClr>
                </a:solidFill>
              </a:rPr>
              <a:t>Comprendre</a:t>
            </a:r>
            <a:r>
              <a:rPr lang="en-US" sz="2000" b="1" dirty="0">
                <a:solidFill>
                  <a:schemeClr val="tx2">
                    <a:alpha val="60000"/>
                  </a:schemeClr>
                </a:solidFill>
              </a:rPr>
              <a:t> </a:t>
            </a:r>
            <a:r>
              <a:rPr lang="en-US" sz="2000" b="1" dirty="0" err="1">
                <a:solidFill>
                  <a:schemeClr val="tx2">
                    <a:alpha val="60000"/>
                  </a:schemeClr>
                </a:solidFill>
              </a:rPr>
              <a:t>ce</a:t>
            </a:r>
            <a:r>
              <a:rPr lang="en-US" sz="2000" b="1" dirty="0">
                <a:solidFill>
                  <a:schemeClr val="tx2">
                    <a:alpha val="60000"/>
                  </a:schemeClr>
                </a:solidFill>
              </a:rPr>
              <a:t> </a:t>
            </a:r>
            <a:r>
              <a:rPr lang="en-US" sz="2000" b="1" dirty="0" err="1">
                <a:solidFill>
                  <a:schemeClr val="tx2">
                    <a:alpha val="60000"/>
                  </a:schemeClr>
                </a:solidFill>
              </a:rPr>
              <a:t>qu’est</a:t>
            </a:r>
            <a:r>
              <a:rPr lang="en-US" sz="2000" b="1" dirty="0">
                <a:solidFill>
                  <a:schemeClr val="tx2">
                    <a:alpha val="60000"/>
                  </a:schemeClr>
                </a:solidFill>
              </a:rPr>
              <a:t> </a:t>
            </a:r>
            <a:r>
              <a:rPr lang="en-US" sz="2000" b="1" dirty="0" err="1">
                <a:solidFill>
                  <a:schemeClr val="tx2">
                    <a:alpha val="60000"/>
                  </a:schemeClr>
                </a:solidFill>
              </a:rPr>
              <a:t>l’IA</a:t>
            </a:r>
            <a:r>
              <a:rPr lang="en-US" sz="2000" b="1" dirty="0">
                <a:solidFill>
                  <a:schemeClr val="tx2">
                    <a:alpha val="60000"/>
                  </a:schemeClr>
                </a:solidFill>
              </a:rPr>
              <a:t>, </a:t>
            </a:r>
            <a:r>
              <a:rPr lang="en-US" sz="2000" b="1" dirty="0" err="1">
                <a:solidFill>
                  <a:schemeClr val="tx2">
                    <a:alpha val="60000"/>
                  </a:schemeClr>
                </a:solidFill>
              </a:rPr>
              <a:t>ses</a:t>
            </a:r>
            <a:r>
              <a:rPr lang="en-US" sz="2000" b="1" dirty="0">
                <a:solidFill>
                  <a:schemeClr val="tx2">
                    <a:alpha val="60000"/>
                  </a:schemeClr>
                </a:solidFill>
              </a:rPr>
              <a:t> </a:t>
            </a:r>
            <a:r>
              <a:rPr lang="en-US" sz="2000" b="1" dirty="0" err="1">
                <a:solidFill>
                  <a:schemeClr val="tx2">
                    <a:alpha val="60000"/>
                  </a:schemeClr>
                </a:solidFill>
              </a:rPr>
              <a:t>limites</a:t>
            </a:r>
            <a:r>
              <a:rPr lang="en-US" sz="2000" b="1" dirty="0">
                <a:solidFill>
                  <a:schemeClr val="tx2">
                    <a:alpha val="60000"/>
                  </a:schemeClr>
                </a:solidFill>
              </a:rPr>
              <a:t> et son </a:t>
            </a:r>
            <a:r>
              <a:rPr lang="en-US" sz="2000" b="1" dirty="0" err="1">
                <a:solidFill>
                  <a:schemeClr val="tx2">
                    <a:alpha val="60000"/>
                  </a:schemeClr>
                </a:solidFill>
              </a:rPr>
              <a:t>rôle</a:t>
            </a:r>
            <a:r>
              <a:rPr lang="en-US" sz="2000" b="1" dirty="0">
                <a:solidFill>
                  <a:schemeClr val="tx2">
                    <a:alpha val="60000"/>
                  </a:schemeClr>
                </a:solidFill>
              </a:rPr>
              <a:t> </a:t>
            </a:r>
            <a:r>
              <a:rPr lang="en-US" sz="2000" b="1" dirty="0" err="1">
                <a:solidFill>
                  <a:schemeClr val="tx2">
                    <a:alpha val="60000"/>
                  </a:schemeClr>
                </a:solidFill>
              </a:rPr>
              <a:t>d’assistant</a:t>
            </a:r>
            <a:r>
              <a:rPr lang="en-US" sz="2000" b="1" dirty="0">
                <a:solidFill>
                  <a:schemeClr val="tx2">
                    <a:alpha val="60000"/>
                  </a:schemeClr>
                </a:solidFill>
              </a:rPr>
              <a:t> à </a:t>
            </a:r>
            <a:r>
              <a:rPr lang="en-US" sz="2000" b="1" dirty="0" err="1">
                <a:solidFill>
                  <a:schemeClr val="tx2">
                    <a:alpha val="60000"/>
                  </a:schemeClr>
                </a:solidFill>
              </a:rPr>
              <a:t>l’expert</a:t>
            </a:r>
            <a:endParaRPr lang="en-US" sz="2000" b="1" dirty="0">
              <a:solidFill>
                <a:schemeClr val="tx2">
                  <a:alpha val="60000"/>
                </a:schemeClr>
              </a:solidFill>
            </a:endParaRPr>
          </a:p>
        </p:txBody>
      </p:sp>
      <p:sp>
        <p:nvSpPr>
          <p:cNvPr id="13" name="TextBox 1">
            <a:extLst>
              <a:ext uri="{FF2B5EF4-FFF2-40B4-BE49-F238E27FC236}">
                <a16:creationId xmlns:a16="http://schemas.microsoft.com/office/drawing/2014/main" id="{0C54BAB4-DF3E-5775-C11B-E1904A9F029C}"/>
              </a:ext>
            </a:extLst>
          </p:cNvPr>
          <p:cNvSpPr txBox="1"/>
          <p:nvPr/>
        </p:nvSpPr>
        <p:spPr>
          <a:xfrm>
            <a:off x="2399070" y="2503999"/>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Panorama de l'IA pour les experts immobiliers</a:t>
            </a:r>
            <a:endParaRPr lang="en-US" sz="4400" dirty="0">
              <a:solidFill>
                <a:schemeClr val="tx2"/>
              </a:solidFill>
              <a:latin typeface="Space Grotesk Medium" pitchFamily="2" charset="0"/>
            </a:endParaRPr>
          </a:p>
        </p:txBody>
      </p:sp>
    </p:spTree>
    <p:extLst>
      <p:ext uri="{BB962C8B-B14F-4D97-AF65-F5344CB8AC3E}">
        <p14:creationId xmlns:p14="http://schemas.microsoft.com/office/powerpoint/2010/main" val="3748761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A307271-CBB5-A2A9-0EE8-F48E3E2DFC72}"/>
              </a:ext>
            </a:extLst>
          </p:cNvPr>
          <p:cNvSpPr/>
          <p:nvPr/>
        </p:nvSpPr>
        <p:spPr>
          <a:xfrm>
            <a:off x="3495795" y="279980"/>
            <a:ext cx="7641392"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E439D3FE-C0A0-A6B8-1ACB-456DFB373E09}"/>
              </a:ext>
            </a:extLst>
          </p:cNvPr>
          <p:cNvSpPr txBox="1"/>
          <p:nvPr/>
        </p:nvSpPr>
        <p:spPr>
          <a:xfrm>
            <a:off x="3495794" y="1858753"/>
            <a:ext cx="7641392" cy="50629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en-US" sz="2000" b="1" dirty="0" err="1">
                <a:solidFill>
                  <a:schemeClr val="tx2">
                    <a:alpha val="60000"/>
                  </a:schemeClr>
                </a:solidFill>
              </a:rPr>
              <a:t>Comprendre</a:t>
            </a:r>
            <a:r>
              <a:rPr lang="en-US" sz="2000" b="1" dirty="0">
                <a:solidFill>
                  <a:schemeClr val="tx2">
                    <a:alpha val="60000"/>
                  </a:schemeClr>
                </a:solidFill>
              </a:rPr>
              <a:t> </a:t>
            </a:r>
            <a:r>
              <a:rPr lang="en-US" sz="2000" b="1" dirty="0" err="1">
                <a:solidFill>
                  <a:schemeClr val="tx2">
                    <a:alpha val="60000"/>
                  </a:schemeClr>
                </a:solidFill>
              </a:rPr>
              <a:t>ce</a:t>
            </a:r>
            <a:r>
              <a:rPr lang="en-US" sz="2000" b="1" dirty="0">
                <a:solidFill>
                  <a:schemeClr val="tx2">
                    <a:alpha val="60000"/>
                  </a:schemeClr>
                </a:solidFill>
              </a:rPr>
              <a:t> </a:t>
            </a:r>
            <a:r>
              <a:rPr lang="en-US" sz="2000" b="1" dirty="0" err="1">
                <a:solidFill>
                  <a:schemeClr val="tx2">
                    <a:alpha val="60000"/>
                  </a:schemeClr>
                </a:solidFill>
              </a:rPr>
              <a:t>qu’est</a:t>
            </a:r>
            <a:r>
              <a:rPr lang="en-US" sz="2000" b="1" dirty="0">
                <a:solidFill>
                  <a:schemeClr val="tx2">
                    <a:alpha val="60000"/>
                  </a:schemeClr>
                </a:solidFill>
              </a:rPr>
              <a:t> </a:t>
            </a:r>
            <a:r>
              <a:rPr lang="en-US" sz="2000" b="1" dirty="0" err="1">
                <a:solidFill>
                  <a:schemeClr val="tx2">
                    <a:alpha val="60000"/>
                  </a:schemeClr>
                </a:solidFill>
              </a:rPr>
              <a:t>l’IA</a:t>
            </a:r>
            <a:r>
              <a:rPr lang="en-US" sz="2000" b="1" dirty="0">
                <a:solidFill>
                  <a:schemeClr val="tx2">
                    <a:alpha val="60000"/>
                  </a:schemeClr>
                </a:solidFill>
              </a:rPr>
              <a:t>, </a:t>
            </a:r>
            <a:r>
              <a:rPr lang="en-US" sz="2000" b="1" dirty="0" err="1">
                <a:solidFill>
                  <a:schemeClr val="tx2">
                    <a:alpha val="60000"/>
                  </a:schemeClr>
                </a:solidFill>
              </a:rPr>
              <a:t>ses</a:t>
            </a:r>
            <a:r>
              <a:rPr lang="en-US" sz="2000" b="1" dirty="0">
                <a:solidFill>
                  <a:schemeClr val="tx2">
                    <a:alpha val="60000"/>
                  </a:schemeClr>
                </a:solidFill>
              </a:rPr>
              <a:t> </a:t>
            </a:r>
            <a:r>
              <a:rPr lang="en-US" sz="2000" b="1" dirty="0" err="1">
                <a:solidFill>
                  <a:schemeClr val="tx2">
                    <a:alpha val="60000"/>
                  </a:schemeClr>
                </a:solidFill>
              </a:rPr>
              <a:t>limites</a:t>
            </a:r>
            <a:r>
              <a:rPr lang="en-US" sz="2000" b="1" dirty="0">
                <a:solidFill>
                  <a:schemeClr val="tx2">
                    <a:alpha val="60000"/>
                  </a:schemeClr>
                </a:solidFill>
              </a:rPr>
              <a:t> et son </a:t>
            </a:r>
            <a:r>
              <a:rPr lang="en-US" sz="2000" b="1" dirty="0" err="1">
                <a:solidFill>
                  <a:schemeClr val="tx2">
                    <a:alpha val="60000"/>
                  </a:schemeClr>
                </a:solidFill>
              </a:rPr>
              <a:t>rôle</a:t>
            </a:r>
            <a:r>
              <a:rPr lang="en-US" sz="2000" b="1" dirty="0">
                <a:solidFill>
                  <a:schemeClr val="tx2">
                    <a:alpha val="60000"/>
                  </a:schemeClr>
                </a:solidFill>
              </a:rPr>
              <a:t> </a:t>
            </a:r>
            <a:r>
              <a:rPr lang="en-US" sz="2000" b="1" dirty="0" err="1">
                <a:solidFill>
                  <a:schemeClr val="tx2">
                    <a:alpha val="60000"/>
                  </a:schemeClr>
                </a:solidFill>
              </a:rPr>
              <a:t>d’assistant</a:t>
            </a:r>
            <a:r>
              <a:rPr lang="en-US" sz="2000" b="1" dirty="0">
                <a:solidFill>
                  <a:schemeClr val="tx2">
                    <a:alpha val="60000"/>
                  </a:schemeClr>
                </a:solidFill>
              </a:rPr>
              <a:t> à </a:t>
            </a:r>
            <a:r>
              <a:rPr lang="en-US" sz="2000" b="1" dirty="0" err="1">
                <a:solidFill>
                  <a:schemeClr val="tx2">
                    <a:alpha val="60000"/>
                  </a:schemeClr>
                </a:solidFill>
              </a:rPr>
              <a:t>l’expert</a:t>
            </a:r>
            <a:endParaRPr lang="en-US" sz="2000" b="1" dirty="0">
              <a:solidFill>
                <a:schemeClr val="tx2">
                  <a:alpha val="60000"/>
                </a:schemeClr>
              </a:solidFill>
            </a:endParaRPr>
          </a:p>
        </p:txBody>
      </p:sp>
      <p:sp>
        <p:nvSpPr>
          <p:cNvPr id="3" name="Oval 2">
            <a:extLst>
              <a:ext uri="{FF2B5EF4-FFF2-40B4-BE49-F238E27FC236}">
                <a16:creationId xmlns:a16="http://schemas.microsoft.com/office/drawing/2014/main" id="{BBC2392F-D2F4-5A54-C721-1F8B35BFF31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5967E59-389D-2121-BDE9-DFC9CDB8AAB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EA6CF110-A74E-A875-6B31-59EF6F700A3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9543D8D-E062-2E7E-C341-27B2305D718C}"/>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Panorama de l'IA pour les experts immobiliers</a:t>
            </a:r>
            <a:endParaRPr lang="en-US" sz="4400" dirty="0">
              <a:solidFill>
                <a:schemeClr val="tx2"/>
              </a:solidFill>
              <a:latin typeface="Space Grotesk Medium" pitchFamily="2" charset="0"/>
            </a:endParaRPr>
          </a:p>
        </p:txBody>
      </p:sp>
      <p:sp>
        <p:nvSpPr>
          <p:cNvPr id="13" name="Freeform: Shape 3">
            <a:extLst>
              <a:ext uri="{FF2B5EF4-FFF2-40B4-BE49-F238E27FC236}">
                <a16:creationId xmlns:a16="http://schemas.microsoft.com/office/drawing/2014/main" id="{772B41BB-D0C4-D2EB-7FCF-4E495467D470}"/>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Rectangle: Rounded Corners 14">
            <a:extLst>
              <a:ext uri="{FF2B5EF4-FFF2-40B4-BE49-F238E27FC236}">
                <a16:creationId xmlns:a16="http://schemas.microsoft.com/office/drawing/2014/main" id="{AAB63D67-1B9E-0B96-012C-FD82DA97A083}"/>
              </a:ext>
            </a:extLst>
          </p:cNvPr>
          <p:cNvSpPr/>
          <p:nvPr/>
        </p:nvSpPr>
        <p:spPr>
          <a:xfrm>
            <a:off x="1712702" y="3229676"/>
            <a:ext cx="274907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TextBox 1">
            <a:extLst>
              <a:ext uri="{FF2B5EF4-FFF2-40B4-BE49-F238E27FC236}">
                <a16:creationId xmlns:a16="http://schemas.microsoft.com/office/drawing/2014/main" id="{78BDAA6B-BCD7-004D-511E-0FAE83352DF9}"/>
              </a:ext>
            </a:extLst>
          </p:cNvPr>
          <p:cNvSpPr txBox="1"/>
          <p:nvPr/>
        </p:nvSpPr>
        <p:spPr>
          <a:xfrm>
            <a:off x="1712702" y="3358401"/>
            <a:ext cx="3114676" cy="830997"/>
          </a:xfrm>
          <a:prstGeom prst="rect">
            <a:avLst/>
          </a:prstGeom>
          <a:noFill/>
        </p:spPr>
        <p:txBody>
          <a:bodyPr wrap="square" rtlCol="0">
            <a:spAutoFit/>
          </a:bodyPr>
          <a:lstStyle/>
          <a:p>
            <a:r>
              <a:rPr lang="fr-FR" sz="2400" dirty="0">
                <a:solidFill>
                  <a:schemeClr val="tx2"/>
                </a:solidFill>
                <a:latin typeface="Figtree"/>
              </a:rPr>
              <a:t>Qu'est-ce qu'un modèle de langage ?</a:t>
            </a:r>
            <a:endParaRPr lang="en-US" sz="2400" dirty="0">
              <a:solidFill>
                <a:schemeClr val="tx2"/>
              </a:solidFill>
              <a:latin typeface="Figtree"/>
            </a:endParaRPr>
          </a:p>
        </p:txBody>
      </p:sp>
      <p:grpSp>
        <p:nvGrpSpPr>
          <p:cNvPr id="47" name="Groupe 46">
            <a:extLst>
              <a:ext uri="{FF2B5EF4-FFF2-40B4-BE49-F238E27FC236}">
                <a16:creationId xmlns:a16="http://schemas.microsoft.com/office/drawing/2014/main" id="{701AD45B-B5F0-B25B-9F55-2A631C9DAA69}"/>
              </a:ext>
            </a:extLst>
          </p:cNvPr>
          <p:cNvGrpSpPr/>
          <p:nvPr/>
        </p:nvGrpSpPr>
        <p:grpSpPr>
          <a:xfrm>
            <a:off x="1275005" y="3599041"/>
            <a:ext cx="349715" cy="349715"/>
            <a:chOff x="406195" y="3079285"/>
            <a:chExt cx="495856" cy="495856"/>
          </a:xfrm>
        </p:grpSpPr>
        <p:sp>
          <p:nvSpPr>
            <p:cNvPr id="44" name="Oval 15">
              <a:extLst>
                <a:ext uri="{FF2B5EF4-FFF2-40B4-BE49-F238E27FC236}">
                  <a16:creationId xmlns:a16="http://schemas.microsoft.com/office/drawing/2014/main" id="{9020C311-5731-8446-ACB3-0685C9680EAD}"/>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16">
              <a:extLst>
                <a:ext uri="{FF2B5EF4-FFF2-40B4-BE49-F238E27FC236}">
                  <a16:creationId xmlns:a16="http://schemas.microsoft.com/office/drawing/2014/main" id="{A59C36B9-5CE7-BDEA-8BB8-8CB30A3D25D1}"/>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48" name="Rectangle: Rounded Corners 14">
            <a:extLst>
              <a:ext uri="{FF2B5EF4-FFF2-40B4-BE49-F238E27FC236}">
                <a16:creationId xmlns:a16="http://schemas.microsoft.com/office/drawing/2014/main" id="{A90CD63D-8C00-ADC7-9A7B-C044CE932D83}"/>
              </a:ext>
            </a:extLst>
          </p:cNvPr>
          <p:cNvSpPr/>
          <p:nvPr/>
        </p:nvSpPr>
        <p:spPr>
          <a:xfrm>
            <a:off x="7288388" y="3232082"/>
            <a:ext cx="293914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9" name="Groupe 48">
            <a:extLst>
              <a:ext uri="{FF2B5EF4-FFF2-40B4-BE49-F238E27FC236}">
                <a16:creationId xmlns:a16="http://schemas.microsoft.com/office/drawing/2014/main" id="{5CB3A4A1-74CF-F310-F4E3-8FF92DA43B08}"/>
              </a:ext>
            </a:extLst>
          </p:cNvPr>
          <p:cNvGrpSpPr/>
          <p:nvPr/>
        </p:nvGrpSpPr>
        <p:grpSpPr>
          <a:xfrm>
            <a:off x="6882671" y="3599041"/>
            <a:ext cx="349715" cy="349715"/>
            <a:chOff x="406195" y="3079285"/>
            <a:chExt cx="495856" cy="495856"/>
          </a:xfrm>
        </p:grpSpPr>
        <p:sp>
          <p:nvSpPr>
            <p:cNvPr id="50" name="Oval 15">
              <a:extLst>
                <a:ext uri="{FF2B5EF4-FFF2-40B4-BE49-F238E27FC236}">
                  <a16:creationId xmlns:a16="http://schemas.microsoft.com/office/drawing/2014/main" id="{F5859B56-FD77-5A7E-D835-9C73EDD6B9C7}"/>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1" name="Straight Arrow Connector 16">
              <a:extLst>
                <a:ext uri="{FF2B5EF4-FFF2-40B4-BE49-F238E27FC236}">
                  <a16:creationId xmlns:a16="http://schemas.microsoft.com/office/drawing/2014/main" id="{449485A5-53B9-21FC-E578-67FF5D91D5EE}"/>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19" name="TextBox 1">
            <a:extLst>
              <a:ext uri="{FF2B5EF4-FFF2-40B4-BE49-F238E27FC236}">
                <a16:creationId xmlns:a16="http://schemas.microsoft.com/office/drawing/2014/main" id="{43D0325F-CD01-B8B3-B8DD-4FFF48A4CC3F}"/>
              </a:ext>
            </a:extLst>
          </p:cNvPr>
          <p:cNvSpPr txBox="1"/>
          <p:nvPr/>
        </p:nvSpPr>
        <p:spPr>
          <a:xfrm>
            <a:off x="7288388" y="3334909"/>
            <a:ext cx="3114676" cy="830997"/>
          </a:xfrm>
          <a:prstGeom prst="rect">
            <a:avLst/>
          </a:prstGeom>
          <a:noFill/>
        </p:spPr>
        <p:txBody>
          <a:bodyPr wrap="square" rtlCol="0">
            <a:spAutoFit/>
          </a:bodyPr>
          <a:lstStyle/>
          <a:p>
            <a:r>
              <a:rPr lang="fr-FR" sz="2400" dirty="0">
                <a:solidFill>
                  <a:schemeClr val="tx2"/>
                </a:solidFill>
                <a:latin typeface="Figtree"/>
              </a:rPr>
              <a:t>Différence entre IA générative et logiciels</a:t>
            </a:r>
            <a:endParaRPr lang="en-US" sz="2400" dirty="0">
              <a:solidFill>
                <a:schemeClr val="tx2"/>
              </a:solidFill>
              <a:latin typeface="Figtree"/>
            </a:endParaRPr>
          </a:p>
        </p:txBody>
      </p:sp>
      <p:sp>
        <p:nvSpPr>
          <p:cNvPr id="52" name="Rectangle: Rounded Corners 14">
            <a:extLst>
              <a:ext uri="{FF2B5EF4-FFF2-40B4-BE49-F238E27FC236}">
                <a16:creationId xmlns:a16="http://schemas.microsoft.com/office/drawing/2014/main" id="{CA4CDA22-FD4F-CF37-446A-1424A68AB074}"/>
              </a:ext>
            </a:extLst>
          </p:cNvPr>
          <p:cNvSpPr/>
          <p:nvPr/>
        </p:nvSpPr>
        <p:spPr>
          <a:xfrm>
            <a:off x="7288388" y="4469061"/>
            <a:ext cx="293914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3" name="Groupe 52">
            <a:extLst>
              <a:ext uri="{FF2B5EF4-FFF2-40B4-BE49-F238E27FC236}">
                <a16:creationId xmlns:a16="http://schemas.microsoft.com/office/drawing/2014/main" id="{C9140D80-E62F-0919-85D7-B85F9DAA2CE8}"/>
              </a:ext>
            </a:extLst>
          </p:cNvPr>
          <p:cNvGrpSpPr/>
          <p:nvPr/>
        </p:nvGrpSpPr>
        <p:grpSpPr>
          <a:xfrm>
            <a:off x="6882671" y="4836020"/>
            <a:ext cx="349715" cy="349715"/>
            <a:chOff x="406195" y="3079285"/>
            <a:chExt cx="495856" cy="495856"/>
          </a:xfrm>
        </p:grpSpPr>
        <p:sp>
          <p:nvSpPr>
            <p:cNvPr id="54" name="Oval 15">
              <a:extLst>
                <a:ext uri="{FF2B5EF4-FFF2-40B4-BE49-F238E27FC236}">
                  <a16:creationId xmlns:a16="http://schemas.microsoft.com/office/drawing/2014/main" id="{AC3AF1D6-DB85-B5C7-0E04-31A920951A79}"/>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5" name="Straight Arrow Connector 16">
              <a:extLst>
                <a:ext uri="{FF2B5EF4-FFF2-40B4-BE49-F238E27FC236}">
                  <a16:creationId xmlns:a16="http://schemas.microsoft.com/office/drawing/2014/main" id="{79B95FF9-8ADF-CD0A-DBB6-6FBF0F8D50E4}"/>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32" name="TextBox 1">
            <a:extLst>
              <a:ext uri="{FF2B5EF4-FFF2-40B4-BE49-F238E27FC236}">
                <a16:creationId xmlns:a16="http://schemas.microsoft.com/office/drawing/2014/main" id="{8AC252A2-AC67-DD46-CBF7-1BEE9F9C2B4D}"/>
              </a:ext>
            </a:extLst>
          </p:cNvPr>
          <p:cNvSpPr txBox="1"/>
          <p:nvPr/>
        </p:nvSpPr>
        <p:spPr>
          <a:xfrm>
            <a:off x="7364622" y="4785707"/>
            <a:ext cx="3114676" cy="461665"/>
          </a:xfrm>
          <a:prstGeom prst="rect">
            <a:avLst/>
          </a:prstGeom>
          <a:noFill/>
        </p:spPr>
        <p:txBody>
          <a:bodyPr wrap="square" rtlCol="0">
            <a:spAutoFit/>
          </a:bodyPr>
          <a:lstStyle/>
          <a:p>
            <a:r>
              <a:rPr lang="fr-FR" sz="2400" dirty="0"/>
              <a:t>Tour d'horizon des IA</a:t>
            </a:r>
            <a:endParaRPr lang="en-US" sz="2400" dirty="0">
              <a:solidFill>
                <a:schemeClr val="tx2"/>
              </a:solidFill>
              <a:latin typeface="Space Grotesk Medium" pitchFamily="2" charset="0"/>
            </a:endParaRPr>
          </a:p>
        </p:txBody>
      </p:sp>
      <p:sp>
        <p:nvSpPr>
          <p:cNvPr id="56" name="Rectangle: Rounded Corners 14">
            <a:extLst>
              <a:ext uri="{FF2B5EF4-FFF2-40B4-BE49-F238E27FC236}">
                <a16:creationId xmlns:a16="http://schemas.microsoft.com/office/drawing/2014/main" id="{06B54220-B1EE-38D6-DD61-4FB589376D0F}"/>
              </a:ext>
            </a:extLst>
          </p:cNvPr>
          <p:cNvSpPr/>
          <p:nvPr/>
        </p:nvSpPr>
        <p:spPr>
          <a:xfrm>
            <a:off x="1711863" y="4628683"/>
            <a:ext cx="293914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7" name="Groupe 56">
            <a:extLst>
              <a:ext uri="{FF2B5EF4-FFF2-40B4-BE49-F238E27FC236}">
                <a16:creationId xmlns:a16="http://schemas.microsoft.com/office/drawing/2014/main" id="{E8358DCA-332F-66D5-50DB-A75F3E0E7509}"/>
              </a:ext>
            </a:extLst>
          </p:cNvPr>
          <p:cNvGrpSpPr/>
          <p:nvPr/>
        </p:nvGrpSpPr>
        <p:grpSpPr>
          <a:xfrm>
            <a:off x="1306146" y="4836020"/>
            <a:ext cx="349715" cy="349715"/>
            <a:chOff x="406195" y="3079285"/>
            <a:chExt cx="495856" cy="495856"/>
          </a:xfrm>
        </p:grpSpPr>
        <p:sp>
          <p:nvSpPr>
            <p:cNvPr id="58" name="Oval 15">
              <a:extLst>
                <a:ext uri="{FF2B5EF4-FFF2-40B4-BE49-F238E27FC236}">
                  <a16:creationId xmlns:a16="http://schemas.microsoft.com/office/drawing/2014/main" id="{2659FE16-3B9A-D819-97BC-5F5F3BDF49EB}"/>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9" name="Straight Arrow Connector 16">
              <a:extLst>
                <a:ext uri="{FF2B5EF4-FFF2-40B4-BE49-F238E27FC236}">
                  <a16:creationId xmlns:a16="http://schemas.microsoft.com/office/drawing/2014/main" id="{4BDC0B7B-64FC-6387-7517-12510572070D}"/>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21" name="TextBox 1">
            <a:extLst>
              <a:ext uri="{FF2B5EF4-FFF2-40B4-BE49-F238E27FC236}">
                <a16:creationId xmlns:a16="http://schemas.microsoft.com/office/drawing/2014/main" id="{EEC8B0EF-C886-60A2-A93B-BC92EA5B03E9}"/>
              </a:ext>
            </a:extLst>
          </p:cNvPr>
          <p:cNvSpPr txBox="1"/>
          <p:nvPr/>
        </p:nvSpPr>
        <p:spPr>
          <a:xfrm>
            <a:off x="1791203" y="4730108"/>
            <a:ext cx="2915808" cy="830997"/>
          </a:xfrm>
          <a:prstGeom prst="rect">
            <a:avLst/>
          </a:prstGeom>
          <a:noFill/>
        </p:spPr>
        <p:txBody>
          <a:bodyPr wrap="square" rtlCol="0">
            <a:spAutoFit/>
          </a:bodyPr>
          <a:lstStyle/>
          <a:p>
            <a:r>
              <a:rPr lang="fr-FR" sz="2400" dirty="0">
                <a:latin typeface="Figtree"/>
              </a:rPr>
              <a:t>Ce que l'IA fait bien</a:t>
            </a:r>
          </a:p>
          <a:p>
            <a:r>
              <a:rPr lang="fr-FR" sz="2400" dirty="0">
                <a:latin typeface="Figtree"/>
              </a:rPr>
              <a:t>Ce que l’IA ne fait pas</a:t>
            </a:r>
            <a:endParaRPr lang="en-US" sz="2400" dirty="0">
              <a:solidFill>
                <a:schemeClr val="tx2"/>
              </a:solidFill>
              <a:latin typeface="Figtree"/>
            </a:endParaRPr>
          </a:p>
        </p:txBody>
      </p:sp>
    </p:spTree>
    <p:extLst>
      <p:ext uri="{BB962C8B-B14F-4D97-AF65-F5344CB8AC3E}">
        <p14:creationId xmlns:p14="http://schemas.microsoft.com/office/powerpoint/2010/main" val="3151669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BDB86C0-D8E8-630F-9204-BB325CA5872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1AE5BF10-FF3C-FFD8-5C34-8E9B56700CD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59AF89-0913-F096-FAD5-5C1AA6BF950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198BA5FE-E231-4ECD-2B5D-7CC2030816E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8501E6A9-BFE8-A36B-ED2D-1AEAECA1860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30AE1881-EE01-2A8B-8812-4689E3A352A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intro</a:t>
            </a:r>
            <a:endParaRPr lang="en-US" sz="2000" b="1" dirty="0">
              <a:solidFill>
                <a:schemeClr val="accent2"/>
              </a:solidFill>
              <a:latin typeface="Space Grotesk Medium"/>
              <a:sym typeface="Manrope"/>
            </a:endParaRPr>
          </a:p>
        </p:txBody>
      </p:sp>
      <p:sp>
        <p:nvSpPr>
          <p:cNvPr id="7" name="ZoneTexte 6">
            <a:extLst>
              <a:ext uri="{FF2B5EF4-FFF2-40B4-BE49-F238E27FC236}">
                <a16:creationId xmlns:a16="http://schemas.microsoft.com/office/drawing/2014/main" id="{9A4FBD03-631F-7A6C-7B0E-32E1568C26E5}"/>
              </a:ext>
            </a:extLst>
          </p:cNvPr>
          <p:cNvSpPr txBox="1"/>
          <p:nvPr/>
        </p:nvSpPr>
        <p:spPr>
          <a:xfrm>
            <a:off x="1576764" y="3222040"/>
            <a:ext cx="9038472" cy="2585323"/>
          </a:xfrm>
          <a:prstGeom prst="rect">
            <a:avLst/>
          </a:prstGeom>
          <a:noFill/>
        </p:spPr>
        <p:txBody>
          <a:bodyPr wrap="square">
            <a:spAutoFit/>
          </a:bodyPr>
          <a:lstStyle/>
          <a:p>
            <a:pPr algn="ctr"/>
            <a:r>
              <a:rPr lang="fr-FR" sz="5400" dirty="0">
                <a:latin typeface="Figtree"/>
              </a:rPr>
              <a:t>Quand vous entendez intelligence artificielle, </a:t>
            </a:r>
          </a:p>
          <a:p>
            <a:pPr algn="ctr"/>
            <a:r>
              <a:rPr lang="fr-FR" sz="5400" dirty="0">
                <a:latin typeface="Figtree"/>
              </a:rPr>
              <a:t>à quoi pensez-vous</a:t>
            </a:r>
          </a:p>
        </p:txBody>
      </p:sp>
      <p:sp>
        <p:nvSpPr>
          <p:cNvPr id="40" name="Rectangle: Rounded Corners 14">
            <a:extLst>
              <a:ext uri="{FF2B5EF4-FFF2-40B4-BE49-F238E27FC236}">
                <a16:creationId xmlns:a16="http://schemas.microsoft.com/office/drawing/2014/main" id="{B7B3E898-7220-BB60-44F9-DA58431F675F}"/>
              </a:ext>
            </a:extLst>
          </p:cNvPr>
          <p:cNvSpPr/>
          <p:nvPr/>
        </p:nvSpPr>
        <p:spPr>
          <a:xfrm>
            <a:off x="3495795" y="279980"/>
            <a:ext cx="7641392"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2" name="TextBox 7">
            <a:extLst>
              <a:ext uri="{FF2B5EF4-FFF2-40B4-BE49-F238E27FC236}">
                <a16:creationId xmlns:a16="http://schemas.microsoft.com/office/drawing/2014/main" id="{D39C79B8-39A4-C3B5-0D3F-79AE97C473A3}"/>
              </a:ext>
            </a:extLst>
          </p:cNvPr>
          <p:cNvSpPr txBox="1"/>
          <p:nvPr/>
        </p:nvSpPr>
        <p:spPr>
          <a:xfrm>
            <a:off x="3495794" y="1858753"/>
            <a:ext cx="7641392" cy="50629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en-US" sz="2000" b="1" dirty="0" err="1">
                <a:solidFill>
                  <a:schemeClr val="tx2">
                    <a:alpha val="60000"/>
                  </a:schemeClr>
                </a:solidFill>
              </a:rPr>
              <a:t>Comprendre</a:t>
            </a:r>
            <a:r>
              <a:rPr lang="en-US" sz="2000" b="1" dirty="0">
                <a:solidFill>
                  <a:schemeClr val="tx2">
                    <a:alpha val="60000"/>
                  </a:schemeClr>
                </a:solidFill>
              </a:rPr>
              <a:t> </a:t>
            </a:r>
            <a:r>
              <a:rPr lang="en-US" sz="2000" b="1" dirty="0" err="1">
                <a:solidFill>
                  <a:schemeClr val="tx2">
                    <a:alpha val="60000"/>
                  </a:schemeClr>
                </a:solidFill>
              </a:rPr>
              <a:t>ce</a:t>
            </a:r>
            <a:r>
              <a:rPr lang="en-US" sz="2000" b="1" dirty="0">
                <a:solidFill>
                  <a:schemeClr val="tx2">
                    <a:alpha val="60000"/>
                  </a:schemeClr>
                </a:solidFill>
              </a:rPr>
              <a:t> </a:t>
            </a:r>
            <a:r>
              <a:rPr lang="en-US" sz="2000" b="1" dirty="0" err="1">
                <a:solidFill>
                  <a:schemeClr val="tx2">
                    <a:alpha val="60000"/>
                  </a:schemeClr>
                </a:solidFill>
              </a:rPr>
              <a:t>qu’est</a:t>
            </a:r>
            <a:r>
              <a:rPr lang="en-US" sz="2000" b="1" dirty="0">
                <a:solidFill>
                  <a:schemeClr val="tx2">
                    <a:alpha val="60000"/>
                  </a:schemeClr>
                </a:solidFill>
              </a:rPr>
              <a:t> </a:t>
            </a:r>
            <a:r>
              <a:rPr lang="en-US" sz="2000" b="1" dirty="0" err="1">
                <a:solidFill>
                  <a:schemeClr val="tx2">
                    <a:alpha val="60000"/>
                  </a:schemeClr>
                </a:solidFill>
              </a:rPr>
              <a:t>l’IA</a:t>
            </a:r>
            <a:r>
              <a:rPr lang="en-US" sz="2000" b="1" dirty="0">
                <a:solidFill>
                  <a:schemeClr val="tx2">
                    <a:alpha val="60000"/>
                  </a:schemeClr>
                </a:solidFill>
              </a:rPr>
              <a:t>, </a:t>
            </a:r>
            <a:r>
              <a:rPr lang="en-US" sz="2000" b="1" dirty="0" err="1">
                <a:solidFill>
                  <a:schemeClr val="tx2">
                    <a:alpha val="60000"/>
                  </a:schemeClr>
                </a:solidFill>
              </a:rPr>
              <a:t>ses</a:t>
            </a:r>
            <a:r>
              <a:rPr lang="en-US" sz="2000" b="1" dirty="0">
                <a:solidFill>
                  <a:schemeClr val="tx2">
                    <a:alpha val="60000"/>
                  </a:schemeClr>
                </a:solidFill>
              </a:rPr>
              <a:t> </a:t>
            </a:r>
            <a:r>
              <a:rPr lang="en-US" sz="2000" b="1" dirty="0" err="1">
                <a:solidFill>
                  <a:schemeClr val="tx2">
                    <a:alpha val="60000"/>
                  </a:schemeClr>
                </a:solidFill>
              </a:rPr>
              <a:t>limites</a:t>
            </a:r>
            <a:r>
              <a:rPr lang="en-US" sz="2000" b="1" dirty="0">
                <a:solidFill>
                  <a:schemeClr val="tx2">
                    <a:alpha val="60000"/>
                  </a:schemeClr>
                </a:solidFill>
              </a:rPr>
              <a:t> et son </a:t>
            </a:r>
            <a:r>
              <a:rPr lang="en-US" sz="2000" b="1" dirty="0" err="1">
                <a:solidFill>
                  <a:schemeClr val="tx2">
                    <a:alpha val="60000"/>
                  </a:schemeClr>
                </a:solidFill>
              </a:rPr>
              <a:t>rôle</a:t>
            </a:r>
            <a:r>
              <a:rPr lang="en-US" sz="2000" b="1" dirty="0">
                <a:solidFill>
                  <a:schemeClr val="tx2">
                    <a:alpha val="60000"/>
                  </a:schemeClr>
                </a:solidFill>
              </a:rPr>
              <a:t> </a:t>
            </a:r>
            <a:r>
              <a:rPr lang="en-US" sz="2000" b="1" dirty="0" err="1">
                <a:solidFill>
                  <a:schemeClr val="tx2">
                    <a:alpha val="60000"/>
                  </a:schemeClr>
                </a:solidFill>
              </a:rPr>
              <a:t>d’assistant</a:t>
            </a:r>
            <a:r>
              <a:rPr lang="en-US" sz="2000" b="1" dirty="0">
                <a:solidFill>
                  <a:schemeClr val="tx2">
                    <a:alpha val="60000"/>
                  </a:schemeClr>
                </a:solidFill>
              </a:rPr>
              <a:t> à </a:t>
            </a:r>
            <a:r>
              <a:rPr lang="en-US" sz="2000" b="1" dirty="0" err="1">
                <a:solidFill>
                  <a:schemeClr val="tx2">
                    <a:alpha val="60000"/>
                  </a:schemeClr>
                </a:solidFill>
              </a:rPr>
              <a:t>l’expert</a:t>
            </a:r>
            <a:endParaRPr lang="en-US" sz="2000" b="1" dirty="0">
              <a:solidFill>
                <a:schemeClr val="tx2">
                  <a:alpha val="60000"/>
                </a:schemeClr>
              </a:solidFill>
            </a:endParaRPr>
          </a:p>
        </p:txBody>
      </p:sp>
      <p:sp>
        <p:nvSpPr>
          <p:cNvPr id="46" name="TextBox 1">
            <a:extLst>
              <a:ext uri="{FF2B5EF4-FFF2-40B4-BE49-F238E27FC236}">
                <a16:creationId xmlns:a16="http://schemas.microsoft.com/office/drawing/2014/main" id="{F4B6630C-CB9E-5A6B-5AF2-2310418D11C8}"/>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Panorama de l'IA pour les experts immobiliers</a:t>
            </a:r>
            <a:endParaRPr lang="en-US" sz="4400" dirty="0">
              <a:solidFill>
                <a:schemeClr val="tx2"/>
              </a:solidFill>
              <a:latin typeface="Space Grotesk Medium" pitchFamily="2" charset="0"/>
            </a:endParaRPr>
          </a:p>
        </p:txBody>
      </p:sp>
      <p:sp>
        <p:nvSpPr>
          <p:cNvPr id="2" name="ZoneTexte 1">
            <a:extLst>
              <a:ext uri="{FF2B5EF4-FFF2-40B4-BE49-F238E27FC236}">
                <a16:creationId xmlns:a16="http://schemas.microsoft.com/office/drawing/2014/main" id="{FA0D941E-F175-C893-56FB-73A726D38178}"/>
              </a:ext>
            </a:extLst>
          </p:cNvPr>
          <p:cNvSpPr txBox="1"/>
          <p:nvPr/>
        </p:nvSpPr>
        <p:spPr>
          <a:xfrm>
            <a:off x="9409480" y="2988970"/>
            <a:ext cx="1338828" cy="3170099"/>
          </a:xfrm>
          <a:prstGeom prst="rect">
            <a:avLst/>
          </a:prstGeom>
          <a:noFill/>
        </p:spPr>
        <p:txBody>
          <a:bodyPr wrap="none" rtlCol="0">
            <a:spAutoFit/>
          </a:bodyPr>
          <a:lstStyle/>
          <a:p>
            <a:r>
              <a:rPr lang="fr-FR" sz="20000" dirty="0">
                <a:solidFill>
                  <a:schemeClr val="accent1">
                    <a:lumMod val="60000"/>
                    <a:lumOff val="40000"/>
                  </a:schemeClr>
                </a:solidFill>
                <a:latin typeface="Aeroportal" panose="020B0503040000000003" pitchFamily="34" charset="0"/>
              </a:rPr>
              <a:t>?</a:t>
            </a:r>
          </a:p>
        </p:txBody>
      </p:sp>
    </p:spTree>
    <p:extLst>
      <p:ext uri="{BB962C8B-B14F-4D97-AF65-F5344CB8AC3E}">
        <p14:creationId xmlns:p14="http://schemas.microsoft.com/office/powerpoint/2010/main" val="1925317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C78138E8-7629-C939-122F-F75387A386E4}"/>
              </a:ext>
              <a:ext uri="{C183D7F6-B498-43B3-948B-1728B52AA6E4}">
                <adec:decorative xmlns:adec="http://schemas.microsoft.com/office/drawing/2017/decorative" val="1"/>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7"/>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descr="Join at slido.com#32067267">
            <a:extLst>
              <a:ext uri="{FF2B5EF4-FFF2-40B4-BE49-F238E27FC236}">
                <a16:creationId xmlns:a16="http://schemas.microsoft.com/office/drawing/2014/main" id="{14617296-D1E1-B320-4DCD-BB39AEF1B67C}"/>
              </a:ext>
            </a:extLst>
          </p:cNvPr>
          <p:cNvSpPr/>
          <p:nvPr>
            <p:custDataLst>
              <p:tags r:id="rId3"/>
            </p:custDataLst>
          </p:nvPr>
        </p:nvSpPr>
        <p:spPr>
          <a:xfrm>
            <a:off x="3112851" y="1000897"/>
            <a:ext cx="8486226" cy="385530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4000" b="1" dirty="0">
                <a:solidFill>
                  <a:srgbClr val="000000"/>
                </a:solidFill>
              </a:rPr>
              <a:t>Join at slido.com</a:t>
            </a:r>
            <a:br>
              <a:rPr lang="da-DK" sz="4000" b="1" dirty="0">
                <a:solidFill>
                  <a:srgbClr val="000000"/>
                </a:solidFill>
              </a:rPr>
            </a:br>
            <a:r>
              <a:rPr lang="da-DK" sz="4000" b="1" dirty="0">
                <a:solidFill>
                  <a:srgbClr val="000000"/>
                </a:solidFill>
              </a:rPr>
              <a:t>#32067267</a:t>
            </a:r>
            <a:endParaRPr lang="fr-FR" sz="4000" b="1" dirty="0">
              <a:solidFill>
                <a:srgbClr val="000000"/>
              </a:solidFill>
            </a:endParaRPr>
          </a:p>
        </p:txBody>
      </p:sp>
      <p:sp>
        <p:nvSpPr>
          <p:cNvPr id="30" name="Rectangle 29" descr="The Slido app must be installed on every computer you’re presenting from">
            <a:extLst>
              <a:ext uri="{FF2B5EF4-FFF2-40B4-BE49-F238E27FC236}">
                <a16:creationId xmlns:a16="http://schemas.microsoft.com/office/drawing/2014/main" id="{3ACF4714-A29D-8E44-65B4-1B9208396C35}"/>
              </a:ext>
            </a:extLst>
          </p:cNvPr>
          <p:cNvSpPr/>
          <p:nvPr>
            <p:custDataLst>
              <p:tags r:id="rId4"/>
            </p:custDataLst>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fr-FR" sz="2600">
              <a:solidFill>
                <a:srgbClr val="FFFFFF"/>
              </a:solidFill>
            </a:endParaRPr>
          </a:p>
        </p:txBody>
      </p:sp>
      <p:pic>
        <p:nvPicPr>
          <p:cNvPr id="32" name="Graphique 31">
            <a:extLst>
              <a:ext uri="{FF2B5EF4-FFF2-40B4-BE49-F238E27FC236}">
                <a16:creationId xmlns:a16="http://schemas.microsoft.com/office/drawing/2014/main" id="{D47BAEB2-5A77-2B21-0EA2-9F83CD588F5B}"/>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33" name="Trapèze 32" descr="Do not edit&#10;How to change the design">
            <a:extLst>
              <a:ext uri="{FF2B5EF4-FFF2-40B4-BE49-F238E27FC236}">
                <a16:creationId xmlns:a16="http://schemas.microsoft.com/office/drawing/2014/main" id="{E87D5A5C-ABD2-8A8F-899A-EC496D333B7A}"/>
              </a:ext>
            </a:extLst>
          </p:cNvPr>
          <p:cNvSpPr/>
          <p:nvPr>
            <p:custDataLst>
              <p:tags r:id="rId5"/>
            </p:custDataLst>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fr-FR" sz="2200">
              <a:solidFill>
                <a:srgbClr val="198038"/>
              </a:solidFill>
            </a:endParaRPr>
          </a:p>
        </p:txBody>
      </p:sp>
      <p:pic>
        <p:nvPicPr>
          <p:cNvPr id="35" name="Graphique 34">
            <a:extLst>
              <a:ext uri="{FF2B5EF4-FFF2-40B4-BE49-F238E27FC236}">
                <a16:creationId xmlns:a16="http://schemas.microsoft.com/office/drawing/2014/main" id="{AD2C8024-6DFA-DF5E-0AAD-A250BEFD530E}"/>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1742176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1136D70D-ACD9-0603-2CAD-32A81F70646B}"/>
              </a:ext>
              <a:ext uri="{C183D7F6-B498-43B3-948B-1728B52AA6E4}">
                <adec:decorative xmlns:adec="http://schemas.microsoft.com/office/drawing/2017/decorative" val="1"/>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6"/>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descr="Quand vous entendez intelligence artificielle, à quoi pensez-vous ?">
            <a:extLst>
              <a:ext uri="{FF2B5EF4-FFF2-40B4-BE49-F238E27FC236}">
                <a16:creationId xmlns:a16="http://schemas.microsoft.com/office/drawing/2014/main" id="{64BCBC4D-E7C5-EEB3-7A98-9CF102E48B26}"/>
              </a:ext>
            </a:extLst>
          </p:cNvPr>
          <p:cNvSpPr/>
          <p:nvPr>
            <p:custDataLst>
              <p:tags r:id="rId3"/>
            </p:custDataLst>
          </p:nvPr>
        </p:nvSpPr>
        <p:spPr>
          <a:xfrm>
            <a:off x="3112851" y="1000897"/>
            <a:ext cx="8486226" cy="385530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a:solidFill>
                  <a:srgbClr val="000000"/>
                </a:solidFill>
              </a:rPr>
              <a:t>Quand vous entendez intelligence artificielle, à quoi pensez-vous ?</a:t>
            </a:r>
          </a:p>
        </p:txBody>
      </p:sp>
    </p:spTree>
    <p:custDataLst>
      <p:tags r:id="rId1"/>
    </p:custDataLst>
    <p:extLst>
      <p:ext uri="{BB962C8B-B14F-4D97-AF65-F5344CB8AC3E}">
        <p14:creationId xmlns:p14="http://schemas.microsoft.com/office/powerpoint/2010/main" val="438782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956869-C2EC-814D-4ABD-13FCCE0C3EE9}"/>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9B8459B-FA18-C2EE-BB3B-80DC2F96D4D7}"/>
              </a:ext>
            </a:extLst>
          </p:cNvPr>
          <p:cNvSpPr/>
          <p:nvPr/>
        </p:nvSpPr>
        <p:spPr>
          <a:xfrm>
            <a:off x="3495795" y="279980"/>
            <a:ext cx="7641392" cy="139228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5AB830BD-93DC-1468-72E2-0C2FBE1E34B0}"/>
              </a:ext>
            </a:extLst>
          </p:cNvPr>
          <p:cNvSpPr txBox="1"/>
          <p:nvPr/>
        </p:nvSpPr>
        <p:spPr>
          <a:xfrm>
            <a:off x="3495794" y="646900"/>
            <a:ext cx="7641392" cy="92025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en-US" sz="4000" b="1" dirty="0">
                <a:solidFill>
                  <a:schemeClr val="tx2">
                    <a:alpha val="60000"/>
                  </a:schemeClr>
                </a:solidFill>
              </a:rPr>
              <a:t>Qu’est-ce </a:t>
            </a:r>
            <a:r>
              <a:rPr lang="en-US" sz="4000" b="1" dirty="0" err="1">
                <a:solidFill>
                  <a:schemeClr val="tx2">
                    <a:alpha val="60000"/>
                  </a:schemeClr>
                </a:solidFill>
              </a:rPr>
              <a:t>qu’un</a:t>
            </a:r>
            <a:r>
              <a:rPr lang="en-US" sz="4000" b="1" dirty="0">
                <a:solidFill>
                  <a:schemeClr val="tx2">
                    <a:alpha val="60000"/>
                  </a:schemeClr>
                </a:solidFill>
              </a:rPr>
              <a:t> </a:t>
            </a:r>
            <a:r>
              <a:rPr lang="en-US" sz="4000" b="1" dirty="0" err="1">
                <a:solidFill>
                  <a:schemeClr val="tx2">
                    <a:alpha val="60000"/>
                  </a:schemeClr>
                </a:solidFill>
              </a:rPr>
              <a:t>modèle</a:t>
            </a:r>
            <a:r>
              <a:rPr lang="en-US" sz="4000" b="1" dirty="0">
                <a:solidFill>
                  <a:schemeClr val="tx2">
                    <a:alpha val="60000"/>
                  </a:schemeClr>
                </a:solidFill>
              </a:rPr>
              <a:t> de </a:t>
            </a:r>
            <a:r>
              <a:rPr lang="en-US" sz="4000" b="1" dirty="0" err="1">
                <a:solidFill>
                  <a:schemeClr val="tx2">
                    <a:alpha val="60000"/>
                  </a:schemeClr>
                </a:solidFill>
              </a:rPr>
              <a:t>langage</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B5EF1C67-F46F-F42F-E284-CB32BE41CDC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AF7F2C7-CAF1-60CE-2B00-9E4AD92DFD2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63867802-987C-00FC-E66C-02846D65679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AF6A375-E79E-477F-D350-DA18DCBDFA7C}"/>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13" name="Freeform: Shape 3">
            <a:extLst>
              <a:ext uri="{FF2B5EF4-FFF2-40B4-BE49-F238E27FC236}">
                <a16:creationId xmlns:a16="http://schemas.microsoft.com/office/drawing/2014/main" id="{EC167E5D-EACC-61AF-23E6-5C11C176E53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FBE5ED1F-7A49-1636-B94A-C24E3429309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grpSp>
        <p:nvGrpSpPr>
          <p:cNvPr id="29" name="Groupe 28">
            <a:extLst>
              <a:ext uri="{FF2B5EF4-FFF2-40B4-BE49-F238E27FC236}">
                <a16:creationId xmlns:a16="http://schemas.microsoft.com/office/drawing/2014/main" id="{1D29D584-2676-F8EA-880E-B3F69AE2900E}"/>
              </a:ext>
            </a:extLst>
          </p:cNvPr>
          <p:cNvGrpSpPr/>
          <p:nvPr/>
        </p:nvGrpSpPr>
        <p:grpSpPr>
          <a:xfrm>
            <a:off x="482980" y="1898319"/>
            <a:ext cx="4465693" cy="4465693"/>
            <a:chOff x="55768" y="1696311"/>
            <a:chExt cx="5247842" cy="5247842"/>
          </a:xfrm>
        </p:grpSpPr>
        <p:sp>
          <p:nvSpPr>
            <p:cNvPr id="23" name="Oval 12">
              <a:extLst>
                <a:ext uri="{FF2B5EF4-FFF2-40B4-BE49-F238E27FC236}">
                  <a16:creationId xmlns:a16="http://schemas.microsoft.com/office/drawing/2014/main" id="{EBFA89A7-ACB0-D790-7172-2051F65958CC}"/>
                </a:ext>
              </a:extLst>
            </p:cNvPr>
            <p:cNvSpPr/>
            <p:nvPr/>
          </p:nvSpPr>
          <p:spPr>
            <a:xfrm>
              <a:off x="55768" y="1696311"/>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4" name="Espace réservé pour une image  6">
              <a:extLst>
                <a:ext uri="{FF2B5EF4-FFF2-40B4-BE49-F238E27FC236}">
                  <a16:creationId xmlns:a16="http://schemas.microsoft.com/office/drawing/2014/main" id="{F02491FA-AA7E-E62E-8D5B-7A1DA93D992A}"/>
                </a:ext>
              </a:extLst>
            </p:cNvPr>
            <p:cNvPicPr>
              <a:picLocks noChangeAspect="1"/>
            </p:cNvPicPr>
            <p:nvPr/>
          </p:nvPicPr>
          <p:blipFill>
            <a:blip r:embed="rId3">
              <a:extLst>
                <a:ext uri="{28A0092B-C50C-407E-A947-70E740481C1C}">
                  <a14:useLocalDpi xmlns:a14="http://schemas.microsoft.com/office/drawing/2010/main" val="0"/>
                </a:ext>
              </a:extLst>
            </a:blip>
            <a:srcRect l="13500" r="13500"/>
            <a:stretch/>
          </p:blipFill>
          <p:spPr>
            <a:xfrm>
              <a:off x="444944" y="2085493"/>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grpSp>
      <p:grpSp>
        <p:nvGrpSpPr>
          <p:cNvPr id="30" name="Groupe 29">
            <a:extLst>
              <a:ext uri="{FF2B5EF4-FFF2-40B4-BE49-F238E27FC236}">
                <a16:creationId xmlns:a16="http://schemas.microsoft.com/office/drawing/2014/main" id="{3B9BF74F-D178-12B3-6206-07D5C780EB41}"/>
              </a:ext>
            </a:extLst>
          </p:cNvPr>
          <p:cNvGrpSpPr/>
          <p:nvPr/>
        </p:nvGrpSpPr>
        <p:grpSpPr>
          <a:xfrm>
            <a:off x="7259529" y="1911250"/>
            <a:ext cx="4465693" cy="4465693"/>
            <a:chOff x="55768" y="1696311"/>
            <a:chExt cx="5247842" cy="5247842"/>
          </a:xfrm>
        </p:grpSpPr>
        <p:sp>
          <p:nvSpPr>
            <p:cNvPr id="31" name="Oval 12">
              <a:extLst>
                <a:ext uri="{FF2B5EF4-FFF2-40B4-BE49-F238E27FC236}">
                  <a16:creationId xmlns:a16="http://schemas.microsoft.com/office/drawing/2014/main" id="{B53D8D29-EFBD-784A-13A2-B9F0D4C9F394}"/>
                </a:ext>
              </a:extLst>
            </p:cNvPr>
            <p:cNvSpPr/>
            <p:nvPr/>
          </p:nvSpPr>
          <p:spPr>
            <a:xfrm>
              <a:off x="55768" y="1696311"/>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3" name="Espace réservé pour une image  6">
              <a:extLst>
                <a:ext uri="{FF2B5EF4-FFF2-40B4-BE49-F238E27FC236}">
                  <a16:creationId xmlns:a16="http://schemas.microsoft.com/office/drawing/2014/main" id="{DE810A66-E51E-CBA4-72CD-35DD5CB5C6D1}"/>
                </a:ext>
              </a:extLst>
            </p:cNvPr>
            <p:cNvPicPr>
              <a:picLocks noChangeAspect="1"/>
            </p:cNvPicPr>
            <p:nvPr/>
          </p:nvPicPr>
          <p:blipFill>
            <a:blip r:embed="rId4">
              <a:extLst>
                <a:ext uri="{28A0092B-C50C-407E-A947-70E740481C1C}">
                  <a14:useLocalDpi xmlns:a14="http://schemas.microsoft.com/office/drawing/2010/main" val="0"/>
                </a:ext>
              </a:extLst>
            </a:blip>
            <a:srcRect l="7692" r="7692"/>
            <a:stretch/>
          </p:blipFill>
          <p:spPr>
            <a:xfrm>
              <a:off x="444945" y="2085493"/>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grpSp>
      <p:sp>
        <p:nvSpPr>
          <p:cNvPr id="4" name="ZoneTexte 3">
            <a:extLst>
              <a:ext uri="{FF2B5EF4-FFF2-40B4-BE49-F238E27FC236}">
                <a16:creationId xmlns:a16="http://schemas.microsoft.com/office/drawing/2014/main" id="{A6A8CFE5-5120-3A50-B317-F8B33FC47999}"/>
              </a:ext>
            </a:extLst>
          </p:cNvPr>
          <p:cNvSpPr txBox="1"/>
          <p:nvPr/>
        </p:nvSpPr>
        <p:spPr>
          <a:xfrm>
            <a:off x="5450537" y="3532428"/>
            <a:ext cx="1338828" cy="707886"/>
          </a:xfrm>
          <a:prstGeom prst="rect">
            <a:avLst/>
          </a:prstGeom>
          <a:noFill/>
        </p:spPr>
        <p:txBody>
          <a:bodyPr wrap="none" rtlCol="0">
            <a:spAutoFit/>
          </a:bodyPr>
          <a:lstStyle/>
          <a:p>
            <a:r>
              <a:rPr lang="fr-FR" sz="4000" b="1" dirty="0">
                <a:latin typeface="Space Grotesk Medium"/>
              </a:rPr>
              <a:t>L.L.M</a:t>
            </a:r>
          </a:p>
        </p:txBody>
      </p:sp>
      <p:sp>
        <p:nvSpPr>
          <p:cNvPr id="6" name="Flèche : droite 5">
            <a:extLst>
              <a:ext uri="{FF2B5EF4-FFF2-40B4-BE49-F238E27FC236}">
                <a16:creationId xmlns:a16="http://schemas.microsoft.com/office/drawing/2014/main" id="{13C75DD4-6250-871E-4BAB-E7513D1D749E}"/>
              </a:ext>
            </a:extLst>
          </p:cNvPr>
          <p:cNvSpPr/>
          <p:nvPr/>
        </p:nvSpPr>
        <p:spPr>
          <a:xfrm>
            <a:off x="6198215" y="4345427"/>
            <a:ext cx="953037" cy="214262"/>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9" name="Flèche : gauche 8">
            <a:extLst>
              <a:ext uri="{FF2B5EF4-FFF2-40B4-BE49-F238E27FC236}">
                <a16:creationId xmlns:a16="http://schemas.microsoft.com/office/drawing/2014/main" id="{59022BA7-46FF-DDBE-23CF-89E5BF6743E3}"/>
              </a:ext>
            </a:extLst>
          </p:cNvPr>
          <p:cNvSpPr/>
          <p:nvPr/>
        </p:nvSpPr>
        <p:spPr>
          <a:xfrm>
            <a:off x="5069602" y="4349967"/>
            <a:ext cx="953037" cy="18188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51628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57F4271-9DA2-3890-D118-B918D8AACA5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8E920DC-9F6A-D58A-F9F1-26BC4B72518E}"/>
              </a:ext>
            </a:extLst>
          </p:cNvPr>
          <p:cNvSpPr/>
          <p:nvPr/>
        </p:nvSpPr>
        <p:spPr>
          <a:xfrm>
            <a:off x="3495795" y="279980"/>
            <a:ext cx="7641392" cy="186641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BFCB9965-4D0C-E0C1-B1C3-68B0E7F9828B}"/>
              </a:ext>
            </a:extLst>
          </p:cNvPr>
          <p:cNvSpPr txBox="1"/>
          <p:nvPr/>
        </p:nvSpPr>
        <p:spPr>
          <a:xfrm>
            <a:off x="3440026" y="850133"/>
            <a:ext cx="7697160"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Différence entre IA générative </a:t>
            </a:r>
          </a:p>
          <a:p>
            <a:pPr>
              <a:lnSpc>
                <a:spcPct val="100000"/>
              </a:lnSpc>
            </a:pPr>
            <a:r>
              <a:rPr lang="fr-FR" sz="4000" b="1" dirty="0">
                <a:solidFill>
                  <a:schemeClr val="tx2">
                    <a:alpha val="60000"/>
                  </a:schemeClr>
                </a:solidFill>
              </a:rPr>
              <a:t>et logiciels classiques</a:t>
            </a:r>
          </a:p>
        </p:txBody>
      </p:sp>
      <p:sp>
        <p:nvSpPr>
          <p:cNvPr id="3" name="Oval 2">
            <a:extLst>
              <a:ext uri="{FF2B5EF4-FFF2-40B4-BE49-F238E27FC236}">
                <a16:creationId xmlns:a16="http://schemas.microsoft.com/office/drawing/2014/main" id="{7FE735EB-81A9-9169-527B-A7E20AB0975F}"/>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3A16671-8EF3-E2EC-AFFA-18B1F60346C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1B17EACE-43A4-3006-3F3B-94DC954A13C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F02B6A3-F17E-3A48-3942-1200AF603180}"/>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13" name="Freeform: Shape 3">
            <a:extLst>
              <a:ext uri="{FF2B5EF4-FFF2-40B4-BE49-F238E27FC236}">
                <a16:creationId xmlns:a16="http://schemas.microsoft.com/office/drawing/2014/main" id="{5A8B32CD-1148-1286-48AC-63865F3F728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3FEED6FE-13E3-05FD-65F9-55D9E953FEF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grpSp>
        <p:nvGrpSpPr>
          <p:cNvPr id="29" name="Groupe 28">
            <a:extLst>
              <a:ext uri="{FF2B5EF4-FFF2-40B4-BE49-F238E27FC236}">
                <a16:creationId xmlns:a16="http://schemas.microsoft.com/office/drawing/2014/main" id="{AC56E3C5-C8BE-A605-7313-EB8644EB7500}"/>
              </a:ext>
            </a:extLst>
          </p:cNvPr>
          <p:cNvGrpSpPr/>
          <p:nvPr/>
        </p:nvGrpSpPr>
        <p:grpSpPr>
          <a:xfrm>
            <a:off x="482980" y="2230557"/>
            <a:ext cx="4465693" cy="4465693"/>
            <a:chOff x="55768" y="1696311"/>
            <a:chExt cx="5247842" cy="5247842"/>
          </a:xfrm>
        </p:grpSpPr>
        <p:sp>
          <p:nvSpPr>
            <p:cNvPr id="23" name="Oval 12">
              <a:extLst>
                <a:ext uri="{FF2B5EF4-FFF2-40B4-BE49-F238E27FC236}">
                  <a16:creationId xmlns:a16="http://schemas.microsoft.com/office/drawing/2014/main" id="{1A3EFF38-9616-DEF4-0E63-86498B86E9D3}"/>
                </a:ext>
              </a:extLst>
            </p:cNvPr>
            <p:cNvSpPr/>
            <p:nvPr/>
          </p:nvSpPr>
          <p:spPr>
            <a:xfrm>
              <a:off x="55768" y="1696311"/>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4" name="Espace réservé pour une image  6">
              <a:extLst>
                <a:ext uri="{FF2B5EF4-FFF2-40B4-BE49-F238E27FC236}">
                  <a16:creationId xmlns:a16="http://schemas.microsoft.com/office/drawing/2014/main" id="{2E42EF96-C75A-D4C8-9475-7F38A13CE219}"/>
                </a:ext>
              </a:extLst>
            </p:cNvPr>
            <p:cNvPicPr>
              <a:picLocks noChangeAspect="1"/>
            </p:cNvPicPr>
            <p:nvPr/>
          </p:nvPicPr>
          <p:blipFill>
            <a:blip r:embed="rId3">
              <a:extLst>
                <a:ext uri="{28A0092B-C50C-407E-A947-70E740481C1C}">
                  <a14:useLocalDpi xmlns:a14="http://schemas.microsoft.com/office/drawing/2010/main" val="0"/>
                </a:ext>
              </a:extLst>
            </a:blip>
            <a:srcRect l="21583" r="21583"/>
            <a:stretch/>
          </p:blipFill>
          <p:spPr>
            <a:xfrm>
              <a:off x="444944" y="2085494"/>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grpSp>
      <p:grpSp>
        <p:nvGrpSpPr>
          <p:cNvPr id="30" name="Groupe 29">
            <a:extLst>
              <a:ext uri="{FF2B5EF4-FFF2-40B4-BE49-F238E27FC236}">
                <a16:creationId xmlns:a16="http://schemas.microsoft.com/office/drawing/2014/main" id="{C978E8F0-6AC8-B83B-F18E-52ECC2304554}"/>
              </a:ext>
            </a:extLst>
          </p:cNvPr>
          <p:cNvGrpSpPr/>
          <p:nvPr/>
        </p:nvGrpSpPr>
        <p:grpSpPr>
          <a:xfrm>
            <a:off x="7259529" y="2230557"/>
            <a:ext cx="4465693" cy="4465693"/>
            <a:chOff x="55768" y="1696311"/>
            <a:chExt cx="5247842" cy="5247842"/>
          </a:xfrm>
        </p:grpSpPr>
        <p:sp>
          <p:nvSpPr>
            <p:cNvPr id="31" name="Oval 12">
              <a:extLst>
                <a:ext uri="{FF2B5EF4-FFF2-40B4-BE49-F238E27FC236}">
                  <a16:creationId xmlns:a16="http://schemas.microsoft.com/office/drawing/2014/main" id="{40E679C1-061E-13D8-8CCC-5B37BBD9EC37}"/>
                </a:ext>
              </a:extLst>
            </p:cNvPr>
            <p:cNvSpPr/>
            <p:nvPr/>
          </p:nvSpPr>
          <p:spPr>
            <a:xfrm>
              <a:off x="55768" y="1696311"/>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3" name="Espace réservé pour une image  6">
              <a:extLst>
                <a:ext uri="{FF2B5EF4-FFF2-40B4-BE49-F238E27FC236}">
                  <a16:creationId xmlns:a16="http://schemas.microsoft.com/office/drawing/2014/main" id="{370E0588-F629-BF59-8BB6-085647239A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44945" y="2085494"/>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grpSp>
      <p:grpSp>
        <p:nvGrpSpPr>
          <p:cNvPr id="9" name="Groupe 8">
            <a:extLst>
              <a:ext uri="{FF2B5EF4-FFF2-40B4-BE49-F238E27FC236}">
                <a16:creationId xmlns:a16="http://schemas.microsoft.com/office/drawing/2014/main" id="{8AC0BE77-5C2E-9FC0-0562-3658B72CC82E}"/>
              </a:ext>
            </a:extLst>
          </p:cNvPr>
          <p:cNvGrpSpPr/>
          <p:nvPr/>
        </p:nvGrpSpPr>
        <p:grpSpPr>
          <a:xfrm>
            <a:off x="5545196" y="3252751"/>
            <a:ext cx="1066318" cy="2215991"/>
            <a:chOff x="5545196" y="3252751"/>
            <a:chExt cx="1066318" cy="2215991"/>
          </a:xfrm>
        </p:grpSpPr>
        <p:sp>
          <p:nvSpPr>
            <p:cNvPr id="4" name="ZoneTexte 3">
              <a:extLst>
                <a:ext uri="{FF2B5EF4-FFF2-40B4-BE49-F238E27FC236}">
                  <a16:creationId xmlns:a16="http://schemas.microsoft.com/office/drawing/2014/main" id="{B8DC4C84-148B-D8B6-9AEC-19E899E6A12D}"/>
                </a:ext>
              </a:extLst>
            </p:cNvPr>
            <p:cNvSpPr txBox="1"/>
            <p:nvPr/>
          </p:nvSpPr>
          <p:spPr>
            <a:xfrm>
              <a:off x="5545196" y="3252751"/>
              <a:ext cx="1066318" cy="2215991"/>
            </a:xfrm>
            <a:prstGeom prst="rect">
              <a:avLst/>
            </a:prstGeom>
            <a:noFill/>
          </p:spPr>
          <p:txBody>
            <a:bodyPr wrap="none" rtlCol="0">
              <a:spAutoFit/>
            </a:bodyPr>
            <a:lstStyle/>
            <a:p>
              <a:r>
                <a:rPr lang="fr-FR" sz="13800" dirty="0">
                  <a:solidFill>
                    <a:srgbClr val="FF0000"/>
                  </a:solidFill>
                </a:rPr>
                <a:t>=</a:t>
              </a:r>
            </a:p>
          </p:txBody>
        </p:sp>
        <p:cxnSp>
          <p:nvCxnSpPr>
            <p:cNvPr id="7" name="Connecteur droit 6">
              <a:extLst>
                <a:ext uri="{FF2B5EF4-FFF2-40B4-BE49-F238E27FC236}">
                  <a16:creationId xmlns:a16="http://schemas.microsoft.com/office/drawing/2014/main" id="{CCAF54BB-1950-AAE5-B013-A9D751903048}"/>
                </a:ext>
              </a:extLst>
            </p:cNvPr>
            <p:cNvCxnSpPr/>
            <p:nvPr/>
          </p:nvCxnSpPr>
          <p:spPr>
            <a:xfrm flipH="1">
              <a:off x="5722340" y="3745120"/>
              <a:ext cx="747320" cy="1446550"/>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67527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C03968-F28E-35E3-940A-87119527A16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062CF1A-0E46-432B-1AC6-B415A9B7D8BD}"/>
              </a:ext>
            </a:extLst>
          </p:cNvPr>
          <p:cNvSpPr/>
          <p:nvPr/>
        </p:nvSpPr>
        <p:spPr>
          <a:xfrm>
            <a:off x="3495795" y="279980"/>
            <a:ext cx="7641392" cy="186641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21372A92-CCE4-8BE0-10A6-5427FAA5ACAA}"/>
              </a:ext>
            </a:extLst>
          </p:cNvPr>
          <p:cNvSpPr txBox="1"/>
          <p:nvPr/>
        </p:nvSpPr>
        <p:spPr>
          <a:xfrm>
            <a:off x="3440026" y="850133"/>
            <a:ext cx="7697160"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Ce que l'IA fait très bien </a:t>
            </a:r>
          </a:p>
          <a:p>
            <a:pPr>
              <a:lnSpc>
                <a:spcPct val="100000"/>
              </a:lnSpc>
            </a:pPr>
            <a:r>
              <a:rPr lang="fr-FR" sz="4000" b="1" dirty="0">
                <a:solidFill>
                  <a:schemeClr val="tx2">
                    <a:alpha val="60000"/>
                  </a:schemeClr>
                </a:solidFill>
              </a:rPr>
              <a:t>et ce qu’elle ne fait pas</a:t>
            </a:r>
          </a:p>
        </p:txBody>
      </p:sp>
      <p:sp>
        <p:nvSpPr>
          <p:cNvPr id="3" name="Oval 2">
            <a:extLst>
              <a:ext uri="{FF2B5EF4-FFF2-40B4-BE49-F238E27FC236}">
                <a16:creationId xmlns:a16="http://schemas.microsoft.com/office/drawing/2014/main" id="{C8D74C2D-4244-503A-731B-764585DAEF7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0EDC12B-BCED-0908-9562-9A994C73A21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81762A2A-14FA-1C58-437D-E9F0D687D16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0AD0B47-4F82-D3B1-F5D8-BCAB3C8AB36D}"/>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13" name="Freeform: Shape 3">
            <a:extLst>
              <a:ext uri="{FF2B5EF4-FFF2-40B4-BE49-F238E27FC236}">
                <a16:creationId xmlns:a16="http://schemas.microsoft.com/office/drawing/2014/main" id="{B0873E25-643E-D474-9003-BF5528B7EED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79024318-E53A-AF50-7EF9-82595672A91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grpSp>
        <p:nvGrpSpPr>
          <p:cNvPr id="29" name="Groupe 28">
            <a:extLst>
              <a:ext uri="{FF2B5EF4-FFF2-40B4-BE49-F238E27FC236}">
                <a16:creationId xmlns:a16="http://schemas.microsoft.com/office/drawing/2014/main" id="{FB9C0371-E4BF-46F0-8FFC-0C73F0C46AA8}"/>
              </a:ext>
            </a:extLst>
          </p:cNvPr>
          <p:cNvGrpSpPr/>
          <p:nvPr/>
        </p:nvGrpSpPr>
        <p:grpSpPr>
          <a:xfrm>
            <a:off x="482980" y="2230557"/>
            <a:ext cx="4465693" cy="4465693"/>
            <a:chOff x="55768" y="1696311"/>
            <a:chExt cx="5247842" cy="5247842"/>
          </a:xfrm>
        </p:grpSpPr>
        <p:sp>
          <p:nvSpPr>
            <p:cNvPr id="23" name="Oval 12">
              <a:extLst>
                <a:ext uri="{FF2B5EF4-FFF2-40B4-BE49-F238E27FC236}">
                  <a16:creationId xmlns:a16="http://schemas.microsoft.com/office/drawing/2014/main" id="{F9EAF5F2-B514-7FEC-0273-E628003AD004}"/>
                </a:ext>
              </a:extLst>
            </p:cNvPr>
            <p:cNvSpPr/>
            <p:nvPr/>
          </p:nvSpPr>
          <p:spPr>
            <a:xfrm>
              <a:off x="55768" y="1696311"/>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4" name="Espace réservé pour une image  6">
              <a:extLst>
                <a:ext uri="{FF2B5EF4-FFF2-40B4-BE49-F238E27FC236}">
                  <a16:creationId xmlns:a16="http://schemas.microsoft.com/office/drawing/2014/main" id="{CC92908F-3449-D791-3049-1465000E4EA0}"/>
                </a:ext>
              </a:extLst>
            </p:cNvPr>
            <p:cNvPicPr>
              <a:picLocks noChangeAspect="1"/>
            </p:cNvPicPr>
            <p:nvPr/>
          </p:nvPicPr>
          <p:blipFill>
            <a:blip r:embed="rId3">
              <a:extLst>
                <a:ext uri="{28A0092B-C50C-407E-A947-70E740481C1C}">
                  <a14:useLocalDpi xmlns:a14="http://schemas.microsoft.com/office/drawing/2010/main" val="0"/>
                </a:ext>
              </a:extLst>
            </a:blip>
            <a:srcRect t="12500" b="12500"/>
            <a:stretch/>
          </p:blipFill>
          <p:spPr>
            <a:xfrm>
              <a:off x="444944" y="2085494"/>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grpSp>
      <p:grpSp>
        <p:nvGrpSpPr>
          <p:cNvPr id="30" name="Groupe 29">
            <a:extLst>
              <a:ext uri="{FF2B5EF4-FFF2-40B4-BE49-F238E27FC236}">
                <a16:creationId xmlns:a16="http://schemas.microsoft.com/office/drawing/2014/main" id="{FFE5CABF-702D-0CAE-5C4E-9A73E79F9C34}"/>
              </a:ext>
            </a:extLst>
          </p:cNvPr>
          <p:cNvGrpSpPr/>
          <p:nvPr/>
        </p:nvGrpSpPr>
        <p:grpSpPr>
          <a:xfrm>
            <a:off x="7259529" y="2230557"/>
            <a:ext cx="4465693" cy="4465693"/>
            <a:chOff x="55768" y="1696311"/>
            <a:chExt cx="5247842" cy="5247842"/>
          </a:xfrm>
        </p:grpSpPr>
        <p:sp>
          <p:nvSpPr>
            <p:cNvPr id="31" name="Oval 12">
              <a:extLst>
                <a:ext uri="{FF2B5EF4-FFF2-40B4-BE49-F238E27FC236}">
                  <a16:creationId xmlns:a16="http://schemas.microsoft.com/office/drawing/2014/main" id="{0084E403-27B3-4483-19D9-307EBDE95484}"/>
                </a:ext>
              </a:extLst>
            </p:cNvPr>
            <p:cNvSpPr/>
            <p:nvPr/>
          </p:nvSpPr>
          <p:spPr>
            <a:xfrm>
              <a:off x="55768" y="1696311"/>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3" name="Espace réservé pour une image  6">
              <a:extLst>
                <a:ext uri="{FF2B5EF4-FFF2-40B4-BE49-F238E27FC236}">
                  <a16:creationId xmlns:a16="http://schemas.microsoft.com/office/drawing/2014/main" id="{137B4FB1-AB9C-8CDF-C8C8-A5202C335BB3}"/>
                </a:ext>
              </a:extLst>
            </p:cNvPr>
            <p:cNvPicPr>
              <a:picLocks noChangeAspect="1"/>
            </p:cNvPicPr>
            <p:nvPr/>
          </p:nvPicPr>
          <p:blipFill>
            <a:blip r:embed="rId4">
              <a:extLst>
                <a:ext uri="{28A0092B-C50C-407E-A947-70E740481C1C}">
                  <a14:useLocalDpi xmlns:a14="http://schemas.microsoft.com/office/drawing/2010/main" val="0"/>
                </a:ext>
              </a:extLst>
            </a:blip>
            <a:srcRect l="12516" t="3746" r="6691" b="15460"/>
            <a:stretch>
              <a:fillRect/>
            </a:stretch>
          </p:blipFill>
          <p:spPr>
            <a:xfrm>
              <a:off x="444945" y="2085494"/>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grpSp>
    </p:spTree>
    <p:extLst>
      <p:ext uri="{BB962C8B-B14F-4D97-AF65-F5344CB8AC3E}">
        <p14:creationId xmlns:p14="http://schemas.microsoft.com/office/powerpoint/2010/main" val="642618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4FC3DBC-7AC0-A7AC-5C22-B9E2F6804DB2}"/>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98103BE-1D67-580E-7E4E-EDF62506D305}"/>
              </a:ext>
            </a:extLst>
          </p:cNvPr>
          <p:cNvSpPr/>
          <p:nvPr/>
        </p:nvSpPr>
        <p:spPr>
          <a:xfrm>
            <a:off x="3495795" y="279980"/>
            <a:ext cx="7641392" cy="186641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8217C731-8444-E876-6554-8FD08BA77652}"/>
              </a:ext>
            </a:extLst>
          </p:cNvPr>
          <p:cNvSpPr txBox="1"/>
          <p:nvPr/>
        </p:nvSpPr>
        <p:spPr>
          <a:xfrm>
            <a:off x="3440026" y="850133"/>
            <a:ext cx="7697160"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Ce que l'IA fait très bien </a:t>
            </a:r>
          </a:p>
          <a:p>
            <a:pPr>
              <a:lnSpc>
                <a:spcPct val="100000"/>
              </a:lnSpc>
            </a:pPr>
            <a:r>
              <a:rPr lang="fr-FR" sz="4000" b="1" dirty="0">
                <a:solidFill>
                  <a:schemeClr val="tx2">
                    <a:alpha val="60000"/>
                  </a:schemeClr>
                </a:solidFill>
              </a:rPr>
              <a:t>et ce qu’elle ne fait pas</a:t>
            </a:r>
          </a:p>
        </p:txBody>
      </p:sp>
      <p:sp>
        <p:nvSpPr>
          <p:cNvPr id="3" name="Oval 2">
            <a:extLst>
              <a:ext uri="{FF2B5EF4-FFF2-40B4-BE49-F238E27FC236}">
                <a16:creationId xmlns:a16="http://schemas.microsoft.com/office/drawing/2014/main" id="{6D12923C-F730-6542-EFC6-E4E3C15B839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F72971-E22D-E334-C798-188697CE1F3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AAD04B2E-DCFF-E1C8-6844-333192D5DB7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8C588DAC-586E-6E1B-322E-A674AB9A9D9D}"/>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13" name="Freeform: Shape 3">
            <a:extLst>
              <a:ext uri="{FF2B5EF4-FFF2-40B4-BE49-F238E27FC236}">
                <a16:creationId xmlns:a16="http://schemas.microsoft.com/office/drawing/2014/main" id="{8058F55E-FFB4-8206-1EB3-864B59EB7BD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BED6DCBD-F436-A59A-0DDA-0A8B70A53B7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18E74EA8-2B5F-F0AC-ED27-4B50AEAAF724}"/>
              </a:ext>
            </a:extLst>
          </p:cNvPr>
          <p:cNvSpPr txBox="1"/>
          <p:nvPr/>
        </p:nvSpPr>
        <p:spPr>
          <a:xfrm>
            <a:off x="606584" y="3146551"/>
            <a:ext cx="5443268" cy="3693319"/>
          </a:xfrm>
          <a:prstGeom prst="rect">
            <a:avLst/>
          </a:prstGeom>
          <a:noFill/>
        </p:spPr>
        <p:txBody>
          <a:bodyPr wrap="square" rtlCol="0">
            <a:spAutoFit/>
          </a:bodyPr>
          <a:lstStyle/>
          <a:p>
            <a:pPr marL="285750" indent="-285750">
              <a:buFont typeface="Arial" panose="020B0604020202020204" pitchFamily="34" charset="0"/>
              <a:buChar char="•"/>
            </a:pPr>
            <a:r>
              <a:rPr lang="fr-FR" b="1" dirty="0">
                <a:solidFill>
                  <a:srgbClr val="00B050"/>
                </a:solidFill>
                <a:latin typeface="Figtree"/>
              </a:rPr>
              <a:t>Rédiger et reformuler </a:t>
            </a:r>
            <a:r>
              <a:rPr lang="fr-FR" dirty="0">
                <a:latin typeface="Figtree"/>
              </a:rPr>
              <a:t>des descriptions de bien à partir de notes brutes</a:t>
            </a:r>
          </a:p>
          <a:p>
            <a:pPr marL="285750" indent="-285750">
              <a:buFont typeface="Arial" panose="020B0604020202020204" pitchFamily="34" charset="0"/>
              <a:buChar char="•"/>
            </a:pPr>
            <a:r>
              <a:rPr lang="fr-FR" b="1" dirty="0">
                <a:solidFill>
                  <a:srgbClr val="00B050"/>
                </a:solidFill>
                <a:latin typeface="Figtree"/>
              </a:rPr>
              <a:t>Structurer</a:t>
            </a:r>
            <a:r>
              <a:rPr lang="fr-FR" dirty="0">
                <a:latin typeface="Figtree"/>
              </a:rPr>
              <a:t> un rapport selon un plan-type en quelques secondes</a:t>
            </a:r>
          </a:p>
          <a:p>
            <a:pPr marL="285750" indent="-285750">
              <a:buFont typeface="Arial" panose="020B0604020202020204" pitchFamily="34" charset="0"/>
              <a:buChar char="•"/>
            </a:pPr>
            <a:r>
              <a:rPr lang="fr-FR" b="1" dirty="0">
                <a:solidFill>
                  <a:srgbClr val="00B050"/>
                </a:solidFill>
                <a:latin typeface="Figtree"/>
              </a:rPr>
              <a:t>Synthétiser</a:t>
            </a:r>
            <a:r>
              <a:rPr lang="fr-FR" dirty="0">
                <a:latin typeface="Figtree"/>
              </a:rPr>
              <a:t> un jeu de données de comparables en paragraphe clair</a:t>
            </a:r>
          </a:p>
          <a:p>
            <a:pPr marL="285750" indent="-285750">
              <a:buFont typeface="Arial" panose="020B0604020202020204" pitchFamily="34" charset="0"/>
              <a:buChar char="•"/>
            </a:pPr>
            <a:r>
              <a:rPr lang="fr-FR" b="1" dirty="0">
                <a:solidFill>
                  <a:srgbClr val="00B050"/>
                </a:solidFill>
                <a:latin typeface="Figtree"/>
              </a:rPr>
              <a:t>Varier</a:t>
            </a:r>
            <a:r>
              <a:rPr lang="fr-FR" dirty="0">
                <a:latin typeface="Figtree"/>
              </a:rPr>
              <a:t> le ton (technique, synthétique, judiciaire) à la demande</a:t>
            </a:r>
          </a:p>
          <a:p>
            <a:pPr marL="285750" indent="-285750">
              <a:buFont typeface="Arial" panose="020B0604020202020204" pitchFamily="34" charset="0"/>
              <a:buChar char="•"/>
            </a:pPr>
            <a:r>
              <a:rPr lang="fr-FR" b="1" dirty="0">
                <a:solidFill>
                  <a:srgbClr val="00B050"/>
                </a:solidFill>
                <a:latin typeface="Figtree"/>
              </a:rPr>
              <a:t>Relire et corriger </a:t>
            </a:r>
            <a:r>
              <a:rPr lang="fr-FR" dirty="0">
                <a:latin typeface="Figtree"/>
              </a:rPr>
              <a:t>la cohérence interne d'un document</a:t>
            </a:r>
          </a:p>
          <a:p>
            <a:pPr marL="285750" indent="-285750">
              <a:buFont typeface="Arial" panose="020B0604020202020204" pitchFamily="34" charset="0"/>
              <a:buChar char="•"/>
            </a:pPr>
            <a:r>
              <a:rPr lang="fr-FR" b="1" dirty="0">
                <a:solidFill>
                  <a:srgbClr val="00B050"/>
                </a:solidFill>
                <a:latin typeface="Figtree"/>
              </a:rPr>
              <a:t>Générer</a:t>
            </a:r>
            <a:r>
              <a:rPr lang="fr-FR" dirty="0">
                <a:latin typeface="Figtree"/>
              </a:rPr>
              <a:t> des formulations alternatives pour la conclusion</a:t>
            </a:r>
          </a:p>
          <a:p>
            <a:endParaRPr lang="fr-FR" dirty="0">
              <a:latin typeface="Figtree"/>
            </a:endParaRPr>
          </a:p>
        </p:txBody>
      </p:sp>
      <p:sp>
        <p:nvSpPr>
          <p:cNvPr id="9" name="ZoneTexte 8">
            <a:extLst>
              <a:ext uri="{FF2B5EF4-FFF2-40B4-BE49-F238E27FC236}">
                <a16:creationId xmlns:a16="http://schemas.microsoft.com/office/drawing/2014/main" id="{85022F28-BC04-4319-54A6-EFF8F10BF701}"/>
              </a:ext>
            </a:extLst>
          </p:cNvPr>
          <p:cNvSpPr txBox="1"/>
          <p:nvPr/>
        </p:nvSpPr>
        <p:spPr>
          <a:xfrm>
            <a:off x="6142150" y="3146551"/>
            <a:ext cx="5443268" cy="3416320"/>
          </a:xfrm>
          <a:prstGeom prst="rect">
            <a:avLst/>
          </a:prstGeom>
          <a:noFill/>
        </p:spPr>
        <p:txBody>
          <a:bodyPr wrap="square" rtlCol="0">
            <a:spAutoFit/>
          </a:bodyPr>
          <a:lstStyle/>
          <a:p>
            <a:pPr marL="285750" indent="-285750">
              <a:buFont typeface="Arial" panose="020B0604020202020204" pitchFamily="34" charset="0"/>
              <a:buChar char="•"/>
            </a:pPr>
            <a:r>
              <a:rPr lang="fr-FR" b="1" dirty="0">
                <a:solidFill>
                  <a:srgbClr val="FF0000"/>
                </a:solidFill>
              </a:rPr>
              <a:t>Ne connaît pas </a:t>
            </a:r>
            <a:r>
              <a:rPr lang="fr-FR" dirty="0"/>
              <a:t>les prix actuels de votre secteur — données figées dans le temps</a:t>
            </a:r>
          </a:p>
          <a:p>
            <a:pPr marL="285750" indent="-285750">
              <a:buFont typeface="Arial" panose="020B0604020202020204" pitchFamily="34" charset="0"/>
              <a:buChar char="•"/>
            </a:pPr>
            <a:r>
              <a:rPr lang="fr-FR" b="1" dirty="0">
                <a:solidFill>
                  <a:srgbClr val="FF0000"/>
                </a:solidFill>
              </a:rPr>
              <a:t>Ne vérifie aucune donnée </a:t>
            </a:r>
            <a:r>
              <a:rPr lang="fr-FR" dirty="0"/>
              <a:t>: cadastre, surface réelle, règlement de copropriété</a:t>
            </a:r>
          </a:p>
          <a:p>
            <a:pPr marL="285750" indent="-285750">
              <a:buFont typeface="Arial" panose="020B0604020202020204" pitchFamily="34" charset="0"/>
              <a:buChar char="•"/>
            </a:pPr>
            <a:r>
              <a:rPr lang="fr-FR" b="1" dirty="0">
                <a:solidFill>
                  <a:srgbClr val="FF0000"/>
                </a:solidFill>
              </a:rPr>
              <a:t>Peut "inventer</a:t>
            </a:r>
            <a:r>
              <a:rPr lang="fr-FR" dirty="0"/>
              <a:t>" des références ou des chiffres avec assurance (hallucinations)</a:t>
            </a:r>
          </a:p>
          <a:p>
            <a:pPr marL="285750" indent="-285750">
              <a:buFont typeface="Arial" panose="020B0604020202020204" pitchFamily="34" charset="0"/>
              <a:buChar char="•"/>
            </a:pPr>
            <a:r>
              <a:rPr lang="fr-FR" b="1" dirty="0">
                <a:solidFill>
                  <a:srgbClr val="FF0000"/>
                </a:solidFill>
              </a:rPr>
              <a:t>Ne sait que ce que vous lui donnez </a:t>
            </a:r>
            <a:r>
              <a:rPr lang="fr-FR" dirty="0"/>
              <a:t>— pas de visite, pas de contexte local</a:t>
            </a:r>
          </a:p>
          <a:p>
            <a:pPr marL="285750" indent="-285750">
              <a:buFont typeface="Arial" panose="020B0604020202020204" pitchFamily="34" charset="0"/>
              <a:buChar char="•"/>
            </a:pPr>
            <a:r>
              <a:rPr lang="fr-FR" b="1" dirty="0">
                <a:solidFill>
                  <a:srgbClr val="FF0000"/>
                </a:solidFill>
              </a:rPr>
              <a:t>N'engage pas de responsabilité </a:t>
            </a:r>
            <a:r>
              <a:rPr lang="fr-FR" dirty="0"/>
              <a:t>professionnelle — c'est vous le signataire</a:t>
            </a:r>
          </a:p>
          <a:p>
            <a:pPr marL="285750" indent="-285750">
              <a:buFont typeface="Arial" panose="020B0604020202020204" pitchFamily="34" charset="0"/>
              <a:buChar char="•"/>
            </a:pPr>
            <a:r>
              <a:rPr lang="fr-FR" b="1" dirty="0">
                <a:solidFill>
                  <a:srgbClr val="FF0000"/>
                </a:solidFill>
              </a:rPr>
              <a:t>Données confidentielles à ne jamais saisir </a:t>
            </a:r>
            <a:r>
              <a:rPr lang="fr-FR" dirty="0"/>
              <a:t>sur une plateforme publique</a:t>
            </a:r>
          </a:p>
        </p:txBody>
      </p:sp>
      <p:sp>
        <p:nvSpPr>
          <p:cNvPr id="11" name="ZoneTexte 10">
            <a:extLst>
              <a:ext uri="{FF2B5EF4-FFF2-40B4-BE49-F238E27FC236}">
                <a16:creationId xmlns:a16="http://schemas.microsoft.com/office/drawing/2014/main" id="{4F1BFF99-D90A-BFDC-93DD-AAB6184EBE8E}"/>
              </a:ext>
            </a:extLst>
          </p:cNvPr>
          <p:cNvSpPr txBox="1"/>
          <p:nvPr/>
        </p:nvSpPr>
        <p:spPr>
          <a:xfrm>
            <a:off x="923026" y="2465374"/>
            <a:ext cx="2256452" cy="461665"/>
          </a:xfrm>
          <a:prstGeom prst="rect">
            <a:avLst/>
          </a:prstGeom>
          <a:noFill/>
        </p:spPr>
        <p:txBody>
          <a:bodyPr wrap="none" rtlCol="0">
            <a:spAutoFit/>
          </a:bodyPr>
          <a:lstStyle/>
          <a:p>
            <a:r>
              <a:rPr lang="fr-FR" sz="2400" b="1" dirty="0">
                <a:solidFill>
                  <a:srgbClr val="00B050"/>
                </a:solidFill>
                <a:latin typeface="Space Grotesk Medium"/>
              </a:rPr>
              <a:t>FORCES REELLES</a:t>
            </a:r>
          </a:p>
        </p:txBody>
      </p:sp>
      <p:sp>
        <p:nvSpPr>
          <p:cNvPr id="16" name="ZoneTexte 15">
            <a:extLst>
              <a:ext uri="{FF2B5EF4-FFF2-40B4-BE49-F238E27FC236}">
                <a16:creationId xmlns:a16="http://schemas.microsoft.com/office/drawing/2014/main" id="{FF05046D-138A-9021-8684-E87BB91DEBDA}"/>
              </a:ext>
            </a:extLst>
          </p:cNvPr>
          <p:cNvSpPr txBox="1"/>
          <p:nvPr/>
        </p:nvSpPr>
        <p:spPr>
          <a:xfrm>
            <a:off x="6421125" y="2465374"/>
            <a:ext cx="3034357" cy="461665"/>
          </a:xfrm>
          <a:prstGeom prst="rect">
            <a:avLst/>
          </a:prstGeom>
          <a:noFill/>
        </p:spPr>
        <p:txBody>
          <a:bodyPr wrap="none" rtlCol="0">
            <a:spAutoFit/>
          </a:bodyPr>
          <a:lstStyle/>
          <a:p>
            <a:r>
              <a:rPr lang="fr-FR" sz="2400" b="1" dirty="0">
                <a:solidFill>
                  <a:srgbClr val="FF0000"/>
                </a:solidFill>
                <a:latin typeface="Space Grotesk Medium"/>
              </a:rPr>
              <a:t>LIMITES A CONNAITRE</a:t>
            </a:r>
          </a:p>
        </p:txBody>
      </p:sp>
    </p:spTree>
    <p:extLst>
      <p:ext uri="{BB962C8B-B14F-4D97-AF65-F5344CB8AC3E}">
        <p14:creationId xmlns:p14="http://schemas.microsoft.com/office/powerpoint/2010/main" val="1523908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69EB27-AFA9-98A4-A5B8-4CCCB4A2A9F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DC007D3-461D-F6FF-C07C-72F5D03D2703}"/>
              </a:ext>
            </a:extLst>
          </p:cNvPr>
          <p:cNvSpPr/>
          <p:nvPr/>
        </p:nvSpPr>
        <p:spPr>
          <a:xfrm>
            <a:off x="3495795" y="279980"/>
            <a:ext cx="7641392" cy="186641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FD527444-4658-00B1-FC65-FA9D5AC0183C}"/>
              </a:ext>
            </a:extLst>
          </p:cNvPr>
          <p:cNvSpPr txBox="1"/>
          <p:nvPr/>
        </p:nvSpPr>
        <p:spPr>
          <a:xfrm>
            <a:off x="3440026" y="850133"/>
            <a:ext cx="7697160"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Tour d'horizon des outils disponibles en 2026</a:t>
            </a:r>
          </a:p>
        </p:txBody>
      </p:sp>
      <p:sp>
        <p:nvSpPr>
          <p:cNvPr id="3" name="Oval 2">
            <a:extLst>
              <a:ext uri="{FF2B5EF4-FFF2-40B4-BE49-F238E27FC236}">
                <a16:creationId xmlns:a16="http://schemas.microsoft.com/office/drawing/2014/main" id="{1826A7C6-A215-F6CA-A468-1E1BAAC50A66}"/>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FF70547B-5E23-8E19-9836-544A66BF211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95A5F6A2-794F-50C6-D8E6-95A24C7D06F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000B6BD-206B-1033-8B4E-691ACFD3E0AC}"/>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13" name="Freeform: Shape 3">
            <a:extLst>
              <a:ext uri="{FF2B5EF4-FFF2-40B4-BE49-F238E27FC236}">
                <a16:creationId xmlns:a16="http://schemas.microsoft.com/office/drawing/2014/main" id="{9ABEC4D0-78EF-8FCF-4506-BF54F360657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06051EAB-83A2-0B83-1479-627AF89CF83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grpSp>
        <p:nvGrpSpPr>
          <p:cNvPr id="4" name="Groupe 3">
            <a:extLst>
              <a:ext uri="{FF2B5EF4-FFF2-40B4-BE49-F238E27FC236}">
                <a16:creationId xmlns:a16="http://schemas.microsoft.com/office/drawing/2014/main" id="{447393F6-FD32-3854-115E-E9C803CDCA15}"/>
              </a:ext>
            </a:extLst>
          </p:cNvPr>
          <p:cNvGrpSpPr/>
          <p:nvPr/>
        </p:nvGrpSpPr>
        <p:grpSpPr>
          <a:xfrm>
            <a:off x="218384" y="4247881"/>
            <a:ext cx="495856" cy="495856"/>
            <a:chOff x="4589421" y="154132"/>
            <a:chExt cx="495856" cy="495856"/>
          </a:xfrm>
        </p:grpSpPr>
        <p:sp>
          <p:nvSpPr>
            <p:cNvPr id="6" name="Oval 26">
              <a:extLst>
                <a:ext uri="{FF2B5EF4-FFF2-40B4-BE49-F238E27FC236}">
                  <a16:creationId xmlns:a16="http://schemas.microsoft.com/office/drawing/2014/main" id="{98985BAF-73B2-44E8-0A28-3280B3D984A4}"/>
                </a:ext>
              </a:extLst>
            </p:cNvPr>
            <p:cNvSpPr/>
            <p:nvPr/>
          </p:nvSpPr>
          <p:spPr>
            <a:xfrm>
              <a:off x="4589421" y="154132"/>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9" name="Straight Arrow Connector 27">
              <a:extLst>
                <a:ext uri="{FF2B5EF4-FFF2-40B4-BE49-F238E27FC236}">
                  <a16:creationId xmlns:a16="http://schemas.microsoft.com/office/drawing/2014/main" id="{2401BF95-E9A3-2EDD-2C94-624A35239DCF}"/>
                </a:ext>
              </a:extLst>
            </p:cNvPr>
            <p:cNvCxnSpPr>
              <a:cxnSpLocks/>
            </p:cNvCxnSpPr>
            <p:nvPr/>
          </p:nvCxnSpPr>
          <p:spPr>
            <a:xfrm flipV="1">
              <a:off x="4761149" y="325860"/>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11" name="Oval 104">
            <a:extLst>
              <a:ext uri="{FF2B5EF4-FFF2-40B4-BE49-F238E27FC236}">
                <a16:creationId xmlns:a16="http://schemas.microsoft.com/office/drawing/2014/main" id="{2DA646C6-2FFC-CABC-0205-908A8F8075B6}"/>
              </a:ext>
            </a:extLst>
          </p:cNvPr>
          <p:cNvSpPr/>
          <p:nvPr/>
        </p:nvSpPr>
        <p:spPr>
          <a:xfrm>
            <a:off x="920319"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Espace réservé pour une image  13">
            <a:extLst>
              <a:ext uri="{FF2B5EF4-FFF2-40B4-BE49-F238E27FC236}">
                <a16:creationId xmlns:a16="http://schemas.microsoft.com/office/drawing/2014/main" id="{F9E6422B-9497-DCBC-B28D-DED2337E80F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188408"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prstClr val="white"/>
            </a:bgClr>
          </a:pattFill>
        </p:spPr>
      </p:pic>
      <p:sp>
        <p:nvSpPr>
          <p:cNvPr id="16" name="Oval 101">
            <a:extLst>
              <a:ext uri="{FF2B5EF4-FFF2-40B4-BE49-F238E27FC236}">
                <a16:creationId xmlns:a16="http://schemas.microsoft.com/office/drawing/2014/main" id="{4AB4E753-86DE-0EF9-228E-5B90EF3B85C5}"/>
              </a:ext>
            </a:extLst>
          </p:cNvPr>
          <p:cNvSpPr/>
          <p:nvPr/>
        </p:nvSpPr>
        <p:spPr>
          <a:xfrm>
            <a:off x="2363015"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Espace réservé pour une image  17">
            <a:extLst>
              <a:ext uri="{FF2B5EF4-FFF2-40B4-BE49-F238E27FC236}">
                <a16:creationId xmlns:a16="http://schemas.microsoft.com/office/drawing/2014/main" id="{C9A2D888-F89F-3F73-7629-297A92AF7A5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631105"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prstClr val="white"/>
            </a:bgClr>
          </a:pattFill>
        </p:spPr>
      </p:pic>
      <p:sp>
        <p:nvSpPr>
          <p:cNvPr id="18" name="Oval 98">
            <a:extLst>
              <a:ext uri="{FF2B5EF4-FFF2-40B4-BE49-F238E27FC236}">
                <a16:creationId xmlns:a16="http://schemas.microsoft.com/office/drawing/2014/main" id="{90A2F42A-0886-74AB-6224-304413D608E8}"/>
              </a:ext>
            </a:extLst>
          </p:cNvPr>
          <p:cNvSpPr/>
          <p:nvPr/>
        </p:nvSpPr>
        <p:spPr>
          <a:xfrm>
            <a:off x="3805711"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Espace réservé pour une image  21">
            <a:extLst>
              <a:ext uri="{FF2B5EF4-FFF2-40B4-BE49-F238E27FC236}">
                <a16:creationId xmlns:a16="http://schemas.microsoft.com/office/drawing/2014/main" id="{6A2A0649-8449-033E-A317-ED66F6B68AA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4073798"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prstClr val="white"/>
            </a:bgClr>
          </a:pattFill>
        </p:spPr>
      </p:pic>
      <p:sp>
        <p:nvSpPr>
          <p:cNvPr id="20" name="Oval 95">
            <a:extLst>
              <a:ext uri="{FF2B5EF4-FFF2-40B4-BE49-F238E27FC236}">
                <a16:creationId xmlns:a16="http://schemas.microsoft.com/office/drawing/2014/main" id="{E40EA369-5031-EC53-7089-68A737797236}"/>
              </a:ext>
            </a:extLst>
          </p:cNvPr>
          <p:cNvSpPr/>
          <p:nvPr/>
        </p:nvSpPr>
        <p:spPr>
          <a:xfrm>
            <a:off x="5248408"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1" name="Espace réservé pour une image  19">
            <a:extLst>
              <a:ext uri="{FF2B5EF4-FFF2-40B4-BE49-F238E27FC236}">
                <a16:creationId xmlns:a16="http://schemas.microsoft.com/office/drawing/2014/main" id="{0FE281F9-3CF5-CF7B-140D-6DAAF413243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5516494"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prstClr val="white"/>
            </a:bgClr>
          </a:pattFill>
        </p:spPr>
      </p:pic>
      <p:sp>
        <p:nvSpPr>
          <p:cNvPr id="22" name="Oval 92">
            <a:extLst>
              <a:ext uri="{FF2B5EF4-FFF2-40B4-BE49-F238E27FC236}">
                <a16:creationId xmlns:a16="http://schemas.microsoft.com/office/drawing/2014/main" id="{58BAB478-775B-77D7-B879-1179B8422677}"/>
              </a:ext>
            </a:extLst>
          </p:cNvPr>
          <p:cNvSpPr/>
          <p:nvPr/>
        </p:nvSpPr>
        <p:spPr>
          <a:xfrm>
            <a:off x="6691106"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5" name="Espace réservé pour une image  23">
            <a:extLst>
              <a:ext uri="{FF2B5EF4-FFF2-40B4-BE49-F238E27FC236}">
                <a16:creationId xmlns:a16="http://schemas.microsoft.com/office/drawing/2014/main" id="{0FAE6DA9-973C-6E64-23A5-06D486575D63}"/>
              </a:ext>
            </a:extLst>
          </p:cNvPr>
          <p:cNvPicPr>
            <a:picLocks noChangeAspect="1"/>
          </p:cNvPicPr>
          <p:nvPr/>
        </p:nvPicPr>
        <p:blipFill>
          <a:blip r:embed="rId6">
            <a:extLst>
              <a:ext uri="{28A0092B-C50C-407E-A947-70E740481C1C}">
                <a14:useLocalDpi xmlns:a14="http://schemas.microsoft.com/office/drawing/2010/main" val="0"/>
              </a:ext>
            </a:extLst>
          </a:blip>
          <a:srcRect l="18000" r="18000"/>
          <a:stretch>
            <a:fillRect/>
          </a:stretch>
        </p:blipFill>
        <p:spPr>
          <a:xfrm>
            <a:off x="6959187" y="3694761"/>
            <a:ext cx="1576474" cy="1576474"/>
          </a:xfrm>
          <a:custGeom>
            <a:avLst/>
            <a:gdLst>
              <a:gd name="connsiteX0" fmla="*/ 788237 w 1576474"/>
              <a:gd name="connsiteY0" fmla="*/ 0 h 1576474"/>
              <a:gd name="connsiteX1" fmla="*/ 1576474 w 1576474"/>
              <a:gd name="connsiteY1" fmla="*/ 788237 h 1576474"/>
              <a:gd name="connsiteX2" fmla="*/ 788237 w 1576474"/>
              <a:gd name="connsiteY2" fmla="*/ 1576474 h 1576474"/>
              <a:gd name="connsiteX3" fmla="*/ 0 w 1576474"/>
              <a:gd name="connsiteY3" fmla="*/ 788237 h 1576474"/>
              <a:gd name="connsiteX4" fmla="*/ 788237 w 1576474"/>
              <a:gd name="connsiteY4" fmla="*/ 0 h 157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474" h="1576474">
                <a:moveTo>
                  <a:pt x="788237" y="0"/>
                </a:moveTo>
                <a:cubicBezTo>
                  <a:pt x="1223568" y="0"/>
                  <a:pt x="1576474" y="352906"/>
                  <a:pt x="1576474" y="788237"/>
                </a:cubicBezTo>
                <a:cubicBezTo>
                  <a:pt x="1576474" y="1223568"/>
                  <a:pt x="1223568" y="1576474"/>
                  <a:pt x="788237" y="1576474"/>
                </a:cubicBezTo>
                <a:cubicBezTo>
                  <a:pt x="352906" y="1576474"/>
                  <a:pt x="0" y="1223568"/>
                  <a:pt x="0" y="788237"/>
                </a:cubicBezTo>
                <a:cubicBezTo>
                  <a:pt x="0" y="352906"/>
                  <a:pt x="352906" y="0"/>
                  <a:pt x="788237" y="0"/>
                </a:cubicBezTo>
                <a:close/>
              </a:path>
            </a:pathLst>
          </a:custGeom>
          <a:pattFill prst="pct5">
            <a:fgClr>
              <a:srgbClr val="FF0000"/>
            </a:fgClr>
            <a:bgClr>
              <a:prstClr val="white"/>
            </a:bgClr>
          </a:pattFill>
        </p:spPr>
      </p:pic>
      <p:sp>
        <p:nvSpPr>
          <p:cNvPr id="26" name="TextBox 109">
            <a:extLst>
              <a:ext uri="{FF2B5EF4-FFF2-40B4-BE49-F238E27FC236}">
                <a16:creationId xmlns:a16="http://schemas.microsoft.com/office/drawing/2014/main" id="{CF6BF412-E4C0-1BDC-8301-F45FAEB95096}"/>
              </a:ext>
            </a:extLst>
          </p:cNvPr>
          <p:cNvSpPr txBox="1"/>
          <p:nvPr/>
        </p:nvSpPr>
        <p:spPr>
          <a:xfrm>
            <a:off x="805019" y="5557553"/>
            <a:ext cx="2343251" cy="854080"/>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gn="ctr">
              <a:lnSpc>
                <a:spcPct val="150000"/>
              </a:lnSpc>
            </a:pPr>
            <a:r>
              <a:rPr lang="en-US" sz="1300" b="1" dirty="0" err="1">
                <a:solidFill>
                  <a:schemeClr val="tx2"/>
                </a:solidFill>
                <a:latin typeface="Figtree" pitchFamily="2" charset="0"/>
                <a:ea typeface="Manrope Medium"/>
                <a:cs typeface="Manrope Medium"/>
                <a:sym typeface="Manrope Medium"/>
              </a:rPr>
              <a:t>ChatGpt</a:t>
            </a:r>
            <a:r>
              <a:rPr lang="en-US" sz="1300" b="1" dirty="0">
                <a:solidFill>
                  <a:schemeClr val="tx2"/>
                </a:solidFill>
                <a:latin typeface="Figtree" pitchFamily="2" charset="0"/>
                <a:ea typeface="Manrope Medium"/>
                <a:cs typeface="Manrope Medium"/>
                <a:sym typeface="Manrope Medium"/>
              </a:rPr>
              <a:t> (Open AI)</a:t>
            </a:r>
          </a:p>
          <a:p>
            <a:pPr algn="ctr">
              <a:lnSpc>
                <a:spcPct val="100000"/>
              </a:lnSpc>
            </a:pPr>
            <a:r>
              <a:rPr lang="fr-FR" sz="1000" dirty="0"/>
              <a:t>GPT : </a:t>
            </a:r>
            <a:r>
              <a:rPr lang="fr-FR" sz="1000" dirty="0" err="1"/>
              <a:t>Generative</a:t>
            </a:r>
            <a:r>
              <a:rPr lang="fr-FR" sz="1000" dirty="0"/>
              <a:t> Pre-</a:t>
            </a:r>
            <a:r>
              <a:rPr lang="fr-FR" sz="1000" dirty="0" err="1"/>
              <a:t>trained</a:t>
            </a:r>
            <a:r>
              <a:rPr lang="fr-FR" sz="1000" dirty="0"/>
              <a:t> Transformer (ce qui se traduit en français par </a:t>
            </a:r>
            <a:r>
              <a:rPr lang="fr-FR" sz="1000" i="1" dirty="0"/>
              <a:t>transformateur génératif pré-entraîné</a:t>
            </a:r>
            <a:r>
              <a:rPr lang="fr-FR" sz="1000" dirty="0"/>
              <a:t>)</a:t>
            </a:r>
            <a:endParaRPr lang="en-US" sz="1000" dirty="0">
              <a:solidFill>
                <a:schemeClr val="tx2"/>
              </a:solidFill>
              <a:latin typeface="Figtree" pitchFamily="2" charset="0"/>
              <a:ea typeface="Manrope Medium"/>
              <a:cs typeface="Manrope Medium"/>
              <a:sym typeface="Manrope Medium"/>
            </a:endParaRPr>
          </a:p>
        </p:txBody>
      </p:sp>
      <p:pic>
        <p:nvPicPr>
          <p:cNvPr id="27" name="Graphic 111">
            <a:extLst>
              <a:ext uri="{FF2B5EF4-FFF2-40B4-BE49-F238E27FC236}">
                <a16:creationId xmlns:a16="http://schemas.microsoft.com/office/drawing/2014/main" id="{9D5F84FC-F9A2-E31F-F044-703295962B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325929" y="2762356"/>
            <a:ext cx="274320" cy="274320"/>
          </a:xfrm>
          <a:prstGeom prst="rect">
            <a:avLst/>
          </a:prstGeom>
        </p:spPr>
      </p:pic>
      <p:sp>
        <p:nvSpPr>
          <p:cNvPr id="28" name="TextBox 109">
            <a:extLst>
              <a:ext uri="{FF2B5EF4-FFF2-40B4-BE49-F238E27FC236}">
                <a16:creationId xmlns:a16="http://schemas.microsoft.com/office/drawing/2014/main" id="{F0835D53-3118-31ED-FD42-659A5AFD60B7}"/>
              </a:ext>
            </a:extLst>
          </p:cNvPr>
          <p:cNvSpPr txBox="1"/>
          <p:nvPr/>
        </p:nvSpPr>
        <p:spPr>
          <a:xfrm>
            <a:off x="2500276" y="2780792"/>
            <a:ext cx="2071953" cy="600164"/>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gn="ctr">
              <a:lnSpc>
                <a:spcPct val="100000"/>
              </a:lnSpc>
            </a:pPr>
            <a:r>
              <a:rPr lang="en-US" sz="1300" b="1" dirty="0">
                <a:solidFill>
                  <a:schemeClr val="tx2"/>
                </a:solidFill>
                <a:latin typeface="Figtree" pitchFamily="2" charset="0"/>
                <a:ea typeface="Manrope Medium"/>
                <a:cs typeface="Manrope Medium"/>
                <a:sym typeface="Manrope Medium"/>
              </a:rPr>
              <a:t>Claude “Shannon” </a:t>
            </a:r>
            <a:r>
              <a:rPr lang="en-US" sz="1000" dirty="0">
                <a:sym typeface="Manrope Medium"/>
              </a:rPr>
              <a:t>(2001) à </a:t>
            </a:r>
            <a:r>
              <a:rPr lang="en-US" sz="1000" dirty="0" err="1">
                <a:sym typeface="Manrope Medium"/>
              </a:rPr>
              <a:t>posé</a:t>
            </a:r>
            <a:r>
              <a:rPr lang="en-US" sz="1000" dirty="0">
                <a:sym typeface="Manrope Medium"/>
              </a:rPr>
              <a:t> les bases </a:t>
            </a:r>
            <a:r>
              <a:rPr lang="en-US" sz="1000" dirty="0" err="1">
                <a:sym typeface="Manrope Medium"/>
              </a:rPr>
              <a:t>mathématiques</a:t>
            </a:r>
            <a:r>
              <a:rPr lang="en-US" sz="1000" dirty="0">
                <a:sym typeface="Manrope Medium"/>
              </a:rPr>
              <a:t> </a:t>
            </a:r>
          </a:p>
          <a:p>
            <a:pPr algn="ctr">
              <a:lnSpc>
                <a:spcPct val="100000"/>
              </a:lnSpc>
            </a:pPr>
            <a:r>
              <a:rPr lang="en-US" sz="1000" dirty="0">
                <a:sym typeface="Manrope Medium"/>
              </a:rPr>
              <a:t>des circuits </a:t>
            </a:r>
            <a:r>
              <a:rPr lang="en-US" sz="1000" dirty="0" err="1">
                <a:sym typeface="Manrope Medium"/>
              </a:rPr>
              <a:t>logiques</a:t>
            </a:r>
            <a:r>
              <a:rPr lang="en-US" sz="1000" dirty="0">
                <a:sym typeface="Manrope Medium"/>
              </a:rPr>
              <a:t> – (Anthropic)</a:t>
            </a:r>
          </a:p>
        </p:txBody>
      </p:sp>
      <p:sp>
        <p:nvSpPr>
          <p:cNvPr id="32" name="TextBox 109">
            <a:extLst>
              <a:ext uri="{FF2B5EF4-FFF2-40B4-BE49-F238E27FC236}">
                <a16:creationId xmlns:a16="http://schemas.microsoft.com/office/drawing/2014/main" id="{7F7345DD-9226-313F-238C-86C6EEE24B5A}"/>
              </a:ext>
            </a:extLst>
          </p:cNvPr>
          <p:cNvSpPr txBox="1"/>
          <p:nvPr/>
        </p:nvSpPr>
        <p:spPr>
          <a:xfrm>
            <a:off x="5248408" y="2857736"/>
            <a:ext cx="2188917" cy="446276"/>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gn="ctr">
              <a:lnSpc>
                <a:spcPct val="100000"/>
              </a:lnSpc>
            </a:pPr>
            <a:r>
              <a:rPr lang="en-US" sz="1300" b="1" dirty="0">
                <a:solidFill>
                  <a:schemeClr val="tx2"/>
                </a:solidFill>
                <a:latin typeface="Figtree" pitchFamily="2" charset="0"/>
                <a:ea typeface="Manrope Medium"/>
                <a:cs typeface="Manrope Medium"/>
                <a:sym typeface="Manrope Medium"/>
              </a:rPr>
              <a:t>Copilot </a:t>
            </a:r>
            <a:r>
              <a:rPr lang="en-US" sz="1000" dirty="0">
                <a:sym typeface="Manrope Medium"/>
              </a:rPr>
              <a:t>(Microsoft) </a:t>
            </a:r>
            <a:r>
              <a:rPr lang="en-US" sz="1000" dirty="0" err="1">
                <a:sym typeface="Manrope Medium"/>
              </a:rPr>
              <a:t>métaphore</a:t>
            </a:r>
            <a:r>
              <a:rPr lang="en-US" sz="1000" dirty="0">
                <a:sym typeface="Manrope Medium"/>
              </a:rPr>
              <a:t> qui </a:t>
            </a:r>
            <a:r>
              <a:rPr lang="en-US" sz="1000" dirty="0" err="1">
                <a:sym typeface="Manrope Medium"/>
              </a:rPr>
              <a:t>définit</a:t>
            </a:r>
            <a:r>
              <a:rPr lang="en-US" sz="1000" dirty="0">
                <a:sym typeface="Manrope Medium"/>
              </a:rPr>
              <a:t> la relation entre </a:t>
            </a:r>
            <a:r>
              <a:rPr lang="en-US" sz="1000" dirty="0" err="1">
                <a:sym typeface="Manrope Medium"/>
              </a:rPr>
              <a:t>l’humain</a:t>
            </a:r>
            <a:r>
              <a:rPr lang="en-US" sz="1000" dirty="0">
                <a:sym typeface="Manrope Medium"/>
              </a:rPr>
              <a:t> et </a:t>
            </a:r>
            <a:r>
              <a:rPr lang="en-US" sz="1000" dirty="0" err="1">
                <a:sym typeface="Manrope Medium"/>
              </a:rPr>
              <a:t>l’ia</a:t>
            </a:r>
            <a:endParaRPr lang="en-US" sz="1000" dirty="0">
              <a:sym typeface="Manrope Medium"/>
            </a:endParaRPr>
          </a:p>
        </p:txBody>
      </p:sp>
      <p:sp>
        <p:nvSpPr>
          <p:cNvPr id="34" name="TextBox 109">
            <a:extLst>
              <a:ext uri="{FF2B5EF4-FFF2-40B4-BE49-F238E27FC236}">
                <a16:creationId xmlns:a16="http://schemas.microsoft.com/office/drawing/2014/main" id="{80058202-F0A7-85E5-8F3A-E329E185B2BD}"/>
              </a:ext>
            </a:extLst>
          </p:cNvPr>
          <p:cNvSpPr txBox="1"/>
          <p:nvPr/>
        </p:nvSpPr>
        <p:spPr>
          <a:xfrm>
            <a:off x="3656917" y="5557553"/>
            <a:ext cx="2071953" cy="754053"/>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gn="ctr">
              <a:lnSpc>
                <a:spcPct val="100000"/>
              </a:lnSpc>
            </a:pPr>
            <a:r>
              <a:rPr lang="en-US" sz="1300" b="1" dirty="0">
                <a:solidFill>
                  <a:schemeClr val="tx2"/>
                </a:solidFill>
                <a:latin typeface="Figtree" pitchFamily="2" charset="0"/>
                <a:ea typeface="Manrope Medium"/>
                <a:cs typeface="Manrope Medium"/>
                <a:sym typeface="Manrope Medium"/>
              </a:rPr>
              <a:t>Gemini </a:t>
            </a:r>
            <a:r>
              <a:rPr lang="en-US" sz="1000" dirty="0">
                <a:sym typeface="Manrope Medium"/>
              </a:rPr>
              <a:t>(Google) faire </a:t>
            </a:r>
            <a:r>
              <a:rPr lang="en-US" sz="1000" dirty="0" err="1">
                <a:sym typeface="Manrope Medium"/>
              </a:rPr>
              <a:t>référence</a:t>
            </a:r>
            <a:r>
              <a:rPr lang="en-US" sz="1000" dirty="0">
                <a:sym typeface="Manrope Medium"/>
              </a:rPr>
              <a:t> aux </a:t>
            </a:r>
            <a:r>
              <a:rPr lang="en-US" sz="1000" dirty="0" err="1">
                <a:sym typeface="Manrope Medium"/>
              </a:rPr>
              <a:t>jumeaux</a:t>
            </a:r>
            <a:r>
              <a:rPr lang="en-US" sz="1000" dirty="0">
                <a:sym typeface="Manrope Medium"/>
              </a:rPr>
              <a:t> (</a:t>
            </a:r>
            <a:r>
              <a:rPr lang="en-US" sz="1000" dirty="0" err="1">
                <a:sym typeface="Manrope Medium"/>
              </a:rPr>
              <a:t>Gémeaux</a:t>
            </a:r>
            <a:r>
              <a:rPr lang="en-US" sz="1000" dirty="0">
                <a:sym typeface="Manrope Medium"/>
              </a:rPr>
              <a:t>) association de deux </a:t>
            </a:r>
            <a:r>
              <a:rPr lang="en-US" sz="1000" dirty="0" err="1">
                <a:sym typeface="Manrope Medium"/>
              </a:rPr>
              <a:t>laboratoires</a:t>
            </a:r>
            <a:r>
              <a:rPr lang="en-US" sz="1000" dirty="0">
                <a:sym typeface="Manrope Medium"/>
              </a:rPr>
              <a:t> Google pour </a:t>
            </a:r>
            <a:r>
              <a:rPr lang="en-US" sz="1000" dirty="0" err="1">
                <a:sym typeface="Manrope Medium"/>
              </a:rPr>
              <a:t>créer</a:t>
            </a:r>
            <a:r>
              <a:rPr lang="en-US" sz="1000" dirty="0">
                <a:sym typeface="Manrope Medium"/>
              </a:rPr>
              <a:t> </a:t>
            </a:r>
            <a:r>
              <a:rPr lang="en-US" sz="1000" dirty="0" err="1">
                <a:sym typeface="Manrope Medium"/>
              </a:rPr>
              <a:t>une</a:t>
            </a:r>
            <a:r>
              <a:rPr lang="en-US" sz="1000" dirty="0">
                <a:sym typeface="Manrope Medium"/>
              </a:rPr>
              <a:t> IA</a:t>
            </a:r>
          </a:p>
        </p:txBody>
      </p:sp>
      <p:sp>
        <p:nvSpPr>
          <p:cNvPr id="35" name="TextBox 109">
            <a:extLst>
              <a:ext uri="{FF2B5EF4-FFF2-40B4-BE49-F238E27FC236}">
                <a16:creationId xmlns:a16="http://schemas.microsoft.com/office/drawing/2014/main" id="{DD48B7F4-2DB9-01CD-BB63-D385EB6EA9B4}"/>
              </a:ext>
            </a:extLst>
          </p:cNvPr>
          <p:cNvSpPr txBox="1"/>
          <p:nvPr/>
        </p:nvSpPr>
        <p:spPr>
          <a:xfrm>
            <a:off x="6651897" y="5557553"/>
            <a:ext cx="2071953" cy="600164"/>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gn="ctr">
              <a:lnSpc>
                <a:spcPct val="100000"/>
              </a:lnSpc>
            </a:pPr>
            <a:r>
              <a:rPr lang="en-US" sz="1300" b="1" dirty="0">
                <a:solidFill>
                  <a:schemeClr val="tx2"/>
                </a:solidFill>
                <a:latin typeface="Figtree" pitchFamily="2" charset="0"/>
                <a:ea typeface="Manrope Medium"/>
                <a:cs typeface="Manrope Medium"/>
                <a:sym typeface="Manrope Medium"/>
              </a:rPr>
              <a:t>Mistral </a:t>
            </a:r>
            <a:r>
              <a:rPr lang="fr-FR" sz="1000" dirty="0"/>
              <a:t>pour symboliser un vent de fraîcheur, de puissance et d'indépendance venu de France</a:t>
            </a:r>
            <a:endParaRPr lang="en-US" sz="1000" dirty="0">
              <a:sym typeface="Manrope Medium"/>
            </a:endParaRPr>
          </a:p>
        </p:txBody>
      </p:sp>
      <p:sp>
        <p:nvSpPr>
          <p:cNvPr id="36" name="TextBox 3">
            <a:extLst>
              <a:ext uri="{FF2B5EF4-FFF2-40B4-BE49-F238E27FC236}">
                <a16:creationId xmlns:a16="http://schemas.microsoft.com/office/drawing/2014/main" id="{2F794886-01D7-A270-9422-E6206050C8B3}"/>
              </a:ext>
            </a:extLst>
          </p:cNvPr>
          <p:cNvSpPr txBox="1"/>
          <p:nvPr/>
        </p:nvSpPr>
        <p:spPr>
          <a:xfrm>
            <a:off x="9071839" y="2625745"/>
            <a:ext cx="2894874" cy="1569660"/>
          </a:xfrm>
          <a:prstGeom prst="rect">
            <a:avLst/>
          </a:prstGeom>
          <a:noFill/>
        </p:spPr>
        <p:txBody>
          <a:bodyPr wrap="square" rtlCol="0">
            <a:spAutoFit/>
          </a:bodyPr>
          <a:lstStyle/>
          <a:p>
            <a:pPr>
              <a:lnSpc>
                <a:spcPct val="100000"/>
              </a:lnSpc>
            </a:pPr>
            <a:r>
              <a:rPr lang="fr-FR" sz="2400" dirty="0" err="1">
                <a:latin typeface="Figtree"/>
              </a:rPr>
              <a:t>Grok</a:t>
            </a:r>
            <a:r>
              <a:rPr lang="fr-FR" sz="2400" dirty="0">
                <a:latin typeface="Figtree"/>
              </a:rPr>
              <a:t> : </a:t>
            </a:r>
            <a:r>
              <a:rPr lang="fr-FR" sz="1200" dirty="0"/>
              <a:t>Elon Musk est un fan de science-fiction d’où le nom de son IA. Un livre qui raconte l’histoire d’un humain élevé sur Mars qui utilise ce mot pour décrire une compréhension profonde et intuitive, bien au-delà de la simple compréhension intellectuelle.</a:t>
            </a:r>
            <a:endParaRPr lang="fr-FR" sz="2000" dirty="0">
              <a:latin typeface="Figtree"/>
            </a:endParaRPr>
          </a:p>
        </p:txBody>
      </p:sp>
      <p:sp>
        <p:nvSpPr>
          <p:cNvPr id="37" name="TextBox 3">
            <a:extLst>
              <a:ext uri="{FF2B5EF4-FFF2-40B4-BE49-F238E27FC236}">
                <a16:creationId xmlns:a16="http://schemas.microsoft.com/office/drawing/2014/main" id="{81B5C3D5-00E2-DAA2-2676-80492166D7B5}"/>
              </a:ext>
            </a:extLst>
          </p:cNvPr>
          <p:cNvSpPr txBox="1"/>
          <p:nvPr/>
        </p:nvSpPr>
        <p:spPr>
          <a:xfrm>
            <a:off x="9078742" y="4633676"/>
            <a:ext cx="2894874" cy="1569660"/>
          </a:xfrm>
          <a:prstGeom prst="rect">
            <a:avLst/>
          </a:prstGeom>
          <a:noFill/>
        </p:spPr>
        <p:txBody>
          <a:bodyPr wrap="square" rtlCol="0">
            <a:spAutoFit/>
          </a:bodyPr>
          <a:lstStyle/>
          <a:p>
            <a:pPr>
              <a:lnSpc>
                <a:spcPct val="100000"/>
              </a:lnSpc>
            </a:pPr>
            <a:r>
              <a:rPr lang="fr-FR" sz="2400" dirty="0">
                <a:latin typeface="Figtree"/>
              </a:rPr>
              <a:t>Siri, Alexa, Sora, </a:t>
            </a:r>
            <a:r>
              <a:rPr lang="fr-FR" sz="2400" dirty="0" err="1">
                <a:latin typeface="Figtree"/>
              </a:rPr>
              <a:t>Midjourney</a:t>
            </a:r>
            <a:r>
              <a:rPr lang="fr-FR" sz="2400" dirty="0">
                <a:latin typeface="Figtree"/>
              </a:rPr>
              <a:t>, </a:t>
            </a:r>
            <a:r>
              <a:rPr lang="fr-FR" sz="2400" dirty="0" err="1">
                <a:latin typeface="Figtree"/>
              </a:rPr>
              <a:t>Dall.E</a:t>
            </a:r>
            <a:r>
              <a:rPr lang="fr-FR" sz="2400" dirty="0">
                <a:latin typeface="Figtree"/>
              </a:rPr>
              <a:t>, </a:t>
            </a:r>
            <a:r>
              <a:rPr lang="fr-FR" sz="2400" dirty="0" err="1">
                <a:latin typeface="Figtree"/>
              </a:rPr>
              <a:t>DeepSeek</a:t>
            </a:r>
            <a:r>
              <a:rPr lang="fr-FR" sz="2400" dirty="0">
                <a:latin typeface="Figtree"/>
              </a:rPr>
              <a:t>, </a:t>
            </a:r>
            <a:r>
              <a:rPr lang="fr-FR" sz="2400" dirty="0" err="1">
                <a:latin typeface="Figtree"/>
              </a:rPr>
              <a:t>Perplexity</a:t>
            </a:r>
            <a:r>
              <a:rPr lang="fr-FR" sz="2400" dirty="0">
                <a:latin typeface="Figtree"/>
              </a:rPr>
              <a:t>, Suno…</a:t>
            </a:r>
            <a:endParaRPr lang="fr-FR" sz="2000" dirty="0">
              <a:latin typeface="Figtree"/>
            </a:endParaRPr>
          </a:p>
        </p:txBody>
      </p:sp>
      <p:grpSp>
        <p:nvGrpSpPr>
          <p:cNvPr id="43" name="Groupe 42">
            <a:extLst>
              <a:ext uri="{FF2B5EF4-FFF2-40B4-BE49-F238E27FC236}">
                <a16:creationId xmlns:a16="http://schemas.microsoft.com/office/drawing/2014/main" id="{CB203BFE-D3C8-F1C0-3F7D-EA72D431A726}"/>
              </a:ext>
            </a:extLst>
          </p:cNvPr>
          <p:cNvGrpSpPr/>
          <p:nvPr/>
        </p:nvGrpSpPr>
        <p:grpSpPr>
          <a:xfrm>
            <a:off x="8426598" y="3482955"/>
            <a:ext cx="377144" cy="300954"/>
            <a:chOff x="7910423" y="3080874"/>
            <a:chExt cx="377144" cy="300954"/>
          </a:xfrm>
        </p:grpSpPr>
        <p:sp>
          <p:nvSpPr>
            <p:cNvPr id="38" name="Rectangle 37">
              <a:extLst>
                <a:ext uri="{FF2B5EF4-FFF2-40B4-BE49-F238E27FC236}">
                  <a16:creationId xmlns:a16="http://schemas.microsoft.com/office/drawing/2014/main" id="{B299FE5C-A49A-33FB-D417-50157C0B8956}"/>
                </a:ext>
              </a:extLst>
            </p:cNvPr>
            <p:cNvSpPr/>
            <p:nvPr/>
          </p:nvSpPr>
          <p:spPr>
            <a:xfrm>
              <a:off x="7910423" y="3080874"/>
              <a:ext cx="126816" cy="30008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a:extLst>
                <a:ext uri="{FF2B5EF4-FFF2-40B4-BE49-F238E27FC236}">
                  <a16:creationId xmlns:a16="http://schemas.microsoft.com/office/drawing/2014/main" id="{9BF905A4-1B91-A433-1173-5633B05E156B}"/>
                </a:ext>
              </a:extLst>
            </p:cNvPr>
            <p:cNvSpPr/>
            <p:nvPr/>
          </p:nvSpPr>
          <p:spPr>
            <a:xfrm>
              <a:off x="8035587" y="3081746"/>
              <a:ext cx="126816" cy="30008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A7405812-846A-777B-DA48-BAC5B164DCC5}"/>
                </a:ext>
              </a:extLst>
            </p:cNvPr>
            <p:cNvSpPr/>
            <p:nvPr/>
          </p:nvSpPr>
          <p:spPr>
            <a:xfrm>
              <a:off x="8160751" y="3080874"/>
              <a:ext cx="126816" cy="300082"/>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762604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178A3A2-79DF-704A-BE74-F2E4EC180309}"/>
            </a:ext>
          </a:extLst>
        </p:cNvPr>
        <p:cNvGrpSpPr/>
        <p:nvPr/>
      </p:nvGrpSpPr>
      <p:grpSpPr>
        <a:xfrm>
          <a:off x="0" y="0"/>
          <a:ext cx="0" cy="0"/>
          <a:chOff x="0" y="0"/>
          <a:chExt cx="0" cy="0"/>
        </a:xfrm>
      </p:grpSpPr>
      <p:sp>
        <p:nvSpPr>
          <p:cNvPr id="12" name="Freeform: Shape 3">
            <a:extLst>
              <a:ext uri="{FF2B5EF4-FFF2-40B4-BE49-F238E27FC236}">
                <a16:creationId xmlns:a16="http://schemas.microsoft.com/office/drawing/2014/main" id="{EAE983EE-FA02-3B38-DE15-0C1E53B81FA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3" name="Picture 42">
            <a:extLst>
              <a:ext uri="{FF2B5EF4-FFF2-40B4-BE49-F238E27FC236}">
                <a16:creationId xmlns:a16="http://schemas.microsoft.com/office/drawing/2014/main" id="{16B5CC96-DDB8-2B22-682A-BD2F79577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3429"/>
          <a:stretch>
            <a:fillRect/>
          </a:stretch>
        </p:blipFill>
        <p:spPr bwMode="auto">
          <a:xfrm>
            <a:off x="8573520" y="2865948"/>
            <a:ext cx="4293568" cy="3272450"/>
          </a:xfrm>
          <a:custGeom>
            <a:avLst/>
            <a:gdLst>
              <a:gd name="connsiteX0" fmla="*/ 0 w 7158365"/>
              <a:gd name="connsiteY0" fmla="*/ 0 h 5455926"/>
              <a:gd name="connsiteX1" fmla="*/ 7158365 w 7158365"/>
              <a:gd name="connsiteY1" fmla="*/ 0 h 5455926"/>
              <a:gd name="connsiteX2" fmla="*/ 7158365 w 7158365"/>
              <a:gd name="connsiteY2" fmla="*/ 299427 h 5455926"/>
              <a:gd name="connsiteX3" fmla="*/ 1116158 w 7158365"/>
              <a:gd name="connsiteY3" fmla="*/ 299427 h 5455926"/>
              <a:gd name="connsiteX4" fmla="*/ 1116158 w 7158365"/>
              <a:gd name="connsiteY4" fmla="*/ 4801844 h 5455926"/>
              <a:gd name="connsiteX5" fmla="*/ 7158365 w 7158365"/>
              <a:gd name="connsiteY5" fmla="*/ 4801844 h 5455926"/>
              <a:gd name="connsiteX6" fmla="*/ 7158365 w 7158365"/>
              <a:gd name="connsiteY6" fmla="*/ 5455926 h 5455926"/>
              <a:gd name="connsiteX7" fmla="*/ 0 w 7158365"/>
              <a:gd name="connsiteY7" fmla="*/ 5455926 h 545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8365" h="5455926">
                <a:moveTo>
                  <a:pt x="0" y="0"/>
                </a:moveTo>
                <a:lnTo>
                  <a:pt x="7158365" y="0"/>
                </a:lnTo>
                <a:lnTo>
                  <a:pt x="7158365" y="299427"/>
                </a:lnTo>
                <a:lnTo>
                  <a:pt x="1116158" y="299427"/>
                </a:lnTo>
                <a:lnTo>
                  <a:pt x="1116158" y="4801844"/>
                </a:lnTo>
                <a:lnTo>
                  <a:pt x="7158365" y="4801844"/>
                </a:lnTo>
                <a:lnTo>
                  <a:pt x="7158365" y="5455926"/>
                </a:lnTo>
                <a:lnTo>
                  <a:pt x="0" y="5455926"/>
                </a:lnTo>
                <a:close/>
              </a:path>
            </a:pathLst>
          </a:custGeom>
          <a:noFill/>
          <a:effectLst/>
          <a:extLst>
            <a:ext uri="{909E8E84-426E-40DD-AFC4-6F175D3DCCD1}">
              <a14:hiddenFill xmlns:a14="http://schemas.microsoft.com/office/drawing/2010/main">
                <a:solidFill>
                  <a:srgbClr val="FFFFFF"/>
                </a:solidFill>
              </a14:hiddenFill>
            </a:ext>
          </a:extLst>
        </p:spPr>
      </p:pic>
      <p:pic>
        <p:nvPicPr>
          <p:cNvPr id="16" name="Espace réservé pour une image  15">
            <a:extLst>
              <a:ext uri="{FF2B5EF4-FFF2-40B4-BE49-F238E27FC236}">
                <a16:creationId xmlns:a16="http://schemas.microsoft.com/office/drawing/2014/main" id="{BAF23C7F-CF0F-6DEB-60F0-307B7169CD82}"/>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2808" r="12808"/>
          <a:stretch>
            <a:fillRect/>
          </a:stretch>
        </p:blipFill>
        <p:spPr>
          <a:xfrm>
            <a:off x="9230559" y="3047864"/>
            <a:ext cx="3636528" cy="2745034"/>
          </a:xfrm>
        </p:spPr>
      </p:pic>
      <p:sp>
        <p:nvSpPr>
          <p:cNvPr id="5" name="TextBox 1">
            <a:extLst>
              <a:ext uri="{FF2B5EF4-FFF2-40B4-BE49-F238E27FC236}">
                <a16:creationId xmlns:a16="http://schemas.microsoft.com/office/drawing/2014/main" id="{7161B701-6807-8E4F-C3FB-C0456684904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10" name="TextBox 1">
            <a:extLst>
              <a:ext uri="{FF2B5EF4-FFF2-40B4-BE49-F238E27FC236}">
                <a16:creationId xmlns:a16="http://schemas.microsoft.com/office/drawing/2014/main" id="{73B392C5-A211-7123-0AEF-17C56DD0C68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5</a:t>
            </a:r>
            <a:endParaRPr lang="en-US" sz="2000" b="1" dirty="0">
              <a:solidFill>
                <a:schemeClr val="accent2"/>
              </a:solidFill>
              <a:latin typeface="Space Grotesk Medium"/>
              <a:sym typeface="Manrope"/>
            </a:endParaRPr>
          </a:p>
        </p:txBody>
      </p:sp>
      <p:sp>
        <p:nvSpPr>
          <p:cNvPr id="17" name="ZoneTexte 16">
            <a:extLst>
              <a:ext uri="{FF2B5EF4-FFF2-40B4-BE49-F238E27FC236}">
                <a16:creationId xmlns:a16="http://schemas.microsoft.com/office/drawing/2014/main" id="{28F80D10-1FD1-3419-9587-E0F8FEC01BA7}"/>
              </a:ext>
            </a:extLst>
          </p:cNvPr>
          <p:cNvSpPr txBox="1"/>
          <p:nvPr/>
        </p:nvSpPr>
        <p:spPr>
          <a:xfrm>
            <a:off x="344393" y="2270350"/>
            <a:ext cx="8358932" cy="3539430"/>
          </a:xfrm>
          <a:prstGeom prst="rect">
            <a:avLst/>
          </a:prstGeom>
          <a:noFill/>
        </p:spPr>
        <p:txBody>
          <a:bodyPr wrap="square" rtlCol="0">
            <a:spAutoFit/>
          </a:bodyPr>
          <a:lstStyle/>
          <a:p>
            <a:r>
              <a:rPr lang="fr-FR" sz="2800" b="1" dirty="0">
                <a:latin typeface="Figtree"/>
              </a:rPr>
              <a:t>Ouvrons par exemple Claude (claude.ai) ou </a:t>
            </a:r>
            <a:r>
              <a:rPr lang="fr-FR" sz="2800" b="1" dirty="0" err="1">
                <a:latin typeface="Figtree"/>
              </a:rPr>
              <a:t>ChatGPT</a:t>
            </a:r>
            <a:r>
              <a:rPr lang="fr-FR" sz="2800" b="1" dirty="0">
                <a:latin typeface="Figtree"/>
              </a:rPr>
              <a:t>. </a:t>
            </a:r>
          </a:p>
          <a:p>
            <a:endParaRPr lang="fr-FR" sz="2800" dirty="0">
              <a:latin typeface="Figtree"/>
            </a:endParaRPr>
          </a:p>
          <a:p>
            <a:r>
              <a:rPr lang="fr-FR" sz="2800" dirty="0">
                <a:latin typeface="Figtree"/>
              </a:rPr>
              <a:t>Posons-lui une question que vous vous posez régulièrement dans votre pratique d'expert — </a:t>
            </a:r>
            <a:r>
              <a:rPr lang="fr-FR" sz="2800" b="1" dirty="0">
                <a:latin typeface="Figtree"/>
              </a:rPr>
              <a:t>une question technique, juridique, rédactionnelle, ou méthodologique. </a:t>
            </a:r>
          </a:p>
          <a:p>
            <a:endParaRPr lang="fr-FR" sz="2800" dirty="0">
              <a:latin typeface="Figtree"/>
            </a:endParaRPr>
          </a:p>
          <a:p>
            <a:r>
              <a:rPr lang="fr-FR" sz="2800" dirty="0">
                <a:latin typeface="Figtree"/>
              </a:rPr>
              <a:t>Voyons la réponse produite</a:t>
            </a:r>
          </a:p>
        </p:txBody>
      </p:sp>
      <p:sp>
        <p:nvSpPr>
          <p:cNvPr id="19" name="Rectangle: Rounded Corners 14">
            <a:extLst>
              <a:ext uri="{FF2B5EF4-FFF2-40B4-BE49-F238E27FC236}">
                <a16:creationId xmlns:a16="http://schemas.microsoft.com/office/drawing/2014/main" id="{DAB16FFD-1FDF-87FC-82FE-80D92E16CAE2}"/>
              </a:ext>
            </a:extLst>
          </p:cNvPr>
          <p:cNvSpPr/>
          <p:nvPr/>
        </p:nvSpPr>
        <p:spPr>
          <a:xfrm>
            <a:off x="3495795" y="279981"/>
            <a:ext cx="7641392" cy="1372550"/>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7">
            <a:extLst>
              <a:ext uri="{FF2B5EF4-FFF2-40B4-BE49-F238E27FC236}">
                <a16:creationId xmlns:a16="http://schemas.microsoft.com/office/drawing/2014/main" id="{0FABEEE4-620E-C194-3CF6-54E91B252FED}"/>
              </a:ext>
            </a:extLst>
          </p:cNvPr>
          <p:cNvSpPr txBox="1"/>
          <p:nvPr/>
        </p:nvSpPr>
        <p:spPr>
          <a:xfrm>
            <a:off x="3440026" y="850133"/>
            <a:ext cx="7697160"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Exercice</a:t>
            </a:r>
          </a:p>
        </p:txBody>
      </p:sp>
      <p:sp>
        <p:nvSpPr>
          <p:cNvPr id="23" name="TextBox 1">
            <a:extLst>
              <a:ext uri="{FF2B5EF4-FFF2-40B4-BE49-F238E27FC236}">
                <a16:creationId xmlns:a16="http://schemas.microsoft.com/office/drawing/2014/main" id="{0B63D1C8-BE40-4F0F-F5DD-A0E0E4D15E0C}"/>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44" name="Oval 43">
            <a:extLst>
              <a:ext uri="{FF2B5EF4-FFF2-40B4-BE49-F238E27FC236}">
                <a16:creationId xmlns:a16="http://schemas.microsoft.com/office/drawing/2014/main" id="{EA956AF9-87E4-4085-5F17-E543672C9003}"/>
              </a:ext>
            </a:extLst>
          </p:cNvPr>
          <p:cNvSpPr/>
          <p:nvPr/>
        </p:nvSpPr>
        <p:spPr>
          <a:xfrm>
            <a:off x="5767843" y="995472"/>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44">
            <a:extLst>
              <a:ext uri="{FF2B5EF4-FFF2-40B4-BE49-F238E27FC236}">
                <a16:creationId xmlns:a16="http://schemas.microsoft.com/office/drawing/2014/main" id="{1DD7913F-4C68-4DE8-BB3F-1457569931C4}"/>
              </a:ext>
            </a:extLst>
          </p:cNvPr>
          <p:cNvCxnSpPr>
            <a:cxnSpLocks/>
          </p:cNvCxnSpPr>
          <p:nvPr/>
        </p:nvCxnSpPr>
        <p:spPr>
          <a:xfrm flipV="1">
            <a:off x="5939571" y="1167200"/>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737992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1944DEF-59F4-BF57-EA7C-9195F6A6B064}"/>
            </a:ext>
          </a:extLst>
        </p:cNvPr>
        <p:cNvGrpSpPr/>
        <p:nvPr/>
      </p:nvGrpSpPr>
      <p:grpSpPr>
        <a:xfrm>
          <a:off x="0" y="0"/>
          <a:ext cx="0" cy="0"/>
          <a:chOff x="0" y="0"/>
          <a:chExt cx="0" cy="0"/>
        </a:xfrm>
      </p:grpSpPr>
      <p:sp>
        <p:nvSpPr>
          <p:cNvPr id="12" name="Freeform: Shape 3">
            <a:extLst>
              <a:ext uri="{FF2B5EF4-FFF2-40B4-BE49-F238E27FC236}">
                <a16:creationId xmlns:a16="http://schemas.microsoft.com/office/drawing/2014/main" id="{0B73C15A-C62C-150C-9CF9-A891BC67333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3" name="Picture 42">
            <a:extLst>
              <a:ext uri="{FF2B5EF4-FFF2-40B4-BE49-F238E27FC236}">
                <a16:creationId xmlns:a16="http://schemas.microsoft.com/office/drawing/2014/main" id="{12C4A6FC-51DE-E648-B6EA-1ED87C3F0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3429"/>
          <a:stretch>
            <a:fillRect/>
          </a:stretch>
        </p:blipFill>
        <p:spPr bwMode="auto">
          <a:xfrm>
            <a:off x="8573520" y="2865948"/>
            <a:ext cx="4293568" cy="3272450"/>
          </a:xfrm>
          <a:custGeom>
            <a:avLst/>
            <a:gdLst>
              <a:gd name="connsiteX0" fmla="*/ 0 w 7158365"/>
              <a:gd name="connsiteY0" fmla="*/ 0 h 5455926"/>
              <a:gd name="connsiteX1" fmla="*/ 7158365 w 7158365"/>
              <a:gd name="connsiteY1" fmla="*/ 0 h 5455926"/>
              <a:gd name="connsiteX2" fmla="*/ 7158365 w 7158365"/>
              <a:gd name="connsiteY2" fmla="*/ 299427 h 5455926"/>
              <a:gd name="connsiteX3" fmla="*/ 1116158 w 7158365"/>
              <a:gd name="connsiteY3" fmla="*/ 299427 h 5455926"/>
              <a:gd name="connsiteX4" fmla="*/ 1116158 w 7158365"/>
              <a:gd name="connsiteY4" fmla="*/ 4801844 h 5455926"/>
              <a:gd name="connsiteX5" fmla="*/ 7158365 w 7158365"/>
              <a:gd name="connsiteY5" fmla="*/ 4801844 h 5455926"/>
              <a:gd name="connsiteX6" fmla="*/ 7158365 w 7158365"/>
              <a:gd name="connsiteY6" fmla="*/ 5455926 h 5455926"/>
              <a:gd name="connsiteX7" fmla="*/ 0 w 7158365"/>
              <a:gd name="connsiteY7" fmla="*/ 5455926 h 545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8365" h="5455926">
                <a:moveTo>
                  <a:pt x="0" y="0"/>
                </a:moveTo>
                <a:lnTo>
                  <a:pt x="7158365" y="0"/>
                </a:lnTo>
                <a:lnTo>
                  <a:pt x="7158365" y="299427"/>
                </a:lnTo>
                <a:lnTo>
                  <a:pt x="1116158" y="299427"/>
                </a:lnTo>
                <a:lnTo>
                  <a:pt x="1116158" y="4801844"/>
                </a:lnTo>
                <a:lnTo>
                  <a:pt x="7158365" y="4801844"/>
                </a:lnTo>
                <a:lnTo>
                  <a:pt x="7158365" y="5455926"/>
                </a:lnTo>
                <a:lnTo>
                  <a:pt x="0" y="5455926"/>
                </a:lnTo>
                <a:close/>
              </a:path>
            </a:pathLst>
          </a:custGeom>
          <a:noFill/>
          <a:effectLst/>
          <a:extLst>
            <a:ext uri="{909E8E84-426E-40DD-AFC4-6F175D3DCCD1}">
              <a14:hiddenFill xmlns:a14="http://schemas.microsoft.com/office/drawing/2010/main">
                <a:solidFill>
                  <a:srgbClr val="FFFFFF"/>
                </a:solidFill>
              </a14:hiddenFill>
            </a:ext>
          </a:extLst>
        </p:spPr>
      </p:pic>
      <p:pic>
        <p:nvPicPr>
          <p:cNvPr id="16" name="Espace réservé pour une image  15">
            <a:extLst>
              <a:ext uri="{FF2B5EF4-FFF2-40B4-BE49-F238E27FC236}">
                <a16:creationId xmlns:a16="http://schemas.microsoft.com/office/drawing/2014/main" id="{80B74264-B43E-9A14-AB76-65191152A40F}"/>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2808" r="12808"/>
          <a:stretch>
            <a:fillRect/>
          </a:stretch>
        </p:blipFill>
        <p:spPr>
          <a:xfrm>
            <a:off x="9230559" y="3036847"/>
            <a:ext cx="3636528" cy="2745034"/>
          </a:xfrm>
        </p:spPr>
      </p:pic>
      <p:sp>
        <p:nvSpPr>
          <p:cNvPr id="5" name="TextBox 1">
            <a:extLst>
              <a:ext uri="{FF2B5EF4-FFF2-40B4-BE49-F238E27FC236}">
                <a16:creationId xmlns:a16="http://schemas.microsoft.com/office/drawing/2014/main" id="{0B693C72-2B5F-EA2A-50BD-750B2872A4F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10" name="TextBox 1">
            <a:extLst>
              <a:ext uri="{FF2B5EF4-FFF2-40B4-BE49-F238E27FC236}">
                <a16:creationId xmlns:a16="http://schemas.microsoft.com/office/drawing/2014/main" id="{51C6429A-AED5-956D-56B1-056B9A4383CB}"/>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5</a:t>
            </a:r>
            <a:endParaRPr lang="en-US" sz="2000" b="1" dirty="0">
              <a:solidFill>
                <a:schemeClr val="accent2"/>
              </a:solidFill>
              <a:latin typeface="Space Grotesk Medium"/>
              <a:sym typeface="Manrope"/>
            </a:endParaRPr>
          </a:p>
        </p:txBody>
      </p:sp>
      <p:sp>
        <p:nvSpPr>
          <p:cNvPr id="17" name="ZoneTexte 16">
            <a:extLst>
              <a:ext uri="{FF2B5EF4-FFF2-40B4-BE49-F238E27FC236}">
                <a16:creationId xmlns:a16="http://schemas.microsoft.com/office/drawing/2014/main" id="{E046E75A-DDF6-FE2E-46F2-89261ECE1357}"/>
              </a:ext>
            </a:extLst>
          </p:cNvPr>
          <p:cNvSpPr txBox="1"/>
          <p:nvPr/>
        </p:nvSpPr>
        <p:spPr>
          <a:xfrm>
            <a:off x="344393" y="1999904"/>
            <a:ext cx="8358932" cy="4401205"/>
          </a:xfrm>
          <a:prstGeom prst="rect">
            <a:avLst/>
          </a:prstGeom>
          <a:noFill/>
        </p:spPr>
        <p:txBody>
          <a:bodyPr wrap="square" rtlCol="0">
            <a:spAutoFit/>
          </a:bodyPr>
          <a:lstStyle/>
          <a:p>
            <a:pPr marL="457200" indent="-457200">
              <a:buFont typeface="Arial" panose="020B0604020202020204" pitchFamily="34" charset="0"/>
              <a:buChar char="•"/>
            </a:pPr>
            <a:r>
              <a:rPr lang="fr-FR" sz="2800" dirty="0">
                <a:latin typeface="Figtree"/>
              </a:rPr>
              <a:t>La réponse est-elle pertinente sur </a:t>
            </a:r>
            <a:r>
              <a:rPr lang="fr-FR" sz="2800" b="1" dirty="0">
                <a:latin typeface="Figtree"/>
              </a:rPr>
              <a:t>le fond </a:t>
            </a:r>
            <a:r>
              <a:rPr lang="fr-FR" sz="2800" dirty="0">
                <a:latin typeface="Figtree"/>
              </a:rPr>
              <a:t>?</a:t>
            </a:r>
          </a:p>
          <a:p>
            <a:pPr marL="457200" indent="-457200">
              <a:buFont typeface="Arial" panose="020B0604020202020204" pitchFamily="34" charset="0"/>
              <a:buChar char="•"/>
            </a:pPr>
            <a:endParaRPr lang="fr-FR" sz="2800" dirty="0">
              <a:latin typeface="Figtree"/>
            </a:endParaRPr>
          </a:p>
          <a:p>
            <a:pPr marL="457200" indent="-457200">
              <a:buFont typeface="Arial" panose="020B0604020202020204" pitchFamily="34" charset="0"/>
              <a:buChar char="•"/>
            </a:pPr>
            <a:r>
              <a:rPr lang="fr-FR" sz="2800" dirty="0">
                <a:latin typeface="Figtree"/>
              </a:rPr>
              <a:t>Le niveau de précision est-il </a:t>
            </a:r>
            <a:r>
              <a:rPr lang="fr-FR" sz="2800" b="1" dirty="0">
                <a:latin typeface="Figtree"/>
              </a:rPr>
              <a:t>adapté</a:t>
            </a:r>
            <a:r>
              <a:rPr lang="fr-FR" sz="2800" dirty="0">
                <a:latin typeface="Figtree"/>
              </a:rPr>
              <a:t> à votre usage professionnel ?</a:t>
            </a:r>
          </a:p>
          <a:p>
            <a:pPr marL="457200" indent="-457200">
              <a:buFont typeface="Arial" panose="020B0604020202020204" pitchFamily="34" charset="0"/>
              <a:buChar char="•"/>
            </a:pPr>
            <a:endParaRPr lang="fr-FR" sz="2800" dirty="0">
              <a:latin typeface="Figtree"/>
            </a:endParaRPr>
          </a:p>
          <a:p>
            <a:pPr marL="457200" indent="-457200">
              <a:buFont typeface="Arial" panose="020B0604020202020204" pitchFamily="34" charset="0"/>
              <a:buChar char="•"/>
            </a:pPr>
            <a:r>
              <a:rPr lang="fr-FR" sz="2800" dirty="0">
                <a:latin typeface="Figtree"/>
              </a:rPr>
              <a:t>Y a-t-il des éléments à </a:t>
            </a:r>
            <a:r>
              <a:rPr lang="fr-FR" sz="2800" b="1" dirty="0">
                <a:latin typeface="Figtree"/>
              </a:rPr>
              <a:t>vérifier</a:t>
            </a:r>
            <a:r>
              <a:rPr lang="fr-FR" sz="2800" dirty="0">
                <a:latin typeface="Figtree"/>
              </a:rPr>
              <a:t> avant d'utiliser cette réponse officiellement ?</a:t>
            </a:r>
          </a:p>
          <a:p>
            <a:pPr marL="457200" indent="-457200">
              <a:buFont typeface="Arial" panose="020B0604020202020204" pitchFamily="34" charset="0"/>
              <a:buChar char="•"/>
            </a:pPr>
            <a:endParaRPr lang="fr-FR" sz="2800" dirty="0">
              <a:latin typeface="Figtree"/>
            </a:endParaRPr>
          </a:p>
          <a:p>
            <a:pPr marL="457200" indent="-457200">
              <a:buFont typeface="Arial" panose="020B0604020202020204" pitchFamily="34" charset="0"/>
              <a:buChar char="•"/>
            </a:pPr>
            <a:r>
              <a:rPr lang="fr-FR" sz="2800" dirty="0">
                <a:latin typeface="Figtree"/>
              </a:rPr>
              <a:t>Comment aurait-on pu formuler la question différemment pour </a:t>
            </a:r>
            <a:r>
              <a:rPr lang="fr-FR" sz="2800" b="1" dirty="0">
                <a:latin typeface="Figtree"/>
              </a:rPr>
              <a:t>obtenir mieux </a:t>
            </a:r>
            <a:r>
              <a:rPr lang="fr-FR" sz="2800" dirty="0">
                <a:latin typeface="Figtree"/>
              </a:rPr>
              <a:t>?</a:t>
            </a:r>
          </a:p>
        </p:txBody>
      </p:sp>
      <p:sp>
        <p:nvSpPr>
          <p:cNvPr id="19" name="Rectangle: Rounded Corners 14">
            <a:extLst>
              <a:ext uri="{FF2B5EF4-FFF2-40B4-BE49-F238E27FC236}">
                <a16:creationId xmlns:a16="http://schemas.microsoft.com/office/drawing/2014/main" id="{93238FDB-CEC9-FEAB-5B79-9A57865B38E9}"/>
              </a:ext>
            </a:extLst>
          </p:cNvPr>
          <p:cNvSpPr/>
          <p:nvPr/>
        </p:nvSpPr>
        <p:spPr>
          <a:xfrm>
            <a:off x="3495795" y="279981"/>
            <a:ext cx="7641392" cy="1372550"/>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7">
            <a:extLst>
              <a:ext uri="{FF2B5EF4-FFF2-40B4-BE49-F238E27FC236}">
                <a16:creationId xmlns:a16="http://schemas.microsoft.com/office/drawing/2014/main" id="{937DA429-0317-6BFD-C987-48DAA2A70520}"/>
              </a:ext>
            </a:extLst>
          </p:cNvPr>
          <p:cNvSpPr txBox="1"/>
          <p:nvPr/>
        </p:nvSpPr>
        <p:spPr>
          <a:xfrm>
            <a:off x="3440026" y="850133"/>
            <a:ext cx="7697160"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Exercice</a:t>
            </a:r>
          </a:p>
        </p:txBody>
      </p:sp>
      <p:sp>
        <p:nvSpPr>
          <p:cNvPr id="23" name="TextBox 1">
            <a:extLst>
              <a:ext uri="{FF2B5EF4-FFF2-40B4-BE49-F238E27FC236}">
                <a16:creationId xmlns:a16="http://schemas.microsoft.com/office/drawing/2014/main" id="{42E197D5-4B6C-3CD9-71C8-A7506EE50894}"/>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44" name="Oval 43">
            <a:extLst>
              <a:ext uri="{FF2B5EF4-FFF2-40B4-BE49-F238E27FC236}">
                <a16:creationId xmlns:a16="http://schemas.microsoft.com/office/drawing/2014/main" id="{B8CF6B4E-D5C7-ECAD-93C2-B253604D2565}"/>
              </a:ext>
            </a:extLst>
          </p:cNvPr>
          <p:cNvSpPr/>
          <p:nvPr/>
        </p:nvSpPr>
        <p:spPr>
          <a:xfrm>
            <a:off x="5767843" y="995472"/>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44">
            <a:extLst>
              <a:ext uri="{FF2B5EF4-FFF2-40B4-BE49-F238E27FC236}">
                <a16:creationId xmlns:a16="http://schemas.microsoft.com/office/drawing/2014/main" id="{6FAB8E42-12DC-7EF1-4773-A8062DD64410}"/>
              </a:ext>
            </a:extLst>
          </p:cNvPr>
          <p:cNvCxnSpPr>
            <a:cxnSpLocks/>
          </p:cNvCxnSpPr>
          <p:nvPr/>
        </p:nvCxnSpPr>
        <p:spPr>
          <a:xfrm flipV="1">
            <a:off x="5939571" y="1167200"/>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488360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5F58754-5898-96B4-F6EB-4233F722265C}"/>
            </a:ext>
          </a:extLst>
        </p:cNvPr>
        <p:cNvGrpSpPr/>
        <p:nvPr/>
      </p:nvGrpSpPr>
      <p:grpSpPr>
        <a:xfrm>
          <a:off x="0" y="0"/>
          <a:ext cx="0" cy="0"/>
          <a:chOff x="0" y="0"/>
          <a:chExt cx="0" cy="0"/>
        </a:xfrm>
      </p:grpSpPr>
      <p:sp>
        <p:nvSpPr>
          <p:cNvPr id="12" name="Freeform: Shape 3">
            <a:extLst>
              <a:ext uri="{FF2B5EF4-FFF2-40B4-BE49-F238E27FC236}">
                <a16:creationId xmlns:a16="http://schemas.microsoft.com/office/drawing/2014/main" id="{B6931F2B-D1AB-BF01-A734-AADBE95E409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B5447A27-C344-6895-FE89-C3C0EC47AD5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sp>
        <p:nvSpPr>
          <p:cNvPr id="10" name="TextBox 1">
            <a:extLst>
              <a:ext uri="{FF2B5EF4-FFF2-40B4-BE49-F238E27FC236}">
                <a16:creationId xmlns:a16="http://schemas.microsoft.com/office/drawing/2014/main" id="{CDBFFD2B-D257-20DF-B548-626505B0D43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Synthèse</a:t>
            </a:r>
            <a:endParaRPr lang="en-US" sz="2000" b="1" dirty="0">
              <a:solidFill>
                <a:schemeClr val="accent2"/>
              </a:solidFill>
              <a:latin typeface="Space Grotesk Medium"/>
              <a:sym typeface="Manrope"/>
            </a:endParaRPr>
          </a:p>
        </p:txBody>
      </p:sp>
      <p:sp>
        <p:nvSpPr>
          <p:cNvPr id="17" name="ZoneTexte 16">
            <a:extLst>
              <a:ext uri="{FF2B5EF4-FFF2-40B4-BE49-F238E27FC236}">
                <a16:creationId xmlns:a16="http://schemas.microsoft.com/office/drawing/2014/main" id="{01CD5C9C-8D21-9E98-5090-0ED1414AF999}"/>
              </a:ext>
            </a:extLst>
          </p:cNvPr>
          <p:cNvSpPr txBox="1"/>
          <p:nvPr/>
        </p:nvSpPr>
        <p:spPr>
          <a:xfrm>
            <a:off x="344393" y="1614314"/>
            <a:ext cx="11300436" cy="4832092"/>
          </a:xfrm>
          <a:prstGeom prst="rect">
            <a:avLst/>
          </a:prstGeom>
          <a:noFill/>
        </p:spPr>
        <p:txBody>
          <a:bodyPr wrap="square" rtlCol="0">
            <a:spAutoFit/>
          </a:bodyPr>
          <a:lstStyle/>
          <a:p>
            <a:r>
              <a:rPr lang="fr-FR" sz="2800" b="1" dirty="0">
                <a:latin typeface="Figtree"/>
              </a:rPr>
              <a:t>Trois idées simples :</a:t>
            </a:r>
          </a:p>
          <a:p>
            <a:pPr marL="457200" indent="-457200">
              <a:buFont typeface="Arial" panose="020B0604020202020204" pitchFamily="34" charset="0"/>
              <a:buChar char="•"/>
            </a:pPr>
            <a:endParaRPr lang="fr-FR" sz="2800" dirty="0">
              <a:latin typeface="Figtree"/>
            </a:endParaRPr>
          </a:p>
          <a:p>
            <a:pPr marL="457200" indent="-457200">
              <a:buFont typeface="Arial" panose="020B0604020202020204" pitchFamily="34" charset="0"/>
              <a:buChar char="•"/>
            </a:pPr>
            <a:r>
              <a:rPr lang="fr-FR" sz="2800" b="1" dirty="0">
                <a:latin typeface="Figtree"/>
              </a:rPr>
              <a:t>L'IA est un co-rédacteur, pas un co-expert</a:t>
            </a:r>
            <a:r>
              <a:rPr lang="fr-FR" sz="2800" dirty="0">
                <a:latin typeface="Figtree"/>
              </a:rPr>
              <a:t>. Elle structure, reformule, argumente — mais ne visite pas, ne mesure pas, ne signe pas. </a:t>
            </a:r>
          </a:p>
          <a:p>
            <a:pPr marL="457200" indent="-457200">
              <a:buFont typeface="Arial" panose="020B0604020202020204" pitchFamily="34" charset="0"/>
              <a:buChar char="•"/>
            </a:pPr>
            <a:r>
              <a:rPr lang="fr-FR" sz="2800" b="1" dirty="0">
                <a:latin typeface="Figtree"/>
              </a:rPr>
              <a:t>La qualité de la sortie dépend entièrement de la qualité de l'entrée</a:t>
            </a:r>
            <a:r>
              <a:rPr lang="fr-FR" sz="2800" dirty="0">
                <a:latin typeface="Figtree"/>
              </a:rPr>
              <a:t>. Des notes de visite précises produisent une description précise. Des données de marché fiables produisent une analyse fiable. L'IA amplifie ce que vous lui donnez, dans les deux sens.</a:t>
            </a:r>
          </a:p>
          <a:p>
            <a:pPr marL="457200" indent="-457200">
              <a:buFont typeface="Arial" panose="020B0604020202020204" pitchFamily="34" charset="0"/>
              <a:buChar char="•"/>
            </a:pPr>
            <a:r>
              <a:rPr lang="fr-FR" sz="2800" b="1" dirty="0">
                <a:latin typeface="Figtree"/>
              </a:rPr>
              <a:t>La vérification reste votre responsabilité professionnelle</a:t>
            </a:r>
            <a:r>
              <a:rPr lang="fr-FR" sz="2800" dirty="0">
                <a:latin typeface="Figtree"/>
              </a:rPr>
              <a:t>. Tout chiffre, toute référence juridique, toute information factuelle produite par l'IA doit être contrôlée avant d'entrer dans un rapport signé.</a:t>
            </a:r>
          </a:p>
        </p:txBody>
      </p:sp>
      <p:sp>
        <p:nvSpPr>
          <p:cNvPr id="19" name="Rectangle: Rounded Corners 14">
            <a:extLst>
              <a:ext uri="{FF2B5EF4-FFF2-40B4-BE49-F238E27FC236}">
                <a16:creationId xmlns:a16="http://schemas.microsoft.com/office/drawing/2014/main" id="{2EE35B3A-52FB-5793-9BAD-55911CDD3D19}"/>
              </a:ext>
            </a:extLst>
          </p:cNvPr>
          <p:cNvSpPr/>
          <p:nvPr/>
        </p:nvSpPr>
        <p:spPr>
          <a:xfrm>
            <a:off x="3495795" y="279981"/>
            <a:ext cx="7641392" cy="1372550"/>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7">
            <a:extLst>
              <a:ext uri="{FF2B5EF4-FFF2-40B4-BE49-F238E27FC236}">
                <a16:creationId xmlns:a16="http://schemas.microsoft.com/office/drawing/2014/main" id="{38C933E3-04F0-4977-4232-A5181FF386B6}"/>
              </a:ext>
            </a:extLst>
          </p:cNvPr>
          <p:cNvSpPr txBox="1"/>
          <p:nvPr/>
        </p:nvSpPr>
        <p:spPr>
          <a:xfrm>
            <a:off x="3440026" y="850133"/>
            <a:ext cx="7697160"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Ce qu’il faut retenir</a:t>
            </a:r>
          </a:p>
        </p:txBody>
      </p:sp>
      <p:sp>
        <p:nvSpPr>
          <p:cNvPr id="23" name="TextBox 1">
            <a:extLst>
              <a:ext uri="{FF2B5EF4-FFF2-40B4-BE49-F238E27FC236}">
                <a16:creationId xmlns:a16="http://schemas.microsoft.com/office/drawing/2014/main" id="{A603451D-5757-8E38-F7EB-0ABF508D0D1C}"/>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Panorama de l'IA pour les experts immobiliers</a:t>
            </a:r>
            <a:endParaRPr lang="en-US" sz="2800" dirty="0">
              <a:solidFill>
                <a:schemeClr val="tx2"/>
              </a:solidFill>
              <a:latin typeface="Space Grotesk Medium" pitchFamily="2" charset="0"/>
            </a:endParaRPr>
          </a:p>
        </p:txBody>
      </p:sp>
      <p:sp>
        <p:nvSpPr>
          <p:cNvPr id="44" name="Oval 43">
            <a:extLst>
              <a:ext uri="{FF2B5EF4-FFF2-40B4-BE49-F238E27FC236}">
                <a16:creationId xmlns:a16="http://schemas.microsoft.com/office/drawing/2014/main" id="{BAB58DA6-5F44-4F65-3354-DDF37FAB509B}"/>
              </a:ext>
            </a:extLst>
          </p:cNvPr>
          <p:cNvSpPr/>
          <p:nvPr/>
        </p:nvSpPr>
        <p:spPr>
          <a:xfrm>
            <a:off x="4567005" y="995472"/>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44">
            <a:extLst>
              <a:ext uri="{FF2B5EF4-FFF2-40B4-BE49-F238E27FC236}">
                <a16:creationId xmlns:a16="http://schemas.microsoft.com/office/drawing/2014/main" id="{21F94086-16F3-3DAB-5CC7-61505D9B2072}"/>
              </a:ext>
            </a:extLst>
          </p:cNvPr>
          <p:cNvCxnSpPr>
            <a:cxnSpLocks/>
          </p:cNvCxnSpPr>
          <p:nvPr/>
        </p:nvCxnSpPr>
        <p:spPr>
          <a:xfrm flipV="1">
            <a:off x="4738733" y="1167200"/>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944087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5448C29-F473-7BE6-663A-1D5E3256EA01}"/>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706F3F8-00A0-3D5A-84F9-39F054F105BD}"/>
              </a:ext>
            </a:extLst>
          </p:cNvPr>
          <p:cNvSpPr>
            <a:spLocks noGrp="1"/>
          </p:cNvSpPr>
          <p:nvPr>
            <p:ph type="pic" sz="quarter" idx="10"/>
          </p:nvPr>
        </p:nvSpPr>
        <p:spPr>
          <a:xfrm>
            <a:off x="14514" y="15521"/>
            <a:ext cx="12192000" cy="6858000"/>
          </a:xfrm>
        </p:spPr>
        <p:txBody>
          <a:bodyPr/>
          <a:lstStyle/>
          <a:p>
            <a:endParaRPr lang="en-US" dirty="0"/>
          </a:p>
        </p:txBody>
      </p:sp>
      <p:sp>
        <p:nvSpPr>
          <p:cNvPr id="58" name="Rectangle: Rounded Corners 62">
            <a:extLst>
              <a:ext uri="{FF2B5EF4-FFF2-40B4-BE49-F238E27FC236}">
                <a16:creationId xmlns:a16="http://schemas.microsoft.com/office/drawing/2014/main" id="{3D6C49BD-8428-EF0D-D7C1-785D353C78A0}"/>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Freeform: Shape 3">
            <a:extLst>
              <a:ext uri="{FF2B5EF4-FFF2-40B4-BE49-F238E27FC236}">
                <a16:creationId xmlns:a16="http://schemas.microsoft.com/office/drawing/2014/main" id="{EE2F58C3-1D9C-6FEC-56FE-3D57DAD03F5E}"/>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Shape 4">
            <a:extLst>
              <a:ext uri="{FF2B5EF4-FFF2-40B4-BE49-F238E27FC236}">
                <a16:creationId xmlns:a16="http://schemas.microsoft.com/office/drawing/2014/main" id="{5333FA00-B2AF-375D-D0EF-51DD95EDB5FD}"/>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54A3DDE8-0623-30CC-73B8-E1B7ECCC1555}"/>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8C92B90-967B-A417-1511-A0AEC7F14D8C}"/>
              </a:ext>
            </a:extLst>
          </p:cNvPr>
          <p:cNvSpPr txBox="1"/>
          <p:nvPr/>
        </p:nvSpPr>
        <p:spPr>
          <a:xfrm>
            <a:off x="14514" y="728629"/>
            <a:ext cx="12192000" cy="1015663"/>
          </a:xfrm>
          <a:prstGeom prst="rect">
            <a:avLst/>
          </a:prstGeom>
          <a:noFill/>
        </p:spPr>
        <p:txBody>
          <a:bodyPr wrap="square" rtlCol="0">
            <a:spAutoFit/>
          </a:bodyPr>
          <a:lstStyle/>
          <a:p>
            <a:pPr algn="ctr"/>
            <a:r>
              <a:rPr lang="fr-FR" sz="6000" dirty="0">
                <a:solidFill>
                  <a:schemeClr val="bg1"/>
                </a:solidFill>
                <a:latin typeface="Space Grotesk Medium" pitchFamily="2" charset="0"/>
              </a:rPr>
              <a:t>Module 2</a:t>
            </a:r>
            <a:endParaRPr lang="en-US" sz="6000" dirty="0">
              <a:solidFill>
                <a:schemeClr val="bg1"/>
              </a:solidFill>
              <a:latin typeface="Space Grotesk Medium" pitchFamily="2" charset="0"/>
            </a:endParaRPr>
          </a:p>
        </p:txBody>
      </p:sp>
      <p:sp>
        <p:nvSpPr>
          <p:cNvPr id="9" name="Rectangle: Rounded Corners 14">
            <a:extLst>
              <a:ext uri="{FF2B5EF4-FFF2-40B4-BE49-F238E27FC236}">
                <a16:creationId xmlns:a16="http://schemas.microsoft.com/office/drawing/2014/main" id="{E5BB8793-94E6-7DE6-2EFD-1B0495BA94C5}"/>
              </a:ext>
            </a:extLst>
          </p:cNvPr>
          <p:cNvSpPr/>
          <p:nvPr/>
        </p:nvSpPr>
        <p:spPr>
          <a:xfrm>
            <a:off x="2399070" y="2481177"/>
            <a:ext cx="7641392" cy="295258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7">
            <a:extLst>
              <a:ext uri="{FF2B5EF4-FFF2-40B4-BE49-F238E27FC236}">
                <a16:creationId xmlns:a16="http://schemas.microsoft.com/office/drawing/2014/main" id="{7A65AB19-CA62-3CFD-8D84-82DCD3BC00FA}"/>
              </a:ext>
            </a:extLst>
          </p:cNvPr>
          <p:cNvSpPr txBox="1"/>
          <p:nvPr/>
        </p:nvSpPr>
        <p:spPr>
          <a:xfrm>
            <a:off x="2399069" y="4059950"/>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Comprendre la logique du prompt (« Requête » - Comment parler à l'IA pour obtenir un résultat professionnel), et l'appliquer immédiatement aux tâches de description les plus courantes dans un rapport d'expertise.</a:t>
            </a:r>
            <a:endParaRPr lang="en-US" sz="2000" b="1" dirty="0">
              <a:solidFill>
                <a:schemeClr val="tx2">
                  <a:alpha val="60000"/>
                </a:schemeClr>
              </a:solidFill>
            </a:endParaRPr>
          </a:p>
        </p:txBody>
      </p:sp>
      <p:sp>
        <p:nvSpPr>
          <p:cNvPr id="13" name="TextBox 1">
            <a:extLst>
              <a:ext uri="{FF2B5EF4-FFF2-40B4-BE49-F238E27FC236}">
                <a16:creationId xmlns:a16="http://schemas.microsoft.com/office/drawing/2014/main" id="{36EB4E85-D534-BD58-5291-34ECA1361043}"/>
              </a:ext>
            </a:extLst>
          </p:cNvPr>
          <p:cNvSpPr txBox="1"/>
          <p:nvPr/>
        </p:nvSpPr>
        <p:spPr>
          <a:xfrm>
            <a:off x="2399070" y="2503999"/>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Description et analyse des biens par l'IA</a:t>
            </a:r>
            <a:endParaRPr lang="en-US" sz="4400" dirty="0">
              <a:solidFill>
                <a:schemeClr val="tx2"/>
              </a:solidFill>
              <a:latin typeface="Space Grotesk Medium" pitchFamily="2" charset="0"/>
            </a:endParaRPr>
          </a:p>
        </p:txBody>
      </p:sp>
    </p:spTree>
    <p:extLst>
      <p:ext uri="{BB962C8B-B14F-4D97-AF65-F5344CB8AC3E}">
        <p14:creationId xmlns:p14="http://schemas.microsoft.com/office/powerpoint/2010/main" val="220019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D78EDFB-6E93-22E2-DBD8-A4BBFE0A675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1DC8438-6FFC-E2EA-8847-4AD7C5696D4E}"/>
              </a:ext>
            </a:extLst>
          </p:cNvPr>
          <p:cNvSpPr/>
          <p:nvPr/>
        </p:nvSpPr>
        <p:spPr>
          <a:xfrm>
            <a:off x="3495795" y="279980"/>
            <a:ext cx="7641392"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B858EF77-ED9C-858A-4B5B-20E72491CCAD}"/>
              </a:ext>
            </a:extLst>
          </p:cNvPr>
          <p:cNvSpPr txBox="1"/>
          <p:nvPr/>
        </p:nvSpPr>
        <p:spPr>
          <a:xfrm>
            <a:off x="3495794" y="1858753"/>
            <a:ext cx="7641392" cy="50629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fr-FR" sz="2000" b="1" dirty="0">
                <a:solidFill>
                  <a:schemeClr val="tx2">
                    <a:alpha val="60000"/>
                  </a:schemeClr>
                </a:solidFill>
              </a:rPr>
              <a:t>Comment parler à l'IA pour obtenir un résultat professionnel</a:t>
            </a:r>
            <a:endParaRPr lang="en-US" sz="2000" b="1" dirty="0">
              <a:solidFill>
                <a:schemeClr val="tx2">
                  <a:alpha val="60000"/>
                </a:schemeClr>
              </a:solidFill>
            </a:endParaRPr>
          </a:p>
        </p:txBody>
      </p:sp>
      <p:sp>
        <p:nvSpPr>
          <p:cNvPr id="3" name="Oval 2">
            <a:extLst>
              <a:ext uri="{FF2B5EF4-FFF2-40B4-BE49-F238E27FC236}">
                <a16:creationId xmlns:a16="http://schemas.microsoft.com/office/drawing/2014/main" id="{B8CB1641-AFD9-FB47-F562-7CE8E92329E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B0CAE58-FD1F-C283-28B7-724885F15D4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DA30E05-4F3C-9375-5658-779A806091A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8218B37-9655-3750-C4B0-94AC283BA33D}"/>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Description et analyse </a:t>
            </a:r>
          </a:p>
          <a:p>
            <a:pPr algn="ctr"/>
            <a:r>
              <a:rPr lang="fr-FR" sz="4400" dirty="0">
                <a:solidFill>
                  <a:schemeClr val="tx2"/>
                </a:solidFill>
                <a:latin typeface="Space Grotesk Medium" pitchFamily="2" charset="0"/>
              </a:rPr>
              <a:t>des biens par l'IA</a:t>
            </a:r>
          </a:p>
        </p:txBody>
      </p:sp>
      <p:sp>
        <p:nvSpPr>
          <p:cNvPr id="13" name="Freeform: Shape 3">
            <a:extLst>
              <a:ext uri="{FF2B5EF4-FFF2-40B4-BE49-F238E27FC236}">
                <a16:creationId xmlns:a16="http://schemas.microsoft.com/office/drawing/2014/main" id="{087B413C-EA7A-B57B-EF3B-BDA6E27B249D}"/>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Rectangle: Rounded Corners 14">
            <a:extLst>
              <a:ext uri="{FF2B5EF4-FFF2-40B4-BE49-F238E27FC236}">
                <a16:creationId xmlns:a16="http://schemas.microsoft.com/office/drawing/2014/main" id="{9CA2F469-05B2-A843-0802-1408CBD851BD}"/>
              </a:ext>
            </a:extLst>
          </p:cNvPr>
          <p:cNvSpPr/>
          <p:nvPr/>
        </p:nvSpPr>
        <p:spPr>
          <a:xfrm>
            <a:off x="1712701" y="3229676"/>
            <a:ext cx="3596627"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TextBox 1">
            <a:extLst>
              <a:ext uri="{FF2B5EF4-FFF2-40B4-BE49-F238E27FC236}">
                <a16:creationId xmlns:a16="http://schemas.microsoft.com/office/drawing/2014/main" id="{B44159B2-4B9E-A3BB-9174-A07BADBF718B}"/>
              </a:ext>
            </a:extLst>
          </p:cNvPr>
          <p:cNvSpPr txBox="1"/>
          <p:nvPr/>
        </p:nvSpPr>
        <p:spPr>
          <a:xfrm>
            <a:off x="1712702" y="3358401"/>
            <a:ext cx="3596628" cy="830997"/>
          </a:xfrm>
          <a:prstGeom prst="rect">
            <a:avLst/>
          </a:prstGeom>
          <a:noFill/>
        </p:spPr>
        <p:txBody>
          <a:bodyPr wrap="square" rtlCol="0">
            <a:spAutoFit/>
          </a:bodyPr>
          <a:lstStyle/>
          <a:p>
            <a:r>
              <a:rPr lang="fr-FR" sz="2400" dirty="0">
                <a:solidFill>
                  <a:schemeClr val="tx2"/>
                </a:solidFill>
                <a:latin typeface="Figtree"/>
              </a:rPr>
              <a:t>Prompt : comment donner des instructions à l’IA ?</a:t>
            </a:r>
            <a:endParaRPr lang="en-US" sz="2400" dirty="0">
              <a:solidFill>
                <a:schemeClr val="tx2"/>
              </a:solidFill>
              <a:latin typeface="Figtree"/>
            </a:endParaRPr>
          </a:p>
        </p:txBody>
      </p:sp>
      <p:grpSp>
        <p:nvGrpSpPr>
          <p:cNvPr id="47" name="Groupe 46">
            <a:extLst>
              <a:ext uri="{FF2B5EF4-FFF2-40B4-BE49-F238E27FC236}">
                <a16:creationId xmlns:a16="http://schemas.microsoft.com/office/drawing/2014/main" id="{93C3FCA6-E1D5-78BE-C969-B4203F36B9BD}"/>
              </a:ext>
            </a:extLst>
          </p:cNvPr>
          <p:cNvGrpSpPr/>
          <p:nvPr/>
        </p:nvGrpSpPr>
        <p:grpSpPr>
          <a:xfrm>
            <a:off x="1275005" y="3599041"/>
            <a:ext cx="349715" cy="349715"/>
            <a:chOff x="406195" y="3079285"/>
            <a:chExt cx="495856" cy="495856"/>
          </a:xfrm>
        </p:grpSpPr>
        <p:sp>
          <p:nvSpPr>
            <p:cNvPr id="44" name="Oval 15">
              <a:extLst>
                <a:ext uri="{FF2B5EF4-FFF2-40B4-BE49-F238E27FC236}">
                  <a16:creationId xmlns:a16="http://schemas.microsoft.com/office/drawing/2014/main" id="{692485B1-D4FB-FA54-64AB-0096F120179E}"/>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16">
              <a:extLst>
                <a:ext uri="{FF2B5EF4-FFF2-40B4-BE49-F238E27FC236}">
                  <a16:creationId xmlns:a16="http://schemas.microsoft.com/office/drawing/2014/main" id="{92CAF6D6-26F9-60C9-BBB8-A40A92F0CB16}"/>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48" name="Rectangle: Rounded Corners 14">
            <a:extLst>
              <a:ext uri="{FF2B5EF4-FFF2-40B4-BE49-F238E27FC236}">
                <a16:creationId xmlns:a16="http://schemas.microsoft.com/office/drawing/2014/main" id="{C808BEB2-7AC5-B0FB-B61B-8EC914B17345}"/>
              </a:ext>
            </a:extLst>
          </p:cNvPr>
          <p:cNvSpPr/>
          <p:nvPr/>
        </p:nvSpPr>
        <p:spPr>
          <a:xfrm>
            <a:off x="7288388" y="3232082"/>
            <a:ext cx="3848798"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9" name="Groupe 48">
            <a:extLst>
              <a:ext uri="{FF2B5EF4-FFF2-40B4-BE49-F238E27FC236}">
                <a16:creationId xmlns:a16="http://schemas.microsoft.com/office/drawing/2014/main" id="{68CB77E7-A464-C8F9-25B7-4801B9BFAF81}"/>
              </a:ext>
            </a:extLst>
          </p:cNvPr>
          <p:cNvGrpSpPr/>
          <p:nvPr/>
        </p:nvGrpSpPr>
        <p:grpSpPr>
          <a:xfrm>
            <a:off x="6882671" y="3599041"/>
            <a:ext cx="349715" cy="349715"/>
            <a:chOff x="406195" y="3079285"/>
            <a:chExt cx="495856" cy="495856"/>
          </a:xfrm>
        </p:grpSpPr>
        <p:sp>
          <p:nvSpPr>
            <p:cNvPr id="50" name="Oval 15">
              <a:extLst>
                <a:ext uri="{FF2B5EF4-FFF2-40B4-BE49-F238E27FC236}">
                  <a16:creationId xmlns:a16="http://schemas.microsoft.com/office/drawing/2014/main" id="{4425D747-0A1B-64AE-6DD0-15D4B8769DF1}"/>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1" name="Straight Arrow Connector 16">
              <a:extLst>
                <a:ext uri="{FF2B5EF4-FFF2-40B4-BE49-F238E27FC236}">
                  <a16:creationId xmlns:a16="http://schemas.microsoft.com/office/drawing/2014/main" id="{84E3C605-1D5B-A150-F1E4-C5A09151647A}"/>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19" name="TextBox 1">
            <a:extLst>
              <a:ext uri="{FF2B5EF4-FFF2-40B4-BE49-F238E27FC236}">
                <a16:creationId xmlns:a16="http://schemas.microsoft.com/office/drawing/2014/main" id="{9255C2B9-915C-146B-2EDC-292BE5FA8DAD}"/>
              </a:ext>
            </a:extLst>
          </p:cNvPr>
          <p:cNvSpPr txBox="1"/>
          <p:nvPr/>
        </p:nvSpPr>
        <p:spPr>
          <a:xfrm>
            <a:off x="7288388" y="3334909"/>
            <a:ext cx="3848798" cy="830997"/>
          </a:xfrm>
          <a:prstGeom prst="rect">
            <a:avLst/>
          </a:prstGeom>
          <a:noFill/>
        </p:spPr>
        <p:txBody>
          <a:bodyPr wrap="square" rtlCol="0">
            <a:spAutoFit/>
          </a:bodyPr>
          <a:lstStyle/>
          <a:p>
            <a:r>
              <a:rPr lang="fr-FR" sz="2400" dirty="0">
                <a:solidFill>
                  <a:schemeClr val="tx2"/>
                </a:solidFill>
                <a:latin typeface="Figtree"/>
              </a:rPr>
              <a:t>Notes brutes vs description générée par l’IA</a:t>
            </a:r>
            <a:endParaRPr lang="en-US" sz="2400" dirty="0">
              <a:solidFill>
                <a:schemeClr val="tx2"/>
              </a:solidFill>
              <a:latin typeface="Figtree"/>
            </a:endParaRPr>
          </a:p>
        </p:txBody>
      </p:sp>
      <p:sp>
        <p:nvSpPr>
          <p:cNvPr id="52" name="Rectangle: Rounded Corners 14">
            <a:extLst>
              <a:ext uri="{FF2B5EF4-FFF2-40B4-BE49-F238E27FC236}">
                <a16:creationId xmlns:a16="http://schemas.microsoft.com/office/drawing/2014/main" id="{39999061-1388-B721-B993-A916956329E9}"/>
              </a:ext>
            </a:extLst>
          </p:cNvPr>
          <p:cNvSpPr/>
          <p:nvPr/>
        </p:nvSpPr>
        <p:spPr>
          <a:xfrm>
            <a:off x="7288388" y="4469061"/>
            <a:ext cx="3848798"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3" name="Groupe 52">
            <a:extLst>
              <a:ext uri="{FF2B5EF4-FFF2-40B4-BE49-F238E27FC236}">
                <a16:creationId xmlns:a16="http://schemas.microsoft.com/office/drawing/2014/main" id="{A9C97797-A243-2B9C-F42F-3D55E4FA0C32}"/>
              </a:ext>
            </a:extLst>
          </p:cNvPr>
          <p:cNvGrpSpPr/>
          <p:nvPr/>
        </p:nvGrpSpPr>
        <p:grpSpPr>
          <a:xfrm>
            <a:off x="6882671" y="4836020"/>
            <a:ext cx="349715" cy="349715"/>
            <a:chOff x="406195" y="3079285"/>
            <a:chExt cx="495856" cy="495856"/>
          </a:xfrm>
        </p:grpSpPr>
        <p:sp>
          <p:nvSpPr>
            <p:cNvPr id="54" name="Oval 15">
              <a:extLst>
                <a:ext uri="{FF2B5EF4-FFF2-40B4-BE49-F238E27FC236}">
                  <a16:creationId xmlns:a16="http://schemas.microsoft.com/office/drawing/2014/main" id="{51EB8B51-5B0D-A90F-F130-9B236F8A53D4}"/>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5" name="Straight Arrow Connector 16">
              <a:extLst>
                <a:ext uri="{FF2B5EF4-FFF2-40B4-BE49-F238E27FC236}">
                  <a16:creationId xmlns:a16="http://schemas.microsoft.com/office/drawing/2014/main" id="{DD3D1CD4-6D59-2823-47E3-EA968BE31017}"/>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32" name="TextBox 1">
            <a:extLst>
              <a:ext uri="{FF2B5EF4-FFF2-40B4-BE49-F238E27FC236}">
                <a16:creationId xmlns:a16="http://schemas.microsoft.com/office/drawing/2014/main" id="{1A3D6EE9-1641-2FA8-6A10-AF74659C8782}"/>
              </a:ext>
            </a:extLst>
          </p:cNvPr>
          <p:cNvSpPr txBox="1"/>
          <p:nvPr/>
        </p:nvSpPr>
        <p:spPr>
          <a:xfrm>
            <a:off x="7364621" y="4565370"/>
            <a:ext cx="3619195" cy="830997"/>
          </a:xfrm>
          <a:prstGeom prst="rect">
            <a:avLst/>
          </a:prstGeom>
          <a:noFill/>
        </p:spPr>
        <p:txBody>
          <a:bodyPr wrap="square" rtlCol="0">
            <a:spAutoFit/>
          </a:bodyPr>
          <a:lstStyle/>
          <a:p>
            <a:r>
              <a:rPr lang="fr-FR" sz="2400" dirty="0"/>
              <a:t>Analyse de photos et de plans par IA multimodale</a:t>
            </a:r>
            <a:endParaRPr lang="en-US" sz="2400" dirty="0">
              <a:solidFill>
                <a:schemeClr val="tx2"/>
              </a:solidFill>
              <a:latin typeface="Space Grotesk Medium" pitchFamily="2" charset="0"/>
            </a:endParaRPr>
          </a:p>
        </p:txBody>
      </p:sp>
      <p:sp>
        <p:nvSpPr>
          <p:cNvPr id="56" name="Rectangle: Rounded Corners 14">
            <a:extLst>
              <a:ext uri="{FF2B5EF4-FFF2-40B4-BE49-F238E27FC236}">
                <a16:creationId xmlns:a16="http://schemas.microsoft.com/office/drawing/2014/main" id="{BE3400F2-B118-277A-867A-09D17DC73C92}"/>
              </a:ext>
            </a:extLst>
          </p:cNvPr>
          <p:cNvSpPr/>
          <p:nvPr/>
        </p:nvSpPr>
        <p:spPr>
          <a:xfrm>
            <a:off x="1711863" y="4628683"/>
            <a:ext cx="293914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7" name="Groupe 56">
            <a:extLst>
              <a:ext uri="{FF2B5EF4-FFF2-40B4-BE49-F238E27FC236}">
                <a16:creationId xmlns:a16="http://schemas.microsoft.com/office/drawing/2014/main" id="{182D3CD6-27AE-2D16-0436-7EC9F259E508}"/>
              </a:ext>
            </a:extLst>
          </p:cNvPr>
          <p:cNvGrpSpPr/>
          <p:nvPr/>
        </p:nvGrpSpPr>
        <p:grpSpPr>
          <a:xfrm>
            <a:off x="1306146" y="4836020"/>
            <a:ext cx="349715" cy="349715"/>
            <a:chOff x="406195" y="3079285"/>
            <a:chExt cx="495856" cy="495856"/>
          </a:xfrm>
        </p:grpSpPr>
        <p:sp>
          <p:nvSpPr>
            <p:cNvPr id="58" name="Oval 15">
              <a:extLst>
                <a:ext uri="{FF2B5EF4-FFF2-40B4-BE49-F238E27FC236}">
                  <a16:creationId xmlns:a16="http://schemas.microsoft.com/office/drawing/2014/main" id="{1A1D21D1-E078-6D5C-942C-0BD337DF3255}"/>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9" name="Straight Arrow Connector 16">
              <a:extLst>
                <a:ext uri="{FF2B5EF4-FFF2-40B4-BE49-F238E27FC236}">
                  <a16:creationId xmlns:a16="http://schemas.microsoft.com/office/drawing/2014/main" id="{3E702D65-7E0D-A008-A4E9-191D3DFDD935}"/>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21" name="TextBox 1">
            <a:extLst>
              <a:ext uri="{FF2B5EF4-FFF2-40B4-BE49-F238E27FC236}">
                <a16:creationId xmlns:a16="http://schemas.microsoft.com/office/drawing/2014/main" id="{23722C80-FAC4-88AB-5D4A-3868AB3ECC7F}"/>
              </a:ext>
            </a:extLst>
          </p:cNvPr>
          <p:cNvSpPr txBox="1"/>
          <p:nvPr/>
        </p:nvSpPr>
        <p:spPr>
          <a:xfrm>
            <a:off x="1791203" y="4730108"/>
            <a:ext cx="2915808" cy="830997"/>
          </a:xfrm>
          <a:prstGeom prst="rect">
            <a:avLst/>
          </a:prstGeom>
          <a:noFill/>
        </p:spPr>
        <p:txBody>
          <a:bodyPr wrap="square" rtlCol="0">
            <a:spAutoFit/>
          </a:bodyPr>
          <a:lstStyle/>
          <a:p>
            <a:r>
              <a:rPr lang="fr-FR" sz="2400" dirty="0"/>
              <a:t>Prompts par type de bien</a:t>
            </a:r>
            <a:endParaRPr lang="en-US" sz="2400" dirty="0">
              <a:solidFill>
                <a:schemeClr val="tx2"/>
              </a:solidFill>
              <a:latin typeface="Figtree"/>
            </a:endParaRPr>
          </a:p>
        </p:txBody>
      </p:sp>
    </p:spTree>
    <p:extLst>
      <p:ext uri="{BB962C8B-B14F-4D97-AF65-F5344CB8AC3E}">
        <p14:creationId xmlns:p14="http://schemas.microsoft.com/office/powerpoint/2010/main" val="1507373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410CF4D-996E-4CF6-7693-EB026A3DB53D}"/>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61E1EFD6-B5E5-4BA7-EDE6-3092DE3D99E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517C4705-1488-480B-1CA5-1EE907510CCE}"/>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4CAF5AFC-E9D0-BF05-67E0-11609EEA97F4}"/>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9CF01598-CC0D-2002-52A3-C96F4D17F59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9CD43C5-AE9B-0885-0578-D214158FADC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910FF84A-F405-4294-9C08-28D1494B59A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2F8667E-F820-E8D1-BD36-2FC0545B468D}"/>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B69FEDF7-F9FA-130D-1FF8-4D3A1B6A869F}"/>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F49B967E-2AFE-9182-52E0-C0FB953BB2B3}"/>
              </a:ext>
            </a:extLst>
          </p:cNvPr>
          <p:cNvSpPr txBox="1"/>
          <p:nvPr/>
        </p:nvSpPr>
        <p:spPr>
          <a:xfrm>
            <a:off x="429658" y="2360261"/>
            <a:ext cx="11381001" cy="1015663"/>
          </a:xfrm>
          <a:prstGeom prst="rect">
            <a:avLst/>
          </a:prstGeom>
          <a:noFill/>
        </p:spPr>
        <p:txBody>
          <a:bodyPr wrap="none" rtlCol="0">
            <a:spAutoFit/>
          </a:bodyPr>
          <a:lstStyle/>
          <a:p>
            <a:pPr algn="ctr"/>
            <a:r>
              <a:rPr lang="fr-FR" sz="3000" dirty="0">
                <a:latin typeface="Figtree"/>
              </a:rPr>
              <a:t>Une bonne réponse de l'IA commence rarement par une bonne phrase. </a:t>
            </a:r>
          </a:p>
          <a:p>
            <a:pPr algn="ctr"/>
            <a:r>
              <a:rPr lang="fr-FR" sz="3000" dirty="0">
                <a:highlight>
                  <a:srgbClr val="FFFF00"/>
                </a:highlight>
                <a:latin typeface="Figtree"/>
              </a:rPr>
              <a:t>Elle commence par de bonnes instructions.</a:t>
            </a:r>
          </a:p>
        </p:txBody>
      </p:sp>
      <p:sp>
        <p:nvSpPr>
          <p:cNvPr id="9" name="Rectangle: Rounded Corners 3">
            <a:extLst>
              <a:ext uri="{FF2B5EF4-FFF2-40B4-BE49-F238E27FC236}">
                <a16:creationId xmlns:a16="http://schemas.microsoft.com/office/drawing/2014/main" id="{AC2B1A52-725D-A18B-8810-8A5ACFD25C10}"/>
              </a:ext>
            </a:extLst>
          </p:cNvPr>
          <p:cNvSpPr/>
          <p:nvPr/>
        </p:nvSpPr>
        <p:spPr>
          <a:xfrm>
            <a:off x="624603" y="3786060"/>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Oval 6">
            <a:extLst>
              <a:ext uri="{FF2B5EF4-FFF2-40B4-BE49-F238E27FC236}">
                <a16:creationId xmlns:a16="http://schemas.microsoft.com/office/drawing/2014/main" id="{B62E106A-3FCE-181C-EDF2-F6598DF50149}"/>
              </a:ext>
            </a:extLst>
          </p:cNvPr>
          <p:cNvSpPr/>
          <p:nvPr/>
        </p:nvSpPr>
        <p:spPr>
          <a:xfrm>
            <a:off x="788710" y="4122572"/>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17" name="Graphic 7">
            <a:extLst>
              <a:ext uri="{FF2B5EF4-FFF2-40B4-BE49-F238E27FC236}">
                <a16:creationId xmlns:a16="http://schemas.microsoft.com/office/drawing/2014/main" id="{8A3C95D1-E9D1-E9EA-6CDD-2583F986C6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956350" y="4291736"/>
            <a:ext cx="274320" cy="274320"/>
          </a:xfrm>
          <a:prstGeom prst="rect">
            <a:avLst/>
          </a:prstGeom>
        </p:spPr>
      </p:pic>
      <p:sp>
        <p:nvSpPr>
          <p:cNvPr id="19" name="TextBox 8">
            <a:extLst>
              <a:ext uri="{FF2B5EF4-FFF2-40B4-BE49-F238E27FC236}">
                <a16:creationId xmlns:a16="http://schemas.microsoft.com/office/drawing/2014/main" id="{4A6051D6-EDA7-8FE3-CEDF-482B426E1D81}"/>
              </a:ext>
            </a:extLst>
          </p:cNvPr>
          <p:cNvSpPr txBox="1"/>
          <p:nvPr/>
        </p:nvSpPr>
        <p:spPr>
          <a:xfrm>
            <a:off x="845778" y="5052676"/>
            <a:ext cx="2445194" cy="880369"/>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Quel rôle voulons-nous faire jouer à l’IA ?</a:t>
            </a:r>
            <a:endParaRPr lang="en-US" sz="1800" b="1" dirty="0">
              <a:sym typeface="Manrope Medium"/>
            </a:endParaRPr>
          </a:p>
        </p:txBody>
      </p:sp>
      <p:sp>
        <p:nvSpPr>
          <p:cNvPr id="21" name="TextBox 9">
            <a:extLst>
              <a:ext uri="{FF2B5EF4-FFF2-40B4-BE49-F238E27FC236}">
                <a16:creationId xmlns:a16="http://schemas.microsoft.com/office/drawing/2014/main" id="{5E59CE4F-5718-2DC8-CAA9-2B969D946CB4}"/>
              </a:ext>
            </a:extLst>
          </p:cNvPr>
          <p:cNvSpPr txBox="1"/>
          <p:nvPr/>
        </p:nvSpPr>
        <p:spPr>
          <a:xfrm>
            <a:off x="1528530" y="4203435"/>
            <a:ext cx="1193147"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RÔLE</a:t>
            </a:r>
          </a:p>
        </p:txBody>
      </p:sp>
      <p:sp>
        <p:nvSpPr>
          <p:cNvPr id="25" name="Rectangle: Rounded Corners 10">
            <a:extLst>
              <a:ext uri="{FF2B5EF4-FFF2-40B4-BE49-F238E27FC236}">
                <a16:creationId xmlns:a16="http://schemas.microsoft.com/office/drawing/2014/main" id="{9CF3C334-586F-B38F-E5A0-BBB628A12D4D}"/>
              </a:ext>
            </a:extLst>
          </p:cNvPr>
          <p:cNvSpPr/>
          <p:nvPr/>
        </p:nvSpPr>
        <p:spPr>
          <a:xfrm>
            <a:off x="3309686" y="3786060"/>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Oval 11">
            <a:extLst>
              <a:ext uri="{FF2B5EF4-FFF2-40B4-BE49-F238E27FC236}">
                <a16:creationId xmlns:a16="http://schemas.microsoft.com/office/drawing/2014/main" id="{2F7FBBCD-DE6E-FB24-025C-93113DBE1E6B}"/>
              </a:ext>
            </a:extLst>
          </p:cNvPr>
          <p:cNvSpPr/>
          <p:nvPr/>
        </p:nvSpPr>
        <p:spPr>
          <a:xfrm>
            <a:off x="3473793" y="4122572"/>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32" name="Graphic 14">
            <a:extLst>
              <a:ext uri="{FF2B5EF4-FFF2-40B4-BE49-F238E27FC236}">
                <a16:creationId xmlns:a16="http://schemas.microsoft.com/office/drawing/2014/main" id="{8DE38B4A-1BC6-F67D-45CF-D68D948F53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641433" y="4291736"/>
            <a:ext cx="274320" cy="274320"/>
          </a:xfrm>
          <a:prstGeom prst="rect">
            <a:avLst/>
          </a:prstGeom>
        </p:spPr>
      </p:pic>
      <p:sp>
        <p:nvSpPr>
          <p:cNvPr id="40" name="Rectangle: Rounded Corners 21">
            <a:extLst>
              <a:ext uri="{FF2B5EF4-FFF2-40B4-BE49-F238E27FC236}">
                <a16:creationId xmlns:a16="http://schemas.microsoft.com/office/drawing/2014/main" id="{04BD4859-B29F-E749-91E1-7AE63A18F9F6}"/>
              </a:ext>
            </a:extLst>
          </p:cNvPr>
          <p:cNvSpPr/>
          <p:nvPr/>
        </p:nvSpPr>
        <p:spPr>
          <a:xfrm>
            <a:off x="5994769" y="3786060"/>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2" name="Oval 22">
            <a:extLst>
              <a:ext uri="{FF2B5EF4-FFF2-40B4-BE49-F238E27FC236}">
                <a16:creationId xmlns:a16="http://schemas.microsoft.com/office/drawing/2014/main" id="{DBA9CC5B-E6CF-2689-7EEE-AD5FFD0FA2C7}"/>
              </a:ext>
            </a:extLst>
          </p:cNvPr>
          <p:cNvSpPr/>
          <p:nvPr/>
        </p:nvSpPr>
        <p:spPr>
          <a:xfrm>
            <a:off x="6158876" y="4122572"/>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44" name="Graphic 23">
            <a:extLst>
              <a:ext uri="{FF2B5EF4-FFF2-40B4-BE49-F238E27FC236}">
                <a16:creationId xmlns:a16="http://schemas.microsoft.com/office/drawing/2014/main" id="{EEB32A59-4A65-5F00-FE5D-791BA3B7C7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326516" y="4291736"/>
            <a:ext cx="274320" cy="274320"/>
          </a:xfrm>
          <a:prstGeom prst="rect">
            <a:avLst/>
          </a:prstGeom>
        </p:spPr>
      </p:pic>
      <p:sp>
        <p:nvSpPr>
          <p:cNvPr id="50" name="Rectangle: Rounded Corners 26">
            <a:extLst>
              <a:ext uri="{FF2B5EF4-FFF2-40B4-BE49-F238E27FC236}">
                <a16:creationId xmlns:a16="http://schemas.microsoft.com/office/drawing/2014/main" id="{9D916E87-3F3C-84CD-FC45-1B2A88DDBC03}"/>
              </a:ext>
            </a:extLst>
          </p:cNvPr>
          <p:cNvSpPr/>
          <p:nvPr/>
        </p:nvSpPr>
        <p:spPr>
          <a:xfrm>
            <a:off x="8679852" y="3786060"/>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52" name="Oval 27">
            <a:extLst>
              <a:ext uri="{FF2B5EF4-FFF2-40B4-BE49-F238E27FC236}">
                <a16:creationId xmlns:a16="http://schemas.microsoft.com/office/drawing/2014/main" id="{AEA3257B-9FE2-2233-6CF8-36C037F84C94}"/>
              </a:ext>
            </a:extLst>
          </p:cNvPr>
          <p:cNvSpPr/>
          <p:nvPr/>
        </p:nvSpPr>
        <p:spPr>
          <a:xfrm>
            <a:off x="8843960" y="4122572"/>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54" name="Graphic 28">
            <a:extLst>
              <a:ext uri="{FF2B5EF4-FFF2-40B4-BE49-F238E27FC236}">
                <a16:creationId xmlns:a16="http://schemas.microsoft.com/office/drawing/2014/main" id="{57987927-CFFD-9D99-1AEC-50D9098B98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011600" y="4291736"/>
            <a:ext cx="274320" cy="274320"/>
          </a:xfrm>
          <a:prstGeom prst="rect">
            <a:avLst/>
          </a:prstGeom>
        </p:spPr>
      </p:pic>
      <p:sp>
        <p:nvSpPr>
          <p:cNvPr id="60" name="ZoneTexte 59">
            <a:extLst>
              <a:ext uri="{FF2B5EF4-FFF2-40B4-BE49-F238E27FC236}">
                <a16:creationId xmlns:a16="http://schemas.microsoft.com/office/drawing/2014/main" id="{B1DCEE10-0F6A-1F77-6433-495A7DCBA589}"/>
              </a:ext>
            </a:extLst>
          </p:cNvPr>
          <p:cNvSpPr txBox="1"/>
          <p:nvPr/>
        </p:nvSpPr>
        <p:spPr>
          <a:xfrm>
            <a:off x="533372" y="3380795"/>
            <a:ext cx="1017458" cy="369332"/>
          </a:xfrm>
          <a:prstGeom prst="rect">
            <a:avLst/>
          </a:prstGeom>
          <a:noFill/>
        </p:spPr>
        <p:txBody>
          <a:bodyPr wrap="none" rtlCol="0">
            <a:spAutoFit/>
          </a:bodyPr>
          <a:lstStyle/>
          <a:p>
            <a:pPr algn="ctr"/>
            <a:r>
              <a:rPr lang="fr-FR" b="1" dirty="0">
                <a:latin typeface="Figtree"/>
              </a:rPr>
              <a:t>4 Leviers</a:t>
            </a:r>
          </a:p>
        </p:txBody>
      </p:sp>
      <p:sp>
        <p:nvSpPr>
          <p:cNvPr id="62" name="TextBox 9">
            <a:extLst>
              <a:ext uri="{FF2B5EF4-FFF2-40B4-BE49-F238E27FC236}">
                <a16:creationId xmlns:a16="http://schemas.microsoft.com/office/drawing/2014/main" id="{822547A5-A3B4-DFE9-0909-AD98E0883B54}"/>
              </a:ext>
            </a:extLst>
          </p:cNvPr>
          <p:cNvSpPr txBox="1"/>
          <p:nvPr/>
        </p:nvSpPr>
        <p:spPr>
          <a:xfrm>
            <a:off x="4172834" y="4222780"/>
            <a:ext cx="1388009"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LA TÂCHE</a:t>
            </a:r>
          </a:p>
        </p:txBody>
      </p:sp>
      <p:sp>
        <p:nvSpPr>
          <p:cNvPr id="64" name="TextBox 9">
            <a:extLst>
              <a:ext uri="{FF2B5EF4-FFF2-40B4-BE49-F238E27FC236}">
                <a16:creationId xmlns:a16="http://schemas.microsoft.com/office/drawing/2014/main" id="{BEC7B361-7E7D-45DA-5F3D-A3D7101AB632}"/>
              </a:ext>
            </a:extLst>
          </p:cNvPr>
          <p:cNvSpPr txBox="1"/>
          <p:nvPr/>
        </p:nvSpPr>
        <p:spPr>
          <a:xfrm>
            <a:off x="6821583" y="4221180"/>
            <a:ext cx="1881605"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CONTEXTE</a:t>
            </a:r>
          </a:p>
        </p:txBody>
      </p:sp>
      <p:sp>
        <p:nvSpPr>
          <p:cNvPr id="66" name="TextBox 9">
            <a:extLst>
              <a:ext uri="{FF2B5EF4-FFF2-40B4-BE49-F238E27FC236}">
                <a16:creationId xmlns:a16="http://schemas.microsoft.com/office/drawing/2014/main" id="{56E88601-16CA-F9BA-4525-5EF11B21A683}"/>
              </a:ext>
            </a:extLst>
          </p:cNvPr>
          <p:cNvSpPr txBox="1"/>
          <p:nvPr/>
        </p:nvSpPr>
        <p:spPr>
          <a:xfrm>
            <a:off x="9669586" y="4180985"/>
            <a:ext cx="1637949"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FORMAT</a:t>
            </a:r>
          </a:p>
        </p:txBody>
      </p:sp>
      <p:sp>
        <p:nvSpPr>
          <p:cNvPr id="68" name="TextBox 8">
            <a:extLst>
              <a:ext uri="{FF2B5EF4-FFF2-40B4-BE49-F238E27FC236}">
                <a16:creationId xmlns:a16="http://schemas.microsoft.com/office/drawing/2014/main" id="{2B80A404-7A41-0938-FDA1-16CBCD39A87E}"/>
              </a:ext>
            </a:extLst>
          </p:cNvPr>
          <p:cNvSpPr txBox="1"/>
          <p:nvPr/>
        </p:nvSpPr>
        <p:spPr>
          <a:xfrm>
            <a:off x="3530861" y="5052676"/>
            <a:ext cx="2445194" cy="880369"/>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 doit faire exactement l’IA ?</a:t>
            </a:r>
            <a:endParaRPr lang="en-US" sz="1800" b="1" dirty="0">
              <a:sym typeface="Manrope Medium"/>
            </a:endParaRPr>
          </a:p>
        </p:txBody>
      </p:sp>
      <p:sp>
        <p:nvSpPr>
          <p:cNvPr id="70" name="TextBox 8">
            <a:extLst>
              <a:ext uri="{FF2B5EF4-FFF2-40B4-BE49-F238E27FC236}">
                <a16:creationId xmlns:a16="http://schemas.microsoft.com/office/drawing/2014/main" id="{150B535C-9646-467F-416A-15FF9B2609CF}"/>
              </a:ext>
            </a:extLst>
          </p:cNvPr>
          <p:cNvSpPr txBox="1"/>
          <p:nvPr/>
        </p:nvSpPr>
        <p:spPr>
          <a:xfrm>
            <a:off x="6215944" y="5052676"/>
            <a:ext cx="2445194" cy="880369"/>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Quelles informations l’IA dispose t-elle ?</a:t>
            </a:r>
            <a:endParaRPr lang="en-US" sz="1800" b="1" dirty="0">
              <a:sym typeface="Manrope Medium"/>
            </a:endParaRPr>
          </a:p>
        </p:txBody>
      </p:sp>
      <p:sp>
        <p:nvSpPr>
          <p:cNvPr id="72" name="TextBox 8">
            <a:extLst>
              <a:ext uri="{FF2B5EF4-FFF2-40B4-BE49-F238E27FC236}">
                <a16:creationId xmlns:a16="http://schemas.microsoft.com/office/drawing/2014/main" id="{E11C97D3-369E-AE16-7717-511B8158274E}"/>
              </a:ext>
            </a:extLst>
          </p:cNvPr>
          <p:cNvSpPr txBox="1"/>
          <p:nvPr/>
        </p:nvSpPr>
        <p:spPr>
          <a:xfrm>
            <a:off x="8901027" y="5052676"/>
            <a:ext cx="2445194" cy="880369"/>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Quel résultat voulez-vous obtenir ?</a:t>
            </a:r>
            <a:endParaRPr lang="en-US" sz="1800" b="1" dirty="0">
              <a:sym typeface="Manrope Medium"/>
            </a:endParaRPr>
          </a:p>
        </p:txBody>
      </p:sp>
      <p:sp>
        <p:nvSpPr>
          <p:cNvPr id="6" name="Flèche : demi-tour 5">
            <a:extLst>
              <a:ext uri="{FF2B5EF4-FFF2-40B4-BE49-F238E27FC236}">
                <a16:creationId xmlns:a16="http://schemas.microsoft.com/office/drawing/2014/main" id="{D4B5C6E3-0382-B194-7B48-237A6F1E748A}"/>
              </a:ext>
            </a:extLst>
          </p:cNvPr>
          <p:cNvSpPr/>
          <p:nvPr/>
        </p:nvSpPr>
        <p:spPr>
          <a:xfrm>
            <a:off x="2078966" y="3514918"/>
            <a:ext cx="2165230" cy="235209"/>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1" name="Flèche : demi-tour 10">
            <a:extLst>
              <a:ext uri="{FF2B5EF4-FFF2-40B4-BE49-F238E27FC236}">
                <a16:creationId xmlns:a16="http://schemas.microsoft.com/office/drawing/2014/main" id="{E86BD107-96FC-ED85-2FDD-897C51D42728}"/>
              </a:ext>
            </a:extLst>
          </p:cNvPr>
          <p:cNvSpPr/>
          <p:nvPr/>
        </p:nvSpPr>
        <p:spPr>
          <a:xfrm>
            <a:off x="4483685" y="3490724"/>
            <a:ext cx="2984740" cy="252344"/>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 name="Flèche : demi-tour 15">
            <a:extLst>
              <a:ext uri="{FF2B5EF4-FFF2-40B4-BE49-F238E27FC236}">
                <a16:creationId xmlns:a16="http://schemas.microsoft.com/office/drawing/2014/main" id="{F77E3615-004B-695E-A1BB-6AB59EB1F6BA}"/>
              </a:ext>
            </a:extLst>
          </p:cNvPr>
          <p:cNvSpPr/>
          <p:nvPr/>
        </p:nvSpPr>
        <p:spPr>
          <a:xfrm>
            <a:off x="7745342" y="3480659"/>
            <a:ext cx="2623606" cy="240971"/>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3235095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20EECDA-2B49-0431-B0D4-842124333E73}"/>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A536FC15-605B-98F6-15B9-09AB6C1A478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A2CBCA44-8A94-1B3D-CE37-E8CAAE63585A}"/>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AB734505-3C1E-08F3-6756-1B5B1E4BC84E}"/>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9F04E782-EF1D-F966-A137-5A6441AF1A0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B4B61B4-E78F-CDC4-6D5B-E65FCE4AE51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AE85DFC0-CA4C-8EAA-520A-B675F12DBAF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BEA145A3-D64E-8353-6F41-D58A5693E615}"/>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1C712760-78AB-3252-40FD-A86665392C6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14" name="Oval 6">
            <a:extLst>
              <a:ext uri="{FF2B5EF4-FFF2-40B4-BE49-F238E27FC236}">
                <a16:creationId xmlns:a16="http://schemas.microsoft.com/office/drawing/2014/main" id="{DD10B5AB-F337-4C51-0730-651FB053CD59}"/>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17" name="Graphic 7">
            <a:extLst>
              <a:ext uri="{FF2B5EF4-FFF2-40B4-BE49-F238E27FC236}">
                <a16:creationId xmlns:a16="http://schemas.microsoft.com/office/drawing/2014/main" id="{BC4CCAFA-BD42-1462-55A7-020C21BC84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87372" y="1772083"/>
            <a:ext cx="274320" cy="274320"/>
          </a:xfrm>
          <a:prstGeom prst="rect">
            <a:avLst/>
          </a:prstGeom>
        </p:spPr>
      </p:pic>
      <p:sp>
        <p:nvSpPr>
          <p:cNvPr id="21" name="TextBox 9">
            <a:extLst>
              <a:ext uri="{FF2B5EF4-FFF2-40B4-BE49-F238E27FC236}">
                <a16:creationId xmlns:a16="http://schemas.microsoft.com/office/drawing/2014/main" id="{2E874358-76F1-5794-F232-771771440FEA}"/>
              </a:ext>
            </a:extLst>
          </p:cNvPr>
          <p:cNvSpPr txBox="1"/>
          <p:nvPr/>
        </p:nvSpPr>
        <p:spPr>
          <a:xfrm>
            <a:off x="1359552" y="1683782"/>
            <a:ext cx="1193147"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RÔLE</a:t>
            </a:r>
          </a:p>
        </p:txBody>
      </p:sp>
      <p:sp>
        <p:nvSpPr>
          <p:cNvPr id="6" name="ZoneTexte 5">
            <a:extLst>
              <a:ext uri="{FF2B5EF4-FFF2-40B4-BE49-F238E27FC236}">
                <a16:creationId xmlns:a16="http://schemas.microsoft.com/office/drawing/2014/main" id="{8E937EF1-2EC2-F213-7161-524BEB788AD1}"/>
              </a:ext>
            </a:extLst>
          </p:cNvPr>
          <p:cNvSpPr txBox="1"/>
          <p:nvPr/>
        </p:nvSpPr>
        <p:spPr>
          <a:xfrm>
            <a:off x="2586866" y="2629331"/>
            <a:ext cx="9757799" cy="3693319"/>
          </a:xfrm>
          <a:prstGeom prst="rect">
            <a:avLst/>
          </a:prstGeom>
          <a:noFill/>
        </p:spPr>
        <p:txBody>
          <a:bodyPr wrap="none" rtlCol="0">
            <a:spAutoFit/>
          </a:bodyPr>
          <a:lstStyle/>
          <a:p>
            <a:pPr lvl="0"/>
            <a:r>
              <a:rPr lang="fr-FR" dirty="0">
                <a:latin typeface="Courier New" panose="02070309020205020404" pitchFamily="49" charset="0"/>
                <a:cs typeface="Courier New" panose="02070309020205020404" pitchFamily="49" charset="0"/>
              </a:rPr>
              <a:t>☐ Assistant administratif </a:t>
            </a:r>
          </a:p>
          <a:p>
            <a:pPr lvl="0"/>
            <a:r>
              <a:rPr lang="fr-FR" dirty="0">
                <a:latin typeface="Courier New" panose="02070309020205020404" pitchFamily="49" charset="0"/>
                <a:cs typeface="Courier New" panose="02070309020205020404" pitchFamily="49" charset="0"/>
              </a:rPr>
              <a:t>☐ Rédacteur professionnel </a:t>
            </a:r>
          </a:p>
          <a:p>
            <a:pPr lvl="0"/>
            <a:r>
              <a:rPr lang="fr-FR" dirty="0">
                <a:latin typeface="Courier New" panose="02070309020205020404" pitchFamily="49" charset="0"/>
                <a:cs typeface="Courier New" panose="02070309020205020404" pitchFamily="49" charset="0"/>
              </a:rPr>
              <a:t>☐ Expert immobilier </a:t>
            </a:r>
          </a:p>
          <a:p>
            <a:pPr lvl="0"/>
            <a:r>
              <a:rPr lang="fr-FR" dirty="0">
                <a:latin typeface="Courier New" panose="02070309020205020404" pitchFamily="49" charset="0"/>
                <a:cs typeface="Courier New" panose="02070309020205020404" pitchFamily="49" charset="0"/>
              </a:rPr>
              <a:t>☐ Expert immobilier spécialisé en évaluation </a:t>
            </a:r>
          </a:p>
          <a:p>
            <a:pPr lvl="0"/>
            <a:r>
              <a:rPr lang="fr-FR" dirty="0">
                <a:latin typeface="Courier New" panose="02070309020205020404" pitchFamily="49" charset="0"/>
                <a:cs typeface="Courier New" panose="02070309020205020404" pitchFamily="49" charset="0"/>
              </a:rPr>
              <a:t>☐ Expert judiciaire en matière immobilière </a:t>
            </a:r>
          </a:p>
          <a:p>
            <a:pPr lvl="0"/>
            <a:r>
              <a:rPr lang="fr-FR" dirty="0">
                <a:latin typeface="Courier New" panose="02070309020205020404" pitchFamily="49" charset="0"/>
                <a:cs typeface="Courier New" panose="02070309020205020404" pitchFamily="49" charset="0"/>
              </a:rPr>
              <a:t>☐ Technicien du bâtiment </a:t>
            </a:r>
          </a:p>
          <a:p>
            <a:pPr lvl="0"/>
            <a:r>
              <a:rPr lang="fr-FR" dirty="0">
                <a:latin typeface="Courier New" panose="02070309020205020404" pitchFamily="49" charset="0"/>
                <a:cs typeface="Courier New" panose="02070309020205020404" pitchFamily="49" charset="0"/>
              </a:rPr>
              <a:t>☐ Analyste immobilier </a:t>
            </a:r>
          </a:p>
          <a:p>
            <a:pPr lvl="0"/>
            <a:r>
              <a:rPr lang="fr-FR" dirty="0">
                <a:latin typeface="Courier New" panose="02070309020205020404" pitchFamily="49" charset="0"/>
                <a:cs typeface="Courier New" panose="02070309020205020404" pitchFamily="49" charset="0"/>
              </a:rPr>
              <a:t>☐ Relecteur de rapport d'expertise </a:t>
            </a:r>
          </a:p>
          <a:p>
            <a:pPr lvl="0"/>
            <a:r>
              <a:rPr lang="fr-FR" dirty="0">
                <a:latin typeface="Courier New" panose="02070309020205020404" pitchFamily="49" charset="0"/>
                <a:cs typeface="Courier New" panose="02070309020205020404" pitchFamily="49" charset="0"/>
              </a:rPr>
              <a:t>☐ Assistant d'expert immobilier </a:t>
            </a:r>
          </a:p>
          <a:p>
            <a:pPr lvl="0"/>
            <a:r>
              <a:rPr lang="fr-FR" dirty="0">
                <a:latin typeface="Courier New" panose="02070309020205020404" pitchFamily="49" charset="0"/>
                <a:cs typeface="Courier New" panose="02070309020205020404" pitchFamily="49" charset="0"/>
              </a:rPr>
              <a:t>☐ Contradicteur chargé d'identifier les faiblesses d'un raisonnement </a:t>
            </a:r>
          </a:p>
          <a:p>
            <a:pPr lvl="0"/>
            <a:r>
              <a:rPr lang="fr-FR" dirty="0">
                <a:latin typeface="Courier New" panose="02070309020205020404" pitchFamily="49" charset="0"/>
                <a:cs typeface="Courier New" panose="02070309020205020404" pitchFamily="49" charset="0"/>
              </a:rPr>
              <a:t>☐ Juriste immobilier </a:t>
            </a:r>
          </a:p>
          <a:p>
            <a:pPr lvl="0"/>
            <a:r>
              <a:rPr lang="fr-FR" dirty="0">
                <a:latin typeface="Courier New" panose="02070309020205020404" pitchFamily="49" charset="0"/>
                <a:cs typeface="Courier New" panose="02070309020205020404" pitchFamily="49" charset="0"/>
              </a:rPr>
              <a:t>☐ Architecte / spécialiste de la lecture des plans </a:t>
            </a:r>
          </a:p>
          <a:p>
            <a:pPr lvl="0"/>
            <a:r>
              <a:rPr lang="fr-FR" dirty="0">
                <a:latin typeface="Courier New" panose="02070309020205020404" pitchFamily="49" charset="0"/>
                <a:cs typeface="Courier New" panose="02070309020205020404" pitchFamily="49" charset="0"/>
              </a:rPr>
              <a:t>☐ Spécialiste des pathologies du bâtiment</a:t>
            </a:r>
          </a:p>
        </p:txBody>
      </p:sp>
      <p:sp>
        <p:nvSpPr>
          <p:cNvPr id="11" name="ZoneTexte 10">
            <a:extLst>
              <a:ext uri="{FF2B5EF4-FFF2-40B4-BE49-F238E27FC236}">
                <a16:creationId xmlns:a16="http://schemas.microsoft.com/office/drawing/2014/main" id="{D87E3687-BE2D-7989-256A-FCE4A4E5C2A2}"/>
              </a:ext>
            </a:extLst>
          </p:cNvPr>
          <p:cNvSpPr txBox="1"/>
          <p:nvPr/>
        </p:nvSpPr>
        <p:spPr>
          <a:xfrm>
            <a:off x="0" y="3917957"/>
            <a:ext cx="2406428" cy="584775"/>
          </a:xfrm>
          <a:prstGeom prst="rect">
            <a:avLst/>
          </a:prstGeom>
          <a:noFill/>
        </p:spPr>
        <p:txBody>
          <a:bodyPr wrap="none" rtlCol="0">
            <a:spAutoFit/>
          </a:bodyPr>
          <a:lstStyle/>
          <a:p>
            <a:r>
              <a:rPr lang="fr-FR" sz="3200" b="1" i="1" dirty="0">
                <a:latin typeface="Courier New" panose="02070309020205020404" pitchFamily="49" charset="0"/>
                <a:cs typeface="Courier New" panose="02070309020205020404" pitchFamily="49" charset="0"/>
              </a:rPr>
              <a:t>Tu es un…</a:t>
            </a:r>
          </a:p>
        </p:txBody>
      </p:sp>
      <p:sp>
        <p:nvSpPr>
          <p:cNvPr id="16" name="Accolade ouvrante 15">
            <a:extLst>
              <a:ext uri="{FF2B5EF4-FFF2-40B4-BE49-F238E27FC236}">
                <a16:creationId xmlns:a16="http://schemas.microsoft.com/office/drawing/2014/main" id="{242D364E-D15F-6938-25E6-655CDAF6ECF2}"/>
              </a:ext>
            </a:extLst>
          </p:cNvPr>
          <p:cNvSpPr/>
          <p:nvPr/>
        </p:nvSpPr>
        <p:spPr>
          <a:xfrm>
            <a:off x="2134058" y="2735341"/>
            <a:ext cx="418641" cy="3481297"/>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943632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751E4CE-22ED-5FE8-0CBC-A68E2B0B4ADE}"/>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3F9F13B3-3B32-2086-FA3E-BB2EBB284F9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7D7CA717-7335-6D52-B7B5-C24DB3ABB2B3}"/>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C14A6652-96C2-AD3B-4106-A81052CD3308}"/>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58D5BFB8-978D-B089-CBA9-1FF66DD9A70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0DB6214-FCF1-4843-5CAA-5E142F2E636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20076CE9-EFF7-9F3B-5A4B-91F7738B896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76E0940-0EA6-2698-7C0D-27B728AA5DFD}"/>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023EA05F-DC5C-9D0B-D5E7-AC52EB33F40A}"/>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11" name="ZoneTexte 10">
            <a:extLst>
              <a:ext uri="{FF2B5EF4-FFF2-40B4-BE49-F238E27FC236}">
                <a16:creationId xmlns:a16="http://schemas.microsoft.com/office/drawing/2014/main" id="{7BF777F4-AC15-5100-2D53-FDE57D2BE12C}"/>
              </a:ext>
            </a:extLst>
          </p:cNvPr>
          <p:cNvSpPr txBox="1"/>
          <p:nvPr/>
        </p:nvSpPr>
        <p:spPr>
          <a:xfrm>
            <a:off x="825498" y="2779836"/>
            <a:ext cx="10610010" cy="3539430"/>
          </a:xfrm>
          <a:prstGeom prst="rect">
            <a:avLst/>
          </a:prstGeom>
          <a:noFill/>
        </p:spPr>
        <p:txBody>
          <a:bodyPr wrap="square" rtlCol="0">
            <a:spAutoFit/>
          </a:bodyPr>
          <a:lstStyle/>
          <a:p>
            <a:r>
              <a:rPr lang="fr-FR" sz="2800" b="1" dirty="0"/>
              <a:t>C'est probablement le levier le plus souvent négligé.</a:t>
            </a:r>
          </a:p>
          <a:p>
            <a:endParaRPr lang="fr-FR" sz="2800" dirty="0"/>
          </a:p>
          <a:p>
            <a:r>
              <a:rPr lang="fr-FR" sz="2800" dirty="0"/>
              <a:t>Dire :</a:t>
            </a:r>
          </a:p>
          <a:p>
            <a:r>
              <a:rPr lang="fr-FR" sz="2800" dirty="0"/>
              <a:t>	« Fais-moi une description. »</a:t>
            </a:r>
          </a:p>
          <a:p>
            <a:endParaRPr lang="fr-FR" sz="2800" dirty="0"/>
          </a:p>
          <a:p>
            <a:r>
              <a:rPr lang="fr-FR" sz="2800" dirty="0"/>
              <a:t>est beaucoup moins efficace que :</a:t>
            </a:r>
          </a:p>
          <a:p>
            <a:r>
              <a:rPr lang="fr-FR" sz="2800" dirty="0"/>
              <a:t>	« Rédige la section "Description du bien" destinée à être intégrée 	dans un rapport d'expertise. »</a:t>
            </a:r>
          </a:p>
        </p:txBody>
      </p:sp>
      <p:sp>
        <p:nvSpPr>
          <p:cNvPr id="17" name="Oval 6">
            <a:extLst>
              <a:ext uri="{FF2B5EF4-FFF2-40B4-BE49-F238E27FC236}">
                <a16:creationId xmlns:a16="http://schemas.microsoft.com/office/drawing/2014/main" id="{9411A941-64D3-2F66-269B-6996974C4356}"/>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20" name="Graphic 7">
            <a:extLst>
              <a:ext uri="{FF2B5EF4-FFF2-40B4-BE49-F238E27FC236}">
                <a16:creationId xmlns:a16="http://schemas.microsoft.com/office/drawing/2014/main" id="{7C69DFB7-0A61-33D2-A968-ECFE4E6B15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87372" y="1772083"/>
            <a:ext cx="274320" cy="274320"/>
          </a:xfrm>
          <a:prstGeom prst="rect">
            <a:avLst/>
          </a:prstGeom>
        </p:spPr>
      </p:pic>
      <p:sp>
        <p:nvSpPr>
          <p:cNvPr id="23" name="TextBox 9">
            <a:extLst>
              <a:ext uri="{FF2B5EF4-FFF2-40B4-BE49-F238E27FC236}">
                <a16:creationId xmlns:a16="http://schemas.microsoft.com/office/drawing/2014/main" id="{ACE2899A-E25C-6EE1-F902-CDF6D673D659}"/>
              </a:ext>
            </a:extLst>
          </p:cNvPr>
          <p:cNvSpPr txBox="1"/>
          <p:nvPr/>
        </p:nvSpPr>
        <p:spPr>
          <a:xfrm>
            <a:off x="1359552" y="1683782"/>
            <a:ext cx="1388009"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LA TÂCHE</a:t>
            </a:r>
          </a:p>
        </p:txBody>
      </p:sp>
      <p:sp>
        <p:nvSpPr>
          <p:cNvPr id="6" name="TextBox 8">
            <a:extLst>
              <a:ext uri="{FF2B5EF4-FFF2-40B4-BE49-F238E27FC236}">
                <a16:creationId xmlns:a16="http://schemas.microsoft.com/office/drawing/2014/main" id="{351722FC-1A48-3E49-4D34-6B1EC8AA45EA}"/>
              </a:ext>
            </a:extLst>
          </p:cNvPr>
          <p:cNvSpPr txBox="1"/>
          <p:nvPr/>
        </p:nvSpPr>
        <p:spPr>
          <a:xfrm>
            <a:off x="1359552" y="2089634"/>
            <a:ext cx="3272450" cy="4648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 doit faire exactement l’IA ?</a:t>
            </a:r>
            <a:endParaRPr lang="en-US" sz="1800" b="1" dirty="0">
              <a:sym typeface="Manrope Medium"/>
            </a:endParaRPr>
          </a:p>
        </p:txBody>
      </p:sp>
    </p:spTree>
    <p:extLst>
      <p:ext uri="{BB962C8B-B14F-4D97-AF65-F5344CB8AC3E}">
        <p14:creationId xmlns:p14="http://schemas.microsoft.com/office/powerpoint/2010/main" val="1408107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5499F73-7A1E-D5CE-AB08-49A424A49317}"/>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534C3EDA-FFC8-ED0F-730D-C04065BB964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0A68FE25-183F-A9D8-F146-E6706DF8D0D8}"/>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8DFB112A-4C1E-28A9-DCA9-95486A6A8207}"/>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6C6566BF-E817-D117-6C94-283F1733D35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C3BD895-5E6B-000A-7891-D68482BA778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33CD4003-A438-E7F4-0090-64803402686F}"/>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02F26570-EFFC-A5B0-60BC-5B7F7F631078}"/>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1D558DA5-CE4C-04EC-622D-3B5F20EE4C8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14" name="Oval 6">
            <a:extLst>
              <a:ext uri="{FF2B5EF4-FFF2-40B4-BE49-F238E27FC236}">
                <a16:creationId xmlns:a16="http://schemas.microsoft.com/office/drawing/2014/main" id="{11767D2F-B04A-62B4-FC96-4469CC85A7BD}"/>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17" name="Graphic 7">
            <a:extLst>
              <a:ext uri="{FF2B5EF4-FFF2-40B4-BE49-F238E27FC236}">
                <a16:creationId xmlns:a16="http://schemas.microsoft.com/office/drawing/2014/main" id="{5F2138B7-A484-2AC5-927F-8E6F845E9A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87372" y="1772083"/>
            <a:ext cx="274320" cy="274320"/>
          </a:xfrm>
          <a:prstGeom prst="rect">
            <a:avLst/>
          </a:prstGeom>
        </p:spPr>
      </p:pic>
      <p:sp>
        <p:nvSpPr>
          <p:cNvPr id="7" name="TextBox 9">
            <a:extLst>
              <a:ext uri="{FF2B5EF4-FFF2-40B4-BE49-F238E27FC236}">
                <a16:creationId xmlns:a16="http://schemas.microsoft.com/office/drawing/2014/main" id="{C895B4EC-BBDA-228F-C70E-6CE3CB5B2A4B}"/>
              </a:ext>
            </a:extLst>
          </p:cNvPr>
          <p:cNvSpPr txBox="1"/>
          <p:nvPr/>
        </p:nvSpPr>
        <p:spPr>
          <a:xfrm>
            <a:off x="1359552" y="1683782"/>
            <a:ext cx="1388009"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LA TÂCHE</a:t>
            </a:r>
          </a:p>
        </p:txBody>
      </p:sp>
      <p:sp>
        <p:nvSpPr>
          <p:cNvPr id="9" name="ZoneTexte 8">
            <a:extLst>
              <a:ext uri="{FF2B5EF4-FFF2-40B4-BE49-F238E27FC236}">
                <a16:creationId xmlns:a16="http://schemas.microsoft.com/office/drawing/2014/main" id="{BEC76081-0907-B11E-22C0-A6E9422E8C3E}"/>
              </a:ext>
            </a:extLst>
          </p:cNvPr>
          <p:cNvSpPr txBox="1"/>
          <p:nvPr/>
        </p:nvSpPr>
        <p:spPr>
          <a:xfrm>
            <a:off x="1071880" y="2216111"/>
            <a:ext cx="4680253" cy="4216539"/>
          </a:xfrm>
          <a:prstGeom prst="rect">
            <a:avLst/>
          </a:prstGeom>
          <a:noFill/>
        </p:spPr>
        <p:txBody>
          <a:bodyPr wrap="square" rtlCol="0">
            <a:spAutoFit/>
          </a:bodyPr>
          <a:lstStyle/>
          <a:p>
            <a:r>
              <a:rPr lang="fr-FR" sz="1600" b="1" dirty="0"/>
              <a:t>Sélecteur pédagogique : « Que doit faire l'IA ? »</a:t>
            </a:r>
          </a:p>
          <a:p>
            <a:pPr lvl="0"/>
            <a:r>
              <a:rPr lang="fr-FR" sz="1400" dirty="0">
                <a:latin typeface="Courier New" panose="02070309020205020404" pitchFamily="49" charset="0"/>
                <a:cs typeface="Courier New" panose="02070309020205020404" pitchFamily="49" charset="0"/>
              </a:rPr>
              <a:t>☐ Décrire </a:t>
            </a:r>
          </a:p>
          <a:p>
            <a:pPr lvl="0"/>
            <a:r>
              <a:rPr lang="fr-FR" sz="1400" dirty="0">
                <a:latin typeface="Courier New" panose="02070309020205020404" pitchFamily="49" charset="0"/>
                <a:cs typeface="Courier New" panose="02070309020205020404" pitchFamily="49" charset="0"/>
              </a:rPr>
              <a:t>☐ Résumer </a:t>
            </a:r>
          </a:p>
          <a:p>
            <a:pPr lvl="0"/>
            <a:r>
              <a:rPr lang="fr-FR" sz="1400" dirty="0">
                <a:latin typeface="Courier New" panose="02070309020205020404" pitchFamily="49" charset="0"/>
                <a:cs typeface="Courier New" panose="02070309020205020404" pitchFamily="49" charset="0"/>
              </a:rPr>
              <a:t>☐ Reformuler </a:t>
            </a:r>
          </a:p>
          <a:p>
            <a:pPr lvl="0"/>
            <a:r>
              <a:rPr lang="fr-FR" sz="1400" dirty="0">
                <a:latin typeface="Courier New" panose="02070309020205020404" pitchFamily="49" charset="0"/>
                <a:cs typeface="Courier New" panose="02070309020205020404" pitchFamily="49" charset="0"/>
              </a:rPr>
              <a:t>☐ Structurer mes notes </a:t>
            </a:r>
          </a:p>
          <a:p>
            <a:pPr lvl="0"/>
            <a:r>
              <a:rPr lang="fr-FR" sz="1400" dirty="0">
                <a:latin typeface="Courier New" panose="02070309020205020404" pitchFamily="49" charset="0"/>
                <a:cs typeface="Courier New" panose="02070309020205020404" pitchFamily="49" charset="0"/>
              </a:rPr>
              <a:t>☐ Corriger </a:t>
            </a:r>
          </a:p>
          <a:p>
            <a:pPr lvl="0"/>
            <a:r>
              <a:rPr lang="fr-FR" sz="1400" dirty="0">
                <a:latin typeface="Courier New" panose="02070309020205020404" pitchFamily="49" charset="0"/>
                <a:cs typeface="Courier New" panose="02070309020205020404" pitchFamily="49" charset="0"/>
              </a:rPr>
              <a:t>☐ Comparer </a:t>
            </a:r>
          </a:p>
          <a:p>
            <a:pPr lvl="0"/>
            <a:r>
              <a:rPr lang="fr-FR" sz="1400" dirty="0">
                <a:latin typeface="Courier New" panose="02070309020205020404" pitchFamily="49" charset="0"/>
                <a:cs typeface="Courier New" panose="02070309020205020404" pitchFamily="49" charset="0"/>
              </a:rPr>
              <a:t>☐ Classer </a:t>
            </a:r>
          </a:p>
          <a:p>
            <a:pPr lvl="0"/>
            <a:r>
              <a:rPr lang="fr-FR" sz="1400" dirty="0">
                <a:latin typeface="Courier New" panose="02070309020205020404" pitchFamily="49" charset="0"/>
                <a:cs typeface="Courier New" panose="02070309020205020404" pitchFamily="49" charset="0"/>
              </a:rPr>
              <a:t>☐ Extraire des informations </a:t>
            </a:r>
          </a:p>
          <a:p>
            <a:pPr lvl="0"/>
            <a:r>
              <a:rPr lang="fr-FR" sz="1400" dirty="0">
                <a:latin typeface="Courier New" panose="02070309020205020404" pitchFamily="49" charset="0"/>
                <a:cs typeface="Courier New" panose="02070309020205020404" pitchFamily="49" charset="0"/>
              </a:rPr>
              <a:t>☐ Identifier les incohérences </a:t>
            </a:r>
          </a:p>
          <a:p>
            <a:pPr lvl="0"/>
            <a:r>
              <a:rPr lang="fr-FR" sz="1400" dirty="0">
                <a:latin typeface="Courier New" panose="02070309020205020404" pitchFamily="49" charset="0"/>
                <a:cs typeface="Courier New" panose="02070309020205020404" pitchFamily="49" charset="0"/>
              </a:rPr>
              <a:t>☐ Identifier les informations manquantes </a:t>
            </a:r>
          </a:p>
          <a:p>
            <a:pPr lvl="0"/>
            <a:r>
              <a:rPr lang="fr-FR" sz="1400" dirty="0">
                <a:latin typeface="Courier New" panose="02070309020205020404" pitchFamily="49" charset="0"/>
                <a:cs typeface="Courier New" panose="02070309020205020404" pitchFamily="49" charset="0"/>
              </a:rPr>
              <a:t>☐ Transformer des notes en prose professionnelle </a:t>
            </a:r>
          </a:p>
          <a:p>
            <a:pPr lvl="0"/>
            <a:r>
              <a:rPr lang="fr-FR" sz="1400" dirty="0">
                <a:latin typeface="Courier New" panose="02070309020205020404" pitchFamily="49" charset="0"/>
                <a:cs typeface="Courier New" panose="02070309020205020404" pitchFamily="49" charset="0"/>
              </a:rPr>
              <a:t>☐ Transformer une description en tableau </a:t>
            </a:r>
          </a:p>
          <a:p>
            <a:pPr lvl="0"/>
            <a:r>
              <a:rPr lang="fr-FR" sz="1400" dirty="0">
                <a:latin typeface="Courier New" panose="02070309020205020404" pitchFamily="49" charset="0"/>
                <a:cs typeface="Courier New" panose="02070309020205020404" pitchFamily="49" charset="0"/>
              </a:rPr>
              <a:t>☐ Analyser une photographie </a:t>
            </a:r>
          </a:p>
          <a:p>
            <a:pPr lvl="0"/>
            <a:r>
              <a:rPr lang="fr-FR" sz="1400" dirty="0">
                <a:latin typeface="Courier New" panose="02070309020205020404" pitchFamily="49" charset="0"/>
                <a:cs typeface="Courier New" panose="02070309020205020404" pitchFamily="49" charset="0"/>
              </a:rPr>
              <a:t>☐ Analyser un plan </a:t>
            </a:r>
          </a:p>
          <a:p>
            <a:pPr lvl="0"/>
            <a:r>
              <a:rPr lang="fr-FR" sz="1400" dirty="0">
                <a:latin typeface="Courier New" panose="02070309020205020404" pitchFamily="49" charset="0"/>
                <a:cs typeface="Courier New" panose="02070309020205020404" pitchFamily="49" charset="0"/>
              </a:rPr>
              <a:t>☐ Préparer une première analyse </a:t>
            </a:r>
          </a:p>
          <a:p>
            <a:pPr lvl="0"/>
            <a:r>
              <a:rPr lang="fr-FR" sz="1400" dirty="0">
                <a:latin typeface="Courier New" panose="02070309020205020404" pitchFamily="49" charset="0"/>
                <a:cs typeface="Courier New" panose="02070309020205020404" pitchFamily="49" charset="0"/>
              </a:rPr>
              <a:t>☐ Critiquer un texte existant </a:t>
            </a:r>
          </a:p>
          <a:p>
            <a:pPr lvl="0"/>
            <a:r>
              <a:rPr lang="fr-FR" sz="1400" dirty="0">
                <a:latin typeface="Courier New" panose="02070309020205020404" pitchFamily="49" charset="0"/>
                <a:cs typeface="Courier New" panose="02070309020205020404" pitchFamily="49" charset="0"/>
              </a:rPr>
              <a:t>☐ Proposer plusieurs formulations</a:t>
            </a:r>
          </a:p>
        </p:txBody>
      </p:sp>
      <p:sp>
        <p:nvSpPr>
          <p:cNvPr id="18" name="ZoneTexte 17">
            <a:extLst>
              <a:ext uri="{FF2B5EF4-FFF2-40B4-BE49-F238E27FC236}">
                <a16:creationId xmlns:a16="http://schemas.microsoft.com/office/drawing/2014/main" id="{038F7492-6647-5AA6-E6E8-66B4B22A903E}"/>
              </a:ext>
            </a:extLst>
          </p:cNvPr>
          <p:cNvSpPr txBox="1"/>
          <p:nvPr/>
        </p:nvSpPr>
        <p:spPr>
          <a:xfrm>
            <a:off x="7193446" y="2292311"/>
            <a:ext cx="4680256" cy="3108543"/>
          </a:xfrm>
          <a:prstGeom prst="rect">
            <a:avLst/>
          </a:prstGeom>
          <a:noFill/>
        </p:spPr>
        <p:txBody>
          <a:bodyPr wrap="none" rtlCol="0">
            <a:spAutoFit/>
          </a:bodyPr>
          <a:lstStyle/>
          <a:p>
            <a:r>
              <a:rPr lang="fr-FR" b="1" dirty="0"/>
              <a:t>Deuxième sélecteur : « Niveau d'intervention »</a:t>
            </a:r>
          </a:p>
          <a:p>
            <a:pPr lvl="0"/>
            <a:r>
              <a:rPr lang="fr-FR" sz="1600" dirty="0">
                <a:latin typeface="Courier New" panose="02070309020205020404" pitchFamily="49" charset="0"/>
                <a:cs typeface="Courier New" panose="02070309020205020404" pitchFamily="49" charset="0"/>
              </a:rPr>
              <a:t>☐ Retranscription fidèle </a:t>
            </a:r>
          </a:p>
          <a:p>
            <a:pPr lvl="0"/>
            <a:r>
              <a:rPr lang="fr-FR" sz="1600" dirty="0">
                <a:latin typeface="Courier New" panose="02070309020205020404" pitchFamily="49" charset="0"/>
                <a:cs typeface="Courier New" panose="02070309020205020404" pitchFamily="49" charset="0"/>
              </a:rPr>
              <a:t>de mes notes </a:t>
            </a:r>
          </a:p>
          <a:p>
            <a:pPr lvl="0"/>
            <a:r>
              <a:rPr lang="fr-FR" sz="1600" dirty="0">
                <a:latin typeface="Courier New" panose="02070309020205020404" pitchFamily="49" charset="0"/>
                <a:cs typeface="Courier New" panose="02070309020205020404" pitchFamily="49" charset="0"/>
              </a:rPr>
              <a:t>☐ Reformulation professionnelle </a:t>
            </a:r>
          </a:p>
          <a:p>
            <a:pPr lvl="0"/>
            <a:r>
              <a:rPr lang="fr-FR" sz="1600" dirty="0">
                <a:latin typeface="Courier New" panose="02070309020205020404" pitchFamily="49" charset="0"/>
                <a:cs typeface="Courier New" panose="02070309020205020404" pitchFamily="49" charset="0"/>
              </a:rPr>
              <a:t>☐ Réorganisation des informations </a:t>
            </a:r>
          </a:p>
          <a:p>
            <a:pPr lvl="0"/>
            <a:r>
              <a:rPr lang="fr-FR" sz="1600" dirty="0">
                <a:latin typeface="Courier New" panose="02070309020205020404" pitchFamily="49" charset="0"/>
                <a:cs typeface="Courier New" panose="02070309020205020404" pitchFamily="49" charset="0"/>
              </a:rPr>
              <a:t>☐ Synthèse </a:t>
            </a:r>
          </a:p>
          <a:p>
            <a:pPr lvl="0"/>
            <a:r>
              <a:rPr lang="fr-FR" sz="1600" dirty="0">
                <a:latin typeface="Courier New" panose="02070309020205020404" pitchFamily="49" charset="0"/>
                <a:cs typeface="Courier New" panose="02070309020205020404" pitchFamily="49" charset="0"/>
              </a:rPr>
              <a:t>☐ Analyse </a:t>
            </a:r>
          </a:p>
          <a:p>
            <a:pPr lvl="0"/>
            <a:r>
              <a:rPr lang="fr-FR" sz="1600" dirty="0">
                <a:latin typeface="Courier New" panose="02070309020205020404" pitchFamily="49" charset="0"/>
                <a:cs typeface="Courier New" panose="02070309020205020404" pitchFamily="49" charset="0"/>
              </a:rPr>
              <a:t>☐ Analyse critique </a:t>
            </a:r>
          </a:p>
          <a:p>
            <a:pPr lvl="0"/>
            <a:r>
              <a:rPr lang="fr-FR" sz="1600" dirty="0">
                <a:latin typeface="Courier New" panose="02070309020205020404" pitchFamily="49" charset="0"/>
                <a:cs typeface="Courier New" panose="02070309020205020404" pitchFamily="49" charset="0"/>
              </a:rPr>
              <a:t>☐ Proposition d'hypothèses </a:t>
            </a:r>
          </a:p>
          <a:p>
            <a:pPr lvl="0"/>
            <a:r>
              <a:rPr lang="fr-FR" sz="1600" dirty="0">
                <a:latin typeface="Courier New" panose="02070309020205020404" pitchFamily="49" charset="0"/>
                <a:cs typeface="Courier New" panose="02070309020205020404" pitchFamily="49" charset="0"/>
              </a:rPr>
              <a:t>☐ Identification des points </a:t>
            </a:r>
          </a:p>
          <a:p>
            <a:pPr lvl="0"/>
            <a:r>
              <a:rPr lang="fr-FR" sz="1600" dirty="0">
                <a:latin typeface="Courier New" panose="02070309020205020404" pitchFamily="49" charset="0"/>
                <a:cs typeface="Courier New" panose="02070309020205020404" pitchFamily="49" charset="0"/>
              </a:rPr>
              <a:t>à vérifier</a:t>
            </a:r>
          </a:p>
          <a:p>
            <a:endParaRPr lang="fr-FR" dirty="0"/>
          </a:p>
        </p:txBody>
      </p:sp>
      <p:cxnSp>
        <p:nvCxnSpPr>
          <p:cNvPr id="22" name="Connecteur droit 21">
            <a:extLst>
              <a:ext uri="{FF2B5EF4-FFF2-40B4-BE49-F238E27FC236}">
                <a16:creationId xmlns:a16="http://schemas.microsoft.com/office/drawing/2014/main" id="{E2B0C877-FF55-A478-949B-F1F8C86A6B08}"/>
              </a:ext>
            </a:extLst>
          </p:cNvPr>
          <p:cNvCxnSpPr/>
          <p:nvPr/>
        </p:nvCxnSpPr>
        <p:spPr>
          <a:xfrm>
            <a:off x="6660292" y="2423711"/>
            <a:ext cx="0" cy="429657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818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2A6DE3-E650-9FA4-6B1C-55CBE0CA171C}"/>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C8A5715B-3C92-0F85-BEA5-D18B2DD4FE33}"/>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814757C6-71D8-3E80-D313-704A5C18F2CB}"/>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1C2A33CA-3796-2462-5799-A981DD26A2B2}"/>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BB6BD2F1-7DE3-71AB-BA05-EA833B850EC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F2AF269-71C6-8648-2B2E-CA8C563E503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36B040C5-6415-1A18-7271-E7F73D51493A}"/>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E7C3040-D7D2-DF1C-13A3-C142A89EE58E}"/>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FD80AD25-CDC2-398A-F4D1-28A438BE737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14" name="Oval 6">
            <a:extLst>
              <a:ext uri="{FF2B5EF4-FFF2-40B4-BE49-F238E27FC236}">
                <a16:creationId xmlns:a16="http://schemas.microsoft.com/office/drawing/2014/main" id="{36D20475-14FC-CDA6-49E6-23448D5399BF}"/>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17" name="Graphic 7">
            <a:extLst>
              <a:ext uri="{FF2B5EF4-FFF2-40B4-BE49-F238E27FC236}">
                <a16:creationId xmlns:a16="http://schemas.microsoft.com/office/drawing/2014/main" id="{C6E85113-E057-D427-7BE1-62ECC7B262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87372" y="1772083"/>
            <a:ext cx="274320" cy="274320"/>
          </a:xfrm>
          <a:prstGeom prst="rect">
            <a:avLst/>
          </a:prstGeom>
        </p:spPr>
      </p:pic>
      <p:sp>
        <p:nvSpPr>
          <p:cNvPr id="7" name="TextBox 9">
            <a:extLst>
              <a:ext uri="{FF2B5EF4-FFF2-40B4-BE49-F238E27FC236}">
                <a16:creationId xmlns:a16="http://schemas.microsoft.com/office/drawing/2014/main" id="{6A755797-0059-D5C5-6C4D-8E8EC60FA703}"/>
              </a:ext>
            </a:extLst>
          </p:cNvPr>
          <p:cNvSpPr txBox="1"/>
          <p:nvPr/>
        </p:nvSpPr>
        <p:spPr>
          <a:xfrm>
            <a:off x="1359552" y="1683782"/>
            <a:ext cx="1881605"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CONTEXTE</a:t>
            </a:r>
          </a:p>
        </p:txBody>
      </p:sp>
      <p:cxnSp>
        <p:nvCxnSpPr>
          <p:cNvPr id="23" name="Connecteur droit 22">
            <a:extLst>
              <a:ext uri="{FF2B5EF4-FFF2-40B4-BE49-F238E27FC236}">
                <a16:creationId xmlns:a16="http://schemas.microsoft.com/office/drawing/2014/main" id="{43CC3C22-CCC4-B66E-B41E-5EE27E854042}"/>
              </a:ext>
            </a:extLst>
          </p:cNvPr>
          <p:cNvCxnSpPr>
            <a:cxnSpLocks/>
          </p:cNvCxnSpPr>
          <p:nvPr/>
        </p:nvCxnSpPr>
        <p:spPr>
          <a:xfrm>
            <a:off x="9355306" y="2897436"/>
            <a:ext cx="0" cy="3566537"/>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8">
            <a:extLst>
              <a:ext uri="{FF2B5EF4-FFF2-40B4-BE49-F238E27FC236}">
                <a16:creationId xmlns:a16="http://schemas.microsoft.com/office/drawing/2014/main" id="{629D84B3-414C-FE81-3496-FFCEC6535EDF}"/>
              </a:ext>
            </a:extLst>
          </p:cNvPr>
          <p:cNvSpPr txBox="1"/>
          <p:nvPr/>
        </p:nvSpPr>
        <p:spPr>
          <a:xfrm>
            <a:off x="1359552" y="2089634"/>
            <a:ext cx="4381236" cy="4648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De quelles informations l'IA dispose-t-elle ?</a:t>
            </a:r>
            <a:endParaRPr lang="en-US" sz="1800" b="1" dirty="0">
              <a:sym typeface="Manrope Medium"/>
            </a:endParaRPr>
          </a:p>
        </p:txBody>
      </p:sp>
      <p:sp>
        <p:nvSpPr>
          <p:cNvPr id="16" name="ZoneTexte 15">
            <a:extLst>
              <a:ext uri="{FF2B5EF4-FFF2-40B4-BE49-F238E27FC236}">
                <a16:creationId xmlns:a16="http://schemas.microsoft.com/office/drawing/2014/main" id="{376233B1-2426-1D0E-C03E-E69E5DE09E86}"/>
              </a:ext>
            </a:extLst>
          </p:cNvPr>
          <p:cNvSpPr txBox="1"/>
          <p:nvPr/>
        </p:nvSpPr>
        <p:spPr>
          <a:xfrm>
            <a:off x="137172" y="2770654"/>
            <a:ext cx="3272450" cy="3570208"/>
          </a:xfrm>
          <a:prstGeom prst="rect">
            <a:avLst/>
          </a:prstGeom>
          <a:noFill/>
        </p:spPr>
        <p:txBody>
          <a:bodyPr wrap="square">
            <a:spAutoFit/>
          </a:bodyPr>
          <a:lstStyle/>
          <a:p>
            <a:pPr>
              <a:buNone/>
            </a:pPr>
            <a:r>
              <a:rPr lang="fr-FR" b="1" dirty="0"/>
              <a:t>Identification du bien</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Type de bien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Adresse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Commune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Quartier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Surface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Nombre de pièces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Nombre de niveaux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Étage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Année de construction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Date de rénovation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 Destination du </a:t>
            </a:r>
          </a:p>
          <a:p>
            <a:pPr marL="342900" lvl="0" indent="-342900">
              <a:buFont typeface="Arial" panose="020B0604020202020204" pitchFamily="34" charset="0"/>
              <a:buChar char="•"/>
            </a:pPr>
            <a:r>
              <a:rPr lang="fr-FR" sz="1600" dirty="0">
                <a:latin typeface="Courier New" panose="02070309020205020404" pitchFamily="49" charset="0"/>
                <a:cs typeface="Courier New" panose="02070309020205020404" pitchFamily="49" charset="0"/>
              </a:rPr>
              <a:t>bien</a:t>
            </a:r>
          </a:p>
        </p:txBody>
      </p:sp>
      <p:sp>
        <p:nvSpPr>
          <p:cNvPr id="20" name="ZoneTexte 19">
            <a:extLst>
              <a:ext uri="{FF2B5EF4-FFF2-40B4-BE49-F238E27FC236}">
                <a16:creationId xmlns:a16="http://schemas.microsoft.com/office/drawing/2014/main" id="{9F8B2622-F58F-5240-2A7A-E24960078C94}"/>
              </a:ext>
            </a:extLst>
          </p:cNvPr>
          <p:cNvSpPr txBox="1"/>
          <p:nvPr/>
        </p:nvSpPr>
        <p:spPr>
          <a:xfrm>
            <a:off x="3312153" y="2770654"/>
            <a:ext cx="2720553" cy="3662541"/>
          </a:xfrm>
          <a:prstGeom prst="rect">
            <a:avLst/>
          </a:prstGeom>
          <a:noFill/>
        </p:spPr>
        <p:txBody>
          <a:bodyPr wrap="none" rtlCol="0">
            <a:spAutoFit/>
          </a:bodyPr>
          <a:lstStyle/>
          <a:p>
            <a:r>
              <a:rPr lang="fr-FR" b="1" dirty="0"/>
              <a:t>Caractéristiques physiques</a:t>
            </a:r>
          </a:p>
          <a:p>
            <a:pPr lvl="0"/>
            <a:r>
              <a:rPr lang="fr-FR" sz="1600" dirty="0">
                <a:latin typeface="Courier New" panose="02070309020205020404" pitchFamily="49" charset="0"/>
                <a:cs typeface="Courier New" panose="02070309020205020404" pitchFamily="49" charset="0"/>
              </a:rPr>
              <a:t>☐ Orientation </a:t>
            </a:r>
          </a:p>
          <a:p>
            <a:pPr lvl="0"/>
            <a:r>
              <a:rPr lang="fr-FR" sz="1600" dirty="0">
                <a:latin typeface="Courier New" panose="02070309020205020404" pitchFamily="49" charset="0"/>
                <a:cs typeface="Courier New" panose="02070309020205020404" pitchFamily="49" charset="0"/>
              </a:rPr>
              <a:t>☐ Vue </a:t>
            </a:r>
          </a:p>
          <a:p>
            <a:pPr lvl="0"/>
            <a:r>
              <a:rPr lang="fr-FR" sz="1600" dirty="0">
                <a:latin typeface="Courier New" panose="02070309020205020404" pitchFamily="49" charset="0"/>
                <a:cs typeface="Courier New" panose="02070309020205020404" pitchFamily="49" charset="0"/>
              </a:rPr>
              <a:t>☐ Luminosité </a:t>
            </a:r>
          </a:p>
          <a:p>
            <a:pPr lvl="0"/>
            <a:r>
              <a:rPr lang="fr-FR" sz="1600" dirty="0">
                <a:latin typeface="Courier New" panose="02070309020205020404" pitchFamily="49" charset="0"/>
                <a:cs typeface="Courier New" panose="02070309020205020404" pitchFamily="49" charset="0"/>
              </a:rPr>
              <a:t>☐ Extérieurs </a:t>
            </a:r>
          </a:p>
          <a:p>
            <a:pPr lvl="0"/>
            <a:r>
              <a:rPr lang="fr-FR" sz="1600" dirty="0">
                <a:latin typeface="Courier New" panose="02070309020205020404" pitchFamily="49" charset="0"/>
                <a:cs typeface="Courier New" panose="02070309020205020404" pitchFamily="49" charset="0"/>
              </a:rPr>
              <a:t>☐ Stationnement </a:t>
            </a:r>
          </a:p>
          <a:p>
            <a:pPr lvl="0"/>
            <a:r>
              <a:rPr lang="fr-FR" sz="1600" dirty="0">
                <a:latin typeface="Courier New" panose="02070309020205020404" pitchFamily="49" charset="0"/>
                <a:cs typeface="Courier New" panose="02070309020205020404" pitchFamily="49" charset="0"/>
              </a:rPr>
              <a:t>☐ Cave </a:t>
            </a:r>
          </a:p>
          <a:p>
            <a:pPr lvl="0"/>
            <a:r>
              <a:rPr lang="fr-FR" sz="1600" dirty="0">
                <a:latin typeface="Courier New" panose="02070309020205020404" pitchFamily="49" charset="0"/>
                <a:cs typeface="Courier New" panose="02070309020205020404" pitchFamily="49" charset="0"/>
              </a:rPr>
              <a:t>☐ Garage </a:t>
            </a:r>
          </a:p>
          <a:p>
            <a:pPr lvl="0"/>
            <a:r>
              <a:rPr lang="fr-FR" sz="1600" dirty="0">
                <a:latin typeface="Courier New" panose="02070309020205020404" pitchFamily="49" charset="0"/>
                <a:cs typeface="Courier New" panose="02070309020205020404" pitchFamily="49" charset="0"/>
              </a:rPr>
              <a:t>☐ Piscine </a:t>
            </a:r>
          </a:p>
          <a:p>
            <a:pPr lvl="0"/>
            <a:r>
              <a:rPr lang="fr-FR" sz="1600" dirty="0">
                <a:latin typeface="Courier New" panose="02070309020205020404" pitchFamily="49" charset="0"/>
                <a:cs typeface="Courier New" panose="02070309020205020404" pitchFamily="49" charset="0"/>
              </a:rPr>
              <a:t>☐ Dépendances </a:t>
            </a:r>
          </a:p>
          <a:p>
            <a:pPr lvl="0"/>
            <a:r>
              <a:rPr lang="fr-FR" sz="1600" dirty="0">
                <a:latin typeface="Courier New" panose="02070309020205020404" pitchFamily="49" charset="0"/>
                <a:cs typeface="Courier New" panose="02070309020205020404" pitchFamily="49" charset="0"/>
              </a:rPr>
              <a:t>☐ Ascenseur </a:t>
            </a:r>
          </a:p>
          <a:p>
            <a:pPr lvl="0"/>
            <a:r>
              <a:rPr lang="fr-FR" sz="1600" dirty="0">
                <a:latin typeface="Courier New" panose="02070309020205020404" pitchFamily="49" charset="0"/>
                <a:cs typeface="Courier New" panose="02070309020205020404" pitchFamily="49" charset="0"/>
              </a:rPr>
              <a:t>☐ Accessibilité </a:t>
            </a:r>
          </a:p>
          <a:p>
            <a:pPr lvl="0"/>
            <a:r>
              <a:rPr lang="fr-FR" sz="1600" dirty="0">
                <a:latin typeface="Courier New" panose="02070309020205020404" pitchFamily="49" charset="0"/>
                <a:cs typeface="Courier New" panose="02070309020205020404" pitchFamily="49" charset="0"/>
              </a:rPr>
              <a:t>☐ État général</a:t>
            </a:r>
          </a:p>
          <a:p>
            <a:endParaRPr lang="fr-FR" dirty="0"/>
          </a:p>
        </p:txBody>
      </p:sp>
      <p:sp>
        <p:nvSpPr>
          <p:cNvPr id="21" name="ZoneTexte 20">
            <a:extLst>
              <a:ext uri="{FF2B5EF4-FFF2-40B4-BE49-F238E27FC236}">
                <a16:creationId xmlns:a16="http://schemas.microsoft.com/office/drawing/2014/main" id="{3EF987CC-8910-E6E4-3D9D-67F9ACC55DDC}"/>
              </a:ext>
            </a:extLst>
          </p:cNvPr>
          <p:cNvSpPr txBox="1"/>
          <p:nvPr/>
        </p:nvSpPr>
        <p:spPr>
          <a:xfrm>
            <a:off x="6073966" y="2770654"/>
            <a:ext cx="3202993" cy="3385542"/>
          </a:xfrm>
          <a:prstGeom prst="rect">
            <a:avLst/>
          </a:prstGeom>
          <a:noFill/>
        </p:spPr>
        <p:txBody>
          <a:bodyPr wrap="none" rtlCol="0">
            <a:spAutoFit/>
          </a:bodyPr>
          <a:lstStyle/>
          <a:p>
            <a:r>
              <a:rPr lang="fr-FR" b="1" dirty="0"/>
              <a:t>Contexte juridique / immobilier</a:t>
            </a:r>
          </a:p>
          <a:p>
            <a:pPr lvl="0"/>
            <a:r>
              <a:rPr lang="fr-FR" sz="1600" dirty="0">
                <a:latin typeface="Courier New" panose="02070309020205020404" pitchFamily="49" charset="0"/>
                <a:cs typeface="Courier New" panose="02070309020205020404" pitchFamily="49" charset="0"/>
              </a:rPr>
              <a:t>☐ Copropriété </a:t>
            </a:r>
          </a:p>
          <a:p>
            <a:pPr lvl="0"/>
            <a:r>
              <a:rPr lang="fr-FR" sz="1600" dirty="0">
                <a:latin typeface="Courier New" panose="02070309020205020404" pitchFamily="49" charset="0"/>
                <a:cs typeface="Courier New" panose="02070309020205020404" pitchFamily="49" charset="0"/>
              </a:rPr>
              <a:t>☐ Lotissement </a:t>
            </a:r>
          </a:p>
          <a:p>
            <a:pPr lvl="0"/>
            <a:r>
              <a:rPr lang="fr-FR" sz="1600" dirty="0">
                <a:latin typeface="Courier New" panose="02070309020205020404" pitchFamily="49" charset="0"/>
                <a:cs typeface="Courier New" panose="02070309020205020404" pitchFamily="49" charset="0"/>
              </a:rPr>
              <a:t>☐ Servitudes connues </a:t>
            </a:r>
          </a:p>
          <a:p>
            <a:pPr lvl="0"/>
            <a:r>
              <a:rPr lang="fr-FR" sz="1600" dirty="0">
                <a:latin typeface="Courier New" panose="02070309020205020404" pitchFamily="49" charset="0"/>
                <a:cs typeface="Courier New" panose="02070309020205020404" pitchFamily="49" charset="0"/>
              </a:rPr>
              <a:t>☐ PLU </a:t>
            </a:r>
          </a:p>
          <a:p>
            <a:pPr lvl="0"/>
            <a:r>
              <a:rPr lang="fr-FR" sz="1600" dirty="0">
                <a:latin typeface="Courier New" panose="02070309020205020404" pitchFamily="49" charset="0"/>
                <a:cs typeface="Courier New" panose="02070309020205020404" pitchFamily="49" charset="0"/>
              </a:rPr>
              <a:t>☐ Destination </a:t>
            </a:r>
          </a:p>
          <a:p>
            <a:pPr lvl="0"/>
            <a:r>
              <a:rPr lang="fr-FR" sz="1600" dirty="0">
                <a:latin typeface="Courier New" panose="02070309020205020404" pitchFamily="49" charset="0"/>
                <a:cs typeface="Courier New" panose="02070309020205020404" pitchFamily="49" charset="0"/>
              </a:rPr>
              <a:t>☐ Occupation </a:t>
            </a:r>
          </a:p>
          <a:p>
            <a:pPr lvl="0"/>
            <a:r>
              <a:rPr lang="fr-FR" sz="1600" dirty="0">
                <a:latin typeface="Courier New" panose="02070309020205020404" pitchFamily="49" charset="0"/>
                <a:cs typeface="Courier New" panose="02070309020205020404" pitchFamily="49" charset="0"/>
              </a:rPr>
              <a:t>☐ Bail </a:t>
            </a:r>
          </a:p>
          <a:p>
            <a:pPr lvl="0"/>
            <a:r>
              <a:rPr lang="fr-FR" sz="1600" dirty="0">
                <a:latin typeface="Courier New" panose="02070309020205020404" pitchFamily="49" charset="0"/>
                <a:cs typeface="Courier New" panose="02070309020205020404" pitchFamily="49" charset="0"/>
              </a:rPr>
              <a:t>☐ Situation locative </a:t>
            </a:r>
          </a:p>
          <a:p>
            <a:pPr lvl="0"/>
            <a:r>
              <a:rPr lang="fr-FR" sz="1600" dirty="0">
                <a:latin typeface="Courier New" panose="02070309020205020404" pitchFamily="49" charset="0"/>
                <a:cs typeface="Courier New" panose="02070309020205020404" pitchFamily="49" charset="0"/>
              </a:rPr>
              <a:t>☐ État d'usage </a:t>
            </a:r>
          </a:p>
          <a:p>
            <a:pPr lvl="0"/>
            <a:r>
              <a:rPr lang="fr-FR" sz="1600" dirty="0">
                <a:latin typeface="Courier New" panose="02070309020205020404" pitchFamily="49" charset="0"/>
                <a:cs typeface="Courier New" panose="02070309020205020404" pitchFamily="49" charset="0"/>
              </a:rPr>
              <a:t>☐ Procédure en cours </a:t>
            </a:r>
          </a:p>
          <a:p>
            <a:pPr lvl="0"/>
            <a:r>
              <a:rPr lang="fr-FR" sz="1600" dirty="0">
                <a:latin typeface="Courier New" panose="02070309020205020404" pitchFamily="49" charset="0"/>
                <a:cs typeface="Courier New" panose="02070309020205020404" pitchFamily="49" charset="0"/>
              </a:rPr>
              <a:t>☐ Contexte judiciaire</a:t>
            </a:r>
          </a:p>
          <a:p>
            <a:endParaRPr lang="fr-FR" dirty="0"/>
          </a:p>
        </p:txBody>
      </p:sp>
      <p:sp>
        <p:nvSpPr>
          <p:cNvPr id="24" name="ZoneTexte 23">
            <a:extLst>
              <a:ext uri="{FF2B5EF4-FFF2-40B4-BE49-F238E27FC236}">
                <a16:creationId xmlns:a16="http://schemas.microsoft.com/office/drawing/2014/main" id="{21A344C9-9864-E722-E83D-CFF44DD4268F}"/>
              </a:ext>
            </a:extLst>
          </p:cNvPr>
          <p:cNvSpPr txBox="1"/>
          <p:nvPr/>
        </p:nvSpPr>
        <p:spPr>
          <a:xfrm>
            <a:off x="9411620" y="2770654"/>
            <a:ext cx="2582758" cy="3354765"/>
          </a:xfrm>
          <a:prstGeom prst="rect">
            <a:avLst/>
          </a:prstGeom>
          <a:noFill/>
        </p:spPr>
        <p:txBody>
          <a:bodyPr wrap="none" rtlCol="0">
            <a:spAutoFit/>
          </a:bodyPr>
          <a:lstStyle/>
          <a:p>
            <a:r>
              <a:rPr lang="fr-FR" b="1" dirty="0"/>
              <a:t>Sources fournies à l'IA</a:t>
            </a:r>
          </a:p>
          <a:p>
            <a:pPr lvl="0"/>
            <a:r>
              <a:rPr lang="fr-FR" sz="1600" dirty="0">
                <a:latin typeface="Courier New" panose="02070309020205020404" pitchFamily="49" charset="0"/>
                <a:cs typeface="Courier New" panose="02070309020205020404" pitchFamily="49" charset="0"/>
              </a:rPr>
              <a:t>☐ Notes de visite </a:t>
            </a:r>
          </a:p>
          <a:p>
            <a:pPr lvl="0"/>
            <a:r>
              <a:rPr lang="fr-FR" sz="1600" dirty="0">
                <a:latin typeface="Courier New" panose="02070309020205020404" pitchFamily="49" charset="0"/>
                <a:cs typeface="Courier New" panose="02070309020205020404" pitchFamily="49" charset="0"/>
              </a:rPr>
              <a:t>☐ Photos </a:t>
            </a:r>
          </a:p>
          <a:p>
            <a:pPr lvl="0"/>
            <a:r>
              <a:rPr lang="fr-FR" sz="1600" dirty="0">
                <a:latin typeface="Courier New" panose="02070309020205020404" pitchFamily="49" charset="0"/>
                <a:cs typeface="Courier New" panose="02070309020205020404" pitchFamily="49" charset="0"/>
              </a:rPr>
              <a:t>☐ Plan </a:t>
            </a:r>
          </a:p>
          <a:p>
            <a:pPr lvl="0"/>
            <a:r>
              <a:rPr lang="fr-FR" sz="1600" dirty="0">
                <a:latin typeface="Courier New" panose="02070309020205020404" pitchFamily="49" charset="0"/>
                <a:cs typeface="Courier New" panose="02070309020205020404" pitchFamily="49" charset="0"/>
              </a:rPr>
              <a:t>☐ État descriptif </a:t>
            </a:r>
          </a:p>
          <a:p>
            <a:pPr lvl="0"/>
            <a:r>
              <a:rPr lang="fr-FR" sz="1600" dirty="0">
                <a:latin typeface="Courier New" panose="02070309020205020404" pitchFamily="49" charset="0"/>
                <a:cs typeface="Courier New" panose="02070309020205020404" pitchFamily="49" charset="0"/>
              </a:rPr>
              <a:t>de division </a:t>
            </a:r>
          </a:p>
          <a:p>
            <a:pPr lvl="0"/>
            <a:r>
              <a:rPr lang="fr-FR" sz="1600" dirty="0">
                <a:latin typeface="Courier New" panose="02070309020205020404" pitchFamily="49" charset="0"/>
                <a:cs typeface="Courier New" panose="02070309020205020404" pitchFamily="49" charset="0"/>
              </a:rPr>
              <a:t>☐ Diagnostic </a:t>
            </a:r>
          </a:p>
          <a:p>
            <a:pPr lvl="0"/>
            <a:r>
              <a:rPr lang="fr-FR" sz="1600" dirty="0">
                <a:latin typeface="Courier New" panose="02070309020205020404" pitchFamily="49" charset="0"/>
                <a:cs typeface="Courier New" panose="02070309020205020404" pitchFamily="49" charset="0"/>
              </a:rPr>
              <a:t>☐ Documents </a:t>
            </a:r>
          </a:p>
          <a:p>
            <a:pPr lvl="0"/>
            <a:r>
              <a:rPr lang="fr-FR" sz="1600" dirty="0">
                <a:latin typeface="Courier New" panose="02070309020205020404" pitchFamily="49" charset="0"/>
                <a:cs typeface="Courier New" panose="02070309020205020404" pitchFamily="49" charset="0"/>
              </a:rPr>
              <a:t>d'urbanisme </a:t>
            </a:r>
          </a:p>
          <a:p>
            <a:pPr lvl="0"/>
            <a:r>
              <a:rPr lang="fr-FR" sz="1600" dirty="0">
                <a:latin typeface="Courier New" panose="02070309020205020404" pitchFamily="49" charset="0"/>
                <a:cs typeface="Courier New" panose="02070309020205020404" pitchFamily="49" charset="0"/>
              </a:rPr>
              <a:t>☐ Acte </a:t>
            </a:r>
          </a:p>
          <a:p>
            <a:pPr lvl="0"/>
            <a:r>
              <a:rPr lang="fr-FR" sz="1600" dirty="0">
                <a:latin typeface="Courier New" panose="02070309020205020404" pitchFamily="49" charset="0"/>
                <a:cs typeface="Courier New" panose="02070309020205020404" pitchFamily="49" charset="0"/>
              </a:rPr>
              <a:t>☐ Ancien rapport </a:t>
            </a:r>
          </a:p>
          <a:p>
            <a:pPr lvl="0"/>
            <a:r>
              <a:rPr lang="fr-FR" sz="1600" dirty="0">
                <a:latin typeface="Courier New" panose="02070309020205020404" pitchFamily="49" charset="0"/>
                <a:cs typeface="Courier New" panose="02070309020205020404" pitchFamily="49" charset="0"/>
              </a:rPr>
              <a:t>☐ Données de marché</a:t>
            </a:r>
          </a:p>
          <a:p>
            <a:endParaRPr lang="fr-FR" dirty="0"/>
          </a:p>
        </p:txBody>
      </p:sp>
      <p:cxnSp>
        <p:nvCxnSpPr>
          <p:cNvPr id="25" name="Connecteur droit 24">
            <a:extLst>
              <a:ext uri="{FF2B5EF4-FFF2-40B4-BE49-F238E27FC236}">
                <a16:creationId xmlns:a16="http://schemas.microsoft.com/office/drawing/2014/main" id="{EAFD7EA7-1640-4DDB-93DD-650684E7D508}"/>
              </a:ext>
            </a:extLst>
          </p:cNvPr>
          <p:cNvCxnSpPr>
            <a:cxnSpLocks/>
          </p:cNvCxnSpPr>
          <p:nvPr/>
        </p:nvCxnSpPr>
        <p:spPr>
          <a:xfrm>
            <a:off x="6025210" y="2897436"/>
            <a:ext cx="0" cy="3566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CAD6EBD8-C25C-82B8-68B3-81779733CE49}"/>
              </a:ext>
            </a:extLst>
          </p:cNvPr>
          <p:cNvCxnSpPr>
            <a:cxnSpLocks/>
          </p:cNvCxnSpPr>
          <p:nvPr/>
        </p:nvCxnSpPr>
        <p:spPr>
          <a:xfrm>
            <a:off x="3196017" y="2908453"/>
            <a:ext cx="0" cy="35555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084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4EFDF2F-777F-CFB4-8FE9-475770425A17}"/>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7A9F3B06-26DA-E062-9DEC-DB452CA15D9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3663210E-2C71-087D-8F66-AF46D504104F}"/>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A98B3EF4-634C-193A-6025-92D40AAC660E}"/>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6FE6797A-134C-2D62-0660-9D2F5893810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81F0415-784B-8F26-4944-08DFB6B4AED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D1DC76EC-2B0F-5456-C831-6F27B195704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081655E-6848-2E23-BB21-99EBC834A6F8}"/>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20638E79-8A74-B9A2-21DB-66BE15E85E4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cxnSp>
        <p:nvCxnSpPr>
          <p:cNvPr id="23" name="Connecteur droit 22">
            <a:extLst>
              <a:ext uri="{FF2B5EF4-FFF2-40B4-BE49-F238E27FC236}">
                <a16:creationId xmlns:a16="http://schemas.microsoft.com/office/drawing/2014/main" id="{2FF2F41D-CFFC-C0CF-1CF1-69883C1762DF}"/>
              </a:ext>
            </a:extLst>
          </p:cNvPr>
          <p:cNvCxnSpPr>
            <a:cxnSpLocks/>
          </p:cNvCxnSpPr>
          <p:nvPr/>
        </p:nvCxnSpPr>
        <p:spPr>
          <a:xfrm>
            <a:off x="8286670" y="2810286"/>
            <a:ext cx="0" cy="3566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D7628DD3-DDC6-A170-2A7C-8159D8F2688F}"/>
              </a:ext>
            </a:extLst>
          </p:cNvPr>
          <p:cNvCxnSpPr>
            <a:cxnSpLocks/>
          </p:cNvCxnSpPr>
          <p:nvPr/>
        </p:nvCxnSpPr>
        <p:spPr>
          <a:xfrm>
            <a:off x="5961710" y="2810286"/>
            <a:ext cx="0" cy="3566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8F5E2502-3A44-8B12-618D-0A6FB1ED7463}"/>
              </a:ext>
            </a:extLst>
          </p:cNvPr>
          <p:cNvCxnSpPr>
            <a:cxnSpLocks/>
          </p:cNvCxnSpPr>
          <p:nvPr/>
        </p:nvCxnSpPr>
        <p:spPr>
          <a:xfrm>
            <a:off x="2853117" y="2821303"/>
            <a:ext cx="0" cy="355552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6">
            <a:extLst>
              <a:ext uri="{FF2B5EF4-FFF2-40B4-BE49-F238E27FC236}">
                <a16:creationId xmlns:a16="http://schemas.microsoft.com/office/drawing/2014/main" id="{22124598-ACEF-42F2-B72A-77F14A30B3E4}"/>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18" name="Graphic 7">
            <a:extLst>
              <a:ext uri="{FF2B5EF4-FFF2-40B4-BE49-F238E27FC236}">
                <a16:creationId xmlns:a16="http://schemas.microsoft.com/office/drawing/2014/main" id="{037ECB6A-427E-DDFB-6C4F-3C5574C8D7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87372" y="1772083"/>
            <a:ext cx="274320" cy="274320"/>
          </a:xfrm>
          <a:prstGeom prst="rect">
            <a:avLst/>
          </a:prstGeom>
        </p:spPr>
      </p:pic>
      <p:sp>
        <p:nvSpPr>
          <p:cNvPr id="22" name="TextBox 9">
            <a:extLst>
              <a:ext uri="{FF2B5EF4-FFF2-40B4-BE49-F238E27FC236}">
                <a16:creationId xmlns:a16="http://schemas.microsoft.com/office/drawing/2014/main" id="{0B311898-4E20-6847-18AE-3F257832341B}"/>
              </a:ext>
            </a:extLst>
          </p:cNvPr>
          <p:cNvSpPr txBox="1"/>
          <p:nvPr/>
        </p:nvSpPr>
        <p:spPr>
          <a:xfrm>
            <a:off x="1359552" y="1683782"/>
            <a:ext cx="1637949"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FORMAT</a:t>
            </a:r>
          </a:p>
        </p:txBody>
      </p:sp>
      <p:sp>
        <p:nvSpPr>
          <p:cNvPr id="28" name="TextBox 8">
            <a:extLst>
              <a:ext uri="{FF2B5EF4-FFF2-40B4-BE49-F238E27FC236}">
                <a16:creationId xmlns:a16="http://schemas.microsoft.com/office/drawing/2014/main" id="{6AF5EF59-2CD7-02A6-8798-F25570ACB5F4}"/>
              </a:ext>
            </a:extLst>
          </p:cNvPr>
          <p:cNvSpPr txBox="1"/>
          <p:nvPr/>
        </p:nvSpPr>
        <p:spPr>
          <a:xfrm>
            <a:off x="1359552" y="2089634"/>
            <a:ext cx="4381236" cy="4648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Quel résultat voulez-vous obtenir ?</a:t>
            </a:r>
          </a:p>
        </p:txBody>
      </p:sp>
      <p:sp>
        <p:nvSpPr>
          <p:cNvPr id="29" name="ZoneTexte 28">
            <a:extLst>
              <a:ext uri="{FF2B5EF4-FFF2-40B4-BE49-F238E27FC236}">
                <a16:creationId xmlns:a16="http://schemas.microsoft.com/office/drawing/2014/main" id="{404A67EC-910D-EA49-1A4D-88BDBF62291B}"/>
              </a:ext>
            </a:extLst>
          </p:cNvPr>
          <p:cNvSpPr txBox="1"/>
          <p:nvPr/>
        </p:nvSpPr>
        <p:spPr>
          <a:xfrm>
            <a:off x="137520" y="2782870"/>
            <a:ext cx="2605680" cy="3416320"/>
          </a:xfrm>
          <a:prstGeom prst="rect">
            <a:avLst/>
          </a:prstGeom>
          <a:noFill/>
        </p:spPr>
        <p:txBody>
          <a:bodyPr wrap="square" rtlCol="0">
            <a:spAutoFit/>
          </a:bodyPr>
          <a:lstStyle/>
          <a:p>
            <a:r>
              <a:rPr lang="fr-FR" b="1" dirty="0"/>
              <a:t>Format</a:t>
            </a:r>
          </a:p>
          <a:p>
            <a:pPr lvl="0"/>
            <a:r>
              <a:rPr lang="fr-FR" dirty="0"/>
              <a:t>☐ Paragraphe </a:t>
            </a:r>
          </a:p>
          <a:p>
            <a:pPr lvl="0"/>
            <a:r>
              <a:rPr lang="fr-FR" dirty="0"/>
              <a:t>☐ Deux paragraphes </a:t>
            </a:r>
          </a:p>
          <a:p>
            <a:pPr lvl="0"/>
            <a:r>
              <a:rPr lang="fr-FR" dirty="0"/>
              <a:t>☐ Liste à puces </a:t>
            </a:r>
          </a:p>
          <a:p>
            <a:pPr lvl="0"/>
            <a:r>
              <a:rPr lang="fr-FR" dirty="0"/>
              <a:t>☐ Tableau </a:t>
            </a:r>
          </a:p>
          <a:p>
            <a:pPr lvl="0"/>
            <a:r>
              <a:rPr lang="fr-FR" dirty="0"/>
              <a:t>☐ Tableau comparatif </a:t>
            </a:r>
          </a:p>
          <a:p>
            <a:pPr lvl="0"/>
            <a:r>
              <a:rPr lang="fr-FR" dirty="0"/>
              <a:t>☐ Chronologie </a:t>
            </a:r>
          </a:p>
          <a:p>
            <a:pPr lvl="0"/>
            <a:r>
              <a:rPr lang="fr-FR" dirty="0"/>
              <a:t>☐ Synthèse </a:t>
            </a:r>
          </a:p>
          <a:p>
            <a:pPr lvl="0"/>
            <a:r>
              <a:rPr lang="fr-FR" dirty="0"/>
              <a:t>☐ Fiche technique </a:t>
            </a:r>
          </a:p>
          <a:p>
            <a:pPr lvl="0"/>
            <a:r>
              <a:rPr lang="fr-FR" dirty="0"/>
              <a:t>☐ Texte directement intégrable dans le rapport</a:t>
            </a:r>
          </a:p>
          <a:p>
            <a:endParaRPr lang="fr-FR" dirty="0"/>
          </a:p>
        </p:txBody>
      </p:sp>
      <p:sp>
        <p:nvSpPr>
          <p:cNvPr id="30" name="ZoneTexte 29">
            <a:extLst>
              <a:ext uri="{FF2B5EF4-FFF2-40B4-BE49-F238E27FC236}">
                <a16:creationId xmlns:a16="http://schemas.microsoft.com/office/drawing/2014/main" id="{67FFF0F2-4D3D-A6D6-5D69-02F88E46D77A}"/>
              </a:ext>
            </a:extLst>
          </p:cNvPr>
          <p:cNvSpPr txBox="1"/>
          <p:nvPr/>
        </p:nvSpPr>
        <p:spPr>
          <a:xfrm>
            <a:off x="2863746" y="2782870"/>
            <a:ext cx="3097964" cy="3139321"/>
          </a:xfrm>
          <a:prstGeom prst="rect">
            <a:avLst/>
          </a:prstGeom>
          <a:noFill/>
        </p:spPr>
        <p:txBody>
          <a:bodyPr wrap="none" rtlCol="0">
            <a:spAutoFit/>
          </a:bodyPr>
          <a:lstStyle/>
          <a:p>
            <a:r>
              <a:rPr lang="fr-FR" b="1" dirty="0"/>
              <a:t>Ton</a:t>
            </a:r>
          </a:p>
          <a:p>
            <a:pPr lvl="0"/>
            <a:r>
              <a:rPr lang="fr-FR" dirty="0"/>
              <a:t>☐ Neutre </a:t>
            </a:r>
          </a:p>
          <a:p>
            <a:pPr lvl="0"/>
            <a:r>
              <a:rPr lang="fr-FR" dirty="0"/>
              <a:t>☐ Factuel </a:t>
            </a:r>
          </a:p>
          <a:p>
            <a:pPr lvl="0"/>
            <a:r>
              <a:rPr lang="fr-FR" dirty="0"/>
              <a:t>☐ Technique </a:t>
            </a:r>
          </a:p>
          <a:p>
            <a:pPr lvl="0"/>
            <a:r>
              <a:rPr lang="fr-FR" dirty="0"/>
              <a:t>☐ Administratif </a:t>
            </a:r>
          </a:p>
          <a:p>
            <a:pPr lvl="0"/>
            <a:r>
              <a:rPr lang="fr-FR" dirty="0"/>
              <a:t>☐ Juridique </a:t>
            </a:r>
          </a:p>
          <a:p>
            <a:pPr lvl="0"/>
            <a:r>
              <a:rPr lang="fr-FR" dirty="0"/>
              <a:t>☐ Pédagogique </a:t>
            </a:r>
          </a:p>
          <a:p>
            <a:pPr lvl="0"/>
            <a:r>
              <a:rPr lang="fr-FR" dirty="0"/>
              <a:t>☐ Synthétique </a:t>
            </a:r>
          </a:p>
          <a:p>
            <a:pPr lvl="0"/>
            <a:r>
              <a:rPr lang="fr-FR" dirty="0"/>
              <a:t>☐ Très sobre </a:t>
            </a:r>
          </a:p>
          <a:p>
            <a:pPr lvl="0"/>
            <a:r>
              <a:rPr lang="fr-FR" dirty="0"/>
              <a:t>☐ Sans appréciation subjective</a:t>
            </a:r>
          </a:p>
          <a:p>
            <a:endParaRPr lang="fr-FR" dirty="0"/>
          </a:p>
        </p:txBody>
      </p:sp>
      <p:sp>
        <p:nvSpPr>
          <p:cNvPr id="31" name="ZoneTexte 30">
            <a:extLst>
              <a:ext uri="{FF2B5EF4-FFF2-40B4-BE49-F238E27FC236}">
                <a16:creationId xmlns:a16="http://schemas.microsoft.com/office/drawing/2014/main" id="{D5A96B5E-A040-063C-41F5-1C1B2C61E12F}"/>
              </a:ext>
            </a:extLst>
          </p:cNvPr>
          <p:cNvSpPr txBox="1"/>
          <p:nvPr/>
        </p:nvSpPr>
        <p:spPr>
          <a:xfrm>
            <a:off x="6136796" y="2782870"/>
            <a:ext cx="2149874" cy="2862322"/>
          </a:xfrm>
          <a:prstGeom prst="rect">
            <a:avLst/>
          </a:prstGeom>
          <a:noFill/>
        </p:spPr>
        <p:txBody>
          <a:bodyPr wrap="square" rtlCol="0">
            <a:spAutoFit/>
          </a:bodyPr>
          <a:lstStyle/>
          <a:p>
            <a:r>
              <a:rPr lang="fr-FR" b="1" dirty="0"/>
              <a:t>Niveau de détail</a:t>
            </a:r>
          </a:p>
          <a:p>
            <a:pPr lvl="0"/>
            <a:r>
              <a:rPr lang="fr-FR" dirty="0"/>
              <a:t>☐ 50 mots </a:t>
            </a:r>
          </a:p>
          <a:p>
            <a:pPr lvl="0"/>
            <a:r>
              <a:rPr lang="fr-FR" dirty="0"/>
              <a:t>☐ 100 mots </a:t>
            </a:r>
          </a:p>
          <a:p>
            <a:pPr lvl="0"/>
            <a:r>
              <a:rPr lang="fr-FR" dirty="0"/>
              <a:t>☐ 150 mots </a:t>
            </a:r>
          </a:p>
          <a:p>
            <a:pPr lvl="0"/>
            <a:r>
              <a:rPr lang="fr-FR" dirty="0"/>
              <a:t>☐ 200 mots </a:t>
            </a:r>
          </a:p>
          <a:p>
            <a:pPr lvl="0"/>
            <a:r>
              <a:rPr lang="fr-FR" dirty="0"/>
              <a:t>☐ 300 mots </a:t>
            </a:r>
          </a:p>
          <a:p>
            <a:pPr lvl="0"/>
            <a:r>
              <a:rPr lang="fr-FR" dirty="0"/>
              <a:t>☐ Sans limite, mais uniquement les informations utiles</a:t>
            </a:r>
          </a:p>
          <a:p>
            <a:endParaRPr lang="fr-FR" dirty="0"/>
          </a:p>
        </p:txBody>
      </p:sp>
      <p:sp>
        <p:nvSpPr>
          <p:cNvPr id="32" name="ZoneTexte 31">
            <a:extLst>
              <a:ext uri="{FF2B5EF4-FFF2-40B4-BE49-F238E27FC236}">
                <a16:creationId xmlns:a16="http://schemas.microsoft.com/office/drawing/2014/main" id="{325EFE4D-970A-99DD-C07B-062273FB29D2}"/>
              </a:ext>
            </a:extLst>
          </p:cNvPr>
          <p:cNvSpPr txBox="1"/>
          <p:nvPr/>
        </p:nvSpPr>
        <p:spPr>
          <a:xfrm>
            <a:off x="8453020" y="2727217"/>
            <a:ext cx="3650844" cy="3970318"/>
          </a:xfrm>
          <a:prstGeom prst="rect">
            <a:avLst/>
          </a:prstGeom>
          <a:noFill/>
        </p:spPr>
        <p:txBody>
          <a:bodyPr wrap="square" rtlCol="0">
            <a:spAutoFit/>
          </a:bodyPr>
          <a:lstStyle/>
          <a:p>
            <a:r>
              <a:rPr lang="fr-FR" b="1" dirty="0"/>
              <a:t>Contraintes supplémentaires</a:t>
            </a:r>
          </a:p>
          <a:p>
            <a:pPr lvl="0"/>
            <a:r>
              <a:rPr lang="fr-FR" dirty="0"/>
              <a:t>☐ Ne rien inventer </a:t>
            </a:r>
          </a:p>
          <a:p>
            <a:pPr lvl="0"/>
            <a:r>
              <a:rPr lang="fr-FR" dirty="0"/>
              <a:t>☐ Ne pas déduire une information absente </a:t>
            </a:r>
          </a:p>
          <a:p>
            <a:pPr lvl="0"/>
            <a:r>
              <a:rPr lang="fr-FR" dirty="0"/>
              <a:t>☐ Signaler les informations manquantes </a:t>
            </a:r>
          </a:p>
          <a:p>
            <a:pPr lvl="0"/>
            <a:r>
              <a:rPr lang="fr-FR" dirty="0"/>
              <a:t>☐ Distinguer faits et hypothèses </a:t>
            </a:r>
          </a:p>
          <a:p>
            <a:pPr lvl="0"/>
            <a:r>
              <a:rPr lang="fr-FR" dirty="0"/>
              <a:t>☐ Conserver les termes techniques </a:t>
            </a:r>
          </a:p>
          <a:p>
            <a:pPr lvl="0"/>
            <a:r>
              <a:rPr lang="fr-FR" dirty="0"/>
              <a:t>☐ Ne pas utiliser de termes valorisants </a:t>
            </a:r>
          </a:p>
          <a:p>
            <a:pPr lvl="0"/>
            <a:r>
              <a:rPr lang="fr-FR" dirty="0"/>
              <a:t>☐ Ne pas conclure sur la valeur </a:t>
            </a:r>
          </a:p>
          <a:p>
            <a:pPr lvl="0"/>
            <a:r>
              <a:rPr lang="fr-FR" dirty="0"/>
              <a:t>☐ Signaler les éléments nécessitant une vérification humaine</a:t>
            </a:r>
          </a:p>
          <a:p>
            <a:endParaRPr lang="fr-FR" dirty="0"/>
          </a:p>
        </p:txBody>
      </p:sp>
    </p:spTree>
    <p:extLst>
      <p:ext uri="{BB962C8B-B14F-4D97-AF65-F5344CB8AC3E}">
        <p14:creationId xmlns:p14="http://schemas.microsoft.com/office/powerpoint/2010/main" val="84786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1234391-D5FA-C973-1B74-A8918622030D}"/>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F0E8B42-6E76-F18E-0322-E5EBA1C14F9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5C53D63D-B544-7E88-5576-86AD963331C0}"/>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0079023D-4625-537A-BC2F-D1E6869845BA}"/>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1B9DD2D6-48A9-05D3-6D22-B0BCE39480ED}"/>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EDFB635-EBF4-FA22-C769-943EF78E7AF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885448BC-13A6-71DB-38D4-3A586C95E6D0}"/>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CAB44AB-E084-2A14-7891-7965DF0B091F}"/>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96D0BEB8-DA2C-B192-CB4C-44FC67BF1739}"/>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14" name="Oval 6">
            <a:extLst>
              <a:ext uri="{FF2B5EF4-FFF2-40B4-BE49-F238E27FC236}">
                <a16:creationId xmlns:a16="http://schemas.microsoft.com/office/drawing/2014/main" id="{5C67A485-5189-0AB0-1358-6F22DACEEDB4}"/>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17" name="Graphic 7">
            <a:extLst>
              <a:ext uri="{FF2B5EF4-FFF2-40B4-BE49-F238E27FC236}">
                <a16:creationId xmlns:a16="http://schemas.microsoft.com/office/drawing/2014/main" id="{37488087-D739-19A1-D0F8-5904E91F19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87372" y="1772083"/>
            <a:ext cx="274320" cy="274320"/>
          </a:xfrm>
          <a:prstGeom prst="rect">
            <a:avLst/>
          </a:prstGeom>
        </p:spPr>
      </p:pic>
      <p:sp>
        <p:nvSpPr>
          <p:cNvPr id="7" name="TextBox 9">
            <a:extLst>
              <a:ext uri="{FF2B5EF4-FFF2-40B4-BE49-F238E27FC236}">
                <a16:creationId xmlns:a16="http://schemas.microsoft.com/office/drawing/2014/main" id="{C85E0BCD-3F6D-6DFA-1A1A-D3FC490A176E}"/>
              </a:ext>
            </a:extLst>
          </p:cNvPr>
          <p:cNvSpPr txBox="1"/>
          <p:nvPr/>
        </p:nvSpPr>
        <p:spPr>
          <a:xfrm>
            <a:off x="1359552" y="1683782"/>
            <a:ext cx="1637949"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LE FORMAT</a:t>
            </a:r>
          </a:p>
        </p:txBody>
      </p:sp>
      <p:sp>
        <p:nvSpPr>
          <p:cNvPr id="6" name="TextBox 8">
            <a:extLst>
              <a:ext uri="{FF2B5EF4-FFF2-40B4-BE49-F238E27FC236}">
                <a16:creationId xmlns:a16="http://schemas.microsoft.com/office/drawing/2014/main" id="{19650D58-C7D1-E141-06A1-300F6200E367}"/>
              </a:ext>
            </a:extLst>
          </p:cNvPr>
          <p:cNvSpPr txBox="1"/>
          <p:nvPr/>
        </p:nvSpPr>
        <p:spPr>
          <a:xfrm>
            <a:off x="1359552" y="2089634"/>
            <a:ext cx="4381236" cy="4648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fr-FR" sz="1800" b="1" dirty="0"/>
              <a:t>Quel résultat voulez-vous obtenir ?</a:t>
            </a:r>
          </a:p>
        </p:txBody>
      </p:sp>
      <p:sp>
        <p:nvSpPr>
          <p:cNvPr id="9" name="ZoneTexte 8">
            <a:extLst>
              <a:ext uri="{FF2B5EF4-FFF2-40B4-BE49-F238E27FC236}">
                <a16:creationId xmlns:a16="http://schemas.microsoft.com/office/drawing/2014/main" id="{E4267434-E578-C01D-4BFC-B6AD696FF64A}"/>
              </a:ext>
            </a:extLst>
          </p:cNvPr>
          <p:cNvSpPr txBox="1"/>
          <p:nvPr/>
        </p:nvSpPr>
        <p:spPr>
          <a:xfrm>
            <a:off x="825498" y="3118887"/>
            <a:ext cx="10610010" cy="1354217"/>
          </a:xfrm>
          <a:prstGeom prst="rect">
            <a:avLst/>
          </a:prstGeom>
          <a:noFill/>
        </p:spPr>
        <p:txBody>
          <a:bodyPr wrap="square" rtlCol="0">
            <a:spAutoFit/>
          </a:bodyPr>
          <a:lstStyle/>
          <a:p>
            <a:pPr algn="ctr"/>
            <a:r>
              <a:rPr lang="fr-FR" sz="2800" dirty="0"/>
              <a:t>C'est le levier qui transforme une réponse « intéressante » </a:t>
            </a:r>
          </a:p>
          <a:p>
            <a:pPr algn="ctr"/>
            <a:r>
              <a:rPr lang="fr-FR" sz="2800" dirty="0"/>
              <a:t>en réponse </a:t>
            </a:r>
            <a:r>
              <a:rPr lang="fr-FR" sz="5400" b="1" dirty="0"/>
              <a:t>directement</a:t>
            </a:r>
            <a:r>
              <a:rPr lang="fr-FR" sz="2800" b="1" dirty="0"/>
              <a:t> exploitable</a:t>
            </a:r>
            <a:endParaRPr lang="fr-FR" sz="2800" dirty="0"/>
          </a:p>
        </p:txBody>
      </p:sp>
    </p:spTree>
    <p:extLst>
      <p:ext uri="{BB962C8B-B14F-4D97-AF65-F5344CB8AC3E}">
        <p14:creationId xmlns:p14="http://schemas.microsoft.com/office/powerpoint/2010/main" val="268028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F00C226-98F0-6EB2-B34E-A987B93CD7AA}"/>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E9E3718-377F-A515-32C0-CDA9BDB80B1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A8283498-C38E-47B5-47BC-A04A06F351E6}"/>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7A2738C0-EBB8-1862-4120-5EB9432E2E2F}"/>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96C4374E-A4D5-A8D0-9EEE-ADD5428C764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0ED7371-BDAB-2960-FFAA-C4FAF6E309A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E5DD73DE-749E-D940-E570-F2FC3F8FFA6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BF7126ED-062F-197F-CA0D-F84B3519A95C}"/>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A5256E5C-C028-6F7A-04BA-6DA909D52769}"/>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6" name="ZoneTexte 5">
            <a:extLst>
              <a:ext uri="{FF2B5EF4-FFF2-40B4-BE49-F238E27FC236}">
                <a16:creationId xmlns:a16="http://schemas.microsoft.com/office/drawing/2014/main" id="{EECF79E0-E1C8-816B-88D9-581A836CA9F5}"/>
              </a:ext>
            </a:extLst>
          </p:cNvPr>
          <p:cNvSpPr txBox="1"/>
          <p:nvPr/>
        </p:nvSpPr>
        <p:spPr>
          <a:xfrm>
            <a:off x="594589" y="3642701"/>
            <a:ext cx="11002820" cy="923330"/>
          </a:xfrm>
          <a:prstGeom prst="rect">
            <a:avLst/>
          </a:prstGeom>
          <a:noFill/>
        </p:spPr>
        <p:txBody>
          <a:bodyPr wrap="none" rtlCol="0">
            <a:spAutoFit/>
          </a:bodyPr>
          <a:lstStyle/>
          <a:p>
            <a:r>
              <a:rPr lang="fr-FR" sz="5400" b="1" dirty="0">
                <a:latin typeface="Figtree"/>
              </a:rPr>
              <a:t>RÔLE + TÂCHE + CONTEXTE + FORMAT</a:t>
            </a:r>
          </a:p>
        </p:txBody>
      </p:sp>
      <p:sp>
        <p:nvSpPr>
          <p:cNvPr id="22" name="TextBox 1">
            <a:extLst>
              <a:ext uri="{FF2B5EF4-FFF2-40B4-BE49-F238E27FC236}">
                <a16:creationId xmlns:a16="http://schemas.microsoft.com/office/drawing/2014/main" id="{D9258EAA-7F3D-9E38-82B1-8E2D8FF3AD47}"/>
              </a:ext>
            </a:extLst>
          </p:cNvPr>
          <p:cNvSpPr txBox="1"/>
          <p:nvPr/>
        </p:nvSpPr>
        <p:spPr>
          <a:xfrm>
            <a:off x="2275304" y="2880561"/>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Construire un prompt qui marche</a:t>
            </a:r>
          </a:p>
        </p:txBody>
      </p:sp>
    </p:spTree>
    <p:extLst>
      <p:ext uri="{BB962C8B-B14F-4D97-AF65-F5344CB8AC3E}">
        <p14:creationId xmlns:p14="http://schemas.microsoft.com/office/powerpoint/2010/main" val="1078033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AC98D6C-D8B3-7ED9-704A-1A92217514FA}"/>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C85A1D5D-3A8A-DC26-2ADB-106A319E506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1DC4DD09-AD7E-176A-3E72-D15CD1F0DDBA}"/>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3849563F-11CC-E03E-32F0-0CE98FBB296B}"/>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 : comment donner des instructions à l'IA</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DE637080-0CC4-6F05-7E4B-A993B242FFE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8F671DC-E47F-C91B-E47B-014AC4AE317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10E07316-6665-0948-AF1F-CAA2C2A1DE7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87DD8958-07FE-BA2D-DD94-65512C2BEF7F}"/>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CD7DE637-E719-D0FF-C9BB-153558AE7BD4}"/>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25" name="Oval 6">
            <a:extLst>
              <a:ext uri="{FF2B5EF4-FFF2-40B4-BE49-F238E27FC236}">
                <a16:creationId xmlns:a16="http://schemas.microsoft.com/office/drawing/2014/main" id="{368B9C49-3A55-0B3B-234E-BADC2DCD4DFF}"/>
              </a:ext>
            </a:extLst>
          </p:cNvPr>
          <p:cNvSpPr/>
          <p:nvPr/>
        </p:nvSpPr>
        <p:spPr>
          <a:xfrm>
            <a:off x="619732" y="1602919"/>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lt1"/>
                </a:solidFill>
              </a:rPr>
              <a:t>&lt;</a:t>
            </a:r>
          </a:p>
        </p:txBody>
      </p:sp>
      <p:pic>
        <p:nvPicPr>
          <p:cNvPr id="27" name="Graphic 7">
            <a:extLst>
              <a:ext uri="{FF2B5EF4-FFF2-40B4-BE49-F238E27FC236}">
                <a16:creationId xmlns:a16="http://schemas.microsoft.com/office/drawing/2014/main" id="{4EB5F39F-1BA7-17E3-32E7-3373212211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87372" y="1772083"/>
            <a:ext cx="274320" cy="274320"/>
          </a:xfrm>
          <a:prstGeom prst="rect">
            <a:avLst/>
          </a:prstGeom>
        </p:spPr>
      </p:pic>
      <p:sp>
        <p:nvSpPr>
          <p:cNvPr id="29" name="TextBox 9">
            <a:extLst>
              <a:ext uri="{FF2B5EF4-FFF2-40B4-BE49-F238E27FC236}">
                <a16:creationId xmlns:a16="http://schemas.microsoft.com/office/drawing/2014/main" id="{A514217F-30D3-54FE-A769-93FB7E39E99F}"/>
              </a:ext>
            </a:extLst>
          </p:cNvPr>
          <p:cNvSpPr txBox="1"/>
          <p:nvPr/>
        </p:nvSpPr>
        <p:spPr>
          <a:xfrm>
            <a:off x="1359552" y="1683782"/>
            <a:ext cx="1369286" cy="461665"/>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sz="2400" dirty="0">
                <a:sym typeface="Manrope"/>
              </a:rPr>
              <a:t>EXEMPLE</a:t>
            </a:r>
          </a:p>
        </p:txBody>
      </p:sp>
      <p:sp>
        <p:nvSpPr>
          <p:cNvPr id="4" name="ZoneTexte 3">
            <a:extLst>
              <a:ext uri="{FF2B5EF4-FFF2-40B4-BE49-F238E27FC236}">
                <a16:creationId xmlns:a16="http://schemas.microsoft.com/office/drawing/2014/main" id="{9FF514C5-53B4-2CC7-9608-C5787FDD236A}"/>
              </a:ext>
            </a:extLst>
          </p:cNvPr>
          <p:cNvSpPr txBox="1"/>
          <p:nvPr/>
        </p:nvSpPr>
        <p:spPr>
          <a:xfrm>
            <a:off x="517792" y="2560591"/>
            <a:ext cx="11347374" cy="4031873"/>
          </a:xfrm>
          <a:prstGeom prst="rect">
            <a:avLst/>
          </a:prstGeom>
          <a:noFill/>
        </p:spPr>
        <p:txBody>
          <a:bodyPr wrap="square" rtlCol="0">
            <a:spAutoFit/>
          </a:bodyPr>
          <a:lstStyle/>
          <a:p>
            <a:r>
              <a:rPr lang="fr-FR" sz="1600" b="1" dirty="0">
                <a:latin typeface="Courier New" panose="02070309020205020404" pitchFamily="49" charset="0"/>
                <a:cs typeface="Courier New" panose="02070309020205020404" pitchFamily="49" charset="0"/>
              </a:rPr>
              <a:t>Tu es</a:t>
            </a:r>
            <a:r>
              <a:rPr lang="fr-FR" sz="1600" dirty="0">
                <a:latin typeface="Courier New" panose="02070309020205020404" pitchFamily="49" charset="0"/>
                <a:cs typeface="Courier New" panose="02070309020205020404" pitchFamily="49" charset="0"/>
              </a:rPr>
              <a:t> un expert immobilier intervenant dans le cadre d'une expertise judiciaire.</a:t>
            </a:r>
          </a:p>
          <a:p>
            <a:endParaRPr lang="fr-FR" sz="1600" b="1"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Ta mission est de</a:t>
            </a:r>
            <a:r>
              <a:rPr lang="fr-FR" sz="1600" dirty="0">
                <a:latin typeface="Courier New" panose="02070309020205020404" pitchFamily="49" charset="0"/>
                <a:cs typeface="Courier New" panose="02070309020205020404" pitchFamily="49" charset="0"/>
              </a:rPr>
              <a:t> transformer mes notes de visite en une description factuelle du bien.</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Contexte :</a:t>
            </a:r>
            <a:r>
              <a:rPr lang="fr-FR" sz="1600" dirty="0">
                <a:latin typeface="Courier New" panose="02070309020205020404" pitchFamily="49" charset="0"/>
                <a:cs typeface="Courier New" panose="02070309020205020404" pitchFamily="49" charset="0"/>
              </a:rPr>
              <a:t> appartement de 82 m² situé au 3e étage d'un immeuble construit dans les années 1970, comprenant une entrée, un séjour, une cuisine, trois chambres, une salle de bains et un WC. Immeuble avec ascenseur.</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Mes observations :</a:t>
            </a:r>
            <a:r>
              <a:rPr lang="fr-FR" sz="1600" dirty="0">
                <a:latin typeface="Courier New" panose="02070309020205020404" pitchFamily="49" charset="0"/>
                <a:cs typeface="Courier New" panose="02070309020205020404" pitchFamily="49" charset="0"/>
              </a:rPr>
              <a:t> [notes].</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Format attendu :</a:t>
            </a:r>
            <a:r>
              <a:rPr lang="fr-FR" sz="1600" dirty="0">
                <a:latin typeface="Courier New" panose="02070309020205020404" pitchFamily="49" charset="0"/>
                <a:cs typeface="Courier New" panose="02070309020205020404" pitchFamily="49" charset="0"/>
              </a:rPr>
              <a:t> 200 mots maximum, prose continue, ton neutre et technique, directement intégrable dans un rapport d'expertise.</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Règles impératives :</a:t>
            </a:r>
            <a:r>
              <a:rPr lang="fr-FR" sz="1600" dirty="0">
                <a:latin typeface="Courier New" panose="02070309020205020404" pitchFamily="49" charset="0"/>
                <a:cs typeface="Courier New" panose="02070309020205020404" pitchFamily="49" charset="0"/>
              </a:rPr>
              <a:t> ne complète aucune information absente de mes notes. Ne formule aucune appréciation de valeur. Si une information importante manque, indique-la à la fin sous la rubrique « Points à vérifier ».</a:t>
            </a:r>
          </a:p>
        </p:txBody>
      </p:sp>
      <p:cxnSp>
        <p:nvCxnSpPr>
          <p:cNvPr id="9" name="Connecteur droit 8">
            <a:extLst>
              <a:ext uri="{FF2B5EF4-FFF2-40B4-BE49-F238E27FC236}">
                <a16:creationId xmlns:a16="http://schemas.microsoft.com/office/drawing/2014/main" id="{9DC4EA74-2FDF-F8C8-7A83-F61D7B3BA7AF}"/>
              </a:ext>
            </a:extLst>
          </p:cNvPr>
          <p:cNvCxnSpPr>
            <a:cxnSpLocks/>
          </p:cNvCxnSpPr>
          <p:nvPr/>
        </p:nvCxnSpPr>
        <p:spPr>
          <a:xfrm>
            <a:off x="308473" y="2655065"/>
            <a:ext cx="0" cy="373471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0628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C553BE-5A59-3B93-9891-0F4B53094EBC}"/>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BC6EE869-FFFA-CCEF-F646-570B24F64143}"/>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13689515-D552-ED63-862F-64C7807C1CC1}"/>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62A08417-9AE1-4F86-C4B2-7702A46652BC}"/>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3" name="Oval 2">
            <a:extLst>
              <a:ext uri="{FF2B5EF4-FFF2-40B4-BE49-F238E27FC236}">
                <a16:creationId xmlns:a16="http://schemas.microsoft.com/office/drawing/2014/main" id="{7D1DF643-F4F8-F4B7-B6C5-4F550582B85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11F4114-7FAD-E165-32A5-FA0FD10F20C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A72B3619-CEA3-E165-A327-C50D4D86DCB3}"/>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192122D-2036-9DC9-8C69-625410996016}"/>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749D9749-4E3A-E7E5-B3B0-3A5B2C794C0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31" name="ZoneTexte 30">
            <a:extLst>
              <a:ext uri="{FF2B5EF4-FFF2-40B4-BE49-F238E27FC236}">
                <a16:creationId xmlns:a16="http://schemas.microsoft.com/office/drawing/2014/main" id="{6FC763AF-930D-1F4E-15F8-5C8DF22CC1C6}"/>
              </a:ext>
            </a:extLst>
          </p:cNvPr>
          <p:cNvSpPr txBox="1"/>
          <p:nvPr/>
        </p:nvSpPr>
        <p:spPr>
          <a:xfrm>
            <a:off x="825498" y="3232357"/>
            <a:ext cx="10610010" cy="1877437"/>
          </a:xfrm>
          <a:prstGeom prst="rect">
            <a:avLst/>
          </a:prstGeom>
          <a:noFill/>
        </p:spPr>
        <p:txBody>
          <a:bodyPr wrap="square" rtlCol="0">
            <a:spAutoFit/>
          </a:bodyPr>
          <a:lstStyle/>
          <a:p>
            <a:pPr algn="ctr"/>
            <a:r>
              <a:rPr lang="fr-FR" sz="3200" dirty="0">
                <a:latin typeface="Figtree"/>
              </a:rPr>
              <a:t>Un « bon prompt » marche toujours mieux.</a:t>
            </a:r>
          </a:p>
          <a:p>
            <a:pPr algn="ctr"/>
            <a:endParaRPr lang="fr-FR" sz="2800" dirty="0"/>
          </a:p>
          <a:p>
            <a:pPr algn="ctr"/>
            <a:r>
              <a:rPr lang="fr-FR" sz="2800" b="1" dirty="0">
                <a:latin typeface="Figtree"/>
              </a:rPr>
              <a:t>Constatons ce que l'IA ajoute progressivement </a:t>
            </a:r>
          </a:p>
          <a:p>
            <a:pPr algn="ctr"/>
            <a:r>
              <a:rPr lang="fr-FR" sz="2800" b="1" dirty="0">
                <a:latin typeface="Figtree"/>
              </a:rPr>
              <a:t>à mesure que les instructions deviennent plus précises</a:t>
            </a:r>
            <a:r>
              <a:rPr lang="fr-FR" sz="2800" dirty="0">
                <a:latin typeface="Figtree"/>
              </a:rPr>
              <a:t>.</a:t>
            </a:r>
          </a:p>
        </p:txBody>
      </p:sp>
    </p:spTree>
    <p:extLst>
      <p:ext uri="{BB962C8B-B14F-4D97-AF65-F5344CB8AC3E}">
        <p14:creationId xmlns:p14="http://schemas.microsoft.com/office/powerpoint/2010/main" val="4033901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FF1085A-D52E-2219-182A-402CDEBA2A74}"/>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221E064F-BC48-3F06-22AE-269CE9A5469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C38C5DEC-BF8E-3FB5-EBA7-D691B8CB32A7}"/>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6940E7AA-DBAA-9981-D9A1-AF3C75DE558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B08191D-ABE2-CCDE-EE85-8C07A7B8860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64F455C9-C138-8460-9926-B46D34160E3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A5B73BCA-09EF-BCD0-7484-33BF7E52C683}"/>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172B746A-7ADD-489B-6B8C-112EED799ED6}"/>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11" name="ZoneTexte 10">
            <a:extLst>
              <a:ext uri="{FF2B5EF4-FFF2-40B4-BE49-F238E27FC236}">
                <a16:creationId xmlns:a16="http://schemas.microsoft.com/office/drawing/2014/main" id="{A91B0129-C44D-7AAB-FE6E-F8183E8D519D}"/>
              </a:ext>
            </a:extLst>
          </p:cNvPr>
          <p:cNvSpPr txBox="1"/>
          <p:nvPr/>
        </p:nvSpPr>
        <p:spPr>
          <a:xfrm>
            <a:off x="1145538" y="3187535"/>
            <a:ext cx="10311688" cy="1631216"/>
          </a:xfrm>
          <a:prstGeom prst="rect">
            <a:avLst/>
          </a:prstGeom>
          <a:noFill/>
        </p:spPr>
        <p:txBody>
          <a:bodyPr wrap="square" rtlCol="0">
            <a:spAutoFit/>
          </a:bodyPr>
          <a:lstStyle/>
          <a:p>
            <a:r>
              <a:rPr lang="fr-FR" sz="3600" dirty="0">
                <a:latin typeface="Figtree"/>
              </a:rPr>
              <a:t>Le premier prompt (1)</a:t>
            </a:r>
          </a:p>
          <a:p>
            <a:endParaRPr lang="fr-FR" sz="3600" dirty="0">
              <a:latin typeface="Figtree"/>
            </a:endParaRPr>
          </a:p>
          <a:p>
            <a:r>
              <a:rPr lang="fr-FR" sz="2800" dirty="0">
                <a:latin typeface="Courier New" panose="02070309020205020404" pitchFamily="49" charset="0"/>
                <a:cs typeface="Courier New" panose="02070309020205020404" pitchFamily="49" charset="0"/>
              </a:rPr>
              <a:t>« Décris cet appartement pour mon rapport. »</a:t>
            </a:r>
          </a:p>
        </p:txBody>
      </p:sp>
      <p:sp>
        <p:nvSpPr>
          <p:cNvPr id="28" name="TextBox 7">
            <a:extLst>
              <a:ext uri="{FF2B5EF4-FFF2-40B4-BE49-F238E27FC236}">
                <a16:creationId xmlns:a16="http://schemas.microsoft.com/office/drawing/2014/main" id="{EAF9FED4-D86B-79C1-B974-4BB82BAC96B3}"/>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Tree>
    <p:extLst>
      <p:ext uri="{BB962C8B-B14F-4D97-AF65-F5344CB8AC3E}">
        <p14:creationId xmlns:p14="http://schemas.microsoft.com/office/powerpoint/2010/main" val="3031617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F9E85D2-06EE-5D84-FC76-A02DDFE209D0}"/>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B9B849EB-0E57-8AD4-C410-6821E94F4AD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15EE5D14-4A9D-FE26-A0EE-B71358341229}"/>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F5A65E8-47E9-1CBA-285C-B67FF130522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53B5E52-BE99-429A-CFD1-3685266BED99}"/>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2DF1EFAF-4410-824D-0A98-6553DE6E047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6A92AC7-5B0C-22B4-08DD-834B45558AAC}"/>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AD31EF2C-3B86-5137-F0C6-6DFF7FF4D20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86913FA6-20B8-D013-8428-8D74A76FE65A}"/>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8" name="ZoneTexte 7">
            <a:extLst>
              <a:ext uri="{FF2B5EF4-FFF2-40B4-BE49-F238E27FC236}">
                <a16:creationId xmlns:a16="http://schemas.microsoft.com/office/drawing/2014/main" id="{5A3AD971-7FE0-5B9A-7289-DA973208E931}"/>
              </a:ext>
            </a:extLst>
          </p:cNvPr>
          <p:cNvSpPr txBox="1"/>
          <p:nvPr/>
        </p:nvSpPr>
        <p:spPr>
          <a:xfrm>
            <a:off x="547125" y="1812330"/>
            <a:ext cx="11097749" cy="4566571"/>
          </a:xfrm>
          <a:prstGeom prst="rect">
            <a:avLst/>
          </a:prstGeom>
          <a:noFill/>
        </p:spPr>
        <p:txBody>
          <a:bodyPr wrap="square" rtlCol="0">
            <a:spAutoFit/>
          </a:bodyPr>
          <a:lstStyle/>
          <a:p>
            <a:r>
              <a:rPr lang="fr-FR" sz="2100" b="1" i="1" dirty="0"/>
              <a:t>Réponse simulée de l'IA :</a:t>
            </a:r>
          </a:p>
          <a:p>
            <a:endParaRPr lang="fr-FR" sz="2100" dirty="0"/>
          </a:p>
          <a:p>
            <a:pPr>
              <a:lnSpc>
                <a:spcPct val="150000"/>
              </a:lnSpc>
            </a:pPr>
            <a:r>
              <a:rPr lang="fr-FR" sz="2100" dirty="0"/>
              <a:t>Cet appartement est un bien immobilier de qualité, situé dans un environnement agréable et bien desservi par les transports en commun. D'une superficie généreuse, il offre une distribution fonctionnelle avec un séjour lumineux, une cuisine équipée, plusieurs chambres confortables et une salle de bains moderne. Les prestations intérieures sont de bon standing, avec des finitions soignées et des matériaux de qualité. L'appartement bénéficie d'une belle exposition et d'un ensoleillement optimal tout au long de la journée. L'immeuble, bien entretenu, dispose de parties communes propres et accueillantes. Ce bien présente toutes les caractéristiques d'un logement idéal pour une famille ou un couple souhaitant s'installer dans un cadre de vie agréable.</a:t>
            </a:r>
          </a:p>
        </p:txBody>
      </p:sp>
    </p:spTree>
    <p:extLst>
      <p:ext uri="{BB962C8B-B14F-4D97-AF65-F5344CB8AC3E}">
        <p14:creationId xmlns:p14="http://schemas.microsoft.com/office/powerpoint/2010/main" val="1069692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E7C9682-4D14-B843-6CF2-2C079E27B6A1}"/>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FB07775D-A8FD-AE09-F55E-C99B5238913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266382CE-7869-01F2-9FB7-92E209ED784B}"/>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79FD84F8-4C46-FA43-5EF5-80BD6666C96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8F858EB-8C31-6DC3-7289-D718B6FE926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31628E68-C73D-9219-21D7-1DBF1B8DA8A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F2EA7EC-3919-7AFB-7506-299C85E12D29}"/>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2D917A91-3264-7645-A341-345EE8F5782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9ED99A9B-78A9-DF22-ACD5-12CCCBCBE6E3}"/>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4" name="ZoneTexte 3">
            <a:extLst>
              <a:ext uri="{FF2B5EF4-FFF2-40B4-BE49-F238E27FC236}">
                <a16:creationId xmlns:a16="http://schemas.microsoft.com/office/drawing/2014/main" id="{E8225885-0C41-0D10-2302-E9EFB7E349B3}"/>
              </a:ext>
            </a:extLst>
          </p:cNvPr>
          <p:cNvSpPr txBox="1"/>
          <p:nvPr/>
        </p:nvSpPr>
        <p:spPr>
          <a:xfrm>
            <a:off x="514710" y="2172412"/>
            <a:ext cx="11162580" cy="4985980"/>
          </a:xfrm>
          <a:prstGeom prst="rect">
            <a:avLst/>
          </a:prstGeom>
          <a:noFill/>
        </p:spPr>
        <p:txBody>
          <a:bodyPr wrap="square" rtlCol="0">
            <a:spAutoFit/>
          </a:bodyPr>
          <a:lstStyle/>
          <a:p>
            <a:r>
              <a:rPr lang="fr-FR" cap="all" dirty="0"/>
              <a:t>Réponse produite par l'IA — prompt : </a:t>
            </a:r>
            <a:r>
              <a:rPr lang="fr-FR" b="1" cap="all" dirty="0"/>
              <a:t>« Décris cet appartement pour mon rapport. »</a:t>
            </a:r>
          </a:p>
          <a:p>
            <a:r>
              <a:rPr lang="fr-FR" sz="2400" b="1" dirty="0">
                <a:solidFill>
                  <a:schemeClr val="accent6">
                    <a:lumMod val="75000"/>
                  </a:schemeClr>
                </a:solidFill>
              </a:rPr>
              <a:t>Ton commercial </a:t>
            </a:r>
            <a:r>
              <a:rPr lang="fr-FR" sz="2400" dirty="0"/>
              <a:t>- </a:t>
            </a:r>
            <a:r>
              <a:rPr lang="fr-FR" sz="2400" b="1" dirty="0">
                <a:solidFill>
                  <a:srgbClr val="FF0000"/>
                </a:solidFill>
              </a:rPr>
              <a:t>Données inventées </a:t>
            </a:r>
            <a:r>
              <a:rPr lang="fr-FR" sz="2400" dirty="0"/>
              <a:t>- </a:t>
            </a:r>
            <a:r>
              <a:rPr lang="fr-FR" sz="2400" b="1" dirty="0">
                <a:solidFill>
                  <a:srgbClr val="0070C0"/>
                </a:solidFill>
              </a:rPr>
              <a:t>Vague / inutilisable </a:t>
            </a:r>
            <a:r>
              <a:rPr lang="fr-FR" sz="2400" dirty="0"/>
              <a:t>- </a:t>
            </a:r>
            <a:r>
              <a:rPr lang="fr-FR" sz="2400" b="1" dirty="0">
                <a:solidFill>
                  <a:srgbClr val="00B050"/>
                </a:solidFill>
              </a:rPr>
              <a:t>Jugement subjectif</a:t>
            </a:r>
          </a:p>
          <a:p>
            <a:endParaRPr lang="fr-FR" dirty="0"/>
          </a:p>
          <a:p>
            <a:pPr>
              <a:lnSpc>
                <a:spcPct val="150000"/>
              </a:lnSpc>
            </a:pPr>
            <a:r>
              <a:rPr lang="fr-FR" sz="2000" dirty="0"/>
              <a:t>Cet appartement est </a:t>
            </a:r>
            <a:r>
              <a:rPr lang="fr-FR" sz="2000" dirty="0">
                <a:solidFill>
                  <a:srgbClr val="00B050"/>
                </a:solidFill>
              </a:rPr>
              <a:t>un bien immobilier de qualité</a:t>
            </a:r>
            <a:r>
              <a:rPr lang="fr-FR" sz="2000" dirty="0"/>
              <a:t>, situé dans un </a:t>
            </a:r>
            <a:r>
              <a:rPr lang="fr-FR" sz="2000" dirty="0">
                <a:solidFill>
                  <a:srgbClr val="FF0000"/>
                </a:solidFill>
              </a:rPr>
              <a:t>environnement agréable </a:t>
            </a:r>
            <a:r>
              <a:rPr lang="fr-FR" sz="2000" dirty="0"/>
              <a:t>et </a:t>
            </a:r>
            <a:r>
              <a:rPr lang="fr-FR" sz="2000" dirty="0">
                <a:solidFill>
                  <a:srgbClr val="FF0000"/>
                </a:solidFill>
              </a:rPr>
              <a:t>bien desservi par les transports en commun</a:t>
            </a:r>
            <a:r>
              <a:rPr lang="fr-FR" sz="2000" dirty="0"/>
              <a:t>. D'une </a:t>
            </a:r>
            <a:r>
              <a:rPr lang="fr-FR" sz="2000" dirty="0">
                <a:solidFill>
                  <a:srgbClr val="0070C0"/>
                </a:solidFill>
              </a:rPr>
              <a:t>superficie généreuse</a:t>
            </a:r>
            <a:r>
              <a:rPr lang="fr-FR" sz="2000" dirty="0"/>
              <a:t>, il offre </a:t>
            </a:r>
            <a:r>
              <a:rPr lang="fr-FR" sz="2000" dirty="0">
                <a:solidFill>
                  <a:srgbClr val="00B050"/>
                </a:solidFill>
              </a:rPr>
              <a:t>une distribution fonctionnelle </a:t>
            </a:r>
            <a:r>
              <a:rPr lang="fr-FR" sz="2000" dirty="0"/>
              <a:t>avec </a:t>
            </a:r>
            <a:r>
              <a:rPr lang="fr-FR" sz="2000" dirty="0">
                <a:solidFill>
                  <a:srgbClr val="FF0000"/>
                </a:solidFill>
              </a:rPr>
              <a:t>un séjour lumineux, une cuisine équipée</a:t>
            </a:r>
            <a:r>
              <a:rPr lang="fr-FR" sz="2000" dirty="0"/>
              <a:t>, </a:t>
            </a:r>
            <a:r>
              <a:rPr lang="fr-FR" sz="2000" dirty="0">
                <a:solidFill>
                  <a:srgbClr val="0070C0"/>
                </a:solidFill>
              </a:rPr>
              <a:t>plusieurs chambres confortables </a:t>
            </a:r>
            <a:r>
              <a:rPr lang="fr-FR" sz="2000" dirty="0"/>
              <a:t>et </a:t>
            </a:r>
            <a:r>
              <a:rPr lang="fr-FR" sz="2000" dirty="0">
                <a:solidFill>
                  <a:srgbClr val="FF0000"/>
                </a:solidFill>
              </a:rPr>
              <a:t>une salle de bains moderne</a:t>
            </a:r>
            <a:r>
              <a:rPr lang="fr-FR" sz="2000" dirty="0"/>
              <a:t>. Les prestations intérieures sont </a:t>
            </a:r>
            <a:r>
              <a:rPr lang="fr-FR" sz="2000" dirty="0">
                <a:solidFill>
                  <a:schemeClr val="accent6">
                    <a:lumMod val="75000"/>
                  </a:schemeClr>
                </a:solidFill>
              </a:rPr>
              <a:t>de bon standing</a:t>
            </a:r>
            <a:r>
              <a:rPr lang="fr-FR" sz="2000" dirty="0"/>
              <a:t>, </a:t>
            </a:r>
            <a:r>
              <a:rPr lang="fr-FR" sz="2000" dirty="0">
                <a:solidFill>
                  <a:schemeClr val="accent6">
                    <a:lumMod val="75000"/>
                  </a:schemeClr>
                </a:solidFill>
              </a:rPr>
              <a:t>avec des finitions soignées </a:t>
            </a:r>
            <a:r>
              <a:rPr lang="fr-FR" sz="2000" dirty="0"/>
              <a:t>et </a:t>
            </a:r>
            <a:r>
              <a:rPr lang="fr-FR" sz="2000" dirty="0">
                <a:solidFill>
                  <a:srgbClr val="FF0000"/>
                </a:solidFill>
              </a:rPr>
              <a:t>des matériaux de qualité</a:t>
            </a:r>
            <a:r>
              <a:rPr lang="fr-FR" sz="2000" dirty="0"/>
              <a:t>. L'appartement bénéficie </a:t>
            </a:r>
            <a:r>
              <a:rPr lang="fr-FR" sz="2000" dirty="0">
                <a:solidFill>
                  <a:srgbClr val="FF0000"/>
                </a:solidFill>
              </a:rPr>
              <a:t>d'une belle exposition </a:t>
            </a:r>
            <a:r>
              <a:rPr lang="fr-FR" sz="2000" dirty="0"/>
              <a:t>et </a:t>
            </a:r>
            <a:r>
              <a:rPr lang="fr-FR" sz="2000" dirty="0">
                <a:solidFill>
                  <a:srgbClr val="00B050"/>
                </a:solidFill>
              </a:rPr>
              <a:t>d'un ensoleillement optimal tout au long de la journée</a:t>
            </a:r>
            <a:r>
              <a:rPr lang="fr-FR" sz="2000" dirty="0"/>
              <a:t>. L'immeuble, </a:t>
            </a:r>
            <a:r>
              <a:rPr lang="fr-FR" sz="2000" dirty="0">
                <a:solidFill>
                  <a:srgbClr val="00B050"/>
                </a:solidFill>
              </a:rPr>
              <a:t>bien entretenu</a:t>
            </a:r>
            <a:r>
              <a:rPr lang="fr-FR" sz="2000" dirty="0"/>
              <a:t>, dispose de </a:t>
            </a:r>
            <a:r>
              <a:rPr lang="fr-FR" sz="2000" dirty="0">
                <a:solidFill>
                  <a:schemeClr val="accent6">
                    <a:lumMod val="75000"/>
                  </a:schemeClr>
                </a:solidFill>
              </a:rPr>
              <a:t>parties communes propres et accueillantes</a:t>
            </a:r>
            <a:r>
              <a:rPr lang="fr-FR" sz="2000" dirty="0"/>
              <a:t>. Ce bien présente </a:t>
            </a:r>
            <a:r>
              <a:rPr lang="fr-FR" sz="2000" dirty="0">
                <a:solidFill>
                  <a:schemeClr val="accent6">
                    <a:lumMod val="75000"/>
                  </a:schemeClr>
                </a:solidFill>
              </a:rPr>
              <a:t>toutes les caractéristiques d'un logement idéal pour une famille ou un couple </a:t>
            </a:r>
            <a:r>
              <a:rPr lang="fr-FR" sz="2000" dirty="0"/>
              <a:t>souhaitant s'installer dans un </a:t>
            </a:r>
            <a:r>
              <a:rPr lang="fr-FR" sz="2000" dirty="0">
                <a:solidFill>
                  <a:schemeClr val="accent6">
                    <a:lumMod val="75000"/>
                  </a:schemeClr>
                </a:solidFill>
              </a:rPr>
              <a:t>cadre de vie agréable</a:t>
            </a:r>
            <a:r>
              <a:rPr lang="fr-FR" sz="2000" dirty="0"/>
              <a:t>.</a:t>
            </a:r>
          </a:p>
          <a:p>
            <a:endParaRPr lang="fr-FR" dirty="0"/>
          </a:p>
        </p:txBody>
      </p:sp>
    </p:spTree>
    <p:extLst>
      <p:ext uri="{BB962C8B-B14F-4D97-AF65-F5344CB8AC3E}">
        <p14:creationId xmlns:p14="http://schemas.microsoft.com/office/powerpoint/2010/main" val="3300028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8CA1330-07B3-2DC0-E87E-F667578AC988}"/>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1C7A89C-FF75-FE25-667F-34C64781065F}"/>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E9267645-DE66-73E5-F404-746CA3ECBDDF}"/>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288F37AC-020E-C64E-73FA-C1A162A70B1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E315757-D2C5-9597-7985-99EB046EEAD6}"/>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5F9E2ABD-0098-6693-3299-A59B35A6608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A148AD39-5652-A997-7163-1CD7A9CAECD9}"/>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B38D3217-0E73-37DA-7792-37A4892F823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11" name="ZoneTexte 10">
            <a:extLst>
              <a:ext uri="{FF2B5EF4-FFF2-40B4-BE49-F238E27FC236}">
                <a16:creationId xmlns:a16="http://schemas.microsoft.com/office/drawing/2014/main" id="{C160C80D-5E0E-F8A5-D12F-0FCF834D4662}"/>
              </a:ext>
            </a:extLst>
          </p:cNvPr>
          <p:cNvSpPr txBox="1"/>
          <p:nvPr/>
        </p:nvSpPr>
        <p:spPr>
          <a:xfrm>
            <a:off x="940156" y="2203117"/>
            <a:ext cx="10311688" cy="4401205"/>
          </a:xfrm>
          <a:prstGeom prst="rect">
            <a:avLst/>
          </a:prstGeom>
          <a:noFill/>
        </p:spPr>
        <p:txBody>
          <a:bodyPr wrap="square" rtlCol="0">
            <a:spAutoFit/>
          </a:bodyPr>
          <a:lstStyle/>
          <a:p>
            <a:r>
              <a:rPr lang="fr-FR" sz="2800" dirty="0">
                <a:latin typeface="Courier New" panose="02070309020205020404" pitchFamily="49" charset="0"/>
                <a:cs typeface="Courier New" panose="02070309020205020404" pitchFamily="49" charset="0"/>
              </a:rPr>
              <a:t>Le prompt (2) avec contexte :</a:t>
            </a:r>
          </a:p>
          <a:p>
            <a:endParaRPr lang="fr-FR" sz="2800" dirty="0">
              <a:latin typeface="Courier New" panose="02070309020205020404" pitchFamily="49" charset="0"/>
              <a:cs typeface="Courier New" panose="02070309020205020404" pitchFamily="49" charset="0"/>
            </a:endParaRPr>
          </a:p>
          <a:p>
            <a:r>
              <a:rPr lang="fr-FR" sz="2800" b="1" dirty="0">
                <a:latin typeface="Courier New" panose="02070309020205020404" pitchFamily="49" charset="0"/>
                <a:cs typeface="Courier New" panose="02070309020205020404" pitchFamily="49" charset="0"/>
              </a:rPr>
              <a:t>Rédige</a:t>
            </a:r>
            <a:r>
              <a:rPr lang="fr-FR" sz="2800" dirty="0">
                <a:latin typeface="Courier New" panose="02070309020205020404" pitchFamily="49" charset="0"/>
                <a:cs typeface="Courier New" panose="02070309020205020404" pitchFamily="49" charset="0"/>
              </a:rPr>
              <a:t> la description d'un T3 de 68 m² au 3e étage sans ascenseur, Paris 11e, immeuble 1932. </a:t>
            </a:r>
          </a:p>
          <a:p>
            <a:r>
              <a:rPr lang="fr-FR" sz="2800" b="1" dirty="0">
                <a:latin typeface="Courier New" panose="02070309020205020404" pitchFamily="49" charset="0"/>
                <a:cs typeface="Courier New" panose="02070309020205020404" pitchFamily="49" charset="0"/>
              </a:rPr>
              <a:t>Ton </a:t>
            </a:r>
            <a:r>
              <a:rPr lang="fr-FR" sz="2800" dirty="0">
                <a:latin typeface="Courier New" panose="02070309020205020404" pitchFamily="49" charset="0"/>
                <a:cs typeface="Courier New" panose="02070309020205020404" pitchFamily="49" charset="0"/>
              </a:rPr>
              <a:t>sobre et professionnel. </a:t>
            </a:r>
          </a:p>
          <a:p>
            <a:r>
              <a:rPr lang="fr-FR" sz="2800" b="1" dirty="0">
                <a:latin typeface="Courier New" panose="02070309020205020404" pitchFamily="49" charset="0"/>
                <a:cs typeface="Courier New" panose="02070309020205020404" pitchFamily="49" charset="0"/>
              </a:rPr>
              <a:t>150</a:t>
            </a:r>
            <a:r>
              <a:rPr lang="fr-FR" sz="2800" dirty="0">
                <a:latin typeface="Courier New" panose="02070309020205020404" pitchFamily="49" charset="0"/>
                <a:cs typeface="Courier New" panose="02070309020205020404" pitchFamily="49" charset="0"/>
              </a:rPr>
              <a:t> mots environ. </a:t>
            </a:r>
          </a:p>
          <a:p>
            <a:endParaRPr lang="fr-FR" sz="2800" b="1" dirty="0">
              <a:latin typeface="Courier New" panose="02070309020205020404" pitchFamily="49" charset="0"/>
              <a:cs typeface="Courier New" panose="02070309020205020404" pitchFamily="49" charset="0"/>
            </a:endParaRPr>
          </a:p>
          <a:p>
            <a:r>
              <a:rPr lang="fr-FR" sz="2800" b="1" dirty="0">
                <a:latin typeface="Courier New" panose="02070309020205020404" pitchFamily="49" charset="0"/>
                <a:cs typeface="Courier New" panose="02070309020205020404" pitchFamily="49" charset="0"/>
              </a:rPr>
              <a:t>Notes : </a:t>
            </a:r>
            <a:r>
              <a:rPr lang="fr-FR" sz="2800" dirty="0">
                <a:latin typeface="Courier New" panose="02070309020205020404" pitchFamily="49" charset="0"/>
                <a:cs typeface="Courier New" panose="02070309020205020404" pitchFamily="49" charset="0"/>
              </a:rPr>
              <a:t>séjour 22 m², 2 chambres 11 et 9 m², cuisine séparée, salle de bains vétuste, double vitrage partiel, parquet ancien en bon état.</a:t>
            </a:r>
          </a:p>
        </p:txBody>
      </p:sp>
      <p:sp>
        <p:nvSpPr>
          <p:cNvPr id="28" name="TextBox 7">
            <a:extLst>
              <a:ext uri="{FF2B5EF4-FFF2-40B4-BE49-F238E27FC236}">
                <a16:creationId xmlns:a16="http://schemas.microsoft.com/office/drawing/2014/main" id="{A7687DB0-7C83-3D15-E0C3-0EAA5FCD7C3E}"/>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Tree>
    <p:extLst>
      <p:ext uri="{BB962C8B-B14F-4D97-AF65-F5344CB8AC3E}">
        <p14:creationId xmlns:p14="http://schemas.microsoft.com/office/powerpoint/2010/main" val="30987714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2DBF5C7-9849-4588-3764-4C00FD2A1DA3}"/>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05AE660A-76B3-1B27-BF8C-FE51537C7B3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5C9337E2-0219-BDDD-C35D-310CCBED621F}"/>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423E4F58-7259-217A-3B0A-559106286CF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55FA635-5A2A-5ADC-B056-EBA227B4E6C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F7B240D5-EC77-A5AE-0B46-A460C5DD13A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C7154E29-36B4-7E34-3B26-91EB57D3C408}"/>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9905734F-ECD8-D092-E9E7-06D3967D711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D1E829FA-321F-6A15-78BE-A480239D2ACF}"/>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8" name="ZoneTexte 7">
            <a:extLst>
              <a:ext uri="{FF2B5EF4-FFF2-40B4-BE49-F238E27FC236}">
                <a16:creationId xmlns:a16="http://schemas.microsoft.com/office/drawing/2014/main" id="{A721F816-286B-FC21-7598-D5833DB2DFC6}"/>
              </a:ext>
            </a:extLst>
          </p:cNvPr>
          <p:cNvSpPr txBox="1"/>
          <p:nvPr/>
        </p:nvSpPr>
        <p:spPr>
          <a:xfrm>
            <a:off x="542562" y="2210216"/>
            <a:ext cx="11097749" cy="4291944"/>
          </a:xfrm>
          <a:prstGeom prst="rect">
            <a:avLst/>
          </a:prstGeom>
          <a:noFill/>
        </p:spPr>
        <p:txBody>
          <a:bodyPr wrap="square" rtlCol="0">
            <a:spAutoFit/>
          </a:bodyPr>
          <a:lstStyle/>
          <a:p>
            <a:r>
              <a:rPr lang="fr-FR" b="1" i="1" dirty="0"/>
              <a:t>Réponse simulée de l'IA : (148 mots)</a:t>
            </a:r>
          </a:p>
          <a:p>
            <a:endParaRPr lang="fr-FR" dirty="0"/>
          </a:p>
          <a:p>
            <a:pPr>
              <a:lnSpc>
                <a:spcPct val="150000"/>
              </a:lnSpc>
            </a:pPr>
            <a:r>
              <a:rPr lang="fr-FR" sz="2000" dirty="0"/>
              <a:t>L'appartement est situé au troisième étage sans ascenseur d'un immeuble de rapport construit en 1932, dans le 11e arrondissement de Paris. Il développe une superficie de 68 m² et propose une distribution en trois pièces principales. Le séjour, d'une surface de 22 m², constitue la pièce de vie principale. Il est complété par deux chambres de 11 m² et 9 m² respectivement, ainsi qu'une cuisine séparée. Le sol est revêtu de parquet ancien, en bon état général. La salle de bains présente un état vétuste nécessitant une remise en état complète. Le double vitrage est partiel, certaines menuiseries restant en simple vitrage d'origine. L'appartement ne bénéficie pas d'ascenseur, ce qui constitue un facteur défavorable à prendre en compte dans l'appréciation de sa valeur.</a:t>
            </a:r>
          </a:p>
        </p:txBody>
      </p:sp>
    </p:spTree>
    <p:extLst>
      <p:ext uri="{BB962C8B-B14F-4D97-AF65-F5344CB8AC3E}">
        <p14:creationId xmlns:p14="http://schemas.microsoft.com/office/powerpoint/2010/main" val="3839940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091CB3-D029-1B4F-31BA-C46362D2EBF4}"/>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FC73F598-90B3-7962-A398-163E262B979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37A497EC-27B5-71AF-7E03-E999413D314C}"/>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62F4AB49-CC14-EAA7-7C31-91FACE7109B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CF39A9-2466-C92B-B86B-9CDDE3BABDD6}"/>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4B87BE6C-EF05-D42A-EC39-D2DDBBDD1868}"/>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A38BD50-2743-2366-19B2-E5BAE9C957D7}"/>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5127EA53-470D-DCE6-9C87-EB4CEAAA3706}"/>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69D33021-8B56-EB87-0F06-7FD24F6DC95B}"/>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8" name="ZoneTexte 7">
            <a:extLst>
              <a:ext uri="{FF2B5EF4-FFF2-40B4-BE49-F238E27FC236}">
                <a16:creationId xmlns:a16="http://schemas.microsoft.com/office/drawing/2014/main" id="{FEA1F5B8-E821-A76D-CDE5-762CFA1D043B}"/>
              </a:ext>
            </a:extLst>
          </p:cNvPr>
          <p:cNvSpPr txBox="1"/>
          <p:nvPr/>
        </p:nvSpPr>
        <p:spPr>
          <a:xfrm>
            <a:off x="400942" y="1855465"/>
            <a:ext cx="4916406" cy="506292"/>
          </a:xfrm>
          <a:prstGeom prst="rect">
            <a:avLst/>
          </a:prstGeom>
          <a:noFill/>
        </p:spPr>
        <p:txBody>
          <a:bodyPr wrap="square" rtlCol="0">
            <a:spAutoFit/>
          </a:bodyPr>
          <a:lstStyle/>
          <a:p>
            <a:pPr>
              <a:lnSpc>
                <a:spcPct val="150000"/>
              </a:lnSpc>
            </a:pPr>
            <a:r>
              <a:rPr lang="fr-FR" sz="2000" b="1" dirty="0">
                <a:solidFill>
                  <a:srgbClr val="00B050"/>
                </a:solidFill>
              </a:rPr>
              <a:t>Ce que ce prompt fait bien</a:t>
            </a:r>
            <a:endParaRPr lang="fr-FR" sz="2000" dirty="0"/>
          </a:p>
        </p:txBody>
      </p:sp>
      <p:sp>
        <p:nvSpPr>
          <p:cNvPr id="14" name="ZoneTexte 13">
            <a:extLst>
              <a:ext uri="{FF2B5EF4-FFF2-40B4-BE49-F238E27FC236}">
                <a16:creationId xmlns:a16="http://schemas.microsoft.com/office/drawing/2014/main" id="{D7C72FFD-755B-2366-AA8A-405F622AAF8C}"/>
              </a:ext>
            </a:extLst>
          </p:cNvPr>
          <p:cNvSpPr txBox="1"/>
          <p:nvPr/>
        </p:nvSpPr>
        <p:spPr>
          <a:xfrm>
            <a:off x="400942" y="2657560"/>
            <a:ext cx="11613266" cy="3785652"/>
          </a:xfrm>
          <a:prstGeom prst="rect">
            <a:avLst/>
          </a:prstGeom>
          <a:noFill/>
        </p:spPr>
        <p:txBody>
          <a:bodyPr wrap="square" rtlCol="0">
            <a:spAutoFit/>
          </a:bodyPr>
          <a:lstStyle/>
          <a:p>
            <a:r>
              <a:rPr lang="fr-FR" sz="2400" b="1" i="1" dirty="0">
                <a:latin typeface="Figtree"/>
              </a:rPr>
              <a:t>Réponse simulée de l'IA : (148 mots)</a:t>
            </a:r>
            <a:endParaRPr lang="fr-FR" sz="2400" dirty="0">
              <a:latin typeface="Figtree"/>
            </a:endParaRPr>
          </a:p>
          <a:p>
            <a:r>
              <a:rPr lang="fr-FR" sz="2400" dirty="0">
                <a:latin typeface="Figtree"/>
              </a:rPr>
              <a:t>L'appartement est situé au troisième étage </a:t>
            </a:r>
            <a:r>
              <a:rPr lang="fr-FR" sz="2400" b="1" dirty="0">
                <a:solidFill>
                  <a:srgbClr val="00B050"/>
                </a:solidFill>
                <a:latin typeface="Figtree"/>
              </a:rPr>
              <a:t>sans ascenseur </a:t>
            </a:r>
            <a:r>
              <a:rPr lang="fr-FR" sz="2400" dirty="0">
                <a:latin typeface="Figtree"/>
              </a:rPr>
              <a:t>d'un immeuble de rapport construit en </a:t>
            </a:r>
            <a:r>
              <a:rPr lang="fr-FR" sz="2400" b="1" dirty="0">
                <a:solidFill>
                  <a:srgbClr val="00B050"/>
                </a:solidFill>
                <a:latin typeface="Figtree"/>
              </a:rPr>
              <a:t>1932</a:t>
            </a:r>
            <a:r>
              <a:rPr lang="fr-FR" sz="2400" dirty="0">
                <a:latin typeface="Figtree"/>
              </a:rPr>
              <a:t>, dans le 11e arrondissement de Paris. Il développe une superficie de </a:t>
            </a:r>
            <a:r>
              <a:rPr lang="fr-FR" sz="2400" b="1" dirty="0">
                <a:solidFill>
                  <a:srgbClr val="00B050"/>
                </a:solidFill>
                <a:latin typeface="Figtree"/>
              </a:rPr>
              <a:t>68 m²</a:t>
            </a:r>
            <a:r>
              <a:rPr lang="fr-FR" sz="2400" dirty="0">
                <a:latin typeface="Figtree"/>
              </a:rPr>
              <a:t> et propose une distribution en trois pièces principales. Le séjour, d'une surface de </a:t>
            </a:r>
            <a:r>
              <a:rPr lang="fr-FR" sz="2400" b="1" dirty="0">
                <a:solidFill>
                  <a:srgbClr val="00B050"/>
                </a:solidFill>
                <a:latin typeface="Figtree"/>
              </a:rPr>
              <a:t>22 m²</a:t>
            </a:r>
            <a:r>
              <a:rPr lang="fr-FR" sz="2400" dirty="0">
                <a:latin typeface="Figtree"/>
              </a:rPr>
              <a:t>, constitue la pièce de vie principale. Il est complété par deux chambres de </a:t>
            </a:r>
            <a:r>
              <a:rPr lang="fr-FR" sz="2400" b="1" dirty="0">
                <a:solidFill>
                  <a:srgbClr val="00B050"/>
                </a:solidFill>
                <a:latin typeface="Figtree"/>
              </a:rPr>
              <a:t>11 m² et 9 m² </a:t>
            </a:r>
            <a:r>
              <a:rPr lang="fr-FR" sz="2400" dirty="0">
                <a:latin typeface="Figtree"/>
              </a:rPr>
              <a:t>respectivement, ainsi qu'une cuisine séparée. Le sol est revêtu de parquet ancien, en bon état général. La </a:t>
            </a:r>
            <a:r>
              <a:rPr lang="fr-FR" sz="2400" b="1" dirty="0">
                <a:solidFill>
                  <a:srgbClr val="00B050"/>
                </a:solidFill>
                <a:latin typeface="Figtree"/>
              </a:rPr>
              <a:t>salle de bains présente un état vétuste </a:t>
            </a:r>
            <a:r>
              <a:rPr lang="fr-FR" sz="2400" dirty="0">
                <a:latin typeface="Figtree"/>
              </a:rPr>
              <a:t>nécessitant une remise en état complète. Le double vitrage est partiel, certaines menuiseries restant en simple vitrage d'origine. L'appartement ne bénéficie pas d'ascenseur, ce qui constitue un facteur défavorable à prendre en compte dans l'appréciation de sa valeur.</a:t>
            </a:r>
          </a:p>
        </p:txBody>
      </p:sp>
    </p:spTree>
    <p:extLst>
      <p:ext uri="{BB962C8B-B14F-4D97-AF65-F5344CB8AC3E}">
        <p14:creationId xmlns:p14="http://schemas.microsoft.com/office/powerpoint/2010/main" val="3313888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8416607-2500-F200-2337-CE8B3DE5C45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A92B101-97A5-897E-8456-6E46CEA86EBE}"/>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F178C0FE-60F5-45FD-C66A-2E4C2A64E7A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C6409C7-6C76-B19B-AE12-4B6BAD30A4A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A8387D61-126A-3371-5201-49B8E69FEBF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36482D5-0383-8E0B-9283-B1005AE35857}"/>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B45DAE84-9960-047B-E213-695AB315B116}"/>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E3F5A70B-0A87-F589-CA0E-7BD138D4AD28}"/>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16" name="Freeform: Shape 3">
            <a:extLst>
              <a:ext uri="{FF2B5EF4-FFF2-40B4-BE49-F238E27FC236}">
                <a16:creationId xmlns:a16="http://schemas.microsoft.com/office/drawing/2014/main" id="{82DB72C9-57D8-9088-F6FF-2871B28CA6C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ZoneTexte 17">
            <a:extLst>
              <a:ext uri="{FF2B5EF4-FFF2-40B4-BE49-F238E27FC236}">
                <a16:creationId xmlns:a16="http://schemas.microsoft.com/office/drawing/2014/main" id="{E28C0487-5098-F123-3DBD-6DC1AA84C502}"/>
              </a:ext>
            </a:extLst>
          </p:cNvPr>
          <p:cNvSpPr txBox="1"/>
          <p:nvPr/>
        </p:nvSpPr>
        <p:spPr>
          <a:xfrm>
            <a:off x="400942" y="1880433"/>
            <a:ext cx="4916406" cy="506292"/>
          </a:xfrm>
          <a:prstGeom prst="rect">
            <a:avLst/>
          </a:prstGeom>
          <a:noFill/>
        </p:spPr>
        <p:txBody>
          <a:bodyPr wrap="square" rtlCol="0">
            <a:spAutoFit/>
          </a:bodyPr>
          <a:lstStyle/>
          <a:p>
            <a:pPr>
              <a:lnSpc>
                <a:spcPct val="150000"/>
              </a:lnSpc>
            </a:pPr>
            <a:r>
              <a:rPr lang="fr-FR" sz="2000" b="1" dirty="0">
                <a:solidFill>
                  <a:srgbClr val="FF0000"/>
                </a:solidFill>
              </a:rPr>
              <a:t>Ce qui manque encore</a:t>
            </a:r>
          </a:p>
        </p:txBody>
      </p:sp>
      <p:sp>
        <p:nvSpPr>
          <p:cNvPr id="20" name="ZoneTexte 19">
            <a:extLst>
              <a:ext uri="{FF2B5EF4-FFF2-40B4-BE49-F238E27FC236}">
                <a16:creationId xmlns:a16="http://schemas.microsoft.com/office/drawing/2014/main" id="{5E4421E3-0E92-7E87-E641-440D41B850B5}"/>
              </a:ext>
            </a:extLst>
          </p:cNvPr>
          <p:cNvSpPr txBox="1"/>
          <p:nvPr/>
        </p:nvSpPr>
        <p:spPr>
          <a:xfrm>
            <a:off x="400942" y="2682528"/>
            <a:ext cx="10934684" cy="3785652"/>
          </a:xfrm>
          <a:prstGeom prst="rect">
            <a:avLst/>
          </a:prstGeom>
          <a:noFill/>
        </p:spPr>
        <p:txBody>
          <a:bodyPr wrap="square" rtlCol="0">
            <a:spAutoFit/>
          </a:bodyPr>
          <a:lstStyle/>
          <a:p>
            <a:r>
              <a:rPr lang="fr-FR" sz="2400" b="1" i="1" dirty="0">
                <a:latin typeface="Figtree"/>
              </a:rPr>
              <a:t>Réponse simulée de l'IA : (148 mots)</a:t>
            </a:r>
          </a:p>
          <a:p>
            <a:r>
              <a:rPr lang="fr-FR" sz="2400" dirty="0">
                <a:latin typeface="Figtree"/>
              </a:rPr>
              <a:t>L'appartement est situé au troisième étage sans ascenseur d'un immeuble de rapport construit en 1932, dans le 11e arrondissement de Paris. Il développe une superficie de 68 m² et propose une distribution en trois pièces principales. Le séjour, d'une surface de 22 m², constitue la pièce de vie principale. Il est complété par deux chambres de 11 m² et 9 m² respectivement, ainsi qu'une cuisine séparée. Le sol est revêtu de parquet ancien, en bon état général. La salle de bains présente un état vétuste nécessitant une remise en état complète. </a:t>
            </a:r>
            <a:r>
              <a:rPr lang="fr-FR" sz="2400" b="1" dirty="0">
                <a:solidFill>
                  <a:srgbClr val="FF0000"/>
                </a:solidFill>
                <a:latin typeface="Figtree"/>
              </a:rPr>
              <a:t>Le double vitrage est partiel</a:t>
            </a:r>
            <a:r>
              <a:rPr lang="fr-FR" sz="2400" dirty="0">
                <a:latin typeface="Figtree"/>
              </a:rPr>
              <a:t>, certaines menuiseries restant en simple vitrage d'origine. L'appartement ne bénéficie pas d'ascenseur, ce qui constitue un facteur défavorable à prendre en compte dans l'appréciation de sa valeur.</a:t>
            </a:r>
          </a:p>
        </p:txBody>
      </p:sp>
    </p:spTree>
    <p:extLst>
      <p:ext uri="{BB962C8B-B14F-4D97-AF65-F5344CB8AC3E}">
        <p14:creationId xmlns:p14="http://schemas.microsoft.com/office/powerpoint/2010/main" val="623945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31265E-9810-414D-AAC1-973C567D4B19}"/>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BAA923E5-EA0D-ECE2-DC3B-93C962E0915E}"/>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ACF1803C-38E7-66E7-823D-9968DAF30813}"/>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F9FDD500-FF48-D400-2407-E29B9F97482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4A4A67-F248-5F6E-3A85-411B10921B3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7C5902A6-DA28-D460-DCCA-745EEA0CB7C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9417032-AEC5-2E18-5F16-74A188E3BEF1}"/>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C8B431F7-D96D-97D9-CEFD-DA4DAE374E04}"/>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11" name="ZoneTexte 10">
            <a:extLst>
              <a:ext uri="{FF2B5EF4-FFF2-40B4-BE49-F238E27FC236}">
                <a16:creationId xmlns:a16="http://schemas.microsoft.com/office/drawing/2014/main" id="{72AB068E-1796-CC4F-A2B6-8E02D49B5FC2}"/>
              </a:ext>
            </a:extLst>
          </p:cNvPr>
          <p:cNvSpPr txBox="1"/>
          <p:nvPr/>
        </p:nvSpPr>
        <p:spPr>
          <a:xfrm>
            <a:off x="1118106" y="2215467"/>
            <a:ext cx="10311688" cy="4401205"/>
          </a:xfrm>
          <a:prstGeom prst="rect">
            <a:avLst/>
          </a:prstGeom>
          <a:noFill/>
        </p:spPr>
        <p:txBody>
          <a:bodyPr wrap="square" rtlCol="0">
            <a:spAutoFit/>
          </a:bodyPr>
          <a:lstStyle/>
          <a:p>
            <a:r>
              <a:rPr lang="fr-FR" sz="2000" dirty="0">
                <a:latin typeface="Courier New" panose="02070309020205020404" pitchFamily="49" charset="0"/>
                <a:cs typeface="Courier New" panose="02070309020205020404" pitchFamily="49" charset="0"/>
              </a:rPr>
              <a:t>Le prompt (3) directement intégrable dans un rapport:</a:t>
            </a:r>
          </a:p>
          <a:p>
            <a:endParaRPr lang="fr-FR" sz="2000" dirty="0">
              <a:latin typeface="Courier New" panose="02070309020205020404" pitchFamily="49" charset="0"/>
              <a:cs typeface="Courier New" panose="02070309020205020404" pitchFamily="49" charset="0"/>
            </a:endParaRPr>
          </a:p>
          <a:p>
            <a:r>
              <a:rPr lang="fr-FR" sz="2000" dirty="0">
                <a:latin typeface="Courier New" panose="02070309020205020404" pitchFamily="49" charset="0"/>
                <a:cs typeface="Courier New" panose="02070309020205020404" pitchFamily="49" charset="0"/>
              </a:rPr>
              <a:t>Tu es expert immobilier / ou / agréé cour d'appel. </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Rédige</a:t>
            </a:r>
            <a:r>
              <a:rPr lang="fr-FR" sz="2000" dirty="0">
                <a:latin typeface="Courier New" panose="02070309020205020404" pitchFamily="49" charset="0"/>
                <a:cs typeface="Courier New" panose="02070309020205020404" pitchFamily="49" charset="0"/>
              </a:rPr>
              <a:t> la section « Description du bien » d'un rapport d'expertise judiciaire pour un T3 de 68 m², 3e étage sans ascenseur, Paris 11e, immeuble haussmannien de 1932. </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Prose</a:t>
            </a:r>
            <a:r>
              <a:rPr lang="fr-FR" sz="2000" dirty="0">
                <a:latin typeface="Courier New" panose="02070309020205020404" pitchFamily="49" charset="0"/>
                <a:cs typeface="Courier New" panose="02070309020205020404" pitchFamily="49" charset="0"/>
              </a:rPr>
              <a:t> sobre et à la première personne, </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150–180 mots</a:t>
            </a:r>
            <a:r>
              <a:rPr lang="fr-FR" sz="2000" dirty="0">
                <a:latin typeface="Courier New" panose="02070309020205020404" pitchFamily="49" charset="0"/>
                <a:cs typeface="Courier New" panose="02070309020205020404" pitchFamily="49" charset="0"/>
              </a:rPr>
              <a:t>, sans liste ni superlatif. </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Deux parties </a:t>
            </a:r>
            <a:r>
              <a:rPr lang="fr-FR" sz="2000" dirty="0">
                <a:latin typeface="Courier New" panose="02070309020205020404" pitchFamily="49" charset="0"/>
                <a:cs typeface="Courier New" panose="02070309020205020404" pitchFamily="49" charset="0"/>
              </a:rPr>
              <a:t>: situation générale, puis état intérieur.</a:t>
            </a:r>
          </a:p>
          <a:p>
            <a:r>
              <a:rPr lang="fr-FR" sz="2000" i="1" dirty="0">
                <a:latin typeface="Courier New" panose="02070309020205020404" pitchFamily="49" charset="0"/>
                <a:cs typeface="Courier New" panose="02070309020205020404" pitchFamily="49" charset="0"/>
              </a:rPr>
              <a:t>Intégrer les notes de visite : [copier coller vos notes brutes,]</a:t>
            </a:r>
            <a:endParaRPr lang="fr-FR" sz="4000" i="1" dirty="0">
              <a:latin typeface="Courier New" panose="02070309020205020404" pitchFamily="49" charset="0"/>
              <a:cs typeface="Courier New" panose="02070309020205020404" pitchFamily="49" charset="0"/>
            </a:endParaRPr>
          </a:p>
        </p:txBody>
      </p:sp>
      <p:sp>
        <p:nvSpPr>
          <p:cNvPr id="28" name="TextBox 7">
            <a:extLst>
              <a:ext uri="{FF2B5EF4-FFF2-40B4-BE49-F238E27FC236}">
                <a16:creationId xmlns:a16="http://schemas.microsoft.com/office/drawing/2014/main" id="{2F63D6D7-F99F-3272-9824-A642A03FB9EC}"/>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Tree>
    <p:extLst>
      <p:ext uri="{BB962C8B-B14F-4D97-AF65-F5344CB8AC3E}">
        <p14:creationId xmlns:p14="http://schemas.microsoft.com/office/powerpoint/2010/main" val="673432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A4F6563-04EC-51A9-5CF5-F5CAD13731BB}"/>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7833B3D-2020-97C9-10A5-D1551E42362E}"/>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74C3E943-CA19-2328-8C07-6B512E7A1D10}"/>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F79F5D2-58A1-3941-8826-45B5397A8D3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C05A95D-0990-6C3F-A346-DE8F2141FE8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4E0F3E3E-FC90-2A86-4262-6F609BCF467F}"/>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96EFAD2-2CF4-FC9D-24AB-529642298426}"/>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E7BBABBA-F621-283E-A443-B3419BCF634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B52A8BF5-1C6D-3E88-4433-67F9983C590E}"/>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4" name="ZoneTexte 3">
            <a:extLst>
              <a:ext uri="{FF2B5EF4-FFF2-40B4-BE49-F238E27FC236}">
                <a16:creationId xmlns:a16="http://schemas.microsoft.com/office/drawing/2014/main" id="{31C86635-A82E-DD4E-945A-44E97E2F7360}"/>
              </a:ext>
            </a:extLst>
          </p:cNvPr>
          <p:cNvSpPr txBox="1"/>
          <p:nvPr/>
        </p:nvSpPr>
        <p:spPr>
          <a:xfrm>
            <a:off x="346364" y="2358645"/>
            <a:ext cx="4890697" cy="4154984"/>
          </a:xfrm>
          <a:prstGeom prst="rect">
            <a:avLst/>
          </a:prstGeom>
          <a:noFill/>
        </p:spPr>
        <p:txBody>
          <a:bodyPr wrap="square" rtlCol="0">
            <a:spAutoFit/>
          </a:bodyPr>
          <a:lstStyle/>
          <a:p>
            <a:r>
              <a:rPr lang="fr-FR" sz="2400" b="1" dirty="0">
                <a:latin typeface="Figtree"/>
              </a:rPr>
              <a:t>Visite du 16 octobre 2026 — 10h30 à 11h45</a:t>
            </a:r>
          </a:p>
          <a:p>
            <a:endParaRPr lang="fr-FR" dirty="0">
              <a:latin typeface="Figtree"/>
            </a:endParaRPr>
          </a:p>
          <a:p>
            <a:r>
              <a:rPr lang="fr-FR" b="1" dirty="0">
                <a:latin typeface="Figtree"/>
              </a:rPr>
              <a:t>IMMEUBLE</a:t>
            </a:r>
            <a:r>
              <a:rPr lang="fr-FR" dirty="0">
                <a:latin typeface="Figtree"/>
              </a:rPr>
              <a:t> : pierre de taille, immeuble de rapport, 6 étages + combles, bon entretien général des parties communes, hall </a:t>
            </a:r>
          </a:p>
          <a:p>
            <a:r>
              <a:rPr lang="fr-FR" dirty="0">
                <a:latin typeface="Figtree"/>
              </a:rPr>
              <a:t>carrelé d'époque, garde-corps ferronnerie d'origine, pas d'ascenseur, cave en sous-sol</a:t>
            </a:r>
          </a:p>
          <a:p>
            <a:endParaRPr lang="fr-FR" dirty="0">
              <a:latin typeface="Figtree"/>
            </a:endParaRPr>
          </a:p>
          <a:p>
            <a:r>
              <a:rPr lang="fr-FR" b="1" dirty="0">
                <a:latin typeface="Figtree"/>
              </a:rPr>
              <a:t>SITUATION</a:t>
            </a:r>
            <a:r>
              <a:rPr lang="fr-FR" dirty="0">
                <a:latin typeface="Figtree"/>
              </a:rPr>
              <a:t> : rue Keller, Paris 11e — rue résidentielle, calme, accès Bastille et Ledru-Rollin à 8 min à pied</a:t>
            </a:r>
          </a:p>
          <a:p>
            <a:endParaRPr lang="fr-FR" dirty="0">
              <a:latin typeface="Figtree"/>
            </a:endParaRPr>
          </a:p>
          <a:p>
            <a:endParaRPr lang="fr-FR" dirty="0">
              <a:latin typeface="Figtree"/>
            </a:endParaRPr>
          </a:p>
        </p:txBody>
      </p:sp>
      <p:sp>
        <p:nvSpPr>
          <p:cNvPr id="6" name="ZoneTexte 5">
            <a:extLst>
              <a:ext uri="{FF2B5EF4-FFF2-40B4-BE49-F238E27FC236}">
                <a16:creationId xmlns:a16="http://schemas.microsoft.com/office/drawing/2014/main" id="{FF212257-6D4D-700A-3527-A2F42B18F384}"/>
              </a:ext>
            </a:extLst>
          </p:cNvPr>
          <p:cNvSpPr txBox="1"/>
          <p:nvPr/>
        </p:nvSpPr>
        <p:spPr>
          <a:xfrm>
            <a:off x="5764346" y="2093119"/>
            <a:ext cx="6374781" cy="4524315"/>
          </a:xfrm>
          <a:prstGeom prst="rect">
            <a:avLst/>
          </a:prstGeom>
          <a:noFill/>
        </p:spPr>
        <p:txBody>
          <a:bodyPr wrap="square" rtlCol="0">
            <a:spAutoFit/>
          </a:bodyPr>
          <a:lstStyle/>
          <a:p>
            <a:r>
              <a:rPr lang="fr-FR" b="1" dirty="0">
                <a:latin typeface="Figtree"/>
              </a:rPr>
              <a:t>APPARTEMENT</a:t>
            </a:r>
            <a:r>
              <a:rPr lang="fr-FR" dirty="0">
                <a:latin typeface="Figtree"/>
              </a:rPr>
              <a:t> — 3e étage sur rue :</a:t>
            </a:r>
          </a:p>
          <a:p>
            <a:r>
              <a:rPr lang="fr-FR" dirty="0">
                <a:latin typeface="Figtree"/>
              </a:rPr>
              <a:t>- Entrée : 4 m², parquet chêne ancien, bon état</a:t>
            </a:r>
          </a:p>
          <a:p>
            <a:r>
              <a:rPr lang="fr-FR" dirty="0">
                <a:latin typeface="Figtree"/>
              </a:rPr>
              <a:t>- Séjour : 22 m², parquet chêne identique, moulures au plafond </a:t>
            </a:r>
          </a:p>
          <a:p>
            <a:r>
              <a:rPr lang="fr-FR" dirty="0">
                <a:latin typeface="Figtree"/>
              </a:rPr>
              <a:t>  conservées, 2 fenêtres sur rue, double vitrage récent</a:t>
            </a:r>
          </a:p>
          <a:p>
            <a:r>
              <a:rPr lang="fr-FR" dirty="0">
                <a:latin typeface="Figtree"/>
              </a:rPr>
              <a:t>- Chambre 1 : 11 m², parquet, fenêtre sur rue, double vitrage</a:t>
            </a:r>
          </a:p>
          <a:p>
            <a:r>
              <a:rPr lang="fr-FR" dirty="0">
                <a:latin typeface="Figtree"/>
              </a:rPr>
              <a:t>- Chambre 2 : 9 m², parquet, fenêtre sur cour intérieure, </a:t>
            </a:r>
          </a:p>
          <a:p>
            <a:r>
              <a:rPr lang="fr-FR" dirty="0">
                <a:latin typeface="Figtree"/>
              </a:rPr>
              <a:t>  simple vitrage d'origine — à remplacer</a:t>
            </a:r>
          </a:p>
          <a:p>
            <a:r>
              <a:rPr lang="fr-FR" dirty="0">
                <a:latin typeface="Figtree"/>
              </a:rPr>
              <a:t>- Cuisine séparée : 5 m², carrelage sol années 70, équipements </a:t>
            </a:r>
          </a:p>
          <a:p>
            <a:r>
              <a:rPr lang="fr-FR" dirty="0">
                <a:latin typeface="Figtree"/>
              </a:rPr>
              <a:t>  vétustes (cuisinière indépendante, pas de hotte), fenêtre sur </a:t>
            </a:r>
          </a:p>
          <a:p>
            <a:r>
              <a:rPr lang="fr-FR" dirty="0">
                <a:latin typeface="Figtree"/>
              </a:rPr>
              <a:t>  cour, simple vitrage</a:t>
            </a:r>
          </a:p>
          <a:p>
            <a:r>
              <a:rPr lang="fr-FR" dirty="0">
                <a:latin typeface="Figtree"/>
              </a:rPr>
              <a:t>- Salle de bains : 4 m², baignoire fonte ancienne, robinetterie </a:t>
            </a:r>
          </a:p>
          <a:p>
            <a:r>
              <a:rPr lang="fr-FR" dirty="0">
                <a:latin typeface="Figtree"/>
              </a:rPr>
              <a:t>  hors d'âge, carrelage décollé par endroits, aucun VMC, </a:t>
            </a:r>
          </a:p>
          <a:p>
            <a:r>
              <a:rPr lang="fr-FR" dirty="0">
                <a:latin typeface="Figtree"/>
              </a:rPr>
              <a:t>  fenêtre obturée — remise en état complète nécessaire</a:t>
            </a:r>
          </a:p>
          <a:p>
            <a:r>
              <a:rPr lang="fr-FR" dirty="0">
                <a:latin typeface="Figtree"/>
              </a:rPr>
              <a:t>- WC séparé : 2 m², correct</a:t>
            </a:r>
          </a:p>
          <a:p>
            <a:r>
              <a:rPr lang="fr-FR" dirty="0">
                <a:latin typeface="Figtree"/>
              </a:rPr>
              <a:t>- DPE : étiquette E — 265 kWh/m²/an</a:t>
            </a:r>
          </a:p>
          <a:p>
            <a:r>
              <a:rPr lang="fr-FR" dirty="0">
                <a:latin typeface="Figtree"/>
              </a:rPr>
              <a:t>- Chauffage : individuel gaz, chaudière murale 2009</a:t>
            </a:r>
          </a:p>
        </p:txBody>
      </p:sp>
      <p:sp>
        <p:nvSpPr>
          <p:cNvPr id="8" name="ZoneTexte 7">
            <a:extLst>
              <a:ext uri="{FF2B5EF4-FFF2-40B4-BE49-F238E27FC236}">
                <a16:creationId xmlns:a16="http://schemas.microsoft.com/office/drawing/2014/main" id="{896B3774-6171-0F41-8569-4FF8B936D2B2}"/>
              </a:ext>
            </a:extLst>
          </p:cNvPr>
          <p:cNvSpPr txBox="1"/>
          <p:nvPr/>
        </p:nvSpPr>
        <p:spPr>
          <a:xfrm>
            <a:off x="320655" y="1475373"/>
            <a:ext cx="4916406" cy="506292"/>
          </a:xfrm>
          <a:prstGeom prst="rect">
            <a:avLst/>
          </a:prstGeom>
          <a:noFill/>
        </p:spPr>
        <p:txBody>
          <a:bodyPr wrap="square" rtlCol="0">
            <a:spAutoFit/>
          </a:bodyPr>
          <a:lstStyle/>
          <a:p>
            <a:pPr>
              <a:lnSpc>
                <a:spcPct val="150000"/>
              </a:lnSpc>
            </a:pPr>
            <a:r>
              <a:rPr lang="fr-FR" sz="2000" b="1" dirty="0">
                <a:solidFill>
                  <a:schemeClr val="accent4">
                    <a:lumMod val="75000"/>
                  </a:schemeClr>
                </a:solidFill>
              </a:rPr>
              <a:t>Note de l’expert lors de sa visite</a:t>
            </a:r>
          </a:p>
        </p:txBody>
      </p:sp>
    </p:spTree>
    <p:extLst>
      <p:ext uri="{BB962C8B-B14F-4D97-AF65-F5344CB8AC3E}">
        <p14:creationId xmlns:p14="http://schemas.microsoft.com/office/powerpoint/2010/main" val="624529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E30DA9C-47A4-2DC1-92A5-A9FCF7687905}"/>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B25F6848-32D1-7C76-C5E2-711E32310332}"/>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3A6B4920-704A-46BF-DCAC-7887C36031A9}"/>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B8DC75C-1831-EC52-59F8-FAF64F90604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3E805F4-6B16-9EB0-198D-D4225D48F77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D9FB972A-040B-FB60-E050-FD55270AC6D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CDCD4FE5-E2A4-D4C3-4357-31DF21BF9124}"/>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183D8E2B-1E00-0B6A-04A2-E60632DA23CB}"/>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9509338E-639E-3F4A-FA6A-32C042624CD0}"/>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15FE79FB-43B4-8A5F-4531-B120640388C7}"/>
              </a:ext>
            </a:extLst>
          </p:cNvPr>
          <p:cNvSpPr txBox="1"/>
          <p:nvPr/>
        </p:nvSpPr>
        <p:spPr>
          <a:xfrm>
            <a:off x="208344" y="2012094"/>
            <a:ext cx="11667281" cy="4801314"/>
          </a:xfrm>
          <a:prstGeom prst="rect">
            <a:avLst/>
          </a:prstGeom>
          <a:noFill/>
        </p:spPr>
        <p:txBody>
          <a:bodyPr wrap="square" rtlCol="0">
            <a:spAutoFit/>
          </a:bodyPr>
          <a:lstStyle/>
          <a:p>
            <a:r>
              <a:rPr lang="fr-FR" b="1" dirty="0">
                <a:latin typeface="Figtree"/>
              </a:rPr>
              <a:t>Situation générale</a:t>
            </a:r>
          </a:p>
          <a:p>
            <a:r>
              <a:rPr lang="fr-FR" dirty="0">
                <a:latin typeface="Figtree"/>
              </a:rPr>
              <a:t>Le bien est situé au troisième étage d'un immeuble de rapport en pierre de taille, édifié en 1932, sis rue Keller dans le 11e arrondissement de Paris. L'immeuble compte six niveaux sur sous-sol, sans ascenseur. J'ai constaté un bon état général des parties communes : hall carrelé d'époque conservé, ferronnerie d'origine aux garde-corps, absence de désordre apparent. La rue Keller présente un caractère résidentiel calme, avec une accessibilité piétonne aux stations de métro Bastille et Ledru-Rollin estimée à huit minutes environ.</a:t>
            </a:r>
          </a:p>
          <a:p>
            <a:endParaRPr lang="fr-FR" dirty="0">
              <a:latin typeface="Figtree"/>
            </a:endParaRPr>
          </a:p>
          <a:p>
            <a:r>
              <a:rPr lang="fr-FR" b="1" dirty="0">
                <a:latin typeface="Figtree"/>
              </a:rPr>
              <a:t>État intérieur</a:t>
            </a:r>
          </a:p>
          <a:p>
            <a:r>
              <a:rPr lang="fr-FR" dirty="0">
                <a:latin typeface="Figtree"/>
              </a:rPr>
              <a:t>L'appartement développe une superficie de 68 m² environ et comprend une entrée, un séjour de 22 m², deux chambres de 11 m² et 9 m² respectivement, une cuisine séparée, une salle de bains et un WC indépendant. J'ai relevé un parquet en chêne ancien d'époque, en bon état général dans l'ensemble des pièces principales, ainsi que des moulures de plafond conservées dans le séjour. Le double vitrage est partiel : les menuiseries du séjour et de la chambre principale ont été renouvelées ; la chambre sur cour et la cuisine conservent leurs menuiseries d'origine en simple vitrage. La salle de bains présente un état vétuste caractérisé — baignoire fonte ancienne, robinetterie hors d'âge, carrelage au sol partiellement décollé, absence de ventilation mécanique — et nécessite une remise en état complète. La cuisine appelle également une rénovation des équipements. Le bien est classé en étiquette énergétique E (265 kWh/m²/an), avec un chauffage individuel au gaz sur chaudière murale datant de 2009.</a:t>
            </a:r>
          </a:p>
        </p:txBody>
      </p:sp>
    </p:spTree>
    <p:extLst>
      <p:ext uri="{BB962C8B-B14F-4D97-AF65-F5344CB8AC3E}">
        <p14:creationId xmlns:p14="http://schemas.microsoft.com/office/powerpoint/2010/main" val="87501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479461A-20F0-92C9-3824-4D46250A8528}"/>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8166D3ED-22CC-707A-1472-1CBAD7ACAF87}"/>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CE890C86-17EF-9F99-53F6-798C5CC62354}"/>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A95636E-48D6-54E9-948B-FBBFD48636C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2C4AD3D-82B4-6F1D-2740-E86ADD8F07A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12823138-8970-8BF9-D616-D6BC7DF640F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881A8E6-D5C2-0B6A-F71F-36FCCCE20CEA}"/>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6E5C083F-34F4-A48F-9BA3-9684DD5DA33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723F1063-6AC2-C2C3-5003-7D006545981C}"/>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1396A4BD-89FA-E114-8D36-7D4D857A2236}"/>
              </a:ext>
            </a:extLst>
          </p:cNvPr>
          <p:cNvSpPr txBox="1"/>
          <p:nvPr/>
        </p:nvSpPr>
        <p:spPr>
          <a:xfrm>
            <a:off x="208344" y="2086236"/>
            <a:ext cx="11667281" cy="4524315"/>
          </a:xfrm>
          <a:prstGeom prst="rect">
            <a:avLst/>
          </a:prstGeom>
          <a:noFill/>
        </p:spPr>
        <p:txBody>
          <a:bodyPr wrap="square" rtlCol="0">
            <a:spAutoFit/>
          </a:bodyPr>
          <a:lstStyle/>
          <a:p>
            <a:r>
              <a:rPr lang="fr-FR" b="1" cap="all" dirty="0"/>
              <a:t>§ 1 — Situation générale</a:t>
            </a:r>
          </a:p>
          <a:p>
            <a:r>
              <a:rPr lang="fr-FR" dirty="0"/>
              <a:t>Le bien est situé au </a:t>
            </a:r>
            <a:r>
              <a:rPr lang="fr-FR" b="1" dirty="0">
                <a:solidFill>
                  <a:schemeClr val="accent1">
                    <a:lumMod val="75000"/>
                  </a:schemeClr>
                </a:solidFill>
              </a:rPr>
              <a:t>troisième étage </a:t>
            </a:r>
            <a:r>
              <a:rPr lang="fr-FR" dirty="0"/>
              <a:t>d'un </a:t>
            </a:r>
            <a:r>
              <a:rPr lang="fr-FR" b="1" dirty="0">
                <a:solidFill>
                  <a:schemeClr val="accent3">
                    <a:lumMod val="75000"/>
                  </a:schemeClr>
                </a:solidFill>
              </a:rPr>
              <a:t>immeuble de rapport en pierre de taille</a:t>
            </a:r>
            <a:r>
              <a:rPr lang="fr-FR" dirty="0"/>
              <a:t>, édifié en </a:t>
            </a:r>
            <a:r>
              <a:rPr lang="fr-FR" b="1" dirty="0">
                <a:solidFill>
                  <a:schemeClr val="accent1">
                    <a:lumMod val="75000"/>
                  </a:schemeClr>
                </a:solidFill>
              </a:rPr>
              <a:t>1932</a:t>
            </a:r>
            <a:r>
              <a:rPr lang="fr-FR" dirty="0"/>
              <a:t>, sis rue Keller dans le </a:t>
            </a:r>
            <a:r>
              <a:rPr lang="fr-FR" b="1" dirty="0">
                <a:solidFill>
                  <a:schemeClr val="accent1">
                    <a:lumMod val="75000"/>
                  </a:schemeClr>
                </a:solidFill>
              </a:rPr>
              <a:t>11e arrondissement</a:t>
            </a:r>
            <a:r>
              <a:rPr lang="fr-FR" dirty="0"/>
              <a:t> de Paris. L'immeuble compte </a:t>
            </a:r>
            <a:r>
              <a:rPr lang="fr-FR" b="1" dirty="0">
                <a:solidFill>
                  <a:schemeClr val="accent1">
                    <a:lumMod val="75000"/>
                  </a:schemeClr>
                </a:solidFill>
              </a:rPr>
              <a:t>six niveaux sur sous-sol</a:t>
            </a:r>
            <a:r>
              <a:rPr lang="fr-FR" dirty="0"/>
              <a:t>, </a:t>
            </a:r>
            <a:r>
              <a:rPr lang="fr-FR" b="1" dirty="0">
                <a:solidFill>
                  <a:schemeClr val="accent4">
                    <a:lumMod val="75000"/>
                  </a:schemeClr>
                </a:solidFill>
              </a:rPr>
              <a:t>sans ascenseur</a:t>
            </a:r>
            <a:r>
              <a:rPr lang="fr-FR" dirty="0"/>
              <a:t>. </a:t>
            </a:r>
            <a:r>
              <a:rPr lang="fr-FR" b="1" dirty="0">
                <a:solidFill>
                  <a:srgbClr val="00B050"/>
                </a:solidFill>
              </a:rPr>
              <a:t>J'ai constaté </a:t>
            </a:r>
            <a:r>
              <a:rPr lang="fr-FR" dirty="0"/>
              <a:t>un bon état général des parties communes : </a:t>
            </a:r>
            <a:r>
              <a:rPr lang="fr-FR" b="1" dirty="0">
                <a:solidFill>
                  <a:srgbClr val="00B050"/>
                </a:solidFill>
              </a:rPr>
              <a:t>hall carrelé d'époque conservé, ferronnerie d'origine aux garde-corps, absence de désordre apparent</a:t>
            </a:r>
            <a:r>
              <a:rPr lang="fr-FR" dirty="0"/>
              <a:t>. La rue Keller présente un caractère résidentiel calme, avec une </a:t>
            </a:r>
            <a:r>
              <a:rPr lang="fr-FR" b="1" dirty="0">
                <a:solidFill>
                  <a:schemeClr val="accent4">
                    <a:lumMod val="75000"/>
                  </a:schemeClr>
                </a:solidFill>
              </a:rPr>
              <a:t>accessibilité piétonne aux stations de métro Bastille et Ledru-Rollin estimée à huit minutes environ.</a:t>
            </a:r>
          </a:p>
          <a:p>
            <a:r>
              <a:rPr lang="fr-FR" b="1" cap="all" dirty="0"/>
              <a:t>§ 2 — État intérieur</a:t>
            </a:r>
          </a:p>
          <a:p>
            <a:r>
              <a:rPr lang="fr-FR" dirty="0"/>
              <a:t>L'appartement développe une superficie de </a:t>
            </a:r>
            <a:r>
              <a:rPr lang="fr-FR" b="1" dirty="0">
                <a:solidFill>
                  <a:schemeClr val="accent1">
                    <a:lumMod val="75000"/>
                  </a:schemeClr>
                </a:solidFill>
              </a:rPr>
              <a:t>68 m² </a:t>
            </a:r>
            <a:r>
              <a:rPr lang="fr-FR" dirty="0"/>
              <a:t>environ et comprend une entrée, un séjour de </a:t>
            </a:r>
            <a:r>
              <a:rPr lang="fr-FR" b="1" dirty="0">
                <a:solidFill>
                  <a:schemeClr val="accent1">
                    <a:lumMod val="75000"/>
                  </a:schemeClr>
                </a:solidFill>
              </a:rPr>
              <a:t>22 m²</a:t>
            </a:r>
            <a:r>
              <a:rPr lang="fr-FR" b="1" dirty="0"/>
              <a:t>, </a:t>
            </a:r>
            <a:r>
              <a:rPr lang="fr-FR" b="1" dirty="0">
                <a:solidFill>
                  <a:schemeClr val="accent1">
                    <a:lumMod val="75000"/>
                  </a:schemeClr>
                </a:solidFill>
              </a:rPr>
              <a:t>deux chambres de 11 m² et 9 m²</a:t>
            </a:r>
            <a:r>
              <a:rPr lang="fr-FR" dirty="0">
                <a:solidFill>
                  <a:schemeClr val="accent1">
                    <a:lumMod val="75000"/>
                  </a:schemeClr>
                </a:solidFill>
              </a:rPr>
              <a:t> </a:t>
            </a:r>
            <a:r>
              <a:rPr lang="fr-FR" dirty="0"/>
              <a:t>respectivement, une cuisine séparée, une salle de bains et un WC indépendant. </a:t>
            </a:r>
            <a:r>
              <a:rPr lang="fr-FR" b="1" dirty="0">
                <a:solidFill>
                  <a:srgbClr val="00B050"/>
                </a:solidFill>
              </a:rPr>
              <a:t>J'ai relevé </a:t>
            </a:r>
            <a:r>
              <a:rPr lang="fr-FR" dirty="0"/>
              <a:t>un </a:t>
            </a:r>
            <a:r>
              <a:rPr lang="fr-FR" b="1" dirty="0">
                <a:solidFill>
                  <a:schemeClr val="accent4">
                    <a:lumMod val="75000"/>
                  </a:schemeClr>
                </a:solidFill>
              </a:rPr>
              <a:t>parquet en chêne ancien d'époque, en bon état général </a:t>
            </a:r>
            <a:r>
              <a:rPr lang="fr-FR" dirty="0"/>
              <a:t>dans l'ensemble des pièces principales, ainsi que des </a:t>
            </a:r>
            <a:r>
              <a:rPr lang="fr-FR" b="1" dirty="0">
                <a:solidFill>
                  <a:schemeClr val="accent4">
                    <a:lumMod val="75000"/>
                  </a:schemeClr>
                </a:solidFill>
              </a:rPr>
              <a:t>moulures de plafond conservées dans le séjour. </a:t>
            </a:r>
            <a:r>
              <a:rPr lang="fr-FR" dirty="0"/>
              <a:t>Le </a:t>
            </a:r>
            <a:r>
              <a:rPr lang="fr-FR" b="1" dirty="0">
                <a:solidFill>
                  <a:schemeClr val="accent4">
                    <a:lumMod val="75000"/>
                  </a:schemeClr>
                </a:solidFill>
              </a:rPr>
              <a:t>double vitrage est partiel </a:t>
            </a:r>
            <a:r>
              <a:rPr lang="fr-FR" dirty="0"/>
              <a:t>: </a:t>
            </a:r>
            <a:r>
              <a:rPr lang="fr-FR" b="1" dirty="0">
                <a:solidFill>
                  <a:srgbClr val="00B050"/>
                </a:solidFill>
              </a:rPr>
              <a:t>j’ai observé</a:t>
            </a:r>
            <a:r>
              <a:rPr lang="fr-FR" dirty="0"/>
              <a:t> que </a:t>
            </a:r>
            <a:r>
              <a:rPr lang="fr-FR" b="1" dirty="0">
                <a:solidFill>
                  <a:srgbClr val="00B050"/>
                </a:solidFill>
              </a:rPr>
              <a:t>les menuiseries du séjour et de la chambre principale ont été renouvelées ; la chambre sur cour et la cuisine conservent leurs menuiseries d'origine en simple vitrage. La salle de bains présente un état vétuste caractérisé — baignoire fonte ancienne, robinetterie hors d'âge, carrelage au sol partiellement décollé, absence de ventilation mécanique </a:t>
            </a:r>
            <a:r>
              <a:rPr lang="fr-FR" dirty="0"/>
              <a:t>— et </a:t>
            </a:r>
            <a:r>
              <a:rPr lang="fr-FR" b="1" dirty="0">
                <a:solidFill>
                  <a:schemeClr val="accent3">
                    <a:lumMod val="75000"/>
                  </a:schemeClr>
                </a:solidFill>
              </a:rPr>
              <a:t>nécessite une remise en état complète. La cuisine appelle également une rénovation des équipements</a:t>
            </a:r>
            <a:r>
              <a:rPr lang="fr-FR" dirty="0"/>
              <a:t>. Le bien est classé en </a:t>
            </a:r>
            <a:r>
              <a:rPr lang="fr-FR" b="1" dirty="0">
                <a:solidFill>
                  <a:schemeClr val="accent1">
                    <a:lumMod val="75000"/>
                  </a:schemeClr>
                </a:solidFill>
              </a:rPr>
              <a:t>étiquette énergétique E (265 kWh/m²/an), avec un chauffage individuel au gaz sur chaudière murale datant de 2009.</a:t>
            </a:r>
          </a:p>
        </p:txBody>
      </p:sp>
      <p:sp>
        <p:nvSpPr>
          <p:cNvPr id="4" name="ZoneTexte 3">
            <a:extLst>
              <a:ext uri="{FF2B5EF4-FFF2-40B4-BE49-F238E27FC236}">
                <a16:creationId xmlns:a16="http://schemas.microsoft.com/office/drawing/2014/main" id="{9A00A981-1AA4-76E2-0CC7-7A73A6F882C6}"/>
              </a:ext>
            </a:extLst>
          </p:cNvPr>
          <p:cNvSpPr txBox="1"/>
          <p:nvPr/>
        </p:nvSpPr>
        <p:spPr>
          <a:xfrm>
            <a:off x="2194427" y="826022"/>
            <a:ext cx="2645853" cy="1077218"/>
          </a:xfrm>
          <a:prstGeom prst="rect">
            <a:avLst/>
          </a:prstGeom>
          <a:noFill/>
        </p:spPr>
        <p:txBody>
          <a:bodyPr wrap="none" rtlCol="0">
            <a:spAutoFit/>
          </a:bodyPr>
          <a:lstStyle/>
          <a:p>
            <a:r>
              <a:rPr lang="fr-FR" sz="1600" b="1" dirty="0">
                <a:solidFill>
                  <a:srgbClr val="00B050"/>
                </a:solidFill>
              </a:rPr>
              <a:t>Ancrage dans la visite</a:t>
            </a:r>
          </a:p>
          <a:p>
            <a:r>
              <a:rPr lang="fr-FR" sz="1600" b="1" dirty="0">
                <a:solidFill>
                  <a:schemeClr val="accent3">
                    <a:lumMod val="75000"/>
                  </a:schemeClr>
                </a:solidFill>
              </a:rPr>
              <a:t>Structure judiciaire </a:t>
            </a:r>
          </a:p>
          <a:p>
            <a:r>
              <a:rPr lang="fr-FR" sz="1600" b="1" dirty="0">
                <a:solidFill>
                  <a:schemeClr val="accent4">
                    <a:lumMod val="75000"/>
                  </a:schemeClr>
                </a:solidFill>
              </a:rPr>
              <a:t>Facteur de valeur qualifié</a:t>
            </a:r>
          </a:p>
          <a:p>
            <a:r>
              <a:rPr lang="fr-FR" sz="1600" b="1" dirty="0">
                <a:solidFill>
                  <a:schemeClr val="accent1">
                    <a:lumMod val="75000"/>
                  </a:schemeClr>
                </a:solidFill>
              </a:rPr>
              <a:t>Données chiffrées vérifiables</a:t>
            </a:r>
          </a:p>
        </p:txBody>
      </p:sp>
    </p:spTree>
    <p:extLst>
      <p:ext uri="{BB962C8B-B14F-4D97-AF65-F5344CB8AC3E}">
        <p14:creationId xmlns:p14="http://schemas.microsoft.com/office/powerpoint/2010/main" val="2539794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023C42-85C5-7E27-7919-46D66B5A49F5}"/>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BF9C4111-1412-5042-1018-7E543E5946A9}"/>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3045E3E9-97C0-D013-6382-F3BDA1D206CF}"/>
              </a:ext>
            </a:extLst>
          </p:cNvPr>
          <p:cNvSpPr/>
          <p:nvPr/>
        </p:nvSpPr>
        <p:spPr>
          <a:xfrm>
            <a:off x="3495795" y="279981"/>
            <a:ext cx="7641392" cy="116294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2C0877D6-2D93-993A-8156-A4CA0FBE2CFF}"/>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1E99FAA-667D-4C67-E585-5A8D64274DB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A0B95824-06C0-13D1-7683-7F70CC22286C}"/>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DF3B787-B9F8-D39E-EAC4-4FAB7BE92411}"/>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30A5084B-C029-4580-64E1-1DBC81E0E3A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3866A952-5AEA-8F87-1C73-E99E1B38EB49}"/>
              </a:ext>
            </a:extLst>
          </p:cNvPr>
          <p:cNvSpPr txBox="1"/>
          <p:nvPr/>
        </p:nvSpPr>
        <p:spPr>
          <a:xfrm>
            <a:off x="3495794" y="735036"/>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Prompts par type de biens</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4B561D3A-4F3D-4608-9F0D-7AAAC8B7E662}"/>
              </a:ext>
            </a:extLst>
          </p:cNvPr>
          <p:cNvSpPr txBox="1"/>
          <p:nvPr/>
        </p:nvSpPr>
        <p:spPr>
          <a:xfrm>
            <a:off x="208344" y="1688980"/>
            <a:ext cx="11667281" cy="4708981"/>
          </a:xfrm>
          <a:prstGeom prst="rect">
            <a:avLst/>
          </a:prstGeom>
          <a:noFill/>
        </p:spPr>
        <p:txBody>
          <a:bodyPr wrap="square" rtlCol="0">
            <a:spAutoFit/>
          </a:bodyPr>
          <a:lstStyle/>
          <a:p>
            <a:r>
              <a:rPr lang="fr-FR" b="1" dirty="0">
                <a:solidFill>
                  <a:schemeClr val="tx1">
                    <a:lumMod val="95000"/>
                    <a:lumOff val="5000"/>
                  </a:schemeClr>
                </a:solidFill>
                <a:highlight>
                  <a:srgbClr val="FFFF00"/>
                </a:highlight>
                <a:latin typeface="Courier New" panose="02070309020205020404" pitchFamily="49" charset="0"/>
                <a:cs typeface="Courier New" panose="02070309020205020404" pitchFamily="49" charset="0"/>
              </a:rPr>
              <a:t>Appartement en copropriété</a:t>
            </a:r>
            <a:r>
              <a:rPr lang="fr-FR" dirty="0">
                <a:solidFill>
                  <a:schemeClr val="tx1">
                    <a:lumMod val="95000"/>
                    <a:lumOff val="5000"/>
                  </a:schemeClr>
                </a:solidFill>
                <a:highlight>
                  <a:srgbClr val="FFFF00"/>
                </a:highlight>
                <a:latin typeface="Courier New" panose="02070309020205020404" pitchFamily="49" charset="0"/>
                <a:cs typeface="Courier New" panose="02070309020205020404" pitchFamily="49" charset="0"/>
              </a:rPr>
              <a:t> </a:t>
            </a:r>
            <a:r>
              <a:rPr lang="fr-FR" dirty="0">
                <a:solidFill>
                  <a:schemeClr val="tx1">
                    <a:lumMod val="95000"/>
                    <a:lumOff val="5000"/>
                  </a:schemeClr>
                </a:solidFill>
                <a:latin typeface="Courier New" panose="02070309020205020404" pitchFamily="49" charset="0"/>
                <a:cs typeface="Courier New" panose="02070309020205020404" pitchFamily="49" charset="0"/>
              </a:rPr>
              <a:t>(usage le plus fréquent) :</a:t>
            </a:r>
          </a:p>
          <a:p>
            <a:endParaRPr lang="fr-FR"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400" dirty="0">
                <a:solidFill>
                  <a:schemeClr val="tx1">
                    <a:lumMod val="95000"/>
                    <a:lumOff val="5000"/>
                  </a:schemeClr>
                </a:solidFill>
                <a:latin typeface="Courier New" panose="02070309020205020404" pitchFamily="49" charset="0"/>
                <a:cs typeface="Courier New" panose="02070309020205020404" pitchFamily="49" charset="0"/>
              </a:rPr>
              <a:t>Tu es expert immobilier agréé. </a:t>
            </a: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Rédige</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la section "Description du bien" d'un rapport d'expertise en </a:t>
            </a:r>
            <a:r>
              <a:rPr lang="fr-FR" sz="2400" b="1" dirty="0">
                <a:solidFill>
                  <a:schemeClr val="tx1">
                    <a:lumMod val="95000"/>
                    <a:lumOff val="5000"/>
                  </a:schemeClr>
                </a:solidFill>
                <a:latin typeface="Courier New" panose="02070309020205020404" pitchFamily="49" charset="0"/>
                <a:cs typeface="Courier New" panose="02070309020205020404" pitchFamily="49" charset="0"/>
              </a:rPr>
              <a:t>prose</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sobre et technique (150–200 mots, sans liste).</a:t>
            </a:r>
          </a:p>
          <a:p>
            <a:r>
              <a:rPr lang="fr-FR" sz="2400" dirty="0">
                <a:solidFill>
                  <a:schemeClr val="tx1">
                    <a:lumMod val="95000"/>
                    <a:lumOff val="5000"/>
                  </a:schemeClr>
                </a:solidFill>
                <a:latin typeface="Courier New" panose="02070309020205020404" pitchFamily="49" charset="0"/>
                <a:cs typeface="Courier New" panose="02070309020205020404" pitchFamily="49" charset="0"/>
              </a:rPr>
              <a:t> </a:t>
            </a: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Structure</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 situation dans l'immeuble → pièces et surfaces → état général des éléments.</a:t>
            </a:r>
          </a:p>
          <a:p>
            <a:endParaRPr lang="fr-FR" sz="24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Bien</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 [type] de [surface] m², [étage], [ville], immeuble de [année].</a:t>
            </a: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Notes de visite </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[coller ici]</a:t>
            </a:r>
          </a:p>
        </p:txBody>
      </p:sp>
    </p:spTree>
    <p:extLst>
      <p:ext uri="{BB962C8B-B14F-4D97-AF65-F5344CB8AC3E}">
        <p14:creationId xmlns:p14="http://schemas.microsoft.com/office/powerpoint/2010/main" val="3792376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109B410-FB8F-265E-B559-4389952595CF}"/>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439E34F3-CF47-9353-CA04-BB0268B1D57B}"/>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9C2B8D7E-6386-528E-7507-EC1E5788587F}"/>
              </a:ext>
            </a:extLst>
          </p:cNvPr>
          <p:cNvSpPr/>
          <p:nvPr/>
        </p:nvSpPr>
        <p:spPr>
          <a:xfrm>
            <a:off x="3495795" y="279981"/>
            <a:ext cx="7641392" cy="116294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0D46126-CF93-62EE-A18F-711FB5E068A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A88D8E5-D5F7-3C32-76CD-6D61873CD60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4574B4B1-E180-1A62-AB22-F6CD4A55AB2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49B6B6A-3478-6130-ED92-D5152074729E}"/>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5020E6A3-A749-258B-27CA-D66B70D2806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BC0A67E3-BBC7-6C48-CAB6-A37972460F54}"/>
              </a:ext>
            </a:extLst>
          </p:cNvPr>
          <p:cNvSpPr txBox="1"/>
          <p:nvPr/>
        </p:nvSpPr>
        <p:spPr>
          <a:xfrm>
            <a:off x="3495794" y="735036"/>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Prompts par type de biens</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5D1E3532-0AC3-7AE0-6B21-1B3936036ACA}"/>
              </a:ext>
            </a:extLst>
          </p:cNvPr>
          <p:cNvSpPr txBox="1"/>
          <p:nvPr/>
        </p:nvSpPr>
        <p:spPr>
          <a:xfrm>
            <a:off x="208344" y="1479659"/>
            <a:ext cx="11667281" cy="5078313"/>
          </a:xfrm>
          <a:prstGeom prst="rect">
            <a:avLst/>
          </a:prstGeom>
          <a:noFill/>
        </p:spPr>
        <p:txBody>
          <a:bodyPr wrap="square" rtlCol="0">
            <a:spAutoFit/>
          </a:bodyPr>
          <a:lstStyle/>
          <a:p>
            <a:r>
              <a:rPr lang="fr-FR" b="1" dirty="0">
                <a:solidFill>
                  <a:schemeClr val="tx1">
                    <a:lumMod val="95000"/>
                    <a:lumOff val="5000"/>
                  </a:schemeClr>
                </a:solidFill>
                <a:highlight>
                  <a:srgbClr val="FFFF00"/>
                </a:highlight>
                <a:latin typeface="Courier New" panose="02070309020205020404" pitchFamily="49" charset="0"/>
                <a:cs typeface="Courier New" panose="02070309020205020404" pitchFamily="49" charset="0"/>
              </a:rPr>
              <a:t>Maison individuelle </a:t>
            </a:r>
            <a:r>
              <a:rPr lang="fr-FR" b="1" dirty="0">
                <a:solidFill>
                  <a:schemeClr val="tx1">
                    <a:lumMod val="95000"/>
                    <a:lumOff val="5000"/>
                  </a:schemeClr>
                </a:solidFill>
                <a:latin typeface="Courier New" panose="02070309020205020404" pitchFamily="49" charset="0"/>
                <a:cs typeface="Courier New" panose="02070309020205020404" pitchFamily="49" charset="0"/>
              </a:rPr>
              <a:t>:</a:t>
            </a:r>
          </a:p>
          <a:p>
            <a:endParaRPr lang="fr-FR"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400" dirty="0">
                <a:solidFill>
                  <a:schemeClr val="tx1">
                    <a:lumMod val="95000"/>
                    <a:lumOff val="5000"/>
                  </a:schemeClr>
                </a:solidFill>
                <a:latin typeface="Courier New" panose="02070309020205020404" pitchFamily="49" charset="0"/>
                <a:cs typeface="Courier New" panose="02070309020205020404" pitchFamily="49" charset="0"/>
              </a:rPr>
              <a:t>Tu es expert immobilier agréé.</a:t>
            </a:r>
          </a:p>
          <a:p>
            <a:endParaRPr lang="fr-FR" sz="24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Rédige</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la description d'une maison individuelle pour un rapport d'expertise (200–250 mots, deux paragraphes : description extérieure puis intérieure).</a:t>
            </a:r>
          </a:p>
          <a:p>
            <a:r>
              <a:rPr lang="fr-FR" sz="2400" dirty="0">
                <a:solidFill>
                  <a:schemeClr val="tx1">
                    <a:lumMod val="95000"/>
                    <a:lumOff val="5000"/>
                  </a:schemeClr>
                </a:solidFill>
                <a:latin typeface="Courier New" panose="02070309020205020404" pitchFamily="49" charset="0"/>
                <a:cs typeface="Courier New" panose="02070309020205020404" pitchFamily="49" charset="0"/>
              </a:rPr>
              <a:t> </a:t>
            </a: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Ton</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factuel, sans appréciation de valeur.</a:t>
            </a:r>
          </a:p>
          <a:p>
            <a:endParaRPr lang="fr-FR" sz="24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Bien</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 maison de [surface] m² avec [garage / jardin / piscine], [ville], [année].</a:t>
            </a:r>
          </a:p>
          <a:p>
            <a:endParaRPr lang="fr-FR" sz="24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400" b="1" dirty="0">
                <a:solidFill>
                  <a:schemeClr val="tx1">
                    <a:lumMod val="95000"/>
                    <a:lumOff val="5000"/>
                  </a:schemeClr>
                </a:solidFill>
                <a:latin typeface="Courier New" panose="02070309020205020404" pitchFamily="49" charset="0"/>
                <a:cs typeface="Courier New" panose="02070309020205020404" pitchFamily="49" charset="0"/>
              </a:rPr>
              <a:t>Notes de visite </a:t>
            </a:r>
            <a:r>
              <a:rPr lang="fr-FR" sz="2400" dirty="0">
                <a:solidFill>
                  <a:schemeClr val="tx1">
                    <a:lumMod val="95000"/>
                    <a:lumOff val="5000"/>
                  </a:schemeClr>
                </a:solidFill>
                <a:latin typeface="Courier New" panose="02070309020205020404" pitchFamily="49" charset="0"/>
                <a:cs typeface="Courier New" panose="02070309020205020404" pitchFamily="49" charset="0"/>
              </a:rPr>
              <a:t>: [coller ici]</a:t>
            </a:r>
          </a:p>
        </p:txBody>
      </p:sp>
    </p:spTree>
    <p:extLst>
      <p:ext uri="{BB962C8B-B14F-4D97-AF65-F5344CB8AC3E}">
        <p14:creationId xmlns:p14="http://schemas.microsoft.com/office/powerpoint/2010/main" val="3122585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D561C58-D8DA-801E-AF7E-0E2A6324CA48}"/>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9078C15-5706-640B-EB9A-7A37F5A601F1}"/>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765D0321-42EE-161C-3A73-AC3FB2F2DAFC}"/>
              </a:ext>
            </a:extLst>
          </p:cNvPr>
          <p:cNvSpPr/>
          <p:nvPr/>
        </p:nvSpPr>
        <p:spPr>
          <a:xfrm>
            <a:off x="3495795" y="279981"/>
            <a:ext cx="7641392" cy="116294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8FB165D1-1119-E9DD-34A2-6F0541A2380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E601FCE-2B11-A0FD-B770-506D80F276A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5154943D-3761-AD29-D827-3747527B5EB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800F445-D5A1-D092-41CE-F265B3555DDA}"/>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79825E70-9CC9-32B4-7007-AB622328A48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66AB105E-7E0D-49FB-45AA-1517C740116F}"/>
              </a:ext>
            </a:extLst>
          </p:cNvPr>
          <p:cNvSpPr txBox="1"/>
          <p:nvPr/>
        </p:nvSpPr>
        <p:spPr>
          <a:xfrm>
            <a:off x="3495794" y="735036"/>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Prompts par type de biens</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9DFC60B7-2483-6A98-4242-66609A40B7AC}"/>
              </a:ext>
            </a:extLst>
          </p:cNvPr>
          <p:cNvSpPr txBox="1"/>
          <p:nvPr/>
        </p:nvSpPr>
        <p:spPr>
          <a:xfrm>
            <a:off x="262359" y="1902775"/>
            <a:ext cx="11667281" cy="4278094"/>
          </a:xfrm>
          <a:prstGeom prst="rect">
            <a:avLst/>
          </a:prstGeom>
          <a:noFill/>
        </p:spPr>
        <p:txBody>
          <a:bodyPr wrap="square" rtlCol="0">
            <a:spAutoFit/>
          </a:bodyPr>
          <a:lstStyle/>
          <a:p>
            <a:r>
              <a:rPr lang="fr-FR" b="1" dirty="0">
                <a:solidFill>
                  <a:schemeClr val="tx1">
                    <a:lumMod val="95000"/>
                    <a:lumOff val="5000"/>
                  </a:schemeClr>
                </a:solidFill>
                <a:highlight>
                  <a:srgbClr val="FFFF00"/>
                </a:highlight>
                <a:latin typeface="Courier New" panose="02070309020205020404" pitchFamily="49" charset="0"/>
                <a:cs typeface="Courier New" panose="02070309020205020404" pitchFamily="49" charset="0"/>
              </a:rPr>
              <a:t>Local commercial </a:t>
            </a:r>
            <a:r>
              <a:rPr lang="fr-FR" sz="1600" b="1" dirty="0">
                <a:solidFill>
                  <a:schemeClr val="tx1">
                    <a:lumMod val="95000"/>
                    <a:lumOff val="5000"/>
                  </a:schemeClr>
                </a:solidFill>
                <a:latin typeface="Courier New" panose="02070309020205020404" pitchFamily="49" charset="0"/>
                <a:cs typeface="Courier New" panose="02070309020205020404" pitchFamily="49" charset="0"/>
              </a:rPr>
              <a:t>:</a:t>
            </a:r>
            <a:endParaRPr lang="fr-FR" sz="1600" dirty="0">
              <a:solidFill>
                <a:schemeClr val="tx1">
                  <a:lumMod val="95000"/>
                  <a:lumOff val="5000"/>
                </a:schemeClr>
              </a:solidFill>
              <a:latin typeface="Courier New" panose="02070309020205020404" pitchFamily="49" charset="0"/>
              <a:cs typeface="Courier New" panose="02070309020205020404" pitchFamily="49" charset="0"/>
            </a:endParaRPr>
          </a:p>
          <a:p>
            <a:endParaRPr lang="fr-FR" sz="16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000" dirty="0">
                <a:solidFill>
                  <a:schemeClr val="tx1">
                    <a:lumMod val="95000"/>
                    <a:lumOff val="5000"/>
                  </a:schemeClr>
                </a:solidFill>
                <a:latin typeface="Courier New" panose="02070309020205020404" pitchFamily="49" charset="0"/>
                <a:cs typeface="Courier New" panose="02070309020205020404" pitchFamily="49" charset="0"/>
              </a:rPr>
              <a:t>Tu es expert immobilier agréé.</a:t>
            </a:r>
          </a:p>
          <a:p>
            <a:r>
              <a:rPr lang="fr-FR" sz="2000" dirty="0">
                <a:solidFill>
                  <a:schemeClr val="tx1">
                    <a:lumMod val="95000"/>
                    <a:lumOff val="5000"/>
                  </a:schemeClr>
                </a:solidFill>
                <a:latin typeface="Courier New" panose="02070309020205020404" pitchFamily="49" charset="0"/>
                <a:cs typeface="Courier New" panose="02070309020205020404" pitchFamily="49" charset="0"/>
              </a:rPr>
              <a:t> </a:t>
            </a:r>
          </a:p>
          <a:p>
            <a:r>
              <a:rPr lang="fr-FR" sz="2000" b="1" dirty="0">
                <a:solidFill>
                  <a:schemeClr val="tx1">
                    <a:lumMod val="95000"/>
                    <a:lumOff val="5000"/>
                  </a:schemeClr>
                </a:solidFill>
                <a:latin typeface="Courier New" panose="02070309020205020404" pitchFamily="49" charset="0"/>
                <a:cs typeface="Courier New" panose="02070309020205020404" pitchFamily="49" charset="0"/>
              </a:rPr>
              <a:t>Rédige</a:t>
            </a:r>
            <a:r>
              <a:rPr lang="fr-FR" sz="2000" dirty="0">
                <a:solidFill>
                  <a:schemeClr val="tx1">
                    <a:lumMod val="95000"/>
                    <a:lumOff val="5000"/>
                  </a:schemeClr>
                </a:solidFill>
                <a:latin typeface="Courier New" panose="02070309020205020404" pitchFamily="49" charset="0"/>
                <a:cs typeface="Courier New" panose="02070309020205020404" pitchFamily="49" charset="0"/>
              </a:rPr>
              <a:t> </a:t>
            </a:r>
            <a:r>
              <a:rPr lang="fr-FR" sz="2000" dirty="0">
                <a:latin typeface="Courier New" panose="02070309020205020404" pitchFamily="49" charset="0"/>
                <a:cs typeface="Courier New" panose="02070309020205020404" pitchFamily="49" charset="0"/>
              </a:rPr>
              <a:t>la section descriptive d'un local commercial pour un rapport d'expertise (150 mots, </a:t>
            </a:r>
            <a:r>
              <a:rPr lang="fr-FR" sz="2000" b="1" dirty="0">
                <a:latin typeface="Courier New" panose="02070309020205020404" pitchFamily="49" charset="0"/>
                <a:cs typeface="Courier New" panose="02070309020205020404" pitchFamily="49" charset="0"/>
              </a:rPr>
              <a:t>prose</a:t>
            </a:r>
            <a:r>
              <a:rPr lang="fr-FR" sz="2000" dirty="0">
                <a:latin typeface="Courier New" panose="02070309020205020404" pitchFamily="49" charset="0"/>
                <a:cs typeface="Courier New" panose="02070309020205020404" pitchFamily="49" charset="0"/>
              </a:rPr>
              <a:t> technique).</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Inclure</a:t>
            </a:r>
            <a:r>
              <a:rPr lang="fr-FR" sz="2000" dirty="0">
                <a:latin typeface="Courier New" panose="02070309020205020404" pitchFamily="49" charset="0"/>
                <a:cs typeface="Courier New" panose="02070309020205020404" pitchFamily="49" charset="0"/>
              </a:rPr>
              <a:t> : localisation, configuration, état des installations, accessibilité. </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Bien</a:t>
            </a:r>
            <a:r>
              <a:rPr lang="fr-FR" sz="2000" dirty="0">
                <a:latin typeface="Courier New" panose="02070309020205020404" pitchFamily="49" charset="0"/>
                <a:cs typeface="Courier New" panose="02070309020205020404" pitchFamily="49" charset="0"/>
              </a:rPr>
              <a:t> : local commercial de [surface] m², [rez-de-chaussée / étage], [rue], [ville]. </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Notes de visite </a:t>
            </a:r>
            <a:r>
              <a:rPr lang="fr-FR" sz="2000" dirty="0">
                <a:latin typeface="Courier New" panose="02070309020205020404" pitchFamily="49" charset="0"/>
                <a:cs typeface="Courier New" panose="02070309020205020404" pitchFamily="49" charset="0"/>
              </a:rPr>
              <a:t>: [coller ici]</a:t>
            </a:r>
            <a:endParaRPr lang="fr-FR" sz="2000" dirty="0">
              <a:solidFill>
                <a:schemeClr val="tx1">
                  <a:lumMod val="95000"/>
                  <a:lumOff val="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157835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A1CA9FD-B43F-0503-F323-15BCB6C8E775}"/>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9A90AD3-C52E-CC24-CD33-978133E5EE0C}"/>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E509C26F-D12C-608D-A5BF-DEB8E2E84233}"/>
              </a:ext>
            </a:extLst>
          </p:cNvPr>
          <p:cNvSpPr/>
          <p:nvPr/>
        </p:nvSpPr>
        <p:spPr>
          <a:xfrm>
            <a:off x="3495795" y="279981"/>
            <a:ext cx="7641392" cy="116294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71C8A8B2-2CFA-D2B1-3C33-6B9529D02ED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5D5372A-58F4-F91E-3080-BACA40B4B61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569BB5C1-2C6D-AE41-5B33-6EF1F44869A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CA99C545-A3F4-27C8-A127-F846675D59E6}"/>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90CE3550-7853-C7A6-5018-ACB9B57AB129}"/>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0E133B2C-75BB-1E98-6B2D-BD6C1764FA26}"/>
              </a:ext>
            </a:extLst>
          </p:cNvPr>
          <p:cNvSpPr txBox="1"/>
          <p:nvPr/>
        </p:nvSpPr>
        <p:spPr>
          <a:xfrm>
            <a:off x="3495794" y="735036"/>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Prompts par type de biens</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73EED5C4-08AD-2C64-37EA-13BE349BA9EF}"/>
              </a:ext>
            </a:extLst>
          </p:cNvPr>
          <p:cNvSpPr txBox="1"/>
          <p:nvPr/>
        </p:nvSpPr>
        <p:spPr>
          <a:xfrm>
            <a:off x="524719" y="2016362"/>
            <a:ext cx="11667281" cy="4278094"/>
          </a:xfrm>
          <a:prstGeom prst="rect">
            <a:avLst/>
          </a:prstGeom>
          <a:noFill/>
        </p:spPr>
        <p:txBody>
          <a:bodyPr wrap="square" rtlCol="0">
            <a:spAutoFit/>
          </a:bodyPr>
          <a:lstStyle/>
          <a:p>
            <a:r>
              <a:rPr lang="fr-FR" b="1" dirty="0">
                <a:solidFill>
                  <a:schemeClr val="tx1">
                    <a:lumMod val="95000"/>
                    <a:lumOff val="5000"/>
                  </a:schemeClr>
                </a:solidFill>
                <a:highlight>
                  <a:srgbClr val="FFFF00"/>
                </a:highlight>
                <a:latin typeface="Courier New" panose="02070309020205020404" pitchFamily="49" charset="0"/>
                <a:cs typeface="Courier New" panose="02070309020205020404" pitchFamily="49" charset="0"/>
              </a:rPr>
              <a:t>Terrain à bâtir :</a:t>
            </a:r>
          </a:p>
          <a:p>
            <a:endParaRPr lang="fr-FR" sz="16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000" dirty="0">
                <a:solidFill>
                  <a:schemeClr val="tx1">
                    <a:lumMod val="95000"/>
                    <a:lumOff val="5000"/>
                  </a:schemeClr>
                </a:solidFill>
                <a:latin typeface="Courier New" panose="02070309020205020404" pitchFamily="49" charset="0"/>
                <a:cs typeface="Courier New" panose="02070309020205020404" pitchFamily="49" charset="0"/>
              </a:rPr>
              <a:t>Tu es expert immobilier agréé. </a:t>
            </a:r>
          </a:p>
          <a:p>
            <a:endParaRPr lang="fr-FR" sz="2000" dirty="0">
              <a:solidFill>
                <a:schemeClr val="tx1">
                  <a:lumMod val="95000"/>
                  <a:lumOff val="5000"/>
                </a:schemeClr>
              </a:solidFill>
              <a:latin typeface="Courier New" panose="02070309020205020404" pitchFamily="49" charset="0"/>
              <a:cs typeface="Courier New" panose="02070309020205020404" pitchFamily="49" charset="0"/>
            </a:endParaRPr>
          </a:p>
          <a:p>
            <a:r>
              <a:rPr lang="fr-FR" sz="2000" b="1" dirty="0">
                <a:solidFill>
                  <a:schemeClr val="tx1">
                    <a:lumMod val="95000"/>
                    <a:lumOff val="5000"/>
                  </a:schemeClr>
                </a:solidFill>
                <a:latin typeface="Courier New" panose="02070309020205020404" pitchFamily="49" charset="0"/>
                <a:cs typeface="Courier New" panose="02070309020205020404" pitchFamily="49" charset="0"/>
              </a:rPr>
              <a:t>Rédige</a:t>
            </a:r>
            <a:r>
              <a:rPr lang="fr-FR" sz="2000" dirty="0">
                <a:solidFill>
                  <a:schemeClr val="tx1">
                    <a:lumMod val="95000"/>
                    <a:lumOff val="5000"/>
                  </a:schemeClr>
                </a:solidFill>
                <a:latin typeface="Courier New" panose="02070309020205020404" pitchFamily="49" charset="0"/>
                <a:cs typeface="Courier New" panose="02070309020205020404" pitchFamily="49" charset="0"/>
              </a:rPr>
              <a:t> </a:t>
            </a:r>
            <a:r>
              <a:rPr lang="fr-FR" sz="2000" dirty="0">
                <a:latin typeface="Courier New" panose="02070309020205020404" pitchFamily="49" charset="0"/>
                <a:cs typeface="Courier New" panose="02070309020205020404" pitchFamily="49" charset="0"/>
              </a:rPr>
              <a:t>la description d'un terrain nu dans le cadre d'un rapport d'expertise (120 mots, prose sobre). </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Points à couvrir </a:t>
            </a:r>
            <a:r>
              <a:rPr lang="fr-FR" sz="2000" dirty="0">
                <a:latin typeface="Courier New" panose="02070309020205020404" pitchFamily="49" charset="0"/>
                <a:cs typeface="Courier New" panose="02070309020205020404" pitchFamily="49" charset="0"/>
              </a:rPr>
              <a:t>: localisation, superficie, forme, accès, servitudes connues, environnement immédiat. </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Terrain</a:t>
            </a:r>
            <a:r>
              <a:rPr lang="fr-FR" sz="2000" dirty="0">
                <a:latin typeface="Courier New" panose="02070309020205020404" pitchFamily="49" charset="0"/>
                <a:cs typeface="Courier New" panose="02070309020205020404" pitchFamily="49" charset="0"/>
              </a:rPr>
              <a:t> : [surface] m², [commune], [secteur], zone PLU : [zone]. </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Notes de visite </a:t>
            </a:r>
            <a:r>
              <a:rPr lang="fr-FR" sz="2000" dirty="0">
                <a:latin typeface="Courier New" panose="02070309020205020404" pitchFamily="49" charset="0"/>
                <a:cs typeface="Courier New" panose="02070309020205020404" pitchFamily="49" charset="0"/>
              </a:rPr>
              <a:t>: [coller ici]</a:t>
            </a:r>
          </a:p>
          <a:p>
            <a:endParaRPr lang="fr-FR" sz="2000" dirty="0">
              <a:solidFill>
                <a:schemeClr val="tx1">
                  <a:lumMod val="95000"/>
                  <a:lumOff val="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295087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665CF4A-C41F-99D0-EA64-9A24216F8A76}"/>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9B0C2D3D-751A-5EDA-FE46-8228FBA7D274}"/>
              </a:ext>
            </a:extLst>
          </p:cNvPr>
          <p:cNvSpPr/>
          <p:nvPr/>
        </p:nvSpPr>
        <p:spPr>
          <a:xfrm>
            <a:off x="52873" y="-1145303"/>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1BFDC0BE-73CB-97D6-F732-B492BF5B6B8B}"/>
              </a:ext>
            </a:extLst>
          </p:cNvPr>
          <p:cNvSpPr/>
          <p:nvPr/>
        </p:nvSpPr>
        <p:spPr>
          <a:xfrm>
            <a:off x="3495795" y="279981"/>
            <a:ext cx="7641392" cy="116294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F8670C58-9BA0-BC38-46F0-6CC6C8E1F19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F4AD25-A4D0-1378-93DE-FF220E9B03C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DB743A75-4E28-4086-0945-3246181EFF8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8270C40-C854-C5A7-6FCD-99B2606E7873}"/>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B986EB76-1E6D-31A9-4AF6-2519891EEB3E}"/>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28" name="TextBox 7">
            <a:extLst>
              <a:ext uri="{FF2B5EF4-FFF2-40B4-BE49-F238E27FC236}">
                <a16:creationId xmlns:a16="http://schemas.microsoft.com/office/drawing/2014/main" id="{91946AAD-C91B-E43C-AFF5-984F52DB082C}"/>
              </a:ext>
            </a:extLst>
          </p:cNvPr>
          <p:cNvSpPr txBox="1"/>
          <p:nvPr/>
        </p:nvSpPr>
        <p:spPr>
          <a:xfrm>
            <a:off x="3495794" y="735036"/>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Analyse de photos et de plans</a:t>
            </a:r>
            <a:endParaRPr lang="en-US" sz="4000" b="1" dirty="0">
              <a:solidFill>
                <a:schemeClr val="tx2">
                  <a:alpha val="60000"/>
                </a:schemeClr>
              </a:solidFill>
            </a:endParaRPr>
          </a:p>
        </p:txBody>
      </p:sp>
      <p:sp>
        <p:nvSpPr>
          <p:cNvPr id="6" name="ZoneTexte 5">
            <a:extLst>
              <a:ext uri="{FF2B5EF4-FFF2-40B4-BE49-F238E27FC236}">
                <a16:creationId xmlns:a16="http://schemas.microsoft.com/office/drawing/2014/main" id="{E4A6854F-8AF3-890B-312C-8B92BA99F90C}"/>
              </a:ext>
            </a:extLst>
          </p:cNvPr>
          <p:cNvSpPr txBox="1"/>
          <p:nvPr/>
        </p:nvSpPr>
        <p:spPr>
          <a:xfrm>
            <a:off x="208344" y="1479659"/>
            <a:ext cx="11667281" cy="461665"/>
          </a:xfrm>
          <a:prstGeom prst="rect">
            <a:avLst/>
          </a:prstGeom>
          <a:noFill/>
        </p:spPr>
        <p:txBody>
          <a:bodyPr wrap="square" rtlCol="0">
            <a:spAutoFit/>
          </a:bodyPr>
          <a:lstStyle/>
          <a:p>
            <a:r>
              <a:rPr lang="fr-FR" sz="2400" b="1" dirty="0">
                <a:solidFill>
                  <a:schemeClr val="tx1">
                    <a:lumMod val="95000"/>
                    <a:lumOff val="5000"/>
                  </a:schemeClr>
                </a:solidFill>
                <a:latin typeface="Figtree"/>
              </a:rPr>
              <a:t>Usage 1 — 3 Prompts d’analyse d'une photo de visite :</a:t>
            </a:r>
            <a:endParaRPr lang="fr-FR" sz="2400" dirty="0">
              <a:solidFill>
                <a:schemeClr val="tx1">
                  <a:lumMod val="95000"/>
                  <a:lumOff val="5000"/>
                </a:schemeClr>
              </a:solidFill>
              <a:latin typeface="Figtree"/>
            </a:endParaRPr>
          </a:p>
        </p:txBody>
      </p:sp>
      <p:sp>
        <p:nvSpPr>
          <p:cNvPr id="4" name="ZoneTexte 3">
            <a:extLst>
              <a:ext uri="{FF2B5EF4-FFF2-40B4-BE49-F238E27FC236}">
                <a16:creationId xmlns:a16="http://schemas.microsoft.com/office/drawing/2014/main" id="{1561B342-97DF-83BB-74EC-EC40FD9E7B73}"/>
              </a:ext>
            </a:extLst>
          </p:cNvPr>
          <p:cNvSpPr txBox="1"/>
          <p:nvPr/>
        </p:nvSpPr>
        <p:spPr>
          <a:xfrm>
            <a:off x="208344" y="2291493"/>
            <a:ext cx="11845111" cy="1200329"/>
          </a:xfrm>
          <a:prstGeom prst="rect">
            <a:avLst/>
          </a:prstGeom>
          <a:noFill/>
        </p:spPr>
        <p:txBody>
          <a:bodyPr wrap="square" rtlCol="0">
            <a:spAutoFit/>
          </a:bodyPr>
          <a:lstStyle/>
          <a:p>
            <a:r>
              <a:rPr lang="fr-FR" sz="2400" b="1" i="1" dirty="0">
                <a:solidFill>
                  <a:schemeClr val="accent1">
                    <a:lumMod val="75000"/>
                  </a:schemeClr>
                </a:solidFill>
                <a:latin typeface="Figtree"/>
              </a:rPr>
              <a:t>Pour une photo de façade </a:t>
            </a:r>
            <a:r>
              <a:rPr lang="fr-FR" sz="2400" i="1" dirty="0">
                <a:latin typeface="Figtree"/>
              </a:rPr>
              <a:t>:</a:t>
            </a:r>
            <a:r>
              <a:rPr lang="fr-FR" sz="2400" dirty="0">
                <a:latin typeface="Figtree"/>
              </a:rPr>
              <a:t> « Décris techniquement ce que tu observes sur cette façade d'immeuble. Identifie les matériaux apparents, l'état général, et tout désordre visible (fissures, traces d'humidité, dégradations). Formule ta réponse comme un paragraphe d'expertise. »</a:t>
            </a:r>
          </a:p>
        </p:txBody>
      </p:sp>
      <p:sp>
        <p:nvSpPr>
          <p:cNvPr id="8" name="ZoneTexte 7">
            <a:extLst>
              <a:ext uri="{FF2B5EF4-FFF2-40B4-BE49-F238E27FC236}">
                <a16:creationId xmlns:a16="http://schemas.microsoft.com/office/drawing/2014/main" id="{C25CE064-CF4B-D6EE-3860-B09A51273C77}"/>
              </a:ext>
            </a:extLst>
          </p:cNvPr>
          <p:cNvSpPr txBox="1"/>
          <p:nvPr/>
        </p:nvSpPr>
        <p:spPr>
          <a:xfrm>
            <a:off x="208344" y="3587383"/>
            <a:ext cx="11845111" cy="1569660"/>
          </a:xfrm>
          <a:prstGeom prst="rect">
            <a:avLst/>
          </a:prstGeom>
          <a:noFill/>
        </p:spPr>
        <p:txBody>
          <a:bodyPr wrap="square" rtlCol="0">
            <a:spAutoFit/>
          </a:bodyPr>
          <a:lstStyle/>
          <a:p>
            <a:r>
              <a:rPr lang="fr-FR" sz="2400" b="1" i="1" dirty="0">
                <a:solidFill>
                  <a:schemeClr val="accent3">
                    <a:lumMod val="75000"/>
                  </a:schemeClr>
                </a:solidFill>
              </a:rPr>
              <a:t>Pour une photo intérieure </a:t>
            </a:r>
            <a:r>
              <a:rPr lang="fr-FR" sz="2400" i="1" dirty="0"/>
              <a:t>:</a:t>
            </a:r>
            <a:r>
              <a:rPr lang="fr-FR" sz="2400" dirty="0"/>
              <a:t> « Tu es expert immobilier. Décris l'état de cette pièce tel qu'il apparaît sur la photo. Identifie les éléments de finition, leur état, et tout défaut apparent. Rédige un paragraphe technique sobre. »</a:t>
            </a:r>
          </a:p>
          <a:p>
            <a:endParaRPr lang="fr-FR" sz="2400" dirty="0"/>
          </a:p>
        </p:txBody>
      </p:sp>
      <p:sp>
        <p:nvSpPr>
          <p:cNvPr id="11" name="ZoneTexte 10">
            <a:extLst>
              <a:ext uri="{FF2B5EF4-FFF2-40B4-BE49-F238E27FC236}">
                <a16:creationId xmlns:a16="http://schemas.microsoft.com/office/drawing/2014/main" id="{A1F8313D-EBCF-C37A-1237-D17908938F82}"/>
              </a:ext>
            </a:extLst>
          </p:cNvPr>
          <p:cNvSpPr txBox="1"/>
          <p:nvPr/>
        </p:nvSpPr>
        <p:spPr>
          <a:xfrm>
            <a:off x="208344" y="5008359"/>
            <a:ext cx="11845111" cy="1569660"/>
          </a:xfrm>
          <a:prstGeom prst="rect">
            <a:avLst/>
          </a:prstGeom>
          <a:noFill/>
        </p:spPr>
        <p:txBody>
          <a:bodyPr wrap="square" rtlCol="0">
            <a:spAutoFit/>
          </a:bodyPr>
          <a:lstStyle/>
          <a:p>
            <a:r>
              <a:rPr lang="fr-FR" sz="2400" b="1" i="1" dirty="0">
                <a:solidFill>
                  <a:srgbClr val="00B050"/>
                </a:solidFill>
                <a:latin typeface="Figtree"/>
              </a:rPr>
              <a:t>Pour une photo de désordre </a:t>
            </a:r>
            <a:r>
              <a:rPr lang="fr-FR" sz="2400" i="1" dirty="0">
                <a:latin typeface="Figtree"/>
              </a:rPr>
              <a:t>(fissure, humidité) :</a:t>
            </a:r>
            <a:r>
              <a:rPr lang="fr-FR" sz="2400" dirty="0">
                <a:latin typeface="Figtree"/>
              </a:rPr>
              <a:t> « Décris techniquement ce désordre visible sur la photo. Qualifie-le (fissure en escalier, trace d'humidité ascensionnelle, etc.), et précise les hypothèses d'origine les plus probables selon ce qui est observable. »</a:t>
            </a:r>
          </a:p>
          <a:p>
            <a:endParaRPr lang="fr-FR" sz="2400" dirty="0">
              <a:latin typeface="Figtree"/>
            </a:endParaRPr>
          </a:p>
        </p:txBody>
      </p:sp>
    </p:spTree>
    <p:extLst>
      <p:ext uri="{BB962C8B-B14F-4D97-AF65-F5344CB8AC3E}">
        <p14:creationId xmlns:p14="http://schemas.microsoft.com/office/powerpoint/2010/main" val="2295465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D8966C6-FD4B-932D-57CF-D5EB7353E9DA}"/>
            </a:ext>
          </a:extLst>
        </p:cNvPr>
        <p:cNvGrpSpPr/>
        <p:nvPr/>
      </p:nvGrpSpPr>
      <p:grpSpPr>
        <a:xfrm>
          <a:off x="0" y="0"/>
          <a:ext cx="0" cy="0"/>
          <a:chOff x="0" y="0"/>
          <a:chExt cx="0" cy="0"/>
        </a:xfrm>
      </p:grpSpPr>
      <p:sp>
        <p:nvSpPr>
          <p:cNvPr id="12" name="Freeform: Shape 3">
            <a:extLst>
              <a:ext uri="{FF2B5EF4-FFF2-40B4-BE49-F238E27FC236}">
                <a16:creationId xmlns:a16="http://schemas.microsoft.com/office/drawing/2014/main" id="{A6B3A1DB-7776-4768-0763-B981018F8D0D}"/>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50102D22-8742-6238-619F-44ECAEFF081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10" name="TextBox 1">
            <a:extLst>
              <a:ext uri="{FF2B5EF4-FFF2-40B4-BE49-F238E27FC236}">
                <a16:creationId xmlns:a16="http://schemas.microsoft.com/office/drawing/2014/main" id="{F0D98F62-E44D-6352-2DB1-D67E79597B55}"/>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Synthèse</a:t>
            </a:r>
            <a:endParaRPr lang="en-US" sz="2000" b="1" dirty="0">
              <a:solidFill>
                <a:schemeClr val="accent2"/>
              </a:solidFill>
              <a:latin typeface="Space Grotesk Medium"/>
              <a:sym typeface="Manrope"/>
            </a:endParaRPr>
          </a:p>
        </p:txBody>
      </p:sp>
      <p:sp>
        <p:nvSpPr>
          <p:cNvPr id="17" name="ZoneTexte 16">
            <a:extLst>
              <a:ext uri="{FF2B5EF4-FFF2-40B4-BE49-F238E27FC236}">
                <a16:creationId xmlns:a16="http://schemas.microsoft.com/office/drawing/2014/main" id="{8A48CC6A-6884-6FBE-A0E2-75E50104B719}"/>
              </a:ext>
            </a:extLst>
          </p:cNvPr>
          <p:cNvSpPr txBox="1"/>
          <p:nvPr/>
        </p:nvSpPr>
        <p:spPr>
          <a:xfrm>
            <a:off x="344393" y="1892210"/>
            <a:ext cx="11300436" cy="3970318"/>
          </a:xfrm>
          <a:prstGeom prst="rect">
            <a:avLst/>
          </a:prstGeom>
          <a:noFill/>
        </p:spPr>
        <p:txBody>
          <a:bodyPr wrap="square" rtlCol="0">
            <a:spAutoFit/>
          </a:bodyPr>
          <a:lstStyle/>
          <a:p>
            <a:r>
              <a:rPr lang="fr-FR" sz="2800" dirty="0">
                <a:latin typeface="Figtree"/>
              </a:rPr>
              <a:t>À l'issue de ce module 2, vous disposez de vos premiers prompts opérationnels et nous avons produit au moins une description de bien en conditions réelles. </a:t>
            </a:r>
          </a:p>
          <a:p>
            <a:endParaRPr lang="fr-FR" sz="2800" dirty="0">
              <a:latin typeface="Figtree"/>
            </a:endParaRPr>
          </a:p>
          <a:p>
            <a:r>
              <a:rPr lang="fr-FR" sz="2800" dirty="0">
                <a:latin typeface="Figtree"/>
              </a:rPr>
              <a:t>Nous sommes passés de zéro, à un résultat directement intégrable dans des  rapports.</a:t>
            </a:r>
          </a:p>
          <a:p>
            <a:endParaRPr lang="fr-FR" sz="2800" dirty="0">
              <a:latin typeface="Figtree"/>
            </a:endParaRPr>
          </a:p>
          <a:p>
            <a:r>
              <a:rPr lang="fr-FR" sz="2800" dirty="0">
                <a:latin typeface="Figtree"/>
              </a:rPr>
              <a:t>Le module 3 prolonge cette logique : maintenant que l'on sait décrire le bien, </a:t>
            </a:r>
            <a:r>
              <a:rPr lang="fr-FR" sz="2800" b="1" dirty="0">
                <a:latin typeface="Figtree"/>
              </a:rPr>
              <a:t>comment utiliser l'IA pour analyser le marché et justifier la valeur ?</a:t>
            </a:r>
          </a:p>
        </p:txBody>
      </p:sp>
      <p:sp>
        <p:nvSpPr>
          <p:cNvPr id="19" name="Rectangle: Rounded Corners 14">
            <a:extLst>
              <a:ext uri="{FF2B5EF4-FFF2-40B4-BE49-F238E27FC236}">
                <a16:creationId xmlns:a16="http://schemas.microsoft.com/office/drawing/2014/main" id="{DC0FE7D5-9AC4-026F-ECE3-F4AFB2BDDA4D}"/>
              </a:ext>
            </a:extLst>
          </p:cNvPr>
          <p:cNvSpPr/>
          <p:nvPr/>
        </p:nvSpPr>
        <p:spPr>
          <a:xfrm>
            <a:off x="3495795" y="279981"/>
            <a:ext cx="7641392" cy="1372550"/>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7">
            <a:extLst>
              <a:ext uri="{FF2B5EF4-FFF2-40B4-BE49-F238E27FC236}">
                <a16:creationId xmlns:a16="http://schemas.microsoft.com/office/drawing/2014/main" id="{EFEB18A3-8111-41EB-A19A-6F7C88F7BA96}"/>
              </a:ext>
            </a:extLst>
          </p:cNvPr>
          <p:cNvSpPr txBox="1"/>
          <p:nvPr/>
        </p:nvSpPr>
        <p:spPr>
          <a:xfrm>
            <a:off x="3440026" y="850133"/>
            <a:ext cx="7697160"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Ce qu’il faut retenir</a:t>
            </a:r>
          </a:p>
        </p:txBody>
      </p:sp>
      <p:sp>
        <p:nvSpPr>
          <p:cNvPr id="23" name="TextBox 1">
            <a:extLst>
              <a:ext uri="{FF2B5EF4-FFF2-40B4-BE49-F238E27FC236}">
                <a16:creationId xmlns:a16="http://schemas.microsoft.com/office/drawing/2014/main" id="{9CB9573C-9952-C07B-FC42-B4FC768D176E}"/>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44" name="Oval 43">
            <a:extLst>
              <a:ext uri="{FF2B5EF4-FFF2-40B4-BE49-F238E27FC236}">
                <a16:creationId xmlns:a16="http://schemas.microsoft.com/office/drawing/2014/main" id="{AFD6DE7E-8085-DF01-7AD1-2855EC6964A1}"/>
              </a:ext>
            </a:extLst>
          </p:cNvPr>
          <p:cNvSpPr/>
          <p:nvPr/>
        </p:nvSpPr>
        <p:spPr>
          <a:xfrm>
            <a:off x="4567005" y="995472"/>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44">
            <a:extLst>
              <a:ext uri="{FF2B5EF4-FFF2-40B4-BE49-F238E27FC236}">
                <a16:creationId xmlns:a16="http://schemas.microsoft.com/office/drawing/2014/main" id="{3706348C-BC71-B502-D43C-78B4F42FE8D0}"/>
              </a:ext>
            </a:extLst>
          </p:cNvPr>
          <p:cNvCxnSpPr>
            <a:cxnSpLocks/>
          </p:cNvCxnSpPr>
          <p:nvPr/>
        </p:nvCxnSpPr>
        <p:spPr>
          <a:xfrm flipV="1">
            <a:off x="4738733" y="1167200"/>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280896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97A64E7-023B-1849-D439-94B1DD90E19E}"/>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61D5815-9DE4-E3AD-D6D9-BE80C83EE4FD}"/>
              </a:ext>
            </a:extLst>
          </p:cNvPr>
          <p:cNvSpPr>
            <a:spLocks noGrp="1"/>
          </p:cNvSpPr>
          <p:nvPr>
            <p:ph type="pic" sz="quarter" idx="10"/>
          </p:nvPr>
        </p:nvSpPr>
        <p:spPr>
          <a:xfrm>
            <a:off x="14514" y="15521"/>
            <a:ext cx="12192000" cy="6858000"/>
          </a:xfrm>
        </p:spPr>
        <p:txBody>
          <a:bodyPr/>
          <a:lstStyle/>
          <a:p>
            <a:endParaRPr lang="en-US" dirty="0"/>
          </a:p>
        </p:txBody>
      </p:sp>
      <p:sp>
        <p:nvSpPr>
          <p:cNvPr id="58" name="Rectangle: Rounded Corners 62">
            <a:extLst>
              <a:ext uri="{FF2B5EF4-FFF2-40B4-BE49-F238E27FC236}">
                <a16:creationId xmlns:a16="http://schemas.microsoft.com/office/drawing/2014/main" id="{8714FCC2-BB2C-E191-D5B2-119A73E2ED11}"/>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Freeform: Shape 3">
            <a:extLst>
              <a:ext uri="{FF2B5EF4-FFF2-40B4-BE49-F238E27FC236}">
                <a16:creationId xmlns:a16="http://schemas.microsoft.com/office/drawing/2014/main" id="{1A7728B3-26E5-F129-8E65-E55E42C5B384}"/>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Shape 4">
            <a:extLst>
              <a:ext uri="{FF2B5EF4-FFF2-40B4-BE49-F238E27FC236}">
                <a16:creationId xmlns:a16="http://schemas.microsoft.com/office/drawing/2014/main" id="{6268A87D-2EB2-EFBA-2A5F-6829948A371F}"/>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0420DA0C-0B90-3080-8E98-DD7B8E089701}"/>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E16075E0-79F3-BB95-6219-556ED712150F}"/>
              </a:ext>
            </a:extLst>
          </p:cNvPr>
          <p:cNvSpPr txBox="1"/>
          <p:nvPr/>
        </p:nvSpPr>
        <p:spPr>
          <a:xfrm>
            <a:off x="14514" y="728629"/>
            <a:ext cx="12192000" cy="1015663"/>
          </a:xfrm>
          <a:prstGeom prst="rect">
            <a:avLst/>
          </a:prstGeom>
          <a:noFill/>
        </p:spPr>
        <p:txBody>
          <a:bodyPr wrap="square" rtlCol="0">
            <a:spAutoFit/>
          </a:bodyPr>
          <a:lstStyle/>
          <a:p>
            <a:pPr algn="ctr"/>
            <a:r>
              <a:rPr lang="fr-FR" sz="6000" dirty="0">
                <a:solidFill>
                  <a:schemeClr val="bg1"/>
                </a:solidFill>
                <a:latin typeface="Space Grotesk Medium" pitchFamily="2" charset="0"/>
              </a:rPr>
              <a:t>Module 3</a:t>
            </a:r>
            <a:endParaRPr lang="en-US" sz="6000" dirty="0">
              <a:solidFill>
                <a:schemeClr val="bg1"/>
              </a:solidFill>
              <a:latin typeface="Space Grotesk Medium" pitchFamily="2" charset="0"/>
            </a:endParaRPr>
          </a:p>
        </p:txBody>
      </p:sp>
      <p:sp>
        <p:nvSpPr>
          <p:cNvPr id="9" name="Rectangle: Rounded Corners 14">
            <a:extLst>
              <a:ext uri="{FF2B5EF4-FFF2-40B4-BE49-F238E27FC236}">
                <a16:creationId xmlns:a16="http://schemas.microsoft.com/office/drawing/2014/main" id="{563E3308-7A22-2BE4-6FA9-5781EA1C871D}"/>
              </a:ext>
            </a:extLst>
          </p:cNvPr>
          <p:cNvSpPr/>
          <p:nvPr/>
        </p:nvSpPr>
        <p:spPr>
          <a:xfrm>
            <a:off x="2399070" y="2481177"/>
            <a:ext cx="7641392" cy="295258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7">
            <a:extLst>
              <a:ext uri="{FF2B5EF4-FFF2-40B4-BE49-F238E27FC236}">
                <a16:creationId xmlns:a16="http://schemas.microsoft.com/office/drawing/2014/main" id="{8D32E799-BF3F-65CC-AAA0-57F64F940844}"/>
              </a:ext>
            </a:extLst>
          </p:cNvPr>
          <p:cNvSpPr txBox="1"/>
          <p:nvPr/>
        </p:nvSpPr>
        <p:spPr>
          <a:xfrm>
            <a:off x="2399069" y="4059950"/>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Les sources de données, le Workflow, le prompt d’analyse du marché, les pièges à éviter</a:t>
            </a:r>
            <a:endParaRPr lang="en-US" sz="2000" b="1" dirty="0">
              <a:solidFill>
                <a:schemeClr val="tx2">
                  <a:alpha val="60000"/>
                </a:schemeClr>
              </a:solidFill>
            </a:endParaRPr>
          </a:p>
        </p:txBody>
      </p:sp>
      <p:sp>
        <p:nvSpPr>
          <p:cNvPr id="13" name="TextBox 1">
            <a:extLst>
              <a:ext uri="{FF2B5EF4-FFF2-40B4-BE49-F238E27FC236}">
                <a16:creationId xmlns:a16="http://schemas.microsoft.com/office/drawing/2014/main" id="{8793DC55-C267-AE80-E1C8-E9F5F871D373}"/>
              </a:ext>
            </a:extLst>
          </p:cNvPr>
          <p:cNvSpPr txBox="1"/>
          <p:nvPr/>
        </p:nvSpPr>
        <p:spPr>
          <a:xfrm>
            <a:off x="2399070" y="2503999"/>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Collecte et analyse des données du marché</a:t>
            </a:r>
            <a:endParaRPr lang="en-US" sz="4400" dirty="0">
              <a:solidFill>
                <a:schemeClr val="tx2"/>
              </a:solidFill>
              <a:latin typeface="Space Grotesk Medium" pitchFamily="2" charset="0"/>
            </a:endParaRPr>
          </a:p>
        </p:txBody>
      </p:sp>
    </p:spTree>
    <p:extLst>
      <p:ext uri="{BB962C8B-B14F-4D97-AF65-F5344CB8AC3E}">
        <p14:creationId xmlns:p14="http://schemas.microsoft.com/office/powerpoint/2010/main" val="403664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7F65C48-88E9-C8DB-578E-591B8B3C397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0B5364E-7EFF-B043-F291-21E97FE33468}"/>
              </a:ext>
            </a:extLst>
          </p:cNvPr>
          <p:cNvSpPr/>
          <p:nvPr/>
        </p:nvSpPr>
        <p:spPr>
          <a:xfrm>
            <a:off x="3495795" y="279981"/>
            <a:ext cx="7641392" cy="1940716"/>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7FCE46F0-8000-F0B6-6FC2-5CAB51085B00}"/>
              </a:ext>
            </a:extLst>
          </p:cNvPr>
          <p:cNvSpPr txBox="1"/>
          <p:nvPr/>
        </p:nvSpPr>
        <p:spPr>
          <a:xfrm>
            <a:off x="3495794" y="1580959"/>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Les sources de données, le Workflow, le prompt d’analyse du marché, les pièges à éviter</a:t>
            </a:r>
            <a:endParaRPr lang="en-US" sz="2000" b="1" dirty="0">
              <a:solidFill>
                <a:schemeClr val="tx2">
                  <a:alpha val="60000"/>
                </a:schemeClr>
              </a:solidFill>
            </a:endParaRPr>
          </a:p>
        </p:txBody>
      </p:sp>
      <p:sp>
        <p:nvSpPr>
          <p:cNvPr id="3" name="Oval 2">
            <a:extLst>
              <a:ext uri="{FF2B5EF4-FFF2-40B4-BE49-F238E27FC236}">
                <a16:creationId xmlns:a16="http://schemas.microsoft.com/office/drawing/2014/main" id="{539E9312-B7F3-9D59-B793-34D4AD1F812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8FE8961-7154-F11A-46B4-5D10CA7373E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86F7262A-8D15-9807-FFEA-1CFE61F094F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46908C9-67C0-A765-243D-3526AA39178C}"/>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Collecte et analyse </a:t>
            </a:r>
          </a:p>
          <a:p>
            <a:pPr algn="ctr"/>
            <a:r>
              <a:rPr lang="fr-FR" sz="4400" dirty="0">
                <a:solidFill>
                  <a:schemeClr val="tx2"/>
                </a:solidFill>
                <a:latin typeface="Space Grotesk Medium" pitchFamily="2" charset="0"/>
              </a:rPr>
              <a:t>des données du marché</a:t>
            </a:r>
          </a:p>
        </p:txBody>
      </p:sp>
      <p:sp>
        <p:nvSpPr>
          <p:cNvPr id="13" name="Freeform: Shape 3">
            <a:extLst>
              <a:ext uri="{FF2B5EF4-FFF2-40B4-BE49-F238E27FC236}">
                <a16:creationId xmlns:a16="http://schemas.microsoft.com/office/drawing/2014/main" id="{9F02AC5C-40E2-BD03-4628-20A91312431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Rounded Corners 14">
            <a:extLst>
              <a:ext uri="{FF2B5EF4-FFF2-40B4-BE49-F238E27FC236}">
                <a16:creationId xmlns:a16="http://schemas.microsoft.com/office/drawing/2014/main" id="{144CAE45-8F8D-9CB5-F252-F53457469A12}"/>
              </a:ext>
            </a:extLst>
          </p:cNvPr>
          <p:cNvSpPr/>
          <p:nvPr/>
        </p:nvSpPr>
        <p:spPr>
          <a:xfrm>
            <a:off x="1712701" y="3229676"/>
            <a:ext cx="3596627"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TextBox 1">
            <a:extLst>
              <a:ext uri="{FF2B5EF4-FFF2-40B4-BE49-F238E27FC236}">
                <a16:creationId xmlns:a16="http://schemas.microsoft.com/office/drawing/2014/main" id="{23CEED5A-FFEA-0BAF-C3EC-E2B27616E8C1}"/>
              </a:ext>
            </a:extLst>
          </p:cNvPr>
          <p:cNvSpPr txBox="1"/>
          <p:nvPr/>
        </p:nvSpPr>
        <p:spPr>
          <a:xfrm>
            <a:off x="1712702" y="3358401"/>
            <a:ext cx="3596628" cy="830997"/>
          </a:xfrm>
          <a:prstGeom prst="rect">
            <a:avLst/>
          </a:prstGeom>
          <a:noFill/>
        </p:spPr>
        <p:txBody>
          <a:bodyPr wrap="square" rtlCol="0">
            <a:spAutoFit/>
          </a:bodyPr>
          <a:lstStyle/>
          <a:p>
            <a:r>
              <a:rPr lang="fr-FR" sz="2400" dirty="0">
                <a:solidFill>
                  <a:schemeClr val="tx2"/>
                </a:solidFill>
                <a:latin typeface="Figtree"/>
              </a:rPr>
              <a:t>Cartographie des sources de données fiables</a:t>
            </a:r>
            <a:endParaRPr lang="en-US" sz="2400" dirty="0">
              <a:solidFill>
                <a:schemeClr val="tx2"/>
              </a:solidFill>
              <a:latin typeface="Figtree"/>
            </a:endParaRPr>
          </a:p>
        </p:txBody>
      </p:sp>
      <p:grpSp>
        <p:nvGrpSpPr>
          <p:cNvPr id="47" name="Groupe 46">
            <a:extLst>
              <a:ext uri="{FF2B5EF4-FFF2-40B4-BE49-F238E27FC236}">
                <a16:creationId xmlns:a16="http://schemas.microsoft.com/office/drawing/2014/main" id="{4A6C7C13-8C2E-2C19-FBC7-05E4384DEC6D}"/>
              </a:ext>
            </a:extLst>
          </p:cNvPr>
          <p:cNvGrpSpPr/>
          <p:nvPr/>
        </p:nvGrpSpPr>
        <p:grpSpPr>
          <a:xfrm>
            <a:off x="1275005" y="3599041"/>
            <a:ext cx="349715" cy="349715"/>
            <a:chOff x="406195" y="3079285"/>
            <a:chExt cx="495856" cy="495856"/>
          </a:xfrm>
        </p:grpSpPr>
        <p:sp>
          <p:nvSpPr>
            <p:cNvPr id="44" name="Oval 15">
              <a:extLst>
                <a:ext uri="{FF2B5EF4-FFF2-40B4-BE49-F238E27FC236}">
                  <a16:creationId xmlns:a16="http://schemas.microsoft.com/office/drawing/2014/main" id="{6C918A8A-DE7E-4370-0DD7-11F01FE93B8E}"/>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16">
              <a:extLst>
                <a:ext uri="{FF2B5EF4-FFF2-40B4-BE49-F238E27FC236}">
                  <a16:creationId xmlns:a16="http://schemas.microsoft.com/office/drawing/2014/main" id="{C13D2478-8F9E-F9CF-E0D7-72AAF9B1E02B}"/>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48" name="Rectangle: Rounded Corners 14">
            <a:extLst>
              <a:ext uri="{FF2B5EF4-FFF2-40B4-BE49-F238E27FC236}">
                <a16:creationId xmlns:a16="http://schemas.microsoft.com/office/drawing/2014/main" id="{7A6AD664-2524-8578-B357-7338D2DA50F4}"/>
              </a:ext>
            </a:extLst>
          </p:cNvPr>
          <p:cNvSpPr/>
          <p:nvPr/>
        </p:nvSpPr>
        <p:spPr>
          <a:xfrm>
            <a:off x="7288388" y="3232082"/>
            <a:ext cx="3848798"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9" name="Groupe 48">
            <a:extLst>
              <a:ext uri="{FF2B5EF4-FFF2-40B4-BE49-F238E27FC236}">
                <a16:creationId xmlns:a16="http://schemas.microsoft.com/office/drawing/2014/main" id="{4EE8618B-9098-86CB-1858-7CD0E6F037B6}"/>
              </a:ext>
            </a:extLst>
          </p:cNvPr>
          <p:cNvGrpSpPr/>
          <p:nvPr/>
        </p:nvGrpSpPr>
        <p:grpSpPr>
          <a:xfrm>
            <a:off x="6882671" y="3599041"/>
            <a:ext cx="349715" cy="349715"/>
            <a:chOff x="406195" y="3079285"/>
            <a:chExt cx="495856" cy="495856"/>
          </a:xfrm>
        </p:grpSpPr>
        <p:sp>
          <p:nvSpPr>
            <p:cNvPr id="50" name="Oval 15">
              <a:extLst>
                <a:ext uri="{FF2B5EF4-FFF2-40B4-BE49-F238E27FC236}">
                  <a16:creationId xmlns:a16="http://schemas.microsoft.com/office/drawing/2014/main" id="{5EDE212A-D8A2-8BC9-1AB4-2A421A59C58A}"/>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1" name="Straight Arrow Connector 16">
              <a:extLst>
                <a:ext uri="{FF2B5EF4-FFF2-40B4-BE49-F238E27FC236}">
                  <a16:creationId xmlns:a16="http://schemas.microsoft.com/office/drawing/2014/main" id="{C5DB8F80-DE42-0D0B-7153-F51D95C8D6A1}"/>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19" name="TextBox 1">
            <a:extLst>
              <a:ext uri="{FF2B5EF4-FFF2-40B4-BE49-F238E27FC236}">
                <a16:creationId xmlns:a16="http://schemas.microsoft.com/office/drawing/2014/main" id="{CDABCF49-4686-78E4-F975-2A720B7A22CD}"/>
              </a:ext>
            </a:extLst>
          </p:cNvPr>
          <p:cNvSpPr txBox="1"/>
          <p:nvPr/>
        </p:nvSpPr>
        <p:spPr>
          <a:xfrm>
            <a:off x="7288388" y="3334909"/>
            <a:ext cx="3848798" cy="830997"/>
          </a:xfrm>
          <a:prstGeom prst="rect">
            <a:avLst/>
          </a:prstGeom>
          <a:noFill/>
        </p:spPr>
        <p:txBody>
          <a:bodyPr wrap="square" rtlCol="0">
            <a:spAutoFit/>
          </a:bodyPr>
          <a:lstStyle/>
          <a:p>
            <a:r>
              <a:rPr lang="fr-FR" sz="2400" dirty="0">
                <a:solidFill>
                  <a:schemeClr val="tx2"/>
                </a:solidFill>
                <a:latin typeface="Figtree"/>
              </a:rPr>
              <a:t>Workflow : de la donnée brute au paragraphe rédigé</a:t>
            </a:r>
            <a:endParaRPr lang="en-US" sz="2400" dirty="0">
              <a:solidFill>
                <a:schemeClr val="tx2"/>
              </a:solidFill>
              <a:latin typeface="Figtree"/>
            </a:endParaRPr>
          </a:p>
        </p:txBody>
      </p:sp>
      <p:sp>
        <p:nvSpPr>
          <p:cNvPr id="52" name="Rectangle: Rounded Corners 14">
            <a:extLst>
              <a:ext uri="{FF2B5EF4-FFF2-40B4-BE49-F238E27FC236}">
                <a16:creationId xmlns:a16="http://schemas.microsoft.com/office/drawing/2014/main" id="{4F546623-FC9C-716C-309E-8AEDBC279E53}"/>
              </a:ext>
            </a:extLst>
          </p:cNvPr>
          <p:cNvSpPr/>
          <p:nvPr/>
        </p:nvSpPr>
        <p:spPr>
          <a:xfrm>
            <a:off x="7288388" y="4469061"/>
            <a:ext cx="3848798" cy="1399304"/>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3" name="Groupe 52">
            <a:extLst>
              <a:ext uri="{FF2B5EF4-FFF2-40B4-BE49-F238E27FC236}">
                <a16:creationId xmlns:a16="http://schemas.microsoft.com/office/drawing/2014/main" id="{B7EE4CE5-0826-C8B4-0D8F-D5518EA5508F}"/>
              </a:ext>
            </a:extLst>
          </p:cNvPr>
          <p:cNvGrpSpPr/>
          <p:nvPr/>
        </p:nvGrpSpPr>
        <p:grpSpPr>
          <a:xfrm>
            <a:off x="6882671" y="4836020"/>
            <a:ext cx="349715" cy="349715"/>
            <a:chOff x="406195" y="3079285"/>
            <a:chExt cx="495856" cy="495856"/>
          </a:xfrm>
        </p:grpSpPr>
        <p:sp>
          <p:nvSpPr>
            <p:cNvPr id="54" name="Oval 15">
              <a:extLst>
                <a:ext uri="{FF2B5EF4-FFF2-40B4-BE49-F238E27FC236}">
                  <a16:creationId xmlns:a16="http://schemas.microsoft.com/office/drawing/2014/main" id="{53D5C0D2-9162-FF34-202F-D0049F2B99BB}"/>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5" name="Straight Arrow Connector 16">
              <a:extLst>
                <a:ext uri="{FF2B5EF4-FFF2-40B4-BE49-F238E27FC236}">
                  <a16:creationId xmlns:a16="http://schemas.microsoft.com/office/drawing/2014/main" id="{F31859C9-5ECD-A7E0-A603-1661D4D4A3EB}"/>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32" name="TextBox 1">
            <a:extLst>
              <a:ext uri="{FF2B5EF4-FFF2-40B4-BE49-F238E27FC236}">
                <a16:creationId xmlns:a16="http://schemas.microsoft.com/office/drawing/2014/main" id="{4A388849-9A63-8DBE-65BB-13ADA4ADF7AC}"/>
              </a:ext>
            </a:extLst>
          </p:cNvPr>
          <p:cNvSpPr txBox="1"/>
          <p:nvPr/>
        </p:nvSpPr>
        <p:spPr>
          <a:xfrm>
            <a:off x="7364621" y="4565370"/>
            <a:ext cx="3619195" cy="1200329"/>
          </a:xfrm>
          <a:prstGeom prst="rect">
            <a:avLst/>
          </a:prstGeom>
          <a:noFill/>
        </p:spPr>
        <p:txBody>
          <a:bodyPr wrap="square" rtlCol="0">
            <a:spAutoFit/>
          </a:bodyPr>
          <a:lstStyle/>
          <a:p>
            <a:r>
              <a:rPr lang="fr-FR" sz="2400" dirty="0"/>
              <a:t>Les pièges à éviter : biais et hallucinations sur les données</a:t>
            </a:r>
            <a:endParaRPr lang="en-US" sz="2400" dirty="0">
              <a:solidFill>
                <a:schemeClr val="tx2"/>
              </a:solidFill>
              <a:latin typeface="Space Grotesk Medium" pitchFamily="2" charset="0"/>
            </a:endParaRPr>
          </a:p>
        </p:txBody>
      </p:sp>
      <p:sp>
        <p:nvSpPr>
          <p:cNvPr id="56" name="Rectangle: Rounded Corners 14">
            <a:extLst>
              <a:ext uri="{FF2B5EF4-FFF2-40B4-BE49-F238E27FC236}">
                <a16:creationId xmlns:a16="http://schemas.microsoft.com/office/drawing/2014/main" id="{8E642A06-ABE7-05B2-EE73-6029F5F9F22E}"/>
              </a:ext>
            </a:extLst>
          </p:cNvPr>
          <p:cNvSpPr/>
          <p:nvPr/>
        </p:nvSpPr>
        <p:spPr>
          <a:xfrm>
            <a:off x="1711863" y="4628683"/>
            <a:ext cx="293914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7" name="Groupe 56">
            <a:extLst>
              <a:ext uri="{FF2B5EF4-FFF2-40B4-BE49-F238E27FC236}">
                <a16:creationId xmlns:a16="http://schemas.microsoft.com/office/drawing/2014/main" id="{70C5735E-5CA9-E30D-38A3-30152E5C65D6}"/>
              </a:ext>
            </a:extLst>
          </p:cNvPr>
          <p:cNvGrpSpPr/>
          <p:nvPr/>
        </p:nvGrpSpPr>
        <p:grpSpPr>
          <a:xfrm>
            <a:off x="1306146" y="4836020"/>
            <a:ext cx="349715" cy="349715"/>
            <a:chOff x="406195" y="3079285"/>
            <a:chExt cx="495856" cy="495856"/>
          </a:xfrm>
        </p:grpSpPr>
        <p:sp>
          <p:nvSpPr>
            <p:cNvPr id="58" name="Oval 15">
              <a:extLst>
                <a:ext uri="{FF2B5EF4-FFF2-40B4-BE49-F238E27FC236}">
                  <a16:creationId xmlns:a16="http://schemas.microsoft.com/office/drawing/2014/main" id="{63803D2C-9F9F-0DE6-211D-C05E43295722}"/>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9" name="Straight Arrow Connector 16">
              <a:extLst>
                <a:ext uri="{FF2B5EF4-FFF2-40B4-BE49-F238E27FC236}">
                  <a16:creationId xmlns:a16="http://schemas.microsoft.com/office/drawing/2014/main" id="{6AF23154-D953-5631-AFC3-F5A933527DBE}"/>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21" name="TextBox 1">
            <a:extLst>
              <a:ext uri="{FF2B5EF4-FFF2-40B4-BE49-F238E27FC236}">
                <a16:creationId xmlns:a16="http://schemas.microsoft.com/office/drawing/2014/main" id="{143F5959-58A1-66D7-614C-3514E90E0B05}"/>
              </a:ext>
            </a:extLst>
          </p:cNvPr>
          <p:cNvSpPr txBox="1"/>
          <p:nvPr/>
        </p:nvSpPr>
        <p:spPr>
          <a:xfrm>
            <a:off x="1791203" y="4730108"/>
            <a:ext cx="2915808" cy="830997"/>
          </a:xfrm>
          <a:prstGeom prst="rect">
            <a:avLst/>
          </a:prstGeom>
          <a:noFill/>
        </p:spPr>
        <p:txBody>
          <a:bodyPr wrap="square" rtlCol="0">
            <a:spAutoFit/>
          </a:bodyPr>
          <a:lstStyle/>
          <a:p>
            <a:r>
              <a:rPr lang="fr-FR" sz="2400" dirty="0"/>
              <a:t>Le prompt d'analyse de marché</a:t>
            </a:r>
            <a:endParaRPr lang="en-US" sz="2400" dirty="0">
              <a:solidFill>
                <a:schemeClr val="tx2"/>
              </a:solidFill>
              <a:latin typeface="Figtree"/>
            </a:endParaRPr>
          </a:p>
        </p:txBody>
      </p:sp>
    </p:spTree>
    <p:extLst>
      <p:ext uri="{BB962C8B-B14F-4D97-AF65-F5344CB8AC3E}">
        <p14:creationId xmlns:p14="http://schemas.microsoft.com/office/powerpoint/2010/main" val="5104259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21E66F5-AFC7-5AB8-910F-199841317DF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DD26829-1BE6-9760-3D15-79D4D174CC19}"/>
              </a:ext>
            </a:extLst>
          </p:cNvPr>
          <p:cNvSpPr/>
          <p:nvPr/>
        </p:nvSpPr>
        <p:spPr>
          <a:xfrm>
            <a:off x="3495795" y="279981"/>
            <a:ext cx="7641392" cy="1940716"/>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3D5B09D8-A919-D409-E2D0-B9904B4A5013}"/>
              </a:ext>
            </a:extLst>
          </p:cNvPr>
          <p:cNvSpPr txBox="1"/>
          <p:nvPr/>
        </p:nvSpPr>
        <p:spPr>
          <a:xfrm>
            <a:off x="3495794" y="1580959"/>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Les sources de données, le Workflow, le prompt d’analyse du marché, les pièges à éviter</a:t>
            </a:r>
            <a:endParaRPr lang="en-US" sz="2000" b="1" dirty="0">
              <a:solidFill>
                <a:schemeClr val="tx2">
                  <a:alpha val="60000"/>
                </a:schemeClr>
              </a:solidFill>
            </a:endParaRPr>
          </a:p>
        </p:txBody>
      </p:sp>
      <p:sp>
        <p:nvSpPr>
          <p:cNvPr id="3" name="Oval 2">
            <a:extLst>
              <a:ext uri="{FF2B5EF4-FFF2-40B4-BE49-F238E27FC236}">
                <a16:creationId xmlns:a16="http://schemas.microsoft.com/office/drawing/2014/main" id="{7CCAFF88-A736-1B27-B369-CE6E15523BB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3C73C6C-8D65-ED44-B579-17BA2E32972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4FD59F8-FB7A-85DD-A0E7-1D6AAB29577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C866EC4A-65E3-2CE9-A897-4D837EB527D2}"/>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Collecte et analyse </a:t>
            </a:r>
          </a:p>
          <a:p>
            <a:pPr algn="ctr"/>
            <a:r>
              <a:rPr lang="fr-FR" sz="4400" dirty="0">
                <a:solidFill>
                  <a:schemeClr val="tx2"/>
                </a:solidFill>
                <a:latin typeface="Space Grotesk Medium" pitchFamily="2" charset="0"/>
              </a:rPr>
              <a:t>des données du marché</a:t>
            </a:r>
          </a:p>
        </p:txBody>
      </p:sp>
      <p:sp>
        <p:nvSpPr>
          <p:cNvPr id="13" name="Freeform: Shape 3">
            <a:extLst>
              <a:ext uri="{FF2B5EF4-FFF2-40B4-BE49-F238E27FC236}">
                <a16:creationId xmlns:a16="http://schemas.microsoft.com/office/drawing/2014/main" id="{3AF911FB-E5F9-BED0-F70A-C5F2DE0A268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08895D49-5F17-E5F1-D0DE-E6624D59B079}"/>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7" name="ZoneTexte 6">
            <a:extLst>
              <a:ext uri="{FF2B5EF4-FFF2-40B4-BE49-F238E27FC236}">
                <a16:creationId xmlns:a16="http://schemas.microsoft.com/office/drawing/2014/main" id="{20C43945-B711-8B6C-9B3A-4116F50310CA}"/>
              </a:ext>
            </a:extLst>
          </p:cNvPr>
          <p:cNvSpPr txBox="1"/>
          <p:nvPr/>
        </p:nvSpPr>
        <p:spPr>
          <a:xfrm>
            <a:off x="1157468" y="3368613"/>
            <a:ext cx="9979718" cy="1200329"/>
          </a:xfrm>
          <a:prstGeom prst="rect">
            <a:avLst/>
          </a:prstGeom>
          <a:noFill/>
        </p:spPr>
        <p:txBody>
          <a:bodyPr wrap="square">
            <a:spAutoFit/>
          </a:bodyPr>
          <a:lstStyle/>
          <a:p>
            <a:pPr algn="ctr"/>
            <a:r>
              <a:rPr lang="fr-FR" sz="3600" b="1" i="0" dirty="0">
                <a:solidFill>
                  <a:schemeClr val="tx1"/>
                </a:solidFill>
                <a:effectLst/>
                <a:latin typeface="Figtree"/>
              </a:rPr>
              <a:t>Comment extraire et exploiter les données DVF pour un rapport d'expertise immobilière ? </a:t>
            </a:r>
            <a:endParaRPr lang="fr-FR" sz="3600" b="1" dirty="0">
              <a:latin typeface="Figtree"/>
            </a:endParaRPr>
          </a:p>
        </p:txBody>
      </p:sp>
    </p:spTree>
    <p:extLst>
      <p:ext uri="{BB962C8B-B14F-4D97-AF65-F5344CB8AC3E}">
        <p14:creationId xmlns:p14="http://schemas.microsoft.com/office/powerpoint/2010/main" val="34503755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FBB0DC9-4588-395A-60D1-894DA338E7E3}"/>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9390E839-DD2B-6599-2ECF-943989A94B5A}"/>
              </a:ext>
            </a:extLst>
          </p:cNvPr>
          <p:cNvSpPr/>
          <p:nvPr/>
        </p:nvSpPr>
        <p:spPr>
          <a:xfrm>
            <a:off x="3495795" y="279981"/>
            <a:ext cx="7641392" cy="1940716"/>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D290CA9D-0A82-C0DD-B57D-41D384DB85F8}"/>
              </a:ext>
            </a:extLst>
          </p:cNvPr>
          <p:cNvSpPr txBox="1"/>
          <p:nvPr/>
        </p:nvSpPr>
        <p:spPr>
          <a:xfrm>
            <a:off x="3495794" y="1580959"/>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Les sources de données, le Workflow, le prompt d’analyse du marché, les pièges à éviter</a:t>
            </a:r>
            <a:endParaRPr lang="en-US" sz="2000" b="1" dirty="0">
              <a:solidFill>
                <a:schemeClr val="tx2">
                  <a:alpha val="60000"/>
                </a:schemeClr>
              </a:solidFill>
            </a:endParaRPr>
          </a:p>
        </p:txBody>
      </p:sp>
      <p:sp>
        <p:nvSpPr>
          <p:cNvPr id="3" name="Oval 2">
            <a:extLst>
              <a:ext uri="{FF2B5EF4-FFF2-40B4-BE49-F238E27FC236}">
                <a16:creationId xmlns:a16="http://schemas.microsoft.com/office/drawing/2014/main" id="{A3EEEE9E-CF04-02C0-3D03-B22279D1AF0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EDA89B6-9296-C49F-6D85-56556C91BF6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AEB73EF-2FE4-FF70-6BC7-7D5ECA16851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98A263FF-E36F-5211-4B78-EDED3A4B38AC}"/>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Collecte et analyse </a:t>
            </a:r>
          </a:p>
          <a:p>
            <a:pPr algn="ctr"/>
            <a:r>
              <a:rPr lang="fr-FR" sz="4400" dirty="0">
                <a:solidFill>
                  <a:schemeClr val="tx2"/>
                </a:solidFill>
                <a:latin typeface="Space Grotesk Medium" pitchFamily="2" charset="0"/>
              </a:rPr>
              <a:t>des données du marché</a:t>
            </a:r>
          </a:p>
        </p:txBody>
      </p:sp>
      <p:sp>
        <p:nvSpPr>
          <p:cNvPr id="13" name="Freeform: Shape 3">
            <a:extLst>
              <a:ext uri="{FF2B5EF4-FFF2-40B4-BE49-F238E27FC236}">
                <a16:creationId xmlns:a16="http://schemas.microsoft.com/office/drawing/2014/main" id="{7E719831-BB0A-E1D9-11D0-9AEB3C8F08B3}"/>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EA51CBD9-2344-4923-D84B-B5423DBC304A}"/>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6" name="ZoneTexte 5">
            <a:extLst>
              <a:ext uri="{FF2B5EF4-FFF2-40B4-BE49-F238E27FC236}">
                <a16:creationId xmlns:a16="http://schemas.microsoft.com/office/drawing/2014/main" id="{840DE517-AF6B-BC69-6E9E-43BE5F28C611}"/>
              </a:ext>
            </a:extLst>
          </p:cNvPr>
          <p:cNvSpPr txBox="1"/>
          <p:nvPr/>
        </p:nvSpPr>
        <p:spPr>
          <a:xfrm>
            <a:off x="144263" y="2461600"/>
            <a:ext cx="4239228" cy="2895664"/>
          </a:xfrm>
          <a:prstGeom prst="rect">
            <a:avLst/>
          </a:prstGeom>
          <a:noFill/>
        </p:spPr>
        <p:txBody>
          <a:bodyPr wrap="square">
            <a:spAutoFit/>
          </a:bodyPr>
          <a:lstStyle/>
          <a:p>
            <a:pPr marL="0" marR="0" indent="0" algn="l">
              <a:spcAft>
                <a:spcPts val="150"/>
              </a:spcAft>
              <a:buNone/>
            </a:pPr>
            <a:r>
              <a:rPr lang="fr-FR" sz="4000" b="0" i="0" dirty="0">
                <a:solidFill>
                  <a:schemeClr val="tx1"/>
                </a:solidFill>
                <a:effectLst/>
                <a:latin typeface="Figtree"/>
              </a:rPr>
              <a:t>DVF Etalab</a:t>
            </a:r>
          </a:p>
          <a:p>
            <a:pPr marL="0" marR="0" indent="0" algn="l">
              <a:buNone/>
            </a:pPr>
            <a:r>
              <a:rPr lang="fr-FR" sz="1600" b="0" i="0" dirty="0">
                <a:solidFill>
                  <a:schemeClr val="tx1"/>
                </a:solidFill>
                <a:effectLst/>
                <a:latin typeface="Figtree"/>
              </a:rPr>
              <a:t>app.dvf.etalab.gouv.fr</a:t>
            </a:r>
          </a:p>
          <a:p>
            <a:pPr marL="0" marR="0" indent="0" algn="l">
              <a:buNone/>
            </a:pPr>
            <a:endParaRPr lang="fr-FR" sz="1600" b="0" i="0" dirty="0">
              <a:solidFill>
                <a:schemeClr val="tx1"/>
              </a:solidFill>
              <a:effectLst/>
              <a:latin typeface="Figtree"/>
            </a:endParaRPr>
          </a:p>
          <a:p>
            <a:pPr marL="285750" marR="0" indent="-285750" algn="l">
              <a:buFont typeface="Arial" panose="020B0604020202020204" pitchFamily="34" charset="0"/>
              <a:buChar char="•"/>
            </a:pPr>
            <a:r>
              <a:rPr lang="fr-FR" sz="1600" b="0" i="0" dirty="0">
                <a:solidFill>
                  <a:schemeClr val="tx1"/>
                </a:solidFill>
                <a:effectLst/>
                <a:latin typeface="Figtree"/>
              </a:rPr>
              <a:t>Recommandé</a:t>
            </a:r>
          </a:p>
          <a:p>
            <a:pPr marL="285750" marR="0" indent="-285750" algn="l">
              <a:spcAft>
                <a:spcPts val="450"/>
              </a:spcAft>
              <a:buFont typeface="Arial" panose="020B0604020202020204" pitchFamily="34" charset="0"/>
              <a:buChar char="•"/>
            </a:pPr>
            <a:r>
              <a:rPr lang="fr-FR" sz="1600" b="0" i="0" dirty="0">
                <a:solidFill>
                  <a:schemeClr val="tx1"/>
                </a:solidFill>
                <a:effectLst/>
                <a:latin typeface="Figtree"/>
              </a:rPr>
              <a:t>Interface cartographique intuitive </a:t>
            </a:r>
          </a:p>
          <a:p>
            <a:pPr marL="285750" marR="0" indent="-285750" algn="l">
              <a:spcAft>
                <a:spcPts val="450"/>
              </a:spcAft>
              <a:buFont typeface="Arial" panose="020B0604020202020204" pitchFamily="34" charset="0"/>
              <a:buChar char="•"/>
            </a:pPr>
            <a:r>
              <a:rPr lang="fr-FR" sz="1600" b="0" i="0" dirty="0">
                <a:solidFill>
                  <a:schemeClr val="tx1"/>
                </a:solidFill>
                <a:effectLst/>
                <a:latin typeface="Figtree"/>
              </a:rPr>
              <a:t>Filtres par type de bien, période, surface</a:t>
            </a:r>
          </a:p>
          <a:p>
            <a:pPr marL="285750" marR="0" indent="-285750" algn="l">
              <a:spcAft>
                <a:spcPts val="450"/>
              </a:spcAft>
              <a:buFont typeface="Arial" panose="020B0604020202020204" pitchFamily="34" charset="0"/>
              <a:buChar char="•"/>
            </a:pPr>
            <a:r>
              <a:rPr lang="fr-FR" sz="1600" b="0" i="0" dirty="0">
                <a:solidFill>
                  <a:schemeClr val="tx1"/>
                </a:solidFill>
                <a:effectLst/>
                <a:latin typeface="Figtree"/>
              </a:rPr>
              <a:t>Export CSV des résultats filtrés</a:t>
            </a:r>
          </a:p>
          <a:p>
            <a:pPr marL="285750" marR="0" indent="-285750" algn="l">
              <a:spcAft>
                <a:spcPts val="450"/>
              </a:spcAft>
              <a:buFont typeface="Arial" panose="020B0604020202020204" pitchFamily="34" charset="0"/>
              <a:buChar char="•"/>
            </a:pPr>
            <a:r>
              <a:rPr lang="fr-FR" sz="1600" b="0" i="0" dirty="0">
                <a:solidFill>
                  <a:schemeClr val="tx1"/>
                </a:solidFill>
                <a:effectLst/>
                <a:latin typeface="Figtree"/>
              </a:rPr>
              <a:t>Données depuis 2014, mises à jour trimestrielles</a:t>
            </a:r>
            <a:endParaRPr lang="fr-FR" sz="1600" b="0" i="0" dirty="0">
              <a:solidFill>
                <a:srgbClr val="C3C2B7"/>
              </a:solidFill>
              <a:effectLst/>
              <a:latin typeface="Figtree"/>
            </a:endParaRPr>
          </a:p>
        </p:txBody>
      </p:sp>
      <p:sp>
        <p:nvSpPr>
          <p:cNvPr id="11" name="ZoneTexte 10">
            <a:extLst>
              <a:ext uri="{FF2B5EF4-FFF2-40B4-BE49-F238E27FC236}">
                <a16:creationId xmlns:a16="http://schemas.microsoft.com/office/drawing/2014/main" id="{7264D891-16BA-99C1-805D-76E44366D35F}"/>
              </a:ext>
            </a:extLst>
          </p:cNvPr>
          <p:cNvSpPr txBox="1"/>
          <p:nvPr/>
        </p:nvSpPr>
        <p:spPr>
          <a:xfrm>
            <a:off x="4236334" y="2461600"/>
            <a:ext cx="4474880" cy="3944670"/>
          </a:xfrm>
          <a:prstGeom prst="rect">
            <a:avLst/>
          </a:prstGeom>
          <a:noFill/>
        </p:spPr>
        <p:txBody>
          <a:bodyPr wrap="square" rtlCol="0">
            <a:spAutoFit/>
          </a:bodyPr>
          <a:lstStyle/>
          <a:p>
            <a:pPr>
              <a:spcAft>
                <a:spcPts val="150"/>
              </a:spcAft>
            </a:pPr>
            <a:r>
              <a:rPr lang="fr-FR" sz="4000" dirty="0" err="1">
                <a:latin typeface="Figtree"/>
              </a:rPr>
              <a:t>Patrim</a:t>
            </a:r>
            <a:endParaRPr lang="fr-FR" sz="4000" dirty="0">
              <a:latin typeface="Figtree"/>
            </a:endParaRPr>
          </a:p>
          <a:p>
            <a:r>
              <a:rPr lang="fr-FR" sz="1600" dirty="0">
                <a:latin typeface="Figtree"/>
              </a:rPr>
              <a:t>immo-data.fr/patrim</a:t>
            </a:r>
          </a:p>
          <a:p>
            <a:endParaRPr lang="fr-FR" sz="1600" dirty="0">
              <a:latin typeface="Figtree"/>
            </a:endParaRPr>
          </a:p>
          <a:p>
            <a:pPr marL="285750" indent="-285750">
              <a:buFont typeface="Arial" panose="020B0604020202020204" pitchFamily="34" charset="0"/>
              <a:buChar char="•"/>
            </a:pPr>
            <a:r>
              <a:rPr lang="fr-FR" sz="1600" dirty="0">
                <a:latin typeface="Figtree"/>
              </a:rPr>
              <a:t>Accès réservé</a:t>
            </a:r>
          </a:p>
          <a:p>
            <a:pPr marL="285750" indent="-285750">
              <a:spcAft>
                <a:spcPts val="450"/>
              </a:spcAft>
              <a:buFont typeface="Arial" panose="020B0604020202020204" pitchFamily="34" charset="0"/>
              <a:buChar char="•"/>
            </a:pPr>
            <a:r>
              <a:rPr lang="fr-FR" sz="1600" dirty="0">
                <a:latin typeface="Figtree"/>
              </a:rPr>
              <a:t>Interface graphique sur DVF, accès via impots.gouv.fr (compte personnel ou professionnel)</a:t>
            </a:r>
          </a:p>
          <a:p>
            <a:pPr marL="285750" indent="-285750">
              <a:spcAft>
                <a:spcPts val="450"/>
              </a:spcAft>
              <a:buFont typeface="Arial" panose="020B0604020202020204" pitchFamily="34" charset="0"/>
              <a:buChar char="•"/>
            </a:pPr>
            <a:r>
              <a:rPr lang="fr-FR" sz="1600" dirty="0">
                <a:latin typeface="Figtree"/>
              </a:rPr>
              <a:t>Recherche par rayon kilométrique autour d'une adresse</a:t>
            </a:r>
          </a:p>
          <a:p>
            <a:pPr marL="285750" indent="-285750">
              <a:spcAft>
                <a:spcPts val="450"/>
              </a:spcAft>
              <a:buFont typeface="Arial" panose="020B0604020202020204" pitchFamily="34" charset="0"/>
              <a:buChar char="•"/>
            </a:pPr>
            <a:r>
              <a:rPr lang="fr-FR" sz="1600" dirty="0">
                <a:latin typeface="Figtree"/>
              </a:rPr>
              <a:t>Affichage des transactions avec localisation précise</a:t>
            </a:r>
          </a:p>
          <a:p>
            <a:pPr marL="285750" indent="-285750">
              <a:spcAft>
                <a:spcPts val="450"/>
              </a:spcAft>
              <a:buFont typeface="Arial" panose="020B0604020202020204" pitchFamily="34" charset="0"/>
              <a:buChar char="•"/>
            </a:pPr>
            <a:r>
              <a:rPr lang="fr-FR" sz="1600" dirty="0">
                <a:latin typeface="Figtree"/>
              </a:rPr>
              <a:t>Pas d'export CSV natif — relevé manuel ou copie</a:t>
            </a:r>
          </a:p>
          <a:p>
            <a:pPr marL="285750" indent="-285750">
              <a:buFont typeface="Arial" panose="020B0604020202020204" pitchFamily="34" charset="0"/>
              <a:buChar char="•"/>
            </a:pPr>
            <a:r>
              <a:rPr lang="fr-FR" sz="1600" dirty="0">
                <a:latin typeface="Figtree"/>
              </a:rPr>
              <a:t>Accès professionnel</a:t>
            </a:r>
            <a:endParaRPr lang="fr-FR" dirty="0">
              <a:latin typeface="Figtree"/>
            </a:endParaRPr>
          </a:p>
        </p:txBody>
      </p:sp>
      <p:sp>
        <p:nvSpPr>
          <p:cNvPr id="14" name="ZoneTexte 13">
            <a:extLst>
              <a:ext uri="{FF2B5EF4-FFF2-40B4-BE49-F238E27FC236}">
                <a16:creationId xmlns:a16="http://schemas.microsoft.com/office/drawing/2014/main" id="{E0E21B1E-9F68-DD63-8D88-A11F344D5433}"/>
              </a:ext>
            </a:extLst>
          </p:cNvPr>
          <p:cNvSpPr txBox="1"/>
          <p:nvPr/>
        </p:nvSpPr>
        <p:spPr>
          <a:xfrm>
            <a:off x="8799710" y="2461600"/>
            <a:ext cx="3248028" cy="4442242"/>
          </a:xfrm>
          <a:prstGeom prst="rect">
            <a:avLst/>
          </a:prstGeom>
          <a:noFill/>
        </p:spPr>
        <p:txBody>
          <a:bodyPr wrap="square" rtlCol="0">
            <a:spAutoFit/>
          </a:bodyPr>
          <a:lstStyle/>
          <a:p>
            <a:r>
              <a:rPr lang="fr-FR" sz="4000" dirty="0">
                <a:latin typeface="Figtree"/>
              </a:rPr>
              <a:t>data.gouv.fr</a:t>
            </a:r>
            <a:endParaRPr lang="fr-FR" sz="1600" dirty="0">
              <a:latin typeface="Figtree"/>
            </a:endParaRPr>
          </a:p>
          <a:p>
            <a:r>
              <a:rPr lang="fr-FR" sz="1600" dirty="0">
                <a:latin typeface="Figtree"/>
              </a:rPr>
              <a:t>data.gouv.fr/</a:t>
            </a:r>
            <a:r>
              <a:rPr lang="fr-FR" sz="1600" dirty="0" err="1">
                <a:latin typeface="Figtree"/>
              </a:rPr>
              <a:t>datasets</a:t>
            </a:r>
            <a:r>
              <a:rPr lang="fr-FR" sz="1600" dirty="0">
                <a:latin typeface="Figtree"/>
              </a:rPr>
              <a:t>/demandes-de-valeurs-</a:t>
            </a:r>
            <a:r>
              <a:rPr lang="fr-FR" sz="1600" dirty="0" err="1">
                <a:latin typeface="Figtree"/>
              </a:rPr>
              <a:t>foncieres</a:t>
            </a:r>
            <a:endParaRPr lang="fr-FR" sz="1600" dirty="0">
              <a:latin typeface="Figtree"/>
            </a:endParaRPr>
          </a:p>
          <a:p>
            <a:pPr marL="285750" indent="-285750">
              <a:buFont typeface="Arial" panose="020B0604020202020204" pitchFamily="34" charset="0"/>
              <a:buChar char="•"/>
            </a:pPr>
            <a:r>
              <a:rPr lang="fr-FR" sz="1600" dirty="0">
                <a:latin typeface="Figtree"/>
              </a:rPr>
              <a:t>fichier brut</a:t>
            </a:r>
          </a:p>
          <a:p>
            <a:pPr marL="285750" indent="-285750">
              <a:buFont typeface="Arial" panose="020B0604020202020204" pitchFamily="34" charset="0"/>
              <a:buChar char="•"/>
            </a:pPr>
            <a:r>
              <a:rPr lang="fr-FR" sz="1600" dirty="0">
                <a:latin typeface="Figtree"/>
              </a:rPr>
              <a:t>Usage avancé</a:t>
            </a:r>
          </a:p>
          <a:p>
            <a:pPr marL="285750" indent="-285750">
              <a:spcAft>
                <a:spcPts val="450"/>
              </a:spcAft>
              <a:buFont typeface="Arial" panose="020B0604020202020204" pitchFamily="34" charset="0"/>
              <a:buChar char="•"/>
            </a:pPr>
            <a:r>
              <a:rPr lang="fr-FR" sz="1600" dirty="0">
                <a:latin typeface="Figtree"/>
              </a:rPr>
              <a:t>Téléchargement du fichier CSV complet par département</a:t>
            </a:r>
          </a:p>
          <a:p>
            <a:pPr marL="285750" indent="-285750">
              <a:spcAft>
                <a:spcPts val="450"/>
              </a:spcAft>
              <a:buFont typeface="Arial" panose="020B0604020202020204" pitchFamily="34" charset="0"/>
              <a:buChar char="•"/>
            </a:pPr>
            <a:r>
              <a:rPr lang="fr-FR" sz="1600" dirty="0">
                <a:latin typeface="Figtree"/>
              </a:rPr>
              <a:t>Nécessite Excel ou un tableur pour filtrer</a:t>
            </a:r>
          </a:p>
          <a:p>
            <a:pPr marL="285750" indent="-285750">
              <a:spcAft>
                <a:spcPts val="450"/>
              </a:spcAft>
              <a:buFont typeface="Arial" panose="020B0604020202020204" pitchFamily="34" charset="0"/>
              <a:buChar char="•"/>
            </a:pPr>
            <a:r>
              <a:rPr lang="fr-FR" sz="1600" dirty="0">
                <a:latin typeface="Figtree"/>
              </a:rPr>
              <a:t>Volume important — fichier de plusieurs centaines de Mo</a:t>
            </a:r>
          </a:p>
          <a:p>
            <a:pPr marL="285750" indent="-285750">
              <a:spcAft>
                <a:spcPts val="450"/>
              </a:spcAft>
              <a:buFont typeface="Arial" panose="020B0604020202020204" pitchFamily="34" charset="0"/>
              <a:buChar char="•"/>
            </a:pPr>
            <a:r>
              <a:rPr lang="fr-FR" sz="1600" dirty="0">
                <a:latin typeface="Figtree"/>
              </a:rPr>
              <a:t>Données brutes sans interface — pour utilisateurs avancés</a:t>
            </a:r>
            <a:endParaRPr lang="fr-FR" sz="1600" dirty="0">
              <a:solidFill>
                <a:srgbClr val="C3C2B7"/>
              </a:solidFill>
              <a:latin typeface="Figtree"/>
            </a:endParaRPr>
          </a:p>
          <a:p>
            <a:endParaRPr lang="fr-FR" sz="1600" dirty="0">
              <a:latin typeface="Figtree"/>
            </a:endParaRPr>
          </a:p>
          <a:p>
            <a:endParaRPr lang="fr-FR" dirty="0">
              <a:latin typeface="Figtree"/>
            </a:endParaRPr>
          </a:p>
        </p:txBody>
      </p:sp>
      <p:sp>
        <p:nvSpPr>
          <p:cNvPr id="17" name="Étoile : 7 branches 16">
            <a:extLst>
              <a:ext uri="{FF2B5EF4-FFF2-40B4-BE49-F238E27FC236}">
                <a16:creationId xmlns:a16="http://schemas.microsoft.com/office/drawing/2014/main" id="{0C845E3D-BD03-CDF9-A58B-1E08BFA6AD7D}"/>
              </a:ext>
            </a:extLst>
          </p:cNvPr>
          <p:cNvSpPr/>
          <p:nvPr/>
        </p:nvSpPr>
        <p:spPr>
          <a:xfrm>
            <a:off x="2774122" y="2537769"/>
            <a:ext cx="554096" cy="540203"/>
          </a:xfrm>
          <a:prstGeom prst="star7">
            <a:avLst/>
          </a:prstGeom>
          <a:solidFill>
            <a:srgbClr val="FFFF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6D33AB46-5611-EE5E-74FB-F343E26361EF}"/>
              </a:ext>
            </a:extLst>
          </p:cNvPr>
          <p:cNvSpPr txBox="1"/>
          <p:nvPr/>
        </p:nvSpPr>
        <p:spPr>
          <a:xfrm>
            <a:off x="115670" y="1408204"/>
            <a:ext cx="3542081" cy="830997"/>
          </a:xfrm>
          <a:prstGeom prst="rect">
            <a:avLst/>
          </a:prstGeom>
          <a:noFill/>
        </p:spPr>
        <p:txBody>
          <a:bodyPr wrap="square">
            <a:spAutoFit/>
          </a:bodyPr>
          <a:lstStyle/>
          <a:p>
            <a:r>
              <a:rPr lang="fr-FR" sz="2400" dirty="0">
                <a:solidFill>
                  <a:schemeClr val="tx2"/>
                </a:solidFill>
                <a:latin typeface="Figtree"/>
              </a:rPr>
              <a:t>Cartographie des sources </a:t>
            </a:r>
          </a:p>
          <a:p>
            <a:r>
              <a:rPr lang="fr-FR" sz="2400" dirty="0">
                <a:solidFill>
                  <a:schemeClr val="tx2"/>
                </a:solidFill>
                <a:latin typeface="Figtree"/>
              </a:rPr>
              <a:t>de données fiables</a:t>
            </a:r>
            <a:endParaRPr lang="en-US" sz="2400" dirty="0">
              <a:solidFill>
                <a:schemeClr val="tx2"/>
              </a:solidFill>
              <a:latin typeface="Figtree"/>
            </a:endParaRPr>
          </a:p>
        </p:txBody>
      </p:sp>
    </p:spTree>
    <p:extLst>
      <p:ext uri="{BB962C8B-B14F-4D97-AF65-F5344CB8AC3E}">
        <p14:creationId xmlns:p14="http://schemas.microsoft.com/office/powerpoint/2010/main" val="27524849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049B067-7139-3EFE-6659-DEFF5DB27433}"/>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0826F0AE-3E91-61DD-CAE7-B34BC29069B3}"/>
              </a:ext>
            </a:extLst>
          </p:cNvPr>
          <p:cNvSpPr/>
          <p:nvPr/>
        </p:nvSpPr>
        <p:spPr>
          <a:xfrm>
            <a:off x="3495795" y="279981"/>
            <a:ext cx="7641392" cy="1940716"/>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37662ED2-7A60-DF31-6048-AB4B7325514B}"/>
              </a:ext>
            </a:extLst>
          </p:cNvPr>
          <p:cNvSpPr txBox="1"/>
          <p:nvPr/>
        </p:nvSpPr>
        <p:spPr>
          <a:xfrm>
            <a:off x="3495794" y="1580959"/>
            <a:ext cx="7641392" cy="707886"/>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Les sources de données, le Workflow, le prompt d’analyse du marché, les pièges à éviter</a:t>
            </a:r>
            <a:endParaRPr lang="en-US" sz="2000" b="1" dirty="0">
              <a:solidFill>
                <a:schemeClr val="tx2">
                  <a:alpha val="60000"/>
                </a:schemeClr>
              </a:solidFill>
            </a:endParaRPr>
          </a:p>
        </p:txBody>
      </p:sp>
      <p:sp>
        <p:nvSpPr>
          <p:cNvPr id="3" name="Oval 2">
            <a:extLst>
              <a:ext uri="{FF2B5EF4-FFF2-40B4-BE49-F238E27FC236}">
                <a16:creationId xmlns:a16="http://schemas.microsoft.com/office/drawing/2014/main" id="{D7E780CB-D2AE-B257-2EE4-19C769FEFAF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10C4032-25BB-631C-BC2A-F583C8DCC54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DD224E8-D35E-5913-BB7D-87C2CC4FC0E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589AE04-0D4D-C030-D255-DC57CB40B6B9}"/>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Collecte et analyse </a:t>
            </a:r>
          </a:p>
          <a:p>
            <a:pPr algn="ctr"/>
            <a:r>
              <a:rPr lang="fr-FR" sz="4400" dirty="0">
                <a:solidFill>
                  <a:schemeClr val="tx2"/>
                </a:solidFill>
                <a:latin typeface="Space Grotesk Medium" pitchFamily="2" charset="0"/>
              </a:rPr>
              <a:t>des données du marché</a:t>
            </a:r>
          </a:p>
        </p:txBody>
      </p:sp>
      <p:sp>
        <p:nvSpPr>
          <p:cNvPr id="13" name="Freeform: Shape 3">
            <a:extLst>
              <a:ext uri="{FF2B5EF4-FFF2-40B4-BE49-F238E27FC236}">
                <a16:creationId xmlns:a16="http://schemas.microsoft.com/office/drawing/2014/main" id="{B54E0EA5-FECB-B477-21DA-E8A616975E5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0A480120-A3EE-8ADF-5025-FCAD0831E27A}"/>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sp>
        <p:nvSpPr>
          <p:cNvPr id="6" name="ZoneTexte 5">
            <a:extLst>
              <a:ext uri="{FF2B5EF4-FFF2-40B4-BE49-F238E27FC236}">
                <a16:creationId xmlns:a16="http://schemas.microsoft.com/office/drawing/2014/main" id="{D1F20FFD-15AA-6662-91EF-C175A2795450}"/>
              </a:ext>
            </a:extLst>
          </p:cNvPr>
          <p:cNvSpPr txBox="1"/>
          <p:nvPr/>
        </p:nvSpPr>
        <p:spPr>
          <a:xfrm>
            <a:off x="144263" y="2461600"/>
            <a:ext cx="4239228" cy="3252172"/>
          </a:xfrm>
          <a:prstGeom prst="rect">
            <a:avLst/>
          </a:prstGeom>
          <a:noFill/>
        </p:spPr>
        <p:txBody>
          <a:bodyPr wrap="square">
            <a:spAutoFit/>
          </a:bodyPr>
          <a:lstStyle/>
          <a:p>
            <a:pPr marL="0" marR="0" indent="0" algn="l">
              <a:spcAft>
                <a:spcPts val="150"/>
              </a:spcAft>
              <a:buNone/>
            </a:pPr>
            <a:r>
              <a:rPr lang="fr-FR" sz="4000" b="0" i="0" dirty="0" err="1">
                <a:solidFill>
                  <a:schemeClr val="tx1"/>
                </a:solidFill>
                <a:effectLst/>
                <a:latin typeface="Figtree"/>
              </a:rPr>
              <a:t>Meilleuragents</a:t>
            </a:r>
            <a:r>
              <a:rPr lang="fr-FR" sz="4000" b="0" i="0" dirty="0">
                <a:solidFill>
                  <a:schemeClr val="tx1"/>
                </a:solidFill>
                <a:effectLst/>
                <a:latin typeface="Figtree"/>
              </a:rPr>
              <a:t> </a:t>
            </a:r>
          </a:p>
          <a:p>
            <a:pPr marL="0" marR="0" indent="0" algn="l">
              <a:spcAft>
                <a:spcPts val="150"/>
              </a:spcAft>
              <a:buNone/>
            </a:pPr>
            <a:r>
              <a:rPr lang="fr-FR" sz="4000" b="0" i="0" dirty="0">
                <a:solidFill>
                  <a:schemeClr val="tx1"/>
                </a:solidFill>
                <a:effectLst/>
                <a:latin typeface="Figtree"/>
              </a:rPr>
              <a:t>/ </a:t>
            </a:r>
            <a:r>
              <a:rPr lang="fr-FR" sz="4000" b="0" i="0" dirty="0" err="1">
                <a:solidFill>
                  <a:schemeClr val="tx1"/>
                </a:solidFill>
                <a:effectLst/>
                <a:latin typeface="Figtree"/>
              </a:rPr>
              <a:t>SeLoger</a:t>
            </a:r>
            <a:endParaRPr lang="fr-FR" sz="4000" b="0" i="0" dirty="0">
              <a:solidFill>
                <a:schemeClr val="tx1"/>
              </a:solidFill>
              <a:effectLst/>
              <a:latin typeface="Figtree"/>
            </a:endParaRPr>
          </a:p>
          <a:p>
            <a:r>
              <a:rPr lang="fr-FR" sz="1600" dirty="0">
                <a:latin typeface="Figtree"/>
              </a:rPr>
              <a:t>data.meilleursagents.com</a:t>
            </a:r>
          </a:p>
          <a:p>
            <a:endParaRPr lang="fr-FR" sz="1600" b="0" i="0" dirty="0">
              <a:solidFill>
                <a:schemeClr val="tx1"/>
              </a:solidFill>
              <a:effectLst/>
              <a:latin typeface="Figtree"/>
            </a:endParaRPr>
          </a:p>
          <a:p>
            <a:r>
              <a:rPr lang="fr-FR" dirty="0"/>
              <a:t>Indices de prix au m² par ville et quartier, mise à jour mensuelle. Utile pour situer le marché et identifier les tendances récentes.</a:t>
            </a:r>
          </a:p>
          <a:p>
            <a:r>
              <a:rPr lang="fr-FR" i="1" dirty="0"/>
              <a:t>Contexte de marché et tendances</a:t>
            </a:r>
          </a:p>
        </p:txBody>
      </p:sp>
      <p:sp>
        <p:nvSpPr>
          <p:cNvPr id="11" name="ZoneTexte 10">
            <a:extLst>
              <a:ext uri="{FF2B5EF4-FFF2-40B4-BE49-F238E27FC236}">
                <a16:creationId xmlns:a16="http://schemas.microsoft.com/office/drawing/2014/main" id="{64E2FA50-9D07-1913-03D4-9391D16645C9}"/>
              </a:ext>
            </a:extLst>
          </p:cNvPr>
          <p:cNvSpPr txBox="1"/>
          <p:nvPr/>
        </p:nvSpPr>
        <p:spPr>
          <a:xfrm>
            <a:off x="4236334" y="2461600"/>
            <a:ext cx="4474880" cy="3570208"/>
          </a:xfrm>
          <a:prstGeom prst="rect">
            <a:avLst/>
          </a:prstGeom>
          <a:noFill/>
        </p:spPr>
        <p:txBody>
          <a:bodyPr wrap="square" rtlCol="0">
            <a:spAutoFit/>
          </a:bodyPr>
          <a:lstStyle/>
          <a:p>
            <a:r>
              <a:rPr lang="fr-FR" sz="4000" dirty="0">
                <a:latin typeface="Figtree"/>
              </a:rPr>
              <a:t>FNAIM / Observatoires locaux</a:t>
            </a:r>
          </a:p>
          <a:p>
            <a:endParaRPr lang="fr-FR" sz="1600" dirty="0">
              <a:latin typeface="Figtree"/>
            </a:endParaRPr>
          </a:p>
          <a:p>
            <a:r>
              <a:rPr lang="fr-FR" dirty="0"/>
              <a:t>Rapports de marché périodiques par secteur géographique avec analyses qualitatives et indicateurs de tension.</a:t>
            </a:r>
          </a:p>
          <a:p>
            <a:endParaRPr lang="fr-FR" dirty="0"/>
          </a:p>
          <a:p>
            <a:r>
              <a:rPr lang="fr-FR" i="1" dirty="0"/>
              <a:t>Argumentaire de contexte macroéconomique</a:t>
            </a:r>
          </a:p>
        </p:txBody>
      </p:sp>
      <p:sp>
        <p:nvSpPr>
          <p:cNvPr id="14" name="ZoneTexte 13">
            <a:extLst>
              <a:ext uri="{FF2B5EF4-FFF2-40B4-BE49-F238E27FC236}">
                <a16:creationId xmlns:a16="http://schemas.microsoft.com/office/drawing/2014/main" id="{886D42D7-D59D-9FE9-9663-D0DC9A66F2AE}"/>
              </a:ext>
            </a:extLst>
          </p:cNvPr>
          <p:cNvSpPr txBox="1"/>
          <p:nvPr/>
        </p:nvSpPr>
        <p:spPr>
          <a:xfrm>
            <a:off x="8799710" y="2461600"/>
            <a:ext cx="3248028" cy="3570208"/>
          </a:xfrm>
          <a:prstGeom prst="rect">
            <a:avLst/>
          </a:prstGeom>
          <a:noFill/>
        </p:spPr>
        <p:txBody>
          <a:bodyPr wrap="square" rtlCol="0">
            <a:spAutoFit/>
          </a:bodyPr>
          <a:lstStyle/>
          <a:p>
            <a:r>
              <a:rPr lang="fr-FR" sz="4000" dirty="0">
                <a:latin typeface="Figtree"/>
              </a:rPr>
              <a:t>Logiciels métier (</a:t>
            </a:r>
            <a:r>
              <a:rPr lang="fr-FR" sz="4000" dirty="0" err="1"/>
              <a:t>Lexpertim</a:t>
            </a:r>
            <a:r>
              <a:rPr lang="fr-FR" sz="4000" dirty="0">
                <a:latin typeface="Figtree"/>
              </a:rPr>
              <a:t>,...)</a:t>
            </a:r>
          </a:p>
          <a:p>
            <a:endParaRPr lang="fr-FR" sz="1600" dirty="0">
              <a:latin typeface="Figtree"/>
            </a:endParaRPr>
          </a:p>
          <a:p>
            <a:r>
              <a:rPr lang="fr-FR" dirty="0"/>
              <a:t>Certains logiciels d'expertise intègrent des bases de comparables avec export structuré, directement exploitable par l'IA</a:t>
            </a:r>
            <a:endParaRPr lang="fr-FR" dirty="0">
              <a:latin typeface="Figtree"/>
            </a:endParaRPr>
          </a:p>
        </p:txBody>
      </p:sp>
      <p:sp>
        <p:nvSpPr>
          <p:cNvPr id="19" name="ZoneTexte 18">
            <a:extLst>
              <a:ext uri="{FF2B5EF4-FFF2-40B4-BE49-F238E27FC236}">
                <a16:creationId xmlns:a16="http://schemas.microsoft.com/office/drawing/2014/main" id="{9DD2505D-ACF3-3520-C245-5C9F6E1DB94C}"/>
              </a:ext>
            </a:extLst>
          </p:cNvPr>
          <p:cNvSpPr txBox="1"/>
          <p:nvPr/>
        </p:nvSpPr>
        <p:spPr>
          <a:xfrm>
            <a:off x="115670" y="1408204"/>
            <a:ext cx="3542081" cy="830997"/>
          </a:xfrm>
          <a:prstGeom prst="rect">
            <a:avLst/>
          </a:prstGeom>
          <a:noFill/>
        </p:spPr>
        <p:txBody>
          <a:bodyPr wrap="square">
            <a:spAutoFit/>
          </a:bodyPr>
          <a:lstStyle/>
          <a:p>
            <a:r>
              <a:rPr lang="fr-FR" sz="2400" dirty="0">
                <a:solidFill>
                  <a:schemeClr val="tx2"/>
                </a:solidFill>
                <a:latin typeface="Figtree"/>
              </a:rPr>
              <a:t>Cartographie des sources </a:t>
            </a:r>
          </a:p>
          <a:p>
            <a:r>
              <a:rPr lang="fr-FR" sz="2400" dirty="0">
                <a:solidFill>
                  <a:schemeClr val="tx2"/>
                </a:solidFill>
                <a:latin typeface="Figtree"/>
              </a:rPr>
              <a:t>de données fiables</a:t>
            </a:r>
            <a:endParaRPr lang="en-US" sz="2400" dirty="0">
              <a:solidFill>
                <a:schemeClr val="tx2"/>
              </a:solidFill>
              <a:latin typeface="Figtree"/>
            </a:endParaRPr>
          </a:p>
        </p:txBody>
      </p:sp>
    </p:spTree>
    <p:extLst>
      <p:ext uri="{BB962C8B-B14F-4D97-AF65-F5344CB8AC3E}">
        <p14:creationId xmlns:p14="http://schemas.microsoft.com/office/powerpoint/2010/main" val="2219343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AA1FE28-CC2D-E199-DE20-4DAE814A7B1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3E0A634-2D7E-1E77-B256-2BD193A68E2E}"/>
              </a:ext>
            </a:extLst>
          </p:cNvPr>
          <p:cNvSpPr/>
          <p:nvPr/>
        </p:nvSpPr>
        <p:spPr>
          <a:xfrm>
            <a:off x="3495795" y="279981"/>
            <a:ext cx="7641392" cy="1940716"/>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5526A7EB-6A89-D20A-15D3-ACCCDCDFC6B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09B3D9-0C26-5572-D4F7-2CA13DC3DB4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C0E5167-BB9F-3C08-6DFB-6DB7295175CA}"/>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A3990FE-6A4A-AAA3-2C1A-2C399CEA9421}"/>
              </a:ext>
            </a:extLst>
          </p:cNvPr>
          <p:cNvSpPr txBox="1"/>
          <p:nvPr/>
        </p:nvSpPr>
        <p:spPr>
          <a:xfrm>
            <a:off x="3495796" y="164303"/>
            <a:ext cx="7641391" cy="2123658"/>
          </a:xfrm>
          <a:prstGeom prst="rect">
            <a:avLst/>
          </a:prstGeom>
          <a:noFill/>
        </p:spPr>
        <p:txBody>
          <a:bodyPr wrap="square" rtlCol="0">
            <a:spAutoFit/>
          </a:bodyPr>
          <a:lstStyle/>
          <a:p>
            <a:pPr algn="ctr"/>
            <a:r>
              <a:rPr lang="fr-FR" sz="4400" dirty="0">
                <a:solidFill>
                  <a:schemeClr val="tx2"/>
                </a:solidFill>
                <a:latin typeface="Space Grotesk Medium" pitchFamily="2" charset="0"/>
              </a:rPr>
              <a:t>Workflow : de la donnée brute au paragraphe rédigé des données du marché</a:t>
            </a:r>
          </a:p>
        </p:txBody>
      </p:sp>
      <p:sp>
        <p:nvSpPr>
          <p:cNvPr id="13" name="Freeform: Shape 3">
            <a:extLst>
              <a:ext uri="{FF2B5EF4-FFF2-40B4-BE49-F238E27FC236}">
                <a16:creationId xmlns:a16="http://schemas.microsoft.com/office/drawing/2014/main" id="{CF61D332-6655-8868-590D-C8699D22527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392B62A0-9FA7-0EA7-6D35-2ABC5F7A1135}"/>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8D0F5FAC-ADAD-170B-80E0-11B599746EF9}"/>
              </a:ext>
            </a:extLst>
          </p:cNvPr>
          <p:cNvSpPr txBox="1"/>
          <p:nvPr/>
        </p:nvSpPr>
        <p:spPr>
          <a:xfrm>
            <a:off x="3582497" y="3507674"/>
            <a:ext cx="5539530" cy="1384995"/>
          </a:xfrm>
          <a:prstGeom prst="rect">
            <a:avLst/>
          </a:prstGeom>
          <a:noFill/>
        </p:spPr>
        <p:txBody>
          <a:bodyPr wrap="none" rtlCol="0">
            <a:spAutoFit/>
          </a:bodyPr>
          <a:lstStyle/>
          <a:p>
            <a:pPr algn="ctr"/>
            <a:r>
              <a:rPr lang="fr-FR" sz="2800" dirty="0"/>
              <a:t>Rue Keller :</a:t>
            </a:r>
          </a:p>
          <a:p>
            <a:pPr algn="ctr"/>
            <a:r>
              <a:rPr lang="fr-FR" sz="2800" dirty="0"/>
              <a:t>un appartement T3 </a:t>
            </a:r>
          </a:p>
          <a:p>
            <a:pPr algn="ctr"/>
            <a:r>
              <a:rPr lang="fr-FR" sz="2800" dirty="0"/>
              <a:t>dans le 11e arrondissement de Paris.</a:t>
            </a:r>
          </a:p>
        </p:txBody>
      </p:sp>
      <p:sp>
        <p:nvSpPr>
          <p:cNvPr id="9" name="ZoneTexte 8">
            <a:extLst>
              <a:ext uri="{FF2B5EF4-FFF2-40B4-BE49-F238E27FC236}">
                <a16:creationId xmlns:a16="http://schemas.microsoft.com/office/drawing/2014/main" id="{BA721734-57FE-80B6-065F-AAA26C0A6656}"/>
              </a:ext>
            </a:extLst>
          </p:cNvPr>
          <p:cNvSpPr txBox="1"/>
          <p:nvPr/>
        </p:nvSpPr>
        <p:spPr>
          <a:xfrm>
            <a:off x="995135" y="2760060"/>
            <a:ext cx="2587362" cy="979755"/>
          </a:xfrm>
          <a:prstGeom prst="rect">
            <a:avLst/>
          </a:prstGeom>
          <a:noFill/>
        </p:spPr>
        <p:txBody>
          <a:bodyPr wrap="square">
            <a:spAutoFit/>
          </a:bodyPr>
          <a:lstStyle/>
          <a:p>
            <a:pPr marL="0" marR="0" indent="0" algn="l">
              <a:spcAft>
                <a:spcPts val="150"/>
              </a:spcAft>
              <a:buNone/>
            </a:pPr>
            <a:r>
              <a:rPr lang="fr-FR" sz="4000" b="0" i="0" dirty="0">
                <a:solidFill>
                  <a:schemeClr val="tx1"/>
                </a:solidFill>
                <a:effectLst/>
                <a:latin typeface="Figtree"/>
              </a:rPr>
              <a:t>DVF Etalab</a:t>
            </a:r>
          </a:p>
          <a:p>
            <a:pPr marL="0" marR="0" indent="0" algn="l">
              <a:buNone/>
            </a:pPr>
            <a:r>
              <a:rPr lang="fr-FR" sz="1600" b="0" i="0" dirty="0">
                <a:solidFill>
                  <a:schemeClr val="tx1"/>
                </a:solidFill>
                <a:effectLst/>
                <a:latin typeface="Figtree"/>
              </a:rPr>
              <a:t>app.dvf.etalab.gouv.fr</a:t>
            </a:r>
            <a:endParaRPr lang="fr-FR" sz="1600" b="0" i="0" dirty="0">
              <a:solidFill>
                <a:srgbClr val="C3C2B7"/>
              </a:solidFill>
              <a:effectLst/>
              <a:latin typeface="Figtree"/>
            </a:endParaRPr>
          </a:p>
        </p:txBody>
      </p:sp>
      <p:sp>
        <p:nvSpPr>
          <p:cNvPr id="16" name="ZoneTexte 15">
            <a:extLst>
              <a:ext uri="{FF2B5EF4-FFF2-40B4-BE49-F238E27FC236}">
                <a16:creationId xmlns:a16="http://schemas.microsoft.com/office/drawing/2014/main" id="{9E4DE7E0-812B-E996-1642-ACF15407E0EA}"/>
              </a:ext>
            </a:extLst>
          </p:cNvPr>
          <p:cNvSpPr txBox="1"/>
          <p:nvPr/>
        </p:nvSpPr>
        <p:spPr>
          <a:xfrm>
            <a:off x="5729592" y="3054804"/>
            <a:ext cx="1095493" cy="369332"/>
          </a:xfrm>
          <a:prstGeom prst="rect">
            <a:avLst/>
          </a:prstGeom>
          <a:noFill/>
        </p:spPr>
        <p:txBody>
          <a:bodyPr wrap="none" rtlCol="0">
            <a:spAutoFit/>
          </a:bodyPr>
          <a:lstStyle/>
          <a:p>
            <a:r>
              <a:rPr lang="fr-FR" dirty="0"/>
              <a:t>Exemple :</a:t>
            </a:r>
          </a:p>
        </p:txBody>
      </p:sp>
      <p:sp>
        <p:nvSpPr>
          <p:cNvPr id="18" name="ZoneTexte 17">
            <a:extLst>
              <a:ext uri="{FF2B5EF4-FFF2-40B4-BE49-F238E27FC236}">
                <a16:creationId xmlns:a16="http://schemas.microsoft.com/office/drawing/2014/main" id="{508F429D-DBA3-3859-586C-2E1E552CE03A}"/>
              </a:ext>
            </a:extLst>
          </p:cNvPr>
          <p:cNvSpPr txBox="1"/>
          <p:nvPr/>
        </p:nvSpPr>
        <p:spPr>
          <a:xfrm>
            <a:off x="9286139" y="5085698"/>
            <a:ext cx="2587362" cy="707886"/>
          </a:xfrm>
          <a:prstGeom prst="rect">
            <a:avLst/>
          </a:prstGeom>
          <a:noFill/>
        </p:spPr>
        <p:txBody>
          <a:bodyPr wrap="square">
            <a:spAutoFit/>
          </a:bodyPr>
          <a:lstStyle/>
          <a:p>
            <a:pPr marL="0" marR="0" indent="0" algn="l">
              <a:spcAft>
                <a:spcPts val="150"/>
              </a:spcAft>
              <a:buNone/>
            </a:pPr>
            <a:r>
              <a:rPr lang="fr-FR" sz="4000" b="0" i="0" dirty="0">
                <a:solidFill>
                  <a:schemeClr val="tx1"/>
                </a:solidFill>
                <a:effectLst/>
                <a:latin typeface="Figtree"/>
              </a:rPr>
              <a:t>Export CSV</a:t>
            </a:r>
          </a:p>
        </p:txBody>
      </p:sp>
    </p:spTree>
    <p:extLst>
      <p:ext uri="{BB962C8B-B14F-4D97-AF65-F5344CB8AC3E}">
        <p14:creationId xmlns:p14="http://schemas.microsoft.com/office/powerpoint/2010/main" val="33025705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D9AFCEF-91B8-EFC3-7147-42FA2601436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929F00B-A863-DD85-82DC-001F90E965D9}"/>
              </a:ext>
            </a:extLst>
          </p:cNvPr>
          <p:cNvSpPr/>
          <p:nvPr/>
        </p:nvSpPr>
        <p:spPr>
          <a:xfrm>
            <a:off x="3495795" y="279981"/>
            <a:ext cx="7641392" cy="1940716"/>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D4CF14D-2947-BEA3-10D6-4F4BF66860E6}"/>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6883A4E-9F77-864B-8CF6-FA9CC41129F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3BE5497-3E2E-C015-3A90-35309F1C9EA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5FBBA2C-C755-72C5-3158-CEA500D214D5}"/>
              </a:ext>
            </a:extLst>
          </p:cNvPr>
          <p:cNvSpPr txBox="1"/>
          <p:nvPr/>
        </p:nvSpPr>
        <p:spPr>
          <a:xfrm>
            <a:off x="3495796" y="164303"/>
            <a:ext cx="7641391" cy="2123658"/>
          </a:xfrm>
          <a:prstGeom prst="rect">
            <a:avLst/>
          </a:prstGeom>
          <a:noFill/>
        </p:spPr>
        <p:txBody>
          <a:bodyPr wrap="square" rtlCol="0">
            <a:spAutoFit/>
          </a:bodyPr>
          <a:lstStyle/>
          <a:p>
            <a:pPr algn="ctr"/>
            <a:r>
              <a:rPr lang="fr-FR" sz="4400" dirty="0">
                <a:solidFill>
                  <a:schemeClr val="tx2"/>
                </a:solidFill>
                <a:latin typeface="Space Grotesk Medium" pitchFamily="2" charset="0"/>
              </a:rPr>
              <a:t>Workflow : de la donnée brute au paragraphe rédigé des données du marché</a:t>
            </a:r>
          </a:p>
        </p:txBody>
      </p:sp>
      <p:sp>
        <p:nvSpPr>
          <p:cNvPr id="13" name="Freeform: Shape 3">
            <a:extLst>
              <a:ext uri="{FF2B5EF4-FFF2-40B4-BE49-F238E27FC236}">
                <a16:creationId xmlns:a16="http://schemas.microsoft.com/office/drawing/2014/main" id="{974745C3-AFE1-82E7-53C5-256A8A87BBD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6BDB896B-F578-D081-54DE-9F25DE86807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8" name="ZoneTexte 7">
            <a:extLst>
              <a:ext uri="{FF2B5EF4-FFF2-40B4-BE49-F238E27FC236}">
                <a16:creationId xmlns:a16="http://schemas.microsoft.com/office/drawing/2014/main" id="{894B7935-D05C-9326-EE7E-52AD8200C35A}"/>
              </a:ext>
            </a:extLst>
          </p:cNvPr>
          <p:cNvSpPr txBox="1"/>
          <p:nvPr/>
        </p:nvSpPr>
        <p:spPr>
          <a:xfrm>
            <a:off x="242578" y="1337440"/>
            <a:ext cx="2999860" cy="1200329"/>
          </a:xfrm>
          <a:prstGeom prst="rect">
            <a:avLst/>
          </a:prstGeom>
          <a:noFill/>
        </p:spPr>
        <p:txBody>
          <a:bodyPr wrap="none" rtlCol="0">
            <a:spAutoFit/>
          </a:bodyPr>
          <a:lstStyle/>
          <a:p>
            <a:pPr algn="ctr"/>
            <a:r>
              <a:rPr lang="fr-FR" sz="2400" b="1" dirty="0">
                <a:latin typeface="Figtree"/>
              </a:rPr>
              <a:t>Le fichier DVF brut :</a:t>
            </a:r>
          </a:p>
          <a:p>
            <a:pPr algn="ctr"/>
            <a:r>
              <a:rPr lang="fr-FR" sz="2400" b="1" dirty="0">
                <a:latin typeface="Figtree"/>
              </a:rPr>
              <a:t> 43 colonnes, </a:t>
            </a:r>
          </a:p>
          <a:p>
            <a:pPr algn="ctr"/>
            <a:r>
              <a:rPr lang="fr-FR" sz="2400" b="1" dirty="0">
                <a:latin typeface="Figtree"/>
              </a:rPr>
              <a:t>dont 8 vraiment utiles</a:t>
            </a:r>
            <a:endParaRPr lang="fr-FR" sz="2400" dirty="0">
              <a:latin typeface="Figtree"/>
            </a:endParaRPr>
          </a:p>
        </p:txBody>
      </p:sp>
      <p:sp>
        <p:nvSpPr>
          <p:cNvPr id="11" name="ZoneTexte 10">
            <a:extLst>
              <a:ext uri="{FF2B5EF4-FFF2-40B4-BE49-F238E27FC236}">
                <a16:creationId xmlns:a16="http://schemas.microsoft.com/office/drawing/2014/main" id="{82ECEB89-802D-01D5-1FD8-4CC31377E161}"/>
              </a:ext>
            </a:extLst>
          </p:cNvPr>
          <p:cNvSpPr txBox="1"/>
          <p:nvPr/>
        </p:nvSpPr>
        <p:spPr>
          <a:xfrm>
            <a:off x="353719" y="2675767"/>
            <a:ext cx="11838281" cy="3990836"/>
          </a:xfrm>
          <a:prstGeom prst="rect">
            <a:avLst/>
          </a:prstGeom>
          <a:noFill/>
        </p:spPr>
        <p:txBody>
          <a:bodyPr wrap="square" rtlCol="0">
            <a:spAutoFit/>
          </a:bodyPr>
          <a:lstStyle/>
          <a:p>
            <a:r>
              <a:rPr lang="fr-FR" b="1" cap="all" dirty="0">
                <a:latin typeface="Figtree"/>
              </a:rPr>
              <a:t>Colonnes essentielles — à conserver impérativement POUR L’IA</a:t>
            </a:r>
          </a:p>
          <a:p>
            <a:endParaRPr lang="fr-FR" cap="all" dirty="0">
              <a:latin typeface="Figtree"/>
            </a:endParaRPr>
          </a:p>
          <a:p>
            <a:pPr>
              <a:lnSpc>
                <a:spcPts val="2800"/>
              </a:lnSpc>
            </a:pPr>
            <a:r>
              <a:rPr lang="fr-FR" dirty="0" err="1">
                <a:solidFill>
                  <a:srgbClr val="00B050"/>
                </a:solidFill>
                <a:latin typeface="Figtree"/>
              </a:rPr>
              <a:t>date_mutation</a:t>
            </a:r>
            <a:r>
              <a:rPr lang="fr-FR" dirty="0">
                <a:latin typeface="Figtree"/>
              </a:rPr>
              <a:t>		Date de la vente — indispensable pour qualifier la période d'observation</a:t>
            </a:r>
          </a:p>
          <a:p>
            <a:pPr>
              <a:lnSpc>
                <a:spcPts val="2800"/>
              </a:lnSpc>
            </a:pPr>
            <a:r>
              <a:rPr lang="fr-FR" dirty="0" err="1">
                <a:solidFill>
                  <a:srgbClr val="00B050"/>
                </a:solidFill>
                <a:latin typeface="Figtree"/>
              </a:rPr>
              <a:t>valeur_fonciere</a:t>
            </a:r>
            <a:r>
              <a:rPr lang="fr-FR" dirty="0">
                <a:latin typeface="Figtree"/>
              </a:rPr>
              <a:t>		Prix de vente total — la donnée centrale pour l’analyse comparative</a:t>
            </a:r>
          </a:p>
          <a:p>
            <a:pPr>
              <a:lnSpc>
                <a:spcPts val="2800"/>
              </a:lnSpc>
            </a:pPr>
            <a:r>
              <a:rPr lang="fr-FR" dirty="0" err="1">
                <a:solidFill>
                  <a:srgbClr val="00B050"/>
                </a:solidFill>
                <a:latin typeface="Figtree"/>
              </a:rPr>
              <a:t>surface_reelle_bati</a:t>
            </a:r>
            <a:r>
              <a:rPr lang="fr-FR" dirty="0">
                <a:latin typeface="Figtree"/>
              </a:rPr>
              <a:t>		Surface du bien en m² — permet de calculer le prix unitaire au m²</a:t>
            </a:r>
          </a:p>
          <a:p>
            <a:pPr>
              <a:lnSpc>
                <a:spcPts val="2800"/>
              </a:lnSpc>
            </a:pPr>
            <a:r>
              <a:rPr lang="fr-FR" dirty="0" err="1">
                <a:latin typeface="Figtree"/>
              </a:rPr>
              <a:t>type_local</a:t>
            </a:r>
            <a:r>
              <a:rPr lang="fr-FR" dirty="0">
                <a:latin typeface="Figtree"/>
              </a:rPr>
              <a:t>		Appartement / maison / dépendance — filtre de base pour n'avoir que des biens comparables</a:t>
            </a:r>
          </a:p>
          <a:p>
            <a:pPr>
              <a:lnSpc>
                <a:spcPts val="2800"/>
              </a:lnSpc>
            </a:pPr>
            <a:r>
              <a:rPr lang="fr-FR" dirty="0" err="1">
                <a:latin typeface="Figtree"/>
              </a:rPr>
              <a:t>adresse_numero</a:t>
            </a:r>
            <a:r>
              <a:rPr lang="fr-FR" dirty="0">
                <a:latin typeface="Figtree"/>
              </a:rPr>
              <a:t> + voie	Localisation de la transaction — permet la vérification et la géolocalisation sur carte</a:t>
            </a:r>
          </a:p>
          <a:p>
            <a:pPr>
              <a:lnSpc>
                <a:spcPts val="2800"/>
              </a:lnSpc>
            </a:pPr>
            <a:r>
              <a:rPr lang="fr-FR" dirty="0" err="1">
                <a:latin typeface="Figtree"/>
              </a:rPr>
              <a:t>nombre_pieces_principales</a:t>
            </a:r>
            <a:r>
              <a:rPr lang="fr-FR" dirty="0">
                <a:latin typeface="Figtree"/>
              </a:rPr>
              <a:t>	T2 / T3 / T4 etc. — critère de comparabilité directe avec le bien expertisé</a:t>
            </a:r>
          </a:p>
          <a:p>
            <a:pPr>
              <a:lnSpc>
                <a:spcPts val="2800"/>
              </a:lnSpc>
            </a:pPr>
            <a:r>
              <a:rPr lang="fr-FR" b="1" dirty="0">
                <a:solidFill>
                  <a:srgbClr val="00B050"/>
                </a:solidFill>
                <a:latin typeface="Figtree"/>
              </a:rPr>
              <a:t>DONNEES CALCULEES DANS EXCEL</a:t>
            </a:r>
          </a:p>
          <a:p>
            <a:r>
              <a:rPr lang="fr-FR" b="1" dirty="0"/>
              <a:t>prix_m2 (calculée)		= </a:t>
            </a:r>
            <a:r>
              <a:rPr lang="fr-FR" b="1" dirty="0" err="1"/>
              <a:t>valeur_fonciere</a:t>
            </a:r>
            <a:r>
              <a:rPr lang="fr-FR" b="1" dirty="0"/>
              <a:t> ÷ </a:t>
            </a:r>
            <a:r>
              <a:rPr lang="fr-FR" b="1" dirty="0" err="1"/>
              <a:t>surface_reelle_bati</a:t>
            </a:r>
            <a:r>
              <a:rPr lang="fr-FR" b="1" dirty="0"/>
              <a:t> — la colonne la plus utilisée dans l'analyse, </a:t>
            </a:r>
          </a:p>
          <a:p>
            <a:r>
              <a:rPr lang="fr-FR" b="1" dirty="0"/>
              <a:t>			absente du CSV brut</a:t>
            </a:r>
          </a:p>
          <a:p>
            <a:r>
              <a:rPr lang="fr-FR" b="1" dirty="0" err="1"/>
              <a:t>année_mois</a:t>
            </a:r>
            <a:r>
              <a:rPr lang="fr-FR" b="1" dirty="0"/>
              <a:t> (calculée)	= format court de </a:t>
            </a:r>
            <a:r>
              <a:rPr lang="fr-FR" b="1" dirty="0" err="1"/>
              <a:t>date_mutation</a:t>
            </a:r>
            <a:r>
              <a:rPr lang="fr-FR" b="1" dirty="0"/>
              <a:t> — facilite le tri chronologique et la lecture par l'IA</a:t>
            </a:r>
          </a:p>
        </p:txBody>
      </p:sp>
    </p:spTree>
    <p:extLst>
      <p:ext uri="{BB962C8B-B14F-4D97-AF65-F5344CB8AC3E}">
        <p14:creationId xmlns:p14="http://schemas.microsoft.com/office/powerpoint/2010/main" val="26175262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5175647-D7B6-D06A-8DAD-B4E9D2F86B5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05364831-87D8-2F7D-D884-E9C5DFA3BFDD}"/>
              </a:ext>
            </a:extLst>
          </p:cNvPr>
          <p:cNvSpPr/>
          <p:nvPr/>
        </p:nvSpPr>
        <p:spPr>
          <a:xfrm>
            <a:off x="3495795" y="279981"/>
            <a:ext cx="7641392" cy="85387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0EE4DE7-E036-4025-8A05-B1F2A8F5B75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00B2FE-CF75-294E-7B43-987FDBB3EE6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98EB4D6-0E91-E853-E4A0-526B60374BD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8B0101C-430D-FD6A-C273-7555CE6F949B}"/>
              </a:ext>
            </a:extLst>
          </p:cNvPr>
          <p:cNvSpPr txBox="1"/>
          <p:nvPr/>
        </p:nvSpPr>
        <p:spPr>
          <a:xfrm>
            <a:off x="3495796" y="274031"/>
            <a:ext cx="7641391" cy="769441"/>
          </a:xfrm>
          <a:prstGeom prst="rect">
            <a:avLst/>
          </a:prstGeom>
          <a:noFill/>
        </p:spPr>
        <p:txBody>
          <a:bodyPr wrap="square" rtlCol="0">
            <a:spAutoFit/>
          </a:bodyPr>
          <a:lstStyle/>
          <a:p>
            <a:pPr algn="ctr"/>
            <a:r>
              <a:rPr lang="fr-FR" sz="4400" dirty="0">
                <a:solidFill>
                  <a:schemeClr val="tx2"/>
                </a:solidFill>
                <a:latin typeface="Space Grotesk Medium" pitchFamily="2" charset="0"/>
              </a:rPr>
              <a:t>Le prompt d'analyse de marché</a:t>
            </a:r>
          </a:p>
        </p:txBody>
      </p:sp>
      <p:sp>
        <p:nvSpPr>
          <p:cNvPr id="13" name="Freeform: Shape 3">
            <a:extLst>
              <a:ext uri="{FF2B5EF4-FFF2-40B4-BE49-F238E27FC236}">
                <a16:creationId xmlns:a16="http://schemas.microsoft.com/office/drawing/2014/main" id="{A1B209C3-DBCE-30CA-6DE8-777ADCF7EA0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7F362834-F80F-ECDB-15B3-BC048DE93AC5}"/>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6" name="ZoneTexte 5">
            <a:extLst>
              <a:ext uri="{FF2B5EF4-FFF2-40B4-BE49-F238E27FC236}">
                <a16:creationId xmlns:a16="http://schemas.microsoft.com/office/drawing/2014/main" id="{B4BAD2FD-8637-9461-4759-62605995BA33}"/>
              </a:ext>
            </a:extLst>
          </p:cNvPr>
          <p:cNvSpPr txBox="1"/>
          <p:nvPr/>
        </p:nvSpPr>
        <p:spPr>
          <a:xfrm>
            <a:off x="622570" y="2161434"/>
            <a:ext cx="11140790" cy="3769622"/>
          </a:xfrm>
          <a:prstGeom prst="rect">
            <a:avLst/>
          </a:prstGeom>
          <a:noFill/>
        </p:spPr>
        <p:txBody>
          <a:bodyPr wrap="square" rtlCol="0">
            <a:spAutoFit/>
          </a:bodyPr>
          <a:lstStyle/>
          <a:p>
            <a:pPr>
              <a:lnSpc>
                <a:spcPts val="2400"/>
              </a:lnSpc>
            </a:pPr>
            <a:r>
              <a:rPr lang="fr-FR" b="1" dirty="0">
                <a:latin typeface="Figtree"/>
              </a:rPr>
              <a:t>Réf.	Adresse approx. 		Surface   	Prix total		</a:t>
            </a:r>
            <a:r>
              <a:rPr lang="fr-FR" b="1" dirty="0">
                <a:solidFill>
                  <a:srgbClr val="00B050"/>
                </a:solidFill>
                <a:latin typeface="Figtree"/>
              </a:rPr>
              <a:t>Prix/m²	Date</a:t>
            </a:r>
            <a:r>
              <a:rPr lang="fr-FR" b="1" dirty="0">
                <a:latin typeface="Figtree"/>
              </a:rPr>
              <a:t>		</a:t>
            </a:r>
            <a:r>
              <a:rPr lang="fr-FR" b="1" dirty="0">
                <a:solidFill>
                  <a:srgbClr val="FF0000"/>
                </a:solidFill>
                <a:latin typeface="Figtree"/>
              </a:rPr>
              <a:t>Étage	État</a:t>
            </a:r>
          </a:p>
          <a:p>
            <a:pPr>
              <a:lnSpc>
                <a:spcPts val="2400"/>
              </a:lnSpc>
            </a:pPr>
            <a:endParaRPr lang="fr-FR" b="1" dirty="0">
              <a:latin typeface="Figtree"/>
            </a:endParaRPr>
          </a:p>
          <a:p>
            <a:pPr>
              <a:lnSpc>
                <a:spcPts val="2400"/>
              </a:lnSpc>
            </a:pPr>
            <a:r>
              <a:rPr lang="fr-FR" dirty="0">
                <a:latin typeface="Figtree"/>
              </a:rPr>
              <a:t>C-01     	Rue de la Roquette		64 m²	582 400 €	</a:t>
            </a:r>
            <a:r>
              <a:rPr lang="fr-FR" dirty="0">
                <a:solidFill>
                  <a:srgbClr val="00B050"/>
                </a:solidFill>
                <a:latin typeface="Figtree"/>
              </a:rPr>
              <a:t>9 100 €	Fév. 2024	</a:t>
            </a:r>
            <a:r>
              <a:rPr lang="fr-FR" dirty="0">
                <a:latin typeface="Figtree"/>
              </a:rPr>
              <a:t>	2</a:t>
            </a:r>
            <a:r>
              <a:rPr lang="fr-FR" baseline="30000" dirty="0">
                <a:latin typeface="Figtree"/>
              </a:rPr>
              <a:t>e</a:t>
            </a:r>
            <a:r>
              <a:rPr lang="fr-FR" dirty="0">
                <a:latin typeface="Figtree"/>
              </a:rPr>
              <a:t>	Courant</a:t>
            </a:r>
          </a:p>
          <a:p>
            <a:pPr>
              <a:lnSpc>
                <a:spcPts val="2400"/>
              </a:lnSpc>
            </a:pPr>
            <a:r>
              <a:rPr lang="fr-FR" dirty="0">
                <a:latin typeface="Figtree"/>
              </a:rPr>
              <a:t>C-02     	Avenue Ledru-Rollin	71 m²	682 560 €	</a:t>
            </a:r>
            <a:r>
              <a:rPr lang="fr-FR" dirty="0">
                <a:solidFill>
                  <a:srgbClr val="00B050"/>
                </a:solidFill>
                <a:latin typeface="Figtree"/>
              </a:rPr>
              <a:t>9 614 €	Mars 2024</a:t>
            </a:r>
            <a:r>
              <a:rPr lang="fr-FR" dirty="0">
                <a:latin typeface="Figtree"/>
              </a:rPr>
              <a:t>	4e </a:t>
            </a:r>
            <a:r>
              <a:rPr lang="fr-FR" dirty="0" err="1">
                <a:latin typeface="Figtree"/>
              </a:rPr>
              <a:t>asc</a:t>
            </a:r>
            <a:r>
              <a:rPr lang="fr-FR" dirty="0">
                <a:latin typeface="Figtree"/>
              </a:rPr>
              <a:t>	Rénové</a:t>
            </a:r>
          </a:p>
          <a:p>
            <a:pPr>
              <a:lnSpc>
                <a:spcPts val="2400"/>
              </a:lnSpc>
            </a:pPr>
            <a:r>
              <a:rPr lang="fr-FR" dirty="0">
                <a:latin typeface="Figtree"/>
              </a:rPr>
              <a:t>C-03     	Rue de la Folie Méricourt	58 m²	513 220 €	</a:t>
            </a:r>
            <a:r>
              <a:rPr lang="fr-FR" dirty="0">
                <a:solidFill>
                  <a:srgbClr val="00B050"/>
                </a:solidFill>
                <a:latin typeface="Figtree"/>
              </a:rPr>
              <a:t>8 849 €	Janv. 2024</a:t>
            </a:r>
            <a:r>
              <a:rPr lang="fr-FR" dirty="0">
                <a:latin typeface="Figtree"/>
              </a:rPr>
              <a:t>	1</a:t>
            </a:r>
            <a:r>
              <a:rPr lang="fr-FR" baseline="30000" dirty="0">
                <a:latin typeface="Figtree"/>
              </a:rPr>
              <a:t>er</a:t>
            </a:r>
            <a:r>
              <a:rPr lang="fr-FR" dirty="0">
                <a:latin typeface="Figtree"/>
              </a:rPr>
              <a:t>	Courant</a:t>
            </a:r>
          </a:p>
          <a:p>
            <a:pPr>
              <a:lnSpc>
                <a:spcPts val="2400"/>
              </a:lnSpc>
            </a:pPr>
            <a:r>
              <a:rPr lang="fr-FR" dirty="0">
                <a:latin typeface="Figtree"/>
              </a:rPr>
              <a:t>C-04     	Rue Oberkampf		75 m²	712 500 €	</a:t>
            </a:r>
            <a:r>
              <a:rPr lang="fr-FR" dirty="0">
                <a:solidFill>
                  <a:srgbClr val="00B050"/>
                </a:solidFill>
                <a:latin typeface="Figtree"/>
              </a:rPr>
              <a:t>9 500 €	Avr. 2024</a:t>
            </a:r>
            <a:r>
              <a:rPr lang="fr-FR" dirty="0">
                <a:latin typeface="Figtree"/>
              </a:rPr>
              <a:t>		3e </a:t>
            </a:r>
            <a:r>
              <a:rPr lang="fr-FR" dirty="0" err="1">
                <a:latin typeface="Figtree"/>
              </a:rPr>
              <a:t>asc</a:t>
            </a:r>
            <a:r>
              <a:rPr lang="fr-FR" dirty="0">
                <a:latin typeface="Figtree"/>
              </a:rPr>
              <a:t>	Rénové</a:t>
            </a:r>
          </a:p>
          <a:p>
            <a:pPr>
              <a:lnSpc>
                <a:spcPts val="2400"/>
              </a:lnSpc>
            </a:pPr>
            <a:r>
              <a:rPr lang="fr-FR" dirty="0">
                <a:latin typeface="Figtree"/>
              </a:rPr>
              <a:t>C-05     	Rue Saint-Maur		62 m²	544 380 €	</a:t>
            </a:r>
            <a:r>
              <a:rPr lang="fr-FR" dirty="0">
                <a:solidFill>
                  <a:srgbClr val="00B050"/>
                </a:solidFill>
                <a:latin typeface="Figtree"/>
              </a:rPr>
              <a:t>8 780 €	Janv. 2024</a:t>
            </a:r>
            <a:r>
              <a:rPr lang="fr-FR" dirty="0">
                <a:latin typeface="Figtree"/>
              </a:rPr>
              <a:t>	3</a:t>
            </a:r>
            <a:r>
              <a:rPr lang="fr-FR" baseline="30000" dirty="0">
                <a:latin typeface="Figtree"/>
              </a:rPr>
              <a:t>e</a:t>
            </a:r>
            <a:r>
              <a:rPr lang="fr-FR" dirty="0">
                <a:latin typeface="Figtree"/>
              </a:rPr>
              <a:t>	Vétuste</a:t>
            </a:r>
          </a:p>
          <a:p>
            <a:pPr>
              <a:lnSpc>
                <a:spcPts val="2400"/>
              </a:lnSpc>
            </a:pPr>
            <a:r>
              <a:rPr lang="fr-FR" dirty="0">
                <a:latin typeface="Figtree"/>
              </a:rPr>
              <a:t>C-06     	Rue de Charonne		69 m²	641 640 €	</a:t>
            </a:r>
            <a:r>
              <a:rPr lang="fr-FR" dirty="0">
                <a:solidFill>
                  <a:srgbClr val="00B050"/>
                </a:solidFill>
                <a:latin typeface="Figtree"/>
              </a:rPr>
              <a:t>9 300 €	Mai 2024</a:t>
            </a:r>
            <a:r>
              <a:rPr lang="fr-FR" dirty="0">
                <a:latin typeface="Figtree"/>
              </a:rPr>
              <a:t>		2</a:t>
            </a:r>
            <a:r>
              <a:rPr lang="fr-FR" baseline="30000" dirty="0">
                <a:latin typeface="Figtree"/>
              </a:rPr>
              <a:t>e</a:t>
            </a:r>
            <a:r>
              <a:rPr lang="fr-FR" dirty="0">
                <a:latin typeface="Figtree"/>
              </a:rPr>
              <a:t>	Courant</a:t>
            </a:r>
          </a:p>
          <a:p>
            <a:pPr>
              <a:lnSpc>
                <a:spcPts val="2400"/>
              </a:lnSpc>
            </a:pPr>
            <a:r>
              <a:rPr lang="fr-FR" dirty="0">
                <a:latin typeface="Figtree"/>
              </a:rPr>
              <a:t>C-07     	Boulevard Voltaire		80 m²	764 000 €	</a:t>
            </a:r>
            <a:r>
              <a:rPr lang="fr-FR" dirty="0">
                <a:solidFill>
                  <a:srgbClr val="00B050"/>
                </a:solidFill>
                <a:latin typeface="Figtree"/>
              </a:rPr>
              <a:t>9 550 €	Juin 2024</a:t>
            </a:r>
            <a:r>
              <a:rPr lang="fr-FR" dirty="0">
                <a:latin typeface="Figtree"/>
              </a:rPr>
              <a:t>		5e </a:t>
            </a:r>
            <a:r>
              <a:rPr lang="fr-FR" dirty="0" err="1">
                <a:latin typeface="Figtree"/>
              </a:rPr>
              <a:t>asc</a:t>
            </a:r>
            <a:r>
              <a:rPr lang="fr-FR" dirty="0">
                <a:latin typeface="Figtree"/>
              </a:rPr>
              <a:t>	Rénové</a:t>
            </a:r>
          </a:p>
          <a:p>
            <a:pPr>
              <a:lnSpc>
                <a:spcPts val="2400"/>
              </a:lnSpc>
            </a:pPr>
            <a:r>
              <a:rPr lang="fr-FR" dirty="0">
                <a:latin typeface="Figtree"/>
              </a:rPr>
              <a:t>C-08     	Rue Keller		55 m²	479 600 €	</a:t>
            </a:r>
            <a:r>
              <a:rPr lang="fr-FR" dirty="0">
                <a:solidFill>
                  <a:srgbClr val="00B050"/>
                </a:solidFill>
                <a:latin typeface="Figtree"/>
              </a:rPr>
              <a:t>8 720 €	Fév. 2024</a:t>
            </a:r>
            <a:r>
              <a:rPr lang="fr-FR" dirty="0">
                <a:latin typeface="Figtree"/>
              </a:rPr>
              <a:t>		2</a:t>
            </a:r>
            <a:r>
              <a:rPr lang="fr-FR" baseline="30000" dirty="0">
                <a:latin typeface="Figtree"/>
              </a:rPr>
              <a:t>e</a:t>
            </a:r>
            <a:r>
              <a:rPr lang="fr-FR" dirty="0">
                <a:latin typeface="Figtree"/>
              </a:rPr>
              <a:t>	Vétuste</a:t>
            </a:r>
          </a:p>
          <a:p>
            <a:pPr>
              <a:lnSpc>
                <a:spcPts val="2400"/>
              </a:lnSpc>
            </a:pPr>
            <a:r>
              <a:rPr lang="fr-FR" dirty="0">
                <a:latin typeface="Figtree"/>
              </a:rPr>
              <a:t>C-09     	Rue de la Croix </a:t>
            </a:r>
            <a:r>
              <a:rPr lang="fr-FR" dirty="0" err="1">
                <a:latin typeface="Figtree"/>
              </a:rPr>
              <a:t>Faubin</a:t>
            </a:r>
            <a:r>
              <a:rPr lang="fr-FR" dirty="0">
                <a:latin typeface="Figtree"/>
              </a:rPr>
              <a:t>	67 m²	619 750 €	</a:t>
            </a:r>
            <a:r>
              <a:rPr lang="fr-FR" dirty="0">
                <a:solidFill>
                  <a:srgbClr val="00B050"/>
                </a:solidFill>
                <a:latin typeface="Figtree"/>
              </a:rPr>
              <a:t>9 250 €	Juil. 2024</a:t>
            </a:r>
            <a:r>
              <a:rPr lang="fr-FR" dirty="0">
                <a:latin typeface="Figtree"/>
              </a:rPr>
              <a:t>		3</a:t>
            </a:r>
            <a:r>
              <a:rPr lang="fr-FR" baseline="30000" dirty="0">
                <a:latin typeface="Figtree"/>
              </a:rPr>
              <a:t>e</a:t>
            </a:r>
            <a:r>
              <a:rPr lang="fr-FR" dirty="0">
                <a:latin typeface="Figtree"/>
              </a:rPr>
              <a:t>	Courant</a:t>
            </a:r>
          </a:p>
          <a:p>
            <a:pPr>
              <a:lnSpc>
                <a:spcPts val="2400"/>
              </a:lnSpc>
            </a:pPr>
            <a:r>
              <a:rPr lang="fr-FR" dirty="0">
                <a:latin typeface="Figtree"/>
              </a:rPr>
              <a:t>C-10     	Rue Sedaine		73 m²	694 750 €	</a:t>
            </a:r>
            <a:r>
              <a:rPr lang="fr-FR" dirty="0">
                <a:solidFill>
                  <a:srgbClr val="00B050"/>
                </a:solidFill>
                <a:latin typeface="Figtree"/>
              </a:rPr>
              <a:t>9 517 €	Août 2024</a:t>
            </a:r>
            <a:r>
              <a:rPr lang="fr-FR" dirty="0">
                <a:latin typeface="Figtree"/>
              </a:rPr>
              <a:t>	4e </a:t>
            </a:r>
            <a:r>
              <a:rPr lang="fr-FR" dirty="0" err="1">
                <a:latin typeface="Figtree"/>
              </a:rPr>
              <a:t>asc</a:t>
            </a:r>
            <a:r>
              <a:rPr lang="fr-FR" dirty="0">
                <a:latin typeface="Figtree"/>
              </a:rPr>
              <a:t>	Courant</a:t>
            </a:r>
          </a:p>
        </p:txBody>
      </p:sp>
      <p:sp>
        <p:nvSpPr>
          <p:cNvPr id="7" name="ZoneTexte 6">
            <a:extLst>
              <a:ext uri="{FF2B5EF4-FFF2-40B4-BE49-F238E27FC236}">
                <a16:creationId xmlns:a16="http://schemas.microsoft.com/office/drawing/2014/main" id="{475C4EB1-A1C0-000B-8061-5AD8CADE7ECC}"/>
              </a:ext>
            </a:extLst>
          </p:cNvPr>
          <p:cNvSpPr txBox="1"/>
          <p:nvPr/>
        </p:nvSpPr>
        <p:spPr>
          <a:xfrm>
            <a:off x="240356" y="1337440"/>
            <a:ext cx="8403772" cy="461665"/>
          </a:xfrm>
          <a:prstGeom prst="rect">
            <a:avLst/>
          </a:prstGeom>
          <a:noFill/>
        </p:spPr>
        <p:txBody>
          <a:bodyPr wrap="square" rtlCol="0">
            <a:spAutoFit/>
          </a:bodyPr>
          <a:lstStyle/>
          <a:p>
            <a:pPr algn="ctr"/>
            <a:r>
              <a:rPr lang="fr-FR" sz="2400" b="1" dirty="0">
                <a:latin typeface="Figtree"/>
              </a:rPr>
              <a:t>Tableau nettoyé de 8 colonnes utiles prêt à être donné à l’IA</a:t>
            </a:r>
            <a:endParaRPr lang="fr-FR" sz="2400" dirty="0">
              <a:latin typeface="Figtree"/>
            </a:endParaRPr>
          </a:p>
        </p:txBody>
      </p:sp>
      <p:cxnSp>
        <p:nvCxnSpPr>
          <p:cNvPr id="8" name="Connecteur droit 7">
            <a:extLst>
              <a:ext uri="{FF2B5EF4-FFF2-40B4-BE49-F238E27FC236}">
                <a16:creationId xmlns:a16="http://schemas.microsoft.com/office/drawing/2014/main" id="{122F72E3-BB6A-8B05-87EF-C570E9F676C3}"/>
              </a:ext>
            </a:extLst>
          </p:cNvPr>
          <p:cNvCxnSpPr/>
          <p:nvPr/>
        </p:nvCxnSpPr>
        <p:spPr>
          <a:xfrm>
            <a:off x="9539416" y="2161434"/>
            <a:ext cx="0" cy="394280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0492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4B2934D-5DFD-5F2A-D8A9-5F234CF57001}"/>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243D1CC4-196E-A61E-C5BC-FDF318CCEB8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D9CD140-0B11-AC35-8DA8-290CE26B357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0F29016-CA27-0B2F-7E02-38CB8D93FAE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99BFEE16-AC22-801C-D690-77A6A904377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A6B032F9-6D87-6A77-50AF-6FDE429C2224}"/>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7" name="ZoneTexte 6">
            <a:extLst>
              <a:ext uri="{FF2B5EF4-FFF2-40B4-BE49-F238E27FC236}">
                <a16:creationId xmlns:a16="http://schemas.microsoft.com/office/drawing/2014/main" id="{98A68E81-80C2-F6FA-6948-5D0C660834A9}"/>
              </a:ext>
            </a:extLst>
          </p:cNvPr>
          <p:cNvSpPr txBox="1"/>
          <p:nvPr/>
        </p:nvSpPr>
        <p:spPr>
          <a:xfrm>
            <a:off x="465096" y="1337440"/>
            <a:ext cx="4606775" cy="461665"/>
          </a:xfrm>
          <a:prstGeom prst="rect">
            <a:avLst/>
          </a:prstGeom>
          <a:noFill/>
        </p:spPr>
        <p:txBody>
          <a:bodyPr wrap="square" rtlCol="0">
            <a:spAutoFit/>
          </a:bodyPr>
          <a:lstStyle/>
          <a:p>
            <a:pPr algn="ctr"/>
            <a:r>
              <a:rPr lang="fr-FR" sz="2400" b="1" dirty="0">
                <a:latin typeface="Figtree"/>
              </a:rPr>
              <a:t>Le prompt complet prêt à l'emploi</a:t>
            </a:r>
          </a:p>
        </p:txBody>
      </p:sp>
      <p:sp>
        <p:nvSpPr>
          <p:cNvPr id="4" name="ZoneTexte 3">
            <a:extLst>
              <a:ext uri="{FF2B5EF4-FFF2-40B4-BE49-F238E27FC236}">
                <a16:creationId xmlns:a16="http://schemas.microsoft.com/office/drawing/2014/main" id="{3FEC79B8-352A-E212-1589-B74BAB7C2A29}"/>
              </a:ext>
            </a:extLst>
          </p:cNvPr>
          <p:cNvSpPr txBox="1"/>
          <p:nvPr/>
        </p:nvSpPr>
        <p:spPr>
          <a:xfrm>
            <a:off x="259080" y="1959502"/>
            <a:ext cx="5532120" cy="3970318"/>
          </a:xfrm>
          <a:prstGeom prst="rect">
            <a:avLst/>
          </a:prstGeom>
          <a:noFill/>
        </p:spPr>
        <p:txBody>
          <a:bodyPr wrap="square" rtlCol="0">
            <a:spAutoFit/>
          </a:bodyPr>
          <a:lstStyle/>
          <a:p>
            <a:r>
              <a:rPr lang="fr-FR" b="1" dirty="0">
                <a:latin typeface="Courier New" panose="02070309020205020404" pitchFamily="49" charset="0"/>
                <a:cs typeface="Courier New" panose="02070309020205020404" pitchFamily="49" charset="0"/>
              </a:rPr>
              <a:t>Tu es expert immobilier </a:t>
            </a:r>
            <a:r>
              <a:rPr lang="fr-FR" i="1" dirty="0">
                <a:latin typeface="Courier New" panose="02070309020205020404" pitchFamily="49" charset="0"/>
                <a:cs typeface="Courier New" panose="02070309020205020404" pitchFamily="49" charset="0"/>
              </a:rPr>
              <a:t>(agréé par la cour d'appel de Paris. )</a:t>
            </a:r>
          </a:p>
          <a:p>
            <a:r>
              <a:rPr lang="fr-FR" b="1" dirty="0">
                <a:latin typeface="Courier New" panose="02070309020205020404" pitchFamily="49" charset="0"/>
                <a:cs typeface="Courier New" panose="02070309020205020404" pitchFamily="49" charset="0"/>
              </a:rPr>
              <a:t>BIEN EXPERTISÉ </a:t>
            </a:r>
            <a:r>
              <a:rPr lang="fr-FR" dirty="0">
                <a:latin typeface="Courier New" panose="02070309020205020404" pitchFamily="49" charset="0"/>
                <a:cs typeface="Courier New" panose="02070309020205020404" pitchFamily="49" charset="0"/>
              </a:rPr>
              <a:t>: Appartement T3 — 68 m² — 3e étage sans ascenseur Immeuble 1932 — rue Keller, Paris 11e </a:t>
            </a:r>
          </a:p>
          <a:p>
            <a:r>
              <a:rPr lang="fr-FR" b="1" dirty="0">
                <a:latin typeface="Courier New" panose="02070309020205020404" pitchFamily="49" charset="0"/>
                <a:cs typeface="Courier New" panose="02070309020205020404" pitchFamily="49" charset="0"/>
              </a:rPr>
              <a:t>État général </a:t>
            </a:r>
            <a:r>
              <a:rPr lang="fr-FR" dirty="0">
                <a:latin typeface="Courier New" panose="02070309020205020404" pitchFamily="49" charset="0"/>
                <a:cs typeface="Courier New" panose="02070309020205020404" pitchFamily="49" charset="0"/>
              </a:rPr>
              <a:t>: courant (parquet ancien bon état, </a:t>
            </a:r>
            <a:r>
              <a:rPr lang="fr-FR" dirty="0" err="1">
                <a:latin typeface="Courier New" panose="02070309020205020404" pitchFamily="49" charset="0"/>
                <a:cs typeface="Courier New" panose="02070309020205020404" pitchFamily="49" charset="0"/>
              </a:rPr>
              <a:t>sdb</a:t>
            </a:r>
            <a:r>
              <a:rPr lang="fr-FR" dirty="0">
                <a:latin typeface="Courier New" panose="02070309020205020404" pitchFamily="49" charset="0"/>
                <a:cs typeface="Courier New" panose="02070309020205020404" pitchFamily="49" charset="0"/>
              </a:rPr>
              <a:t> vétuste, double vitrage partiel) </a:t>
            </a:r>
          </a:p>
          <a:p>
            <a:r>
              <a:rPr lang="fr-FR" b="1" dirty="0">
                <a:latin typeface="Courier New" panose="02070309020205020404" pitchFamily="49" charset="0"/>
                <a:cs typeface="Courier New" panose="02070309020205020404" pitchFamily="49" charset="0"/>
              </a:rPr>
              <a:t>DONNÉES DE MARCHÉ </a:t>
            </a:r>
            <a:r>
              <a:rPr lang="fr-FR" dirty="0">
                <a:latin typeface="Courier New" panose="02070309020205020404" pitchFamily="49" charset="0"/>
                <a:cs typeface="Courier New" panose="02070309020205020404" pitchFamily="49" charset="0"/>
              </a:rPr>
              <a:t>— 10 transactions DVF (et base notariale)</a:t>
            </a:r>
          </a:p>
          <a:p>
            <a:r>
              <a:rPr lang="fr-FR" b="1" dirty="0">
                <a:latin typeface="Courier New" panose="02070309020205020404" pitchFamily="49" charset="0"/>
                <a:cs typeface="Courier New" panose="02070309020205020404" pitchFamily="49" charset="0"/>
              </a:rPr>
              <a:t>Secteur</a:t>
            </a:r>
            <a:r>
              <a:rPr lang="fr-FR" dirty="0">
                <a:latin typeface="Courier New" panose="02070309020205020404" pitchFamily="49" charset="0"/>
                <a:cs typeface="Courier New" panose="02070309020205020404" pitchFamily="49" charset="0"/>
              </a:rPr>
              <a:t> : 11e arrondissement de Paris —</a:t>
            </a:r>
          </a:p>
          <a:p>
            <a:r>
              <a:rPr lang="fr-FR" b="1" dirty="0">
                <a:latin typeface="Courier New" panose="02070309020205020404" pitchFamily="49" charset="0"/>
                <a:cs typeface="Courier New" panose="02070309020205020404" pitchFamily="49" charset="0"/>
              </a:rPr>
              <a:t>période</a:t>
            </a:r>
            <a:r>
              <a:rPr lang="fr-FR" dirty="0">
                <a:latin typeface="Courier New" panose="02070309020205020404" pitchFamily="49" charset="0"/>
                <a:cs typeface="Courier New" panose="02070309020205020404" pitchFamily="49" charset="0"/>
              </a:rPr>
              <a:t> : </a:t>
            </a:r>
            <a:r>
              <a:rPr lang="fr-FR" dirty="0" err="1">
                <a:latin typeface="Courier New" panose="02070309020205020404" pitchFamily="49" charset="0"/>
                <a:cs typeface="Courier New" panose="02070309020205020404" pitchFamily="49" charset="0"/>
              </a:rPr>
              <a:t>janv</a:t>
            </a:r>
            <a:r>
              <a:rPr lang="fr-FR" dirty="0">
                <a:latin typeface="Courier New" panose="02070309020205020404" pitchFamily="49" charset="0"/>
                <a:cs typeface="Courier New" panose="02070309020205020404" pitchFamily="49" charset="0"/>
              </a:rPr>
              <a:t>–août 2024 </a:t>
            </a:r>
          </a:p>
          <a:p>
            <a:endParaRPr lang="fr-FR" b="1" dirty="0">
              <a:solidFill>
                <a:srgbClr val="FF0000"/>
              </a:solidFill>
              <a:latin typeface="Courier New" panose="02070309020205020404" pitchFamily="49" charset="0"/>
              <a:cs typeface="Courier New" panose="02070309020205020404" pitchFamily="49" charset="0"/>
            </a:endParaRPr>
          </a:p>
          <a:p>
            <a:r>
              <a:rPr lang="fr-FR" b="1" dirty="0">
                <a:solidFill>
                  <a:srgbClr val="FF0000"/>
                </a:solidFill>
                <a:latin typeface="Courier New" panose="02070309020205020404" pitchFamily="49" charset="0"/>
                <a:cs typeface="Courier New" panose="02070309020205020404" pitchFamily="49" charset="0"/>
              </a:rPr>
              <a:t>[Coller ici le tableau </a:t>
            </a:r>
            <a:r>
              <a:rPr lang="fr-FR" b="1" dirty="0" err="1">
                <a:solidFill>
                  <a:srgbClr val="FF0000"/>
                </a:solidFill>
                <a:latin typeface="Courier New" panose="02070309020205020404" pitchFamily="49" charset="0"/>
                <a:cs typeface="Courier New" panose="02070309020205020404" pitchFamily="49" charset="0"/>
              </a:rPr>
              <a:t>realisé</a:t>
            </a:r>
            <a:r>
              <a:rPr lang="fr-FR" b="1" dirty="0">
                <a:solidFill>
                  <a:srgbClr val="FF0000"/>
                </a:solidFill>
                <a:latin typeface="Courier New" panose="02070309020205020404" pitchFamily="49" charset="0"/>
                <a:cs typeface="Courier New" panose="02070309020205020404" pitchFamily="49" charset="0"/>
              </a:rPr>
              <a:t>] </a:t>
            </a:r>
          </a:p>
        </p:txBody>
      </p:sp>
      <p:sp>
        <p:nvSpPr>
          <p:cNvPr id="8" name="ZoneTexte 7">
            <a:extLst>
              <a:ext uri="{FF2B5EF4-FFF2-40B4-BE49-F238E27FC236}">
                <a16:creationId xmlns:a16="http://schemas.microsoft.com/office/drawing/2014/main" id="{784AED4A-E543-A2B9-F969-3DA7C489A9E0}"/>
              </a:ext>
            </a:extLst>
          </p:cNvPr>
          <p:cNvSpPr txBox="1"/>
          <p:nvPr/>
        </p:nvSpPr>
        <p:spPr>
          <a:xfrm>
            <a:off x="6200528" y="1499706"/>
            <a:ext cx="5425440" cy="5078313"/>
          </a:xfrm>
          <a:prstGeom prst="rect">
            <a:avLst/>
          </a:prstGeom>
          <a:noFill/>
        </p:spPr>
        <p:txBody>
          <a:bodyPr wrap="square" rtlCol="0">
            <a:spAutoFit/>
          </a:bodyPr>
          <a:lstStyle/>
          <a:p>
            <a:r>
              <a:rPr lang="fr-FR" b="1" dirty="0">
                <a:latin typeface="Courier New" panose="02070309020205020404" pitchFamily="49" charset="0"/>
                <a:cs typeface="Courier New" panose="02070309020205020404" pitchFamily="49" charset="0"/>
              </a:rPr>
              <a:t>CONSIGNE</a:t>
            </a:r>
            <a:r>
              <a:rPr lang="fr-FR" dirty="0">
                <a:latin typeface="Courier New" panose="02070309020205020404" pitchFamily="49" charset="0"/>
                <a:cs typeface="Courier New" panose="02070309020205020404" pitchFamily="49" charset="0"/>
              </a:rPr>
              <a:t> : Rédige le paragraphe </a:t>
            </a:r>
            <a:r>
              <a:rPr lang="fr-FR" b="1" dirty="0">
                <a:latin typeface="Courier New" panose="02070309020205020404" pitchFamily="49" charset="0"/>
                <a:cs typeface="Courier New" panose="02070309020205020404" pitchFamily="49" charset="0"/>
              </a:rPr>
              <a:t>"Analyse de marché et sélection des comparables"</a:t>
            </a:r>
            <a:r>
              <a:rPr lang="fr-FR" dirty="0">
                <a:latin typeface="Courier New" panose="02070309020205020404" pitchFamily="49" charset="0"/>
                <a:cs typeface="Courier New" panose="02070309020205020404" pitchFamily="49" charset="0"/>
              </a:rPr>
              <a:t> du rapport d'expertise immobilière </a:t>
            </a:r>
            <a:r>
              <a:rPr lang="fr-FR" i="1" dirty="0">
                <a:latin typeface="Courier New" panose="02070309020205020404" pitchFamily="49" charset="0"/>
                <a:cs typeface="Courier New" panose="02070309020205020404" pitchFamily="49" charset="0"/>
              </a:rPr>
              <a:t>(judiciaire.)</a:t>
            </a:r>
            <a:r>
              <a:rPr lang="fr-FR" dirty="0">
                <a:latin typeface="Courier New" panose="02070309020205020404" pitchFamily="49" charset="0"/>
                <a:cs typeface="Courier New" panose="02070309020205020404" pitchFamily="49" charset="0"/>
              </a:rPr>
              <a:t> </a:t>
            </a:r>
          </a:p>
          <a:p>
            <a:r>
              <a:rPr lang="fr-FR" b="1" dirty="0">
                <a:latin typeface="Courier New" panose="02070309020205020404" pitchFamily="49" charset="0"/>
                <a:cs typeface="Courier New" panose="02070309020205020404" pitchFamily="49" charset="0"/>
              </a:rPr>
              <a:t>Contraintes de rédaction </a:t>
            </a:r>
            <a:r>
              <a:rPr lang="fr-FR" dirty="0">
                <a:latin typeface="Courier New" panose="02070309020205020404" pitchFamily="49" charset="0"/>
                <a:cs typeface="Courier New" panose="02070309020205020404" pitchFamily="49" charset="0"/>
              </a:rPr>
              <a:t>: - Prose sobre et technique, 200 à 250 mots – </a:t>
            </a:r>
          </a:p>
          <a:p>
            <a:r>
              <a:rPr lang="fr-FR" b="1" dirty="0">
                <a:latin typeface="Courier New" panose="02070309020205020404" pitchFamily="49" charset="0"/>
                <a:cs typeface="Courier New" panose="02070309020205020404" pitchFamily="49" charset="0"/>
              </a:rPr>
              <a:t>Calcule et cite </a:t>
            </a:r>
            <a:r>
              <a:rPr lang="fr-FR" dirty="0">
                <a:latin typeface="Courier New" panose="02070309020205020404" pitchFamily="49" charset="0"/>
                <a:cs typeface="Courier New" panose="02070309020205020404" pitchFamily="49" charset="0"/>
              </a:rPr>
              <a:t>: fourchette observée, prix médian, prix moyen pondéré - Identifie les facteurs d'ajustement pertinents (étage/ascenseur, état, surface, date) - </a:t>
            </a:r>
            <a:r>
              <a:rPr lang="fr-FR" b="1" dirty="0">
                <a:latin typeface="Courier New" panose="02070309020205020404" pitchFamily="49" charset="0"/>
                <a:cs typeface="Courier New" panose="02070309020205020404" pitchFamily="49" charset="0"/>
              </a:rPr>
              <a:t>Justifie</a:t>
            </a:r>
            <a:r>
              <a:rPr lang="fr-FR" dirty="0">
                <a:latin typeface="Courier New" panose="02070309020205020404" pitchFamily="49" charset="0"/>
                <a:cs typeface="Courier New" panose="02070309020205020404" pitchFamily="49" charset="0"/>
              </a:rPr>
              <a:t> le positionnement du bien expertisé dans la fourchette - Termine par une phrase sur la tendance du marché local - Aucun superlatif, ton neutre</a:t>
            </a:r>
            <a:r>
              <a:rPr lang="fr-FR" i="1" dirty="0">
                <a:latin typeface="Courier New" panose="02070309020205020404" pitchFamily="49" charset="0"/>
                <a:cs typeface="Courier New" panose="02070309020205020404" pitchFamily="49" charset="0"/>
              </a:rPr>
              <a:t> (et judiciaire)</a:t>
            </a:r>
            <a:r>
              <a:rPr lang="fr-FR" dirty="0">
                <a:latin typeface="Courier New" panose="02070309020205020404" pitchFamily="49" charset="0"/>
                <a:cs typeface="Courier New" panose="02070309020205020404" pitchFamily="49" charset="0"/>
              </a:rPr>
              <a:t> - </a:t>
            </a:r>
            <a:r>
              <a:rPr lang="fr-FR" b="1" dirty="0">
                <a:latin typeface="Courier New" panose="02070309020205020404" pitchFamily="49" charset="0"/>
                <a:cs typeface="Courier New" panose="02070309020205020404" pitchFamily="49" charset="0"/>
              </a:rPr>
              <a:t>Détaille tes calculs </a:t>
            </a:r>
            <a:r>
              <a:rPr lang="fr-FR" dirty="0">
                <a:latin typeface="Courier New" panose="02070309020205020404" pitchFamily="49" charset="0"/>
                <a:cs typeface="Courier New" panose="02070309020205020404" pitchFamily="49" charset="0"/>
              </a:rPr>
              <a:t>en note avant de rédiger le paragraphe, pour que je puisse les vérifier.</a:t>
            </a:r>
          </a:p>
        </p:txBody>
      </p:sp>
      <p:sp>
        <p:nvSpPr>
          <p:cNvPr id="11" name="Rectangle: Rounded Corners 14">
            <a:extLst>
              <a:ext uri="{FF2B5EF4-FFF2-40B4-BE49-F238E27FC236}">
                <a16:creationId xmlns:a16="http://schemas.microsoft.com/office/drawing/2014/main" id="{8C9F674C-B794-9536-953A-9223E37A3DC5}"/>
              </a:ext>
            </a:extLst>
          </p:cNvPr>
          <p:cNvSpPr/>
          <p:nvPr/>
        </p:nvSpPr>
        <p:spPr>
          <a:xfrm>
            <a:off x="3495795" y="279981"/>
            <a:ext cx="7641392" cy="85387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TextBox 1">
            <a:extLst>
              <a:ext uri="{FF2B5EF4-FFF2-40B4-BE49-F238E27FC236}">
                <a16:creationId xmlns:a16="http://schemas.microsoft.com/office/drawing/2014/main" id="{4667DB55-C855-4D3D-5F89-E6453E284464}"/>
              </a:ext>
            </a:extLst>
          </p:cNvPr>
          <p:cNvSpPr txBox="1"/>
          <p:nvPr/>
        </p:nvSpPr>
        <p:spPr>
          <a:xfrm>
            <a:off x="3495796" y="274031"/>
            <a:ext cx="7641391" cy="769441"/>
          </a:xfrm>
          <a:prstGeom prst="rect">
            <a:avLst/>
          </a:prstGeom>
          <a:noFill/>
        </p:spPr>
        <p:txBody>
          <a:bodyPr wrap="square" rtlCol="0">
            <a:spAutoFit/>
          </a:bodyPr>
          <a:lstStyle/>
          <a:p>
            <a:pPr algn="ctr"/>
            <a:r>
              <a:rPr lang="fr-FR" sz="4400" dirty="0">
                <a:solidFill>
                  <a:schemeClr val="tx2"/>
                </a:solidFill>
                <a:latin typeface="Space Grotesk Medium" pitchFamily="2" charset="0"/>
              </a:rPr>
              <a:t>Le prompt d'analyse de marché</a:t>
            </a:r>
          </a:p>
        </p:txBody>
      </p:sp>
    </p:spTree>
    <p:extLst>
      <p:ext uri="{BB962C8B-B14F-4D97-AF65-F5344CB8AC3E}">
        <p14:creationId xmlns:p14="http://schemas.microsoft.com/office/powerpoint/2010/main" val="27230970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47D9F1D-62D1-C08F-D416-79C90D8502F3}"/>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DC482062-6E5D-FE2D-253A-3F43EDB72DC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D7D7694-A659-57CB-E0BA-C5D543E5BB4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E2D3F30E-C086-59A1-AA7C-57E2C0B0A65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C1A31FFD-5C7F-174F-FF6E-54A00A4B4C5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E1C57AE4-7C63-86DE-F18B-4480808AEB7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B209F35F-52FF-39E5-7BC4-B9E7825A0B89}"/>
              </a:ext>
            </a:extLst>
          </p:cNvPr>
          <p:cNvSpPr txBox="1"/>
          <p:nvPr/>
        </p:nvSpPr>
        <p:spPr>
          <a:xfrm>
            <a:off x="553720" y="1793898"/>
            <a:ext cx="11638280" cy="4157933"/>
          </a:xfrm>
          <a:prstGeom prst="rect">
            <a:avLst/>
          </a:prstGeom>
          <a:noFill/>
        </p:spPr>
        <p:txBody>
          <a:bodyPr wrap="square" rtlCol="0">
            <a:spAutoFit/>
          </a:bodyPr>
          <a:lstStyle/>
          <a:p>
            <a:pPr>
              <a:lnSpc>
                <a:spcPts val="2900"/>
              </a:lnSpc>
            </a:pPr>
            <a:r>
              <a:rPr lang="fr-FR" sz="2000" b="1" dirty="0">
                <a:solidFill>
                  <a:srgbClr val="FF0000"/>
                </a:solidFill>
              </a:rPr>
              <a:t>CALCULS PRÉLIMINAIRES : (Réalisé par l’IA)</a:t>
            </a:r>
          </a:p>
          <a:p>
            <a:pPr>
              <a:lnSpc>
                <a:spcPts val="2900"/>
              </a:lnSpc>
            </a:pPr>
            <a:endParaRPr lang="fr-FR" sz="2000" dirty="0"/>
          </a:p>
          <a:p>
            <a:pPr>
              <a:lnSpc>
                <a:spcPts val="2900"/>
              </a:lnSpc>
            </a:pPr>
            <a:r>
              <a:rPr lang="fr-FR" sz="2000" b="1" dirty="0"/>
              <a:t>Prix/m² classés </a:t>
            </a:r>
            <a:r>
              <a:rPr lang="fr-FR" sz="2000" dirty="0"/>
              <a:t>: 8 720 – 8 780 – 8 849 – 9 100 – 9 250 – 9 300 – 9 500 – 9 517 – 9 550 – 9 614</a:t>
            </a:r>
          </a:p>
          <a:p>
            <a:pPr marL="342900" lvl="0" indent="-342900">
              <a:lnSpc>
                <a:spcPts val="2900"/>
              </a:lnSpc>
              <a:buFont typeface="Arial" panose="020B0604020202020204" pitchFamily="34" charset="0"/>
              <a:buChar char="•"/>
            </a:pPr>
            <a:r>
              <a:rPr lang="fr-FR" sz="2000" b="1" dirty="0"/>
              <a:t>Fourchette</a:t>
            </a:r>
            <a:r>
              <a:rPr lang="fr-FR" sz="2000" dirty="0"/>
              <a:t> : 8 720 €/m² à 9 614 €/m², soit un écart de 894 €/m² (+10,3 %)</a:t>
            </a:r>
          </a:p>
          <a:p>
            <a:pPr marL="342900" lvl="0" indent="-342900">
              <a:lnSpc>
                <a:spcPts val="2900"/>
              </a:lnSpc>
              <a:buFont typeface="Arial" panose="020B0604020202020204" pitchFamily="34" charset="0"/>
              <a:buChar char="•"/>
            </a:pPr>
            <a:r>
              <a:rPr lang="fr-FR" sz="2000" b="1" dirty="0"/>
              <a:t>Prix médian </a:t>
            </a:r>
            <a:r>
              <a:rPr lang="fr-FR" sz="2000" dirty="0"/>
              <a:t>(moyenne des 5e et 6e valeurs, n=10) : (9 250 + 9 300) / 2 = </a:t>
            </a:r>
            <a:r>
              <a:rPr lang="fr-FR" sz="2000" b="1" dirty="0"/>
              <a:t>9 275 €/m²</a:t>
            </a:r>
            <a:endParaRPr lang="fr-FR" sz="2000" dirty="0"/>
          </a:p>
          <a:p>
            <a:pPr marL="342900" lvl="0" indent="-342900">
              <a:lnSpc>
                <a:spcPts val="2900"/>
              </a:lnSpc>
              <a:buFont typeface="Arial" panose="020B0604020202020204" pitchFamily="34" charset="0"/>
              <a:buChar char="•"/>
            </a:pPr>
            <a:r>
              <a:rPr lang="fr-FR" sz="2000" b="1" dirty="0"/>
              <a:t>Prix moyen simple </a:t>
            </a:r>
            <a:r>
              <a:rPr lang="fr-FR" sz="2000" dirty="0"/>
              <a:t>(Σ prix/m² / 10) : 92 180 / 10 = 9 218 €/m²</a:t>
            </a:r>
          </a:p>
          <a:p>
            <a:pPr marL="342900" lvl="0" indent="-342900">
              <a:lnSpc>
                <a:spcPts val="2900"/>
              </a:lnSpc>
              <a:buFont typeface="Arial" panose="020B0604020202020204" pitchFamily="34" charset="0"/>
              <a:buChar char="•"/>
            </a:pPr>
            <a:r>
              <a:rPr lang="fr-FR" sz="2000" b="1" dirty="0"/>
              <a:t>Prix moyen pondéré par la surface </a:t>
            </a:r>
            <a:r>
              <a:rPr lang="fr-FR" sz="2000" dirty="0"/>
              <a:t>: Σ prix / Σ surfaces = 6 234 800 € / 674 m² = </a:t>
            </a:r>
            <a:r>
              <a:rPr lang="fr-FR" sz="2000" b="1" dirty="0"/>
              <a:t>9 250 €/m²</a:t>
            </a:r>
            <a:endParaRPr lang="fr-FR" sz="2000" dirty="0"/>
          </a:p>
          <a:p>
            <a:pPr marL="342900" lvl="0" indent="-342900">
              <a:lnSpc>
                <a:spcPts val="2900"/>
              </a:lnSpc>
              <a:buFont typeface="Arial" panose="020B0604020202020204" pitchFamily="34" charset="0"/>
              <a:buChar char="•"/>
            </a:pPr>
            <a:r>
              <a:rPr lang="fr-FR" sz="2000" b="1" dirty="0"/>
              <a:t>Comparable le plus proche du profil </a:t>
            </a:r>
            <a:r>
              <a:rPr lang="fr-FR" sz="2000" dirty="0"/>
              <a:t>(3e étage sans ascenseur, état courant, surface voisine) : C-09, 9 250 €/m², juillet 2024 — quasi-identique à la moyenne pondérée et à la médiane.</a:t>
            </a:r>
          </a:p>
          <a:p>
            <a:pPr marL="342900" lvl="0" indent="-342900">
              <a:lnSpc>
                <a:spcPts val="2900"/>
              </a:lnSpc>
              <a:buFont typeface="Arial" panose="020B0604020202020204" pitchFamily="34" charset="0"/>
              <a:buChar char="•"/>
            </a:pPr>
            <a:r>
              <a:rPr lang="fr-FR" sz="2000" b="1" dirty="0"/>
              <a:t>Tendance chronologique </a:t>
            </a:r>
            <a:r>
              <a:rPr lang="fr-FR" sz="2000" dirty="0"/>
              <a:t>: janvier-février 2024 ≈ 8 780-8 849 €/m² (état courant/vétuste) ; juillet-août 2024 ≈ 9 250-9 517 €/m², confirmant une orientation haussière sur la période.</a:t>
            </a:r>
          </a:p>
        </p:txBody>
      </p:sp>
      <p:sp>
        <p:nvSpPr>
          <p:cNvPr id="9" name="Rectangle: Rounded Corners 14">
            <a:extLst>
              <a:ext uri="{FF2B5EF4-FFF2-40B4-BE49-F238E27FC236}">
                <a16:creationId xmlns:a16="http://schemas.microsoft.com/office/drawing/2014/main" id="{F76BA6D5-B0B7-6446-A88F-95774CF5DDD2}"/>
              </a:ext>
            </a:extLst>
          </p:cNvPr>
          <p:cNvSpPr/>
          <p:nvPr/>
        </p:nvSpPr>
        <p:spPr>
          <a:xfrm>
            <a:off x="3495795" y="279981"/>
            <a:ext cx="7641392" cy="85387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TextBox 1">
            <a:extLst>
              <a:ext uri="{FF2B5EF4-FFF2-40B4-BE49-F238E27FC236}">
                <a16:creationId xmlns:a16="http://schemas.microsoft.com/office/drawing/2014/main" id="{6C1BAA5D-DD0E-D239-F553-C9B88E7037AE}"/>
              </a:ext>
            </a:extLst>
          </p:cNvPr>
          <p:cNvSpPr txBox="1"/>
          <p:nvPr/>
        </p:nvSpPr>
        <p:spPr>
          <a:xfrm>
            <a:off x="3495796" y="274031"/>
            <a:ext cx="7641391" cy="769441"/>
          </a:xfrm>
          <a:prstGeom prst="rect">
            <a:avLst/>
          </a:prstGeom>
          <a:noFill/>
        </p:spPr>
        <p:txBody>
          <a:bodyPr wrap="square" rtlCol="0">
            <a:spAutoFit/>
          </a:bodyPr>
          <a:lstStyle/>
          <a:p>
            <a:pPr algn="ctr"/>
            <a:r>
              <a:rPr lang="fr-FR" sz="4400" dirty="0">
                <a:solidFill>
                  <a:schemeClr val="tx2"/>
                </a:solidFill>
                <a:latin typeface="Space Grotesk Medium" pitchFamily="2" charset="0"/>
              </a:rPr>
              <a:t>Le prompt d'analyse de marché</a:t>
            </a:r>
          </a:p>
        </p:txBody>
      </p:sp>
    </p:spTree>
    <p:extLst>
      <p:ext uri="{BB962C8B-B14F-4D97-AF65-F5344CB8AC3E}">
        <p14:creationId xmlns:p14="http://schemas.microsoft.com/office/powerpoint/2010/main" val="25774794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138B1A6-356E-7490-4027-15BD93AD5DA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169A1B9C-17BB-CBA2-286F-1B75B623602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BBB2017-88A2-2C2F-DF2F-9E3291F4E531}"/>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BDA032E8-A9E6-EB67-D989-B029B4793E10}"/>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85DFF41B-B5DD-D0C4-2B19-F32B618E5A0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5E19EE56-F190-D3EA-04A5-C0BED916A81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7" name="ZoneTexte 6">
            <a:extLst>
              <a:ext uri="{FF2B5EF4-FFF2-40B4-BE49-F238E27FC236}">
                <a16:creationId xmlns:a16="http://schemas.microsoft.com/office/drawing/2014/main" id="{BCBCB3D0-77B8-D795-4F8A-4D6CEA1F07B9}"/>
              </a:ext>
            </a:extLst>
          </p:cNvPr>
          <p:cNvSpPr txBox="1"/>
          <p:nvPr/>
        </p:nvSpPr>
        <p:spPr>
          <a:xfrm>
            <a:off x="465097" y="1337440"/>
            <a:ext cx="5220086" cy="461665"/>
          </a:xfrm>
          <a:prstGeom prst="rect">
            <a:avLst/>
          </a:prstGeom>
          <a:noFill/>
        </p:spPr>
        <p:txBody>
          <a:bodyPr wrap="square" rtlCol="0">
            <a:spAutoFit/>
          </a:bodyPr>
          <a:lstStyle/>
          <a:p>
            <a:r>
              <a:rPr lang="fr-FR" sz="2400" b="1" dirty="0">
                <a:latin typeface="Figtree"/>
              </a:rPr>
              <a:t>Ce que produit le prompt :</a:t>
            </a:r>
          </a:p>
        </p:txBody>
      </p:sp>
      <p:sp>
        <p:nvSpPr>
          <p:cNvPr id="4" name="ZoneTexte 3">
            <a:extLst>
              <a:ext uri="{FF2B5EF4-FFF2-40B4-BE49-F238E27FC236}">
                <a16:creationId xmlns:a16="http://schemas.microsoft.com/office/drawing/2014/main" id="{C34EADE5-4A70-9EDF-110D-36D9337E2220}"/>
              </a:ext>
            </a:extLst>
          </p:cNvPr>
          <p:cNvSpPr txBox="1"/>
          <p:nvPr/>
        </p:nvSpPr>
        <p:spPr>
          <a:xfrm>
            <a:off x="487460" y="1931215"/>
            <a:ext cx="11638280" cy="4785926"/>
          </a:xfrm>
          <a:prstGeom prst="rect">
            <a:avLst/>
          </a:prstGeom>
          <a:noFill/>
        </p:spPr>
        <p:txBody>
          <a:bodyPr wrap="square" rtlCol="0">
            <a:spAutoFit/>
          </a:bodyPr>
          <a:lstStyle/>
          <a:p>
            <a:r>
              <a:rPr lang="fr-FR" sz="2000" b="1" dirty="0">
                <a:solidFill>
                  <a:srgbClr val="FF0000"/>
                </a:solidFill>
              </a:rPr>
              <a:t>ANALYSE DE MARCHE ET SELECTION DES COMPARABLES			-&gt; 241 mots au total</a:t>
            </a:r>
          </a:p>
          <a:p>
            <a:r>
              <a:rPr lang="fr-FR" sz="1900" dirty="0"/>
              <a:t>L'échantillon retenu comprend dix transactions DVF réalisées entre janvier et août 2024 dans le 11e arrondissement, portant sur des surfaces de 55 à 80 m². Les prix unitaires s'échelonnent de 8 720 €/m² à 9 614 €/m², pour une médiane de 9 275 €/m² et une moyenne pondérée par la surface de 9 250 €/m². Trois facteurs d'ajustement principaux se dégagent : l'état du bien (écart d'environ 700 à 800 €/m² entre les biens vétustes et rénovés), la présence d'un ascenseur (les biens desservis, situés en étage élevé, se négocient dans la partie haute de la fourchette), et dans une moindre mesure la surface, sans corrélation univoque sur cet échantillon. Une orientation haussière est également observable sur la période, les transactions de janvier-février se situant autour de 8 780-8 849 €/m² contre 9 250-9 517 €/m² en juillet-août.</a:t>
            </a:r>
          </a:p>
          <a:p>
            <a:endParaRPr lang="fr-FR" sz="1900" dirty="0"/>
          </a:p>
          <a:p>
            <a:r>
              <a:rPr lang="fr-FR" sz="1900" dirty="0"/>
              <a:t>Le bien expertisé, d'une surface de 68 m² au 3e étage sans ascenseur, présente un état hétérogène (parquet ancien en bon état, salle de bains vétuste, double vitrage partiel), assimilable à un état courant à dominante moyenne. Ce profil se rapproche le plus de la référence C-09 (67 m², 3e étage, état courant, 9 250 €/m², juillet 2024), cohérente avec la moyenne pondérée du secteur. Le bien se positionne ainsi au centre de la fourchette observée, sans justifier d'ajustement significatif à la hausse ou à la baisse. Le marché local du 11e arrondissement affiche une tendance haussière modérée sur le premier semestre 2024.</a:t>
            </a:r>
          </a:p>
        </p:txBody>
      </p:sp>
      <p:sp>
        <p:nvSpPr>
          <p:cNvPr id="8" name="Rectangle: Rounded Corners 14">
            <a:extLst>
              <a:ext uri="{FF2B5EF4-FFF2-40B4-BE49-F238E27FC236}">
                <a16:creationId xmlns:a16="http://schemas.microsoft.com/office/drawing/2014/main" id="{401C670D-47BC-EB98-0F42-34DDB4C9DFDA}"/>
              </a:ext>
            </a:extLst>
          </p:cNvPr>
          <p:cNvSpPr/>
          <p:nvPr/>
        </p:nvSpPr>
        <p:spPr>
          <a:xfrm>
            <a:off x="3495795" y="279981"/>
            <a:ext cx="7641392" cy="85387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1">
            <a:extLst>
              <a:ext uri="{FF2B5EF4-FFF2-40B4-BE49-F238E27FC236}">
                <a16:creationId xmlns:a16="http://schemas.microsoft.com/office/drawing/2014/main" id="{B9B9E769-7012-7B1D-685C-C475BC44DB35}"/>
              </a:ext>
            </a:extLst>
          </p:cNvPr>
          <p:cNvSpPr txBox="1"/>
          <p:nvPr/>
        </p:nvSpPr>
        <p:spPr>
          <a:xfrm>
            <a:off x="3495796" y="274031"/>
            <a:ext cx="7641391" cy="769441"/>
          </a:xfrm>
          <a:prstGeom prst="rect">
            <a:avLst/>
          </a:prstGeom>
          <a:noFill/>
        </p:spPr>
        <p:txBody>
          <a:bodyPr wrap="square" rtlCol="0">
            <a:spAutoFit/>
          </a:bodyPr>
          <a:lstStyle/>
          <a:p>
            <a:pPr algn="ctr"/>
            <a:r>
              <a:rPr lang="fr-FR" sz="4400" dirty="0">
                <a:solidFill>
                  <a:schemeClr val="tx2"/>
                </a:solidFill>
                <a:latin typeface="Space Grotesk Medium" pitchFamily="2" charset="0"/>
              </a:rPr>
              <a:t>Le prompt d'analyse de marché</a:t>
            </a:r>
          </a:p>
        </p:txBody>
      </p:sp>
    </p:spTree>
    <p:extLst>
      <p:ext uri="{BB962C8B-B14F-4D97-AF65-F5344CB8AC3E}">
        <p14:creationId xmlns:p14="http://schemas.microsoft.com/office/powerpoint/2010/main" val="4193094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A89A8B-EFEA-1325-50F8-71D4B4FAEF08}"/>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35F67964-0B7B-AF01-BDCC-C058F447B3B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32FFCB5-DD0A-564C-948B-960A3FC797A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FF909066-8E5C-F86D-8D52-43523084068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4AB6B6CF-3437-D0A0-EC63-9EEA7C28E1C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0D1A2089-F717-0B8C-A703-B148E82DC9D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0C60D283-5D75-BAD7-3CBC-BC1D375BEC42}"/>
              </a:ext>
            </a:extLst>
          </p:cNvPr>
          <p:cNvSpPr txBox="1"/>
          <p:nvPr/>
        </p:nvSpPr>
        <p:spPr>
          <a:xfrm>
            <a:off x="276860" y="2924590"/>
            <a:ext cx="11638280" cy="2308324"/>
          </a:xfrm>
          <a:prstGeom prst="rect">
            <a:avLst/>
          </a:prstGeom>
          <a:noFill/>
        </p:spPr>
        <p:txBody>
          <a:bodyPr wrap="square" rtlCol="0">
            <a:spAutoFit/>
          </a:bodyPr>
          <a:lstStyle/>
          <a:p>
            <a:pPr algn="ctr"/>
            <a:r>
              <a:rPr lang="fr-FR" sz="3600" b="1" dirty="0"/>
              <a:t>C'est la partie la plus importante pour la responsabilité professionnelle. </a:t>
            </a:r>
          </a:p>
          <a:p>
            <a:pPr algn="ctr"/>
            <a:endParaRPr lang="fr-FR" sz="3600" dirty="0"/>
          </a:p>
          <a:p>
            <a:pPr algn="ctr"/>
            <a:r>
              <a:rPr lang="fr-FR" sz="3600" dirty="0"/>
              <a:t>3 pièges récurrents à éviter :</a:t>
            </a:r>
            <a:endParaRPr lang="fr-FR" sz="3200" dirty="0"/>
          </a:p>
        </p:txBody>
      </p:sp>
      <p:sp>
        <p:nvSpPr>
          <p:cNvPr id="8" name="Rectangle: Rounded Corners 14">
            <a:extLst>
              <a:ext uri="{FF2B5EF4-FFF2-40B4-BE49-F238E27FC236}">
                <a16:creationId xmlns:a16="http://schemas.microsoft.com/office/drawing/2014/main" id="{547215B9-0088-9241-AF7F-8CC8B437F0CF}"/>
              </a:ext>
            </a:extLst>
          </p:cNvPr>
          <p:cNvSpPr/>
          <p:nvPr/>
        </p:nvSpPr>
        <p:spPr>
          <a:xfrm>
            <a:off x="3495795" y="279981"/>
            <a:ext cx="7641392" cy="1519124"/>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1">
            <a:extLst>
              <a:ext uri="{FF2B5EF4-FFF2-40B4-BE49-F238E27FC236}">
                <a16:creationId xmlns:a16="http://schemas.microsoft.com/office/drawing/2014/main" id="{D1A63835-6424-2A73-8E7B-47EEE13C178A}"/>
              </a:ext>
            </a:extLst>
          </p:cNvPr>
          <p:cNvSpPr txBox="1"/>
          <p:nvPr/>
        </p:nvSpPr>
        <p:spPr>
          <a:xfrm>
            <a:off x="3495796" y="274031"/>
            <a:ext cx="7641391" cy="1446550"/>
          </a:xfrm>
          <a:prstGeom prst="rect">
            <a:avLst/>
          </a:prstGeom>
          <a:noFill/>
        </p:spPr>
        <p:txBody>
          <a:bodyPr wrap="square" rtlCol="0">
            <a:spAutoFit/>
          </a:bodyPr>
          <a:lstStyle/>
          <a:p>
            <a:pPr algn="ctr"/>
            <a:r>
              <a:rPr lang="fr-FR" sz="4400" dirty="0"/>
              <a:t>Les pièges à éviter : biais et hallucinations sur les données</a:t>
            </a:r>
            <a:endParaRPr lang="fr-FR" sz="4400" dirty="0">
              <a:solidFill>
                <a:schemeClr val="tx2"/>
              </a:solidFill>
              <a:latin typeface="Space Grotesk Medium" pitchFamily="2" charset="0"/>
            </a:endParaRPr>
          </a:p>
        </p:txBody>
      </p:sp>
    </p:spTree>
    <p:extLst>
      <p:ext uri="{BB962C8B-B14F-4D97-AF65-F5344CB8AC3E}">
        <p14:creationId xmlns:p14="http://schemas.microsoft.com/office/powerpoint/2010/main" val="17698517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5EC67F7-9ED1-6EF2-DB35-086637693C02}"/>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CB846E98-BE90-BAD9-83A7-A51A244C68E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DFF873F-6C76-900C-35A4-24D2D76794B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556F9A7-86C1-ADC3-68E6-ECEA477EDF1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AABBDB41-25DD-C16F-B1A4-AC5C6D4835C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10862C65-CAC0-F544-701D-2BA310C941C1}"/>
              </a:ext>
            </a:extLst>
          </p:cNvPr>
          <p:cNvSpPr txBox="1"/>
          <p:nvPr/>
        </p:nvSpPr>
        <p:spPr>
          <a:xfrm>
            <a:off x="821205" y="828027"/>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8" name="Rectangle: Rounded Corners 14">
            <a:extLst>
              <a:ext uri="{FF2B5EF4-FFF2-40B4-BE49-F238E27FC236}">
                <a16:creationId xmlns:a16="http://schemas.microsoft.com/office/drawing/2014/main" id="{801BE7AA-7059-8B58-A94C-5A79AC259EC8}"/>
              </a:ext>
            </a:extLst>
          </p:cNvPr>
          <p:cNvSpPr/>
          <p:nvPr/>
        </p:nvSpPr>
        <p:spPr>
          <a:xfrm>
            <a:off x="3495795" y="279981"/>
            <a:ext cx="7641392" cy="1519124"/>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1">
            <a:extLst>
              <a:ext uri="{FF2B5EF4-FFF2-40B4-BE49-F238E27FC236}">
                <a16:creationId xmlns:a16="http://schemas.microsoft.com/office/drawing/2014/main" id="{9201CF4C-3899-EA1B-DB1E-D70628C015D1}"/>
              </a:ext>
            </a:extLst>
          </p:cNvPr>
          <p:cNvSpPr txBox="1"/>
          <p:nvPr/>
        </p:nvSpPr>
        <p:spPr>
          <a:xfrm>
            <a:off x="3495796" y="274031"/>
            <a:ext cx="7641391" cy="1446550"/>
          </a:xfrm>
          <a:prstGeom prst="rect">
            <a:avLst/>
          </a:prstGeom>
          <a:noFill/>
        </p:spPr>
        <p:txBody>
          <a:bodyPr wrap="square" rtlCol="0">
            <a:spAutoFit/>
          </a:bodyPr>
          <a:lstStyle/>
          <a:p>
            <a:pPr algn="ctr"/>
            <a:r>
              <a:rPr lang="fr-FR" sz="4400" dirty="0"/>
              <a:t>Les pièges à éviter : biais et hallucinations sur les données</a:t>
            </a:r>
            <a:endParaRPr lang="fr-FR" sz="4400" dirty="0">
              <a:solidFill>
                <a:schemeClr val="tx2"/>
              </a:solidFill>
              <a:latin typeface="Space Grotesk Medium" pitchFamily="2" charset="0"/>
            </a:endParaRPr>
          </a:p>
        </p:txBody>
      </p:sp>
      <p:sp>
        <p:nvSpPr>
          <p:cNvPr id="2" name="ZoneTexte 1">
            <a:extLst>
              <a:ext uri="{FF2B5EF4-FFF2-40B4-BE49-F238E27FC236}">
                <a16:creationId xmlns:a16="http://schemas.microsoft.com/office/drawing/2014/main" id="{6F9AB703-F7AB-A8E0-C626-08A4499F693B}"/>
              </a:ext>
            </a:extLst>
          </p:cNvPr>
          <p:cNvSpPr txBox="1"/>
          <p:nvPr/>
        </p:nvSpPr>
        <p:spPr>
          <a:xfrm>
            <a:off x="714662" y="2582875"/>
            <a:ext cx="10964720" cy="3046988"/>
          </a:xfrm>
          <a:prstGeom prst="rect">
            <a:avLst/>
          </a:prstGeom>
          <a:noFill/>
        </p:spPr>
        <p:txBody>
          <a:bodyPr wrap="square" rtlCol="0">
            <a:spAutoFit/>
          </a:bodyPr>
          <a:lstStyle/>
          <a:p>
            <a:r>
              <a:rPr lang="fr-FR" sz="3200" b="1" dirty="0"/>
              <a:t>Piège 1 — Demander à l'IA des prix sans lui fournir de données</a:t>
            </a:r>
          </a:p>
          <a:p>
            <a:endParaRPr lang="fr-FR" sz="3200" dirty="0"/>
          </a:p>
          <a:p>
            <a:r>
              <a:rPr lang="fr-FR" sz="3200" i="1" dirty="0">
                <a:latin typeface="Courier New" panose="02070309020205020404" pitchFamily="49" charset="0"/>
                <a:cs typeface="Courier New" panose="02070309020205020404" pitchFamily="49" charset="0"/>
              </a:rPr>
              <a:t>Prompt dangereux : « Quels sont les prix au m² dans le 11e arrondissement de Paris en 2024 ? »</a:t>
            </a:r>
          </a:p>
          <a:p>
            <a:endParaRPr lang="fr-FR" sz="3200" dirty="0"/>
          </a:p>
        </p:txBody>
      </p:sp>
    </p:spTree>
    <p:extLst>
      <p:ext uri="{BB962C8B-B14F-4D97-AF65-F5344CB8AC3E}">
        <p14:creationId xmlns:p14="http://schemas.microsoft.com/office/powerpoint/2010/main" val="14971879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AACC132-F295-531B-0E28-3B0CE61E33E7}"/>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096C3725-C842-021D-FE2B-7CFF1D13217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F49280B-8394-9D26-BF1D-F21C67B46A2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A3D03AE-9511-D69C-36AF-7C614013AA7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BC11CEF9-1A6B-3B24-6B6D-63ED69C70A8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88114E15-7802-D3B7-7C2C-B3E26352703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8" name="Rectangle: Rounded Corners 14">
            <a:extLst>
              <a:ext uri="{FF2B5EF4-FFF2-40B4-BE49-F238E27FC236}">
                <a16:creationId xmlns:a16="http://schemas.microsoft.com/office/drawing/2014/main" id="{7A642BC2-FB27-6711-47D6-8964F116A3FF}"/>
              </a:ext>
            </a:extLst>
          </p:cNvPr>
          <p:cNvSpPr/>
          <p:nvPr/>
        </p:nvSpPr>
        <p:spPr>
          <a:xfrm>
            <a:off x="3495795" y="279981"/>
            <a:ext cx="7641392" cy="1519124"/>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1">
            <a:extLst>
              <a:ext uri="{FF2B5EF4-FFF2-40B4-BE49-F238E27FC236}">
                <a16:creationId xmlns:a16="http://schemas.microsoft.com/office/drawing/2014/main" id="{41365365-C509-3048-A228-E386D246309D}"/>
              </a:ext>
            </a:extLst>
          </p:cNvPr>
          <p:cNvSpPr txBox="1"/>
          <p:nvPr/>
        </p:nvSpPr>
        <p:spPr>
          <a:xfrm>
            <a:off x="3495796" y="274031"/>
            <a:ext cx="7641391" cy="1446550"/>
          </a:xfrm>
          <a:prstGeom prst="rect">
            <a:avLst/>
          </a:prstGeom>
          <a:noFill/>
        </p:spPr>
        <p:txBody>
          <a:bodyPr wrap="square" rtlCol="0">
            <a:spAutoFit/>
          </a:bodyPr>
          <a:lstStyle/>
          <a:p>
            <a:pPr algn="ctr"/>
            <a:r>
              <a:rPr lang="fr-FR" sz="4400" dirty="0"/>
              <a:t>Les pièges à éviter : biais et hallucinations sur les données</a:t>
            </a:r>
            <a:endParaRPr lang="fr-FR" sz="4400" dirty="0">
              <a:solidFill>
                <a:schemeClr val="tx2"/>
              </a:solidFill>
              <a:latin typeface="Space Grotesk Medium" pitchFamily="2" charset="0"/>
            </a:endParaRPr>
          </a:p>
        </p:txBody>
      </p:sp>
      <p:sp>
        <p:nvSpPr>
          <p:cNvPr id="2" name="ZoneTexte 1">
            <a:extLst>
              <a:ext uri="{FF2B5EF4-FFF2-40B4-BE49-F238E27FC236}">
                <a16:creationId xmlns:a16="http://schemas.microsoft.com/office/drawing/2014/main" id="{966C2BDD-305B-5AEE-1D02-6BA0AC4CEF07}"/>
              </a:ext>
            </a:extLst>
          </p:cNvPr>
          <p:cNvSpPr txBox="1"/>
          <p:nvPr/>
        </p:nvSpPr>
        <p:spPr>
          <a:xfrm>
            <a:off x="714662" y="2582875"/>
            <a:ext cx="10964720" cy="2062103"/>
          </a:xfrm>
          <a:prstGeom prst="rect">
            <a:avLst/>
          </a:prstGeom>
          <a:noFill/>
        </p:spPr>
        <p:txBody>
          <a:bodyPr wrap="square" rtlCol="0">
            <a:spAutoFit/>
          </a:bodyPr>
          <a:lstStyle/>
          <a:p>
            <a:r>
              <a:rPr lang="fr-FR" sz="3200" b="1" dirty="0"/>
              <a:t>Piège 2 — Les erreurs de calcul sur les moyennes</a:t>
            </a:r>
          </a:p>
          <a:p>
            <a:endParaRPr lang="fr-FR" sz="3200" dirty="0"/>
          </a:p>
          <a:p>
            <a:r>
              <a:rPr lang="fr-FR" sz="3200" i="1" dirty="0">
                <a:latin typeface="Courier New" panose="02070309020205020404" pitchFamily="49" charset="0"/>
                <a:cs typeface="Courier New" panose="02070309020205020404" pitchFamily="49" charset="0"/>
              </a:rPr>
              <a:t>Prompt de sécurité :</a:t>
            </a:r>
            <a:r>
              <a:rPr lang="fr-FR" sz="3200" dirty="0">
                <a:latin typeface="Courier New" panose="02070309020205020404" pitchFamily="49" charset="0"/>
                <a:cs typeface="Courier New" panose="02070309020205020404" pitchFamily="49" charset="0"/>
              </a:rPr>
              <a:t> « Détaille tes calculs étape par étape avant de rédiger. »</a:t>
            </a:r>
          </a:p>
        </p:txBody>
      </p:sp>
    </p:spTree>
    <p:extLst>
      <p:ext uri="{BB962C8B-B14F-4D97-AF65-F5344CB8AC3E}">
        <p14:creationId xmlns:p14="http://schemas.microsoft.com/office/powerpoint/2010/main" val="25831129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A16CF89-5782-3597-D05F-25D24EB62843}"/>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B63F877B-6BA4-D0CD-8708-3DD9925F1E1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320786E-D26A-5682-621D-DD13E6BF5346}"/>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C3761C0-4841-C915-6BB1-B553C842C60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3</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3B043A2D-A234-CB7F-94EA-F5B8CBBC4B6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BB515846-4A95-9C3C-E6FB-B35361B3EC1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8" name="Rectangle: Rounded Corners 14">
            <a:extLst>
              <a:ext uri="{FF2B5EF4-FFF2-40B4-BE49-F238E27FC236}">
                <a16:creationId xmlns:a16="http://schemas.microsoft.com/office/drawing/2014/main" id="{0236DD50-1002-534E-DCB6-849942F3BDB2}"/>
              </a:ext>
            </a:extLst>
          </p:cNvPr>
          <p:cNvSpPr/>
          <p:nvPr/>
        </p:nvSpPr>
        <p:spPr>
          <a:xfrm>
            <a:off x="3495795" y="279981"/>
            <a:ext cx="7641392" cy="1519124"/>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1">
            <a:extLst>
              <a:ext uri="{FF2B5EF4-FFF2-40B4-BE49-F238E27FC236}">
                <a16:creationId xmlns:a16="http://schemas.microsoft.com/office/drawing/2014/main" id="{9802096E-4206-882C-5C12-0876E4CCB95A}"/>
              </a:ext>
            </a:extLst>
          </p:cNvPr>
          <p:cNvSpPr txBox="1"/>
          <p:nvPr/>
        </p:nvSpPr>
        <p:spPr>
          <a:xfrm>
            <a:off x="3495796" y="274031"/>
            <a:ext cx="7641391" cy="1446550"/>
          </a:xfrm>
          <a:prstGeom prst="rect">
            <a:avLst/>
          </a:prstGeom>
          <a:noFill/>
        </p:spPr>
        <p:txBody>
          <a:bodyPr wrap="square" rtlCol="0">
            <a:spAutoFit/>
          </a:bodyPr>
          <a:lstStyle/>
          <a:p>
            <a:pPr algn="ctr"/>
            <a:r>
              <a:rPr lang="fr-FR" sz="4400" dirty="0"/>
              <a:t>Les pièges à éviter : biais et hallucinations sur les données</a:t>
            </a:r>
            <a:endParaRPr lang="fr-FR" sz="4400" dirty="0">
              <a:solidFill>
                <a:schemeClr val="tx2"/>
              </a:solidFill>
              <a:latin typeface="Space Grotesk Medium" pitchFamily="2" charset="0"/>
            </a:endParaRPr>
          </a:p>
        </p:txBody>
      </p:sp>
      <p:sp>
        <p:nvSpPr>
          <p:cNvPr id="2" name="ZoneTexte 1">
            <a:extLst>
              <a:ext uri="{FF2B5EF4-FFF2-40B4-BE49-F238E27FC236}">
                <a16:creationId xmlns:a16="http://schemas.microsoft.com/office/drawing/2014/main" id="{155ED003-8C37-EC3D-A451-CE143A785DC1}"/>
              </a:ext>
            </a:extLst>
          </p:cNvPr>
          <p:cNvSpPr txBox="1"/>
          <p:nvPr/>
        </p:nvSpPr>
        <p:spPr>
          <a:xfrm>
            <a:off x="714661" y="2582875"/>
            <a:ext cx="11278555" cy="2185214"/>
          </a:xfrm>
          <a:prstGeom prst="rect">
            <a:avLst/>
          </a:prstGeom>
          <a:noFill/>
        </p:spPr>
        <p:txBody>
          <a:bodyPr wrap="square" rtlCol="0">
            <a:spAutoFit/>
          </a:bodyPr>
          <a:lstStyle/>
          <a:p>
            <a:r>
              <a:rPr lang="fr-FR" sz="3200" b="1" dirty="0"/>
              <a:t>Piège 3 — Les ajustements inventés</a:t>
            </a:r>
          </a:p>
          <a:p>
            <a:endParaRPr lang="fr-FR" sz="3200" dirty="0"/>
          </a:p>
          <a:p>
            <a:r>
              <a:rPr lang="fr-FR" sz="3200" i="1" dirty="0">
                <a:latin typeface="Courier New" panose="02070309020205020404" pitchFamily="49" charset="0"/>
                <a:cs typeface="Courier New" panose="02070309020205020404" pitchFamily="49" charset="0"/>
              </a:rPr>
              <a:t>Hallucination :</a:t>
            </a:r>
            <a:r>
              <a:rPr lang="fr-FR" sz="3200" dirty="0">
                <a:latin typeface="Courier New" panose="02070309020205020404" pitchFamily="49" charset="0"/>
                <a:cs typeface="Courier New" panose="02070309020205020404" pitchFamily="49" charset="0"/>
              </a:rPr>
              <a:t> </a:t>
            </a:r>
            <a:r>
              <a:rPr lang="fr-FR" sz="3600" dirty="0">
                <a:latin typeface="Courier New" panose="02070309020205020404" pitchFamily="49" charset="0"/>
                <a:cs typeface="Courier New" panose="02070309020205020404" pitchFamily="49" charset="0"/>
              </a:rPr>
              <a:t>« l'absence d'ascenseur justifie une décote de 8% »</a:t>
            </a:r>
            <a:endParaRPr lang="fr-FR" sz="3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062887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BC8D5A-523A-2461-EFC0-C4777A6D6C5A}"/>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7A5D5B-3335-162F-CF6E-A1DDD4FE6620}"/>
              </a:ext>
            </a:extLst>
          </p:cNvPr>
          <p:cNvSpPr>
            <a:spLocks noGrp="1"/>
          </p:cNvSpPr>
          <p:nvPr>
            <p:ph type="pic" sz="quarter" idx="10"/>
          </p:nvPr>
        </p:nvSpPr>
        <p:spPr>
          <a:xfrm>
            <a:off x="14514" y="15521"/>
            <a:ext cx="12192000" cy="6858000"/>
          </a:xfrm>
        </p:spPr>
        <p:txBody>
          <a:bodyPr/>
          <a:lstStyle/>
          <a:p>
            <a:endParaRPr lang="en-US" dirty="0"/>
          </a:p>
        </p:txBody>
      </p:sp>
      <p:sp>
        <p:nvSpPr>
          <p:cNvPr id="58" name="Rectangle: Rounded Corners 62">
            <a:extLst>
              <a:ext uri="{FF2B5EF4-FFF2-40B4-BE49-F238E27FC236}">
                <a16:creationId xmlns:a16="http://schemas.microsoft.com/office/drawing/2014/main" id="{2F1EFC90-A931-74D2-21B5-3A735DEE12B5}"/>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Freeform: Shape 3">
            <a:extLst>
              <a:ext uri="{FF2B5EF4-FFF2-40B4-BE49-F238E27FC236}">
                <a16:creationId xmlns:a16="http://schemas.microsoft.com/office/drawing/2014/main" id="{070B573E-3CF3-37E1-D7B3-DD1065C6035E}"/>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Shape 4">
            <a:extLst>
              <a:ext uri="{FF2B5EF4-FFF2-40B4-BE49-F238E27FC236}">
                <a16:creationId xmlns:a16="http://schemas.microsoft.com/office/drawing/2014/main" id="{B431DEAB-0F5E-BF98-85A9-0C3C4D4EC7C4}"/>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45015BB-C249-49F8-D909-E3C03AE8D8E6}"/>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B79E9CD-FBA5-485B-2CE0-D906A9111FFD}"/>
              </a:ext>
            </a:extLst>
          </p:cNvPr>
          <p:cNvSpPr txBox="1"/>
          <p:nvPr/>
        </p:nvSpPr>
        <p:spPr>
          <a:xfrm>
            <a:off x="14514" y="728629"/>
            <a:ext cx="12192000" cy="1015663"/>
          </a:xfrm>
          <a:prstGeom prst="rect">
            <a:avLst/>
          </a:prstGeom>
          <a:noFill/>
        </p:spPr>
        <p:txBody>
          <a:bodyPr wrap="square" rtlCol="0">
            <a:spAutoFit/>
          </a:bodyPr>
          <a:lstStyle/>
          <a:p>
            <a:pPr algn="ctr"/>
            <a:r>
              <a:rPr lang="fr-FR" sz="6000" dirty="0">
                <a:solidFill>
                  <a:schemeClr val="bg1"/>
                </a:solidFill>
                <a:latin typeface="Space Grotesk Medium" pitchFamily="2" charset="0"/>
              </a:rPr>
              <a:t>Module 4</a:t>
            </a:r>
            <a:endParaRPr lang="en-US" sz="6000" dirty="0">
              <a:solidFill>
                <a:schemeClr val="bg1"/>
              </a:solidFill>
              <a:latin typeface="Space Grotesk Medium" pitchFamily="2" charset="0"/>
            </a:endParaRPr>
          </a:p>
        </p:txBody>
      </p:sp>
      <p:sp>
        <p:nvSpPr>
          <p:cNvPr id="9" name="Rectangle: Rounded Corners 14">
            <a:extLst>
              <a:ext uri="{FF2B5EF4-FFF2-40B4-BE49-F238E27FC236}">
                <a16:creationId xmlns:a16="http://schemas.microsoft.com/office/drawing/2014/main" id="{8F215D3B-555C-9CA8-1643-EBF1D8CFF837}"/>
              </a:ext>
            </a:extLst>
          </p:cNvPr>
          <p:cNvSpPr/>
          <p:nvPr/>
        </p:nvSpPr>
        <p:spPr>
          <a:xfrm>
            <a:off x="2399070" y="2481177"/>
            <a:ext cx="7641392" cy="295258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7">
            <a:extLst>
              <a:ext uri="{FF2B5EF4-FFF2-40B4-BE49-F238E27FC236}">
                <a16:creationId xmlns:a16="http://schemas.microsoft.com/office/drawing/2014/main" id="{8731EA3E-76F3-7906-4895-8F8738817F4C}"/>
              </a:ext>
            </a:extLst>
          </p:cNvPr>
          <p:cNvSpPr txBox="1"/>
          <p:nvPr/>
        </p:nvSpPr>
        <p:spPr>
          <a:xfrm>
            <a:off x="2399069" y="4059950"/>
            <a:ext cx="7641392" cy="400110"/>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2000" b="1" dirty="0">
                <a:solidFill>
                  <a:schemeClr val="tx2">
                    <a:alpha val="60000"/>
                  </a:schemeClr>
                </a:solidFill>
              </a:rPr>
              <a:t>Produire un rapport complet</a:t>
            </a:r>
            <a:endParaRPr lang="en-US" sz="2000" b="1" dirty="0">
              <a:solidFill>
                <a:schemeClr val="tx2">
                  <a:alpha val="60000"/>
                </a:schemeClr>
              </a:solidFill>
            </a:endParaRPr>
          </a:p>
        </p:txBody>
      </p:sp>
      <p:sp>
        <p:nvSpPr>
          <p:cNvPr id="13" name="TextBox 1">
            <a:extLst>
              <a:ext uri="{FF2B5EF4-FFF2-40B4-BE49-F238E27FC236}">
                <a16:creationId xmlns:a16="http://schemas.microsoft.com/office/drawing/2014/main" id="{8FA15F37-AFCB-AB1A-058C-A969F3725763}"/>
              </a:ext>
            </a:extLst>
          </p:cNvPr>
          <p:cNvSpPr txBox="1"/>
          <p:nvPr/>
        </p:nvSpPr>
        <p:spPr>
          <a:xfrm>
            <a:off x="2399070" y="2503999"/>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Structuration et rédaction du rapport complet d'expert</a:t>
            </a:r>
            <a:endParaRPr lang="en-US" sz="4400" dirty="0">
              <a:solidFill>
                <a:schemeClr val="tx2"/>
              </a:solidFill>
              <a:latin typeface="Space Grotesk Medium" pitchFamily="2" charset="0"/>
            </a:endParaRPr>
          </a:p>
        </p:txBody>
      </p:sp>
    </p:spTree>
    <p:extLst>
      <p:ext uri="{BB962C8B-B14F-4D97-AF65-F5344CB8AC3E}">
        <p14:creationId xmlns:p14="http://schemas.microsoft.com/office/powerpoint/2010/main" val="24255111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1B203A-05C0-5056-686D-DE5A4F13623B}"/>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FA586271-8549-8D48-C727-6221820ABF9C}"/>
              </a:ext>
            </a:extLst>
          </p:cNvPr>
          <p:cNvSpPr/>
          <p:nvPr/>
        </p:nvSpPr>
        <p:spPr>
          <a:xfrm>
            <a:off x="3495795" y="279981"/>
            <a:ext cx="7641392" cy="1469371"/>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D28CA1F6-FD55-6A09-A933-5AE33C40993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D0E3814-23DE-4995-F45E-EB335333C2C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A27F577D-2F8D-CC98-9DAC-D5EE4875B69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9C719CA1-253D-A2F0-923C-193D22B7C9AC}"/>
              </a:ext>
            </a:extLst>
          </p:cNvPr>
          <p:cNvSpPr txBox="1"/>
          <p:nvPr/>
        </p:nvSpPr>
        <p:spPr>
          <a:xfrm>
            <a:off x="3495795" y="302802"/>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Structuration et rédaction du rapport complet d'expert</a:t>
            </a:r>
          </a:p>
        </p:txBody>
      </p:sp>
      <p:sp>
        <p:nvSpPr>
          <p:cNvPr id="13" name="Freeform: Shape 3">
            <a:extLst>
              <a:ext uri="{FF2B5EF4-FFF2-40B4-BE49-F238E27FC236}">
                <a16:creationId xmlns:a16="http://schemas.microsoft.com/office/drawing/2014/main" id="{0A7FE901-156F-039F-891C-6CA1548BB61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Rounded Corners 14">
            <a:extLst>
              <a:ext uri="{FF2B5EF4-FFF2-40B4-BE49-F238E27FC236}">
                <a16:creationId xmlns:a16="http://schemas.microsoft.com/office/drawing/2014/main" id="{40BBF936-6B71-754C-5C36-2DA64AB39CEF}"/>
              </a:ext>
            </a:extLst>
          </p:cNvPr>
          <p:cNvSpPr/>
          <p:nvPr/>
        </p:nvSpPr>
        <p:spPr>
          <a:xfrm>
            <a:off x="1712701" y="3229676"/>
            <a:ext cx="3596627"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TextBox 1">
            <a:extLst>
              <a:ext uri="{FF2B5EF4-FFF2-40B4-BE49-F238E27FC236}">
                <a16:creationId xmlns:a16="http://schemas.microsoft.com/office/drawing/2014/main" id="{B928B8DD-28A1-271D-A7D1-9D151340227B}"/>
              </a:ext>
            </a:extLst>
          </p:cNvPr>
          <p:cNvSpPr txBox="1"/>
          <p:nvPr/>
        </p:nvSpPr>
        <p:spPr>
          <a:xfrm>
            <a:off x="1712702" y="3306885"/>
            <a:ext cx="3596628" cy="1019959"/>
          </a:xfrm>
          <a:prstGeom prst="rect">
            <a:avLst/>
          </a:prstGeom>
          <a:noFill/>
        </p:spPr>
        <p:txBody>
          <a:bodyPr wrap="square" rtlCol="0">
            <a:spAutoFit/>
          </a:bodyPr>
          <a:lstStyle/>
          <a:p>
            <a:pPr>
              <a:lnSpc>
                <a:spcPts val="2400"/>
              </a:lnSpc>
            </a:pPr>
            <a:r>
              <a:rPr lang="fr-FR" sz="2400" dirty="0"/>
              <a:t>L'architecture du rapport : ce que l'IA doit connaître avant de rédiger</a:t>
            </a:r>
            <a:endParaRPr lang="en-US" sz="2400" dirty="0">
              <a:solidFill>
                <a:schemeClr val="tx2"/>
              </a:solidFill>
              <a:latin typeface="Figtree"/>
            </a:endParaRPr>
          </a:p>
        </p:txBody>
      </p:sp>
      <p:grpSp>
        <p:nvGrpSpPr>
          <p:cNvPr id="47" name="Groupe 46">
            <a:extLst>
              <a:ext uri="{FF2B5EF4-FFF2-40B4-BE49-F238E27FC236}">
                <a16:creationId xmlns:a16="http://schemas.microsoft.com/office/drawing/2014/main" id="{2D48188E-60DA-1C4D-0F5E-B2EAA210A168}"/>
              </a:ext>
            </a:extLst>
          </p:cNvPr>
          <p:cNvGrpSpPr/>
          <p:nvPr/>
        </p:nvGrpSpPr>
        <p:grpSpPr>
          <a:xfrm>
            <a:off x="1275005" y="3599041"/>
            <a:ext cx="349715" cy="349715"/>
            <a:chOff x="406195" y="3079285"/>
            <a:chExt cx="495856" cy="495856"/>
          </a:xfrm>
        </p:grpSpPr>
        <p:sp>
          <p:nvSpPr>
            <p:cNvPr id="44" name="Oval 15">
              <a:extLst>
                <a:ext uri="{FF2B5EF4-FFF2-40B4-BE49-F238E27FC236}">
                  <a16:creationId xmlns:a16="http://schemas.microsoft.com/office/drawing/2014/main" id="{4442D7FF-7A94-F1DE-66B1-ABA0F919A0FD}"/>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16">
              <a:extLst>
                <a:ext uri="{FF2B5EF4-FFF2-40B4-BE49-F238E27FC236}">
                  <a16:creationId xmlns:a16="http://schemas.microsoft.com/office/drawing/2014/main" id="{2C488F55-CAEA-19BA-65C6-069CDA2DC2DF}"/>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48" name="Rectangle: Rounded Corners 14">
            <a:extLst>
              <a:ext uri="{FF2B5EF4-FFF2-40B4-BE49-F238E27FC236}">
                <a16:creationId xmlns:a16="http://schemas.microsoft.com/office/drawing/2014/main" id="{C853A814-9CFE-86F2-1D36-96414A3E4E05}"/>
              </a:ext>
            </a:extLst>
          </p:cNvPr>
          <p:cNvSpPr/>
          <p:nvPr/>
        </p:nvSpPr>
        <p:spPr>
          <a:xfrm>
            <a:off x="7288388" y="3232082"/>
            <a:ext cx="3848798"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9" name="Groupe 48">
            <a:extLst>
              <a:ext uri="{FF2B5EF4-FFF2-40B4-BE49-F238E27FC236}">
                <a16:creationId xmlns:a16="http://schemas.microsoft.com/office/drawing/2014/main" id="{A76495BC-91C5-8FE1-62DF-A1BAC68AF3A5}"/>
              </a:ext>
            </a:extLst>
          </p:cNvPr>
          <p:cNvGrpSpPr/>
          <p:nvPr/>
        </p:nvGrpSpPr>
        <p:grpSpPr>
          <a:xfrm>
            <a:off x="6882671" y="3599041"/>
            <a:ext cx="349715" cy="349715"/>
            <a:chOff x="406195" y="3079285"/>
            <a:chExt cx="495856" cy="495856"/>
          </a:xfrm>
        </p:grpSpPr>
        <p:sp>
          <p:nvSpPr>
            <p:cNvPr id="50" name="Oval 15">
              <a:extLst>
                <a:ext uri="{FF2B5EF4-FFF2-40B4-BE49-F238E27FC236}">
                  <a16:creationId xmlns:a16="http://schemas.microsoft.com/office/drawing/2014/main" id="{4E746ACD-67F2-54DE-8691-1568AAC4A6FC}"/>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1" name="Straight Arrow Connector 16">
              <a:extLst>
                <a:ext uri="{FF2B5EF4-FFF2-40B4-BE49-F238E27FC236}">
                  <a16:creationId xmlns:a16="http://schemas.microsoft.com/office/drawing/2014/main" id="{D9A78BF4-C751-425E-38E2-945CB5A97AAE}"/>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19" name="TextBox 1">
            <a:extLst>
              <a:ext uri="{FF2B5EF4-FFF2-40B4-BE49-F238E27FC236}">
                <a16:creationId xmlns:a16="http://schemas.microsoft.com/office/drawing/2014/main" id="{F5B58A91-9BDA-16F6-CB07-19414A307F17}"/>
              </a:ext>
            </a:extLst>
          </p:cNvPr>
          <p:cNvSpPr txBox="1"/>
          <p:nvPr/>
        </p:nvSpPr>
        <p:spPr>
          <a:xfrm>
            <a:off x="7288388" y="3334909"/>
            <a:ext cx="3848798" cy="830997"/>
          </a:xfrm>
          <a:prstGeom prst="rect">
            <a:avLst/>
          </a:prstGeom>
          <a:noFill/>
        </p:spPr>
        <p:txBody>
          <a:bodyPr wrap="square" rtlCol="0">
            <a:spAutoFit/>
          </a:bodyPr>
          <a:lstStyle/>
          <a:p>
            <a:r>
              <a:rPr lang="fr-FR" sz="2400" dirty="0"/>
              <a:t>Le prompt d'initialisation : donner à l'IA la vision globale</a:t>
            </a:r>
            <a:endParaRPr lang="en-US" sz="2400" dirty="0">
              <a:solidFill>
                <a:schemeClr val="tx2"/>
              </a:solidFill>
              <a:latin typeface="Figtree"/>
            </a:endParaRPr>
          </a:p>
        </p:txBody>
      </p:sp>
      <p:sp>
        <p:nvSpPr>
          <p:cNvPr id="52" name="Rectangle: Rounded Corners 14">
            <a:extLst>
              <a:ext uri="{FF2B5EF4-FFF2-40B4-BE49-F238E27FC236}">
                <a16:creationId xmlns:a16="http://schemas.microsoft.com/office/drawing/2014/main" id="{A134CA7C-D4A3-46FB-6DEB-A84CC031A323}"/>
              </a:ext>
            </a:extLst>
          </p:cNvPr>
          <p:cNvSpPr/>
          <p:nvPr/>
        </p:nvSpPr>
        <p:spPr>
          <a:xfrm>
            <a:off x="7288388" y="4469061"/>
            <a:ext cx="3848798" cy="1399304"/>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3" name="Groupe 52">
            <a:extLst>
              <a:ext uri="{FF2B5EF4-FFF2-40B4-BE49-F238E27FC236}">
                <a16:creationId xmlns:a16="http://schemas.microsoft.com/office/drawing/2014/main" id="{A23028F2-03B6-F07A-5138-17978A854E3B}"/>
              </a:ext>
            </a:extLst>
          </p:cNvPr>
          <p:cNvGrpSpPr/>
          <p:nvPr/>
        </p:nvGrpSpPr>
        <p:grpSpPr>
          <a:xfrm>
            <a:off x="6882671" y="4836020"/>
            <a:ext cx="349715" cy="349715"/>
            <a:chOff x="406195" y="3079285"/>
            <a:chExt cx="495856" cy="495856"/>
          </a:xfrm>
        </p:grpSpPr>
        <p:sp>
          <p:nvSpPr>
            <p:cNvPr id="54" name="Oval 15">
              <a:extLst>
                <a:ext uri="{FF2B5EF4-FFF2-40B4-BE49-F238E27FC236}">
                  <a16:creationId xmlns:a16="http://schemas.microsoft.com/office/drawing/2014/main" id="{5BF9A484-5064-483A-743E-F53209341BEF}"/>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5" name="Straight Arrow Connector 16">
              <a:extLst>
                <a:ext uri="{FF2B5EF4-FFF2-40B4-BE49-F238E27FC236}">
                  <a16:creationId xmlns:a16="http://schemas.microsoft.com/office/drawing/2014/main" id="{B3872A19-0F46-25D4-4423-D83C003AEEEC}"/>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32" name="TextBox 1">
            <a:extLst>
              <a:ext uri="{FF2B5EF4-FFF2-40B4-BE49-F238E27FC236}">
                <a16:creationId xmlns:a16="http://schemas.microsoft.com/office/drawing/2014/main" id="{D27095F1-C21B-8C26-3C15-EF18F0519042}"/>
              </a:ext>
            </a:extLst>
          </p:cNvPr>
          <p:cNvSpPr txBox="1"/>
          <p:nvPr/>
        </p:nvSpPr>
        <p:spPr>
          <a:xfrm>
            <a:off x="7364621" y="4565370"/>
            <a:ext cx="3619195" cy="1200329"/>
          </a:xfrm>
          <a:prstGeom prst="rect">
            <a:avLst/>
          </a:prstGeom>
          <a:noFill/>
        </p:spPr>
        <p:txBody>
          <a:bodyPr wrap="square" rtlCol="0">
            <a:spAutoFit/>
          </a:bodyPr>
          <a:lstStyle/>
          <a:p>
            <a:r>
              <a:rPr lang="fr-FR" sz="2400" dirty="0"/>
              <a:t>L'IA comme outil de relecture et de contrôle qualité</a:t>
            </a:r>
            <a:endParaRPr lang="en-US" sz="2400" dirty="0">
              <a:solidFill>
                <a:schemeClr val="tx2"/>
              </a:solidFill>
              <a:latin typeface="Space Grotesk Medium" pitchFamily="2" charset="0"/>
            </a:endParaRPr>
          </a:p>
        </p:txBody>
      </p:sp>
      <p:sp>
        <p:nvSpPr>
          <p:cNvPr id="56" name="Rectangle: Rounded Corners 14">
            <a:extLst>
              <a:ext uri="{FF2B5EF4-FFF2-40B4-BE49-F238E27FC236}">
                <a16:creationId xmlns:a16="http://schemas.microsoft.com/office/drawing/2014/main" id="{D1590DFF-40F1-7AAB-A353-12E9F9D02880}"/>
              </a:ext>
            </a:extLst>
          </p:cNvPr>
          <p:cNvSpPr/>
          <p:nvPr/>
        </p:nvSpPr>
        <p:spPr>
          <a:xfrm>
            <a:off x="1711863" y="4628683"/>
            <a:ext cx="2939146" cy="109495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7" name="Groupe 56">
            <a:extLst>
              <a:ext uri="{FF2B5EF4-FFF2-40B4-BE49-F238E27FC236}">
                <a16:creationId xmlns:a16="http://schemas.microsoft.com/office/drawing/2014/main" id="{A64B3133-1792-9DD0-303F-D0425D890433}"/>
              </a:ext>
            </a:extLst>
          </p:cNvPr>
          <p:cNvGrpSpPr/>
          <p:nvPr/>
        </p:nvGrpSpPr>
        <p:grpSpPr>
          <a:xfrm>
            <a:off x="1306146" y="4836020"/>
            <a:ext cx="349715" cy="349715"/>
            <a:chOff x="406195" y="3079285"/>
            <a:chExt cx="495856" cy="495856"/>
          </a:xfrm>
        </p:grpSpPr>
        <p:sp>
          <p:nvSpPr>
            <p:cNvPr id="58" name="Oval 15">
              <a:extLst>
                <a:ext uri="{FF2B5EF4-FFF2-40B4-BE49-F238E27FC236}">
                  <a16:creationId xmlns:a16="http://schemas.microsoft.com/office/drawing/2014/main" id="{22A6C172-2EDD-38D4-4B02-17C3B1E61A71}"/>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9" name="Straight Arrow Connector 16">
              <a:extLst>
                <a:ext uri="{FF2B5EF4-FFF2-40B4-BE49-F238E27FC236}">
                  <a16:creationId xmlns:a16="http://schemas.microsoft.com/office/drawing/2014/main" id="{38BCCA9A-1D38-086A-0E0E-D14B611ED4B1}"/>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21" name="TextBox 1">
            <a:extLst>
              <a:ext uri="{FF2B5EF4-FFF2-40B4-BE49-F238E27FC236}">
                <a16:creationId xmlns:a16="http://schemas.microsoft.com/office/drawing/2014/main" id="{5A22B67F-5EF5-221C-BA0A-87DE80ED7890}"/>
              </a:ext>
            </a:extLst>
          </p:cNvPr>
          <p:cNvSpPr txBox="1"/>
          <p:nvPr/>
        </p:nvSpPr>
        <p:spPr>
          <a:xfrm>
            <a:off x="1791203" y="4703604"/>
            <a:ext cx="2915808" cy="1019959"/>
          </a:xfrm>
          <a:prstGeom prst="rect">
            <a:avLst/>
          </a:prstGeom>
          <a:noFill/>
        </p:spPr>
        <p:txBody>
          <a:bodyPr wrap="square" rtlCol="0">
            <a:spAutoFit/>
          </a:bodyPr>
          <a:lstStyle/>
          <a:p>
            <a:pPr>
              <a:lnSpc>
                <a:spcPts val="2400"/>
              </a:lnSpc>
            </a:pPr>
            <a:r>
              <a:rPr lang="fr-FR" sz="2400" dirty="0"/>
              <a:t>Prompts section par section : les plus complexes en détail</a:t>
            </a:r>
            <a:endParaRPr lang="en-US" sz="2400" dirty="0">
              <a:solidFill>
                <a:schemeClr val="tx2"/>
              </a:solidFill>
              <a:latin typeface="Figtree"/>
            </a:endParaRPr>
          </a:p>
        </p:txBody>
      </p:sp>
      <p:sp>
        <p:nvSpPr>
          <p:cNvPr id="4" name="ZoneTexte 3">
            <a:extLst>
              <a:ext uri="{FF2B5EF4-FFF2-40B4-BE49-F238E27FC236}">
                <a16:creationId xmlns:a16="http://schemas.microsoft.com/office/drawing/2014/main" id="{740D3A3B-7646-FD8F-EE6B-808B9F987353}"/>
              </a:ext>
            </a:extLst>
          </p:cNvPr>
          <p:cNvSpPr txBox="1"/>
          <p:nvPr/>
        </p:nvSpPr>
        <p:spPr>
          <a:xfrm>
            <a:off x="4569725" y="6050561"/>
            <a:ext cx="3318024" cy="369332"/>
          </a:xfrm>
          <a:prstGeom prst="rect">
            <a:avLst/>
          </a:prstGeom>
          <a:noFill/>
        </p:spPr>
        <p:txBody>
          <a:bodyPr wrap="none" rtlCol="0">
            <a:spAutoFit/>
          </a:bodyPr>
          <a:lstStyle/>
          <a:p>
            <a:r>
              <a:rPr lang="fr-FR" b="1" dirty="0"/>
              <a:t>Bonus : bibliothèque de Prompts</a:t>
            </a:r>
          </a:p>
        </p:txBody>
      </p:sp>
    </p:spTree>
    <p:extLst>
      <p:ext uri="{BB962C8B-B14F-4D97-AF65-F5344CB8AC3E}">
        <p14:creationId xmlns:p14="http://schemas.microsoft.com/office/powerpoint/2010/main" val="33308617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B3BF2C-586E-8DEB-29CB-10A72FEEA6FB}"/>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33E19E3-0A41-4D02-5C6E-D1621E76D769}"/>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2290B0D8-9661-4159-EB42-B5661FEEB56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62F7DC-6ADC-3573-8B82-41AA6AA8DE5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64135EA9-AEE6-9123-40BB-1975E798FB90}"/>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A64A141-A2E1-57AA-6987-A6CAC28EA124}"/>
              </a:ext>
            </a:extLst>
          </p:cNvPr>
          <p:cNvSpPr txBox="1"/>
          <p:nvPr/>
        </p:nvSpPr>
        <p:spPr>
          <a:xfrm>
            <a:off x="3495795" y="302802"/>
            <a:ext cx="7641391" cy="1077218"/>
          </a:xfrm>
          <a:prstGeom prst="rect">
            <a:avLst/>
          </a:prstGeom>
          <a:noFill/>
        </p:spPr>
        <p:txBody>
          <a:bodyPr wrap="square" rtlCol="0">
            <a:spAutoFit/>
          </a:bodyPr>
          <a:lstStyle/>
          <a:p>
            <a:pPr algn="ctr"/>
            <a:r>
              <a:rPr lang="fr-FR" sz="4400" dirty="0">
                <a:solidFill>
                  <a:schemeClr val="tx2"/>
                </a:solidFill>
                <a:latin typeface="Space Grotesk Medium" pitchFamily="2" charset="0"/>
              </a:rPr>
              <a:t>L'architecture du rapport : </a:t>
            </a:r>
          </a:p>
          <a:p>
            <a:pPr algn="ctr"/>
            <a:r>
              <a:rPr lang="fr-FR" sz="2000" b="1" dirty="0">
                <a:solidFill>
                  <a:schemeClr val="tx2">
                    <a:alpha val="60000"/>
                  </a:schemeClr>
                </a:solidFill>
                <a:latin typeface="Figtree" pitchFamily="2" charset="0"/>
              </a:rPr>
              <a:t>ce que l'IA doit connaître avant de rédiger</a:t>
            </a:r>
          </a:p>
        </p:txBody>
      </p:sp>
      <p:sp>
        <p:nvSpPr>
          <p:cNvPr id="13" name="Freeform: Shape 3">
            <a:extLst>
              <a:ext uri="{FF2B5EF4-FFF2-40B4-BE49-F238E27FC236}">
                <a16:creationId xmlns:a16="http://schemas.microsoft.com/office/drawing/2014/main" id="{EB439140-4ACC-12CF-7A53-E1E8E4CCEC9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BB41E06E-C217-4BD6-F0A1-DACAC2B8D5D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grpSp>
        <p:nvGrpSpPr>
          <p:cNvPr id="34" name="Groupe 33">
            <a:extLst>
              <a:ext uri="{FF2B5EF4-FFF2-40B4-BE49-F238E27FC236}">
                <a16:creationId xmlns:a16="http://schemas.microsoft.com/office/drawing/2014/main" id="{3B37ECB0-35EA-FD32-A58D-0C84AF02CDA1}"/>
              </a:ext>
            </a:extLst>
          </p:cNvPr>
          <p:cNvGrpSpPr/>
          <p:nvPr/>
        </p:nvGrpSpPr>
        <p:grpSpPr>
          <a:xfrm>
            <a:off x="399526" y="2797991"/>
            <a:ext cx="11596857" cy="2979537"/>
            <a:chOff x="528810" y="1984551"/>
            <a:chExt cx="11596857" cy="2979537"/>
          </a:xfrm>
        </p:grpSpPr>
        <p:sp>
          <p:nvSpPr>
            <p:cNvPr id="9" name="ZoneTexte 8">
              <a:extLst>
                <a:ext uri="{FF2B5EF4-FFF2-40B4-BE49-F238E27FC236}">
                  <a16:creationId xmlns:a16="http://schemas.microsoft.com/office/drawing/2014/main" id="{377F44F8-0B0C-94D9-E6D2-43F7E6ECF753}"/>
                </a:ext>
              </a:extLst>
            </p:cNvPr>
            <p:cNvSpPr txBox="1"/>
            <p:nvPr/>
          </p:nvSpPr>
          <p:spPr>
            <a:xfrm>
              <a:off x="528810" y="1984551"/>
              <a:ext cx="352982" cy="492443"/>
            </a:xfrm>
            <a:prstGeom prst="rect">
              <a:avLst/>
            </a:prstGeom>
            <a:noFill/>
          </p:spPr>
          <p:txBody>
            <a:bodyPr wrap="none" rtlCol="0">
              <a:spAutoFit/>
            </a:bodyPr>
            <a:lstStyle/>
            <a:p>
              <a:r>
                <a:rPr lang="fr-FR" sz="2600" b="1" dirty="0">
                  <a:latin typeface="Figtree"/>
                </a:rPr>
                <a:t>1</a:t>
              </a:r>
            </a:p>
          </p:txBody>
        </p:sp>
        <p:sp>
          <p:nvSpPr>
            <p:cNvPr id="14" name="ZoneTexte 13">
              <a:extLst>
                <a:ext uri="{FF2B5EF4-FFF2-40B4-BE49-F238E27FC236}">
                  <a16:creationId xmlns:a16="http://schemas.microsoft.com/office/drawing/2014/main" id="{99FE700B-848A-BE16-59DD-D52A0B27478C}"/>
                </a:ext>
              </a:extLst>
            </p:cNvPr>
            <p:cNvSpPr txBox="1"/>
            <p:nvPr/>
          </p:nvSpPr>
          <p:spPr>
            <a:xfrm>
              <a:off x="1082282" y="1984551"/>
              <a:ext cx="4705332" cy="892552"/>
            </a:xfrm>
            <a:prstGeom prst="rect">
              <a:avLst/>
            </a:prstGeom>
            <a:noFill/>
          </p:spPr>
          <p:txBody>
            <a:bodyPr wrap="square" rtlCol="0">
              <a:spAutoFit/>
            </a:bodyPr>
            <a:lstStyle/>
            <a:p>
              <a:r>
                <a:rPr lang="fr-FR" sz="2000" b="1" u="sng" dirty="0">
                  <a:latin typeface="Figtree"/>
                </a:rPr>
                <a:t>Cadre et objet de la Mission</a:t>
              </a:r>
            </a:p>
            <a:p>
              <a:r>
                <a:rPr lang="fr-FR" sz="1600" dirty="0">
                  <a:latin typeface="Figtree"/>
                </a:rPr>
                <a:t>Mandant, objet, date de valeur, pièces, visite – sans ordonnance</a:t>
              </a:r>
            </a:p>
          </p:txBody>
        </p:sp>
        <p:sp>
          <p:nvSpPr>
            <p:cNvPr id="16" name="ZoneTexte 15">
              <a:extLst>
                <a:ext uri="{FF2B5EF4-FFF2-40B4-BE49-F238E27FC236}">
                  <a16:creationId xmlns:a16="http://schemas.microsoft.com/office/drawing/2014/main" id="{EE94F94C-362C-97C2-E71B-C5E8EF237F37}"/>
                </a:ext>
              </a:extLst>
            </p:cNvPr>
            <p:cNvSpPr txBox="1"/>
            <p:nvPr/>
          </p:nvSpPr>
          <p:spPr>
            <a:xfrm>
              <a:off x="528810" y="2694556"/>
              <a:ext cx="352982" cy="492443"/>
            </a:xfrm>
            <a:prstGeom prst="rect">
              <a:avLst/>
            </a:prstGeom>
            <a:noFill/>
          </p:spPr>
          <p:txBody>
            <a:bodyPr wrap="none" rtlCol="0">
              <a:spAutoFit/>
            </a:bodyPr>
            <a:lstStyle/>
            <a:p>
              <a:r>
                <a:rPr lang="fr-FR" sz="2600" b="1" dirty="0">
                  <a:latin typeface="Figtree"/>
                </a:rPr>
                <a:t>2</a:t>
              </a:r>
            </a:p>
          </p:txBody>
        </p:sp>
        <p:sp>
          <p:nvSpPr>
            <p:cNvPr id="18" name="ZoneTexte 17">
              <a:extLst>
                <a:ext uri="{FF2B5EF4-FFF2-40B4-BE49-F238E27FC236}">
                  <a16:creationId xmlns:a16="http://schemas.microsoft.com/office/drawing/2014/main" id="{70B57D61-2329-26B2-6C65-82967E2DF45F}"/>
                </a:ext>
              </a:extLst>
            </p:cNvPr>
            <p:cNvSpPr txBox="1"/>
            <p:nvPr/>
          </p:nvSpPr>
          <p:spPr>
            <a:xfrm>
              <a:off x="1082281" y="2694556"/>
              <a:ext cx="4705333" cy="646331"/>
            </a:xfrm>
            <a:prstGeom prst="rect">
              <a:avLst/>
            </a:prstGeom>
            <a:noFill/>
          </p:spPr>
          <p:txBody>
            <a:bodyPr wrap="square" rtlCol="0">
              <a:spAutoFit/>
            </a:bodyPr>
            <a:lstStyle/>
            <a:p>
              <a:r>
                <a:rPr lang="fr-FR" sz="2000" b="1" u="sng" dirty="0">
                  <a:latin typeface="Figtree"/>
                </a:rPr>
                <a:t>Situation géographique et environnement</a:t>
              </a:r>
            </a:p>
            <a:p>
              <a:r>
                <a:rPr lang="fr-FR" sz="1600" dirty="0">
                  <a:latin typeface="Figtree"/>
                </a:rPr>
                <a:t>Quartier, accessibilité, environnement immédiat</a:t>
              </a:r>
            </a:p>
          </p:txBody>
        </p:sp>
        <p:sp>
          <p:nvSpPr>
            <p:cNvPr id="20" name="ZoneTexte 19">
              <a:extLst>
                <a:ext uri="{FF2B5EF4-FFF2-40B4-BE49-F238E27FC236}">
                  <a16:creationId xmlns:a16="http://schemas.microsoft.com/office/drawing/2014/main" id="{E681926B-1768-D455-B3FE-C297A8FF1BFE}"/>
                </a:ext>
              </a:extLst>
            </p:cNvPr>
            <p:cNvSpPr txBox="1"/>
            <p:nvPr/>
          </p:nvSpPr>
          <p:spPr>
            <a:xfrm>
              <a:off x="528810" y="3372288"/>
              <a:ext cx="352982" cy="492443"/>
            </a:xfrm>
            <a:prstGeom prst="rect">
              <a:avLst/>
            </a:prstGeom>
            <a:noFill/>
          </p:spPr>
          <p:txBody>
            <a:bodyPr wrap="none" rtlCol="0">
              <a:spAutoFit/>
            </a:bodyPr>
            <a:lstStyle/>
            <a:p>
              <a:r>
                <a:rPr lang="fr-FR" sz="2600" b="1" dirty="0">
                  <a:latin typeface="Figtree"/>
                </a:rPr>
                <a:t>3</a:t>
              </a:r>
            </a:p>
          </p:txBody>
        </p:sp>
        <p:sp>
          <p:nvSpPr>
            <p:cNvPr id="22" name="ZoneTexte 21">
              <a:extLst>
                <a:ext uri="{FF2B5EF4-FFF2-40B4-BE49-F238E27FC236}">
                  <a16:creationId xmlns:a16="http://schemas.microsoft.com/office/drawing/2014/main" id="{3D1B4DCE-712C-0CF6-1B0F-D22384893824}"/>
                </a:ext>
              </a:extLst>
            </p:cNvPr>
            <p:cNvSpPr txBox="1"/>
            <p:nvPr/>
          </p:nvSpPr>
          <p:spPr>
            <a:xfrm>
              <a:off x="1082281" y="3372288"/>
              <a:ext cx="4705333" cy="646331"/>
            </a:xfrm>
            <a:prstGeom prst="rect">
              <a:avLst/>
            </a:prstGeom>
            <a:noFill/>
          </p:spPr>
          <p:txBody>
            <a:bodyPr wrap="square" rtlCol="0">
              <a:spAutoFit/>
            </a:bodyPr>
            <a:lstStyle/>
            <a:p>
              <a:r>
                <a:rPr lang="fr-FR" sz="2000" b="1" u="sng" dirty="0">
                  <a:latin typeface="Figtree"/>
                </a:rPr>
                <a:t>Situation juridique et urbanistique</a:t>
              </a:r>
            </a:p>
            <a:p>
              <a:r>
                <a:rPr lang="fr-FR" sz="1600" dirty="0">
                  <a:latin typeface="Figtree"/>
                </a:rPr>
                <a:t>Titre de propriété, PLU, copropriété, diagnostics</a:t>
              </a:r>
            </a:p>
          </p:txBody>
        </p:sp>
        <p:sp>
          <p:nvSpPr>
            <p:cNvPr id="23" name="ZoneTexte 22">
              <a:extLst>
                <a:ext uri="{FF2B5EF4-FFF2-40B4-BE49-F238E27FC236}">
                  <a16:creationId xmlns:a16="http://schemas.microsoft.com/office/drawing/2014/main" id="{1F2BC87A-8D3D-3786-65C3-BDD9383645DF}"/>
                </a:ext>
              </a:extLst>
            </p:cNvPr>
            <p:cNvSpPr txBox="1"/>
            <p:nvPr/>
          </p:nvSpPr>
          <p:spPr>
            <a:xfrm>
              <a:off x="528810" y="4071536"/>
              <a:ext cx="352982" cy="492443"/>
            </a:xfrm>
            <a:prstGeom prst="rect">
              <a:avLst/>
            </a:prstGeom>
            <a:noFill/>
          </p:spPr>
          <p:txBody>
            <a:bodyPr wrap="none" rtlCol="0">
              <a:spAutoFit/>
            </a:bodyPr>
            <a:lstStyle/>
            <a:p>
              <a:r>
                <a:rPr lang="fr-FR" sz="2600" b="1" dirty="0">
                  <a:latin typeface="Figtree"/>
                </a:rPr>
                <a:t>4</a:t>
              </a:r>
            </a:p>
          </p:txBody>
        </p:sp>
        <p:sp>
          <p:nvSpPr>
            <p:cNvPr id="24" name="ZoneTexte 23">
              <a:extLst>
                <a:ext uri="{FF2B5EF4-FFF2-40B4-BE49-F238E27FC236}">
                  <a16:creationId xmlns:a16="http://schemas.microsoft.com/office/drawing/2014/main" id="{57105C2A-FE7E-30B8-001A-8AC52E3C2355}"/>
                </a:ext>
              </a:extLst>
            </p:cNvPr>
            <p:cNvSpPr txBox="1"/>
            <p:nvPr/>
          </p:nvSpPr>
          <p:spPr>
            <a:xfrm>
              <a:off x="1082281" y="4071536"/>
              <a:ext cx="4812910" cy="646331"/>
            </a:xfrm>
            <a:prstGeom prst="rect">
              <a:avLst/>
            </a:prstGeom>
            <a:noFill/>
          </p:spPr>
          <p:txBody>
            <a:bodyPr wrap="square" rtlCol="0">
              <a:spAutoFit/>
            </a:bodyPr>
            <a:lstStyle/>
            <a:p>
              <a:r>
                <a:rPr lang="fr-FR" sz="2000" b="1" u="sng" dirty="0">
                  <a:latin typeface="Figtree"/>
                </a:rPr>
                <a:t>Description physique du bien</a:t>
              </a:r>
            </a:p>
            <a:p>
              <a:r>
                <a:rPr lang="fr-FR" sz="1600" dirty="0">
                  <a:latin typeface="Figtree"/>
                </a:rPr>
                <a:t>Surface, distribution, état général, éléments techniques</a:t>
              </a:r>
            </a:p>
          </p:txBody>
        </p:sp>
        <p:sp>
          <p:nvSpPr>
            <p:cNvPr id="25" name="ZoneTexte 24">
              <a:extLst>
                <a:ext uri="{FF2B5EF4-FFF2-40B4-BE49-F238E27FC236}">
                  <a16:creationId xmlns:a16="http://schemas.microsoft.com/office/drawing/2014/main" id="{0606E9B3-8D7F-6CBF-0F3E-941F07C6D06D}"/>
                </a:ext>
              </a:extLst>
            </p:cNvPr>
            <p:cNvSpPr txBox="1"/>
            <p:nvPr/>
          </p:nvSpPr>
          <p:spPr>
            <a:xfrm>
              <a:off x="6455884" y="1984551"/>
              <a:ext cx="352982" cy="492443"/>
            </a:xfrm>
            <a:prstGeom prst="rect">
              <a:avLst/>
            </a:prstGeom>
            <a:noFill/>
          </p:spPr>
          <p:txBody>
            <a:bodyPr wrap="none" rtlCol="0">
              <a:spAutoFit/>
            </a:bodyPr>
            <a:lstStyle/>
            <a:p>
              <a:r>
                <a:rPr lang="fr-FR" sz="2600" b="1" dirty="0">
                  <a:latin typeface="Figtree"/>
                </a:rPr>
                <a:t>5</a:t>
              </a:r>
            </a:p>
          </p:txBody>
        </p:sp>
        <p:sp>
          <p:nvSpPr>
            <p:cNvPr id="26" name="ZoneTexte 25">
              <a:extLst>
                <a:ext uri="{FF2B5EF4-FFF2-40B4-BE49-F238E27FC236}">
                  <a16:creationId xmlns:a16="http://schemas.microsoft.com/office/drawing/2014/main" id="{94071776-2DF4-6EA0-B10A-91B99BF3CCBC}"/>
                </a:ext>
              </a:extLst>
            </p:cNvPr>
            <p:cNvSpPr txBox="1"/>
            <p:nvPr/>
          </p:nvSpPr>
          <p:spPr>
            <a:xfrm>
              <a:off x="7009356" y="1984551"/>
              <a:ext cx="4137173" cy="646331"/>
            </a:xfrm>
            <a:prstGeom prst="rect">
              <a:avLst/>
            </a:prstGeom>
            <a:noFill/>
          </p:spPr>
          <p:txBody>
            <a:bodyPr wrap="square" rtlCol="0">
              <a:spAutoFit/>
            </a:bodyPr>
            <a:lstStyle/>
            <a:p>
              <a:r>
                <a:rPr lang="fr-FR" sz="2000" b="1" u="sng" dirty="0">
                  <a:latin typeface="Figtree"/>
                </a:rPr>
                <a:t>Etat du bien – désordres et travaux</a:t>
              </a:r>
            </a:p>
            <a:p>
              <a:r>
                <a:rPr lang="fr-FR" sz="1600" dirty="0">
                  <a:latin typeface="Figtree"/>
                </a:rPr>
                <a:t>Pathologies, vétusté, chiffrage estimatif</a:t>
              </a:r>
            </a:p>
          </p:txBody>
        </p:sp>
        <p:sp>
          <p:nvSpPr>
            <p:cNvPr id="27" name="ZoneTexte 26">
              <a:extLst>
                <a:ext uri="{FF2B5EF4-FFF2-40B4-BE49-F238E27FC236}">
                  <a16:creationId xmlns:a16="http://schemas.microsoft.com/office/drawing/2014/main" id="{FE7C9624-2066-A381-5755-4FB2192F97E1}"/>
                </a:ext>
              </a:extLst>
            </p:cNvPr>
            <p:cNvSpPr txBox="1"/>
            <p:nvPr/>
          </p:nvSpPr>
          <p:spPr>
            <a:xfrm>
              <a:off x="6455884" y="2694556"/>
              <a:ext cx="352982" cy="492443"/>
            </a:xfrm>
            <a:prstGeom prst="rect">
              <a:avLst/>
            </a:prstGeom>
            <a:noFill/>
          </p:spPr>
          <p:txBody>
            <a:bodyPr wrap="none" rtlCol="0">
              <a:spAutoFit/>
            </a:bodyPr>
            <a:lstStyle/>
            <a:p>
              <a:r>
                <a:rPr lang="fr-FR" sz="2600" b="1" dirty="0">
                  <a:latin typeface="Figtree"/>
                </a:rPr>
                <a:t>6</a:t>
              </a:r>
            </a:p>
          </p:txBody>
        </p:sp>
        <p:sp>
          <p:nvSpPr>
            <p:cNvPr id="28" name="ZoneTexte 27">
              <a:extLst>
                <a:ext uri="{FF2B5EF4-FFF2-40B4-BE49-F238E27FC236}">
                  <a16:creationId xmlns:a16="http://schemas.microsoft.com/office/drawing/2014/main" id="{5A4AFC1B-B892-DA0D-EFB7-E867EDB5950A}"/>
                </a:ext>
              </a:extLst>
            </p:cNvPr>
            <p:cNvSpPr txBox="1"/>
            <p:nvPr/>
          </p:nvSpPr>
          <p:spPr>
            <a:xfrm>
              <a:off x="7009355" y="2694556"/>
              <a:ext cx="4705333" cy="646331"/>
            </a:xfrm>
            <a:prstGeom prst="rect">
              <a:avLst/>
            </a:prstGeom>
            <a:noFill/>
          </p:spPr>
          <p:txBody>
            <a:bodyPr wrap="square" rtlCol="0">
              <a:spAutoFit/>
            </a:bodyPr>
            <a:lstStyle/>
            <a:p>
              <a:r>
                <a:rPr lang="fr-FR" sz="2000" b="1" u="sng" dirty="0">
                  <a:latin typeface="Figtree"/>
                </a:rPr>
                <a:t>Analyse de marché et comparables</a:t>
              </a:r>
            </a:p>
            <a:p>
              <a:r>
                <a:rPr lang="fr-FR" sz="1600" dirty="0">
                  <a:latin typeface="Figtree"/>
                </a:rPr>
                <a:t>DVF, tendances fourchettes observées</a:t>
              </a:r>
            </a:p>
          </p:txBody>
        </p:sp>
        <p:sp>
          <p:nvSpPr>
            <p:cNvPr id="29" name="ZoneTexte 28">
              <a:extLst>
                <a:ext uri="{FF2B5EF4-FFF2-40B4-BE49-F238E27FC236}">
                  <a16:creationId xmlns:a16="http://schemas.microsoft.com/office/drawing/2014/main" id="{D1B119D4-77CE-6F53-6DD4-E151B1814FC3}"/>
                </a:ext>
              </a:extLst>
            </p:cNvPr>
            <p:cNvSpPr txBox="1"/>
            <p:nvPr/>
          </p:nvSpPr>
          <p:spPr>
            <a:xfrm>
              <a:off x="6455884" y="3372288"/>
              <a:ext cx="352982" cy="492443"/>
            </a:xfrm>
            <a:prstGeom prst="rect">
              <a:avLst/>
            </a:prstGeom>
            <a:noFill/>
          </p:spPr>
          <p:txBody>
            <a:bodyPr wrap="none" rtlCol="0">
              <a:spAutoFit/>
            </a:bodyPr>
            <a:lstStyle/>
            <a:p>
              <a:r>
                <a:rPr lang="fr-FR" sz="2600" b="1" dirty="0">
                  <a:latin typeface="Figtree"/>
                </a:rPr>
                <a:t>7</a:t>
              </a:r>
            </a:p>
          </p:txBody>
        </p:sp>
        <p:sp>
          <p:nvSpPr>
            <p:cNvPr id="30" name="ZoneTexte 29">
              <a:extLst>
                <a:ext uri="{FF2B5EF4-FFF2-40B4-BE49-F238E27FC236}">
                  <a16:creationId xmlns:a16="http://schemas.microsoft.com/office/drawing/2014/main" id="{013168BC-E7A9-1859-E9E7-E72BA71F3327}"/>
                </a:ext>
              </a:extLst>
            </p:cNvPr>
            <p:cNvSpPr txBox="1"/>
            <p:nvPr/>
          </p:nvSpPr>
          <p:spPr>
            <a:xfrm>
              <a:off x="7009355" y="3372288"/>
              <a:ext cx="5116312" cy="646331"/>
            </a:xfrm>
            <a:prstGeom prst="rect">
              <a:avLst/>
            </a:prstGeom>
            <a:noFill/>
          </p:spPr>
          <p:txBody>
            <a:bodyPr wrap="square" rtlCol="0">
              <a:spAutoFit/>
            </a:bodyPr>
            <a:lstStyle/>
            <a:p>
              <a:r>
                <a:rPr lang="fr-FR" sz="2000" b="1" u="sng" dirty="0">
                  <a:latin typeface="Figtree"/>
                </a:rPr>
                <a:t>Méthodes et valorisation</a:t>
              </a:r>
            </a:p>
            <a:p>
              <a:r>
                <a:rPr lang="fr-FR" sz="1600" dirty="0">
                  <a:latin typeface="Figtree"/>
                </a:rPr>
                <a:t>Comparaison directe, </a:t>
              </a:r>
              <a:r>
                <a:rPr lang="fr-FR" sz="1600" dirty="0">
                  <a:solidFill>
                    <a:srgbClr val="FF0000"/>
                  </a:solidFill>
                  <a:latin typeface="Figtree"/>
                </a:rPr>
                <a:t>sans formalisme judiciaire</a:t>
              </a:r>
            </a:p>
          </p:txBody>
        </p:sp>
        <p:sp>
          <p:nvSpPr>
            <p:cNvPr id="31" name="ZoneTexte 30">
              <a:extLst>
                <a:ext uri="{FF2B5EF4-FFF2-40B4-BE49-F238E27FC236}">
                  <a16:creationId xmlns:a16="http://schemas.microsoft.com/office/drawing/2014/main" id="{8A6C7C56-9B4F-328F-4643-B74B9AB5F25D}"/>
                </a:ext>
              </a:extLst>
            </p:cNvPr>
            <p:cNvSpPr txBox="1"/>
            <p:nvPr/>
          </p:nvSpPr>
          <p:spPr>
            <a:xfrm>
              <a:off x="6455884" y="4071536"/>
              <a:ext cx="352982" cy="492443"/>
            </a:xfrm>
            <a:prstGeom prst="rect">
              <a:avLst/>
            </a:prstGeom>
            <a:noFill/>
          </p:spPr>
          <p:txBody>
            <a:bodyPr wrap="none" rtlCol="0">
              <a:spAutoFit/>
            </a:bodyPr>
            <a:lstStyle/>
            <a:p>
              <a:r>
                <a:rPr lang="fr-FR" sz="2600" b="1" dirty="0">
                  <a:latin typeface="Figtree"/>
                </a:rPr>
                <a:t>8</a:t>
              </a:r>
            </a:p>
          </p:txBody>
        </p:sp>
        <p:sp>
          <p:nvSpPr>
            <p:cNvPr id="33" name="ZoneTexte 32">
              <a:extLst>
                <a:ext uri="{FF2B5EF4-FFF2-40B4-BE49-F238E27FC236}">
                  <a16:creationId xmlns:a16="http://schemas.microsoft.com/office/drawing/2014/main" id="{3A19D3B2-943E-8B32-0638-B05E21733304}"/>
                </a:ext>
              </a:extLst>
            </p:cNvPr>
            <p:cNvSpPr txBox="1"/>
            <p:nvPr/>
          </p:nvSpPr>
          <p:spPr>
            <a:xfrm>
              <a:off x="7009355" y="4071536"/>
              <a:ext cx="4812910" cy="892552"/>
            </a:xfrm>
            <a:prstGeom prst="rect">
              <a:avLst/>
            </a:prstGeom>
            <a:noFill/>
          </p:spPr>
          <p:txBody>
            <a:bodyPr wrap="square" rtlCol="0">
              <a:spAutoFit/>
            </a:bodyPr>
            <a:lstStyle/>
            <a:p>
              <a:r>
                <a:rPr lang="fr-FR" sz="2000" b="1" u="sng" dirty="0">
                  <a:latin typeface="Figtree"/>
                </a:rPr>
                <a:t>Conclusion – valeur vénale</a:t>
              </a:r>
            </a:p>
            <a:p>
              <a:r>
                <a:rPr lang="fr-FR" sz="1600" dirty="0">
                  <a:latin typeface="Figtree"/>
                </a:rPr>
                <a:t>Valeur retenue, dates, réserves – </a:t>
              </a:r>
              <a:r>
                <a:rPr lang="fr-FR" sz="1600" dirty="0">
                  <a:solidFill>
                    <a:srgbClr val="FF0000"/>
                  </a:solidFill>
                  <a:latin typeface="Figtree"/>
                </a:rPr>
                <a:t>sans formalisme judiciaire</a:t>
              </a:r>
            </a:p>
          </p:txBody>
        </p:sp>
      </p:grpSp>
      <p:sp>
        <p:nvSpPr>
          <p:cNvPr id="35" name="ZoneTexte 34">
            <a:extLst>
              <a:ext uri="{FF2B5EF4-FFF2-40B4-BE49-F238E27FC236}">
                <a16:creationId xmlns:a16="http://schemas.microsoft.com/office/drawing/2014/main" id="{B9476EF7-3FEC-0193-D457-35AA9A537933}"/>
              </a:ext>
            </a:extLst>
          </p:cNvPr>
          <p:cNvSpPr txBox="1"/>
          <p:nvPr/>
        </p:nvSpPr>
        <p:spPr>
          <a:xfrm>
            <a:off x="399526" y="1884795"/>
            <a:ext cx="11237500" cy="523220"/>
          </a:xfrm>
          <a:prstGeom prst="rect">
            <a:avLst/>
          </a:prstGeom>
          <a:noFill/>
        </p:spPr>
        <p:txBody>
          <a:bodyPr wrap="none" rtlCol="0">
            <a:spAutoFit/>
          </a:bodyPr>
          <a:lstStyle/>
          <a:p>
            <a:r>
              <a:rPr lang="fr-FR" sz="2800" dirty="0">
                <a:latin typeface="Figtree"/>
              </a:rPr>
              <a:t>Voici la structure-type du rapport </a:t>
            </a:r>
            <a:r>
              <a:rPr lang="fr-FR" sz="2800" b="1" dirty="0">
                <a:solidFill>
                  <a:srgbClr val="00B050"/>
                </a:solidFill>
                <a:latin typeface="Figtree"/>
              </a:rPr>
              <a:t>d'expertise amiable </a:t>
            </a:r>
            <a:r>
              <a:rPr lang="fr-FR" sz="2800" dirty="0">
                <a:latin typeface="Figtree"/>
              </a:rPr>
              <a:t>: 8 parties distinctes</a:t>
            </a:r>
          </a:p>
        </p:txBody>
      </p:sp>
      <p:sp>
        <p:nvSpPr>
          <p:cNvPr id="36" name="ZoneTexte 35">
            <a:extLst>
              <a:ext uri="{FF2B5EF4-FFF2-40B4-BE49-F238E27FC236}">
                <a16:creationId xmlns:a16="http://schemas.microsoft.com/office/drawing/2014/main" id="{DD73BB81-8B38-30F5-A63D-B1330828A45E}"/>
              </a:ext>
            </a:extLst>
          </p:cNvPr>
          <p:cNvSpPr txBox="1"/>
          <p:nvPr/>
        </p:nvSpPr>
        <p:spPr>
          <a:xfrm>
            <a:off x="-4843" y="2612702"/>
            <a:ext cx="957313" cy="369332"/>
          </a:xfrm>
          <a:prstGeom prst="rect">
            <a:avLst/>
          </a:prstGeom>
          <a:noFill/>
        </p:spPr>
        <p:txBody>
          <a:bodyPr wrap="none" rtlCol="0">
            <a:spAutoFit/>
          </a:bodyPr>
          <a:lstStyle/>
          <a:p>
            <a:r>
              <a:rPr lang="fr-FR" b="1" dirty="0">
                <a:solidFill>
                  <a:srgbClr val="00B050"/>
                </a:solidFill>
                <a:latin typeface="Figtree"/>
              </a:rPr>
              <a:t>IA : 75%</a:t>
            </a:r>
          </a:p>
        </p:txBody>
      </p:sp>
      <p:sp>
        <p:nvSpPr>
          <p:cNvPr id="38" name="ZoneTexte 37">
            <a:extLst>
              <a:ext uri="{FF2B5EF4-FFF2-40B4-BE49-F238E27FC236}">
                <a16:creationId xmlns:a16="http://schemas.microsoft.com/office/drawing/2014/main" id="{4B41CA12-4FAA-FA31-76C4-57EE5BB0D267}"/>
              </a:ext>
            </a:extLst>
          </p:cNvPr>
          <p:cNvSpPr txBox="1"/>
          <p:nvPr/>
        </p:nvSpPr>
        <p:spPr>
          <a:xfrm>
            <a:off x="-4843" y="3301759"/>
            <a:ext cx="957313" cy="369332"/>
          </a:xfrm>
          <a:prstGeom prst="rect">
            <a:avLst/>
          </a:prstGeom>
          <a:noFill/>
        </p:spPr>
        <p:txBody>
          <a:bodyPr wrap="none" rtlCol="0">
            <a:spAutoFit/>
          </a:bodyPr>
          <a:lstStyle/>
          <a:p>
            <a:r>
              <a:rPr lang="fr-FR" b="1" dirty="0">
                <a:solidFill>
                  <a:srgbClr val="00B050"/>
                </a:solidFill>
                <a:latin typeface="Figtree"/>
              </a:rPr>
              <a:t>IA : 85%</a:t>
            </a:r>
          </a:p>
        </p:txBody>
      </p:sp>
      <p:sp>
        <p:nvSpPr>
          <p:cNvPr id="41" name="ZoneTexte 40">
            <a:extLst>
              <a:ext uri="{FF2B5EF4-FFF2-40B4-BE49-F238E27FC236}">
                <a16:creationId xmlns:a16="http://schemas.microsoft.com/office/drawing/2014/main" id="{6895BE48-397D-8867-39ED-93271F10F8B7}"/>
              </a:ext>
            </a:extLst>
          </p:cNvPr>
          <p:cNvSpPr txBox="1"/>
          <p:nvPr/>
        </p:nvSpPr>
        <p:spPr>
          <a:xfrm>
            <a:off x="-4843" y="4022010"/>
            <a:ext cx="957313" cy="369332"/>
          </a:xfrm>
          <a:prstGeom prst="rect">
            <a:avLst/>
          </a:prstGeom>
          <a:noFill/>
        </p:spPr>
        <p:txBody>
          <a:bodyPr wrap="none" rtlCol="0">
            <a:spAutoFit/>
          </a:bodyPr>
          <a:lstStyle/>
          <a:p>
            <a:r>
              <a:rPr lang="fr-FR" b="1" dirty="0">
                <a:solidFill>
                  <a:schemeClr val="accent1">
                    <a:lumMod val="75000"/>
                  </a:schemeClr>
                </a:solidFill>
                <a:latin typeface="Figtree"/>
              </a:rPr>
              <a:t>IA : 60%</a:t>
            </a:r>
          </a:p>
        </p:txBody>
      </p:sp>
      <p:sp>
        <p:nvSpPr>
          <p:cNvPr id="42" name="ZoneTexte 41">
            <a:extLst>
              <a:ext uri="{FF2B5EF4-FFF2-40B4-BE49-F238E27FC236}">
                <a16:creationId xmlns:a16="http://schemas.microsoft.com/office/drawing/2014/main" id="{FBA31664-AB4C-FC69-7C58-CF243E5485B2}"/>
              </a:ext>
            </a:extLst>
          </p:cNvPr>
          <p:cNvSpPr txBox="1"/>
          <p:nvPr/>
        </p:nvSpPr>
        <p:spPr>
          <a:xfrm>
            <a:off x="-4843" y="4646465"/>
            <a:ext cx="957313" cy="369332"/>
          </a:xfrm>
          <a:prstGeom prst="rect">
            <a:avLst/>
          </a:prstGeom>
          <a:noFill/>
        </p:spPr>
        <p:txBody>
          <a:bodyPr wrap="none" rtlCol="0">
            <a:spAutoFit/>
          </a:bodyPr>
          <a:lstStyle/>
          <a:p>
            <a:r>
              <a:rPr lang="fr-FR" b="1" dirty="0">
                <a:solidFill>
                  <a:srgbClr val="00B050"/>
                </a:solidFill>
                <a:latin typeface="Figtree"/>
              </a:rPr>
              <a:t>IA : 90%</a:t>
            </a:r>
          </a:p>
        </p:txBody>
      </p:sp>
      <p:sp>
        <p:nvSpPr>
          <p:cNvPr id="43" name="ZoneTexte 42">
            <a:extLst>
              <a:ext uri="{FF2B5EF4-FFF2-40B4-BE49-F238E27FC236}">
                <a16:creationId xmlns:a16="http://schemas.microsoft.com/office/drawing/2014/main" id="{61ECE499-E567-1B68-D367-C0202D987360}"/>
              </a:ext>
            </a:extLst>
          </p:cNvPr>
          <p:cNvSpPr txBox="1"/>
          <p:nvPr/>
        </p:nvSpPr>
        <p:spPr>
          <a:xfrm>
            <a:off x="5868832" y="2612702"/>
            <a:ext cx="957313" cy="369332"/>
          </a:xfrm>
          <a:prstGeom prst="rect">
            <a:avLst/>
          </a:prstGeom>
          <a:noFill/>
        </p:spPr>
        <p:txBody>
          <a:bodyPr wrap="none" rtlCol="0">
            <a:spAutoFit/>
          </a:bodyPr>
          <a:lstStyle/>
          <a:p>
            <a:r>
              <a:rPr lang="fr-FR" b="1" dirty="0">
                <a:solidFill>
                  <a:schemeClr val="accent1">
                    <a:lumMod val="75000"/>
                  </a:schemeClr>
                </a:solidFill>
                <a:latin typeface="Figtree"/>
              </a:rPr>
              <a:t>IA : 50%</a:t>
            </a:r>
          </a:p>
        </p:txBody>
      </p:sp>
      <p:sp>
        <p:nvSpPr>
          <p:cNvPr id="46" name="ZoneTexte 45">
            <a:extLst>
              <a:ext uri="{FF2B5EF4-FFF2-40B4-BE49-F238E27FC236}">
                <a16:creationId xmlns:a16="http://schemas.microsoft.com/office/drawing/2014/main" id="{69916611-DEFF-DB55-C553-A86A7C6FDFB1}"/>
              </a:ext>
            </a:extLst>
          </p:cNvPr>
          <p:cNvSpPr txBox="1"/>
          <p:nvPr/>
        </p:nvSpPr>
        <p:spPr>
          <a:xfrm>
            <a:off x="5868832" y="3301759"/>
            <a:ext cx="957313" cy="369332"/>
          </a:xfrm>
          <a:prstGeom prst="rect">
            <a:avLst/>
          </a:prstGeom>
          <a:noFill/>
        </p:spPr>
        <p:txBody>
          <a:bodyPr wrap="none" rtlCol="0">
            <a:spAutoFit/>
          </a:bodyPr>
          <a:lstStyle/>
          <a:p>
            <a:r>
              <a:rPr lang="fr-FR" b="1" dirty="0">
                <a:solidFill>
                  <a:srgbClr val="00B050"/>
                </a:solidFill>
                <a:latin typeface="Figtree"/>
              </a:rPr>
              <a:t>IA : 80%</a:t>
            </a:r>
          </a:p>
        </p:txBody>
      </p:sp>
      <p:sp>
        <p:nvSpPr>
          <p:cNvPr id="60" name="ZoneTexte 59">
            <a:extLst>
              <a:ext uri="{FF2B5EF4-FFF2-40B4-BE49-F238E27FC236}">
                <a16:creationId xmlns:a16="http://schemas.microsoft.com/office/drawing/2014/main" id="{D18500DF-BB85-91C4-B48E-4A113C11B5BD}"/>
              </a:ext>
            </a:extLst>
          </p:cNvPr>
          <p:cNvSpPr txBox="1"/>
          <p:nvPr/>
        </p:nvSpPr>
        <p:spPr>
          <a:xfrm>
            <a:off x="5868832" y="4022010"/>
            <a:ext cx="957313" cy="369332"/>
          </a:xfrm>
          <a:prstGeom prst="rect">
            <a:avLst/>
          </a:prstGeom>
          <a:noFill/>
        </p:spPr>
        <p:txBody>
          <a:bodyPr wrap="none" rtlCol="0">
            <a:spAutoFit/>
          </a:bodyPr>
          <a:lstStyle/>
          <a:p>
            <a:r>
              <a:rPr lang="fr-FR" b="1" dirty="0">
                <a:solidFill>
                  <a:schemeClr val="accent1">
                    <a:lumMod val="75000"/>
                  </a:schemeClr>
                </a:solidFill>
                <a:latin typeface="Figtree"/>
              </a:rPr>
              <a:t>IA : 65%</a:t>
            </a:r>
          </a:p>
        </p:txBody>
      </p:sp>
      <p:sp>
        <p:nvSpPr>
          <p:cNvPr id="61" name="ZoneTexte 60">
            <a:extLst>
              <a:ext uri="{FF2B5EF4-FFF2-40B4-BE49-F238E27FC236}">
                <a16:creationId xmlns:a16="http://schemas.microsoft.com/office/drawing/2014/main" id="{661D7C4A-A75A-01DE-AE34-2DB3A472DCE0}"/>
              </a:ext>
            </a:extLst>
          </p:cNvPr>
          <p:cNvSpPr txBox="1"/>
          <p:nvPr/>
        </p:nvSpPr>
        <p:spPr>
          <a:xfrm>
            <a:off x="5868832" y="4646465"/>
            <a:ext cx="957313" cy="369332"/>
          </a:xfrm>
          <a:prstGeom prst="rect">
            <a:avLst/>
          </a:prstGeom>
          <a:noFill/>
        </p:spPr>
        <p:txBody>
          <a:bodyPr wrap="none" rtlCol="0">
            <a:spAutoFit/>
          </a:bodyPr>
          <a:lstStyle/>
          <a:p>
            <a:r>
              <a:rPr lang="fr-FR" b="1" dirty="0">
                <a:solidFill>
                  <a:schemeClr val="accent1">
                    <a:lumMod val="75000"/>
                  </a:schemeClr>
                </a:solidFill>
                <a:latin typeface="Figtree"/>
              </a:rPr>
              <a:t>IA : 40%</a:t>
            </a:r>
          </a:p>
        </p:txBody>
      </p:sp>
      <p:sp>
        <p:nvSpPr>
          <p:cNvPr id="62" name="ZoneTexte 61">
            <a:extLst>
              <a:ext uri="{FF2B5EF4-FFF2-40B4-BE49-F238E27FC236}">
                <a16:creationId xmlns:a16="http://schemas.microsoft.com/office/drawing/2014/main" id="{1ED46676-EACA-69F8-A21C-04361B19C768}"/>
              </a:ext>
            </a:extLst>
          </p:cNvPr>
          <p:cNvSpPr txBox="1"/>
          <p:nvPr/>
        </p:nvSpPr>
        <p:spPr>
          <a:xfrm>
            <a:off x="7964382" y="5981251"/>
            <a:ext cx="4032001" cy="369332"/>
          </a:xfrm>
          <a:prstGeom prst="rect">
            <a:avLst/>
          </a:prstGeom>
          <a:noFill/>
        </p:spPr>
        <p:txBody>
          <a:bodyPr wrap="none" rtlCol="0">
            <a:spAutoFit/>
          </a:bodyPr>
          <a:lstStyle/>
          <a:p>
            <a:r>
              <a:rPr lang="fr-FR" b="1" dirty="0">
                <a:solidFill>
                  <a:srgbClr val="00B050"/>
                </a:solidFill>
              </a:rPr>
              <a:t>IA forte (70–95%) </a:t>
            </a:r>
            <a:r>
              <a:rPr lang="fr-FR" b="1" dirty="0"/>
              <a:t>- </a:t>
            </a:r>
            <a:r>
              <a:rPr lang="fr-FR" b="1" dirty="0">
                <a:solidFill>
                  <a:schemeClr val="accent1">
                    <a:lumMod val="75000"/>
                  </a:schemeClr>
                </a:solidFill>
              </a:rPr>
              <a:t>IA partielle (40–65%)</a:t>
            </a:r>
          </a:p>
        </p:txBody>
      </p:sp>
      <p:sp>
        <p:nvSpPr>
          <p:cNvPr id="4" name="ZoneTexte 3">
            <a:extLst>
              <a:ext uri="{FF2B5EF4-FFF2-40B4-BE49-F238E27FC236}">
                <a16:creationId xmlns:a16="http://schemas.microsoft.com/office/drawing/2014/main" id="{7D114510-F067-3E6A-6E12-32158A31A106}"/>
              </a:ext>
            </a:extLst>
          </p:cNvPr>
          <p:cNvSpPr txBox="1"/>
          <p:nvPr/>
        </p:nvSpPr>
        <p:spPr>
          <a:xfrm>
            <a:off x="4445860" y="2845216"/>
            <a:ext cx="1235851" cy="307777"/>
          </a:xfrm>
          <a:prstGeom prst="rect">
            <a:avLst/>
          </a:prstGeom>
          <a:noFill/>
        </p:spPr>
        <p:txBody>
          <a:bodyPr wrap="none" rtlCol="0">
            <a:spAutoFit/>
          </a:bodyPr>
          <a:lstStyle/>
          <a:p>
            <a:r>
              <a:rPr lang="fr-FR" sz="1400" b="1" dirty="0">
                <a:solidFill>
                  <a:srgbClr val="FF0000"/>
                </a:solidFill>
              </a:rPr>
              <a:t>Diff. Judiciaire</a:t>
            </a:r>
          </a:p>
        </p:txBody>
      </p:sp>
      <p:sp>
        <p:nvSpPr>
          <p:cNvPr id="7" name="ZoneTexte 6">
            <a:extLst>
              <a:ext uri="{FF2B5EF4-FFF2-40B4-BE49-F238E27FC236}">
                <a16:creationId xmlns:a16="http://schemas.microsoft.com/office/drawing/2014/main" id="{E68F3131-7D94-63A4-D635-51D10C82218E}"/>
              </a:ext>
            </a:extLst>
          </p:cNvPr>
          <p:cNvSpPr txBox="1"/>
          <p:nvPr/>
        </p:nvSpPr>
        <p:spPr>
          <a:xfrm>
            <a:off x="10398190" y="4221538"/>
            <a:ext cx="1235851" cy="307777"/>
          </a:xfrm>
          <a:prstGeom prst="rect">
            <a:avLst/>
          </a:prstGeom>
          <a:noFill/>
        </p:spPr>
        <p:txBody>
          <a:bodyPr wrap="none" rtlCol="0">
            <a:spAutoFit/>
          </a:bodyPr>
          <a:lstStyle/>
          <a:p>
            <a:r>
              <a:rPr lang="fr-FR" sz="1400" b="1" dirty="0">
                <a:solidFill>
                  <a:srgbClr val="FF0000"/>
                </a:solidFill>
              </a:rPr>
              <a:t>Diff. Judiciaire</a:t>
            </a:r>
          </a:p>
        </p:txBody>
      </p:sp>
      <p:sp>
        <p:nvSpPr>
          <p:cNvPr id="11" name="ZoneTexte 10">
            <a:extLst>
              <a:ext uri="{FF2B5EF4-FFF2-40B4-BE49-F238E27FC236}">
                <a16:creationId xmlns:a16="http://schemas.microsoft.com/office/drawing/2014/main" id="{424CAE86-FDD4-7C97-26D9-AF526023D7DE}"/>
              </a:ext>
            </a:extLst>
          </p:cNvPr>
          <p:cNvSpPr txBox="1"/>
          <p:nvPr/>
        </p:nvSpPr>
        <p:spPr>
          <a:xfrm>
            <a:off x="10405750" y="4944989"/>
            <a:ext cx="1235851" cy="307777"/>
          </a:xfrm>
          <a:prstGeom prst="rect">
            <a:avLst/>
          </a:prstGeom>
          <a:noFill/>
        </p:spPr>
        <p:txBody>
          <a:bodyPr wrap="none" rtlCol="0">
            <a:spAutoFit/>
          </a:bodyPr>
          <a:lstStyle/>
          <a:p>
            <a:r>
              <a:rPr lang="fr-FR" sz="1400" b="1" dirty="0">
                <a:solidFill>
                  <a:srgbClr val="FF0000"/>
                </a:solidFill>
              </a:rPr>
              <a:t>Diff. Judiciaire</a:t>
            </a:r>
          </a:p>
        </p:txBody>
      </p:sp>
    </p:spTree>
    <p:extLst>
      <p:ext uri="{BB962C8B-B14F-4D97-AF65-F5344CB8AC3E}">
        <p14:creationId xmlns:p14="http://schemas.microsoft.com/office/powerpoint/2010/main" val="22332256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4B4EE59-B13B-E823-664C-D66A99B6E49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989CBE04-9C0A-2A69-7621-78B1CF80F403}"/>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8771F9F7-4022-3831-62A0-B4FFC303BDB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156318-05AD-C945-AA25-35CAB035E10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62CD15D3-A338-78B4-E677-A6488524CF6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CBD586B7-0524-D8F0-D811-3083550AA807}"/>
              </a:ext>
            </a:extLst>
          </p:cNvPr>
          <p:cNvSpPr txBox="1"/>
          <p:nvPr/>
        </p:nvSpPr>
        <p:spPr>
          <a:xfrm>
            <a:off x="3495795" y="302802"/>
            <a:ext cx="7641391" cy="1077218"/>
          </a:xfrm>
          <a:prstGeom prst="rect">
            <a:avLst/>
          </a:prstGeom>
          <a:noFill/>
        </p:spPr>
        <p:txBody>
          <a:bodyPr wrap="square" rtlCol="0">
            <a:spAutoFit/>
          </a:bodyPr>
          <a:lstStyle/>
          <a:p>
            <a:pPr algn="ctr"/>
            <a:r>
              <a:rPr lang="fr-FR" sz="4400" dirty="0">
                <a:solidFill>
                  <a:schemeClr val="tx2"/>
                </a:solidFill>
                <a:latin typeface="Space Grotesk Medium" pitchFamily="2" charset="0"/>
              </a:rPr>
              <a:t>L'architecture du rapport : </a:t>
            </a:r>
          </a:p>
          <a:p>
            <a:pPr algn="ctr"/>
            <a:r>
              <a:rPr lang="fr-FR" sz="2000" b="1" dirty="0">
                <a:solidFill>
                  <a:schemeClr val="tx2">
                    <a:alpha val="60000"/>
                  </a:schemeClr>
                </a:solidFill>
                <a:latin typeface="Figtree" pitchFamily="2" charset="0"/>
              </a:rPr>
              <a:t>ce que l'IA doit connaître avant de rédiger</a:t>
            </a:r>
          </a:p>
        </p:txBody>
      </p:sp>
      <p:sp>
        <p:nvSpPr>
          <p:cNvPr id="13" name="Freeform: Shape 3">
            <a:extLst>
              <a:ext uri="{FF2B5EF4-FFF2-40B4-BE49-F238E27FC236}">
                <a16:creationId xmlns:a16="http://schemas.microsoft.com/office/drawing/2014/main" id="{9F42B915-EA08-5F6D-E646-A5E95F88522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E4E218C6-78D9-4F68-728F-A95AE0E52B28}"/>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1</a:t>
            </a:r>
            <a:endParaRPr lang="en-US" sz="2000" b="1" dirty="0">
              <a:solidFill>
                <a:schemeClr val="accent2"/>
              </a:solidFill>
              <a:latin typeface="Space Grotesk Medium"/>
              <a:sym typeface="Manrope"/>
            </a:endParaRPr>
          </a:p>
        </p:txBody>
      </p:sp>
      <p:grpSp>
        <p:nvGrpSpPr>
          <p:cNvPr id="34" name="Groupe 33">
            <a:extLst>
              <a:ext uri="{FF2B5EF4-FFF2-40B4-BE49-F238E27FC236}">
                <a16:creationId xmlns:a16="http://schemas.microsoft.com/office/drawing/2014/main" id="{4462E7E0-066B-41C9-671D-72F820C9D4E9}"/>
              </a:ext>
            </a:extLst>
          </p:cNvPr>
          <p:cNvGrpSpPr/>
          <p:nvPr/>
        </p:nvGrpSpPr>
        <p:grpSpPr>
          <a:xfrm>
            <a:off x="399526" y="2797991"/>
            <a:ext cx="11596857" cy="2733316"/>
            <a:chOff x="528810" y="1984551"/>
            <a:chExt cx="11596857" cy="2733316"/>
          </a:xfrm>
        </p:grpSpPr>
        <p:sp>
          <p:nvSpPr>
            <p:cNvPr id="9" name="ZoneTexte 8">
              <a:extLst>
                <a:ext uri="{FF2B5EF4-FFF2-40B4-BE49-F238E27FC236}">
                  <a16:creationId xmlns:a16="http://schemas.microsoft.com/office/drawing/2014/main" id="{684380FD-FD0A-1132-BE07-A5E5DA07FF57}"/>
                </a:ext>
              </a:extLst>
            </p:cNvPr>
            <p:cNvSpPr txBox="1"/>
            <p:nvPr/>
          </p:nvSpPr>
          <p:spPr>
            <a:xfrm>
              <a:off x="528810" y="1984551"/>
              <a:ext cx="352982" cy="492443"/>
            </a:xfrm>
            <a:prstGeom prst="rect">
              <a:avLst/>
            </a:prstGeom>
            <a:noFill/>
          </p:spPr>
          <p:txBody>
            <a:bodyPr wrap="none" rtlCol="0">
              <a:spAutoFit/>
            </a:bodyPr>
            <a:lstStyle/>
            <a:p>
              <a:r>
                <a:rPr lang="fr-FR" sz="2600" b="1" dirty="0">
                  <a:latin typeface="Figtree"/>
                </a:rPr>
                <a:t>1</a:t>
              </a:r>
            </a:p>
          </p:txBody>
        </p:sp>
        <p:sp>
          <p:nvSpPr>
            <p:cNvPr id="14" name="ZoneTexte 13">
              <a:extLst>
                <a:ext uri="{FF2B5EF4-FFF2-40B4-BE49-F238E27FC236}">
                  <a16:creationId xmlns:a16="http://schemas.microsoft.com/office/drawing/2014/main" id="{0880DD5F-24C6-FCDA-F176-EC859C69C80E}"/>
                </a:ext>
              </a:extLst>
            </p:cNvPr>
            <p:cNvSpPr txBox="1"/>
            <p:nvPr/>
          </p:nvSpPr>
          <p:spPr>
            <a:xfrm>
              <a:off x="1082282" y="1984551"/>
              <a:ext cx="3715629" cy="646331"/>
            </a:xfrm>
            <a:prstGeom prst="rect">
              <a:avLst/>
            </a:prstGeom>
            <a:noFill/>
          </p:spPr>
          <p:txBody>
            <a:bodyPr wrap="square" rtlCol="0">
              <a:spAutoFit/>
            </a:bodyPr>
            <a:lstStyle/>
            <a:p>
              <a:r>
                <a:rPr lang="fr-FR" sz="2000" b="1" u="sng" dirty="0">
                  <a:latin typeface="Figtree"/>
                </a:rPr>
                <a:t>Mission et </a:t>
              </a:r>
              <a:r>
                <a:rPr lang="fr-FR" sz="2000" b="1" u="sng" dirty="0">
                  <a:solidFill>
                    <a:srgbClr val="FF0000"/>
                  </a:solidFill>
                  <a:latin typeface="Figtree"/>
                </a:rPr>
                <a:t>cadre juridique</a:t>
              </a:r>
            </a:p>
            <a:p>
              <a:r>
                <a:rPr lang="fr-FR" sz="1600" dirty="0">
                  <a:latin typeface="Figtree"/>
                </a:rPr>
                <a:t>Ordonnance, parties objet, date de visite</a:t>
              </a:r>
            </a:p>
          </p:txBody>
        </p:sp>
        <p:sp>
          <p:nvSpPr>
            <p:cNvPr id="16" name="ZoneTexte 15">
              <a:extLst>
                <a:ext uri="{FF2B5EF4-FFF2-40B4-BE49-F238E27FC236}">
                  <a16:creationId xmlns:a16="http://schemas.microsoft.com/office/drawing/2014/main" id="{A9428E56-7D88-FD27-BEC4-24A581297715}"/>
                </a:ext>
              </a:extLst>
            </p:cNvPr>
            <p:cNvSpPr txBox="1"/>
            <p:nvPr/>
          </p:nvSpPr>
          <p:spPr>
            <a:xfrm>
              <a:off x="528810" y="2694556"/>
              <a:ext cx="352982" cy="492443"/>
            </a:xfrm>
            <a:prstGeom prst="rect">
              <a:avLst/>
            </a:prstGeom>
            <a:noFill/>
          </p:spPr>
          <p:txBody>
            <a:bodyPr wrap="none" rtlCol="0">
              <a:spAutoFit/>
            </a:bodyPr>
            <a:lstStyle/>
            <a:p>
              <a:r>
                <a:rPr lang="fr-FR" sz="2600" b="1" dirty="0">
                  <a:latin typeface="Figtree"/>
                </a:rPr>
                <a:t>2</a:t>
              </a:r>
            </a:p>
          </p:txBody>
        </p:sp>
        <p:sp>
          <p:nvSpPr>
            <p:cNvPr id="18" name="ZoneTexte 17">
              <a:extLst>
                <a:ext uri="{FF2B5EF4-FFF2-40B4-BE49-F238E27FC236}">
                  <a16:creationId xmlns:a16="http://schemas.microsoft.com/office/drawing/2014/main" id="{513C3C27-BB1B-B163-1764-5118615F9E15}"/>
                </a:ext>
              </a:extLst>
            </p:cNvPr>
            <p:cNvSpPr txBox="1"/>
            <p:nvPr/>
          </p:nvSpPr>
          <p:spPr>
            <a:xfrm>
              <a:off x="1082281" y="2694556"/>
              <a:ext cx="4705333" cy="646331"/>
            </a:xfrm>
            <a:prstGeom prst="rect">
              <a:avLst/>
            </a:prstGeom>
            <a:noFill/>
          </p:spPr>
          <p:txBody>
            <a:bodyPr wrap="square" rtlCol="0">
              <a:spAutoFit/>
            </a:bodyPr>
            <a:lstStyle/>
            <a:p>
              <a:r>
                <a:rPr lang="fr-FR" sz="2000" b="1" u="sng" dirty="0">
                  <a:latin typeface="Figtree"/>
                </a:rPr>
                <a:t>Situation géographique et environnement</a:t>
              </a:r>
            </a:p>
            <a:p>
              <a:r>
                <a:rPr lang="fr-FR" sz="1600" dirty="0">
                  <a:latin typeface="Figtree"/>
                </a:rPr>
                <a:t>Quartier, accessibilité, environnement immédiat</a:t>
              </a:r>
            </a:p>
          </p:txBody>
        </p:sp>
        <p:sp>
          <p:nvSpPr>
            <p:cNvPr id="20" name="ZoneTexte 19">
              <a:extLst>
                <a:ext uri="{FF2B5EF4-FFF2-40B4-BE49-F238E27FC236}">
                  <a16:creationId xmlns:a16="http://schemas.microsoft.com/office/drawing/2014/main" id="{4A489408-B658-6E18-C408-A09A12BC140E}"/>
                </a:ext>
              </a:extLst>
            </p:cNvPr>
            <p:cNvSpPr txBox="1"/>
            <p:nvPr/>
          </p:nvSpPr>
          <p:spPr>
            <a:xfrm>
              <a:off x="528810" y="3372288"/>
              <a:ext cx="352982" cy="492443"/>
            </a:xfrm>
            <a:prstGeom prst="rect">
              <a:avLst/>
            </a:prstGeom>
            <a:noFill/>
          </p:spPr>
          <p:txBody>
            <a:bodyPr wrap="none" rtlCol="0">
              <a:spAutoFit/>
            </a:bodyPr>
            <a:lstStyle/>
            <a:p>
              <a:r>
                <a:rPr lang="fr-FR" sz="2600" b="1" dirty="0">
                  <a:latin typeface="Figtree"/>
                </a:rPr>
                <a:t>3</a:t>
              </a:r>
            </a:p>
          </p:txBody>
        </p:sp>
        <p:sp>
          <p:nvSpPr>
            <p:cNvPr id="22" name="ZoneTexte 21">
              <a:extLst>
                <a:ext uri="{FF2B5EF4-FFF2-40B4-BE49-F238E27FC236}">
                  <a16:creationId xmlns:a16="http://schemas.microsoft.com/office/drawing/2014/main" id="{351D3741-FB1E-684E-FE8B-F6BDFC220683}"/>
                </a:ext>
              </a:extLst>
            </p:cNvPr>
            <p:cNvSpPr txBox="1"/>
            <p:nvPr/>
          </p:nvSpPr>
          <p:spPr>
            <a:xfrm>
              <a:off x="1082281" y="3372288"/>
              <a:ext cx="4705333" cy="646331"/>
            </a:xfrm>
            <a:prstGeom prst="rect">
              <a:avLst/>
            </a:prstGeom>
            <a:noFill/>
          </p:spPr>
          <p:txBody>
            <a:bodyPr wrap="square" rtlCol="0">
              <a:spAutoFit/>
            </a:bodyPr>
            <a:lstStyle/>
            <a:p>
              <a:r>
                <a:rPr lang="fr-FR" sz="2000" b="1" u="sng" dirty="0">
                  <a:latin typeface="Figtree"/>
                </a:rPr>
                <a:t>Situation juridique et urbanistique</a:t>
              </a:r>
            </a:p>
            <a:p>
              <a:r>
                <a:rPr lang="fr-FR" sz="1600" dirty="0">
                  <a:latin typeface="Figtree"/>
                </a:rPr>
                <a:t>Titre de propriété, PLU, copropriété, servitudes</a:t>
              </a:r>
            </a:p>
          </p:txBody>
        </p:sp>
        <p:sp>
          <p:nvSpPr>
            <p:cNvPr id="23" name="ZoneTexte 22">
              <a:extLst>
                <a:ext uri="{FF2B5EF4-FFF2-40B4-BE49-F238E27FC236}">
                  <a16:creationId xmlns:a16="http://schemas.microsoft.com/office/drawing/2014/main" id="{27539C68-06E6-E32B-1605-870A9FCB8412}"/>
                </a:ext>
              </a:extLst>
            </p:cNvPr>
            <p:cNvSpPr txBox="1"/>
            <p:nvPr/>
          </p:nvSpPr>
          <p:spPr>
            <a:xfrm>
              <a:off x="528810" y="4071536"/>
              <a:ext cx="352982" cy="492443"/>
            </a:xfrm>
            <a:prstGeom prst="rect">
              <a:avLst/>
            </a:prstGeom>
            <a:noFill/>
          </p:spPr>
          <p:txBody>
            <a:bodyPr wrap="none" rtlCol="0">
              <a:spAutoFit/>
            </a:bodyPr>
            <a:lstStyle/>
            <a:p>
              <a:r>
                <a:rPr lang="fr-FR" sz="2600" b="1" dirty="0">
                  <a:latin typeface="Figtree"/>
                </a:rPr>
                <a:t>4</a:t>
              </a:r>
            </a:p>
          </p:txBody>
        </p:sp>
        <p:sp>
          <p:nvSpPr>
            <p:cNvPr id="24" name="ZoneTexte 23">
              <a:extLst>
                <a:ext uri="{FF2B5EF4-FFF2-40B4-BE49-F238E27FC236}">
                  <a16:creationId xmlns:a16="http://schemas.microsoft.com/office/drawing/2014/main" id="{1F6C3244-FF87-0DE1-96C7-50EB1C78195C}"/>
                </a:ext>
              </a:extLst>
            </p:cNvPr>
            <p:cNvSpPr txBox="1"/>
            <p:nvPr/>
          </p:nvSpPr>
          <p:spPr>
            <a:xfrm>
              <a:off x="1082281" y="4071536"/>
              <a:ext cx="4812910" cy="646331"/>
            </a:xfrm>
            <a:prstGeom prst="rect">
              <a:avLst/>
            </a:prstGeom>
            <a:noFill/>
          </p:spPr>
          <p:txBody>
            <a:bodyPr wrap="square" rtlCol="0">
              <a:spAutoFit/>
            </a:bodyPr>
            <a:lstStyle/>
            <a:p>
              <a:r>
                <a:rPr lang="fr-FR" sz="2000" b="1" u="sng" dirty="0">
                  <a:latin typeface="Figtree"/>
                </a:rPr>
                <a:t>Description physique du bien</a:t>
              </a:r>
            </a:p>
            <a:p>
              <a:r>
                <a:rPr lang="fr-FR" sz="1600" dirty="0">
                  <a:latin typeface="Figtree"/>
                </a:rPr>
                <a:t>Surface, distribution, état général, éléments techniques</a:t>
              </a:r>
            </a:p>
          </p:txBody>
        </p:sp>
        <p:sp>
          <p:nvSpPr>
            <p:cNvPr id="25" name="ZoneTexte 24">
              <a:extLst>
                <a:ext uri="{FF2B5EF4-FFF2-40B4-BE49-F238E27FC236}">
                  <a16:creationId xmlns:a16="http://schemas.microsoft.com/office/drawing/2014/main" id="{E8AB883E-1F19-93A6-5027-A72A73EF9866}"/>
                </a:ext>
              </a:extLst>
            </p:cNvPr>
            <p:cNvSpPr txBox="1"/>
            <p:nvPr/>
          </p:nvSpPr>
          <p:spPr>
            <a:xfrm>
              <a:off x="6455884" y="1984551"/>
              <a:ext cx="352982" cy="492443"/>
            </a:xfrm>
            <a:prstGeom prst="rect">
              <a:avLst/>
            </a:prstGeom>
            <a:noFill/>
          </p:spPr>
          <p:txBody>
            <a:bodyPr wrap="none" rtlCol="0">
              <a:spAutoFit/>
            </a:bodyPr>
            <a:lstStyle/>
            <a:p>
              <a:r>
                <a:rPr lang="fr-FR" sz="2600" b="1" dirty="0">
                  <a:latin typeface="Figtree"/>
                </a:rPr>
                <a:t>5</a:t>
              </a:r>
            </a:p>
          </p:txBody>
        </p:sp>
        <p:sp>
          <p:nvSpPr>
            <p:cNvPr id="26" name="ZoneTexte 25">
              <a:extLst>
                <a:ext uri="{FF2B5EF4-FFF2-40B4-BE49-F238E27FC236}">
                  <a16:creationId xmlns:a16="http://schemas.microsoft.com/office/drawing/2014/main" id="{CFFFC28B-BB36-111A-98A6-13FCBBDC1DEE}"/>
                </a:ext>
              </a:extLst>
            </p:cNvPr>
            <p:cNvSpPr txBox="1"/>
            <p:nvPr/>
          </p:nvSpPr>
          <p:spPr>
            <a:xfrm>
              <a:off x="7009356" y="1984551"/>
              <a:ext cx="4137173" cy="646331"/>
            </a:xfrm>
            <a:prstGeom prst="rect">
              <a:avLst/>
            </a:prstGeom>
            <a:noFill/>
          </p:spPr>
          <p:txBody>
            <a:bodyPr wrap="square" rtlCol="0">
              <a:spAutoFit/>
            </a:bodyPr>
            <a:lstStyle/>
            <a:p>
              <a:r>
                <a:rPr lang="fr-FR" sz="2000" b="1" u="sng" dirty="0">
                  <a:latin typeface="Figtree"/>
                </a:rPr>
                <a:t>Etat du bien – désordres et travaux</a:t>
              </a:r>
            </a:p>
            <a:p>
              <a:r>
                <a:rPr lang="fr-FR" sz="1600" dirty="0">
                  <a:latin typeface="Figtree"/>
                </a:rPr>
                <a:t>Pathologies, vétusté, chiffrage estimatif</a:t>
              </a:r>
            </a:p>
          </p:txBody>
        </p:sp>
        <p:sp>
          <p:nvSpPr>
            <p:cNvPr id="27" name="ZoneTexte 26">
              <a:extLst>
                <a:ext uri="{FF2B5EF4-FFF2-40B4-BE49-F238E27FC236}">
                  <a16:creationId xmlns:a16="http://schemas.microsoft.com/office/drawing/2014/main" id="{2201E828-4633-4951-A435-C52441F65CBE}"/>
                </a:ext>
              </a:extLst>
            </p:cNvPr>
            <p:cNvSpPr txBox="1"/>
            <p:nvPr/>
          </p:nvSpPr>
          <p:spPr>
            <a:xfrm>
              <a:off x="6455884" y="2694556"/>
              <a:ext cx="352982" cy="492443"/>
            </a:xfrm>
            <a:prstGeom prst="rect">
              <a:avLst/>
            </a:prstGeom>
            <a:noFill/>
          </p:spPr>
          <p:txBody>
            <a:bodyPr wrap="none" rtlCol="0">
              <a:spAutoFit/>
            </a:bodyPr>
            <a:lstStyle/>
            <a:p>
              <a:r>
                <a:rPr lang="fr-FR" sz="2600" b="1" dirty="0">
                  <a:latin typeface="Figtree"/>
                </a:rPr>
                <a:t>6</a:t>
              </a:r>
            </a:p>
          </p:txBody>
        </p:sp>
        <p:sp>
          <p:nvSpPr>
            <p:cNvPr id="28" name="ZoneTexte 27">
              <a:extLst>
                <a:ext uri="{FF2B5EF4-FFF2-40B4-BE49-F238E27FC236}">
                  <a16:creationId xmlns:a16="http://schemas.microsoft.com/office/drawing/2014/main" id="{41592288-A8BA-C33A-4EC1-ABE2C4D45719}"/>
                </a:ext>
              </a:extLst>
            </p:cNvPr>
            <p:cNvSpPr txBox="1"/>
            <p:nvPr/>
          </p:nvSpPr>
          <p:spPr>
            <a:xfrm>
              <a:off x="7009355" y="2694556"/>
              <a:ext cx="4705333" cy="646331"/>
            </a:xfrm>
            <a:prstGeom prst="rect">
              <a:avLst/>
            </a:prstGeom>
            <a:noFill/>
          </p:spPr>
          <p:txBody>
            <a:bodyPr wrap="square" rtlCol="0">
              <a:spAutoFit/>
            </a:bodyPr>
            <a:lstStyle/>
            <a:p>
              <a:r>
                <a:rPr lang="fr-FR" sz="2000" b="1" u="sng" dirty="0">
                  <a:latin typeface="Figtree"/>
                </a:rPr>
                <a:t>Analyse de marché et comparables</a:t>
              </a:r>
            </a:p>
            <a:p>
              <a:r>
                <a:rPr lang="fr-FR" sz="1600" dirty="0">
                  <a:latin typeface="Figtree"/>
                </a:rPr>
                <a:t>DVF, tendances fourchettes observées</a:t>
              </a:r>
            </a:p>
          </p:txBody>
        </p:sp>
        <p:sp>
          <p:nvSpPr>
            <p:cNvPr id="29" name="ZoneTexte 28">
              <a:extLst>
                <a:ext uri="{FF2B5EF4-FFF2-40B4-BE49-F238E27FC236}">
                  <a16:creationId xmlns:a16="http://schemas.microsoft.com/office/drawing/2014/main" id="{68D9FF75-CED8-27DF-8054-986BDE420CBB}"/>
                </a:ext>
              </a:extLst>
            </p:cNvPr>
            <p:cNvSpPr txBox="1"/>
            <p:nvPr/>
          </p:nvSpPr>
          <p:spPr>
            <a:xfrm>
              <a:off x="6455884" y="3372288"/>
              <a:ext cx="352982" cy="492443"/>
            </a:xfrm>
            <a:prstGeom prst="rect">
              <a:avLst/>
            </a:prstGeom>
            <a:noFill/>
          </p:spPr>
          <p:txBody>
            <a:bodyPr wrap="none" rtlCol="0">
              <a:spAutoFit/>
            </a:bodyPr>
            <a:lstStyle/>
            <a:p>
              <a:r>
                <a:rPr lang="fr-FR" sz="2600" b="1" dirty="0">
                  <a:latin typeface="Figtree"/>
                </a:rPr>
                <a:t>7</a:t>
              </a:r>
            </a:p>
          </p:txBody>
        </p:sp>
        <p:sp>
          <p:nvSpPr>
            <p:cNvPr id="30" name="ZoneTexte 29">
              <a:extLst>
                <a:ext uri="{FF2B5EF4-FFF2-40B4-BE49-F238E27FC236}">
                  <a16:creationId xmlns:a16="http://schemas.microsoft.com/office/drawing/2014/main" id="{92563E2F-E703-AD27-36AD-25960E03D236}"/>
                </a:ext>
              </a:extLst>
            </p:cNvPr>
            <p:cNvSpPr txBox="1"/>
            <p:nvPr/>
          </p:nvSpPr>
          <p:spPr>
            <a:xfrm>
              <a:off x="7009355" y="3372288"/>
              <a:ext cx="5116312" cy="646331"/>
            </a:xfrm>
            <a:prstGeom prst="rect">
              <a:avLst/>
            </a:prstGeom>
            <a:noFill/>
          </p:spPr>
          <p:txBody>
            <a:bodyPr wrap="square" rtlCol="0">
              <a:spAutoFit/>
            </a:bodyPr>
            <a:lstStyle/>
            <a:p>
              <a:r>
                <a:rPr lang="fr-FR" sz="2000" b="1" u="sng" dirty="0">
                  <a:latin typeface="Figtree"/>
                </a:rPr>
                <a:t>Méthodes et valorisation</a:t>
              </a:r>
            </a:p>
            <a:p>
              <a:r>
                <a:rPr lang="fr-FR" sz="1600" dirty="0">
                  <a:latin typeface="Figtree"/>
                </a:rPr>
                <a:t>Comparaison directe, capitalisation, coût de remplacement</a:t>
              </a:r>
            </a:p>
          </p:txBody>
        </p:sp>
        <p:sp>
          <p:nvSpPr>
            <p:cNvPr id="31" name="ZoneTexte 30">
              <a:extLst>
                <a:ext uri="{FF2B5EF4-FFF2-40B4-BE49-F238E27FC236}">
                  <a16:creationId xmlns:a16="http://schemas.microsoft.com/office/drawing/2014/main" id="{897D7385-4DD0-D837-A316-53D5434FD664}"/>
                </a:ext>
              </a:extLst>
            </p:cNvPr>
            <p:cNvSpPr txBox="1"/>
            <p:nvPr/>
          </p:nvSpPr>
          <p:spPr>
            <a:xfrm>
              <a:off x="6455884" y="4071536"/>
              <a:ext cx="352982" cy="492443"/>
            </a:xfrm>
            <a:prstGeom prst="rect">
              <a:avLst/>
            </a:prstGeom>
            <a:noFill/>
          </p:spPr>
          <p:txBody>
            <a:bodyPr wrap="none" rtlCol="0">
              <a:spAutoFit/>
            </a:bodyPr>
            <a:lstStyle/>
            <a:p>
              <a:r>
                <a:rPr lang="fr-FR" sz="2600" b="1" dirty="0">
                  <a:latin typeface="Figtree"/>
                </a:rPr>
                <a:t>8</a:t>
              </a:r>
            </a:p>
          </p:txBody>
        </p:sp>
        <p:sp>
          <p:nvSpPr>
            <p:cNvPr id="33" name="ZoneTexte 32">
              <a:extLst>
                <a:ext uri="{FF2B5EF4-FFF2-40B4-BE49-F238E27FC236}">
                  <a16:creationId xmlns:a16="http://schemas.microsoft.com/office/drawing/2014/main" id="{DDCAEBB7-B6DC-25D4-ADB6-2BCDB9D90213}"/>
                </a:ext>
              </a:extLst>
            </p:cNvPr>
            <p:cNvSpPr txBox="1"/>
            <p:nvPr/>
          </p:nvSpPr>
          <p:spPr>
            <a:xfrm>
              <a:off x="7009355" y="4071536"/>
              <a:ext cx="4812910" cy="646331"/>
            </a:xfrm>
            <a:prstGeom prst="rect">
              <a:avLst/>
            </a:prstGeom>
            <a:noFill/>
          </p:spPr>
          <p:txBody>
            <a:bodyPr wrap="square" rtlCol="0">
              <a:spAutoFit/>
            </a:bodyPr>
            <a:lstStyle/>
            <a:p>
              <a:r>
                <a:rPr lang="fr-FR" sz="2000" b="1" u="sng" dirty="0">
                  <a:latin typeface="Figtree"/>
                </a:rPr>
                <a:t>Conclusion – valeur vénale</a:t>
              </a:r>
            </a:p>
            <a:p>
              <a:r>
                <a:rPr lang="fr-FR" sz="1600" dirty="0">
                  <a:latin typeface="Figtree"/>
                </a:rPr>
                <a:t>Valeur retenue, fourchette, date de valeur</a:t>
              </a:r>
            </a:p>
          </p:txBody>
        </p:sp>
      </p:grpSp>
      <p:sp>
        <p:nvSpPr>
          <p:cNvPr id="35" name="ZoneTexte 34">
            <a:extLst>
              <a:ext uri="{FF2B5EF4-FFF2-40B4-BE49-F238E27FC236}">
                <a16:creationId xmlns:a16="http://schemas.microsoft.com/office/drawing/2014/main" id="{234E3625-3CF7-FAC9-FFFD-E604C2EB3AFB}"/>
              </a:ext>
            </a:extLst>
          </p:cNvPr>
          <p:cNvSpPr txBox="1"/>
          <p:nvPr/>
        </p:nvSpPr>
        <p:spPr>
          <a:xfrm>
            <a:off x="399526" y="1884795"/>
            <a:ext cx="11160812" cy="523220"/>
          </a:xfrm>
          <a:prstGeom prst="rect">
            <a:avLst/>
          </a:prstGeom>
          <a:noFill/>
        </p:spPr>
        <p:txBody>
          <a:bodyPr wrap="none" rtlCol="0">
            <a:spAutoFit/>
          </a:bodyPr>
          <a:lstStyle/>
          <a:p>
            <a:r>
              <a:rPr lang="fr-FR" sz="2800" dirty="0">
                <a:latin typeface="Figtree"/>
              </a:rPr>
              <a:t>Voici la structure-type du rapport </a:t>
            </a:r>
            <a:r>
              <a:rPr lang="fr-FR" sz="2800" b="1" dirty="0">
                <a:solidFill>
                  <a:srgbClr val="FF0000"/>
                </a:solidFill>
                <a:latin typeface="Figtree"/>
              </a:rPr>
              <a:t>d'expertise Judiciaire </a:t>
            </a:r>
            <a:r>
              <a:rPr lang="fr-FR" sz="2800" dirty="0">
                <a:latin typeface="Figtree"/>
              </a:rPr>
              <a:t>: 8 parties distinctes</a:t>
            </a:r>
          </a:p>
        </p:txBody>
      </p:sp>
      <p:sp>
        <p:nvSpPr>
          <p:cNvPr id="36" name="ZoneTexte 35">
            <a:extLst>
              <a:ext uri="{FF2B5EF4-FFF2-40B4-BE49-F238E27FC236}">
                <a16:creationId xmlns:a16="http://schemas.microsoft.com/office/drawing/2014/main" id="{55FF16F9-D788-E774-FA66-2B5D919D36CF}"/>
              </a:ext>
            </a:extLst>
          </p:cNvPr>
          <p:cNvSpPr txBox="1"/>
          <p:nvPr/>
        </p:nvSpPr>
        <p:spPr>
          <a:xfrm>
            <a:off x="-4843" y="2612702"/>
            <a:ext cx="957313" cy="369332"/>
          </a:xfrm>
          <a:prstGeom prst="rect">
            <a:avLst/>
          </a:prstGeom>
          <a:noFill/>
        </p:spPr>
        <p:txBody>
          <a:bodyPr wrap="none" rtlCol="0">
            <a:spAutoFit/>
          </a:bodyPr>
          <a:lstStyle/>
          <a:p>
            <a:r>
              <a:rPr lang="fr-FR" b="1" dirty="0">
                <a:solidFill>
                  <a:srgbClr val="00B050"/>
                </a:solidFill>
                <a:latin typeface="Figtree"/>
              </a:rPr>
              <a:t>IA : 75%</a:t>
            </a:r>
          </a:p>
        </p:txBody>
      </p:sp>
      <p:sp>
        <p:nvSpPr>
          <p:cNvPr id="38" name="ZoneTexte 37">
            <a:extLst>
              <a:ext uri="{FF2B5EF4-FFF2-40B4-BE49-F238E27FC236}">
                <a16:creationId xmlns:a16="http://schemas.microsoft.com/office/drawing/2014/main" id="{5F24BD26-F69C-EB38-D4FF-E7821A6D1CF9}"/>
              </a:ext>
            </a:extLst>
          </p:cNvPr>
          <p:cNvSpPr txBox="1"/>
          <p:nvPr/>
        </p:nvSpPr>
        <p:spPr>
          <a:xfrm>
            <a:off x="-4843" y="3301759"/>
            <a:ext cx="957313" cy="369332"/>
          </a:xfrm>
          <a:prstGeom prst="rect">
            <a:avLst/>
          </a:prstGeom>
          <a:noFill/>
        </p:spPr>
        <p:txBody>
          <a:bodyPr wrap="none" rtlCol="0">
            <a:spAutoFit/>
          </a:bodyPr>
          <a:lstStyle/>
          <a:p>
            <a:r>
              <a:rPr lang="fr-FR" b="1" dirty="0">
                <a:solidFill>
                  <a:srgbClr val="00B050"/>
                </a:solidFill>
                <a:latin typeface="Figtree"/>
              </a:rPr>
              <a:t>IA : 85%</a:t>
            </a:r>
          </a:p>
        </p:txBody>
      </p:sp>
      <p:sp>
        <p:nvSpPr>
          <p:cNvPr id="41" name="ZoneTexte 40">
            <a:extLst>
              <a:ext uri="{FF2B5EF4-FFF2-40B4-BE49-F238E27FC236}">
                <a16:creationId xmlns:a16="http://schemas.microsoft.com/office/drawing/2014/main" id="{29700BB4-BC1C-AE09-888E-79DBF37EA51F}"/>
              </a:ext>
            </a:extLst>
          </p:cNvPr>
          <p:cNvSpPr txBox="1"/>
          <p:nvPr/>
        </p:nvSpPr>
        <p:spPr>
          <a:xfrm>
            <a:off x="-4843" y="4022010"/>
            <a:ext cx="957313" cy="369332"/>
          </a:xfrm>
          <a:prstGeom prst="rect">
            <a:avLst/>
          </a:prstGeom>
          <a:noFill/>
        </p:spPr>
        <p:txBody>
          <a:bodyPr wrap="none" rtlCol="0">
            <a:spAutoFit/>
          </a:bodyPr>
          <a:lstStyle/>
          <a:p>
            <a:r>
              <a:rPr lang="fr-FR" b="1" dirty="0">
                <a:solidFill>
                  <a:schemeClr val="accent1">
                    <a:lumMod val="75000"/>
                  </a:schemeClr>
                </a:solidFill>
                <a:latin typeface="Figtree"/>
              </a:rPr>
              <a:t>IA : 60%</a:t>
            </a:r>
          </a:p>
        </p:txBody>
      </p:sp>
      <p:sp>
        <p:nvSpPr>
          <p:cNvPr id="42" name="ZoneTexte 41">
            <a:extLst>
              <a:ext uri="{FF2B5EF4-FFF2-40B4-BE49-F238E27FC236}">
                <a16:creationId xmlns:a16="http://schemas.microsoft.com/office/drawing/2014/main" id="{978B4F28-FEBB-A5C7-2FEA-8D80E49C6301}"/>
              </a:ext>
            </a:extLst>
          </p:cNvPr>
          <p:cNvSpPr txBox="1"/>
          <p:nvPr/>
        </p:nvSpPr>
        <p:spPr>
          <a:xfrm>
            <a:off x="-4843" y="4646465"/>
            <a:ext cx="957313" cy="369332"/>
          </a:xfrm>
          <a:prstGeom prst="rect">
            <a:avLst/>
          </a:prstGeom>
          <a:noFill/>
        </p:spPr>
        <p:txBody>
          <a:bodyPr wrap="none" rtlCol="0">
            <a:spAutoFit/>
          </a:bodyPr>
          <a:lstStyle/>
          <a:p>
            <a:r>
              <a:rPr lang="fr-FR" b="1" dirty="0">
                <a:solidFill>
                  <a:srgbClr val="00B050"/>
                </a:solidFill>
                <a:latin typeface="Figtree"/>
              </a:rPr>
              <a:t>IA : 90%</a:t>
            </a:r>
          </a:p>
        </p:txBody>
      </p:sp>
      <p:sp>
        <p:nvSpPr>
          <p:cNvPr id="43" name="ZoneTexte 42">
            <a:extLst>
              <a:ext uri="{FF2B5EF4-FFF2-40B4-BE49-F238E27FC236}">
                <a16:creationId xmlns:a16="http://schemas.microsoft.com/office/drawing/2014/main" id="{687DC4CF-9DC0-0362-1F3F-E9C42FBA3D04}"/>
              </a:ext>
            </a:extLst>
          </p:cNvPr>
          <p:cNvSpPr txBox="1"/>
          <p:nvPr/>
        </p:nvSpPr>
        <p:spPr>
          <a:xfrm>
            <a:off x="5868832" y="2612702"/>
            <a:ext cx="957313" cy="369332"/>
          </a:xfrm>
          <a:prstGeom prst="rect">
            <a:avLst/>
          </a:prstGeom>
          <a:noFill/>
        </p:spPr>
        <p:txBody>
          <a:bodyPr wrap="none" rtlCol="0">
            <a:spAutoFit/>
          </a:bodyPr>
          <a:lstStyle/>
          <a:p>
            <a:r>
              <a:rPr lang="fr-FR" b="1" dirty="0">
                <a:solidFill>
                  <a:schemeClr val="accent1">
                    <a:lumMod val="75000"/>
                  </a:schemeClr>
                </a:solidFill>
                <a:latin typeface="Figtree"/>
              </a:rPr>
              <a:t>IA : 50%</a:t>
            </a:r>
          </a:p>
        </p:txBody>
      </p:sp>
      <p:sp>
        <p:nvSpPr>
          <p:cNvPr id="46" name="ZoneTexte 45">
            <a:extLst>
              <a:ext uri="{FF2B5EF4-FFF2-40B4-BE49-F238E27FC236}">
                <a16:creationId xmlns:a16="http://schemas.microsoft.com/office/drawing/2014/main" id="{358E9C22-85B2-CE0A-EB85-F7B2BC11802B}"/>
              </a:ext>
            </a:extLst>
          </p:cNvPr>
          <p:cNvSpPr txBox="1"/>
          <p:nvPr/>
        </p:nvSpPr>
        <p:spPr>
          <a:xfrm>
            <a:off x="5868832" y="3301759"/>
            <a:ext cx="957313" cy="369332"/>
          </a:xfrm>
          <a:prstGeom prst="rect">
            <a:avLst/>
          </a:prstGeom>
          <a:noFill/>
        </p:spPr>
        <p:txBody>
          <a:bodyPr wrap="none" rtlCol="0">
            <a:spAutoFit/>
          </a:bodyPr>
          <a:lstStyle/>
          <a:p>
            <a:r>
              <a:rPr lang="fr-FR" b="1" dirty="0">
                <a:solidFill>
                  <a:srgbClr val="00B050"/>
                </a:solidFill>
                <a:latin typeface="Figtree"/>
              </a:rPr>
              <a:t>IA : 80%</a:t>
            </a:r>
          </a:p>
        </p:txBody>
      </p:sp>
      <p:sp>
        <p:nvSpPr>
          <p:cNvPr id="60" name="ZoneTexte 59">
            <a:extLst>
              <a:ext uri="{FF2B5EF4-FFF2-40B4-BE49-F238E27FC236}">
                <a16:creationId xmlns:a16="http://schemas.microsoft.com/office/drawing/2014/main" id="{4212D7D8-15D5-E416-2E81-07ED3AA1967A}"/>
              </a:ext>
            </a:extLst>
          </p:cNvPr>
          <p:cNvSpPr txBox="1"/>
          <p:nvPr/>
        </p:nvSpPr>
        <p:spPr>
          <a:xfrm>
            <a:off x="5868832" y="4022010"/>
            <a:ext cx="957313" cy="369332"/>
          </a:xfrm>
          <a:prstGeom prst="rect">
            <a:avLst/>
          </a:prstGeom>
          <a:noFill/>
        </p:spPr>
        <p:txBody>
          <a:bodyPr wrap="none" rtlCol="0">
            <a:spAutoFit/>
          </a:bodyPr>
          <a:lstStyle/>
          <a:p>
            <a:r>
              <a:rPr lang="fr-FR" b="1" dirty="0">
                <a:solidFill>
                  <a:schemeClr val="accent1">
                    <a:lumMod val="75000"/>
                  </a:schemeClr>
                </a:solidFill>
                <a:latin typeface="Figtree"/>
              </a:rPr>
              <a:t>IA : 65%</a:t>
            </a:r>
          </a:p>
        </p:txBody>
      </p:sp>
      <p:sp>
        <p:nvSpPr>
          <p:cNvPr id="61" name="ZoneTexte 60">
            <a:extLst>
              <a:ext uri="{FF2B5EF4-FFF2-40B4-BE49-F238E27FC236}">
                <a16:creationId xmlns:a16="http://schemas.microsoft.com/office/drawing/2014/main" id="{B8C85727-98B0-88B1-B9D9-02653E4E09E7}"/>
              </a:ext>
            </a:extLst>
          </p:cNvPr>
          <p:cNvSpPr txBox="1"/>
          <p:nvPr/>
        </p:nvSpPr>
        <p:spPr>
          <a:xfrm>
            <a:off x="5868832" y="4646465"/>
            <a:ext cx="957313" cy="369332"/>
          </a:xfrm>
          <a:prstGeom prst="rect">
            <a:avLst/>
          </a:prstGeom>
          <a:noFill/>
        </p:spPr>
        <p:txBody>
          <a:bodyPr wrap="none" rtlCol="0">
            <a:spAutoFit/>
          </a:bodyPr>
          <a:lstStyle/>
          <a:p>
            <a:r>
              <a:rPr lang="fr-FR" b="1" dirty="0">
                <a:solidFill>
                  <a:schemeClr val="accent1">
                    <a:lumMod val="75000"/>
                  </a:schemeClr>
                </a:solidFill>
                <a:latin typeface="Figtree"/>
              </a:rPr>
              <a:t>IA : 40%</a:t>
            </a:r>
          </a:p>
        </p:txBody>
      </p:sp>
      <p:sp>
        <p:nvSpPr>
          <p:cNvPr id="62" name="ZoneTexte 61">
            <a:extLst>
              <a:ext uri="{FF2B5EF4-FFF2-40B4-BE49-F238E27FC236}">
                <a16:creationId xmlns:a16="http://schemas.microsoft.com/office/drawing/2014/main" id="{830BAFDF-4216-42E5-24D9-AC26B6D0F475}"/>
              </a:ext>
            </a:extLst>
          </p:cNvPr>
          <p:cNvSpPr txBox="1"/>
          <p:nvPr/>
        </p:nvSpPr>
        <p:spPr>
          <a:xfrm>
            <a:off x="7964382" y="5981251"/>
            <a:ext cx="4032001" cy="369332"/>
          </a:xfrm>
          <a:prstGeom prst="rect">
            <a:avLst/>
          </a:prstGeom>
          <a:noFill/>
        </p:spPr>
        <p:txBody>
          <a:bodyPr wrap="none" rtlCol="0">
            <a:spAutoFit/>
          </a:bodyPr>
          <a:lstStyle/>
          <a:p>
            <a:r>
              <a:rPr lang="fr-FR" b="1" dirty="0">
                <a:solidFill>
                  <a:srgbClr val="00B050"/>
                </a:solidFill>
              </a:rPr>
              <a:t>IA forte (70–95%) </a:t>
            </a:r>
            <a:r>
              <a:rPr lang="fr-FR" b="1" dirty="0"/>
              <a:t>- </a:t>
            </a:r>
            <a:r>
              <a:rPr lang="fr-FR" b="1" dirty="0">
                <a:solidFill>
                  <a:schemeClr val="accent1">
                    <a:lumMod val="75000"/>
                  </a:schemeClr>
                </a:solidFill>
              </a:rPr>
              <a:t>IA partielle (40–65%)</a:t>
            </a:r>
          </a:p>
        </p:txBody>
      </p:sp>
      <p:sp>
        <p:nvSpPr>
          <p:cNvPr id="6" name="ZoneTexte 5">
            <a:extLst>
              <a:ext uri="{FF2B5EF4-FFF2-40B4-BE49-F238E27FC236}">
                <a16:creationId xmlns:a16="http://schemas.microsoft.com/office/drawing/2014/main" id="{00455C85-169E-CD2D-BB29-CB0FAF7CEFD8}"/>
              </a:ext>
            </a:extLst>
          </p:cNvPr>
          <p:cNvSpPr txBox="1"/>
          <p:nvPr/>
        </p:nvSpPr>
        <p:spPr>
          <a:xfrm>
            <a:off x="10224616" y="4198339"/>
            <a:ext cx="1771767" cy="307777"/>
          </a:xfrm>
          <a:prstGeom prst="rect">
            <a:avLst/>
          </a:prstGeom>
          <a:noFill/>
        </p:spPr>
        <p:txBody>
          <a:bodyPr wrap="none" rtlCol="0">
            <a:spAutoFit/>
          </a:bodyPr>
          <a:lstStyle/>
          <a:p>
            <a:r>
              <a:rPr lang="fr-FR" sz="1400" b="1" dirty="0">
                <a:solidFill>
                  <a:srgbClr val="FF0000"/>
                </a:solidFill>
              </a:rPr>
              <a:t>formalisme Judiciaire</a:t>
            </a:r>
          </a:p>
        </p:txBody>
      </p:sp>
      <p:sp>
        <p:nvSpPr>
          <p:cNvPr id="8" name="ZoneTexte 7">
            <a:extLst>
              <a:ext uri="{FF2B5EF4-FFF2-40B4-BE49-F238E27FC236}">
                <a16:creationId xmlns:a16="http://schemas.microsoft.com/office/drawing/2014/main" id="{5258E6E2-DB4A-0629-081A-29D450CFDDFC}"/>
              </a:ext>
            </a:extLst>
          </p:cNvPr>
          <p:cNvSpPr txBox="1"/>
          <p:nvPr/>
        </p:nvSpPr>
        <p:spPr>
          <a:xfrm>
            <a:off x="10251302" y="4928180"/>
            <a:ext cx="1771767" cy="307777"/>
          </a:xfrm>
          <a:prstGeom prst="rect">
            <a:avLst/>
          </a:prstGeom>
          <a:noFill/>
        </p:spPr>
        <p:txBody>
          <a:bodyPr wrap="none" rtlCol="0">
            <a:spAutoFit/>
          </a:bodyPr>
          <a:lstStyle/>
          <a:p>
            <a:r>
              <a:rPr lang="fr-FR" sz="1400" b="1" dirty="0">
                <a:solidFill>
                  <a:srgbClr val="FF0000"/>
                </a:solidFill>
              </a:rPr>
              <a:t>formalisme Judiciaire</a:t>
            </a:r>
          </a:p>
        </p:txBody>
      </p:sp>
    </p:spTree>
    <p:extLst>
      <p:ext uri="{BB962C8B-B14F-4D97-AF65-F5344CB8AC3E}">
        <p14:creationId xmlns:p14="http://schemas.microsoft.com/office/powerpoint/2010/main" val="2991690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B37CC1D-21C0-7BFA-D757-03FB0FC8CB09}"/>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A2E8667-850C-C6B0-1CF6-ECC2824AA307}"/>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4FEC6DC6-4B82-B556-DC15-914C45358D5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8813A20-75DF-9F7D-3DE6-382EB0F9A78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E11ACAD-7A43-978C-360C-B43E269E8FEC}"/>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AC6E652-7818-74F8-5B99-4D378A2AC660}"/>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Le prompt d'initialisation</a:t>
            </a:r>
          </a:p>
          <a:p>
            <a:pPr algn="ctr"/>
            <a:r>
              <a:rPr lang="fr-FR" sz="2000" b="1" dirty="0">
                <a:solidFill>
                  <a:schemeClr val="tx2">
                    <a:alpha val="60000"/>
                  </a:schemeClr>
                </a:solidFill>
                <a:latin typeface="Figtree" pitchFamily="2" charset="0"/>
              </a:rPr>
              <a:t>donner à l'IA la vision globale – un contexte</a:t>
            </a:r>
          </a:p>
        </p:txBody>
      </p:sp>
      <p:sp>
        <p:nvSpPr>
          <p:cNvPr id="13" name="Freeform: Shape 3">
            <a:extLst>
              <a:ext uri="{FF2B5EF4-FFF2-40B4-BE49-F238E27FC236}">
                <a16:creationId xmlns:a16="http://schemas.microsoft.com/office/drawing/2014/main" id="{BFEC1967-30F3-D358-5CED-BE07A7894BF3}"/>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2482D908-AC95-4F83-8C80-F1F4837D9509}"/>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1FB86D34-4F34-3955-9AD4-ECA686C791C4}"/>
              </a:ext>
            </a:extLst>
          </p:cNvPr>
          <p:cNvSpPr txBox="1"/>
          <p:nvPr/>
        </p:nvSpPr>
        <p:spPr>
          <a:xfrm>
            <a:off x="345738" y="1691118"/>
            <a:ext cx="5592483" cy="5047536"/>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mon </a:t>
            </a:r>
            <a:r>
              <a:rPr lang="fr-FR" sz="1400" b="1" dirty="0">
                <a:latin typeface="Courier New" panose="02070309020205020404" pitchFamily="49" charset="0"/>
                <a:cs typeface="Courier New" panose="02070309020205020404" pitchFamily="49" charset="0"/>
              </a:rPr>
              <a:t>assistant de rédaction </a:t>
            </a:r>
            <a:r>
              <a:rPr lang="fr-FR" sz="1400" dirty="0">
                <a:latin typeface="Courier New" panose="02070309020205020404" pitchFamily="49" charset="0"/>
                <a:cs typeface="Courier New" panose="02070309020205020404" pitchFamily="49" charset="0"/>
              </a:rPr>
              <a:t>pour un </a:t>
            </a:r>
            <a:r>
              <a:rPr lang="fr-FR" sz="1400" b="1" dirty="0">
                <a:latin typeface="Courier New" panose="02070309020205020404" pitchFamily="49" charset="0"/>
                <a:cs typeface="Courier New" panose="02070309020205020404" pitchFamily="49" charset="0"/>
              </a:rPr>
              <a:t>rapport d'expertise immobilière </a:t>
            </a:r>
            <a:r>
              <a:rPr lang="fr-FR" sz="1400" b="1" dirty="0">
                <a:solidFill>
                  <a:srgbClr val="00B050"/>
                </a:solidFill>
                <a:latin typeface="Courier New" panose="02070309020205020404" pitchFamily="49" charset="0"/>
                <a:cs typeface="Courier New" panose="02070309020205020404" pitchFamily="49" charset="0"/>
              </a:rPr>
              <a:t>amiable</a:t>
            </a:r>
            <a:r>
              <a:rPr lang="fr-FR" sz="1400" dirty="0">
                <a:latin typeface="Courier New" panose="02070309020205020404" pitchFamily="49" charset="0"/>
                <a:cs typeface="Courier New" panose="02070309020205020404" pitchFamily="49" charset="0"/>
              </a:rPr>
              <a:t>.</a:t>
            </a:r>
          </a:p>
          <a:p>
            <a:r>
              <a:rPr lang="fr-FR" sz="1400" dirty="0">
                <a:latin typeface="Courier New" panose="02070309020205020404" pitchFamily="49" charset="0"/>
                <a:cs typeface="Courier New" panose="02070309020205020404" pitchFamily="49" charset="0"/>
              </a:rPr>
              <a:t>Voici le contexte complet du dossier — mémorise-le pour toutes les sections que je vais te demander de rédiger.</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MISSION :</a:t>
            </a:r>
          </a:p>
          <a:p>
            <a:r>
              <a:rPr lang="fr-FR" sz="1400" dirty="0">
                <a:latin typeface="Courier New" panose="02070309020205020404" pitchFamily="49" charset="0"/>
                <a:cs typeface="Courier New" panose="02070309020205020404" pitchFamily="49" charset="0"/>
              </a:rPr>
              <a:t>Type : [amiable / contradictoire]</a:t>
            </a:r>
          </a:p>
          <a:p>
            <a:r>
              <a:rPr lang="fr-FR" sz="1400" dirty="0">
                <a:latin typeface="Courier New" panose="02070309020205020404" pitchFamily="49" charset="0"/>
                <a:cs typeface="Courier New" panose="02070309020205020404" pitchFamily="49" charset="0"/>
              </a:rPr>
              <a:t>Mandant : [notaire / particulier / banque / assurance]</a:t>
            </a:r>
          </a:p>
          <a:p>
            <a:r>
              <a:rPr lang="fr-FR" sz="1400" dirty="0">
                <a:latin typeface="Courier New" panose="02070309020205020404" pitchFamily="49" charset="0"/>
                <a:cs typeface="Courier New" panose="02070309020205020404" pitchFamily="49" charset="0"/>
              </a:rPr>
              <a:t>Objet : [valeur vénale / estimation / avis de valeur]</a:t>
            </a:r>
          </a:p>
          <a:p>
            <a:r>
              <a:rPr lang="fr-FR" sz="1400" dirty="0">
                <a:latin typeface="Courier New" panose="02070309020205020404" pitchFamily="49" charset="0"/>
                <a:cs typeface="Courier New" panose="02070309020205020404" pitchFamily="49" charset="0"/>
              </a:rPr>
              <a:t>Contexte : [succession / divorce / vente / refinancement]Date de visite : [date]Date de valeur retenue : [date]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BIEN EXPERTISÉ :</a:t>
            </a:r>
          </a:p>
          <a:p>
            <a:r>
              <a:rPr lang="fr-FR" sz="1400" dirty="0">
                <a:latin typeface="Courier New" panose="02070309020205020404" pitchFamily="49" charset="0"/>
                <a:cs typeface="Courier New" panose="02070309020205020404" pitchFamily="49" charset="0"/>
              </a:rPr>
              <a:t>Adresse : [adresse complète]</a:t>
            </a:r>
          </a:p>
          <a:p>
            <a:r>
              <a:rPr lang="fr-FR" sz="1400" dirty="0">
                <a:latin typeface="Courier New" panose="02070309020205020404" pitchFamily="49" charset="0"/>
                <a:cs typeface="Courier New" panose="02070309020205020404" pitchFamily="49" charset="0"/>
              </a:rPr>
              <a:t>Nature : [appartement / maison / local commercial / terrain]</a:t>
            </a:r>
          </a:p>
          <a:p>
            <a:r>
              <a:rPr lang="fr-FR" sz="1400" dirty="0">
                <a:latin typeface="Courier New" panose="02070309020205020404" pitchFamily="49" charset="0"/>
                <a:cs typeface="Courier New" panose="02070309020205020404" pitchFamily="49" charset="0"/>
              </a:rPr>
              <a:t>Surface : [X] m² [Carrez si applicable]</a:t>
            </a:r>
          </a:p>
          <a:p>
            <a:r>
              <a:rPr lang="fr-FR" sz="1400" dirty="0">
                <a:latin typeface="Courier New" panose="02070309020205020404" pitchFamily="49" charset="0"/>
                <a:cs typeface="Courier New" panose="02070309020205020404" pitchFamily="49" charset="0"/>
              </a:rPr>
              <a:t>Description rapide : [2–3 lignes]</a:t>
            </a:r>
          </a:p>
          <a:p>
            <a:r>
              <a:rPr lang="fr-FR" sz="1400" dirty="0">
                <a:latin typeface="Courier New" panose="02070309020205020404" pitchFamily="49" charset="0"/>
                <a:cs typeface="Courier New" panose="02070309020205020404" pitchFamily="49" charset="0"/>
              </a:rPr>
              <a:t>État général : [vétuste / courant / rénové / neuf]</a:t>
            </a:r>
          </a:p>
        </p:txBody>
      </p:sp>
      <p:sp>
        <p:nvSpPr>
          <p:cNvPr id="6" name="ZoneTexte 5">
            <a:extLst>
              <a:ext uri="{FF2B5EF4-FFF2-40B4-BE49-F238E27FC236}">
                <a16:creationId xmlns:a16="http://schemas.microsoft.com/office/drawing/2014/main" id="{9446784A-7814-545C-3A95-62482DE03FD7}"/>
              </a:ext>
            </a:extLst>
          </p:cNvPr>
          <p:cNvSpPr txBox="1"/>
          <p:nvPr/>
        </p:nvSpPr>
        <p:spPr>
          <a:xfrm>
            <a:off x="5896684" y="1691118"/>
            <a:ext cx="5592483" cy="3539430"/>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RÈGLES DE RÉDACTION À RESPECTER :</a:t>
            </a:r>
          </a:p>
          <a:p>
            <a:pPr marL="285750" indent="-285750">
              <a:buFontTx/>
              <a:buChar char="-"/>
            </a:pPr>
            <a:r>
              <a:rPr lang="fr-FR" sz="1400" dirty="0">
                <a:latin typeface="Courier New" panose="02070309020205020404" pitchFamily="49" charset="0"/>
                <a:cs typeface="Courier New" panose="02070309020205020404" pitchFamily="49" charset="0"/>
              </a:rPr>
              <a:t>Ton sobre et professionnel — </a:t>
            </a:r>
            <a:r>
              <a:rPr lang="fr-FR" sz="1400" dirty="0">
                <a:solidFill>
                  <a:srgbClr val="FF0000"/>
                </a:solidFill>
                <a:latin typeface="Courier New" panose="02070309020205020404" pitchFamily="49" charset="0"/>
                <a:cs typeface="Courier New" panose="02070309020205020404" pitchFamily="49" charset="0"/>
              </a:rPr>
              <a:t>PAS de registre   judiciaire</a:t>
            </a:r>
          </a:p>
          <a:p>
            <a:pPr marL="285750" indent="-285750">
              <a:buFontTx/>
              <a:buChar char="-"/>
            </a:pPr>
            <a:r>
              <a:rPr lang="fr-FR" sz="1400" dirty="0">
                <a:latin typeface="Courier New" panose="02070309020205020404" pitchFamily="49" charset="0"/>
                <a:cs typeface="Courier New" panose="02070309020205020404" pitchFamily="49" charset="0"/>
              </a:rPr>
              <a:t>Aucune formule de type "l'expert soussigné",   "en foi de quoi", "conformément à l'ordonnance»</a:t>
            </a:r>
          </a:p>
          <a:p>
            <a:pPr marL="285750" indent="-285750">
              <a:buFontTx/>
              <a:buChar char="-"/>
            </a:pPr>
            <a:r>
              <a:rPr lang="fr-FR" sz="1400" dirty="0">
                <a:latin typeface="Courier New" panose="02070309020205020404" pitchFamily="49" charset="0"/>
                <a:cs typeface="Courier New" panose="02070309020205020404" pitchFamily="49" charset="0"/>
              </a:rPr>
              <a:t>Prose structurée — paragraphes complets</a:t>
            </a:r>
          </a:p>
          <a:p>
            <a:pPr marL="285750" indent="-285750">
              <a:buFontTx/>
              <a:buChar char="-"/>
            </a:pPr>
            <a:r>
              <a:rPr lang="fr-FR" sz="1400" dirty="0">
                <a:latin typeface="Courier New" panose="02070309020205020404" pitchFamily="49" charset="0"/>
                <a:cs typeface="Courier New" panose="02070309020205020404" pitchFamily="49" charset="0"/>
              </a:rPr>
              <a:t>Première personne pour les constats de visite   ("j'ai constaté", "j'ai relevé")</a:t>
            </a:r>
          </a:p>
          <a:p>
            <a:pPr marL="285750" indent="-285750">
              <a:buFontTx/>
              <a:buChar char="-"/>
            </a:pPr>
            <a:r>
              <a:rPr lang="fr-FR" sz="1400" dirty="0">
                <a:latin typeface="Courier New" panose="02070309020205020404" pitchFamily="49" charset="0"/>
                <a:cs typeface="Courier New" panose="02070309020205020404" pitchFamily="49" charset="0"/>
              </a:rPr>
              <a:t>Ne rien inventer hors des données fournies</a:t>
            </a:r>
          </a:p>
          <a:p>
            <a:pPr marL="285750" indent="-285750">
              <a:buFontTx/>
              <a:buChar char="-"/>
            </a:pPr>
            <a:r>
              <a:rPr lang="fr-FR" sz="1400" dirty="0">
                <a:latin typeface="Courier New" panose="02070309020205020404" pitchFamily="49" charset="0"/>
                <a:cs typeface="Courier New" panose="02070309020205020404" pitchFamily="49" charset="0"/>
              </a:rPr>
              <a:t>Éléments inconnus → "non communiqué à l'expert« </a:t>
            </a:r>
          </a:p>
          <a:p>
            <a:pPr marL="285750" indent="-285750">
              <a:buFontTx/>
              <a:buChar char="-"/>
            </a:pPr>
            <a:r>
              <a:rPr lang="fr-FR" sz="1400" dirty="0">
                <a:latin typeface="Courier New" panose="02070309020205020404" pitchFamily="49" charset="0"/>
                <a:cs typeface="Courier New" panose="02070309020205020404" pitchFamily="49" charset="0"/>
              </a:rPr>
              <a:t>Pas de formule de certification en conclusion</a:t>
            </a:r>
          </a:p>
          <a:p>
            <a:pPr marL="285750" indent="-285750">
              <a:buFontTx/>
              <a:buChar char="-"/>
            </a:pPr>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Je vais maintenant te demander de rédiger chaque section une par une. Commence par confirmer que tu as bien compris le dossier en résumant les éléments clés en 3 lignes.</a:t>
            </a:r>
          </a:p>
        </p:txBody>
      </p:sp>
      <p:sp>
        <p:nvSpPr>
          <p:cNvPr id="8" name="ZoneTexte 7">
            <a:extLst>
              <a:ext uri="{FF2B5EF4-FFF2-40B4-BE49-F238E27FC236}">
                <a16:creationId xmlns:a16="http://schemas.microsoft.com/office/drawing/2014/main" id="{B597228C-2E36-F999-A9FD-BFE39859EB23}"/>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p>
        </p:txBody>
      </p:sp>
    </p:spTree>
    <p:extLst>
      <p:ext uri="{BB962C8B-B14F-4D97-AF65-F5344CB8AC3E}">
        <p14:creationId xmlns:p14="http://schemas.microsoft.com/office/powerpoint/2010/main" val="4318502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C3D804-5C4A-4DD9-E4C2-74F71E12633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99FBB6A-A224-31D0-2DC3-8A1A65DC2AC7}"/>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2BCF670-38C7-1313-17D8-B4518EE1393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7C652AD-E38C-1441-3DCB-130A951640C6}"/>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DC37302-F4D6-EDDB-2A39-DBB7640C769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AF64B8D9-4A12-ECC2-46F8-44FC1A7EA498}"/>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Le prompt d'initialisation</a:t>
            </a:r>
          </a:p>
          <a:p>
            <a:pPr algn="ctr"/>
            <a:r>
              <a:rPr lang="fr-FR" sz="2000" b="1" dirty="0">
                <a:solidFill>
                  <a:schemeClr val="tx2">
                    <a:alpha val="60000"/>
                  </a:schemeClr>
                </a:solidFill>
                <a:latin typeface="Figtree" pitchFamily="2" charset="0"/>
              </a:rPr>
              <a:t>donner à l'IA la vision globale – un contexte</a:t>
            </a:r>
          </a:p>
        </p:txBody>
      </p:sp>
      <p:sp>
        <p:nvSpPr>
          <p:cNvPr id="13" name="Freeform: Shape 3">
            <a:extLst>
              <a:ext uri="{FF2B5EF4-FFF2-40B4-BE49-F238E27FC236}">
                <a16:creationId xmlns:a16="http://schemas.microsoft.com/office/drawing/2014/main" id="{D0F78A36-1374-37E4-30AE-B18314BA957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DD39D7E1-39F3-B7A2-263C-53627296242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D1234C48-95C0-6A58-2BD4-40E0ADF98F2C}"/>
              </a:ext>
            </a:extLst>
          </p:cNvPr>
          <p:cNvSpPr txBox="1"/>
          <p:nvPr/>
        </p:nvSpPr>
        <p:spPr>
          <a:xfrm>
            <a:off x="345738" y="1691118"/>
            <a:ext cx="5592483" cy="4616648"/>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mon </a:t>
            </a:r>
            <a:r>
              <a:rPr lang="fr-FR" sz="1400" b="1" dirty="0">
                <a:latin typeface="Courier New" panose="02070309020205020404" pitchFamily="49" charset="0"/>
                <a:cs typeface="Courier New" panose="02070309020205020404" pitchFamily="49" charset="0"/>
              </a:rPr>
              <a:t>assistant de rédaction </a:t>
            </a:r>
            <a:r>
              <a:rPr lang="fr-FR" sz="1400" dirty="0">
                <a:latin typeface="Courier New" panose="02070309020205020404" pitchFamily="49" charset="0"/>
                <a:cs typeface="Courier New" panose="02070309020205020404" pitchFamily="49" charset="0"/>
              </a:rPr>
              <a:t>pour un </a:t>
            </a:r>
            <a:r>
              <a:rPr lang="fr-FR" sz="1400" b="1" dirty="0">
                <a:latin typeface="Courier New" panose="02070309020205020404" pitchFamily="49" charset="0"/>
                <a:cs typeface="Courier New" panose="02070309020205020404" pitchFamily="49" charset="0"/>
              </a:rPr>
              <a:t>rapport d'expertise immobilière </a:t>
            </a:r>
            <a:r>
              <a:rPr lang="fr-FR" sz="1400" b="1" dirty="0">
                <a:solidFill>
                  <a:srgbClr val="FF0000"/>
                </a:solidFill>
                <a:latin typeface="Courier New" panose="02070309020205020404" pitchFamily="49" charset="0"/>
                <a:cs typeface="Courier New" panose="02070309020205020404" pitchFamily="49" charset="0"/>
              </a:rPr>
              <a:t>judiciaire</a:t>
            </a:r>
            <a:r>
              <a:rPr lang="fr-FR" sz="1400" dirty="0">
                <a:latin typeface="Courier New" panose="02070309020205020404" pitchFamily="49" charset="0"/>
                <a:cs typeface="Courier New" panose="02070309020205020404" pitchFamily="49" charset="0"/>
              </a:rPr>
              <a:t>.</a:t>
            </a:r>
          </a:p>
          <a:p>
            <a:r>
              <a:rPr lang="fr-FR" sz="1400" dirty="0">
                <a:latin typeface="Courier New" panose="02070309020205020404" pitchFamily="49" charset="0"/>
                <a:cs typeface="Courier New" panose="02070309020205020404" pitchFamily="49" charset="0"/>
              </a:rPr>
              <a:t>Voici le contexte complet du dossier — mémorise-le pour toutes les sections que je vais te demander de rédiger.</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MISSION :</a:t>
            </a:r>
          </a:p>
          <a:p>
            <a:r>
              <a:rPr lang="fr-FR" sz="1400" dirty="0">
                <a:latin typeface="Courier New" panose="02070309020205020404" pitchFamily="49" charset="0"/>
                <a:cs typeface="Courier New" panose="02070309020205020404" pitchFamily="49" charset="0"/>
              </a:rPr>
              <a:t>Type : </a:t>
            </a:r>
            <a:r>
              <a:rPr lang="fr-FR" sz="1400" dirty="0">
                <a:solidFill>
                  <a:srgbClr val="FF0000"/>
                </a:solidFill>
                <a:latin typeface="Courier New" panose="02070309020205020404" pitchFamily="49" charset="0"/>
                <a:cs typeface="Courier New" panose="02070309020205020404" pitchFamily="49" charset="0"/>
              </a:rPr>
              <a:t>expertise / judiciaire</a:t>
            </a:r>
          </a:p>
          <a:p>
            <a:r>
              <a:rPr lang="fr-FR" sz="1400" dirty="0">
                <a:latin typeface="Courier New" panose="02070309020205020404" pitchFamily="49" charset="0"/>
                <a:cs typeface="Courier New" panose="02070309020205020404" pitchFamily="49" charset="0"/>
              </a:rPr>
              <a:t>Juridiction : </a:t>
            </a:r>
            <a:r>
              <a:rPr lang="fr-FR" sz="1400" dirty="0">
                <a:solidFill>
                  <a:srgbClr val="FF0000"/>
                </a:solidFill>
                <a:latin typeface="Courier New" panose="02070309020205020404" pitchFamily="49" charset="0"/>
                <a:cs typeface="Courier New" panose="02070309020205020404" pitchFamily="49" charset="0"/>
              </a:rPr>
              <a:t>Tribunal judiciaire de [ville]</a:t>
            </a:r>
          </a:p>
          <a:p>
            <a:r>
              <a:rPr lang="fr-FR" sz="1400" dirty="0">
                <a:latin typeface="Courier New" panose="02070309020205020404" pitchFamily="49" charset="0"/>
                <a:cs typeface="Courier New" panose="02070309020205020404" pitchFamily="49" charset="0"/>
              </a:rPr>
              <a:t>Objet de la mission : </a:t>
            </a:r>
            <a:r>
              <a:rPr lang="fr-FR" sz="1400" dirty="0">
                <a:solidFill>
                  <a:srgbClr val="FF0000"/>
                </a:solidFill>
                <a:latin typeface="Courier New" panose="02070309020205020404" pitchFamily="49" charset="0"/>
                <a:cs typeface="Courier New" panose="02070309020205020404" pitchFamily="49" charset="0"/>
              </a:rPr>
              <a:t>[déterminer la valeur vénale / estimer les préjudices / etc.]</a:t>
            </a:r>
          </a:p>
          <a:p>
            <a:r>
              <a:rPr lang="fr-FR" sz="1400" dirty="0">
                <a:latin typeface="Courier New" panose="02070309020205020404" pitchFamily="49" charset="0"/>
                <a:cs typeface="Courier New" panose="02070309020205020404" pitchFamily="49" charset="0"/>
              </a:rPr>
              <a:t>Date de visite : [date]</a:t>
            </a:r>
          </a:p>
          <a:p>
            <a:r>
              <a:rPr lang="fr-FR" sz="1400" dirty="0">
                <a:latin typeface="Courier New" panose="02070309020205020404" pitchFamily="49" charset="0"/>
                <a:cs typeface="Courier New" panose="02070309020205020404" pitchFamily="49" charset="0"/>
              </a:rPr>
              <a:t>Date de valeur retenue : [date]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BIEN EXPERTISÉ :</a:t>
            </a:r>
          </a:p>
          <a:p>
            <a:r>
              <a:rPr lang="fr-FR" sz="1400" dirty="0">
                <a:latin typeface="Courier New" panose="02070309020205020404" pitchFamily="49" charset="0"/>
                <a:cs typeface="Courier New" panose="02070309020205020404" pitchFamily="49" charset="0"/>
              </a:rPr>
              <a:t>Adresse : [adresse complète]</a:t>
            </a:r>
          </a:p>
          <a:p>
            <a:r>
              <a:rPr lang="fr-FR" sz="1400" dirty="0">
                <a:latin typeface="Courier New" panose="02070309020205020404" pitchFamily="49" charset="0"/>
                <a:cs typeface="Courier New" panose="02070309020205020404" pitchFamily="49" charset="0"/>
              </a:rPr>
              <a:t>Nature : [appartement / maison / local commercial / terrain]</a:t>
            </a:r>
          </a:p>
          <a:p>
            <a:r>
              <a:rPr lang="fr-FR" sz="1400" dirty="0">
                <a:latin typeface="Courier New" panose="02070309020205020404" pitchFamily="49" charset="0"/>
                <a:cs typeface="Courier New" panose="02070309020205020404" pitchFamily="49" charset="0"/>
              </a:rPr>
              <a:t>Surface : [X] m² [Carrez si applicable]</a:t>
            </a:r>
          </a:p>
          <a:p>
            <a:r>
              <a:rPr lang="fr-FR" sz="1400" dirty="0">
                <a:latin typeface="Courier New" panose="02070309020205020404" pitchFamily="49" charset="0"/>
                <a:cs typeface="Courier New" panose="02070309020205020404" pitchFamily="49" charset="0"/>
              </a:rPr>
              <a:t>Description rapide : [2–3 lignes]</a:t>
            </a:r>
          </a:p>
          <a:p>
            <a:r>
              <a:rPr lang="fr-FR" sz="1400" dirty="0">
                <a:latin typeface="Courier New" panose="02070309020205020404" pitchFamily="49" charset="0"/>
                <a:cs typeface="Courier New" panose="02070309020205020404" pitchFamily="49" charset="0"/>
              </a:rPr>
              <a:t>État général : [vétuste / courant / rénové / neuf]</a:t>
            </a:r>
          </a:p>
        </p:txBody>
      </p:sp>
      <p:sp>
        <p:nvSpPr>
          <p:cNvPr id="6" name="ZoneTexte 5">
            <a:extLst>
              <a:ext uri="{FF2B5EF4-FFF2-40B4-BE49-F238E27FC236}">
                <a16:creationId xmlns:a16="http://schemas.microsoft.com/office/drawing/2014/main" id="{1CFCB814-561C-1BD3-40BD-4E4FDF61E313}"/>
              </a:ext>
            </a:extLst>
          </p:cNvPr>
          <p:cNvSpPr txBox="1"/>
          <p:nvPr/>
        </p:nvSpPr>
        <p:spPr>
          <a:xfrm>
            <a:off x="5896684" y="1691118"/>
            <a:ext cx="5592483" cy="4801314"/>
          </a:xfrm>
          <a:prstGeom prst="rect">
            <a:avLst/>
          </a:prstGeom>
          <a:noFill/>
        </p:spPr>
        <p:txBody>
          <a:bodyPr wrap="square" rtlCol="0">
            <a:spAutoFit/>
          </a:bodyPr>
          <a:lstStyle/>
          <a:p>
            <a:r>
              <a:rPr lang="fr-FR" sz="1400" b="1" dirty="0">
                <a:solidFill>
                  <a:srgbClr val="FF0000"/>
                </a:solidFill>
                <a:latin typeface="Courier New" panose="02070309020205020404" pitchFamily="49" charset="0"/>
                <a:cs typeface="Courier New" panose="02070309020205020404" pitchFamily="49" charset="0"/>
              </a:rPr>
              <a:t>PARTIES :</a:t>
            </a:r>
          </a:p>
          <a:p>
            <a:r>
              <a:rPr lang="fr-FR" sz="1400" dirty="0">
                <a:solidFill>
                  <a:srgbClr val="FF0000"/>
                </a:solidFill>
                <a:latin typeface="Courier New" panose="02070309020205020404" pitchFamily="49" charset="0"/>
                <a:cs typeface="Courier New" panose="02070309020205020404" pitchFamily="49" charset="0"/>
              </a:rPr>
              <a:t>Demandeur : [nom ou qualité]</a:t>
            </a:r>
          </a:p>
          <a:p>
            <a:r>
              <a:rPr lang="fr-FR" sz="1400" dirty="0">
                <a:solidFill>
                  <a:srgbClr val="FF0000"/>
                </a:solidFill>
                <a:latin typeface="Courier New" panose="02070309020205020404" pitchFamily="49" charset="0"/>
                <a:cs typeface="Courier New" panose="02070309020205020404" pitchFamily="49" charset="0"/>
              </a:rPr>
              <a:t>Défendeur : [nom ou qualité]</a:t>
            </a:r>
          </a:p>
          <a:p>
            <a:r>
              <a:rPr lang="fr-FR" sz="1400" dirty="0">
                <a:solidFill>
                  <a:srgbClr val="FF0000"/>
                </a:solidFill>
                <a:latin typeface="Courier New" panose="02070309020205020404" pitchFamily="49" charset="0"/>
                <a:cs typeface="Courier New" panose="02070309020205020404" pitchFamily="49" charset="0"/>
              </a:rPr>
              <a:t>Sapiteur(s) : [si applicable]</a:t>
            </a:r>
          </a:p>
          <a:p>
            <a:endParaRPr lang="fr-FR" sz="12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RÈGLES DE RÉDACTION À RESPECTER :</a:t>
            </a:r>
          </a:p>
          <a:p>
            <a:r>
              <a:rPr lang="fr-FR" sz="1400" dirty="0">
                <a:latin typeface="Courier New" panose="02070309020205020404" pitchFamily="49" charset="0"/>
                <a:cs typeface="Courier New" panose="02070309020205020404" pitchFamily="49" charset="0"/>
              </a:rPr>
              <a:t>- Ton sobre, technique, judiciaire — aucun superlatif ni formule commerciale</a:t>
            </a:r>
          </a:p>
          <a:p>
            <a:r>
              <a:rPr lang="fr-FR" sz="1400" dirty="0">
                <a:latin typeface="Courier New" panose="02070309020205020404" pitchFamily="49" charset="0"/>
                <a:cs typeface="Courier New" panose="02070309020205020404" pitchFamily="49" charset="0"/>
              </a:rPr>
              <a:t>- Prose structurée, paragraphes complets — pas de listes à puces dans le corps du rapport</a:t>
            </a:r>
          </a:p>
          <a:p>
            <a:r>
              <a:rPr lang="fr-FR" sz="1400" dirty="0">
                <a:latin typeface="Courier New" panose="02070309020205020404" pitchFamily="49" charset="0"/>
                <a:cs typeface="Courier New" panose="02070309020205020404" pitchFamily="49" charset="0"/>
              </a:rPr>
              <a:t>- Première personne du singulier pour les constats de visite ("j'ai constaté", "j'ai observé")</a:t>
            </a:r>
          </a:p>
          <a:p>
            <a:r>
              <a:rPr lang="fr-FR" sz="1400" dirty="0">
                <a:latin typeface="Courier New" panose="02070309020205020404" pitchFamily="49" charset="0"/>
                <a:cs typeface="Courier New" panose="02070309020205020404" pitchFamily="49" charset="0"/>
              </a:rPr>
              <a:t>- Troisième personne pour les références extérieures ("les données DVF indiquent", "le marché montre")</a:t>
            </a:r>
          </a:p>
          <a:p>
            <a:r>
              <a:rPr lang="fr-FR" sz="1400" dirty="0">
                <a:latin typeface="Courier New" panose="02070309020205020404" pitchFamily="49" charset="0"/>
                <a:cs typeface="Courier New" panose="02070309020205020404" pitchFamily="49" charset="0"/>
              </a:rPr>
              <a:t>- Longueur cible par section : [préciser si souhaité]</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Je vais maintenant te demander de rédiger chaque section une par une. Commence par confirmer que tu as bien compris le dossier en résumant les éléments clés en 3 lignes.</a:t>
            </a:r>
          </a:p>
        </p:txBody>
      </p:sp>
      <p:sp>
        <p:nvSpPr>
          <p:cNvPr id="8" name="ZoneTexte 7">
            <a:extLst>
              <a:ext uri="{FF2B5EF4-FFF2-40B4-BE49-F238E27FC236}">
                <a16:creationId xmlns:a16="http://schemas.microsoft.com/office/drawing/2014/main" id="{7DD2BAD6-C254-C660-5F04-29978FAD2191}"/>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Tree>
    <p:extLst>
      <p:ext uri="{BB962C8B-B14F-4D97-AF65-F5344CB8AC3E}">
        <p14:creationId xmlns:p14="http://schemas.microsoft.com/office/powerpoint/2010/main" val="41303569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BFA7601-E645-9C98-E98C-CBC8A919EB1B}"/>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AAF469B8-1DCF-1FA2-12EE-20668091BEB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AA6F6E8-DD2E-2980-0982-B812EA287A7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FA0721B2-7CA1-248E-0A0B-5C685986EA6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6A9C67DD-3328-A00C-1487-76B4446758E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2F2E1A3A-F49E-57F0-A8D7-AF5542376E0F}"/>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7D2ACF10-554C-F93A-46C2-F44B9F5D4DD0}"/>
              </a:ext>
            </a:extLst>
          </p:cNvPr>
          <p:cNvSpPr txBox="1"/>
          <p:nvPr/>
        </p:nvSpPr>
        <p:spPr>
          <a:xfrm>
            <a:off x="242578" y="2183677"/>
            <a:ext cx="11376362" cy="3359061"/>
          </a:xfrm>
          <a:prstGeom prst="rect">
            <a:avLst/>
          </a:prstGeom>
          <a:noFill/>
        </p:spPr>
        <p:txBody>
          <a:bodyPr wrap="square" rtlCol="0">
            <a:spAutoFit/>
          </a:bodyPr>
          <a:lstStyle/>
          <a:p>
            <a:pPr>
              <a:lnSpc>
                <a:spcPct val="150000"/>
              </a:lnSpc>
            </a:pPr>
            <a:r>
              <a:rPr lang="fr-FR" sz="2400" b="1" dirty="0">
                <a:latin typeface="Figtree"/>
                <a:cs typeface="Courier New" panose="02070309020205020404" pitchFamily="49" charset="0"/>
              </a:rPr>
              <a:t>Confirmation produite par l'IA :</a:t>
            </a:r>
          </a:p>
          <a:p>
            <a:pPr>
              <a:lnSpc>
                <a:spcPct val="150000"/>
              </a:lnSpc>
            </a:pPr>
            <a:r>
              <a:rPr lang="fr-FR" sz="2400" dirty="0">
                <a:latin typeface="Figtree"/>
                <a:cs typeface="Courier New" panose="02070309020205020404" pitchFamily="49" charset="0"/>
              </a:rPr>
              <a:t>J'ai bien pris en compte le dossier. Il s'agit d'une expertise judiciaire ordonnée par le Tribunal judiciaire de Lyon (14e chambre civile) dans le cadre d'une procédure de licitation entre cohéritiers, portant sur un appartement T4 de 94 m² Carrez situé au 3e étage avec ascenseur d'un immeuble haussmannien de 1898, sis 23 rue Boileau, 69006 Lyon. La mission consiste à déterminer la valeur vénale libre du bien à la date du 15 octobre 2024.</a:t>
            </a:r>
          </a:p>
        </p:txBody>
      </p:sp>
      <p:sp>
        <p:nvSpPr>
          <p:cNvPr id="7" name="ZoneTexte 6">
            <a:extLst>
              <a:ext uri="{FF2B5EF4-FFF2-40B4-BE49-F238E27FC236}">
                <a16:creationId xmlns:a16="http://schemas.microsoft.com/office/drawing/2014/main" id="{7FE62E10-46A1-0D61-9B9F-41AE90D080FE}"/>
              </a:ext>
            </a:extLst>
          </p:cNvPr>
          <p:cNvSpPr txBox="1"/>
          <p:nvPr/>
        </p:nvSpPr>
        <p:spPr>
          <a:xfrm>
            <a:off x="242578" y="1183774"/>
            <a:ext cx="308564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1" name="Rectangle: Rounded Corners 14">
            <a:extLst>
              <a:ext uri="{FF2B5EF4-FFF2-40B4-BE49-F238E27FC236}">
                <a16:creationId xmlns:a16="http://schemas.microsoft.com/office/drawing/2014/main" id="{5E31F904-71C3-B05C-4F0B-CECF535CD19C}"/>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TextBox 1">
            <a:extLst>
              <a:ext uri="{FF2B5EF4-FFF2-40B4-BE49-F238E27FC236}">
                <a16:creationId xmlns:a16="http://schemas.microsoft.com/office/drawing/2014/main" id="{B6A3716F-4D6F-E0A6-1CC2-14EC02B24BE9}"/>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Le prompt d'initialisation</a:t>
            </a:r>
          </a:p>
          <a:p>
            <a:pPr algn="ctr"/>
            <a:r>
              <a:rPr lang="fr-FR" sz="2000" b="1" dirty="0">
                <a:solidFill>
                  <a:schemeClr val="tx2">
                    <a:alpha val="60000"/>
                  </a:schemeClr>
                </a:solidFill>
                <a:latin typeface="Figtree" pitchFamily="2" charset="0"/>
              </a:rPr>
              <a:t>donner à l'IA la vision globale – un contexte</a:t>
            </a:r>
          </a:p>
        </p:txBody>
      </p:sp>
    </p:spTree>
    <p:extLst>
      <p:ext uri="{BB962C8B-B14F-4D97-AF65-F5344CB8AC3E}">
        <p14:creationId xmlns:p14="http://schemas.microsoft.com/office/powerpoint/2010/main" val="4939878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7FC458D-B4CC-3959-6AFE-D02C4B2F26B8}"/>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5651D14C-CB30-CFCF-BCB2-2D9D920300B6}"/>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5327E1F-8F9A-863A-8CE8-56201A5288E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9F08FA45-FD7F-D07E-3E3A-B727A5FBDBA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9269FF15-3ECC-35B7-3110-DA8B9FE7291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A61CCF88-4ECE-B820-288F-BEE78BEB9C56}"/>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09B6426B-C0FF-6599-A003-03944CD35AE5}"/>
              </a:ext>
            </a:extLst>
          </p:cNvPr>
          <p:cNvSpPr txBox="1"/>
          <p:nvPr/>
        </p:nvSpPr>
        <p:spPr>
          <a:xfrm>
            <a:off x="345738" y="1901185"/>
            <a:ext cx="5592483" cy="4185761"/>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Rédige la section </a:t>
            </a:r>
            <a:r>
              <a:rPr lang="fr-FR" sz="1400" b="1" dirty="0">
                <a:solidFill>
                  <a:srgbClr val="00B050"/>
                </a:solidFill>
                <a:latin typeface="Courier New" panose="02070309020205020404" pitchFamily="49" charset="0"/>
                <a:cs typeface="Courier New" panose="02070309020205020404" pitchFamily="49" charset="0"/>
              </a:rPr>
              <a:t>«Cadre et objet de la mission" </a:t>
            </a:r>
            <a:r>
              <a:rPr lang="fr-FR" sz="1400" dirty="0">
                <a:latin typeface="Courier New" panose="02070309020205020404" pitchFamily="49" charset="0"/>
                <a:cs typeface="Courier New" panose="02070309020205020404" pitchFamily="49" charset="0"/>
              </a:rPr>
              <a:t>d'un rapport d'expertise [amiable] à partir des données suivantes.</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STRUCTURE :</a:t>
            </a:r>
          </a:p>
          <a:p>
            <a:r>
              <a:rPr lang="fr-FR" sz="1400" b="1" dirty="0">
                <a:latin typeface="Courier New" panose="02070309020205020404" pitchFamily="49" charset="0"/>
                <a:cs typeface="Courier New" panose="02070309020205020404" pitchFamily="49" charset="0"/>
              </a:rPr>
              <a:t>— Mandant et nature de la mission</a:t>
            </a:r>
          </a:p>
          <a:p>
            <a:r>
              <a:rPr lang="fr-FR" sz="1400" b="1" dirty="0">
                <a:latin typeface="Courier New" panose="02070309020205020404" pitchFamily="49" charset="0"/>
                <a:cs typeface="Courier New" panose="02070309020205020404" pitchFamily="49" charset="0"/>
              </a:rPr>
              <a:t>— Bien concerné et adresse</a:t>
            </a:r>
          </a:p>
          <a:p>
            <a:r>
              <a:rPr lang="fr-FR" sz="1400" b="1" dirty="0">
                <a:latin typeface="Courier New" panose="02070309020205020404" pitchFamily="49" charset="0"/>
                <a:cs typeface="Courier New" panose="02070309020205020404" pitchFamily="49" charset="0"/>
              </a:rPr>
              <a:t>— Date de visite et date de valeur</a:t>
            </a:r>
          </a:p>
          <a:p>
            <a:r>
              <a:rPr lang="fr-FR" sz="1400" b="1" dirty="0">
                <a:latin typeface="Courier New" panose="02070309020205020404" pitchFamily="49" charset="0"/>
                <a:cs typeface="Courier New" panose="02070309020205020404" pitchFamily="49" charset="0"/>
              </a:rPr>
              <a:t>— Pièces communiquées</a:t>
            </a:r>
          </a:p>
          <a:p>
            <a:endParaRPr lang="fr-FR" sz="1400" b="1"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DE LA MISSION </a:t>
            </a:r>
            <a:r>
              <a:rPr lang="fr-FR" sz="1400" dirty="0">
                <a:latin typeface="Courier New" panose="02070309020205020404" pitchFamily="49" charset="0"/>
                <a:cs typeface="Courier New" panose="02070309020205020404" pitchFamily="49" charset="0"/>
              </a:rPr>
              <a:t>:</a:t>
            </a:r>
          </a:p>
          <a:p>
            <a:r>
              <a:rPr lang="fr-FR" sz="1400" b="1" dirty="0">
                <a:latin typeface="Courier New" panose="02070309020205020404" pitchFamily="49" charset="0"/>
                <a:cs typeface="Courier New" panose="02070309020205020404" pitchFamily="49" charset="0"/>
              </a:rPr>
              <a:t>(ne rien inventer hors de ces éléments) :</a:t>
            </a:r>
          </a:p>
          <a:p>
            <a:pPr marL="285750" indent="-285750">
              <a:buFont typeface="Arial" panose="020B0604020202020204" pitchFamily="34" charset="0"/>
              <a:buChar char="•"/>
            </a:pPr>
            <a:r>
              <a:rPr lang="fr-FR" sz="1400" b="1" dirty="0">
                <a:latin typeface="Courier New" panose="02070309020205020404" pitchFamily="49" charset="0"/>
                <a:cs typeface="Courier New" panose="02070309020205020404" pitchFamily="49" charset="0"/>
              </a:rPr>
              <a:t>Mandant : notaire Paris 11</a:t>
            </a:r>
            <a:r>
              <a:rPr lang="fr-FR" sz="1400" b="1" baseline="30000" dirty="0">
                <a:latin typeface="Courier New" panose="02070309020205020404" pitchFamily="49" charset="0"/>
                <a:cs typeface="Courier New" panose="02070309020205020404" pitchFamily="49" charset="0"/>
              </a:rPr>
              <a:t>e</a:t>
            </a:r>
            <a:endParaRPr lang="fr-FR" sz="1400" b="1"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fr-FR" sz="1400" b="1" dirty="0">
                <a:latin typeface="Courier New" panose="02070309020205020404" pitchFamily="49" charset="0"/>
                <a:cs typeface="Courier New" panose="02070309020205020404" pitchFamily="49" charset="0"/>
              </a:rPr>
              <a:t>Mission : valeur vénale dans le cadre           d'une succession</a:t>
            </a:r>
          </a:p>
          <a:p>
            <a:pPr marL="285750" indent="-285750">
              <a:buFont typeface="Arial" panose="020B0604020202020204" pitchFamily="34" charset="0"/>
              <a:buChar char="•"/>
            </a:pPr>
            <a:r>
              <a:rPr lang="fr-FR" sz="1400" b="1" dirty="0">
                <a:latin typeface="Courier New" panose="02070309020205020404" pitchFamily="49" charset="0"/>
                <a:cs typeface="Courier New" panose="02070309020205020404" pitchFamily="49" charset="0"/>
              </a:rPr>
              <a:t>Bien : appartement T3, rue Keller, Paris 11</a:t>
            </a:r>
            <a:r>
              <a:rPr lang="fr-FR" sz="1400" b="1" baseline="30000" dirty="0">
                <a:latin typeface="Courier New" panose="02070309020205020404" pitchFamily="49" charset="0"/>
                <a:cs typeface="Courier New" panose="02070309020205020404" pitchFamily="49" charset="0"/>
              </a:rPr>
              <a:t>e</a:t>
            </a:r>
            <a:endParaRPr lang="fr-FR" sz="1400" b="1"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fr-FR" sz="1400" b="1" dirty="0">
                <a:latin typeface="Courier New" panose="02070309020205020404" pitchFamily="49" charset="0"/>
                <a:cs typeface="Courier New" panose="02070309020205020404" pitchFamily="49" charset="0"/>
              </a:rPr>
              <a:t>Date de visite : [date]</a:t>
            </a:r>
          </a:p>
          <a:p>
            <a:pPr marL="285750" indent="-285750">
              <a:buFont typeface="Arial" panose="020B0604020202020204" pitchFamily="34" charset="0"/>
              <a:buChar char="•"/>
            </a:pPr>
            <a:r>
              <a:rPr lang="fr-FR" sz="1400" b="1" dirty="0">
                <a:latin typeface="Courier New" panose="02070309020205020404" pitchFamily="49" charset="0"/>
                <a:cs typeface="Courier New" panose="02070309020205020404" pitchFamily="49" charset="0"/>
              </a:rPr>
              <a:t>Date de valeur : [date]</a:t>
            </a:r>
          </a:p>
          <a:p>
            <a:endParaRPr lang="fr-FR" sz="1400" dirty="0">
              <a:latin typeface="Courier New" panose="02070309020205020404" pitchFamily="49" charset="0"/>
              <a:cs typeface="Courier New" panose="02070309020205020404" pitchFamily="49" charset="0"/>
            </a:endParaRPr>
          </a:p>
        </p:txBody>
      </p:sp>
      <p:sp>
        <p:nvSpPr>
          <p:cNvPr id="6" name="ZoneTexte 5">
            <a:extLst>
              <a:ext uri="{FF2B5EF4-FFF2-40B4-BE49-F238E27FC236}">
                <a16:creationId xmlns:a16="http://schemas.microsoft.com/office/drawing/2014/main" id="{5270C58E-65E7-A20B-D856-B259AB21CE58}"/>
              </a:ext>
            </a:extLst>
          </p:cNvPr>
          <p:cNvSpPr txBox="1"/>
          <p:nvPr/>
        </p:nvSpPr>
        <p:spPr>
          <a:xfrm>
            <a:off x="5896684" y="1901185"/>
            <a:ext cx="5592483" cy="3108543"/>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PIECES COMMUNIQUEES :</a:t>
            </a:r>
          </a:p>
          <a:p>
            <a:r>
              <a:rPr lang="fr-FR" sz="1400" dirty="0">
                <a:latin typeface="Courier New" panose="02070309020205020404" pitchFamily="49" charset="0"/>
                <a:cs typeface="Courier New" panose="02070309020205020404" pitchFamily="49" charset="0"/>
              </a:rPr>
              <a:t>— Acte de propriété (2009)</a:t>
            </a:r>
          </a:p>
          <a:p>
            <a:r>
              <a:rPr lang="fr-FR" sz="1400" dirty="0">
                <a:latin typeface="Courier New" panose="02070309020205020404" pitchFamily="49" charset="0"/>
                <a:cs typeface="Courier New" panose="02070309020205020404" pitchFamily="49" charset="0"/>
              </a:rPr>
              <a:t>— Règlement de copropriété</a:t>
            </a:r>
          </a:p>
          <a:p>
            <a:r>
              <a:rPr lang="fr-FR" sz="1400" dirty="0">
                <a:latin typeface="Courier New" panose="02070309020205020404" pitchFamily="49" charset="0"/>
                <a:cs typeface="Courier New" panose="02070309020205020404" pitchFamily="49" charset="0"/>
              </a:rPr>
              <a:t>— PV AG 2022 et 2023</a:t>
            </a:r>
          </a:p>
          <a:p>
            <a:r>
              <a:rPr lang="fr-FR" sz="1400" dirty="0">
                <a:latin typeface="Courier New" panose="02070309020205020404" pitchFamily="49" charset="0"/>
                <a:cs typeface="Courier New" panose="02070309020205020404" pitchFamily="49" charset="0"/>
              </a:rPr>
              <a:t>— DPE étiquette E</a:t>
            </a:r>
          </a:p>
          <a:p>
            <a:r>
              <a:rPr lang="fr-FR" sz="1400" dirty="0">
                <a:latin typeface="Courier New" panose="02070309020205020404" pitchFamily="49" charset="0"/>
                <a:cs typeface="Courier New" panose="02070309020205020404" pitchFamily="49" charset="0"/>
              </a:rPr>
              <a:t>— Plans de l'appartement</a:t>
            </a:r>
          </a:p>
          <a:p>
            <a:r>
              <a:rPr lang="fr-FR" sz="1400" dirty="0">
                <a:latin typeface="Courier New" panose="02070309020205020404" pitchFamily="49" charset="0"/>
                <a:cs typeface="Courier New" panose="02070309020205020404" pitchFamily="49" charset="0"/>
              </a:rPr>
              <a:t>— Relevé de charges (2 200 €/an)</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RÈGLES DE RÉDACTION À RESPECTER :</a:t>
            </a:r>
          </a:p>
          <a:p>
            <a:pPr marL="285750" indent="-285750">
              <a:buFontTx/>
              <a:buChar char="-"/>
            </a:pPr>
            <a:r>
              <a:rPr lang="fr-FR" sz="1400" dirty="0">
                <a:latin typeface="Courier New" panose="02070309020205020404" pitchFamily="49" charset="0"/>
                <a:cs typeface="Courier New" panose="02070309020205020404" pitchFamily="49" charset="0"/>
              </a:rPr>
              <a:t>Prose sobre et technique</a:t>
            </a:r>
          </a:p>
          <a:p>
            <a:pPr marL="285750" indent="-285750">
              <a:buFontTx/>
              <a:buChar char="-"/>
            </a:pPr>
            <a:r>
              <a:rPr lang="fr-FR" sz="1400" dirty="0">
                <a:latin typeface="Courier New" panose="02070309020205020404" pitchFamily="49" charset="0"/>
                <a:cs typeface="Courier New" panose="02070309020205020404" pitchFamily="49" charset="0"/>
              </a:rPr>
              <a:t>Paragraphes structurés sans liste à puces</a:t>
            </a:r>
          </a:p>
          <a:p>
            <a:pPr marL="285750" indent="-285750">
              <a:buFontTx/>
              <a:buChar char="-"/>
            </a:pPr>
            <a:r>
              <a:rPr lang="fr-FR" sz="1400" dirty="0">
                <a:latin typeface="Courier New" panose="02070309020205020404" pitchFamily="49" charset="0"/>
                <a:cs typeface="Courier New" panose="02070309020205020404" pitchFamily="49" charset="0"/>
              </a:rPr>
              <a:t>Première personne du singulier : « J’ai constaté »,   « J’ai remarqué » </a:t>
            </a:r>
          </a:p>
          <a:p>
            <a:pPr marL="285750" indent="-285750">
              <a:buFontTx/>
              <a:buChar char="-"/>
            </a:pPr>
            <a:r>
              <a:rPr lang="fr-FR" sz="1400" dirty="0">
                <a:latin typeface="Courier New" panose="02070309020205020404" pitchFamily="49" charset="0"/>
                <a:cs typeface="Courier New" panose="02070309020205020404" pitchFamily="49" charset="0"/>
              </a:rPr>
              <a:t>Longueur cible : 80 à 100 mots</a:t>
            </a:r>
          </a:p>
        </p:txBody>
      </p:sp>
      <p:sp>
        <p:nvSpPr>
          <p:cNvPr id="8" name="ZoneTexte 7">
            <a:extLst>
              <a:ext uri="{FF2B5EF4-FFF2-40B4-BE49-F238E27FC236}">
                <a16:creationId xmlns:a16="http://schemas.microsoft.com/office/drawing/2014/main" id="{4313EC68-4C0E-3DFF-0570-BB20F150312E}"/>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9" name="Rectangle: Rounded Corners 14">
            <a:extLst>
              <a:ext uri="{FF2B5EF4-FFF2-40B4-BE49-F238E27FC236}">
                <a16:creationId xmlns:a16="http://schemas.microsoft.com/office/drawing/2014/main" id="{E1057E42-9B9B-730D-D240-17035FACD5BF}"/>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1">
            <a:extLst>
              <a:ext uri="{FF2B5EF4-FFF2-40B4-BE49-F238E27FC236}">
                <a16:creationId xmlns:a16="http://schemas.microsoft.com/office/drawing/2014/main" id="{B8581676-65FA-496D-5731-8C13B35F09EC}"/>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1 – Cadre et objet de la mission</a:t>
            </a:r>
          </a:p>
        </p:txBody>
      </p:sp>
    </p:spTree>
    <p:extLst>
      <p:ext uri="{BB962C8B-B14F-4D97-AF65-F5344CB8AC3E}">
        <p14:creationId xmlns:p14="http://schemas.microsoft.com/office/powerpoint/2010/main" val="19471510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2690A03-ECF1-6CEE-F5FF-BAA969A98E08}"/>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9ACDC5DB-72C7-0DFB-3099-ED2979C5394F}"/>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8B2164A-0FEA-E561-A5F7-E0A5984946E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3D34F20B-9E3F-BA21-72A8-AB8BB35EEEC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79BC0E11-EA92-4E78-B61C-C5C0E2A42F2D}"/>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9F199433-5FD9-2DE3-C01D-7B49ED4F24F8}"/>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E7D13972-700B-9697-23D2-092C8266BA12}"/>
              </a:ext>
            </a:extLst>
          </p:cNvPr>
          <p:cNvSpPr txBox="1"/>
          <p:nvPr/>
        </p:nvSpPr>
        <p:spPr>
          <a:xfrm>
            <a:off x="624075" y="2617146"/>
            <a:ext cx="11324909" cy="3046988"/>
          </a:xfrm>
          <a:prstGeom prst="rect">
            <a:avLst/>
          </a:prstGeom>
          <a:noFill/>
        </p:spPr>
        <p:txBody>
          <a:bodyPr wrap="square" rtlCol="0">
            <a:spAutoFit/>
          </a:bodyPr>
          <a:lstStyle/>
          <a:p>
            <a:r>
              <a:rPr lang="fr-FR" sz="2400" dirty="0">
                <a:latin typeface="Figtree"/>
                <a:cs typeface="Courier New" panose="02070309020205020404" pitchFamily="49" charset="0"/>
              </a:rPr>
              <a:t>Dans le cadre d'une succession, un notaire exerçant à Paris m'a confié la mission d'estimer la valeur vénale de l'appartement situé rue Keller, dans le 11e arrondissement de Paris, à la date du [date]. </a:t>
            </a:r>
          </a:p>
          <a:p>
            <a:endParaRPr lang="fr-FR" sz="2400" dirty="0">
              <a:latin typeface="Figtree"/>
              <a:cs typeface="Courier New" panose="02070309020205020404" pitchFamily="49" charset="0"/>
            </a:endParaRPr>
          </a:p>
          <a:p>
            <a:r>
              <a:rPr lang="fr-FR" sz="2400" dirty="0">
                <a:latin typeface="Figtree"/>
                <a:cs typeface="Courier New" panose="02070309020205020404" pitchFamily="49" charset="0"/>
              </a:rPr>
              <a:t>J'ai procédé à la visite des lieux le [date]. Les pièces suivantes m'ont été communiquées préalablement : acte de propriété (2009), règlement de copropriété, procès-verbaux d'assemblée générale 2022 et 2023, diagnostic de performance énergétique (étiquette E), plans de l'appartement, relevé de charges annuelles (2 200 €).</a:t>
            </a:r>
          </a:p>
        </p:txBody>
      </p:sp>
      <p:sp>
        <p:nvSpPr>
          <p:cNvPr id="8" name="ZoneTexte 7">
            <a:extLst>
              <a:ext uri="{FF2B5EF4-FFF2-40B4-BE49-F238E27FC236}">
                <a16:creationId xmlns:a16="http://schemas.microsoft.com/office/drawing/2014/main" id="{198078D8-7F12-8068-2241-90ED7F5B6228}"/>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9" name="Rectangle: Rounded Corners 14">
            <a:extLst>
              <a:ext uri="{FF2B5EF4-FFF2-40B4-BE49-F238E27FC236}">
                <a16:creationId xmlns:a16="http://schemas.microsoft.com/office/drawing/2014/main" id="{8B028245-5B20-D27D-0399-A32C02B329A6}"/>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1">
            <a:extLst>
              <a:ext uri="{FF2B5EF4-FFF2-40B4-BE49-F238E27FC236}">
                <a16:creationId xmlns:a16="http://schemas.microsoft.com/office/drawing/2014/main" id="{0ABED9C5-20BF-EA38-27F4-ABF651B6B691}"/>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1 – Cadre et objet de la mission</a:t>
            </a:r>
          </a:p>
        </p:txBody>
      </p:sp>
      <p:sp>
        <p:nvSpPr>
          <p:cNvPr id="2" name="ZoneTexte 1">
            <a:extLst>
              <a:ext uri="{FF2B5EF4-FFF2-40B4-BE49-F238E27FC236}">
                <a16:creationId xmlns:a16="http://schemas.microsoft.com/office/drawing/2014/main" id="{DDA33F60-9B83-4D69-1381-CAC85AC91F6E}"/>
              </a:ext>
            </a:extLst>
          </p:cNvPr>
          <p:cNvSpPr txBox="1"/>
          <p:nvPr/>
        </p:nvSpPr>
        <p:spPr>
          <a:xfrm>
            <a:off x="624076" y="2020458"/>
            <a:ext cx="3607911" cy="738664"/>
          </a:xfrm>
          <a:prstGeom prst="rect">
            <a:avLst/>
          </a:prstGeom>
          <a:noFill/>
        </p:spPr>
        <p:txBody>
          <a:bodyPr wrap="none" rtlCol="0">
            <a:spAutoFit/>
          </a:bodyPr>
          <a:lstStyle/>
          <a:p>
            <a:r>
              <a:rPr lang="fr-FR" sz="2400" b="1" dirty="0">
                <a:latin typeface="Figtree"/>
              </a:rPr>
              <a:t>Ce que produit ce prompt :</a:t>
            </a:r>
            <a:endParaRPr lang="fr-FR" sz="2400" dirty="0">
              <a:latin typeface="Figtree"/>
            </a:endParaRPr>
          </a:p>
          <a:p>
            <a:endParaRPr lang="fr-FR" dirty="0"/>
          </a:p>
        </p:txBody>
      </p:sp>
    </p:spTree>
    <p:extLst>
      <p:ext uri="{BB962C8B-B14F-4D97-AF65-F5344CB8AC3E}">
        <p14:creationId xmlns:p14="http://schemas.microsoft.com/office/powerpoint/2010/main" val="13489543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69B7935-C9CE-0E67-E6B0-1760A6D215B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50A33E75-972F-7A41-44E7-914B56A8A06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DC3FCDC-7186-2912-F85B-C1420FFC278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B4F5DF57-D227-9842-F804-4FEF6F99043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CC0F5769-79D3-69E4-8E31-680AD59468E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6E1D8A9F-FA5F-92CE-E6EA-921BA3B071EF}"/>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DB2CB924-A496-63FE-6D9E-F798FB26209F}"/>
              </a:ext>
            </a:extLst>
          </p:cNvPr>
          <p:cNvSpPr txBox="1"/>
          <p:nvPr/>
        </p:nvSpPr>
        <p:spPr>
          <a:xfrm>
            <a:off x="345738" y="1901185"/>
            <a:ext cx="5592483" cy="4401205"/>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agréé par la cour d'appel de [ville].Rédige la section "Mission et cadre de l'expertise" d'un rapport d'expertise judiciaire à partir des données suivantes.</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DE LA MISSION </a:t>
            </a:r>
            <a:r>
              <a:rPr lang="fr-FR" sz="1400" dirty="0">
                <a:latin typeface="Courier New" panose="02070309020205020404" pitchFamily="49" charset="0"/>
                <a:cs typeface="Courier New" panose="02070309020205020404" pitchFamily="49" charset="0"/>
              </a:rPr>
              <a:t>:</a:t>
            </a:r>
          </a:p>
          <a:p>
            <a:r>
              <a:rPr lang="fr-FR" sz="1400" b="1" dirty="0">
                <a:latin typeface="Courier New" panose="02070309020205020404" pitchFamily="49" charset="0"/>
                <a:cs typeface="Courier New" panose="02070309020205020404" pitchFamily="49" charset="0"/>
              </a:rPr>
              <a:t>Nature de la mission </a:t>
            </a:r>
            <a:r>
              <a:rPr lang="fr-FR" sz="1400" dirty="0">
                <a:latin typeface="Courier New" panose="02070309020205020404" pitchFamily="49" charset="0"/>
                <a:cs typeface="Courier New" panose="02070309020205020404" pitchFamily="49" charset="0"/>
              </a:rPr>
              <a:t>: [judiciaire]</a:t>
            </a:r>
          </a:p>
          <a:p>
            <a:r>
              <a:rPr lang="fr-FR" sz="1400" b="1" dirty="0">
                <a:latin typeface="Courier New" panose="02070309020205020404" pitchFamily="49" charset="0"/>
                <a:cs typeface="Courier New" panose="02070309020205020404" pitchFamily="49" charset="0"/>
              </a:rPr>
              <a:t>Juridiction</a:t>
            </a:r>
            <a:r>
              <a:rPr lang="fr-FR" sz="1400" dirty="0">
                <a:latin typeface="Courier New" panose="02070309020205020404" pitchFamily="49" charset="0"/>
                <a:cs typeface="Courier New" panose="02070309020205020404" pitchFamily="49" charset="0"/>
              </a:rPr>
              <a:t> : [Tribunal judiciaire de X / Cour d'appel de X]</a:t>
            </a:r>
          </a:p>
          <a:p>
            <a:r>
              <a:rPr lang="fr-FR" sz="1400" b="1" dirty="0">
                <a:latin typeface="Courier New" panose="02070309020205020404" pitchFamily="49" charset="0"/>
                <a:cs typeface="Courier New" panose="02070309020205020404" pitchFamily="49" charset="0"/>
              </a:rPr>
              <a:t>Numéro de dossier</a:t>
            </a:r>
            <a:r>
              <a:rPr lang="fr-FR" sz="1400" dirty="0">
                <a:latin typeface="Courier New" panose="02070309020205020404" pitchFamily="49" charset="0"/>
                <a:cs typeface="Courier New" panose="02070309020205020404" pitchFamily="49" charset="0"/>
              </a:rPr>
              <a:t> : [RG XXXX/XXXXX]</a:t>
            </a:r>
          </a:p>
          <a:p>
            <a:r>
              <a:rPr lang="fr-FR" sz="1400" b="1" dirty="0">
                <a:latin typeface="Courier New" panose="02070309020205020404" pitchFamily="49" charset="0"/>
                <a:cs typeface="Courier New" panose="02070309020205020404" pitchFamily="49" charset="0"/>
              </a:rPr>
              <a:t>Magistrat ordonnateur </a:t>
            </a:r>
            <a:r>
              <a:rPr lang="fr-FR" sz="1400" dirty="0">
                <a:latin typeface="Courier New" panose="02070309020205020404" pitchFamily="49" charset="0"/>
                <a:cs typeface="Courier New" panose="02070309020205020404" pitchFamily="49" charset="0"/>
              </a:rPr>
              <a:t>: [Madame/Monsieur le juge X, Juge des référés / JEX / Chambre X]</a:t>
            </a:r>
          </a:p>
          <a:p>
            <a:r>
              <a:rPr lang="fr-FR" sz="1400" b="1" dirty="0">
                <a:latin typeface="Courier New" panose="02070309020205020404" pitchFamily="49" charset="0"/>
                <a:cs typeface="Courier New" panose="02070309020205020404" pitchFamily="49" charset="0"/>
              </a:rPr>
              <a:t>Date de l'ordonnance ou lettre de mission </a:t>
            </a:r>
            <a:r>
              <a:rPr lang="fr-FR" sz="1400" dirty="0">
                <a:latin typeface="Courier New" panose="02070309020205020404" pitchFamily="49" charset="0"/>
                <a:cs typeface="Courier New" panose="02070309020205020404" pitchFamily="49" charset="0"/>
              </a:rPr>
              <a:t>: [date]</a:t>
            </a:r>
          </a:p>
          <a:p>
            <a:r>
              <a:rPr lang="fr-FR" sz="1400" b="1" dirty="0">
                <a:latin typeface="Courier New" panose="02070309020205020404" pitchFamily="49" charset="0"/>
                <a:cs typeface="Courier New" panose="02070309020205020404" pitchFamily="49" charset="0"/>
              </a:rPr>
              <a:t>Date de la visite des lieux </a:t>
            </a:r>
            <a:r>
              <a:rPr lang="fr-FR" sz="1400" dirty="0">
                <a:latin typeface="Courier New" panose="02070309020205020404" pitchFamily="49" charset="0"/>
                <a:cs typeface="Courier New" panose="02070309020205020404" pitchFamily="49" charset="0"/>
              </a:rPr>
              <a:t>: [date]</a:t>
            </a:r>
          </a:p>
          <a:p>
            <a:r>
              <a:rPr lang="fr-FR" sz="1400" b="1" dirty="0">
                <a:latin typeface="Courier New" panose="02070309020205020404" pitchFamily="49" charset="0"/>
                <a:cs typeface="Courier New" panose="02070309020205020404" pitchFamily="49" charset="0"/>
              </a:rPr>
              <a:t>Date de dépôt du rapport : </a:t>
            </a:r>
            <a:r>
              <a:rPr lang="fr-FR" sz="1400" dirty="0">
                <a:latin typeface="Courier New" panose="02070309020205020404" pitchFamily="49" charset="0"/>
                <a:cs typeface="Courier New" panose="02070309020205020404" pitchFamily="49" charset="0"/>
              </a:rPr>
              <a:t>[date prévue ou effective]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OBJET DE LA MISSION </a:t>
            </a:r>
            <a:r>
              <a:rPr lang="fr-FR" sz="1400" dirty="0">
                <a:latin typeface="Courier New" panose="02070309020205020404" pitchFamily="49" charset="0"/>
                <a:cs typeface="Courier New" panose="02070309020205020404" pitchFamily="49" charset="0"/>
              </a:rPr>
              <a:t>:[Coller ici l'intégralité du texte de la mission tel qu'il figure dans l'ordonnance]</a:t>
            </a:r>
          </a:p>
        </p:txBody>
      </p:sp>
      <p:sp>
        <p:nvSpPr>
          <p:cNvPr id="6" name="ZoneTexte 5">
            <a:extLst>
              <a:ext uri="{FF2B5EF4-FFF2-40B4-BE49-F238E27FC236}">
                <a16:creationId xmlns:a16="http://schemas.microsoft.com/office/drawing/2014/main" id="{086A68B5-FF4B-5EA0-A2B0-7E44A833E465}"/>
              </a:ext>
            </a:extLst>
          </p:cNvPr>
          <p:cNvSpPr txBox="1"/>
          <p:nvPr/>
        </p:nvSpPr>
        <p:spPr>
          <a:xfrm>
            <a:off x="5896684" y="1901185"/>
            <a:ext cx="5592483" cy="4370427"/>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PARTIES :</a:t>
            </a:r>
          </a:p>
          <a:p>
            <a:r>
              <a:rPr lang="fr-FR" sz="1400" dirty="0">
                <a:latin typeface="Courier New" panose="02070309020205020404" pitchFamily="49" charset="0"/>
                <a:cs typeface="Courier New" panose="02070309020205020404" pitchFamily="49" charset="0"/>
              </a:rPr>
              <a:t>Demandeur : [nom, qualité — ex : Mme X, propriétaire]</a:t>
            </a:r>
          </a:p>
          <a:p>
            <a:r>
              <a:rPr lang="fr-FR" sz="1400" dirty="0">
                <a:latin typeface="Courier New" panose="02070309020205020404" pitchFamily="49" charset="0"/>
                <a:cs typeface="Courier New" panose="02070309020205020404" pitchFamily="49" charset="0"/>
              </a:rPr>
              <a:t>Défendeur : [nom, qualité — ex : M. Y, locataire]</a:t>
            </a:r>
          </a:p>
          <a:p>
            <a:r>
              <a:rPr lang="fr-FR" sz="1400" dirty="0">
                <a:latin typeface="Courier New" panose="02070309020205020404" pitchFamily="49" charset="0"/>
                <a:cs typeface="Courier New" panose="02070309020205020404" pitchFamily="49" charset="0"/>
              </a:rPr>
              <a:t>Avocat demandeur : [Me X, barreau de X] ou [non constitué]</a:t>
            </a:r>
          </a:p>
          <a:p>
            <a:r>
              <a:rPr lang="fr-FR" sz="1400" dirty="0">
                <a:latin typeface="Courier New" panose="02070309020205020404" pitchFamily="49" charset="0"/>
                <a:cs typeface="Courier New" panose="02070309020205020404" pitchFamily="49" charset="0"/>
              </a:rPr>
              <a:t>Avocat défendeur : [Me Y, barreau de Y] ou [non constitué]</a:t>
            </a:r>
          </a:p>
          <a:p>
            <a:r>
              <a:rPr lang="fr-FR" sz="1400" dirty="0">
                <a:latin typeface="Courier New" panose="02070309020205020404" pitchFamily="49" charset="0"/>
                <a:cs typeface="Courier New" panose="02070309020205020404" pitchFamily="49" charset="0"/>
              </a:rPr>
              <a:t>Sapiteur(s) : [nom et spécialité] ou [aucun]</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BIEN CONCERNÉ </a:t>
            </a:r>
            <a:r>
              <a:rPr lang="fr-FR" sz="1400" dirty="0">
                <a:latin typeface="Courier New" panose="02070309020205020404" pitchFamily="49" charset="0"/>
                <a:cs typeface="Courier New" panose="02070309020205020404" pitchFamily="49" charset="0"/>
              </a:rPr>
              <a:t>:[Adresse complète — type de bien]</a:t>
            </a:r>
          </a:p>
          <a:p>
            <a:endParaRPr lang="fr-FR" sz="12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RÈGLES DE RÉDACTION À RESPECTER :</a:t>
            </a:r>
          </a:p>
          <a:p>
            <a:pPr marL="285750" indent="-285750">
              <a:buFontTx/>
              <a:buChar char="-"/>
            </a:pPr>
            <a:r>
              <a:rPr lang="fr-FR" sz="1400" dirty="0">
                <a:latin typeface="Courier New" panose="02070309020205020404" pitchFamily="49" charset="0"/>
                <a:cs typeface="Courier New" panose="02070309020205020404" pitchFamily="49" charset="0"/>
              </a:rPr>
              <a:t>Prose sobre et technique, style judiciaire</a:t>
            </a:r>
          </a:p>
          <a:p>
            <a:pPr marL="285750" indent="-285750">
              <a:buFontTx/>
              <a:buChar char="-"/>
            </a:pPr>
            <a:r>
              <a:rPr lang="fr-FR" sz="1400" dirty="0">
                <a:latin typeface="Courier New" panose="02070309020205020404" pitchFamily="49" charset="0"/>
                <a:cs typeface="Courier New" panose="02070309020205020404" pitchFamily="49" charset="0"/>
              </a:rPr>
              <a:t>Paragraphes structurés sans liste à puces</a:t>
            </a:r>
          </a:p>
          <a:p>
            <a:pPr marL="285750" indent="-285750">
              <a:buFontTx/>
              <a:buChar char="-"/>
            </a:pPr>
            <a:r>
              <a:rPr lang="fr-FR" sz="1400" dirty="0">
                <a:latin typeface="Courier New" panose="02070309020205020404" pitchFamily="49" charset="0"/>
                <a:cs typeface="Courier New" panose="02070309020205020404" pitchFamily="49" charset="0"/>
              </a:rPr>
              <a:t>Première personne du singulier : "J'ai été désigné",   "J'ai procédé à« </a:t>
            </a:r>
          </a:p>
          <a:p>
            <a:pPr marL="285750" indent="-285750">
              <a:buFontTx/>
              <a:buChar char="-"/>
            </a:pPr>
            <a:r>
              <a:rPr lang="fr-FR" sz="1400" dirty="0">
                <a:latin typeface="Courier New" panose="02070309020205020404" pitchFamily="49" charset="0"/>
                <a:cs typeface="Courier New" panose="02070309020205020404" pitchFamily="49" charset="0"/>
              </a:rPr>
              <a:t>Longueur cible : 200 à 250 mots</a:t>
            </a:r>
          </a:p>
          <a:p>
            <a:pPr marL="285750" indent="-285750">
              <a:buFontTx/>
              <a:buChar char="-"/>
            </a:pPr>
            <a:r>
              <a:rPr lang="fr-FR" sz="1400" dirty="0">
                <a:latin typeface="Courier New" panose="02070309020205020404" pitchFamily="49" charset="0"/>
                <a:cs typeface="Courier New" panose="02070309020205020404" pitchFamily="49" charset="0"/>
              </a:rPr>
              <a:t>Inclure une phrase de rappel sur le serment de l'expert et les obligations déontologiques</a:t>
            </a:r>
            <a:endParaRPr lang="fr-FR" sz="1400" b="1" dirty="0">
              <a:latin typeface="Courier New" panose="02070309020205020404" pitchFamily="49" charset="0"/>
              <a:cs typeface="Courier New" panose="02070309020205020404" pitchFamily="49" charset="0"/>
            </a:endParaRPr>
          </a:p>
        </p:txBody>
      </p:sp>
      <p:sp>
        <p:nvSpPr>
          <p:cNvPr id="8" name="ZoneTexte 7">
            <a:extLst>
              <a:ext uri="{FF2B5EF4-FFF2-40B4-BE49-F238E27FC236}">
                <a16:creationId xmlns:a16="http://schemas.microsoft.com/office/drawing/2014/main" id="{DF8C3990-90C9-1AC4-BC67-BC80856C1D83}"/>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9" name="Rectangle: Rounded Corners 14">
            <a:extLst>
              <a:ext uri="{FF2B5EF4-FFF2-40B4-BE49-F238E27FC236}">
                <a16:creationId xmlns:a16="http://schemas.microsoft.com/office/drawing/2014/main" id="{196B1A04-919A-944E-8477-30AB8A8D143E}"/>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1">
            <a:extLst>
              <a:ext uri="{FF2B5EF4-FFF2-40B4-BE49-F238E27FC236}">
                <a16:creationId xmlns:a16="http://schemas.microsoft.com/office/drawing/2014/main" id="{1C881E02-F675-EE5E-D13A-E2809B11D65B}"/>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1 - Mission et cadre juridique</a:t>
            </a:r>
          </a:p>
        </p:txBody>
      </p:sp>
    </p:spTree>
    <p:extLst>
      <p:ext uri="{BB962C8B-B14F-4D97-AF65-F5344CB8AC3E}">
        <p14:creationId xmlns:p14="http://schemas.microsoft.com/office/powerpoint/2010/main" val="7810962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739514B-EBE1-936E-6644-9349E6D57DED}"/>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EA9A77B5-FDEA-5066-B9F4-69E50F65CE9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15A8FAB-405D-8E72-CEC5-58DF219D696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B80B6F55-018F-B0EC-AAE7-A09DBB0979E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AC138FC6-316A-F232-8A1C-41EB9D771EF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30D3A8A3-FE2F-A92C-523C-9A2B9B17CD3B}"/>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084B432D-EC9D-E4F0-0322-67825D0DD4C6}"/>
              </a:ext>
            </a:extLst>
          </p:cNvPr>
          <p:cNvSpPr txBox="1"/>
          <p:nvPr/>
        </p:nvSpPr>
        <p:spPr>
          <a:xfrm>
            <a:off x="624076" y="2269865"/>
            <a:ext cx="11287838" cy="4401205"/>
          </a:xfrm>
          <a:prstGeom prst="rect">
            <a:avLst/>
          </a:prstGeom>
          <a:noFill/>
        </p:spPr>
        <p:txBody>
          <a:bodyPr wrap="square" rtlCol="0">
            <a:spAutoFit/>
          </a:bodyPr>
          <a:lstStyle/>
          <a:p>
            <a:r>
              <a:rPr lang="fr-FR" sz="2000" dirty="0">
                <a:latin typeface="Figtree"/>
                <a:cs typeface="Courier New" panose="02070309020205020404" pitchFamily="49" charset="0"/>
              </a:rPr>
              <a:t>Par ordonnance en date du 3 septembre 2024, Monsieur le Président du Tribunal judiciaire de Paris, statuant en référé, m'a désigné en qualité d'expert immobilier aux fins de déterminer la valeur vénale, à la date de ce jour, de l'appartement sis rue Keller dans le 11e arrondissement de Paris, bien dépendant de l'indivision existant entre Mme Isabelle Fontaine et M. Christophe Fontaine (RG 24/58412).</a:t>
            </a:r>
          </a:p>
          <a:p>
            <a:endParaRPr lang="fr-FR" sz="2000" dirty="0">
              <a:latin typeface="Figtree"/>
              <a:cs typeface="Courier New" panose="02070309020205020404" pitchFamily="49" charset="0"/>
            </a:endParaRPr>
          </a:p>
          <a:p>
            <a:r>
              <a:rPr lang="fr-FR" sz="2000" dirty="0">
                <a:latin typeface="Figtree"/>
                <a:cs typeface="Courier New" panose="02070309020205020404" pitchFamily="49" charset="0"/>
              </a:rPr>
              <a:t>Conformément aux obligations découlant de ma mission et au serment que j'ai prêté devant la Cour d'appel de Paris, j'ai procédé à la visite des lieux le 14 octobre 2024. Les parties ont été dûment convoquées par courrier recommandé. Maître Durand, conseil de Mme Fontaine, était présent lors des opérations. Maître Leblanc, conseil de M. Fontaine, s'est fait excuser et n'a pas assisté à la visite.</a:t>
            </a:r>
          </a:p>
          <a:p>
            <a:endParaRPr lang="fr-FR" sz="2000" dirty="0">
              <a:latin typeface="Figtree"/>
              <a:cs typeface="Courier New" panose="02070309020205020404" pitchFamily="49" charset="0"/>
            </a:endParaRPr>
          </a:p>
          <a:p>
            <a:r>
              <a:rPr lang="fr-FR" sz="2000" dirty="0">
                <a:latin typeface="Figtree"/>
                <a:cs typeface="Courier New" panose="02070309020205020404" pitchFamily="49" charset="0"/>
              </a:rPr>
              <a:t>Le présent rapport a été établi en toute indépendance, impartialité et objectivité, dans le respect des normes professionnelles applicables à l'expertise immobilière judiciaire et conformément aux directives figurant dans l'ordonnance susvisée. Il est déposé dans le délai imparti par la juridiction, soit avant le 15 novembre 2024.</a:t>
            </a:r>
          </a:p>
        </p:txBody>
      </p:sp>
      <p:sp>
        <p:nvSpPr>
          <p:cNvPr id="8" name="ZoneTexte 7">
            <a:extLst>
              <a:ext uri="{FF2B5EF4-FFF2-40B4-BE49-F238E27FC236}">
                <a16:creationId xmlns:a16="http://schemas.microsoft.com/office/drawing/2014/main" id="{48BBFD29-CF5D-7069-9F2C-824F7459388B}"/>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9" name="Rectangle: Rounded Corners 14">
            <a:extLst>
              <a:ext uri="{FF2B5EF4-FFF2-40B4-BE49-F238E27FC236}">
                <a16:creationId xmlns:a16="http://schemas.microsoft.com/office/drawing/2014/main" id="{F99AD541-BBBB-D011-19C4-A863DD84DE56}"/>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 name="TextBox 1">
            <a:extLst>
              <a:ext uri="{FF2B5EF4-FFF2-40B4-BE49-F238E27FC236}">
                <a16:creationId xmlns:a16="http://schemas.microsoft.com/office/drawing/2014/main" id="{854534FC-23B3-9F27-FDBC-11F0CB2E3704}"/>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1 - Mission et cadre juridique</a:t>
            </a:r>
          </a:p>
        </p:txBody>
      </p:sp>
      <p:sp>
        <p:nvSpPr>
          <p:cNvPr id="7" name="ZoneTexte 6">
            <a:extLst>
              <a:ext uri="{FF2B5EF4-FFF2-40B4-BE49-F238E27FC236}">
                <a16:creationId xmlns:a16="http://schemas.microsoft.com/office/drawing/2014/main" id="{BC363C99-3EB9-EAEE-C747-BC0DDB6A2FF3}"/>
              </a:ext>
            </a:extLst>
          </p:cNvPr>
          <p:cNvSpPr txBox="1"/>
          <p:nvPr/>
        </p:nvSpPr>
        <p:spPr>
          <a:xfrm>
            <a:off x="624076" y="1748607"/>
            <a:ext cx="3607911" cy="738664"/>
          </a:xfrm>
          <a:prstGeom prst="rect">
            <a:avLst/>
          </a:prstGeom>
          <a:noFill/>
        </p:spPr>
        <p:txBody>
          <a:bodyPr wrap="none" rtlCol="0">
            <a:spAutoFit/>
          </a:bodyPr>
          <a:lstStyle/>
          <a:p>
            <a:r>
              <a:rPr lang="fr-FR" sz="2400" b="1" dirty="0">
                <a:latin typeface="Figtree"/>
              </a:rPr>
              <a:t>Ce que produit ce prompt :</a:t>
            </a:r>
            <a:endParaRPr lang="fr-FR" sz="2400" dirty="0">
              <a:latin typeface="Figtree"/>
            </a:endParaRPr>
          </a:p>
          <a:p>
            <a:endParaRPr lang="fr-FR" dirty="0"/>
          </a:p>
        </p:txBody>
      </p:sp>
      <p:sp>
        <p:nvSpPr>
          <p:cNvPr id="9" name="ZoneTexte 8">
            <a:extLst>
              <a:ext uri="{FF2B5EF4-FFF2-40B4-BE49-F238E27FC236}">
                <a16:creationId xmlns:a16="http://schemas.microsoft.com/office/drawing/2014/main" id="{FA195544-0BD4-0C7B-02BA-25D4A529668F}"/>
              </a:ext>
            </a:extLst>
          </p:cNvPr>
          <p:cNvSpPr txBox="1"/>
          <p:nvPr/>
        </p:nvSpPr>
        <p:spPr>
          <a:xfrm>
            <a:off x="9367322" y="1790465"/>
            <a:ext cx="2223622" cy="369332"/>
          </a:xfrm>
          <a:prstGeom prst="rect">
            <a:avLst/>
          </a:prstGeom>
          <a:noFill/>
        </p:spPr>
        <p:txBody>
          <a:bodyPr wrap="none" rtlCol="0">
            <a:spAutoFit/>
          </a:bodyPr>
          <a:lstStyle/>
          <a:p>
            <a:r>
              <a:rPr lang="fr-FR" b="1" dirty="0"/>
              <a:t>Décompte : 212 mots</a:t>
            </a:r>
          </a:p>
        </p:txBody>
      </p:sp>
    </p:spTree>
    <p:extLst>
      <p:ext uri="{BB962C8B-B14F-4D97-AF65-F5344CB8AC3E}">
        <p14:creationId xmlns:p14="http://schemas.microsoft.com/office/powerpoint/2010/main" val="3376300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9BDB8C-8A0E-6FB3-913E-9A38148A09DD}"/>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0770FB5A-25DA-AB5B-CD35-EE338B77BC6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0EC2245-3426-C942-4422-D302EDF6C3E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8A35D09-57AF-AF1F-7797-DAE073C4FF3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4CC1E674-F224-2B42-4EED-73EEC21FA93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0F21C239-9566-40F3-078A-31F50E9AD44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94521872-F95A-0DE7-2317-08B5CAA895F6}"/>
              </a:ext>
            </a:extLst>
          </p:cNvPr>
          <p:cNvSpPr txBox="1"/>
          <p:nvPr/>
        </p:nvSpPr>
        <p:spPr>
          <a:xfrm>
            <a:off x="345738" y="2748664"/>
            <a:ext cx="5592483" cy="3323987"/>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"Situation géographique et environnement « d'un rapport d'expertise amiable / judiciaire.</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factuelle, 150 à 180 mots, deux paragraphes.</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§1 — Situation dans la ville et le quartier</a:t>
            </a:r>
          </a:p>
          <a:p>
            <a:r>
              <a:rPr lang="fr-FR" sz="1400" b="1" dirty="0">
                <a:highlight>
                  <a:srgbClr val="FFFF00"/>
                </a:highlight>
                <a:latin typeface="Courier New" panose="02070309020205020404" pitchFamily="49" charset="0"/>
                <a:cs typeface="Courier New" panose="02070309020205020404" pitchFamily="49" charset="0"/>
              </a:rPr>
              <a:t>§2 — Environnement immédiat et accessibilité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Aucun superlatif, aucune appréciation subjective non étayée.</a:t>
            </a:r>
          </a:p>
          <a:p>
            <a:endParaRPr lang="fr-FR" sz="1400" dirty="0">
              <a:latin typeface="Courier New" panose="02070309020205020404" pitchFamily="49" charset="0"/>
              <a:cs typeface="Courier New" panose="02070309020205020404" pitchFamily="49" charset="0"/>
            </a:endParaRPr>
          </a:p>
        </p:txBody>
      </p:sp>
      <p:sp>
        <p:nvSpPr>
          <p:cNvPr id="6" name="ZoneTexte 5">
            <a:extLst>
              <a:ext uri="{FF2B5EF4-FFF2-40B4-BE49-F238E27FC236}">
                <a16:creationId xmlns:a16="http://schemas.microsoft.com/office/drawing/2014/main" id="{1707C2C8-4D24-0A05-324D-67D19F4B4EDF}"/>
              </a:ext>
            </a:extLst>
          </p:cNvPr>
          <p:cNvSpPr txBox="1"/>
          <p:nvPr/>
        </p:nvSpPr>
        <p:spPr>
          <a:xfrm>
            <a:off x="5896684" y="1884501"/>
            <a:ext cx="5592483" cy="4185761"/>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FOURNIES :</a:t>
            </a:r>
          </a:p>
          <a:p>
            <a:r>
              <a:rPr lang="fr-FR" sz="1400" b="1" dirty="0">
                <a:solidFill>
                  <a:srgbClr val="00B050"/>
                </a:solidFill>
                <a:latin typeface="Courier New" panose="02070309020205020404" pitchFamily="49" charset="0"/>
                <a:cs typeface="Courier New" panose="02070309020205020404" pitchFamily="49" charset="0"/>
              </a:rPr>
              <a:t>Adresse : [rue et arrondissement / commune]</a:t>
            </a:r>
          </a:p>
          <a:p>
            <a:r>
              <a:rPr lang="fr-FR" sz="1400" b="1" dirty="0">
                <a:solidFill>
                  <a:srgbClr val="00B050"/>
                </a:solidFill>
                <a:latin typeface="Courier New" panose="02070309020205020404" pitchFamily="49" charset="0"/>
                <a:cs typeface="Courier New" panose="02070309020205020404" pitchFamily="49" charset="0"/>
              </a:rPr>
              <a:t>Ville : [ville]</a:t>
            </a:r>
          </a:p>
          <a:p>
            <a:r>
              <a:rPr lang="fr-FR" sz="1400" b="1" dirty="0">
                <a:solidFill>
                  <a:srgbClr val="00B050"/>
                </a:solidFill>
                <a:latin typeface="Courier New" panose="02070309020205020404" pitchFamily="49" charset="0"/>
                <a:cs typeface="Courier New" panose="02070309020205020404" pitchFamily="49" charset="0"/>
              </a:rPr>
              <a:t>Quartier / secteur : [nom du quartier si connu]</a:t>
            </a:r>
          </a:p>
          <a:p>
            <a:r>
              <a:rPr lang="fr-FR" sz="1400" b="1" dirty="0">
                <a:solidFill>
                  <a:srgbClr val="00B050"/>
                </a:solidFill>
                <a:latin typeface="Courier New" panose="02070309020205020404" pitchFamily="49" charset="0"/>
                <a:cs typeface="Courier New" panose="02070309020205020404" pitchFamily="49" charset="0"/>
              </a:rPr>
              <a:t>Type de rue : [artère principale / rue résidentielle / voie piétonne / etc.]</a:t>
            </a:r>
          </a:p>
          <a:p>
            <a:r>
              <a:rPr lang="fr-FR" sz="1400" b="1" dirty="0">
                <a:solidFill>
                  <a:srgbClr val="00B050"/>
                </a:solidFill>
                <a:latin typeface="Courier New" panose="02070309020205020404" pitchFamily="49" charset="0"/>
                <a:cs typeface="Courier New" panose="02070309020205020404" pitchFamily="49" charset="0"/>
              </a:rPr>
              <a:t>Environnement immédiat observé : [bâti environnant, commerces, calme/animé, nuisances éventuelles]</a:t>
            </a:r>
          </a:p>
          <a:p>
            <a:r>
              <a:rPr lang="fr-FR" sz="1400" b="1" dirty="0">
                <a:solidFill>
                  <a:srgbClr val="00B050"/>
                </a:solidFill>
                <a:latin typeface="Courier New" panose="02070309020205020404" pitchFamily="49" charset="0"/>
                <a:cs typeface="Courier New" panose="02070309020205020404" pitchFamily="49" charset="0"/>
              </a:rPr>
              <a:t>Transports en commun proches : [métro / tram / bus — lignes et distance estimée]</a:t>
            </a:r>
          </a:p>
          <a:p>
            <a:r>
              <a:rPr lang="fr-FR" sz="1400" b="1" dirty="0">
                <a:solidFill>
                  <a:schemeClr val="accent4">
                    <a:lumMod val="75000"/>
                  </a:schemeClr>
                </a:solidFill>
                <a:latin typeface="Courier New" panose="02070309020205020404" pitchFamily="49" charset="0"/>
                <a:cs typeface="Courier New" panose="02070309020205020404" pitchFamily="49" charset="0"/>
              </a:rPr>
              <a:t>Équipements à proximité : [écoles, commerces, parcs — si relevés]</a:t>
            </a:r>
          </a:p>
          <a:p>
            <a:r>
              <a:rPr lang="fr-FR" sz="1400" b="1" dirty="0">
                <a:solidFill>
                  <a:schemeClr val="accent4">
                    <a:lumMod val="75000"/>
                  </a:schemeClr>
                </a:solidFill>
                <a:latin typeface="Courier New" panose="02070309020205020404" pitchFamily="49" charset="0"/>
                <a:cs typeface="Courier New" panose="02070309020205020404" pitchFamily="49" charset="0"/>
              </a:rPr>
              <a:t>Nuisances constatées : [bruit, vis-à-vis, odeurs — si applicables]</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Si certaines données optionnelles ne sont pas fournies, ne les invente pas — omets-les simplement.</a:t>
            </a:r>
          </a:p>
        </p:txBody>
      </p:sp>
      <p:sp>
        <p:nvSpPr>
          <p:cNvPr id="8" name="ZoneTexte 7">
            <a:extLst>
              <a:ext uri="{FF2B5EF4-FFF2-40B4-BE49-F238E27FC236}">
                <a16:creationId xmlns:a16="http://schemas.microsoft.com/office/drawing/2014/main" id="{A274A596-0120-BABF-EC5A-54AC6F7DF36D}"/>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9" name="Rectangle: Rounded Corners 14">
            <a:extLst>
              <a:ext uri="{FF2B5EF4-FFF2-40B4-BE49-F238E27FC236}">
                <a16:creationId xmlns:a16="http://schemas.microsoft.com/office/drawing/2014/main" id="{0285A20B-95B5-F3C9-36E3-0BD00800DA22}"/>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1">
            <a:extLst>
              <a:ext uri="{FF2B5EF4-FFF2-40B4-BE49-F238E27FC236}">
                <a16:creationId xmlns:a16="http://schemas.microsoft.com/office/drawing/2014/main" id="{6D180626-54D4-9E41-3A55-8E4A34A59542}"/>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2 – Situation géographique et environnement</a:t>
            </a:r>
          </a:p>
        </p:txBody>
      </p:sp>
      <p:sp>
        <p:nvSpPr>
          <p:cNvPr id="7" name="ZoneTexte 6">
            <a:extLst>
              <a:ext uri="{FF2B5EF4-FFF2-40B4-BE49-F238E27FC236}">
                <a16:creationId xmlns:a16="http://schemas.microsoft.com/office/drawing/2014/main" id="{4642A8FB-A345-045B-132E-4C5C3784B2F5}"/>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5" name="ZoneTexte 14">
            <a:extLst>
              <a:ext uri="{FF2B5EF4-FFF2-40B4-BE49-F238E27FC236}">
                <a16:creationId xmlns:a16="http://schemas.microsoft.com/office/drawing/2014/main" id="{A5FAC158-9FA5-41E9-2A63-2DE8838EF4CC}"/>
              </a:ext>
            </a:extLst>
          </p:cNvPr>
          <p:cNvSpPr txBox="1"/>
          <p:nvPr/>
        </p:nvSpPr>
        <p:spPr>
          <a:xfrm>
            <a:off x="358671" y="2402325"/>
            <a:ext cx="3272450" cy="400110"/>
          </a:xfrm>
          <a:prstGeom prst="rect">
            <a:avLst/>
          </a:prstGeom>
          <a:noFill/>
        </p:spPr>
        <p:txBody>
          <a:bodyPr wrap="square">
            <a:spAutoFit/>
          </a:bodyPr>
          <a:lstStyle/>
          <a:p>
            <a:r>
              <a:rPr lang="fr-FR" sz="2000" b="1" dirty="0">
                <a:highlight>
                  <a:srgbClr val="FFFF00"/>
                </a:highlight>
                <a:latin typeface="Figtree"/>
              </a:rPr>
              <a:t>Exemple : Bien urbain</a:t>
            </a:r>
            <a:endParaRPr lang="fr-FR" sz="1400" dirty="0">
              <a:highlight>
                <a:srgbClr val="FFFF00"/>
              </a:highlight>
            </a:endParaRPr>
          </a:p>
        </p:txBody>
      </p:sp>
      <p:sp>
        <p:nvSpPr>
          <p:cNvPr id="16" name="ZoneTexte 15">
            <a:extLst>
              <a:ext uri="{FF2B5EF4-FFF2-40B4-BE49-F238E27FC236}">
                <a16:creationId xmlns:a16="http://schemas.microsoft.com/office/drawing/2014/main" id="{500DC33D-52BB-4CDC-55BC-D77795D2BB1E}"/>
              </a:ext>
            </a:extLst>
          </p:cNvPr>
          <p:cNvSpPr txBox="1"/>
          <p:nvPr/>
        </p:nvSpPr>
        <p:spPr>
          <a:xfrm>
            <a:off x="5568715" y="6256342"/>
            <a:ext cx="6374309" cy="338554"/>
          </a:xfrm>
          <a:prstGeom prst="rect">
            <a:avLst/>
          </a:prstGeom>
          <a:noFill/>
        </p:spPr>
        <p:txBody>
          <a:bodyPr wrap="none" rtlCol="0">
            <a:spAutoFit/>
          </a:bodyPr>
          <a:lstStyle/>
          <a:p>
            <a:r>
              <a:rPr lang="fr-FR" sz="1600" b="1" dirty="0">
                <a:solidFill>
                  <a:srgbClr val="00B050"/>
                </a:solidFill>
                <a:latin typeface="Figtree"/>
              </a:rPr>
              <a:t>Données à fournir (obligatoires) </a:t>
            </a:r>
            <a:r>
              <a:rPr lang="fr-FR" sz="1600" dirty="0">
                <a:latin typeface="Figtree"/>
              </a:rPr>
              <a:t>- </a:t>
            </a:r>
            <a:r>
              <a:rPr lang="fr-FR" sz="1600" b="1" dirty="0">
                <a:solidFill>
                  <a:schemeClr val="accent4">
                    <a:lumMod val="75000"/>
                  </a:schemeClr>
                </a:solidFill>
                <a:latin typeface="Figtree"/>
              </a:rPr>
              <a:t>Données optionnelles (enrichissement)</a:t>
            </a:r>
          </a:p>
        </p:txBody>
      </p:sp>
    </p:spTree>
    <p:extLst>
      <p:ext uri="{BB962C8B-B14F-4D97-AF65-F5344CB8AC3E}">
        <p14:creationId xmlns:p14="http://schemas.microsoft.com/office/powerpoint/2010/main" val="17354739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C6D2D27-904F-037A-2F2F-8A3364C4E1B4}"/>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53C29603-0BD6-5208-2649-05F9462A70B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322CE5B-4791-77C2-644B-B020087F45E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2BDBBE40-80AC-B9AA-9286-ED4FE8CDBECF}"/>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6B5084F5-BDDD-5DB2-A7FD-4662B7EC482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64CFD8FE-421E-D0E0-AE1C-1197046DAF18}"/>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EF769F3C-C7FD-F20F-8765-0B6263C19632}"/>
              </a:ext>
            </a:extLst>
          </p:cNvPr>
          <p:cNvSpPr txBox="1"/>
          <p:nvPr/>
        </p:nvSpPr>
        <p:spPr>
          <a:xfrm>
            <a:off x="345738" y="2748664"/>
            <a:ext cx="5592483" cy="3539430"/>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"Situation géographique et environnement </a:t>
            </a:r>
            <a:r>
              <a:rPr lang="fr-FR" sz="1400" dirty="0">
                <a:highlight>
                  <a:srgbClr val="FFFF00"/>
                </a:highlight>
                <a:latin typeface="Courier New" panose="02070309020205020404" pitchFamily="49" charset="0"/>
                <a:cs typeface="Courier New" panose="02070309020205020404" pitchFamily="49" charset="0"/>
              </a:rPr>
              <a:t>« d'un rapport d'expertise pour un bien péri-urbain ou rural.</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factuelle, 150 à 180 mots, deux paragraphes.</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§1 — Situation dans la commune et le territoire</a:t>
            </a:r>
          </a:p>
          <a:p>
            <a:r>
              <a:rPr lang="fr-FR" sz="1400" b="1" dirty="0">
                <a:highlight>
                  <a:srgbClr val="FFFF00"/>
                </a:highlight>
                <a:latin typeface="Courier New" panose="02070309020205020404" pitchFamily="49" charset="0"/>
                <a:cs typeface="Courier New" panose="02070309020205020404" pitchFamily="49" charset="0"/>
              </a:rPr>
              <a:t>§2 — Environnement immédiat, desserte et accessibilité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Aucun superlatif, aucune appréciation subjective non étayée.</a:t>
            </a:r>
          </a:p>
          <a:p>
            <a:endParaRPr lang="fr-FR" sz="1400" dirty="0">
              <a:latin typeface="Courier New" panose="02070309020205020404" pitchFamily="49" charset="0"/>
              <a:cs typeface="Courier New" panose="02070309020205020404" pitchFamily="49" charset="0"/>
            </a:endParaRPr>
          </a:p>
        </p:txBody>
      </p:sp>
      <p:sp>
        <p:nvSpPr>
          <p:cNvPr id="6" name="ZoneTexte 5">
            <a:extLst>
              <a:ext uri="{FF2B5EF4-FFF2-40B4-BE49-F238E27FC236}">
                <a16:creationId xmlns:a16="http://schemas.microsoft.com/office/drawing/2014/main" id="{BC799A63-6991-8EB2-91AE-A4B753F2A49E}"/>
              </a:ext>
            </a:extLst>
          </p:cNvPr>
          <p:cNvSpPr txBox="1"/>
          <p:nvPr/>
        </p:nvSpPr>
        <p:spPr>
          <a:xfrm>
            <a:off x="5896684" y="1884501"/>
            <a:ext cx="5592483" cy="4185761"/>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FOURNIES :</a:t>
            </a:r>
          </a:p>
          <a:p>
            <a:r>
              <a:rPr lang="fr-FR" sz="1400" b="1" dirty="0">
                <a:solidFill>
                  <a:srgbClr val="00B050"/>
                </a:solidFill>
                <a:latin typeface="Courier New" panose="02070309020205020404" pitchFamily="49" charset="0"/>
                <a:cs typeface="Courier New" panose="02070309020205020404" pitchFamily="49" charset="0"/>
              </a:rPr>
              <a:t>Adresse : [adresse]</a:t>
            </a:r>
          </a:p>
          <a:p>
            <a:r>
              <a:rPr lang="fr-FR" sz="1400" b="1" dirty="0">
                <a:solidFill>
                  <a:srgbClr val="00B050"/>
                </a:solidFill>
                <a:latin typeface="Courier New" panose="02070309020205020404" pitchFamily="49" charset="0"/>
                <a:cs typeface="Courier New" panose="02070309020205020404" pitchFamily="49" charset="0"/>
              </a:rPr>
              <a:t>Commune : [commune]</a:t>
            </a:r>
          </a:p>
          <a:p>
            <a:r>
              <a:rPr lang="fr-FR" sz="1400" b="1" dirty="0">
                <a:solidFill>
                  <a:schemeClr val="accent4">
                    <a:lumMod val="75000"/>
                  </a:schemeClr>
                </a:solidFill>
                <a:latin typeface="Courier New" panose="02070309020205020404" pitchFamily="49" charset="0"/>
                <a:cs typeface="Courier New" panose="02070309020205020404" pitchFamily="49" charset="0"/>
              </a:rPr>
              <a:t>Population commune : [si connue]</a:t>
            </a:r>
          </a:p>
          <a:p>
            <a:r>
              <a:rPr lang="fr-FR" sz="1400" b="1" dirty="0">
                <a:solidFill>
                  <a:srgbClr val="00B050"/>
                </a:solidFill>
                <a:latin typeface="Courier New" panose="02070309020205020404" pitchFamily="49" charset="0"/>
                <a:cs typeface="Courier New" panose="02070309020205020404" pitchFamily="49" charset="0"/>
              </a:rPr>
              <a:t>Distance au centre-ville ou bourg principal : [distance en km ou minutes]</a:t>
            </a:r>
          </a:p>
          <a:p>
            <a:r>
              <a:rPr lang="fr-FR" sz="1400" b="1" dirty="0">
                <a:solidFill>
                  <a:srgbClr val="00B050"/>
                </a:solidFill>
                <a:latin typeface="Courier New" panose="02070309020205020404" pitchFamily="49" charset="0"/>
                <a:cs typeface="Courier New" panose="02070309020205020404" pitchFamily="49" charset="0"/>
              </a:rPr>
              <a:t>Accès routier : [route départementale, nationale, autoroute — distance]</a:t>
            </a:r>
          </a:p>
          <a:p>
            <a:r>
              <a:rPr lang="fr-FR" sz="1400" b="1" dirty="0">
                <a:solidFill>
                  <a:schemeClr val="accent4">
                    <a:lumMod val="75000"/>
                  </a:schemeClr>
                </a:solidFill>
                <a:latin typeface="Courier New" panose="02070309020205020404" pitchFamily="49" charset="0"/>
                <a:cs typeface="Courier New" panose="02070309020205020404" pitchFamily="49" charset="0"/>
              </a:rPr>
              <a:t>Gare ou transport le plus proche : [si applicable]</a:t>
            </a:r>
          </a:p>
          <a:p>
            <a:r>
              <a:rPr lang="fr-FR" sz="1400" b="1" dirty="0">
                <a:solidFill>
                  <a:srgbClr val="00B050"/>
                </a:solidFill>
                <a:latin typeface="Courier New" panose="02070309020205020404" pitchFamily="49" charset="0"/>
                <a:cs typeface="Courier New" panose="02070309020205020404" pitchFamily="49" charset="0"/>
              </a:rPr>
              <a:t>Environnement immédiat : [résidentiel / agricole / mixte / industriel]</a:t>
            </a:r>
          </a:p>
          <a:p>
            <a:r>
              <a:rPr lang="fr-FR" sz="1400" b="1" dirty="0">
                <a:solidFill>
                  <a:schemeClr val="accent4">
                    <a:lumMod val="75000"/>
                  </a:schemeClr>
                </a:solidFill>
                <a:latin typeface="Courier New" panose="02070309020205020404" pitchFamily="49" charset="0"/>
                <a:cs typeface="Courier New" panose="02070309020205020404" pitchFamily="49" charset="0"/>
              </a:rPr>
              <a:t>Nuisances constatées : [bruit routier, activité agricole, lignes HT, etc.]</a:t>
            </a:r>
          </a:p>
          <a:p>
            <a:r>
              <a:rPr lang="fr-FR" sz="1400" b="1" dirty="0">
                <a:solidFill>
                  <a:srgbClr val="00B050"/>
                </a:solidFill>
                <a:latin typeface="Courier New" panose="02070309020205020404" pitchFamily="49" charset="0"/>
                <a:cs typeface="Courier New" panose="02070309020205020404" pitchFamily="49" charset="0"/>
              </a:rPr>
              <a:t>Caractère de la zone : [village, lotissement, hameau, zone pavillonnaire]</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Si certaines données optionnelles ne sont pas fournies, ne les invente pas — omets-les simplement.</a:t>
            </a:r>
          </a:p>
        </p:txBody>
      </p:sp>
      <p:sp>
        <p:nvSpPr>
          <p:cNvPr id="8" name="ZoneTexte 7">
            <a:extLst>
              <a:ext uri="{FF2B5EF4-FFF2-40B4-BE49-F238E27FC236}">
                <a16:creationId xmlns:a16="http://schemas.microsoft.com/office/drawing/2014/main" id="{911DB1DA-635A-0FAC-1C3C-B2F5F94E60C0}"/>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9" name="Rectangle: Rounded Corners 14">
            <a:extLst>
              <a:ext uri="{FF2B5EF4-FFF2-40B4-BE49-F238E27FC236}">
                <a16:creationId xmlns:a16="http://schemas.microsoft.com/office/drawing/2014/main" id="{44EF6B2A-1030-CC3E-D313-1DAA4B6E6870}"/>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1">
            <a:extLst>
              <a:ext uri="{FF2B5EF4-FFF2-40B4-BE49-F238E27FC236}">
                <a16:creationId xmlns:a16="http://schemas.microsoft.com/office/drawing/2014/main" id="{BEB6174A-9859-2020-4378-0629C0F53FF0}"/>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2 – Situation géographique et environnement</a:t>
            </a:r>
          </a:p>
        </p:txBody>
      </p:sp>
      <p:sp>
        <p:nvSpPr>
          <p:cNvPr id="7" name="ZoneTexte 6">
            <a:extLst>
              <a:ext uri="{FF2B5EF4-FFF2-40B4-BE49-F238E27FC236}">
                <a16:creationId xmlns:a16="http://schemas.microsoft.com/office/drawing/2014/main" id="{2830C50C-DD63-A1BD-309C-1FE85C337D1B}"/>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5" name="ZoneTexte 14">
            <a:extLst>
              <a:ext uri="{FF2B5EF4-FFF2-40B4-BE49-F238E27FC236}">
                <a16:creationId xmlns:a16="http://schemas.microsoft.com/office/drawing/2014/main" id="{D3B86FD7-79B4-577D-CF29-7F0EF615EA56}"/>
              </a:ext>
            </a:extLst>
          </p:cNvPr>
          <p:cNvSpPr txBox="1"/>
          <p:nvPr/>
        </p:nvSpPr>
        <p:spPr>
          <a:xfrm>
            <a:off x="358671" y="2402325"/>
            <a:ext cx="4757026" cy="400110"/>
          </a:xfrm>
          <a:prstGeom prst="rect">
            <a:avLst/>
          </a:prstGeom>
          <a:noFill/>
        </p:spPr>
        <p:txBody>
          <a:bodyPr wrap="square">
            <a:spAutoFit/>
          </a:bodyPr>
          <a:lstStyle/>
          <a:p>
            <a:r>
              <a:rPr lang="fr-FR" sz="2000" b="1" dirty="0">
                <a:highlight>
                  <a:srgbClr val="FFFF00"/>
                </a:highlight>
                <a:latin typeface="Figtree"/>
              </a:rPr>
              <a:t>Exemple : Bien péri-urbain / rural</a:t>
            </a:r>
            <a:endParaRPr lang="fr-FR" sz="1400" dirty="0">
              <a:highlight>
                <a:srgbClr val="FFFF00"/>
              </a:highlight>
            </a:endParaRPr>
          </a:p>
        </p:txBody>
      </p:sp>
      <p:sp>
        <p:nvSpPr>
          <p:cNvPr id="16" name="ZoneTexte 15">
            <a:extLst>
              <a:ext uri="{FF2B5EF4-FFF2-40B4-BE49-F238E27FC236}">
                <a16:creationId xmlns:a16="http://schemas.microsoft.com/office/drawing/2014/main" id="{A991A77A-8711-9F14-37F3-06C7101F3497}"/>
              </a:ext>
            </a:extLst>
          </p:cNvPr>
          <p:cNvSpPr txBox="1"/>
          <p:nvPr/>
        </p:nvSpPr>
        <p:spPr>
          <a:xfrm>
            <a:off x="5568715" y="6256342"/>
            <a:ext cx="6374309" cy="338554"/>
          </a:xfrm>
          <a:prstGeom prst="rect">
            <a:avLst/>
          </a:prstGeom>
          <a:noFill/>
        </p:spPr>
        <p:txBody>
          <a:bodyPr wrap="none" rtlCol="0">
            <a:spAutoFit/>
          </a:bodyPr>
          <a:lstStyle/>
          <a:p>
            <a:r>
              <a:rPr lang="fr-FR" sz="1600" b="1" dirty="0">
                <a:solidFill>
                  <a:srgbClr val="00B050"/>
                </a:solidFill>
                <a:latin typeface="Figtree"/>
              </a:rPr>
              <a:t>Données à fournir (obligatoires) </a:t>
            </a:r>
            <a:r>
              <a:rPr lang="fr-FR" sz="1600" dirty="0">
                <a:latin typeface="Figtree"/>
              </a:rPr>
              <a:t>- </a:t>
            </a:r>
            <a:r>
              <a:rPr lang="fr-FR" sz="1600" b="1" dirty="0">
                <a:solidFill>
                  <a:schemeClr val="accent4">
                    <a:lumMod val="75000"/>
                  </a:schemeClr>
                </a:solidFill>
                <a:latin typeface="Figtree"/>
              </a:rPr>
              <a:t>Données optionnelles (enrichissement)</a:t>
            </a:r>
          </a:p>
        </p:txBody>
      </p:sp>
    </p:spTree>
    <p:extLst>
      <p:ext uri="{BB962C8B-B14F-4D97-AF65-F5344CB8AC3E}">
        <p14:creationId xmlns:p14="http://schemas.microsoft.com/office/powerpoint/2010/main" val="25660993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FB264F-D748-236B-4968-AA9530C2DF4A}"/>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B1AB776E-6E3A-1696-AD59-8890FAB6720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28C510E-2A4C-40A2-6075-337811CC095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53F83D6A-870B-DF2B-DC7D-1AE5976AF13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4C5FD5A8-2FD7-D5F4-366C-94D60C39AEB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D0895A9C-CAFB-15EE-EF3D-91D025E342C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B5918FA3-7316-6177-6534-EA2DA7E38410}"/>
              </a:ext>
            </a:extLst>
          </p:cNvPr>
          <p:cNvSpPr txBox="1"/>
          <p:nvPr/>
        </p:nvSpPr>
        <p:spPr>
          <a:xfrm>
            <a:off x="345738" y="2748664"/>
            <a:ext cx="5592483" cy="3323987"/>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"Situation géographique et environnement </a:t>
            </a:r>
            <a:r>
              <a:rPr lang="fr-FR" sz="1400" dirty="0">
                <a:highlight>
                  <a:srgbClr val="FFFF00"/>
                </a:highlight>
                <a:latin typeface="Courier New" panose="02070309020205020404" pitchFamily="49" charset="0"/>
                <a:cs typeface="Courier New" panose="02070309020205020404" pitchFamily="49" charset="0"/>
              </a:rPr>
              <a:t>pour un local commercial.</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factuelle, 150 à 180 mots, deux paragraphes.</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§1 — Situation dans la ville et l'axe commercial</a:t>
            </a:r>
          </a:p>
          <a:p>
            <a:r>
              <a:rPr lang="fr-FR" sz="1400" b="1" dirty="0">
                <a:highlight>
                  <a:srgbClr val="FFFF00"/>
                </a:highlight>
                <a:latin typeface="Courier New" panose="02070309020205020404" pitchFamily="49" charset="0"/>
                <a:cs typeface="Courier New" panose="02070309020205020404" pitchFamily="49" charset="0"/>
              </a:rPr>
              <a:t>§2 — Environnement commercial immédiat et flux piétonniers</a:t>
            </a:r>
            <a:endParaRPr lang="fr-FR" sz="1400" dirty="0">
              <a:latin typeface="Courier New" panose="02070309020205020404" pitchFamily="49" charset="0"/>
              <a:cs typeface="Courier New" panose="02070309020205020404" pitchFamily="49" charset="0"/>
            </a:endParaRP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Aucun superlatif, aucune appréciation subjective non étayée.</a:t>
            </a:r>
          </a:p>
          <a:p>
            <a:endParaRPr lang="fr-FR" sz="1400" dirty="0">
              <a:latin typeface="Courier New" panose="02070309020205020404" pitchFamily="49" charset="0"/>
              <a:cs typeface="Courier New" panose="02070309020205020404" pitchFamily="49" charset="0"/>
            </a:endParaRPr>
          </a:p>
        </p:txBody>
      </p:sp>
      <p:sp>
        <p:nvSpPr>
          <p:cNvPr id="6" name="ZoneTexte 5">
            <a:extLst>
              <a:ext uri="{FF2B5EF4-FFF2-40B4-BE49-F238E27FC236}">
                <a16:creationId xmlns:a16="http://schemas.microsoft.com/office/drawing/2014/main" id="{88F75E40-F4CC-ED2A-0F60-393BEB569CEC}"/>
              </a:ext>
            </a:extLst>
          </p:cNvPr>
          <p:cNvSpPr txBox="1"/>
          <p:nvPr/>
        </p:nvSpPr>
        <p:spPr>
          <a:xfrm>
            <a:off x="5896684" y="1884501"/>
            <a:ext cx="5592483" cy="4185761"/>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FOURNIES :</a:t>
            </a:r>
          </a:p>
          <a:p>
            <a:r>
              <a:rPr lang="fr-FR" sz="1400" b="1" dirty="0">
                <a:solidFill>
                  <a:srgbClr val="00B050"/>
                </a:solidFill>
                <a:latin typeface="Courier New" panose="02070309020205020404" pitchFamily="49" charset="0"/>
                <a:cs typeface="Courier New" panose="02070309020205020404" pitchFamily="49" charset="0"/>
              </a:rPr>
              <a:t>Adresse : [rue et numéro]</a:t>
            </a:r>
          </a:p>
          <a:p>
            <a:r>
              <a:rPr lang="fr-FR" sz="1400" b="1" dirty="0">
                <a:solidFill>
                  <a:srgbClr val="00B050"/>
                </a:solidFill>
                <a:latin typeface="Courier New" panose="02070309020205020404" pitchFamily="49" charset="0"/>
                <a:cs typeface="Courier New" panose="02070309020205020404" pitchFamily="49" charset="0"/>
              </a:rPr>
              <a:t>Ville / arrondissement : [ville]</a:t>
            </a:r>
          </a:p>
          <a:p>
            <a:r>
              <a:rPr lang="fr-FR" sz="1400" b="1" dirty="0">
                <a:solidFill>
                  <a:srgbClr val="00B050"/>
                </a:solidFill>
                <a:latin typeface="Courier New" panose="02070309020205020404" pitchFamily="49" charset="0"/>
                <a:cs typeface="Courier New" panose="02070309020205020404" pitchFamily="49" charset="0"/>
              </a:rPr>
              <a:t>Caractère de la rue : [rue commerçante principale / secondaire / mixte résidentiel-commercial]</a:t>
            </a:r>
          </a:p>
          <a:p>
            <a:r>
              <a:rPr lang="fr-FR" sz="1400" b="1" dirty="0">
                <a:solidFill>
                  <a:srgbClr val="00B050"/>
                </a:solidFill>
                <a:latin typeface="Courier New" panose="02070309020205020404" pitchFamily="49" charset="0"/>
                <a:cs typeface="Courier New" panose="02070309020205020404" pitchFamily="49" charset="0"/>
              </a:rPr>
              <a:t>Flux piétonnier estimé : [important / modéré / faible — selon observation]</a:t>
            </a:r>
          </a:p>
          <a:p>
            <a:r>
              <a:rPr lang="fr-FR" sz="1400" b="1" dirty="0">
                <a:solidFill>
                  <a:srgbClr val="00B050"/>
                </a:solidFill>
                <a:latin typeface="Courier New" panose="02070309020205020404" pitchFamily="49" charset="0"/>
                <a:cs typeface="Courier New" panose="02070309020205020404" pitchFamily="49" charset="0"/>
              </a:rPr>
              <a:t>Commerces environnants : [types d'activités voisines observées]</a:t>
            </a:r>
          </a:p>
          <a:p>
            <a:r>
              <a:rPr lang="fr-FR" sz="1400" b="1" dirty="0">
                <a:solidFill>
                  <a:srgbClr val="00B050"/>
                </a:solidFill>
                <a:latin typeface="Courier New" panose="02070309020205020404" pitchFamily="49" charset="0"/>
                <a:cs typeface="Courier New" panose="02070309020205020404" pitchFamily="49" charset="0"/>
              </a:rPr>
              <a:t>Transports à proximité : [métro / tram / bus + distance]</a:t>
            </a:r>
          </a:p>
          <a:p>
            <a:r>
              <a:rPr lang="fr-FR" sz="1400" b="1" dirty="0">
                <a:solidFill>
                  <a:schemeClr val="accent4">
                    <a:lumMod val="75000"/>
                  </a:schemeClr>
                </a:solidFill>
                <a:latin typeface="Courier New" panose="02070309020205020404" pitchFamily="49" charset="0"/>
                <a:cs typeface="Courier New" panose="02070309020205020404" pitchFamily="49" charset="0"/>
              </a:rPr>
              <a:t>Parking : [parking public à proximité — distance]</a:t>
            </a:r>
          </a:p>
          <a:p>
            <a:r>
              <a:rPr lang="fr-FR" sz="1400" b="1" dirty="0">
                <a:solidFill>
                  <a:schemeClr val="accent4">
                    <a:lumMod val="75000"/>
                  </a:schemeClr>
                </a:solidFill>
                <a:latin typeface="Courier New" panose="02070309020205020404" pitchFamily="49" charset="0"/>
                <a:cs typeface="Courier New" panose="02070309020205020404" pitchFamily="49" charset="0"/>
              </a:rPr>
              <a:t>Zone de chalandise estimée : [rayonnement : quartier / ville / région]</a:t>
            </a:r>
          </a:p>
          <a:p>
            <a:r>
              <a:rPr lang="fr-FR" sz="1400" b="1" dirty="0">
                <a:solidFill>
                  <a:schemeClr val="accent4">
                    <a:lumMod val="75000"/>
                  </a:schemeClr>
                </a:solidFill>
                <a:latin typeface="Courier New" panose="02070309020205020404" pitchFamily="49" charset="0"/>
                <a:cs typeface="Courier New" panose="02070309020205020404" pitchFamily="49" charset="0"/>
              </a:rPr>
              <a:t>Nuisances ou contraintes d'accès : [livraisons, sens unique, travaux]</a:t>
            </a:r>
            <a:endParaRPr lang="fr-FR" sz="1400" dirty="0">
              <a:solidFill>
                <a:schemeClr val="accent4">
                  <a:lumMod val="75000"/>
                </a:schemeClr>
              </a:solidFill>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Si certaines données optionnelles ne sont pas fournies, ne les invente pas — omets-les simplement.</a:t>
            </a:r>
          </a:p>
        </p:txBody>
      </p:sp>
      <p:sp>
        <p:nvSpPr>
          <p:cNvPr id="8" name="ZoneTexte 7">
            <a:extLst>
              <a:ext uri="{FF2B5EF4-FFF2-40B4-BE49-F238E27FC236}">
                <a16:creationId xmlns:a16="http://schemas.microsoft.com/office/drawing/2014/main" id="{0AEE48B3-AFFA-C4E5-01C8-7165FF3CB770}"/>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9" name="Rectangle: Rounded Corners 14">
            <a:extLst>
              <a:ext uri="{FF2B5EF4-FFF2-40B4-BE49-F238E27FC236}">
                <a16:creationId xmlns:a16="http://schemas.microsoft.com/office/drawing/2014/main" id="{A76B907B-CEB6-AA39-201C-801BBBF0C975}"/>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TextBox 1">
            <a:extLst>
              <a:ext uri="{FF2B5EF4-FFF2-40B4-BE49-F238E27FC236}">
                <a16:creationId xmlns:a16="http://schemas.microsoft.com/office/drawing/2014/main" id="{EEB1E938-7F58-C24A-CE05-9588A50EB070}"/>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2 – Situation géographique et environnement</a:t>
            </a:r>
          </a:p>
        </p:txBody>
      </p:sp>
      <p:sp>
        <p:nvSpPr>
          <p:cNvPr id="7" name="ZoneTexte 6">
            <a:extLst>
              <a:ext uri="{FF2B5EF4-FFF2-40B4-BE49-F238E27FC236}">
                <a16:creationId xmlns:a16="http://schemas.microsoft.com/office/drawing/2014/main" id="{722D8BFA-EF59-3C5C-9B16-956251928FA8}"/>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5" name="ZoneTexte 14">
            <a:extLst>
              <a:ext uri="{FF2B5EF4-FFF2-40B4-BE49-F238E27FC236}">
                <a16:creationId xmlns:a16="http://schemas.microsoft.com/office/drawing/2014/main" id="{BD5C8D5A-0A05-4834-B63E-08169DE868AF}"/>
              </a:ext>
            </a:extLst>
          </p:cNvPr>
          <p:cNvSpPr txBox="1"/>
          <p:nvPr/>
        </p:nvSpPr>
        <p:spPr>
          <a:xfrm>
            <a:off x="358671" y="2402325"/>
            <a:ext cx="4757026" cy="400110"/>
          </a:xfrm>
          <a:prstGeom prst="rect">
            <a:avLst/>
          </a:prstGeom>
          <a:noFill/>
        </p:spPr>
        <p:txBody>
          <a:bodyPr wrap="square">
            <a:spAutoFit/>
          </a:bodyPr>
          <a:lstStyle/>
          <a:p>
            <a:r>
              <a:rPr lang="fr-FR" sz="2000" b="1" dirty="0">
                <a:highlight>
                  <a:srgbClr val="FFFF00"/>
                </a:highlight>
                <a:latin typeface="Figtree"/>
              </a:rPr>
              <a:t>Exemple : Local commercial</a:t>
            </a:r>
            <a:endParaRPr lang="fr-FR" sz="1400" dirty="0">
              <a:highlight>
                <a:srgbClr val="FFFF00"/>
              </a:highlight>
            </a:endParaRPr>
          </a:p>
        </p:txBody>
      </p:sp>
      <p:sp>
        <p:nvSpPr>
          <p:cNvPr id="16" name="ZoneTexte 15">
            <a:extLst>
              <a:ext uri="{FF2B5EF4-FFF2-40B4-BE49-F238E27FC236}">
                <a16:creationId xmlns:a16="http://schemas.microsoft.com/office/drawing/2014/main" id="{0656E37D-CB4D-89A2-782C-0A16F44D1530}"/>
              </a:ext>
            </a:extLst>
          </p:cNvPr>
          <p:cNvSpPr txBox="1"/>
          <p:nvPr/>
        </p:nvSpPr>
        <p:spPr>
          <a:xfrm>
            <a:off x="5568715" y="6256342"/>
            <a:ext cx="6374309" cy="338554"/>
          </a:xfrm>
          <a:prstGeom prst="rect">
            <a:avLst/>
          </a:prstGeom>
          <a:noFill/>
        </p:spPr>
        <p:txBody>
          <a:bodyPr wrap="none" rtlCol="0">
            <a:spAutoFit/>
          </a:bodyPr>
          <a:lstStyle/>
          <a:p>
            <a:r>
              <a:rPr lang="fr-FR" sz="1600" b="1" dirty="0">
                <a:solidFill>
                  <a:srgbClr val="00B050"/>
                </a:solidFill>
                <a:latin typeface="Figtree"/>
              </a:rPr>
              <a:t>Données à fournir (obligatoires) </a:t>
            </a:r>
            <a:r>
              <a:rPr lang="fr-FR" sz="1600" dirty="0">
                <a:latin typeface="Figtree"/>
              </a:rPr>
              <a:t>- </a:t>
            </a:r>
            <a:r>
              <a:rPr lang="fr-FR" sz="1600" b="1" dirty="0">
                <a:solidFill>
                  <a:schemeClr val="accent4">
                    <a:lumMod val="75000"/>
                  </a:schemeClr>
                </a:solidFill>
                <a:latin typeface="Figtree"/>
              </a:rPr>
              <a:t>Données optionnelles (enrichissement)</a:t>
            </a:r>
          </a:p>
        </p:txBody>
      </p:sp>
    </p:spTree>
    <p:extLst>
      <p:ext uri="{BB962C8B-B14F-4D97-AF65-F5344CB8AC3E}">
        <p14:creationId xmlns:p14="http://schemas.microsoft.com/office/powerpoint/2010/main" val="11005709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9F50D12-31F3-F667-D598-4AFC4A75385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6BF016C8-8914-F56D-7784-D2022BA0319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0E2C19-2E59-1240-3AE3-0E0B62706DC9}"/>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ED0006FC-A928-F7B9-8A90-233C029166BC}"/>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C66D908D-647F-AC53-3F8E-D473E15AB2E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2EF101F2-EDE7-B0C6-BA11-B7F64D8ACA7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33F82314-3BAA-56FF-97EF-BA4C227A6EB7}"/>
              </a:ext>
            </a:extLst>
          </p:cNvPr>
          <p:cNvSpPr txBox="1"/>
          <p:nvPr/>
        </p:nvSpPr>
        <p:spPr>
          <a:xfrm>
            <a:off x="624076" y="2745316"/>
            <a:ext cx="11287838" cy="3785652"/>
          </a:xfrm>
          <a:prstGeom prst="rect">
            <a:avLst/>
          </a:prstGeom>
          <a:noFill/>
        </p:spPr>
        <p:txBody>
          <a:bodyPr wrap="square" rtlCol="0">
            <a:spAutoFit/>
          </a:bodyPr>
          <a:lstStyle/>
          <a:p>
            <a:r>
              <a:rPr lang="fr-FR" sz="2000" dirty="0">
                <a:latin typeface="Figtree"/>
                <a:cs typeface="Courier New" panose="02070309020205020404" pitchFamily="49" charset="0"/>
              </a:rPr>
              <a:t>Le bien est situé rue Boileau, dans le 6e arrondissement de Lyon, secteur résidentiel établi de la rive gauche du Rhône. </a:t>
            </a:r>
            <a:r>
              <a:rPr lang="fr-FR" sz="2000" dirty="0">
                <a:solidFill>
                  <a:schemeClr val="accent4">
                    <a:lumMod val="75000"/>
                  </a:schemeClr>
                </a:solidFill>
                <a:latin typeface="Figtree"/>
                <a:cs typeface="Courier New" panose="02070309020205020404" pitchFamily="49" charset="0"/>
              </a:rPr>
              <a:t>Ce quartier, caractérisé par un bâti haussmannien dense et homogène datant principalement de la fin du XIXe siècle et du début du XXe siècle, </a:t>
            </a:r>
            <a:r>
              <a:rPr lang="fr-FR" sz="2000" dirty="0">
                <a:solidFill>
                  <a:schemeClr val="accent1">
                    <a:lumMod val="75000"/>
                  </a:schemeClr>
                </a:solidFill>
                <a:latin typeface="Figtree"/>
                <a:cs typeface="Courier New" panose="02070309020205020404" pitchFamily="49" charset="0"/>
              </a:rPr>
              <a:t>constitue l'un des secteurs les plus recherchés de l'agglomération lyonnaise</a:t>
            </a:r>
            <a:r>
              <a:rPr lang="fr-FR" sz="2000" dirty="0">
                <a:solidFill>
                  <a:schemeClr val="accent4">
                    <a:lumMod val="75000"/>
                  </a:schemeClr>
                </a:solidFill>
                <a:latin typeface="Figtree"/>
                <a:cs typeface="Courier New" panose="02070309020205020404" pitchFamily="49" charset="0"/>
              </a:rPr>
              <a:t>, à proximité immédiate du parc de la Tête d'Or et des axes tertiaires du boulevard des Belges.</a:t>
            </a:r>
          </a:p>
          <a:p>
            <a:endParaRPr lang="fr-FR" sz="2000" dirty="0">
              <a:latin typeface="Figtree"/>
              <a:cs typeface="Courier New" panose="02070309020205020404" pitchFamily="49" charset="0"/>
            </a:endParaRPr>
          </a:p>
          <a:p>
            <a:r>
              <a:rPr lang="fr-FR" sz="2000" dirty="0">
                <a:latin typeface="Figtree"/>
                <a:cs typeface="Courier New" panose="02070309020205020404" pitchFamily="49" charset="0"/>
              </a:rPr>
              <a:t>La rue Boileau présente un </a:t>
            </a:r>
            <a:r>
              <a:rPr lang="fr-FR" sz="2000" dirty="0">
                <a:solidFill>
                  <a:srgbClr val="00B050"/>
                </a:solidFill>
                <a:latin typeface="Figtree"/>
                <a:cs typeface="Courier New" panose="02070309020205020404" pitchFamily="49" charset="0"/>
              </a:rPr>
              <a:t>caractère résidentiel calme</a:t>
            </a:r>
            <a:r>
              <a:rPr lang="fr-FR" sz="2000" dirty="0">
                <a:latin typeface="Figtree"/>
                <a:cs typeface="Courier New" panose="02070309020205020404" pitchFamily="49" charset="0"/>
              </a:rPr>
              <a:t>, bordée d'immeubles de rapport en pierre de taille dont le gabarit est cohérent avec celui du bien expertisé. </a:t>
            </a:r>
            <a:r>
              <a:rPr lang="fr-FR" sz="2000" dirty="0">
                <a:solidFill>
                  <a:srgbClr val="00B050"/>
                </a:solidFill>
                <a:latin typeface="Figtree"/>
                <a:cs typeface="Courier New" panose="02070309020205020404" pitchFamily="49" charset="0"/>
              </a:rPr>
              <a:t>J'ai constaté l'absence de nuisance sonore </a:t>
            </a:r>
            <a:r>
              <a:rPr lang="fr-FR" sz="2000" dirty="0">
                <a:latin typeface="Figtree"/>
                <a:cs typeface="Courier New" panose="02070309020205020404" pitchFamily="49" charset="0"/>
              </a:rPr>
              <a:t>ou visuelle particulière lors de ma visite. L'accessibilité en transports en commun est satisfaisante : la station de métro Foch (ligne A) est accessible à environ 400 mètres à pied, et les commerces de proximité sont regroupés rue de </a:t>
            </a:r>
            <a:r>
              <a:rPr lang="fr-FR" sz="2000" dirty="0" err="1">
                <a:latin typeface="Figtree"/>
                <a:cs typeface="Courier New" panose="02070309020205020404" pitchFamily="49" charset="0"/>
              </a:rPr>
              <a:t>Sèze</a:t>
            </a:r>
            <a:r>
              <a:rPr lang="fr-FR" sz="2000" dirty="0">
                <a:latin typeface="Figtree"/>
                <a:cs typeface="Courier New" panose="02070309020205020404" pitchFamily="49" charset="0"/>
              </a:rPr>
              <a:t>, à quelque 200 mètres. L'environnement immédiat constitue un </a:t>
            </a:r>
            <a:r>
              <a:rPr lang="fr-FR" sz="2000" dirty="0">
                <a:solidFill>
                  <a:schemeClr val="accent1">
                    <a:lumMod val="75000"/>
                  </a:schemeClr>
                </a:solidFill>
                <a:latin typeface="Figtree"/>
                <a:cs typeface="Courier New" panose="02070309020205020404" pitchFamily="49" charset="0"/>
              </a:rPr>
              <a:t>facteur neutre à légèrement favorable </a:t>
            </a:r>
            <a:r>
              <a:rPr lang="fr-FR" sz="2000" dirty="0">
                <a:latin typeface="Figtree"/>
                <a:cs typeface="Courier New" panose="02070309020205020404" pitchFamily="49" charset="0"/>
              </a:rPr>
              <a:t>dans l'appréciation de la valeur du bien.</a:t>
            </a:r>
          </a:p>
        </p:txBody>
      </p:sp>
      <p:sp>
        <p:nvSpPr>
          <p:cNvPr id="19" name="Rectangle: Rounded Corners 14">
            <a:extLst>
              <a:ext uri="{FF2B5EF4-FFF2-40B4-BE49-F238E27FC236}">
                <a16:creationId xmlns:a16="http://schemas.microsoft.com/office/drawing/2014/main" id="{1BB77EA6-704B-681E-FC6E-F2CF184229BD}"/>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 name="TextBox 1">
            <a:extLst>
              <a:ext uri="{FF2B5EF4-FFF2-40B4-BE49-F238E27FC236}">
                <a16:creationId xmlns:a16="http://schemas.microsoft.com/office/drawing/2014/main" id="{AFD61BE3-8539-9E5A-985D-57F119E18102}"/>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2 – Situation géographique et environnement</a:t>
            </a:r>
          </a:p>
        </p:txBody>
      </p:sp>
      <p:sp>
        <p:nvSpPr>
          <p:cNvPr id="7" name="ZoneTexte 6">
            <a:extLst>
              <a:ext uri="{FF2B5EF4-FFF2-40B4-BE49-F238E27FC236}">
                <a16:creationId xmlns:a16="http://schemas.microsoft.com/office/drawing/2014/main" id="{9BA1F4EF-A502-7098-2E21-9FFD56A05FC3}"/>
              </a:ext>
            </a:extLst>
          </p:cNvPr>
          <p:cNvSpPr txBox="1"/>
          <p:nvPr/>
        </p:nvSpPr>
        <p:spPr>
          <a:xfrm>
            <a:off x="624076" y="2156227"/>
            <a:ext cx="3607911" cy="738664"/>
          </a:xfrm>
          <a:prstGeom prst="rect">
            <a:avLst/>
          </a:prstGeom>
          <a:noFill/>
        </p:spPr>
        <p:txBody>
          <a:bodyPr wrap="none" rtlCol="0">
            <a:spAutoFit/>
          </a:bodyPr>
          <a:lstStyle/>
          <a:p>
            <a:r>
              <a:rPr lang="fr-FR" sz="2400" b="1" dirty="0">
                <a:latin typeface="Figtree"/>
              </a:rPr>
              <a:t>Ce que produit ce prompt :</a:t>
            </a:r>
            <a:endParaRPr lang="fr-FR" sz="2400" dirty="0">
              <a:latin typeface="Figtree"/>
            </a:endParaRPr>
          </a:p>
          <a:p>
            <a:endParaRPr lang="fr-FR" dirty="0"/>
          </a:p>
        </p:txBody>
      </p:sp>
      <p:sp>
        <p:nvSpPr>
          <p:cNvPr id="9" name="ZoneTexte 8">
            <a:extLst>
              <a:ext uri="{FF2B5EF4-FFF2-40B4-BE49-F238E27FC236}">
                <a16:creationId xmlns:a16="http://schemas.microsoft.com/office/drawing/2014/main" id="{195200C1-D8F6-5FF0-1AEA-DC3DE64B1EC4}"/>
              </a:ext>
            </a:extLst>
          </p:cNvPr>
          <p:cNvSpPr txBox="1"/>
          <p:nvPr/>
        </p:nvSpPr>
        <p:spPr>
          <a:xfrm>
            <a:off x="9367322" y="1790465"/>
            <a:ext cx="2200602" cy="369332"/>
          </a:xfrm>
          <a:prstGeom prst="rect">
            <a:avLst/>
          </a:prstGeom>
          <a:noFill/>
        </p:spPr>
        <p:txBody>
          <a:bodyPr wrap="none" rtlCol="0">
            <a:spAutoFit/>
          </a:bodyPr>
          <a:lstStyle/>
          <a:p>
            <a:r>
              <a:rPr lang="fr-FR" dirty="0"/>
              <a:t>Décompte : 172 mots</a:t>
            </a:r>
          </a:p>
        </p:txBody>
      </p:sp>
      <p:sp>
        <p:nvSpPr>
          <p:cNvPr id="6" name="ZoneTexte 5">
            <a:extLst>
              <a:ext uri="{FF2B5EF4-FFF2-40B4-BE49-F238E27FC236}">
                <a16:creationId xmlns:a16="http://schemas.microsoft.com/office/drawing/2014/main" id="{D741AD77-7B31-994A-8D65-A0B836D03FB2}"/>
              </a:ext>
            </a:extLst>
          </p:cNvPr>
          <p:cNvSpPr txBox="1"/>
          <p:nvPr/>
        </p:nvSpPr>
        <p:spPr>
          <a:xfrm>
            <a:off x="242578" y="1183774"/>
            <a:ext cx="4415919"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4" name="ZoneTexte 13">
            <a:extLst>
              <a:ext uri="{FF2B5EF4-FFF2-40B4-BE49-F238E27FC236}">
                <a16:creationId xmlns:a16="http://schemas.microsoft.com/office/drawing/2014/main" id="{C2D49091-51F5-3655-7DA9-F1FF0EDCE483}"/>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pic>
        <p:nvPicPr>
          <p:cNvPr id="16" name="Image 15">
            <a:extLst>
              <a:ext uri="{FF2B5EF4-FFF2-40B4-BE49-F238E27FC236}">
                <a16:creationId xmlns:a16="http://schemas.microsoft.com/office/drawing/2014/main" id="{1FED7C65-A68F-BCBA-825D-DA8E9B5D6B52}"/>
              </a:ext>
            </a:extLst>
          </p:cNvPr>
          <p:cNvPicPr>
            <a:picLocks noChangeAspect="1"/>
          </p:cNvPicPr>
          <p:nvPr/>
        </p:nvPicPr>
        <p:blipFill>
          <a:blip r:embed="rId3"/>
          <a:stretch>
            <a:fillRect/>
          </a:stretch>
        </p:blipFill>
        <p:spPr>
          <a:xfrm>
            <a:off x="4231987" y="2156227"/>
            <a:ext cx="3340898" cy="536494"/>
          </a:xfrm>
          <a:prstGeom prst="rect">
            <a:avLst/>
          </a:prstGeom>
        </p:spPr>
      </p:pic>
    </p:spTree>
    <p:extLst>
      <p:ext uri="{BB962C8B-B14F-4D97-AF65-F5344CB8AC3E}">
        <p14:creationId xmlns:p14="http://schemas.microsoft.com/office/powerpoint/2010/main" val="16320471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72A76-42C9-AF25-7137-96B024ABC480}"/>
            </a:ext>
          </a:extLst>
        </p:cNvPr>
        <p:cNvGrpSpPr/>
        <p:nvPr/>
      </p:nvGrpSpPr>
      <p:grpSpPr>
        <a:xfrm>
          <a:off x="0" y="0"/>
          <a:ext cx="0" cy="0"/>
          <a:chOff x="0" y="0"/>
          <a:chExt cx="0" cy="0"/>
        </a:xfrm>
      </p:grpSpPr>
      <p:sp>
        <p:nvSpPr>
          <p:cNvPr id="29" name="Oval 2">
            <a:extLst>
              <a:ext uri="{FF2B5EF4-FFF2-40B4-BE49-F238E27FC236}">
                <a16:creationId xmlns:a16="http://schemas.microsoft.com/office/drawing/2014/main" id="{1A4B915A-AA8D-44F8-670B-7E3AA76FEE9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1">
            <a:extLst>
              <a:ext uri="{FF2B5EF4-FFF2-40B4-BE49-F238E27FC236}">
                <a16:creationId xmlns:a16="http://schemas.microsoft.com/office/drawing/2014/main" id="{07F1CA67-B54D-E637-87B9-11E037D2E7D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1">
            <a:extLst>
              <a:ext uri="{FF2B5EF4-FFF2-40B4-BE49-F238E27FC236}">
                <a16:creationId xmlns:a16="http://schemas.microsoft.com/office/drawing/2014/main" id="{E7E4F468-F6B3-CFEC-B8A6-DDAEB2747E7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35" name="Freeform: Shape 3">
            <a:extLst>
              <a:ext uri="{FF2B5EF4-FFF2-40B4-BE49-F238E27FC236}">
                <a16:creationId xmlns:a16="http://schemas.microsoft.com/office/drawing/2014/main" id="{8774F7EA-0775-ECD5-1AC7-FCA51A60B8C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TextBox 1">
            <a:extLst>
              <a:ext uri="{FF2B5EF4-FFF2-40B4-BE49-F238E27FC236}">
                <a16:creationId xmlns:a16="http://schemas.microsoft.com/office/drawing/2014/main" id="{80B3F2B1-F807-E78D-FC2C-8D823ED2053E}"/>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43" name="ZoneTexte 42">
            <a:extLst>
              <a:ext uri="{FF2B5EF4-FFF2-40B4-BE49-F238E27FC236}">
                <a16:creationId xmlns:a16="http://schemas.microsoft.com/office/drawing/2014/main" id="{FA4B3359-28B9-3B54-A9D0-07C47432A775}"/>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45" name="Rectangle: Rounded Corners 14">
            <a:extLst>
              <a:ext uri="{FF2B5EF4-FFF2-40B4-BE49-F238E27FC236}">
                <a16:creationId xmlns:a16="http://schemas.microsoft.com/office/drawing/2014/main" id="{C426A48D-315A-8099-4064-7373F61383BE}"/>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TextBox 1">
            <a:extLst>
              <a:ext uri="{FF2B5EF4-FFF2-40B4-BE49-F238E27FC236}">
                <a16:creationId xmlns:a16="http://schemas.microsoft.com/office/drawing/2014/main" id="{A54A578D-17DA-BAAE-C6D6-8E8B354A1903}"/>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3 – Situation juridique et urbanistique</a:t>
            </a:r>
          </a:p>
        </p:txBody>
      </p:sp>
      <p:sp>
        <p:nvSpPr>
          <p:cNvPr id="49" name="ZoneTexte 48">
            <a:extLst>
              <a:ext uri="{FF2B5EF4-FFF2-40B4-BE49-F238E27FC236}">
                <a16:creationId xmlns:a16="http://schemas.microsoft.com/office/drawing/2014/main" id="{6837F696-66F1-432B-1A6A-05D6291B1BC2}"/>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54" name="ZoneTexte 53">
            <a:extLst>
              <a:ext uri="{FF2B5EF4-FFF2-40B4-BE49-F238E27FC236}">
                <a16:creationId xmlns:a16="http://schemas.microsoft.com/office/drawing/2014/main" id="{34700B87-5294-AB56-96EF-854AE43EC27D}"/>
              </a:ext>
            </a:extLst>
          </p:cNvPr>
          <p:cNvSpPr txBox="1"/>
          <p:nvPr/>
        </p:nvSpPr>
        <p:spPr>
          <a:xfrm>
            <a:off x="242578" y="2369382"/>
            <a:ext cx="3591339" cy="2062103"/>
          </a:xfrm>
          <a:prstGeom prst="rect">
            <a:avLst/>
          </a:prstGeom>
          <a:solidFill>
            <a:schemeClr val="accent5">
              <a:lumMod val="20000"/>
              <a:lumOff val="80000"/>
            </a:schemeClr>
          </a:solidFill>
        </p:spPr>
        <p:txBody>
          <a:bodyPr wrap="square" rtlCol="0">
            <a:spAutoFit/>
          </a:bodyPr>
          <a:lstStyle/>
          <a:p>
            <a:r>
              <a:rPr lang="fr-FR" sz="2000" b="1" dirty="0">
                <a:latin typeface="Figtree"/>
              </a:rPr>
              <a:t>Bloc 1 — Propriété</a:t>
            </a:r>
          </a:p>
          <a:p>
            <a:pPr marL="285750" indent="-285750">
              <a:buFont typeface="Arial" panose="020B0604020202020204" pitchFamily="34" charset="0"/>
              <a:buChar char="•"/>
            </a:pPr>
            <a:r>
              <a:rPr lang="fr-FR" dirty="0">
                <a:latin typeface="Figtree"/>
              </a:rPr>
              <a:t>Nature du titre : acte notarié, jugement, donation</a:t>
            </a:r>
          </a:p>
          <a:p>
            <a:pPr marL="285750" indent="-285750">
              <a:buFont typeface="Arial" panose="020B0604020202020204" pitchFamily="34" charset="0"/>
              <a:buChar char="•"/>
            </a:pPr>
            <a:r>
              <a:rPr lang="fr-FR" dirty="0">
                <a:latin typeface="Figtree"/>
              </a:rPr>
              <a:t>Date et étude notariale</a:t>
            </a:r>
          </a:p>
          <a:p>
            <a:pPr marL="285750" indent="-285750">
              <a:buFont typeface="Arial" panose="020B0604020202020204" pitchFamily="34" charset="0"/>
              <a:buChar char="•"/>
            </a:pPr>
            <a:r>
              <a:rPr lang="fr-FR" dirty="0">
                <a:latin typeface="Figtree"/>
              </a:rPr>
              <a:t>Régime : pleine propriété, indivision, usufruit, nue-propriété</a:t>
            </a:r>
          </a:p>
        </p:txBody>
      </p:sp>
      <p:sp>
        <p:nvSpPr>
          <p:cNvPr id="55" name="ZoneTexte 54">
            <a:extLst>
              <a:ext uri="{FF2B5EF4-FFF2-40B4-BE49-F238E27FC236}">
                <a16:creationId xmlns:a16="http://schemas.microsoft.com/office/drawing/2014/main" id="{B3A2DC90-1BE8-3F0C-D292-105A7B3207B2}"/>
              </a:ext>
            </a:extLst>
          </p:cNvPr>
          <p:cNvSpPr txBox="1"/>
          <p:nvPr/>
        </p:nvSpPr>
        <p:spPr>
          <a:xfrm>
            <a:off x="3992345" y="2369382"/>
            <a:ext cx="3959852" cy="2339102"/>
          </a:xfrm>
          <a:prstGeom prst="rect">
            <a:avLst/>
          </a:prstGeom>
          <a:solidFill>
            <a:schemeClr val="accent6">
              <a:lumMod val="40000"/>
              <a:lumOff val="60000"/>
            </a:schemeClr>
          </a:solidFill>
        </p:spPr>
        <p:txBody>
          <a:bodyPr wrap="square" rtlCol="0">
            <a:spAutoFit/>
          </a:bodyPr>
          <a:lstStyle/>
          <a:p>
            <a:r>
              <a:rPr lang="fr-FR" sz="2000" b="1" dirty="0">
                <a:latin typeface="Figtree"/>
              </a:rPr>
              <a:t>Bloc 2 — Co-Propriété</a:t>
            </a:r>
            <a:endParaRPr lang="fr-FR" dirty="0">
              <a:latin typeface="Figtree"/>
            </a:endParaRPr>
          </a:p>
          <a:p>
            <a:pPr marL="285750" indent="-285750">
              <a:buFont typeface="Arial" panose="020B0604020202020204" pitchFamily="34" charset="0"/>
              <a:buChar char="•"/>
            </a:pPr>
            <a:r>
              <a:rPr lang="fr-FR" dirty="0">
                <a:latin typeface="Figtree"/>
              </a:rPr>
              <a:t>Nombre de lots total de l'immeuble</a:t>
            </a:r>
          </a:p>
          <a:p>
            <a:pPr marL="285750" indent="-285750">
              <a:buFont typeface="Arial" panose="020B0604020202020204" pitchFamily="34" charset="0"/>
              <a:buChar char="•"/>
            </a:pPr>
            <a:r>
              <a:rPr lang="fr-FR" dirty="0">
                <a:latin typeface="Figtree"/>
              </a:rPr>
              <a:t>Quote-part en tantièmes du lot expertisé</a:t>
            </a:r>
          </a:p>
          <a:p>
            <a:pPr marL="285750" indent="-285750">
              <a:buFont typeface="Arial" panose="020B0604020202020204" pitchFamily="34" charset="0"/>
              <a:buChar char="•"/>
            </a:pPr>
            <a:r>
              <a:rPr lang="fr-FR" dirty="0">
                <a:latin typeface="Figtree"/>
              </a:rPr>
              <a:t>Travaux votés en attente d'exécution</a:t>
            </a:r>
          </a:p>
          <a:p>
            <a:pPr marL="285750" indent="-285750">
              <a:buFont typeface="Arial" panose="020B0604020202020204" pitchFamily="34" charset="0"/>
              <a:buChar char="•"/>
            </a:pPr>
            <a:r>
              <a:rPr lang="fr-FR" dirty="0">
                <a:solidFill>
                  <a:schemeClr val="bg1"/>
                </a:solidFill>
                <a:highlight>
                  <a:srgbClr val="FF0000"/>
                </a:highlight>
                <a:latin typeface="Figtree"/>
              </a:rPr>
              <a:t>Si non applicable (maison individuelle) : l'indiquer explicitement dans le prompt</a:t>
            </a:r>
          </a:p>
        </p:txBody>
      </p:sp>
      <p:sp>
        <p:nvSpPr>
          <p:cNvPr id="56" name="ZoneTexte 55">
            <a:extLst>
              <a:ext uri="{FF2B5EF4-FFF2-40B4-BE49-F238E27FC236}">
                <a16:creationId xmlns:a16="http://schemas.microsoft.com/office/drawing/2014/main" id="{2BE3B52F-7754-FE13-DBA6-A2B49AFA62A0}"/>
              </a:ext>
            </a:extLst>
          </p:cNvPr>
          <p:cNvSpPr txBox="1"/>
          <p:nvPr/>
        </p:nvSpPr>
        <p:spPr>
          <a:xfrm>
            <a:off x="8101118" y="2369382"/>
            <a:ext cx="3591339" cy="2339102"/>
          </a:xfrm>
          <a:prstGeom prst="rect">
            <a:avLst/>
          </a:prstGeom>
          <a:solidFill>
            <a:schemeClr val="accent2">
              <a:lumMod val="40000"/>
              <a:lumOff val="60000"/>
            </a:schemeClr>
          </a:solidFill>
        </p:spPr>
        <p:txBody>
          <a:bodyPr wrap="square" rtlCol="0">
            <a:spAutoFit/>
          </a:bodyPr>
          <a:lstStyle/>
          <a:p>
            <a:r>
              <a:rPr lang="fr-FR" sz="2000" b="1" dirty="0">
                <a:latin typeface="Figtree"/>
              </a:rPr>
              <a:t>Bloc 3 — Urbanisme</a:t>
            </a:r>
            <a:endParaRPr lang="fr-FR" dirty="0">
              <a:latin typeface="Figtree"/>
            </a:endParaRPr>
          </a:p>
          <a:p>
            <a:pPr marL="285750" indent="-285750">
              <a:buFont typeface="Arial" panose="020B0604020202020204" pitchFamily="34" charset="0"/>
              <a:buChar char="•"/>
            </a:pPr>
            <a:r>
              <a:rPr lang="fr-FR" dirty="0">
                <a:latin typeface="Figtree"/>
              </a:rPr>
              <a:t>Zone PLU : U / AU / A / N + lettre indicielle</a:t>
            </a:r>
          </a:p>
          <a:p>
            <a:pPr marL="285750" indent="-285750">
              <a:buFont typeface="Arial" panose="020B0604020202020204" pitchFamily="34" charset="0"/>
              <a:buChar char="•"/>
            </a:pPr>
            <a:r>
              <a:rPr lang="fr-FR" dirty="0">
                <a:latin typeface="Figtree"/>
              </a:rPr>
              <a:t>Nom du document d'urbanisme en vigueur et date</a:t>
            </a:r>
          </a:p>
          <a:p>
            <a:pPr marL="285750" indent="-285750">
              <a:buFont typeface="Arial" panose="020B0604020202020204" pitchFamily="34" charset="0"/>
              <a:buChar char="•"/>
            </a:pPr>
            <a:r>
              <a:rPr lang="fr-FR" dirty="0">
                <a:latin typeface="Figtree"/>
              </a:rPr>
              <a:t>Servitudes d'urbanisme connues</a:t>
            </a:r>
          </a:p>
          <a:p>
            <a:pPr marL="285750" indent="-285750">
              <a:buFont typeface="Arial" panose="020B0604020202020204" pitchFamily="34" charset="0"/>
              <a:buChar char="•"/>
            </a:pPr>
            <a:r>
              <a:rPr lang="fr-FR" dirty="0">
                <a:latin typeface="Figtree"/>
              </a:rPr>
              <a:t>Périmètre ABF ou secteur sauvegardé si applicable</a:t>
            </a:r>
          </a:p>
        </p:txBody>
      </p:sp>
      <p:sp>
        <p:nvSpPr>
          <p:cNvPr id="58" name="ZoneTexte 57">
            <a:extLst>
              <a:ext uri="{FF2B5EF4-FFF2-40B4-BE49-F238E27FC236}">
                <a16:creationId xmlns:a16="http://schemas.microsoft.com/office/drawing/2014/main" id="{FA88F804-4B1C-5AD4-5E8D-0DA217FE615A}"/>
              </a:ext>
            </a:extLst>
          </p:cNvPr>
          <p:cNvSpPr txBox="1"/>
          <p:nvPr/>
        </p:nvSpPr>
        <p:spPr>
          <a:xfrm>
            <a:off x="3599407" y="1694089"/>
            <a:ext cx="8084842" cy="523220"/>
          </a:xfrm>
          <a:prstGeom prst="rect">
            <a:avLst/>
          </a:prstGeom>
          <a:noFill/>
        </p:spPr>
        <p:txBody>
          <a:bodyPr wrap="none" rtlCol="0">
            <a:spAutoFit/>
          </a:bodyPr>
          <a:lstStyle/>
          <a:p>
            <a:r>
              <a:rPr lang="fr-FR" sz="2800" b="1" dirty="0">
                <a:latin typeface="Figtree"/>
              </a:rPr>
              <a:t>Documents à rassembler avant de lancer le prompt</a:t>
            </a:r>
          </a:p>
        </p:txBody>
      </p:sp>
      <p:sp>
        <p:nvSpPr>
          <p:cNvPr id="59" name="ZoneTexte 58">
            <a:extLst>
              <a:ext uri="{FF2B5EF4-FFF2-40B4-BE49-F238E27FC236}">
                <a16:creationId xmlns:a16="http://schemas.microsoft.com/office/drawing/2014/main" id="{EFA27741-7401-198D-4CBB-832611167FAB}"/>
              </a:ext>
            </a:extLst>
          </p:cNvPr>
          <p:cNvSpPr txBox="1"/>
          <p:nvPr/>
        </p:nvSpPr>
        <p:spPr>
          <a:xfrm>
            <a:off x="242578" y="4834777"/>
            <a:ext cx="3823342" cy="1785104"/>
          </a:xfrm>
          <a:prstGeom prst="rect">
            <a:avLst/>
          </a:prstGeom>
          <a:solidFill>
            <a:schemeClr val="tx2">
              <a:lumMod val="10000"/>
              <a:lumOff val="90000"/>
            </a:schemeClr>
          </a:solidFill>
        </p:spPr>
        <p:txBody>
          <a:bodyPr wrap="square" rtlCol="0">
            <a:spAutoFit/>
          </a:bodyPr>
          <a:lstStyle/>
          <a:p>
            <a:r>
              <a:rPr lang="fr-FR" sz="2000" b="1" dirty="0">
                <a:latin typeface="Figtree"/>
              </a:rPr>
              <a:t>Bloc 4 — Diagnostics</a:t>
            </a:r>
            <a:endParaRPr lang="fr-FR" dirty="0">
              <a:latin typeface="Figtree"/>
            </a:endParaRPr>
          </a:p>
          <a:p>
            <a:pPr marL="285750" indent="-285750">
              <a:buFont typeface="Arial" panose="020B0604020202020204" pitchFamily="34" charset="0"/>
              <a:buChar char="•"/>
            </a:pPr>
            <a:r>
              <a:rPr lang="fr-FR" dirty="0">
                <a:latin typeface="Figtree"/>
              </a:rPr>
              <a:t>DPE : étiquette énergie + étiquette GES + conso kWh/m²/an</a:t>
            </a:r>
          </a:p>
          <a:p>
            <a:pPr marL="285750" indent="-285750">
              <a:buFont typeface="Arial" panose="020B0604020202020204" pitchFamily="34" charset="0"/>
              <a:buChar char="•"/>
            </a:pPr>
            <a:r>
              <a:rPr lang="fr-FR" dirty="0">
                <a:latin typeface="Figtree"/>
              </a:rPr>
              <a:t>Amiante, plomb, termites si applicables</a:t>
            </a:r>
          </a:p>
          <a:p>
            <a:pPr marL="285750" indent="-285750">
              <a:buFont typeface="Arial" panose="020B0604020202020204" pitchFamily="34" charset="0"/>
              <a:buChar char="•"/>
            </a:pPr>
            <a:r>
              <a:rPr lang="fr-FR" dirty="0">
                <a:latin typeface="Figtree"/>
              </a:rPr>
              <a:t>Dates de réalisation des diagnostics</a:t>
            </a:r>
          </a:p>
        </p:txBody>
      </p:sp>
      <p:sp>
        <p:nvSpPr>
          <p:cNvPr id="60" name="ZoneTexte 59">
            <a:extLst>
              <a:ext uri="{FF2B5EF4-FFF2-40B4-BE49-F238E27FC236}">
                <a16:creationId xmlns:a16="http://schemas.microsoft.com/office/drawing/2014/main" id="{3DB2B9DA-D370-9426-2B50-E6E56AFB12B7}"/>
              </a:ext>
            </a:extLst>
          </p:cNvPr>
          <p:cNvSpPr txBox="1"/>
          <p:nvPr/>
        </p:nvSpPr>
        <p:spPr>
          <a:xfrm>
            <a:off x="4256929" y="4834777"/>
            <a:ext cx="7435528" cy="1508105"/>
          </a:xfrm>
          <a:prstGeom prst="rect">
            <a:avLst/>
          </a:prstGeom>
          <a:solidFill>
            <a:schemeClr val="accent1">
              <a:lumMod val="20000"/>
              <a:lumOff val="80000"/>
            </a:schemeClr>
          </a:solidFill>
        </p:spPr>
        <p:txBody>
          <a:bodyPr wrap="square" rtlCol="0">
            <a:spAutoFit/>
          </a:bodyPr>
          <a:lstStyle/>
          <a:p>
            <a:r>
              <a:rPr lang="fr-FR" sz="2000" b="1" dirty="0">
                <a:latin typeface="Figtree"/>
              </a:rPr>
              <a:t>Bloc 5 — Servitudes et charges</a:t>
            </a:r>
            <a:endParaRPr lang="fr-FR" dirty="0">
              <a:latin typeface="Figtree"/>
            </a:endParaRPr>
          </a:p>
          <a:p>
            <a:pPr marL="285750" indent="-285750">
              <a:buFont typeface="Arial" panose="020B0604020202020204" pitchFamily="34" charset="0"/>
              <a:buChar char="•"/>
            </a:pPr>
            <a:r>
              <a:rPr lang="fr-FR" dirty="0">
                <a:latin typeface="Figtree"/>
              </a:rPr>
              <a:t>Servitudes de passage, de vue, de tréfonds</a:t>
            </a:r>
          </a:p>
          <a:p>
            <a:pPr marL="285750" indent="-285750">
              <a:buFont typeface="Arial" panose="020B0604020202020204" pitchFamily="34" charset="0"/>
              <a:buChar char="•"/>
            </a:pPr>
            <a:r>
              <a:rPr lang="fr-FR" dirty="0">
                <a:latin typeface="Figtree"/>
              </a:rPr>
              <a:t>Hypothèques ou privilèges inscrits</a:t>
            </a:r>
          </a:p>
          <a:p>
            <a:pPr marL="285750" indent="-285750">
              <a:buFont typeface="Arial" panose="020B0604020202020204" pitchFamily="34" charset="0"/>
              <a:buChar char="•"/>
            </a:pPr>
            <a:r>
              <a:rPr lang="fr-FR" dirty="0">
                <a:latin typeface="Figtree"/>
              </a:rPr>
              <a:t>Bail en cours (location) : type, loyer, échéance</a:t>
            </a:r>
          </a:p>
          <a:p>
            <a:pPr marL="285750" indent="-285750">
              <a:buFont typeface="Arial" panose="020B0604020202020204" pitchFamily="34" charset="0"/>
              <a:buChar char="•"/>
            </a:pPr>
            <a:r>
              <a:rPr lang="fr-FR" dirty="0">
                <a:solidFill>
                  <a:schemeClr val="bg1"/>
                </a:solidFill>
                <a:highlight>
                  <a:srgbClr val="FF0000"/>
                </a:highlight>
                <a:latin typeface="Figtree"/>
              </a:rPr>
              <a:t>Si aucune servitude connue : le préciser — ne pas laisser l'IA compléter</a:t>
            </a:r>
          </a:p>
        </p:txBody>
      </p:sp>
    </p:spTree>
    <p:extLst>
      <p:ext uri="{BB962C8B-B14F-4D97-AF65-F5344CB8AC3E}">
        <p14:creationId xmlns:p14="http://schemas.microsoft.com/office/powerpoint/2010/main" val="12008223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Oval 2">
            <a:extLst>
              <a:ext uri="{FF2B5EF4-FFF2-40B4-BE49-F238E27FC236}">
                <a16:creationId xmlns:a16="http://schemas.microsoft.com/office/drawing/2014/main" id="{8F4FE454-1C72-C93B-E28E-0261DF724F0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1">
            <a:extLst>
              <a:ext uri="{FF2B5EF4-FFF2-40B4-BE49-F238E27FC236}">
                <a16:creationId xmlns:a16="http://schemas.microsoft.com/office/drawing/2014/main" id="{E88FB5F6-E278-9EBF-2CC2-30F553DF522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1">
            <a:extLst>
              <a:ext uri="{FF2B5EF4-FFF2-40B4-BE49-F238E27FC236}">
                <a16:creationId xmlns:a16="http://schemas.microsoft.com/office/drawing/2014/main" id="{059DD8D4-FA1C-A6AD-8958-DE2A5B9CD17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35" name="Freeform: Shape 3">
            <a:extLst>
              <a:ext uri="{FF2B5EF4-FFF2-40B4-BE49-F238E27FC236}">
                <a16:creationId xmlns:a16="http://schemas.microsoft.com/office/drawing/2014/main" id="{66DEE4CB-B756-6EEF-1D7F-AB364C3E815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TextBox 1">
            <a:extLst>
              <a:ext uri="{FF2B5EF4-FFF2-40B4-BE49-F238E27FC236}">
                <a16:creationId xmlns:a16="http://schemas.microsoft.com/office/drawing/2014/main" id="{39DABD20-572D-F70F-8F20-6A1E74950F1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39" name="ZoneTexte 38">
            <a:extLst>
              <a:ext uri="{FF2B5EF4-FFF2-40B4-BE49-F238E27FC236}">
                <a16:creationId xmlns:a16="http://schemas.microsoft.com/office/drawing/2014/main" id="{D1E1CCC6-DA6E-FC8B-00FA-8EF1EC7EA3CC}"/>
              </a:ext>
            </a:extLst>
          </p:cNvPr>
          <p:cNvSpPr txBox="1"/>
          <p:nvPr/>
        </p:nvSpPr>
        <p:spPr>
          <a:xfrm>
            <a:off x="345738" y="2748664"/>
            <a:ext cx="5592483" cy="3754874"/>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 Situation juridique et urbanistique » d'un rapport d'expertise amiable / judiciaire.</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factuelle, 180 à 220 mots, quatre paragraphes.</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§1 — Titre de propriété et régime juridique</a:t>
            </a:r>
          </a:p>
          <a:p>
            <a:r>
              <a:rPr lang="fr-FR" sz="1400" b="1" dirty="0">
                <a:highlight>
                  <a:srgbClr val="FFFF00"/>
                </a:highlight>
                <a:latin typeface="Courier New" panose="02070309020205020404" pitchFamily="49" charset="0"/>
                <a:cs typeface="Courier New" panose="02070309020205020404" pitchFamily="49" charset="0"/>
              </a:rPr>
              <a:t>§2 — Situation en copropriété</a:t>
            </a:r>
          </a:p>
          <a:p>
            <a:r>
              <a:rPr lang="fr-FR" sz="1400" b="1" dirty="0">
                <a:highlight>
                  <a:srgbClr val="FFFF00"/>
                </a:highlight>
                <a:latin typeface="Courier New" panose="02070309020205020404" pitchFamily="49" charset="0"/>
                <a:cs typeface="Courier New" panose="02070309020205020404" pitchFamily="49" charset="0"/>
              </a:rPr>
              <a:t>§3 — Situation urbanistique et diagnostics</a:t>
            </a:r>
            <a:endParaRPr lang="fr-FR" sz="1400" dirty="0">
              <a:solidFill>
                <a:schemeClr val="bg1"/>
              </a:solidFill>
              <a:highlight>
                <a:srgbClr val="FF0000"/>
              </a:highlight>
              <a:latin typeface="Courier New" panose="02070309020205020404" pitchFamily="49" charset="0"/>
              <a:cs typeface="Courier New" panose="02070309020205020404" pitchFamily="49" charset="0"/>
            </a:endParaRPr>
          </a:p>
          <a:p>
            <a:endParaRPr lang="fr-FR" sz="1400" dirty="0">
              <a:solidFill>
                <a:schemeClr val="bg1"/>
              </a:solidFill>
              <a:highlight>
                <a:srgbClr val="FF0000"/>
              </a:highlight>
              <a:latin typeface="Courier New" panose="02070309020205020404" pitchFamily="49" charset="0"/>
              <a:cs typeface="Courier New" panose="02070309020205020404" pitchFamily="49" charset="0"/>
            </a:endParaRPr>
          </a:p>
          <a:p>
            <a:r>
              <a:rPr lang="fr-FR" sz="1400" dirty="0">
                <a:solidFill>
                  <a:schemeClr val="bg1"/>
                </a:solidFill>
                <a:highlight>
                  <a:srgbClr val="FF0000"/>
                </a:highlight>
                <a:latin typeface="Courier New" panose="02070309020205020404" pitchFamily="49" charset="0"/>
                <a:cs typeface="Courier New" panose="02070309020205020404" pitchFamily="49" charset="0"/>
              </a:rPr>
              <a:t>RÈGLE ABSOLUE : ne rien inventer ni compléter hors des données fournies. Pour tout élément non communiqué, écrire exactement : "[élément] non communiqué à l'expert à la date de sa visite."</a:t>
            </a:r>
            <a:endParaRPr lang="fr-FR" sz="1100" dirty="0">
              <a:solidFill>
                <a:schemeClr val="bg1"/>
              </a:solidFill>
              <a:highlight>
                <a:srgbClr val="FF0000"/>
              </a:highlight>
              <a:latin typeface="Courier New" panose="02070309020205020404" pitchFamily="49" charset="0"/>
              <a:cs typeface="Courier New" panose="02070309020205020404" pitchFamily="49" charset="0"/>
            </a:endParaRPr>
          </a:p>
        </p:txBody>
      </p:sp>
      <p:sp>
        <p:nvSpPr>
          <p:cNvPr id="41" name="ZoneTexte 40">
            <a:extLst>
              <a:ext uri="{FF2B5EF4-FFF2-40B4-BE49-F238E27FC236}">
                <a16:creationId xmlns:a16="http://schemas.microsoft.com/office/drawing/2014/main" id="{8FA85E32-4CC0-4A14-7A33-5F4E43248C4C}"/>
              </a:ext>
            </a:extLst>
          </p:cNvPr>
          <p:cNvSpPr txBox="1"/>
          <p:nvPr/>
        </p:nvSpPr>
        <p:spPr>
          <a:xfrm>
            <a:off x="5896684" y="1812583"/>
            <a:ext cx="6154903" cy="5047536"/>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 BLOC PROPRIÉTÉ :</a:t>
            </a:r>
          </a:p>
          <a:p>
            <a:r>
              <a:rPr lang="fr-FR" sz="1400" b="1" dirty="0">
                <a:solidFill>
                  <a:srgbClr val="00B050"/>
                </a:solidFill>
                <a:latin typeface="Courier New" panose="02070309020205020404" pitchFamily="49" charset="0"/>
                <a:cs typeface="Courier New" panose="02070309020205020404" pitchFamily="49" charset="0"/>
              </a:rPr>
              <a:t>Titre : acte notarié / jugement / donation</a:t>
            </a:r>
          </a:p>
          <a:p>
            <a:r>
              <a:rPr lang="fr-FR" sz="1400" b="1" dirty="0">
                <a:solidFill>
                  <a:srgbClr val="00B050"/>
                </a:solidFill>
                <a:latin typeface="Courier New" panose="02070309020205020404" pitchFamily="49" charset="0"/>
                <a:cs typeface="Courier New" panose="02070309020205020404" pitchFamily="49" charset="0"/>
              </a:rPr>
              <a:t>Date et étude : [date] — étude [nom ou ville]</a:t>
            </a:r>
          </a:p>
          <a:p>
            <a:r>
              <a:rPr lang="fr-FR" sz="1400" b="1" dirty="0">
                <a:solidFill>
                  <a:srgbClr val="00B050"/>
                </a:solidFill>
                <a:latin typeface="Courier New" panose="02070309020205020404" pitchFamily="49" charset="0"/>
                <a:cs typeface="Courier New" panose="02070309020205020404" pitchFamily="49" charset="0"/>
              </a:rPr>
              <a:t>Régime : [pleine propriété / indivision / usufruit + quote-part si applicable]</a:t>
            </a:r>
          </a:p>
          <a:p>
            <a:endParaRPr lang="fr-FR" sz="1400" b="1"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 BLOC COPROPRIÉTÉ :</a:t>
            </a:r>
          </a:p>
          <a:p>
            <a:r>
              <a:rPr lang="fr-FR" sz="1400" b="1" dirty="0">
                <a:solidFill>
                  <a:srgbClr val="00B050"/>
                </a:solidFill>
                <a:latin typeface="Courier New" panose="02070309020205020404" pitchFamily="49" charset="0"/>
                <a:cs typeface="Courier New" panose="02070309020205020404" pitchFamily="49" charset="0"/>
              </a:rPr>
              <a:t>Nombre de lots : [X lots]</a:t>
            </a:r>
          </a:p>
          <a:p>
            <a:r>
              <a:rPr lang="fr-FR" sz="1400" b="1" dirty="0">
                <a:solidFill>
                  <a:srgbClr val="00B050"/>
                </a:solidFill>
                <a:latin typeface="Courier New" panose="02070309020205020404" pitchFamily="49" charset="0"/>
                <a:cs typeface="Courier New" panose="02070309020205020404" pitchFamily="49" charset="0"/>
              </a:rPr>
              <a:t>Quote-part du lot : [X/Y tantièmes]</a:t>
            </a:r>
          </a:p>
          <a:p>
            <a:r>
              <a:rPr lang="fr-FR" sz="1400" b="1" dirty="0">
                <a:solidFill>
                  <a:schemeClr val="accent4">
                    <a:lumMod val="75000"/>
                  </a:schemeClr>
                </a:solidFill>
                <a:latin typeface="Courier New" panose="02070309020205020404" pitchFamily="49" charset="0"/>
                <a:cs typeface="Courier New" panose="02070309020205020404" pitchFamily="49" charset="0"/>
              </a:rPr>
              <a:t>Travaux votés : [liste ou "aucun travaux voté à la date de visite"]</a:t>
            </a:r>
          </a:p>
          <a:p>
            <a:r>
              <a:rPr lang="fr-FR" sz="1400" b="1" dirty="0">
                <a:solidFill>
                  <a:schemeClr val="accent4">
                    <a:lumMod val="75000"/>
                  </a:schemeClr>
                </a:solidFill>
                <a:latin typeface="Courier New" panose="02070309020205020404" pitchFamily="49" charset="0"/>
                <a:cs typeface="Courier New" panose="02070309020205020404" pitchFamily="49" charset="0"/>
              </a:rPr>
              <a:t>Charges annuelles : [X €/an si connu]</a:t>
            </a:r>
          </a:p>
          <a:p>
            <a:endParaRPr lang="fr-FR" sz="1400" b="1"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 BLOC URBANISME :</a:t>
            </a:r>
          </a:p>
          <a:p>
            <a:r>
              <a:rPr lang="fr-FR" sz="1400" b="1" dirty="0">
                <a:solidFill>
                  <a:srgbClr val="00B050"/>
                </a:solidFill>
                <a:latin typeface="Courier New" panose="02070309020205020404" pitchFamily="49" charset="0"/>
                <a:cs typeface="Courier New" panose="02070309020205020404" pitchFamily="49" charset="0"/>
              </a:rPr>
              <a:t>Zone PLU : [zone] — [nom du PLU] — commune de [commune]</a:t>
            </a:r>
          </a:p>
          <a:p>
            <a:r>
              <a:rPr lang="fr-FR" sz="1400" b="1" dirty="0">
                <a:solidFill>
                  <a:srgbClr val="00B050"/>
                </a:solidFill>
                <a:latin typeface="Courier New" panose="02070309020205020404" pitchFamily="49" charset="0"/>
                <a:cs typeface="Courier New" panose="02070309020205020404" pitchFamily="49" charset="0"/>
              </a:rPr>
              <a:t>Servitudes connues : [liste ou "aucune servitude portée à ma connaissance"]</a:t>
            </a:r>
          </a:p>
          <a:p>
            <a:r>
              <a:rPr lang="fr-FR" sz="1400" b="1" dirty="0">
                <a:solidFill>
                  <a:schemeClr val="accent4">
                    <a:lumMod val="75000"/>
                  </a:schemeClr>
                </a:solidFill>
                <a:latin typeface="Courier New" panose="02070309020205020404" pitchFamily="49" charset="0"/>
                <a:cs typeface="Courier New" panose="02070309020205020404" pitchFamily="49" charset="0"/>
              </a:rPr>
              <a:t>Périmètre ABF : [oui/non — si applicable]</a:t>
            </a:r>
          </a:p>
          <a:p>
            <a:endParaRPr lang="fr-FR" sz="1400" b="1"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 DIAGNOSTICS :</a:t>
            </a:r>
          </a:p>
          <a:p>
            <a:r>
              <a:rPr lang="fr-FR" sz="1400" b="1" dirty="0">
                <a:solidFill>
                  <a:srgbClr val="00B050"/>
                </a:solidFill>
                <a:latin typeface="Courier New" panose="02070309020205020404" pitchFamily="49" charset="0"/>
                <a:cs typeface="Courier New" panose="02070309020205020404" pitchFamily="49" charset="0"/>
              </a:rPr>
              <a:t>DPE : étiquette [A-G] — [X] kWh/m²/an — GES : [A-G]</a:t>
            </a:r>
          </a:p>
          <a:p>
            <a:r>
              <a:rPr lang="fr-FR" sz="1400" b="1" dirty="0">
                <a:solidFill>
                  <a:schemeClr val="accent4">
                    <a:lumMod val="75000"/>
                  </a:schemeClr>
                </a:solidFill>
                <a:latin typeface="Courier New" panose="02070309020205020404" pitchFamily="49" charset="0"/>
                <a:cs typeface="Courier New" panose="02070309020205020404" pitchFamily="49" charset="0"/>
              </a:rPr>
              <a:t>Autres diagnostics : [amiante / plomb / termites — résultats]</a:t>
            </a:r>
            <a:endParaRPr lang="fr-FR" sz="1400" dirty="0">
              <a:solidFill>
                <a:schemeClr val="accent4">
                  <a:lumMod val="75000"/>
                </a:schemeClr>
              </a:solidFill>
              <a:latin typeface="Courier New" panose="02070309020205020404" pitchFamily="49" charset="0"/>
              <a:cs typeface="Courier New" panose="02070309020205020404" pitchFamily="49" charset="0"/>
            </a:endParaRPr>
          </a:p>
        </p:txBody>
      </p:sp>
      <p:sp>
        <p:nvSpPr>
          <p:cNvPr id="43" name="ZoneTexte 42">
            <a:extLst>
              <a:ext uri="{FF2B5EF4-FFF2-40B4-BE49-F238E27FC236}">
                <a16:creationId xmlns:a16="http://schemas.microsoft.com/office/drawing/2014/main" id="{82F6AA9B-03D8-1F3D-A8E8-45B3DBFB4EBF}"/>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45" name="Rectangle: Rounded Corners 14">
            <a:extLst>
              <a:ext uri="{FF2B5EF4-FFF2-40B4-BE49-F238E27FC236}">
                <a16:creationId xmlns:a16="http://schemas.microsoft.com/office/drawing/2014/main" id="{5D474084-3CBD-4129-60D9-255C773FD53E}"/>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TextBox 1">
            <a:extLst>
              <a:ext uri="{FF2B5EF4-FFF2-40B4-BE49-F238E27FC236}">
                <a16:creationId xmlns:a16="http://schemas.microsoft.com/office/drawing/2014/main" id="{7156B297-B9D8-0B78-E7EC-EB7E97C8D6EC}"/>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3 – Situation juridique et urbanistique</a:t>
            </a:r>
          </a:p>
        </p:txBody>
      </p:sp>
      <p:sp>
        <p:nvSpPr>
          <p:cNvPr id="49" name="ZoneTexte 48">
            <a:extLst>
              <a:ext uri="{FF2B5EF4-FFF2-40B4-BE49-F238E27FC236}">
                <a16:creationId xmlns:a16="http://schemas.microsoft.com/office/drawing/2014/main" id="{F1ED3AA8-C3EF-048A-10D8-9E20BBA472C9}"/>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51" name="ZoneTexte 50">
            <a:extLst>
              <a:ext uri="{FF2B5EF4-FFF2-40B4-BE49-F238E27FC236}">
                <a16:creationId xmlns:a16="http://schemas.microsoft.com/office/drawing/2014/main" id="{2047B036-52EC-7221-9F79-44E632088A67}"/>
              </a:ext>
            </a:extLst>
          </p:cNvPr>
          <p:cNvSpPr txBox="1"/>
          <p:nvPr/>
        </p:nvSpPr>
        <p:spPr>
          <a:xfrm>
            <a:off x="358671" y="2402325"/>
            <a:ext cx="4495146" cy="400110"/>
          </a:xfrm>
          <a:prstGeom prst="rect">
            <a:avLst/>
          </a:prstGeom>
          <a:noFill/>
        </p:spPr>
        <p:txBody>
          <a:bodyPr wrap="square">
            <a:spAutoFit/>
          </a:bodyPr>
          <a:lstStyle/>
          <a:p>
            <a:r>
              <a:rPr lang="fr-FR" sz="2000" b="1" dirty="0">
                <a:highlight>
                  <a:srgbClr val="FFFF00"/>
                </a:highlight>
                <a:latin typeface="Figtree"/>
              </a:rPr>
              <a:t>Exemple : Appartement copropriété</a:t>
            </a:r>
            <a:endParaRPr lang="fr-FR" sz="1400" dirty="0">
              <a:highlight>
                <a:srgbClr val="FFFF00"/>
              </a:highlight>
            </a:endParaRPr>
          </a:p>
        </p:txBody>
      </p:sp>
      <p:sp>
        <p:nvSpPr>
          <p:cNvPr id="53" name="ZoneTexte 52">
            <a:extLst>
              <a:ext uri="{FF2B5EF4-FFF2-40B4-BE49-F238E27FC236}">
                <a16:creationId xmlns:a16="http://schemas.microsoft.com/office/drawing/2014/main" id="{05C286A6-8905-DD4D-5EAC-00C4CA56B74E}"/>
              </a:ext>
            </a:extLst>
          </p:cNvPr>
          <p:cNvSpPr txBox="1"/>
          <p:nvPr/>
        </p:nvSpPr>
        <p:spPr>
          <a:xfrm>
            <a:off x="10328429" y="1337662"/>
            <a:ext cx="1807803" cy="738664"/>
          </a:xfrm>
          <a:prstGeom prst="rect">
            <a:avLst/>
          </a:prstGeom>
          <a:noFill/>
        </p:spPr>
        <p:txBody>
          <a:bodyPr wrap="none" rtlCol="0">
            <a:spAutoFit/>
          </a:bodyPr>
          <a:lstStyle/>
          <a:p>
            <a:pPr algn="r"/>
            <a:r>
              <a:rPr lang="fr-FR" sz="1400" b="1" dirty="0">
                <a:solidFill>
                  <a:srgbClr val="00B050"/>
                </a:solidFill>
                <a:latin typeface="Figtree"/>
              </a:rPr>
              <a:t>Données à fournir</a:t>
            </a:r>
            <a:endParaRPr lang="fr-FR" sz="1400" dirty="0">
              <a:latin typeface="Figtree"/>
            </a:endParaRPr>
          </a:p>
          <a:p>
            <a:pPr algn="r"/>
            <a:r>
              <a:rPr lang="fr-FR" sz="1400" b="1" dirty="0">
                <a:solidFill>
                  <a:schemeClr val="accent4">
                    <a:lumMod val="75000"/>
                  </a:schemeClr>
                </a:solidFill>
                <a:latin typeface="Figtree"/>
              </a:rPr>
              <a:t>Données optionnelles</a:t>
            </a:r>
          </a:p>
          <a:p>
            <a:pPr algn="r"/>
            <a:r>
              <a:rPr lang="fr-FR" sz="1400" b="1" dirty="0">
                <a:solidFill>
                  <a:srgbClr val="FF0000"/>
                </a:solidFill>
                <a:latin typeface="Figtree"/>
              </a:rPr>
              <a:t>Instructions critiques</a:t>
            </a:r>
          </a:p>
        </p:txBody>
      </p:sp>
    </p:spTree>
    <p:extLst>
      <p:ext uri="{BB962C8B-B14F-4D97-AF65-F5344CB8AC3E}">
        <p14:creationId xmlns:p14="http://schemas.microsoft.com/office/powerpoint/2010/main" val="39017473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AF56-3F9C-47CF-DF2C-D45A993E233F}"/>
            </a:ext>
          </a:extLst>
        </p:cNvPr>
        <p:cNvGrpSpPr/>
        <p:nvPr/>
      </p:nvGrpSpPr>
      <p:grpSpPr>
        <a:xfrm>
          <a:off x="0" y="0"/>
          <a:ext cx="0" cy="0"/>
          <a:chOff x="0" y="0"/>
          <a:chExt cx="0" cy="0"/>
        </a:xfrm>
      </p:grpSpPr>
      <p:sp>
        <p:nvSpPr>
          <p:cNvPr id="29" name="Oval 2">
            <a:extLst>
              <a:ext uri="{FF2B5EF4-FFF2-40B4-BE49-F238E27FC236}">
                <a16:creationId xmlns:a16="http://schemas.microsoft.com/office/drawing/2014/main" id="{1CA74FB9-4E04-185E-62C1-2F5DB094FFA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1">
            <a:extLst>
              <a:ext uri="{FF2B5EF4-FFF2-40B4-BE49-F238E27FC236}">
                <a16:creationId xmlns:a16="http://schemas.microsoft.com/office/drawing/2014/main" id="{E779E3C1-1F54-9D3F-DB60-6D3D4373243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1">
            <a:extLst>
              <a:ext uri="{FF2B5EF4-FFF2-40B4-BE49-F238E27FC236}">
                <a16:creationId xmlns:a16="http://schemas.microsoft.com/office/drawing/2014/main" id="{15F7DDE1-2B42-5B2D-84C9-BC621E7FC0D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35" name="Freeform: Shape 3">
            <a:extLst>
              <a:ext uri="{FF2B5EF4-FFF2-40B4-BE49-F238E27FC236}">
                <a16:creationId xmlns:a16="http://schemas.microsoft.com/office/drawing/2014/main" id="{A81728B9-AB6D-2FBD-1E1D-34525ECA4CE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TextBox 1">
            <a:extLst>
              <a:ext uri="{FF2B5EF4-FFF2-40B4-BE49-F238E27FC236}">
                <a16:creationId xmlns:a16="http://schemas.microsoft.com/office/drawing/2014/main" id="{67FAAB6F-C9EF-02A4-32E4-A3FFE44400AE}"/>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39" name="ZoneTexte 38">
            <a:extLst>
              <a:ext uri="{FF2B5EF4-FFF2-40B4-BE49-F238E27FC236}">
                <a16:creationId xmlns:a16="http://schemas.microsoft.com/office/drawing/2014/main" id="{3D7F1F03-7CB0-4A4F-8337-D79567AEF954}"/>
              </a:ext>
            </a:extLst>
          </p:cNvPr>
          <p:cNvSpPr txBox="1"/>
          <p:nvPr/>
        </p:nvSpPr>
        <p:spPr>
          <a:xfrm>
            <a:off x="345738" y="2748664"/>
            <a:ext cx="5592483" cy="3970318"/>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 Situation juridique et urbanistique » d'un rapport d'expertise amiable / judiciaire.</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factuelle, 180 à 220 mots, quatre paragraphes.</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§1 — Titre de propriété et régime</a:t>
            </a:r>
          </a:p>
          <a:p>
            <a:r>
              <a:rPr lang="fr-FR" sz="1400" b="1" dirty="0">
                <a:highlight>
                  <a:srgbClr val="FFFF00"/>
                </a:highlight>
                <a:latin typeface="Courier New" panose="02070309020205020404" pitchFamily="49" charset="0"/>
                <a:cs typeface="Courier New" panose="02070309020205020404" pitchFamily="49" charset="0"/>
              </a:rPr>
              <a:t>§2 — Situation foncière (parcelle, surface terrain)</a:t>
            </a:r>
          </a:p>
          <a:p>
            <a:r>
              <a:rPr lang="fr-FR" sz="1400" b="1" dirty="0">
                <a:highlight>
                  <a:srgbClr val="FFFF00"/>
                </a:highlight>
                <a:latin typeface="Courier New" panose="02070309020205020404" pitchFamily="49" charset="0"/>
                <a:cs typeface="Courier New" panose="02070309020205020404" pitchFamily="49" charset="0"/>
              </a:rPr>
              <a:t>§3 — Situation urbanistique et diagnostics</a:t>
            </a:r>
            <a:endParaRPr lang="fr-FR" sz="1400" dirty="0">
              <a:latin typeface="Courier New" panose="02070309020205020404" pitchFamily="49" charset="0"/>
              <a:cs typeface="Courier New" panose="02070309020205020404" pitchFamily="49" charset="0"/>
            </a:endParaRPr>
          </a:p>
          <a:p>
            <a:endParaRPr lang="fr-FR" sz="1400" dirty="0">
              <a:solidFill>
                <a:schemeClr val="bg1"/>
              </a:solidFill>
              <a:highlight>
                <a:srgbClr val="FF0000"/>
              </a:highlight>
              <a:latin typeface="Courier New" panose="02070309020205020404" pitchFamily="49" charset="0"/>
              <a:cs typeface="Courier New" panose="02070309020205020404" pitchFamily="49" charset="0"/>
            </a:endParaRPr>
          </a:p>
          <a:p>
            <a:r>
              <a:rPr lang="fr-FR" sz="1400" dirty="0">
                <a:solidFill>
                  <a:schemeClr val="bg1"/>
                </a:solidFill>
                <a:highlight>
                  <a:srgbClr val="FF0000"/>
                </a:highlight>
                <a:latin typeface="Courier New" panose="02070309020205020404" pitchFamily="49" charset="0"/>
                <a:cs typeface="Courier New" panose="02070309020205020404" pitchFamily="49" charset="0"/>
              </a:rPr>
              <a:t>RÈGLE ABSOLUE : ne rien inventer hors des données fournies.</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Éléments inconnus → "non communiqué à l'expert à la date de visite."</a:t>
            </a:r>
            <a:endParaRPr lang="fr-FR" sz="1100" dirty="0">
              <a:solidFill>
                <a:schemeClr val="bg1"/>
              </a:solidFill>
              <a:highlight>
                <a:srgbClr val="FF0000"/>
              </a:highlight>
              <a:latin typeface="Courier New" panose="02070309020205020404" pitchFamily="49" charset="0"/>
              <a:cs typeface="Courier New" panose="02070309020205020404" pitchFamily="49" charset="0"/>
            </a:endParaRPr>
          </a:p>
        </p:txBody>
      </p:sp>
      <p:sp>
        <p:nvSpPr>
          <p:cNvPr id="41" name="ZoneTexte 40">
            <a:extLst>
              <a:ext uri="{FF2B5EF4-FFF2-40B4-BE49-F238E27FC236}">
                <a16:creationId xmlns:a16="http://schemas.microsoft.com/office/drawing/2014/main" id="{14AA27C7-A7C4-6A9F-9028-0DF36573360A}"/>
              </a:ext>
            </a:extLst>
          </p:cNvPr>
          <p:cNvSpPr txBox="1"/>
          <p:nvPr/>
        </p:nvSpPr>
        <p:spPr>
          <a:xfrm>
            <a:off x="5896684" y="1884501"/>
            <a:ext cx="6154903" cy="4616648"/>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 PROPRIETE :</a:t>
            </a:r>
          </a:p>
          <a:p>
            <a:r>
              <a:rPr lang="fr-FR" sz="1400" b="1" dirty="0">
                <a:solidFill>
                  <a:srgbClr val="00B050"/>
                </a:solidFill>
                <a:latin typeface="Courier New" panose="02070309020205020404" pitchFamily="49" charset="0"/>
                <a:cs typeface="Courier New" panose="02070309020205020404" pitchFamily="49" charset="0"/>
              </a:rPr>
              <a:t>Titre : [acte notarié / jugement] du [date]</a:t>
            </a:r>
          </a:p>
          <a:p>
            <a:r>
              <a:rPr lang="fr-FR" sz="1400" b="1" dirty="0">
                <a:solidFill>
                  <a:srgbClr val="00B050"/>
                </a:solidFill>
                <a:latin typeface="Courier New" panose="02070309020205020404" pitchFamily="49" charset="0"/>
                <a:cs typeface="Courier New" panose="02070309020205020404" pitchFamily="49" charset="0"/>
              </a:rPr>
              <a:t>Régime : [pleine propriété / indivision]</a:t>
            </a:r>
          </a:p>
          <a:p>
            <a:endParaRPr lang="fr-FR" sz="1400" b="1" dirty="0">
              <a:solidFill>
                <a:srgbClr val="00B050"/>
              </a:solidFill>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 FONCIER :</a:t>
            </a:r>
          </a:p>
          <a:p>
            <a:r>
              <a:rPr lang="fr-FR" sz="1400" b="1" dirty="0">
                <a:solidFill>
                  <a:srgbClr val="00B050"/>
                </a:solidFill>
                <a:latin typeface="Courier New" panose="02070309020205020404" pitchFamily="49" charset="0"/>
                <a:cs typeface="Courier New" panose="02070309020205020404" pitchFamily="49" charset="0"/>
              </a:rPr>
              <a:t>Référence cadastrale : section [X], parcelle [Y]</a:t>
            </a:r>
          </a:p>
          <a:p>
            <a:r>
              <a:rPr lang="fr-FR" sz="1400" b="1" dirty="0">
                <a:solidFill>
                  <a:srgbClr val="00B050"/>
                </a:solidFill>
                <a:latin typeface="Courier New" panose="02070309020205020404" pitchFamily="49" charset="0"/>
                <a:cs typeface="Courier New" panose="02070309020205020404" pitchFamily="49" charset="0"/>
              </a:rPr>
              <a:t>Surface de terrain : [X] m²</a:t>
            </a:r>
          </a:p>
          <a:p>
            <a:r>
              <a:rPr lang="fr-FR" sz="1400" b="1" dirty="0">
                <a:solidFill>
                  <a:schemeClr val="accent4">
                    <a:lumMod val="75000"/>
                  </a:schemeClr>
                </a:solidFill>
                <a:latin typeface="Courier New" panose="02070309020205020404" pitchFamily="49" charset="0"/>
                <a:cs typeface="Courier New" panose="02070309020205020404" pitchFamily="49" charset="0"/>
              </a:rPr>
              <a:t>Bornage : [borné le [date] par géomètre / non borné à ce jour]</a:t>
            </a:r>
          </a:p>
          <a:p>
            <a:r>
              <a:rPr lang="fr-FR" sz="1400" b="1" dirty="0">
                <a:solidFill>
                  <a:srgbClr val="00B050"/>
                </a:solidFill>
                <a:latin typeface="Courier New" panose="02070309020205020404" pitchFamily="49" charset="0"/>
                <a:cs typeface="Courier New" panose="02070309020205020404" pitchFamily="49" charset="0"/>
              </a:rPr>
              <a:t>Servitudes de passage : [oui avec description / non]</a:t>
            </a:r>
          </a:p>
          <a:p>
            <a:endParaRPr lang="fr-FR" sz="1400" b="1" dirty="0">
              <a:solidFill>
                <a:srgbClr val="00B050"/>
              </a:solidFill>
              <a:latin typeface="Courier New" panose="02070309020205020404" pitchFamily="49" charset="0"/>
              <a:cs typeface="Courier New" panose="02070309020205020404" pitchFamily="49" charset="0"/>
            </a:endParaRPr>
          </a:p>
          <a:p>
            <a:r>
              <a:rPr lang="fr-FR" sz="1400" b="1" dirty="0">
                <a:solidFill>
                  <a:schemeClr val="tx1">
                    <a:lumMod val="95000"/>
                    <a:lumOff val="5000"/>
                  </a:schemeClr>
                </a:solidFill>
                <a:latin typeface="Courier New" panose="02070309020205020404" pitchFamily="49" charset="0"/>
                <a:cs typeface="Courier New" panose="02070309020205020404" pitchFamily="49" charset="0"/>
              </a:rPr>
              <a:t>DONNÉES — URBANISME :</a:t>
            </a:r>
          </a:p>
          <a:p>
            <a:r>
              <a:rPr lang="fr-FR" sz="1400" b="1" dirty="0">
                <a:solidFill>
                  <a:srgbClr val="00B050"/>
                </a:solidFill>
                <a:latin typeface="Courier New" panose="02070309020205020404" pitchFamily="49" charset="0"/>
                <a:cs typeface="Courier New" panose="02070309020205020404" pitchFamily="49" charset="0"/>
              </a:rPr>
              <a:t>Zone PLU : [zone] — PLU de [commune]</a:t>
            </a:r>
          </a:p>
          <a:p>
            <a:r>
              <a:rPr lang="fr-FR" sz="1400" b="1" dirty="0">
                <a:solidFill>
                  <a:schemeClr val="accent4">
                    <a:lumMod val="75000"/>
                  </a:schemeClr>
                </a:solidFill>
                <a:latin typeface="Courier New" panose="02070309020205020404" pitchFamily="49" charset="0"/>
                <a:cs typeface="Courier New" panose="02070309020205020404" pitchFamily="49" charset="0"/>
              </a:rPr>
              <a:t>CES / COS applicables : [si connus]</a:t>
            </a:r>
          </a:p>
          <a:p>
            <a:r>
              <a:rPr lang="fr-FR" sz="1400" b="1" dirty="0">
                <a:solidFill>
                  <a:schemeClr val="accent4">
                    <a:lumMod val="75000"/>
                  </a:schemeClr>
                </a:solidFill>
                <a:latin typeface="Courier New" panose="02070309020205020404" pitchFamily="49" charset="0"/>
                <a:cs typeface="Courier New" panose="02070309020205020404" pitchFamily="49" charset="0"/>
              </a:rPr>
              <a:t>Permis de construire d'origine : [date / "non retrouvé"]</a:t>
            </a:r>
          </a:p>
          <a:p>
            <a:endParaRPr lang="fr-FR" sz="1400" b="1" dirty="0">
              <a:solidFill>
                <a:srgbClr val="00B050"/>
              </a:solidFill>
              <a:latin typeface="Courier New" panose="02070309020205020404" pitchFamily="49" charset="0"/>
              <a:cs typeface="Courier New" panose="02070309020205020404" pitchFamily="49" charset="0"/>
            </a:endParaRPr>
          </a:p>
          <a:p>
            <a:r>
              <a:rPr lang="fr-FR" sz="1400" b="1" dirty="0">
                <a:solidFill>
                  <a:schemeClr val="tx1">
                    <a:lumMod val="95000"/>
                    <a:lumOff val="5000"/>
                  </a:schemeClr>
                </a:solidFill>
                <a:latin typeface="Courier New" panose="02070309020205020404" pitchFamily="49" charset="0"/>
                <a:cs typeface="Courier New" panose="02070309020205020404" pitchFamily="49" charset="0"/>
              </a:rPr>
              <a:t>DIAGNOSTICS :</a:t>
            </a:r>
          </a:p>
          <a:p>
            <a:r>
              <a:rPr lang="fr-FR" sz="1400" b="1" dirty="0">
                <a:solidFill>
                  <a:srgbClr val="00B050"/>
                </a:solidFill>
                <a:latin typeface="Courier New" panose="02070309020205020404" pitchFamily="49" charset="0"/>
                <a:cs typeface="Courier New" panose="02070309020205020404" pitchFamily="49" charset="0"/>
              </a:rPr>
              <a:t>DPE : [étiquette] — [X] kWh/m²/an</a:t>
            </a:r>
          </a:p>
          <a:p>
            <a:r>
              <a:rPr lang="fr-FR" sz="1400" b="1" dirty="0">
                <a:solidFill>
                  <a:srgbClr val="00B050"/>
                </a:solidFill>
                <a:latin typeface="Courier New" panose="02070309020205020404" pitchFamily="49" charset="0"/>
                <a:cs typeface="Courier New" panose="02070309020205020404" pitchFamily="49" charset="0"/>
              </a:rPr>
              <a:t>Assainissement : [tout-à-l'égout / fosse — conforme ou non]</a:t>
            </a:r>
          </a:p>
          <a:p>
            <a:r>
              <a:rPr lang="fr-FR" sz="1400" b="1" dirty="0">
                <a:solidFill>
                  <a:schemeClr val="accent4">
                    <a:lumMod val="75000"/>
                  </a:schemeClr>
                </a:solidFill>
                <a:latin typeface="Courier New" panose="02070309020205020404" pitchFamily="49" charset="0"/>
                <a:cs typeface="Courier New" panose="02070309020205020404" pitchFamily="49" charset="0"/>
              </a:rPr>
              <a:t>Autres : [termites, radon, mérule si applicable]</a:t>
            </a:r>
            <a:endParaRPr lang="fr-FR" sz="1400" dirty="0">
              <a:solidFill>
                <a:schemeClr val="accent4">
                  <a:lumMod val="75000"/>
                </a:schemeClr>
              </a:solidFill>
              <a:latin typeface="Courier New" panose="02070309020205020404" pitchFamily="49" charset="0"/>
              <a:cs typeface="Courier New" panose="02070309020205020404" pitchFamily="49" charset="0"/>
            </a:endParaRPr>
          </a:p>
        </p:txBody>
      </p:sp>
      <p:sp>
        <p:nvSpPr>
          <p:cNvPr id="43" name="ZoneTexte 42">
            <a:extLst>
              <a:ext uri="{FF2B5EF4-FFF2-40B4-BE49-F238E27FC236}">
                <a16:creationId xmlns:a16="http://schemas.microsoft.com/office/drawing/2014/main" id="{77E7A07F-5527-42C5-7C30-F732F6125183}"/>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45" name="Rectangle: Rounded Corners 14">
            <a:extLst>
              <a:ext uri="{FF2B5EF4-FFF2-40B4-BE49-F238E27FC236}">
                <a16:creationId xmlns:a16="http://schemas.microsoft.com/office/drawing/2014/main" id="{B84A0244-F3AF-78A5-D4D1-7EA6C76578A7}"/>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TextBox 1">
            <a:extLst>
              <a:ext uri="{FF2B5EF4-FFF2-40B4-BE49-F238E27FC236}">
                <a16:creationId xmlns:a16="http://schemas.microsoft.com/office/drawing/2014/main" id="{89CF6ABA-B86B-B92C-19A1-C40876A1EC87}"/>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3 – Situation juridique et urbanistique</a:t>
            </a:r>
          </a:p>
        </p:txBody>
      </p:sp>
      <p:sp>
        <p:nvSpPr>
          <p:cNvPr id="49" name="ZoneTexte 48">
            <a:extLst>
              <a:ext uri="{FF2B5EF4-FFF2-40B4-BE49-F238E27FC236}">
                <a16:creationId xmlns:a16="http://schemas.microsoft.com/office/drawing/2014/main" id="{2B3F67EA-914E-2C37-F3D5-D9DAE2BE93BB}"/>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51" name="ZoneTexte 50">
            <a:extLst>
              <a:ext uri="{FF2B5EF4-FFF2-40B4-BE49-F238E27FC236}">
                <a16:creationId xmlns:a16="http://schemas.microsoft.com/office/drawing/2014/main" id="{3A298F41-BFA6-6370-BE8C-F922FC0D462F}"/>
              </a:ext>
            </a:extLst>
          </p:cNvPr>
          <p:cNvSpPr txBox="1"/>
          <p:nvPr/>
        </p:nvSpPr>
        <p:spPr>
          <a:xfrm>
            <a:off x="358671" y="2402325"/>
            <a:ext cx="4495146" cy="400110"/>
          </a:xfrm>
          <a:prstGeom prst="rect">
            <a:avLst/>
          </a:prstGeom>
          <a:noFill/>
        </p:spPr>
        <p:txBody>
          <a:bodyPr wrap="square">
            <a:spAutoFit/>
          </a:bodyPr>
          <a:lstStyle/>
          <a:p>
            <a:r>
              <a:rPr lang="fr-FR" sz="2000" b="1" dirty="0">
                <a:highlight>
                  <a:srgbClr val="FFFF00"/>
                </a:highlight>
                <a:latin typeface="Figtree"/>
              </a:rPr>
              <a:t>Exemple : Maison individuelle</a:t>
            </a:r>
            <a:endParaRPr lang="fr-FR" sz="1400" dirty="0">
              <a:highlight>
                <a:srgbClr val="FFFF00"/>
              </a:highlight>
            </a:endParaRPr>
          </a:p>
        </p:txBody>
      </p:sp>
      <p:sp>
        <p:nvSpPr>
          <p:cNvPr id="53" name="ZoneTexte 52">
            <a:extLst>
              <a:ext uri="{FF2B5EF4-FFF2-40B4-BE49-F238E27FC236}">
                <a16:creationId xmlns:a16="http://schemas.microsoft.com/office/drawing/2014/main" id="{07EAF8E5-B4CE-8677-829A-72630AC40342}"/>
              </a:ext>
            </a:extLst>
          </p:cNvPr>
          <p:cNvSpPr txBox="1"/>
          <p:nvPr/>
        </p:nvSpPr>
        <p:spPr>
          <a:xfrm>
            <a:off x="10328429" y="1337662"/>
            <a:ext cx="1807803" cy="738664"/>
          </a:xfrm>
          <a:prstGeom prst="rect">
            <a:avLst/>
          </a:prstGeom>
          <a:noFill/>
        </p:spPr>
        <p:txBody>
          <a:bodyPr wrap="none" rtlCol="0">
            <a:spAutoFit/>
          </a:bodyPr>
          <a:lstStyle/>
          <a:p>
            <a:pPr algn="r"/>
            <a:r>
              <a:rPr lang="fr-FR" sz="1400" b="1" dirty="0">
                <a:solidFill>
                  <a:srgbClr val="00B050"/>
                </a:solidFill>
                <a:latin typeface="Figtree"/>
              </a:rPr>
              <a:t>Données à fournir</a:t>
            </a:r>
            <a:endParaRPr lang="fr-FR" sz="1400" dirty="0">
              <a:latin typeface="Figtree"/>
            </a:endParaRPr>
          </a:p>
          <a:p>
            <a:pPr algn="r"/>
            <a:r>
              <a:rPr lang="fr-FR" sz="1400" b="1" dirty="0">
                <a:solidFill>
                  <a:schemeClr val="accent4">
                    <a:lumMod val="75000"/>
                  </a:schemeClr>
                </a:solidFill>
                <a:latin typeface="Figtree"/>
              </a:rPr>
              <a:t>Données optionnelles</a:t>
            </a:r>
          </a:p>
          <a:p>
            <a:pPr algn="r"/>
            <a:r>
              <a:rPr lang="fr-FR" sz="1400" b="1" dirty="0">
                <a:solidFill>
                  <a:srgbClr val="FF0000"/>
                </a:solidFill>
                <a:latin typeface="Figtree"/>
              </a:rPr>
              <a:t>Instructions critiques</a:t>
            </a:r>
          </a:p>
        </p:txBody>
      </p:sp>
    </p:spTree>
    <p:extLst>
      <p:ext uri="{BB962C8B-B14F-4D97-AF65-F5344CB8AC3E}">
        <p14:creationId xmlns:p14="http://schemas.microsoft.com/office/powerpoint/2010/main" val="27430465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8C91-BAE5-CCE3-4A47-403C9FF838E5}"/>
            </a:ext>
          </a:extLst>
        </p:cNvPr>
        <p:cNvGrpSpPr/>
        <p:nvPr/>
      </p:nvGrpSpPr>
      <p:grpSpPr>
        <a:xfrm>
          <a:off x="0" y="0"/>
          <a:ext cx="0" cy="0"/>
          <a:chOff x="0" y="0"/>
          <a:chExt cx="0" cy="0"/>
        </a:xfrm>
      </p:grpSpPr>
      <p:sp>
        <p:nvSpPr>
          <p:cNvPr id="29" name="Oval 2">
            <a:extLst>
              <a:ext uri="{FF2B5EF4-FFF2-40B4-BE49-F238E27FC236}">
                <a16:creationId xmlns:a16="http://schemas.microsoft.com/office/drawing/2014/main" id="{DB8CF0CD-AFB4-1DFB-B47A-7EF859E750B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1">
            <a:extLst>
              <a:ext uri="{FF2B5EF4-FFF2-40B4-BE49-F238E27FC236}">
                <a16:creationId xmlns:a16="http://schemas.microsoft.com/office/drawing/2014/main" id="{D156B752-F8AC-EB72-F5B5-25EF72051C6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1">
            <a:extLst>
              <a:ext uri="{FF2B5EF4-FFF2-40B4-BE49-F238E27FC236}">
                <a16:creationId xmlns:a16="http://schemas.microsoft.com/office/drawing/2014/main" id="{98FD4390-5B2E-15BF-6C6A-1DAC0B194C3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35" name="Freeform: Shape 3">
            <a:extLst>
              <a:ext uri="{FF2B5EF4-FFF2-40B4-BE49-F238E27FC236}">
                <a16:creationId xmlns:a16="http://schemas.microsoft.com/office/drawing/2014/main" id="{ED08A864-75DF-3064-6F06-EC87168E653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TextBox 1">
            <a:extLst>
              <a:ext uri="{FF2B5EF4-FFF2-40B4-BE49-F238E27FC236}">
                <a16:creationId xmlns:a16="http://schemas.microsoft.com/office/drawing/2014/main" id="{16F5FF81-FB9A-560F-A807-12415110ADC6}"/>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39" name="ZoneTexte 38">
            <a:extLst>
              <a:ext uri="{FF2B5EF4-FFF2-40B4-BE49-F238E27FC236}">
                <a16:creationId xmlns:a16="http://schemas.microsoft.com/office/drawing/2014/main" id="{2FD3B7CB-18F6-982C-46E2-B3C7A6CBD0FD}"/>
              </a:ext>
            </a:extLst>
          </p:cNvPr>
          <p:cNvSpPr txBox="1"/>
          <p:nvPr/>
        </p:nvSpPr>
        <p:spPr>
          <a:xfrm>
            <a:off x="345738" y="2748664"/>
            <a:ext cx="5592483" cy="3970318"/>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 Situation juridique et urbanistique » d'un rapport d'expertise amiable / judiciaire.</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factuelle, 180 à 220 mots, quatre paragraphes.</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§1 — Titre de propriété</a:t>
            </a:r>
          </a:p>
          <a:p>
            <a:r>
              <a:rPr lang="fr-FR" sz="1400" b="1" dirty="0">
                <a:highlight>
                  <a:srgbClr val="FFFF00"/>
                </a:highlight>
                <a:latin typeface="Courier New" panose="02070309020205020404" pitchFamily="49" charset="0"/>
                <a:cs typeface="Courier New" panose="02070309020205020404" pitchFamily="49" charset="0"/>
              </a:rPr>
              <a:t>§2 — Situation en copropriété ou foncière</a:t>
            </a:r>
          </a:p>
          <a:p>
            <a:r>
              <a:rPr lang="fr-FR" sz="1400" b="1" dirty="0">
                <a:highlight>
                  <a:srgbClr val="FFFF00"/>
                </a:highlight>
                <a:latin typeface="Courier New" panose="02070309020205020404" pitchFamily="49" charset="0"/>
                <a:cs typeface="Courier New" panose="02070309020205020404" pitchFamily="49" charset="0"/>
              </a:rPr>
              <a:t>§3 — Bail et conditions d'occupation</a:t>
            </a:r>
          </a:p>
          <a:p>
            <a:r>
              <a:rPr lang="fr-FR" sz="1400" b="1" dirty="0">
                <a:highlight>
                  <a:srgbClr val="FFFF00"/>
                </a:highlight>
                <a:latin typeface="Courier New" panose="02070309020205020404" pitchFamily="49" charset="0"/>
                <a:cs typeface="Courier New" panose="02070309020205020404" pitchFamily="49" charset="0"/>
              </a:rPr>
              <a:t>§4 — Urbanisme et diagnostics</a:t>
            </a:r>
            <a:endParaRPr lang="fr-FR" sz="1400" dirty="0">
              <a:latin typeface="Courier New" panose="02070309020205020404" pitchFamily="49" charset="0"/>
              <a:cs typeface="Courier New" panose="02070309020205020404" pitchFamily="49" charset="0"/>
            </a:endParaRPr>
          </a:p>
          <a:p>
            <a:endParaRPr lang="fr-FR" sz="1400" dirty="0">
              <a:latin typeface="Courier New" panose="02070309020205020404" pitchFamily="49" charset="0"/>
              <a:cs typeface="Courier New" panose="02070309020205020404" pitchFamily="49" charset="0"/>
            </a:endParaRPr>
          </a:p>
          <a:p>
            <a:r>
              <a:rPr lang="fr-FR" sz="1400" dirty="0">
                <a:solidFill>
                  <a:schemeClr val="bg1"/>
                </a:solidFill>
                <a:highlight>
                  <a:srgbClr val="FF0000"/>
                </a:highlight>
                <a:latin typeface="Courier New" panose="02070309020205020404" pitchFamily="49" charset="0"/>
                <a:cs typeface="Courier New" panose="02070309020205020404" pitchFamily="49" charset="0"/>
              </a:rPr>
              <a:t>RÈGLE ABSOLUE : ne rien inventer. Éléments non fournis → "non communiqué à l'expert." La valeur expertisée est une valeur occupée — le préciser explicitement en conclusion du §3.</a:t>
            </a:r>
            <a:endParaRPr lang="fr-FR" sz="1100" dirty="0">
              <a:solidFill>
                <a:schemeClr val="bg1"/>
              </a:solidFill>
              <a:highlight>
                <a:srgbClr val="FF0000"/>
              </a:highlight>
              <a:latin typeface="Courier New" panose="02070309020205020404" pitchFamily="49" charset="0"/>
              <a:cs typeface="Courier New" panose="02070309020205020404" pitchFamily="49" charset="0"/>
            </a:endParaRPr>
          </a:p>
        </p:txBody>
      </p:sp>
      <p:sp>
        <p:nvSpPr>
          <p:cNvPr id="41" name="ZoneTexte 40">
            <a:extLst>
              <a:ext uri="{FF2B5EF4-FFF2-40B4-BE49-F238E27FC236}">
                <a16:creationId xmlns:a16="http://schemas.microsoft.com/office/drawing/2014/main" id="{62866350-C64A-C126-0B03-FF0DF0057740}"/>
              </a:ext>
            </a:extLst>
          </p:cNvPr>
          <p:cNvSpPr txBox="1"/>
          <p:nvPr/>
        </p:nvSpPr>
        <p:spPr>
          <a:xfrm>
            <a:off x="5896684" y="1884501"/>
            <a:ext cx="6154903" cy="2677656"/>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 BAIL :</a:t>
            </a:r>
          </a:p>
          <a:p>
            <a:r>
              <a:rPr lang="fr-FR" sz="1400" b="1" dirty="0">
                <a:solidFill>
                  <a:srgbClr val="00B050"/>
                </a:solidFill>
                <a:latin typeface="Courier New" panose="02070309020205020404" pitchFamily="49" charset="0"/>
                <a:cs typeface="Courier New" panose="02070309020205020404" pitchFamily="49" charset="0"/>
              </a:rPr>
              <a:t>Type de bail : [loi 89 / commercial / meublé / précaire]</a:t>
            </a:r>
          </a:p>
          <a:p>
            <a:r>
              <a:rPr lang="fr-FR" sz="1400" b="1" dirty="0">
                <a:solidFill>
                  <a:srgbClr val="00B050"/>
                </a:solidFill>
                <a:latin typeface="Courier New" panose="02070309020205020404" pitchFamily="49" charset="0"/>
                <a:cs typeface="Courier New" panose="02070309020205020404" pitchFamily="49" charset="0"/>
              </a:rPr>
              <a:t>Date de prise d'effet : [date]</a:t>
            </a:r>
          </a:p>
          <a:p>
            <a:r>
              <a:rPr lang="fr-FR" sz="1400" b="1" dirty="0">
                <a:solidFill>
                  <a:srgbClr val="00B050"/>
                </a:solidFill>
                <a:latin typeface="Courier New" panose="02070309020205020404" pitchFamily="49" charset="0"/>
                <a:cs typeface="Courier New" panose="02070309020205020404" pitchFamily="49" charset="0"/>
              </a:rPr>
              <a:t>Échéance du bail : [date ou "tacite reconduction"]</a:t>
            </a:r>
          </a:p>
          <a:p>
            <a:r>
              <a:rPr lang="fr-FR" sz="1400" b="1" dirty="0">
                <a:solidFill>
                  <a:srgbClr val="00B050"/>
                </a:solidFill>
                <a:latin typeface="Courier New" panose="02070309020205020404" pitchFamily="49" charset="0"/>
                <a:cs typeface="Courier New" panose="02070309020205020404" pitchFamily="49" charset="0"/>
              </a:rPr>
              <a:t>Loyer mensuel charges comprises : [X €/mois]</a:t>
            </a:r>
          </a:p>
          <a:p>
            <a:r>
              <a:rPr lang="fr-FR" sz="1400" b="1" dirty="0">
                <a:solidFill>
                  <a:schemeClr val="accent4">
                    <a:lumMod val="75000"/>
                  </a:schemeClr>
                </a:solidFill>
                <a:latin typeface="Courier New" panose="02070309020205020404" pitchFamily="49" charset="0"/>
                <a:cs typeface="Courier New" panose="02070309020205020404" pitchFamily="49" charset="0"/>
              </a:rPr>
              <a:t>Loyer mensuel hors charges : [X €/mois si connu]</a:t>
            </a:r>
          </a:p>
          <a:p>
            <a:r>
              <a:rPr lang="fr-FR" sz="1400" b="1" dirty="0">
                <a:solidFill>
                  <a:schemeClr val="accent4">
                    <a:lumMod val="75000"/>
                  </a:schemeClr>
                </a:solidFill>
                <a:latin typeface="Courier New" panose="02070309020205020404" pitchFamily="49" charset="0"/>
                <a:cs typeface="Courier New" panose="02070309020205020404" pitchFamily="49" charset="0"/>
              </a:rPr>
              <a:t>Dépôt de garantie : [X mois de loyer]</a:t>
            </a:r>
          </a:p>
          <a:p>
            <a:r>
              <a:rPr lang="fr-FR" sz="1400" b="1" dirty="0">
                <a:solidFill>
                  <a:schemeClr val="accent4">
                    <a:lumMod val="75000"/>
                  </a:schemeClr>
                </a:solidFill>
                <a:latin typeface="Courier New" panose="02070309020205020404" pitchFamily="49" charset="0"/>
                <a:cs typeface="Courier New" panose="02070309020205020404" pitchFamily="49" charset="0"/>
              </a:rPr>
              <a:t>Révision : [IRL / ILC — dernière révision [date]]</a:t>
            </a:r>
          </a:p>
          <a:p>
            <a:endParaRPr lang="fr-FR" sz="1400" b="1" dirty="0">
              <a:solidFill>
                <a:srgbClr val="00B050"/>
              </a:solidFill>
              <a:latin typeface="Courier New" panose="02070309020205020404" pitchFamily="49" charset="0"/>
              <a:cs typeface="Courier New" panose="02070309020205020404" pitchFamily="49" charset="0"/>
            </a:endParaRP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[Compléter avec les blocs propriété, copropriété/foncier et urbanisme selon le type de bien]</a:t>
            </a:r>
          </a:p>
        </p:txBody>
      </p:sp>
      <p:sp>
        <p:nvSpPr>
          <p:cNvPr id="43" name="ZoneTexte 42">
            <a:extLst>
              <a:ext uri="{FF2B5EF4-FFF2-40B4-BE49-F238E27FC236}">
                <a16:creationId xmlns:a16="http://schemas.microsoft.com/office/drawing/2014/main" id="{5FA23B2C-DE4E-0067-B634-0A076490BE5A}"/>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45" name="Rectangle: Rounded Corners 14">
            <a:extLst>
              <a:ext uri="{FF2B5EF4-FFF2-40B4-BE49-F238E27FC236}">
                <a16:creationId xmlns:a16="http://schemas.microsoft.com/office/drawing/2014/main" id="{AA63A0D4-52C2-B850-6C0B-7D0A9F1C0D59}"/>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TextBox 1">
            <a:extLst>
              <a:ext uri="{FF2B5EF4-FFF2-40B4-BE49-F238E27FC236}">
                <a16:creationId xmlns:a16="http://schemas.microsoft.com/office/drawing/2014/main" id="{611B7632-872D-1CC4-57F3-B0B7FCE123E8}"/>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3 – Situation juridique et urbanistique</a:t>
            </a:r>
          </a:p>
        </p:txBody>
      </p:sp>
      <p:sp>
        <p:nvSpPr>
          <p:cNvPr id="49" name="ZoneTexte 48">
            <a:extLst>
              <a:ext uri="{FF2B5EF4-FFF2-40B4-BE49-F238E27FC236}">
                <a16:creationId xmlns:a16="http://schemas.microsoft.com/office/drawing/2014/main" id="{0279E470-2536-40FB-1C4E-94FA493137B5}"/>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51" name="ZoneTexte 50">
            <a:extLst>
              <a:ext uri="{FF2B5EF4-FFF2-40B4-BE49-F238E27FC236}">
                <a16:creationId xmlns:a16="http://schemas.microsoft.com/office/drawing/2014/main" id="{46354C16-722B-2EDF-EC5C-83DE074E04F9}"/>
              </a:ext>
            </a:extLst>
          </p:cNvPr>
          <p:cNvSpPr txBox="1"/>
          <p:nvPr/>
        </p:nvSpPr>
        <p:spPr>
          <a:xfrm>
            <a:off x="358671" y="2402325"/>
            <a:ext cx="4495146" cy="400110"/>
          </a:xfrm>
          <a:prstGeom prst="rect">
            <a:avLst/>
          </a:prstGeom>
          <a:noFill/>
        </p:spPr>
        <p:txBody>
          <a:bodyPr wrap="square">
            <a:spAutoFit/>
          </a:bodyPr>
          <a:lstStyle/>
          <a:p>
            <a:r>
              <a:rPr lang="fr-FR" sz="2000" b="1" dirty="0">
                <a:highlight>
                  <a:srgbClr val="FFFF00"/>
                </a:highlight>
                <a:latin typeface="Figtree"/>
              </a:rPr>
              <a:t>Exemple : Bien occupé / loué</a:t>
            </a:r>
            <a:endParaRPr lang="fr-FR" sz="1400" dirty="0">
              <a:highlight>
                <a:srgbClr val="FFFF00"/>
              </a:highlight>
            </a:endParaRPr>
          </a:p>
        </p:txBody>
      </p:sp>
      <p:sp>
        <p:nvSpPr>
          <p:cNvPr id="53" name="ZoneTexte 52">
            <a:extLst>
              <a:ext uri="{FF2B5EF4-FFF2-40B4-BE49-F238E27FC236}">
                <a16:creationId xmlns:a16="http://schemas.microsoft.com/office/drawing/2014/main" id="{9E9E2C5A-C8BE-9978-3FD9-88331041C419}"/>
              </a:ext>
            </a:extLst>
          </p:cNvPr>
          <p:cNvSpPr txBox="1"/>
          <p:nvPr/>
        </p:nvSpPr>
        <p:spPr>
          <a:xfrm>
            <a:off x="7922302" y="5818023"/>
            <a:ext cx="3511346" cy="830997"/>
          </a:xfrm>
          <a:prstGeom prst="rect">
            <a:avLst/>
          </a:prstGeom>
          <a:noFill/>
        </p:spPr>
        <p:txBody>
          <a:bodyPr wrap="none" rtlCol="0">
            <a:spAutoFit/>
          </a:bodyPr>
          <a:lstStyle/>
          <a:p>
            <a:r>
              <a:rPr lang="fr-FR" sz="1600" b="1" dirty="0">
                <a:solidFill>
                  <a:srgbClr val="00B050"/>
                </a:solidFill>
                <a:latin typeface="Figtree"/>
              </a:rPr>
              <a:t>Données à fournir (obligatoires)</a:t>
            </a:r>
            <a:endParaRPr lang="fr-FR" sz="1600" dirty="0">
              <a:latin typeface="Figtree"/>
            </a:endParaRPr>
          </a:p>
          <a:p>
            <a:r>
              <a:rPr lang="fr-FR" sz="1600" b="1" dirty="0">
                <a:solidFill>
                  <a:schemeClr val="accent4">
                    <a:lumMod val="75000"/>
                  </a:schemeClr>
                </a:solidFill>
                <a:latin typeface="Figtree"/>
              </a:rPr>
              <a:t>Données optionnelles (enrichissement)</a:t>
            </a:r>
          </a:p>
          <a:p>
            <a:r>
              <a:rPr lang="fr-FR" sz="1600" b="1" dirty="0">
                <a:solidFill>
                  <a:srgbClr val="FF0000"/>
                </a:solidFill>
                <a:latin typeface="Figtree"/>
              </a:rPr>
              <a:t>Instructions critiques</a:t>
            </a:r>
          </a:p>
        </p:txBody>
      </p:sp>
    </p:spTree>
    <p:extLst>
      <p:ext uri="{BB962C8B-B14F-4D97-AF65-F5344CB8AC3E}">
        <p14:creationId xmlns:p14="http://schemas.microsoft.com/office/powerpoint/2010/main" val="27745664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EC98E-294B-FEE9-1449-D249871E87F3}"/>
            </a:ext>
          </a:extLst>
        </p:cNvPr>
        <p:cNvGrpSpPr/>
        <p:nvPr/>
      </p:nvGrpSpPr>
      <p:grpSpPr>
        <a:xfrm>
          <a:off x="0" y="0"/>
          <a:ext cx="0" cy="0"/>
          <a:chOff x="0" y="0"/>
          <a:chExt cx="0" cy="0"/>
        </a:xfrm>
      </p:grpSpPr>
      <p:sp>
        <p:nvSpPr>
          <p:cNvPr id="7" name="Oval 2">
            <a:extLst>
              <a:ext uri="{FF2B5EF4-FFF2-40B4-BE49-F238E27FC236}">
                <a16:creationId xmlns:a16="http://schemas.microsoft.com/office/drawing/2014/main" id="{A6D8C5E3-2F4B-D5E5-314A-0F42D228831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11">
            <a:extLst>
              <a:ext uri="{FF2B5EF4-FFF2-40B4-BE49-F238E27FC236}">
                <a16:creationId xmlns:a16="http://schemas.microsoft.com/office/drawing/2014/main" id="{F4741978-96A6-A84D-1807-26A89D69D39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
            <a:extLst>
              <a:ext uri="{FF2B5EF4-FFF2-40B4-BE49-F238E27FC236}">
                <a16:creationId xmlns:a16="http://schemas.microsoft.com/office/drawing/2014/main" id="{7954CEED-D272-025F-8BAF-836C00167ACF}"/>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33A92395-D47B-4911-DB47-F477626CC9B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extBox 1">
            <a:extLst>
              <a:ext uri="{FF2B5EF4-FFF2-40B4-BE49-F238E27FC236}">
                <a16:creationId xmlns:a16="http://schemas.microsoft.com/office/drawing/2014/main" id="{95F70852-6439-6F21-24A0-CF530F67BF6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9" name="Rectangle: Rounded Corners 14">
            <a:extLst>
              <a:ext uri="{FF2B5EF4-FFF2-40B4-BE49-F238E27FC236}">
                <a16:creationId xmlns:a16="http://schemas.microsoft.com/office/drawing/2014/main" id="{0E10E640-E8F2-1B15-8F5E-8219A5A83AD8}"/>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 name="TextBox 1">
            <a:extLst>
              <a:ext uri="{FF2B5EF4-FFF2-40B4-BE49-F238E27FC236}">
                <a16:creationId xmlns:a16="http://schemas.microsoft.com/office/drawing/2014/main" id="{7B7464F7-4429-973B-2F3A-DA2E85A22502}"/>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3 – Situation juridique et urbanistique</a:t>
            </a:r>
          </a:p>
        </p:txBody>
      </p:sp>
      <p:sp>
        <p:nvSpPr>
          <p:cNvPr id="27" name="ZoneTexte 26">
            <a:extLst>
              <a:ext uri="{FF2B5EF4-FFF2-40B4-BE49-F238E27FC236}">
                <a16:creationId xmlns:a16="http://schemas.microsoft.com/office/drawing/2014/main" id="{36678584-1F4D-4ACF-9A59-A3912B5C7EDE}"/>
              </a:ext>
            </a:extLst>
          </p:cNvPr>
          <p:cNvSpPr txBox="1"/>
          <p:nvPr/>
        </p:nvSpPr>
        <p:spPr>
          <a:xfrm>
            <a:off x="242578" y="1183774"/>
            <a:ext cx="4415919"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9" name="ZoneTexte 28">
            <a:extLst>
              <a:ext uri="{FF2B5EF4-FFF2-40B4-BE49-F238E27FC236}">
                <a16:creationId xmlns:a16="http://schemas.microsoft.com/office/drawing/2014/main" id="{3CFC9DB5-A8CB-DEF4-8D71-C9464A740766}"/>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32" name="ZoneTexte 31">
            <a:extLst>
              <a:ext uri="{FF2B5EF4-FFF2-40B4-BE49-F238E27FC236}">
                <a16:creationId xmlns:a16="http://schemas.microsoft.com/office/drawing/2014/main" id="{F800FDE0-E2B1-2F10-5148-998B4CB67624}"/>
              </a:ext>
            </a:extLst>
          </p:cNvPr>
          <p:cNvSpPr txBox="1"/>
          <p:nvPr/>
        </p:nvSpPr>
        <p:spPr>
          <a:xfrm>
            <a:off x="312501" y="2149275"/>
            <a:ext cx="5152821" cy="738664"/>
          </a:xfrm>
          <a:prstGeom prst="rect">
            <a:avLst/>
          </a:prstGeom>
          <a:noFill/>
        </p:spPr>
        <p:txBody>
          <a:bodyPr wrap="none" rtlCol="0">
            <a:spAutoFit/>
          </a:bodyPr>
          <a:lstStyle/>
          <a:p>
            <a:r>
              <a:rPr lang="fr-FR" sz="2400" b="1" dirty="0">
                <a:latin typeface="Figtree"/>
              </a:rPr>
              <a:t>Exemple : </a:t>
            </a:r>
            <a:r>
              <a:rPr lang="fr-FR" sz="2400" b="1" dirty="0">
                <a:highlight>
                  <a:srgbClr val="FFFF00"/>
                </a:highlight>
                <a:latin typeface="Figtree"/>
              </a:rPr>
              <a:t>Appartement en copropriété</a:t>
            </a:r>
            <a:endParaRPr lang="fr-FR" sz="2400" dirty="0">
              <a:highlight>
                <a:srgbClr val="FFFF00"/>
              </a:highlight>
              <a:latin typeface="Figtree"/>
            </a:endParaRPr>
          </a:p>
          <a:p>
            <a:endParaRPr lang="fr-FR" dirty="0"/>
          </a:p>
        </p:txBody>
      </p:sp>
      <p:sp>
        <p:nvSpPr>
          <p:cNvPr id="34" name="ZoneTexte 33">
            <a:extLst>
              <a:ext uri="{FF2B5EF4-FFF2-40B4-BE49-F238E27FC236}">
                <a16:creationId xmlns:a16="http://schemas.microsoft.com/office/drawing/2014/main" id="{9348950D-2383-B79B-79BF-40AA4C746A29}"/>
              </a:ext>
            </a:extLst>
          </p:cNvPr>
          <p:cNvSpPr txBox="1"/>
          <p:nvPr/>
        </p:nvSpPr>
        <p:spPr>
          <a:xfrm>
            <a:off x="347679" y="2649335"/>
            <a:ext cx="5794872" cy="3539430"/>
          </a:xfrm>
          <a:prstGeom prst="rect">
            <a:avLst/>
          </a:prstGeom>
          <a:noFill/>
        </p:spPr>
        <p:txBody>
          <a:bodyPr wrap="square" rtlCol="0">
            <a:spAutoFit/>
          </a:bodyPr>
          <a:lstStyle/>
          <a:p>
            <a:r>
              <a:rPr lang="fr-FR" sz="1600" dirty="0">
                <a:latin typeface="Courier New" panose="02070309020205020404" pitchFamily="49" charset="0"/>
                <a:cs typeface="Courier New" panose="02070309020205020404" pitchFamily="49" charset="0"/>
              </a:rPr>
              <a:t>[Contexte dossier T4 Lyon 6e en mémoire]</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Rédige la section "Situation juridique et urbanistique«  du rapport. Prose sobre, 180 à 220 mots, trois paragraphes :</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§1 — Titre de propriété et régime juridique</a:t>
            </a:r>
          </a:p>
          <a:p>
            <a:r>
              <a:rPr lang="fr-FR" sz="1600" b="1" dirty="0">
                <a:latin typeface="Courier New" panose="02070309020205020404" pitchFamily="49" charset="0"/>
                <a:cs typeface="Courier New" panose="02070309020205020404" pitchFamily="49" charset="0"/>
              </a:rPr>
              <a:t>§2 — Situation en copropriété</a:t>
            </a:r>
          </a:p>
          <a:p>
            <a:r>
              <a:rPr lang="fr-FR" sz="1600" b="1" dirty="0">
                <a:latin typeface="Courier New" panose="02070309020205020404" pitchFamily="49" charset="0"/>
                <a:cs typeface="Courier New" panose="02070309020205020404" pitchFamily="49" charset="0"/>
              </a:rPr>
              <a:t>§3 — Situation urbanistique et diagnostics</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RÈGLE ABSOLUE </a:t>
            </a:r>
            <a:r>
              <a:rPr lang="fr-FR" sz="1600" dirty="0">
                <a:latin typeface="Courier New" panose="02070309020205020404" pitchFamily="49" charset="0"/>
                <a:cs typeface="Courier New" panose="02070309020205020404" pitchFamily="49" charset="0"/>
              </a:rPr>
              <a:t>: ne rien inventer hors des données fournies.</a:t>
            </a:r>
          </a:p>
          <a:p>
            <a:r>
              <a:rPr lang="fr-FR" sz="1600" dirty="0">
                <a:latin typeface="Courier New" panose="02070309020205020404" pitchFamily="49" charset="0"/>
                <a:cs typeface="Courier New" panose="02070309020205020404" pitchFamily="49" charset="0"/>
              </a:rPr>
              <a:t>Éléments non communiqués → "non communiqué à l'expert à la date de sa visite."</a:t>
            </a:r>
          </a:p>
        </p:txBody>
      </p:sp>
      <p:sp>
        <p:nvSpPr>
          <p:cNvPr id="35" name="ZoneTexte 34">
            <a:extLst>
              <a:ext uri="{FF2B5EF4-FFF2-40B4-BE49-F238E27FC236}">
                <a16:creationId xmlns:a16="http://schemas.microsoft.com/office/drawing/2014/main" id="{13BFECC9-5F87-D771-DFC0-BEA1D34FEE3F}"/>
              </a:ext>
            </a:extLst>
          </p:cNvPr>
          <p:cNvSpPr txBox="1"/>
          <p:nvPr/>
        </p:nvSpPr>
        <p:spPr>
          <a:xfrm>
            <a:off x="6397127" y="2649336"/>
            <a:ext cx="5794873" cy="3970318"/>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 PROPRIÉTÉ :</a:t>
            </a:r>
          </a:p>
          <a:p>
            <a:r>
              <a:rPr lang="fr-FR" sz="1400" dirty="0">
                <a:latin typeface="Courier New" panose="02070309020205020404" pitchFamily="49" charset="0"/>
                <a:cs typeface="Courier New" panose="02070309020205020404" pitchFamily="49" charset="0"/>
              </a:rPr>
              <a:t>Titre : acte notarié 2018</a:t>
            </a:r>
          </a:p>
          <a:p>
            <a:r>
              <a:rPr lang="fr-FR" sz="1400" dirty="0">
                <a:latin typeface="Courier New" panose="02070309020205020404" pitchFamily="49" charset="0"/>
                <a:cs typeface="Courier New" panose="02070309020205020404" pitchFamily="49" charset="0"/>
              </a:rPr>
              <a:t>Régime : pleine propriété — indivision successorale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 COPROPRIÉTÉ :</a:t>
            </a:r>
          </a:p>
          <a:p>
            <a:r>
              <a:rPr lang="fr-FR" sz="1400" dirty="0">
                <a:latin typeface="Courier New" panose="02070309020205020404" pitchFamily="49" charset="0"/>
                <a:cs typeface="Courier New" panose="02070309020205020404" pitchFamily="49" charset="0"/>
              </a:rPr>
              <a:t>Nombre de lots : 18</a:t>
            </a:r>
          </a:p>
          <a:p>
            <a:r>
              <a:rPr lang="fr-FR" sz="1400" dirty="0">
                <a:latin typeface="Courier New" panose="02070309020205020404" pitchFamily="49" charset="0"/>
                <a:cs typeface="Courier New" panose="02070309020205020404" pitchFamily="49" charset="0"/>
              </a:rPr>
              <a:t>Quote-part : 245/10 000 tantièmes</a:t>
            </a:r>
          </a:p>
          <a:p>
            <a:r>
              <a:rPr lang="fr-FR" sz="1400" dirty="0">
                <a:latin typeface="Courier New" panose="02070309020205020404" pitchFamily="49" charset="0"/>
                <a:cs typeface="Courier New" panose="02070309020205020404" pitchFamily="49" charset="0"/>
              </a:rPr>
              <a:t>Travaux votés : aucun</a:t>
            </a:r>
          </a:p>
          <a:p>
            <a:r>
              <a:rPr lang="fr-FR" sz="1400" dirty="0">
                <a:latin typeface="Courier New" panose="02070309020205020404" pitchFamily="49" charset="0"/>
                <a:cs typeface="Courier New" panose="02070309020205020404" pitchFamily="49" charset="0"/>
              </a:rPr>
              <a:t>Charges annuelles : 2 400 €/an</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DONNÉES — URBANISME :</a:t>
            </a:r>
          </a:p>
          <a:p>
            <a:r>
              <a:rPr lang="fr-FR" sz="1400" dirty="0">
                <a:latin typeface="Courier New" panose="02070309020205020404" pitchFamily="49" charset="0"/>
                <a:cs typeface="Courier New" panose="02070309020205020404" pitchFamily="49" charset="0"/>
              </a:rPr>
              <a:t>Zone PLU : UA — PLU de Lyon</a:t>
            </a:r>
          </a:p>
          <a:p>
            <a:r>
              <a:rPr lang="fr-FR" sz="1400" dirty="0">
                <a:latin typeface="Courier New" panose="02070309020205020404" pitchFamily="49" charset="0"/>
                <a:cs typeface="Courier New" panose="02070309020205020404" pitchFamily="49" charset="0"/>
              </a:rPr>
              <a:t>Servitudes connues : aucune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DIAGNOSTICS :</a:t>
            </a:r>
          </a:p>
          <a:p>
            <a:r>
              <a:rPr lang="fr-FR" sz="1400" dirty="0">
                <a:latin typeface="Courier New" panose="02070309020205020404" pitchFamily="49" charset="0"/>
                <a:cs typeface="Courier New" panose="02070309020205020404" pitchFamily="49" charset="0"/>
              </a:rPr>
              <a:t>DPE : étiquette D — 198 kWh/m²/an</a:t>
            </a:r>
          </a:p>
          <a:p>
            <a:r>
              <a:rPr lang="fr-FR" sz="1400" dirty="0">
                <a:latin typeface="Courier New" panose="02070309020205020404" pitchFamily="49" charset="0"/>
                <a:cs typeface="Courier New" panose="02070309020205020404" pitchFamily="49" charset="0"/>
              </a:rPr>
              <a:t>GES : étiquette D</a:t>
            </a:r>
          </a:p>
          <a:p>
            <a:r>
              <a:rPr lang="fr-FR" sz="1400" dirty="0">
                <a:latin typeface="Courier New" panose="02070309020205020404" pitchFamily="49" charset="0"/>
                <a:cs typeface="Courier New" panose="02070309020205020404" pitchFamily="49" charset="0"/>
              </a:rPr>
              <a:t>Autres diagnostics : non communiqués</a:t>
            </a:r>
          </a:p>
        </p:txBody>
      </p:sp>
    </p:spTree>
    <p:extLst>
      <p:ext uri="{BB962C8B-B14F-4D97-AF65-F5344CB8AC3E}">
        <p14:creationId xmlns:p14="http://schemas.microsoft.com/office/powerpoint/2010/main" val="20577742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E491-E2A2-E650-6EB2-A10FF2519744}"/>
            </a:ext>
          </a:extLst>
        </p:cNvPr>
        <p:cNvGrpSpPr/>
        <p:nvPr/>
      </p:nvGrpSpPr>
      <p:grpSpPr>
        <a:xfrm>
          <a:off x="0" y="0"/>
          <a:ext cx="0" cy="0"/>
          <a:chOff x="0" y="0"/>
          <a:chExt cx="0" cy="0"/>
        </a:xfrm>
      </p:grpSpPr>
      <p:sp>
        <p:nvSpPr>
          <p:cNvPr id="7" name="Oval 2">
            <a:extLst>
              <a:ext uri="{FF2B5EF4-FFF2-40B4-BE49-F238E27FC236}">
                <a16:creationId xmlns:a16="http://schemas.microsoft.com/office/drawing/2014/main" id="{14B2A9E3-B0F3-63C9-F60A-903A51A273F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11">
            <a:extLst>
              <a:ext uri="{FF2B5EF4-FFF2-40B4-BE49-F238E27FC236}">
                <a16:creationId xmlns:a16="http://schemas.microsoft.com/office/drawing/2014/main" id="{3F3A6170-E62A-644B-21C0-B049666A165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
            <a:extLst>
              <a:ext uri="{FF2B5EF4-FFF2-40B4-BE49-F238E27FC236}">
                <a16:creationId xmlns:a16="http://schemas.microsoft.com/office/drawing/2014/main" id="{A941F944-FD1D-7570-F6EB-EA9AFA0ADCB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3" name="Freeform: Shape 3">
            <a:extLst>
              <a:ext uri="{FF2B5EF4-FFF2-40B4-BE49-F238E27FC236}">
                <a16:creationId xmlns:a16="http://schemas.microsoft.com/office/drawing/2014/main" id="{80B35CED-1A99-7D33-16BB-2A656920B22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extBox 1">
            <a:extLst>
              <a:ext uri="{FF2B5EF4-FFF2-40B4-BE49-F238E27FC236}">
                <a16:creationId xmlns:a16="http://schemas.microsoft.com/office/drawing/2014/main" id="{D009CC3B-AFB4-5F21-C61F-12DD86A66F88}"/>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7" name="ZoneTexte 16">
            <a:extLst>
              <a:ext uri="{FF2B5EF4-FFF2-40B4-BE49-F238E27FC236}">
                <a16:creationId xmlns:a16="http://schemas.microsoft.com/office/drawing/2014/main" id="{4FA593A1-2465-B004-F1BE-1435C3D35BDE}"/>
              </a:ext>
            </a:extLst>
          </p:cNvPr>
          <p:cNvSpPr txBox="1"/>
          <p:nvPr/>
        </p:nvSpPr>
        <p:spPr>
          <a:xfrm>
            <a:off x="624076" y="2595202"/>
            <a:ext cx="11287838" cy="4124206"/>
          </a:xfrm>
          <a:prstGeom prst="rect">
            <a:avLst/>
          </a:prstGeom>
          <a:noFill/>
        </p:spPr>
        <p:txBody>
          <a:bodyPr wrap="square" rtlCol="0">
            <a:spAutoFit/>
          </a:bodyPr>
          <a:lstStyle/>
          <a:p>
            <a:r>
              <a:rPr lang="fr-FR" cap="all" dirty="0"/>
              <a:t>§ 1 — Titre de propriété et régime : </a:t>
            </a:r>
            <a:r>
              <a:rPr lang="fr-FR" sz="1600" dirty="0">
                <a:latin typeface="Figtree"/>
                <a:cs typeface="Courier New" panose="02070309020205020404" pitchFamily="49" charset="0"/>
              </a:rPr>
              <a:t>Le bien est détenu </a:t>
            </a:r>
            <a:r>
              <a:rPr lang="fr-FR" sz="1600" b="1" dirty="0">
                <a:solidFill>
                  <a:srgbClr val="00B050"/>
                </a:solidFill>
                <a:latin typeface="Figtree"/>
                <a:cs typeface="Courier New" panose="02070309020205020404" pitchFamily="49" charset="0"/>
              </a:rPr>
              <a:t>en pleine propriété, en situation d'indivision successorale </a:t>
            </a:r>
            <a:r>
              <a:rPr lang="fr-FR" sz="1600" dirty="0">
                <a:latin typeface="Figtree"/>
                <a:cs typeface="Courier New" panose="02070309020205020404" pitchFamily="49" charset="0"/>
              </a:rPr>
              <a:t>entre les parties, aux termes d'un </a:t>
            </a:r>
            <a:r>
              <a:rPr lang="fr-FR" sz="1600" b="1" dirty="0">
                <a:solidFill>
                  <a:srgbClr val="00B050"/>
                </a:solidFill>
                <a:latin typeface="Figtree"/>
                <a:cs typeface="Courier New" panose="02070309020205020404" pitchFamily="49" charset="0"/>
              </a:rPr>
              <a:t>acte notarié établi en 2018 </a:t>
            </a:r>
            <a:r>
              <a:rPr lang="fr-FR" sz="1600" dirty="0">
                <a:latin typeface="Figtree"/>
                <a:cs typeface="Courier New" panose="02070309020205020404" pitchFamily="49" charset="0"/>
              </a:rPr>
              <a:t>par une étude dont les coordonnées figurent aux pièces du dossier. </a:t>
            </a:r>
            <a:r>
              <a:rPr lang="fr-FR" sz="1600" b="1" dirty="0">
                <a:solidFill>
                  <a:srgbClr val="FF0000"/>
                </a:solidFill>
                <a:latin typeface="Figtree"/>
                <a:cs typeface="Courier New" panose="02070309020205020404" pitchFamily="49" charset="0"/>
              </a:rPr>
              <a:t>Aucune inscription hypothécaire ni privilège n'a été porté à ma connaissance à la date de la visite</a:t>
            </a:r>
            <a:r>
              <a:rPr lang="fr-FR" sz="1600" dirty="0">
                <a:latin typeface="Figtree"/>
                <a:cs typeface="Courier New" panose="02070309020205020404" pitchFamily="49" charset="0"/>
              </a:rPr>
              <a:t>. </a:t>
            </a:r>
            <a:r>
              <a:rPr lang="fr-FR" sz="1600" b="1" dirty="0">
                <a:solidFill>
                  <a:schemeClr val="accent1">
                    <a:lumMod val="75000"/>
                  </a:schemeClr>
                </a:solidFill>
                <a:latin typeface="Figtree"/>
                <a:cs typeface="Courier New" panose="02070309020205020404" pitchFamily="49" charset="0"/>
              </a:rPr>
              <a:t>Les conditions exactes de l'indivision, notamment les quotes-parts de chacun des indivisaires, ne m'ont pas été communiquées et ne font pas l'objet de la présente mission, laquelle se limite à la détermination de la valeur vénale du bien.</a:t>
            </a:r>
          </a:p>
          <a:p>
            <a:endParaRPr lang="fr-FR" sz="1600" dirty="0">
              <a:latin typeface="Figtree"/>
              <a:cs typeface="Courier New" panose="02070309020205020404" pitchFamily="49" charset="0"/>
            </a:endParaRPr>
          </a:p>
          <a:p>
            <a:r>
              <a:rPr lang="fr-FR" cap="all" dirty="0"/>
              <a:t>§ 2 — SITUATION EN Copropriété : </a:t>
            </a:r>
            <a:r>
              <a:rPr lang="fr-FR" sz="1600" dirty="0">
                <a:latin typeface="Figtree"/>
                <a:cs typeface="Courier New" panose="02070309020205020404" pitchFamily="49" charset="0"/>
              </a:rPr>
              <a:t>L'appartement est situé dans un immeuble soumis au </a:t>
            </a:r>
            <a:r>
              <a:rPr lang="fr-FR" sz="1600" b="1" dirty="0">
                <a:solidFill>
                  <a:schemeClr val="accent2">
                    <a:lumMod val="75000"/>
                  </a:schemeClr>
                </a:solidFill>
                <a:latin typeface="Figtree"/>
                <a:cs typeface="Courier New" panose="02070309020205020404" pitchFamily="49" charset="0"/>
              </a:rPr>
              <a:t>régime de la copropriété régi par la loi du 10 juillet 1965</a:t>
            </a:r>
            <a:r>
              <a:rPr lang="fr-FR" sz="1600" dirty="0">
                <a:latin typeface="Figtree"/>
                <a:cs typeface="Courier New" panose="02070309020205020404" pitchFamily="49" charset="0"/>
              </a:rPr>
              <a:t>. L'immeuble comprend </a:t>
            </a:r>
            <a:r>
              <a:rPr lang="fr-FR" sz="1600" b="1" dirty="0">
                <a:solidFill>
                  <a:srgbClr val="00B050"/>
                </a:solidFill>
                <a:latin typeface="Figtree"/>
                <a:cs typeface="Courier New" panose="02070309020205020404" pitchFamily="49" charset="0"/>
              </a:rPr>
              <a:t>18 lots principaux</a:t>
            </a:r>
            <a:r>
              <a:rPr lang="fr-FR" sz="1600" dirty="0">
                <a:latin typeface="Figtree"/>
                <a:cs typeface="Courier New" panose="02070309020205020404" pitchFamily="49" charset="0"/>
              </a:rPr>
              <a:t>. Le lot expertisé représente une </a:t>
            </a:r>
            <a:r>
              <a:rPr lang="fr-FR" sz="1600" b="1" dirty="0">
                <a:solidFill>
                  <a:srgbClr val="00B050"/>
                </a:solidFill>
                <a:latin typeface="Figtree"/>
                <a:cs typeface="Courier New" panose="02070309020205020404" pitchFamily="49" charset="0"/>
              </a:rPr>
              <a:t>quote-part de 245/10 000 tantièmes </a:t>
            </a:r>
            <a:r>
              <a:rPr lang="fr-FR" sz="1600" dirty="0">
                <a:latin typeface="Figtree"/>
                <a:cs typeface="Courier New" panose="02070309020205020404" pitchFamily="49" charset="0"/>
              </a:rPr>
              <a:t>des parties communes générales. Les charges de copropriété s'élèvent à </a:t>
            </a:r>
            <a:r>
              <a:rPr lang="fr-FR" sz="1600" b="1" dirty="0">
                <a:solidFill>
                  <a:srgbClr val="00B050"/>
                </a:solidFill>
                <a:latin typeface="Figtree"/>
                <a:cs typeface="Courier New" panose="02070309020205020404" pitchFamily="49" charset="0"/>
              </a:rPr>
              <a:t>2 400 euros par an</a:t>
            </a:r>
            <a:r>
              <a:rPr lang="fr-FR" sz="1600" dirty="0">
                <a:latin typeface="Figtree"/>
                <a:cs typeface="Courier New" panose="02070309020205020404" pitchFamily="49" charset="0"/>
              </a:rPr>
              <a:t>. </a:t>
            </a:r>
            <a:r>
              <a:rPr lang="fr-FR" sz="1600" b="1" dirty="0">
                <a:solidFill>
                  <a:srgbClr val="FF0000"/>
                </a:solidFill>
                <a:latin typeface="Figtree"/>
                <a:cs typeface="Courier New" panose="02070309020205020404" pitchFamily="49" charset="0"/>
              </a:rPr>
              <a:t>Aucune décision de travaux n'a été votée en assemblée générale et portée à ma connaissance à la date de la présente expertise.</a:t>
            </a:r>
          </a:p>
          <a:p>
            <a:endParaRPr lang="fr-FR" sz="1600" dirty="0">
              <a:latin typeface="Figtree"/>
              <a:cs typeface="Courier New" panose="02070309020205020404" pitchFamily="49" charset="0"/>
            </a:endParaRPr>
          </a:p>
          <a:p>
            <a:r>
              <a:rPr lang="fr-FR" cap="all" dirty="0"/>
              <a:t>§ 3 — Urbanisme et diagnostics : </a:t>
            </a:r>
            <a:r>
              <a:rPr lang="fr-FR" sz="1600" dirty="0">
                <a:latin typeface="Figtree"/>
                <a:cs typeface="Courier New" panose="02070309020205020404" pitchFamily="49" charset="0"/>
              </a:rPr>
              <a:t>Sur le plan urbanistique, le bien est situé en </a:t>
            </a:r>
            <a:r>
              <a:rPr lang="fr-FR" sz="1600" b="1" dirty="0">
                <a:solidFill>
                  <a:srgbClr val="00B050"/>
                </a:solidFill>
                <a:latin typeface="Figtree"/>
                <a:cs typeface="Courier New" panose="02070309020205020404" pitchFamily="49" charset="0"/>
              </a:rPr>
              <a:t>zone UA du Plan Local d'Urbanisme de la Ville de Lyon</a:t>
            </a:r>
            <a:r>
              <a:rPr lang="fr-FR" sz="1600" dirty="0">
                <a:latin typeface="Figtree"/>
                <a:cs typeface="Courier New" panose="02070309020205020404" pitchFamily="49" charset="0"/>
              </a:rPr>
              <a:t>, </a:t>
            </a:r>
            <a:r>
              <a:rPr lang="fr-FR" sz="1600" b="1" dirty="0">
                <a:solidFill>
                  <a:schemeClr val="accent1">
                    <a:lumMod val="75000"/>
                  </a:schemeClr>
                </a:solidFill>
                <a:latin typeface="Figtree"/>
                <a:cs typeface="Courier New" panose="02070309020205020404" pitchFamily="49" charset="0"/>
              </a:rPr>
              <a:t>zone correspondant au tissu urbain dense à usage mixte habitat-commerces</a:t>
            </a:r>
            <a:r>
              <a:rPr lang="fr-FR" sz="1600" dirty="0">
                <a:latin typeface="Figtree"/>
                <a:cs typeface="Courier New" panose="02070309020205020404" pitchFamily="49" charset="0"/>
              </a:rPr>
              <a:t>. </a:t>
            </a:r>
            <a:r>
              <a:rPr lang="fr-FR" sz="1600" b="1" dirty="0">
                <a:solidFill>
                  <a:srgbClr val="FF0000"/>
                </a:solidFill>
                <a:latin typeface="Figtree"/>
                <a:cs typeface="Courier New" panose="02070309020205020404" pitchFamily="49" charset="0"/>
              </a:rPr>
              <a:t>Aucune servitude d'urbanisme particulière, ni périmètre de protection au titre des monuments historiques, n'a été porté à ma connaissance</a:t>
            </a:r>
            <a:r>
              <a:rPr lang="fr-FR" sz="1600" dirty="0">
                <a:latin typeface="Figtree"/>
                <a:cs typeface="Courier New" panose="02070309020205020404" pitchFamily="49" charset="0"/>
              </a:rPr>
              <a:t>. Le bien fait l'objet d'un diagnostic de performance énergétique classant sa consommation en </a:t>
            </a:r>
            <a:r>
              <a:rPr lang="fr-FR" sz="1600" b="1" dirty="0">
                <a:solidFill>
                  <a:srgbClr val="00B050"/>
                </a:solidFill>
                <a:latin typeface="Figtree"/>
                <a:cs typeface="Courier New" panose="02070309020205020404" pitchFamily="49" charset="0"/>
              </a:rPr>
              <a:t>étiquette D (198 kWh/m²/an) </a:t>
            </a:r>
            <a:r>
              <a:rPr lang="fr-FR" sz="1600" dirty="0">
                <a:latin typeface="Figtree"/>
                <a:cs typeface="Courier New" panose="02070309020205020404" pitchFamily="49" charset="0"/>
              </a:rPr>
              <a:t>et ses émissions de gaz à effet de serre en </a:t>
            </a:r>
            <a:r>
              <a:rPr lang="fr-FR" sz="1600" b="1" dirty="0">
                <a:solidFill>
                  <a:srgbClr val="00B050"/>
                </a:solidFill>
                <a:latin typeface="Figtree"/>
                <a:cs typeface="Courier New" panose="02070309020205020404" pitchFamily="49" charset="0"/>
              </a:rPr>
              <a:t>étiquette D.</a:t>
            </a:r>
            <a:r>
              <a:rPr lang="fr-FR" sz="1600" dirty="0">
                <a:latin typeface="Figtree"/>
                <a:cs typeface="Courier New" panose="02070309020205020404" pitchFamily="49" charset="0"/>
              </a:rPr>
              <a:t> </a:t>
            </a:r>
            <a:r>
              <a:rPr lang="fr-FR" sz="1600" b="1" dirty="0">
                <a:solidFill>
                  <a:srgbClr val="FF0000"/>
                </a:solidFill>
                <a:latin typeface="Figtree"/>
                <a:cs typeface="Courier New" panose="02070309020205020404" pitchFamily="49" charset="0"/>
              </a:rPr>
              <a:t>Les autres diagnostics techniques n'ont pas été communiqués à l'expert à la date de sa visite.</a:t>
            </a:r>
          </a:p>
        </p:txBody>
      </p:sp>
      <p:sp>
        <p:nvSpPr>
          <p:cNvPr id="19" name="Rectangle: Rounded Corners 14">
            <a:extLst>
              <a:ext uri="{FF2B5EF4-FFF2-40B4-BE49-F238E27FC236}">
                <a16:creationId xmlns:a16="http://schemas.microsoft.com/office/drawing/2014/main" id="{DF7418C3-409B-41A7-6132-CF81A54D7431}"/>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 name="TextBox 1">
            <a:extLst>
              <a:ext uri="{FF2B5EF4-FFF2-40B4-BE49-F238E27FC236}">
                <a16:creationId xmlns:a16="http://schemas.microsoft.com/office/drawing/2014/main" id="{FD8DEE2A-AAC8-F32F-B0BF-D51E14275E82}"/>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3 – Situation juridique et urbanistique</a:t>
            </a:r>
          </a:p>
        </p:txBody>
      </p:sp>
      <p:sp>
        <p:nvSpPr>
          <p:cNvPr id="23" name="ZoneTexte 22">
            <a:extLst>
              <a:ext uri="{FF2B5EF4-FFF2-40B4-BE49-F238E27FC236}">
                <a16:creationId xmlns:a16="http://schemas.microsoft.com/office/drawing/2014/main" id="{D253724D-3F4C-F930-901C-7147258C1A52}"/>
              </a:ext>
            </a:extLst>
          </p:cNvPr>
          <p:cNvSpPr txBox="1"/>
          <p:nvPr/>
        </p:nvSpPr>
        <p:spPr>
          <a:xfrm>
            <a:off x="624076" y="2051452"/>
            <a:ext cx="3607911" cy="738664"/>
          </a:xfrm>
          <a:prstGeom prst="rect">
            <a:avLst/>
          </a:prstGeom>
          <a:noFill/>
        </p:spPr>
        <p:txBody>
          <a:bodyPr wrap="none" rtlCol="0">
            <a:spAutoFit/>
          </a:bodyPr>
          <a:lstStyle/>
          <a:p>
            <a:r>
              <a:rPr lang="fr-FR" sz="2400" b="1" dirty="0">
                <a:latin typeface="Figtree"/>
              </a:rPr>
              <a:t>Ce que produit ce prompt :</a:t>
            </a:r>
            <a:endParaRPr lang="fr-FR" sz="2400" dirty="0">
              <a:latin typeface="Figtree"/>
            </a:endParaRPr>
          </a:p>
          <a:p>
            <a:endParaRPr lang="fr-FR" dirty="0"/>
          </a:p>
        </p:txBody>
      </p:sp>
      <p:sp>
        <p:nvSpPr>
          <p:cNvPr id="27" name="ZoneTexte 26">
            <a:extLst>
              <a:ext uri="{FF2B5EF4-FFF2-40B4-BE49-F238E27FC236}">
                <a16:creationId xmlns:a16="http://schemas.microsoft.com/office/drawing/2014/main" id="{5AB16A7D-5D1C-06D7-AB47-D44E5C949BF2}"/>
              </a:ext>
            </a:extLst>
          </p:cNvPr>
          <p:cNvSpPr txBox="1"/>
          <p:nvPr/>
        </p:nvSpPr>
        <p:spPr>
          <a:xfrm>
            <a:off x="242578" y="1183774"/>
            <a:ext cx="4415919"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9" name="ZoneTexte 28">
            <a:extLst>
              <a:ext uri="{FF2B5EF4-FFF2-40B4-BE49-F238E27FC236}">
                <a16:creationId xmlns:a16="http://schemas.microsoft.com/office/drawing/2014/main" id="{564935BF-6171-C598-B679-6662EB6C85A4}"/>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32" name="ZoneTexte 31">
            <a:extLst>
              <a:ext uri="{FF2B5EF4-FFF2-40B4-BE49-F238E27FC236}">
                <a16:creationId xmlns:a16="http://schemas.microsoft.com/office/drawing/2014/main" id="{DD8AE435-AC45-3C52-FDFA-57BF61D2EEB3}"/>
              </a:ext>
            </a:extLst>
          </p:cNvPr>
          <p:cNvSpPr txBox="1"/>
          <p:nvPr/>
        </p:nvSpPr>
        <p:spPr>
          <a:xfrm>
            <a:off x="4268976" y="2051452"/>
            <a:ext cx="3844129" cy="738664"/>
          </a:xfrm>
          <a:prstGeom prst="rect">
            <a:avLst/>
          </a:prstGeom>
          <a:noFill/>
        </p:spPr>
        <p:txBody>
          <a:bodyPr wrap="none" rtlCol="0">
            <a:spAutoFit/>
          </a:bodyPr>
          <a:lstStyle/>
          <a:p>
            <a:r>
              <a:rPr lang="fr-FR" sz="2400" b="1" dirty="0">
                <a:highlight>
                  <a:srgbClr val="FFFF00"/>
                </a:highlight>
                <a:latin typeface="Figtree"/>
              </a:rPr>
              <a:t>Appartement en copropriété</a:t>
            </a:r>
            <a:endParaRPr lang="fr-FR" sz="2400" dirty="0">
              <a:highlight>
                <a:srgbClr val="FFFF00"/>
              </a:highlight>
              <a:latin typeface="Figtree"/>
            </a:endParaRPr>
          </a:p>
          <a:p>
            <a:endParaRPr lang="fr-FR" dirty="0"/>
          </a:p>
        </p:txBody>
      </p:sp>
      <p:sp>
        <p:nvSpPr>
          <p:cNvPr id="2" name="ZoneTexte 1">
            <a:extLst>
              <a:ext uri="{FF2B5EF4-FFF2-40B4-BE49-F238E27FC236}">
                <a16:creationId xmlns:a16="http://schemas.microsoft.com/office/drawing/2014/main" id="{7AB7BB9A-FFFD-1333-09FB-6C6FD64D7D13}"/>
              </a:ext>
            </a:extLst>
          </p:cNvPr>
          <p:cNvSpPr txBox="1"/>
          <p:nvPr/>
        </p:nvSpPr>
        <p:spPr>
          <a:xfrm>
            <a:off x="9400032" y="1989639"/>
            <a:ext cx="2253502" cy="369332"/>
          </a:xfrm>
          <a:prstGeom prst="rect">
            <a:avLst/>
          </a:prstGeom>
          <a:noFill/>
        </p:spPr>
        <p:txBody>
          <a:bodyPr wrap="none" rtlCol="0">
            <a:spAutoFit/>
          </a:bodyPr>
          <a:lstStyle/>
          <a:p>
            <a:r>
              <a:rPr lang="fr-FR" dirty="0"/>
              <a:t>Décompte : 227 mots </a:t>
            </a:r>
          </a:p>
        </p:txBody>
      </p:sp>
    </p:spTree>
    <p:extLst>
      <p:ext uri="{BB962C8B-B14F-4D97-AF65-F5344CB8AC3E}">
        <p14:creationId xmlns:p14="http://schemas.microsoft.com/office/powerpoint/2010/main" val="27010570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B8AD7-E7CC-2F8A-E0A0-4C0C702FFD84}"/>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07D23DF7-D3DE-ECA9-9283-3E0449B8737F}"/>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FCD00046-DF4E-70FE-57F2-63F2A58AB92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CF55CAA0-3340-BCE9-831B-B24167D3CC1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F368728D-7A8E-7A18-5583-2EF9701F1C5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E22B163F-1067-F9C4-069E-8FF9EE16E2E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5" name="ZoneTexte 14">
            <a:extLst>
              <a:ext uri="{FF2B5EF4-FFF2-40B4-BE49-F238E27FC236}">
                <a16:creationId xmlns:a16="http://schemas.microsoft.com/office/drawing/2014/main" id="{0DBDB60B-37A5-A72C-AFD0-E0C280C52066}"/>
              </a:ext>
            </a:extLst>
          </p:cNvPr>
          <p:cNvSpPr txBox="1"/>
          <p:nvPr/>
        </p:nvSpPr>
        <p:spPr>
          <a:xfrm>
            <a:off x="345738" y="2260992"/>
            <a:ext cx="5592483" cy="4185761"/>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 agréé.</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Contexte du dossier en mémoire]</a:t>
            </a:r>
          </a:p>
          <a:p>
            <a:r>
              <a:rPr lang="fr-FR" sz="1400" dirty="0">
                <a:latin typeface="Courier New" panose="02070309020205020404" pitchFamily="49" charset="0"/>
                <a:cs typeface="Courier New" panose="02070309020205020404" pitchFamily="49" charset="0"/>
              </a:rPr>
              <a:t>Rédige la section "Description physique du bien".</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technique, </a:t>
            </a:r>
            <a:r>
              <a:rPr lang="fr-FR" sz="1400" dirty="0">
                <a:solidFill>
                  <a:srgbClr val="FF0000"/>
                </a:solidFill>
                <a:latin typeface="Courier New" panose="02070309020205020404" pitchFamily="49" charset="0"/>
                <a:cs typeface="Courier New" panose="02070309020205020404" pitchFamily="49" charset="0"/>
              </a:rPr>
              <a:t>(selon nature du rapport ajouter  : en vue d'un rapport d'expertise judiciaire) </a:t>
            </a:r>
            <a:r>
              <a:rPr lang="fr-FR" sz="1400" dirty="0">
                <a:latin typeface="Courier New" panose="02070309020205020404" pitchFamily="49" charset="0"/>
                <a:cs typeface="Courier New" panose="02070309020205020404" pitchFamily="49" charset="0"/>
              </a:rPr>
              <a:t>200 à 250 mots, deux paragraphes :</a:t>
            </a:r>
          </a:p>
          <a:p>
            <a:r>
              <a:rPr lang="fr-FR" sz="1400" b="1" dirty="0">
                <a:highlight>
                  <a:srgbClr val="FFFF00"/>
                </a:highlight>
                <a:latin typeface="Courier New" panose="02070309020205020404" pitchFamily="49" charset="0"/>
                <a:cs typeface="Courier New" panose="02070309020205020404" pitchFamily="49" charset="0"/>
              </a:rPr>
              <a:t>§1 — Situation dans l'immeuble et caractéristiques générales</a:t>
            </a:r>
          </a:p>
          <a:p>
            <a:r>
              <a:rPr lang="fr-FR" sz="1400" b="1" dirty="0">
                <a:highlight>
                  <a:srgbClr val="FFFF00"/>
                </a:highlight>
                <a:latin typeface="Courier New" panose="02070309020205020404" pitchFamily="49" charset="0"/>
                <a:cs typeface="Courier New" panose="02070309020205020404" pitchFamily="49" charset="0"/>
              </a:rPr>
              <a:t>§2 — Distribution intérieure et état des éléments constatés</a:t>
            </a:r>
          </a:p>
          <a:p>
            <a:r>
              <a:rPr lang="fr-FR" sz="1400" dirty="0">
                <a:latin typeface="Courier New" panose="02070309020205020404" pitchFamily="49" charset="0"/>
                <a:cs typeface="Courier New" panose="02070309020205020404" pitchFamily="49" charset="0"/>
              </a:rPr>
              <a:t>  </a:t>
            </a:r>
          </a:p>
          <a:p>
            <a:r>
              <a:rPr lang="fr-FR" sz="1400" dirty="0">
                <a:latin typeface="Courier New" panose="02070309020205020404" pitchFamily="49" charset="0"/>
                <a:cs typeface="Courier New" panose="02070309020205020404" pitchFamily="49" charset="0"/>
              </a:rPr>
              <a:t>Première personne pour tous les constats de visite.</a:t>
            </a:r>
          </a:p>
          <a:p>
            <a:r>
              <a:rPr lang="fr-FR" sz="1400" dirty="0">
                <a:latin typeface="Courier New" panose="02070309020205020404" pitchFamily="49" charset="0"/>
                <a:cs typeface="Courier New" panose="02070309020205020404" pitchFamily="49" charset="0"/>
              </a:rPr>
              <a:t>Aucun superlatif. Aucune appréciation de valeur.</a:t>
            </a:r>
          </a:p>
          <a:p>
            <a:r>
              <a:rPr lang="fr-FR" sz="1400" dirty="0">
                <a:latin typeface="Courier New" panose="02070309020205020404" pitchFamily="49" charset="0"/>
                <a:cs typeface="Courier New" panose="02070309020205020404" pitchFamily="49" charset="0"/>
              </a:rPr>
              <a:t>Mentionner explicitement les points faibles.</a:t>
            </a:r>
          </a:p>
          <a:p>
            <a:r>
              <a:rPr lang="fr-FR" sz="1400" dirty="0">
                <a:latin typeface="Courier New" panose="02070309020205020404" pitchFamily="49" charset="0"/>
                <a:cs typeface="Courier New" panose="02070309020205020404" pitchFamily="49" charset="0"/>
              </a:rPr>
              <a:t>  </a:t>
            </a:r>
          </a:p>
          <a:p>
            <a:r>
              <a:rPr lang="fr-FR" sz="1400" b="1" dirty="0">
                <a:latin typeface="Courier New" panose="02070309020205020404" pitchFamily="49" charset="0"/>
                <a:cs typeface="Courier New" panose="02070309020205020404" pitchFamily="49" charset="0"/>
              </a:rPr>
              <a:t>NOTES DE VISITE : </a:t>
            </a:r>
            <a:r>
              <a:rPr lang="fr-FR" sz="1400" dirty="0">
                <a:latin typeface="Courier New" panose="02070309020205020404" pitchFamily="49" charset="0"/>
                <a:cs typeface="Courier New" panose="02070309020205020404" pitchFamily="49" charset="0"/>
              </a:rPr>
              <a:t>[coller les notes brutes ici]</a:t>
            </a:r>
          </a:p>
        </p:txBody>
      </p:sp>
      <p:sp>
        <p:nvSpPr>
          <p:cNvPr id="19" name="ZoneTexte 18">
            <a:extLst>
              <a:ext uri="{FF2B5EF4-FFF2-40B4-BE49-F238E27FC236}">
                <a16:creationId xmlns:a16="http://schemas.microsoft.com/office/drawing/2014/main" id="{B0E7763E-8D97-CC04-DE2E-1F533AC07757}"/>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63646028-CF94-1C9C-1D6E-AB1A38DCDD1D}"/>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ABAD1DA5-60E8-9992-7616-20B2635CE3D6}"/>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4 – Description physique du bien</a:t>
            </a:r>
          </a:p>
        </p:txBody>
      </p:sp>
      <p:sp>
        <p:nvSpPr>
          <p:cNvPr id="25" name="ZoneTexte 24">
            <a:extLst>
              <a:ext uri="{FF2B5EF4-FFF2-40B4-BE49-F238E27FC236}">
                <a16:creationId xmlns:a16="http://schemas.microsoft.com/office/drawing/2014/main" id="{0C5FF6C3-727D-0099-D926-DA3CB7645D04}"/>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 name="ZoneTexte 1">
            <a:extLst>
              <a:ext uri="{FF2B5EF4-FFF2-40B4-BE49-F238E27FC236}">
                <a16:creationId xmlns:a16="http://schemas.microsoft.com/office/drawing/2014/main" id="{1097B9FD-BF77-0048-7AF0-BA73788683C1}"/>
              </a:ext>
            </a:extLst>
          </p:cNvPr>
          <p:cNvSpPr txBox="1"/>
          <p:nvPr/>
        </p:nvSpPr>
        <p:spPr>
          <a:xfrm>
            <a:off x="6364890" y="2260992"/>
            <a:ext cx="5481372" cy="3970318"/>
          </a:xfrm>
          <a:prstGeom prst="rect">
            <a:avLst/>
          </a:prstGeom>
          <a:noFill/>
        </p:spPr>
        <p:txBody>
          <a:bodyPr wrap="none" rtlCol="0">
            <a:spAutoFit/>
          </a:bodyPr>
          <a:lstStyle/>
          <a:p>
            <a:r>
              <a:rPr lang="fr-FR" b="1" dirty="0">
                <a:latin typeface="Figtree"/>
              </a:rPr>
              <a:t> ▌ </a:t>
            </a:r>
            <a:r>
              <a:rPr lang="fr-FR" b="1" dirty="0">
                <a:solidFill>
                  <a:srgbClr val="FF0000"/>
                </a:solidFill>
                <a:latin typeface="Figtree"/>
              </a:rPr>
              <a:t>CORRECTIONS DE TON — AMIABLE</a:t>
            </a:r>
            <a:endParaRPr lang="fr-FR" dirty="0">
              <a:solidFill>
                <a:srgbClr val="FF0000"/>
              </a:solidFill>
              <a:latin typeface="Figtree"/>
            </a:endParaRPr>
          </a:p>
          <a:p>
            <a:r>
              <a:rPr lang="fr-FR" dirty="0">
                <a:latin typeface="Figtree"/>
              </a:rPr>
              <a:t>  JUDICIAIRE → AMIABLE (corrections à faire si l'IA glisse)</a:t>
            </a:r>
          </a:p>
          <a:p>
            <a:r>
              <a:rPr lang="fr-FR" dirty="0">
                <a:latin typeface="Figtree"/>
              </a:rPr>
              <a:t>  </a:t>
            </a:r>
          </a:p>
          <a:p>
            <a:r>
              <a:rPr lang="fr-FR" dirty="0">
                <a:latin typeface="Figtree"/>
              </a:rPr>
              <a:t>  "l'expert soussigné a relevé"</a:t>
            </a:r>
          </a:p>
          <a:p>
            <a:r>
              <a:rPr lang="fr-FR" dirty="0">
                <a:latin typeface="Figtree"/>
              </a:rPr>
              <a:t>    remplacer par → "j'ai relevé"</a:t>
            </a:r>
          </a:p>
          <a:p>
            <a:r>
              <a:rPr lang="fr-FR" dirty="0">
                <a:latin typeface="Figtree"/>
              </a:rPr>
              <a:t>  </a:t>
            </a:r>
          </a:p>
          <a:p>
            <a:r>
              <a:rPr lang="fr-FR" dirty="0">
                <a:latin typeface="Figtree"/>
              </a:rPr>
              <a:t>  "lors de mes opérations d'expertise"</a:t>
            </a:r>
          </a:p>
          <a:p>
            <a:r>
              <a:rPr lang="fr-FR" dirty="0">
                <a:latin typeface="Figtree"/>
              </a:rPr>
              <a:t>    remplacer par → "lors de ma visite"</a:t>
            </a:r>
          </a:p>
          <a:p>
            <a:r>
              <a:rPr lang="fr-FR" dirty="0">
                <a:latin typeface="Figtree"/>
              </a:rPr>
              <a:t>  </a:t>
            </a:r>
          </a:p>
          <a:p>
            <a:r>
              <a:rPr lang="fr-FR" dirty="0">
                <a:latin typeface="Figtree"/>
              </a:rPr>
              <a:t>  "il a été constaté que"</a:t>
            </a:r>
          </a:p>
          <a:p>
            <a:r>
              <a:rPr lang="fr-FR" dirty="0">
                <a:latin typeface="Figtree"/>
              </a:rPr>
              <a:t>  remplacer par → "j'ai constaté que"</a:t>
            </a:r>
          </a:p>
          <a:p>
            <a:r>
              <a:rPr lang="fr-FR" dirty="0">
                <a:latin typeface="Figtree"/>
              </a:rPr>
              <a:t>  </a:t>
            </a:r>
          </a:p>
          <a:p>
            <a:r>
              <a:rPr lang="fr-FR" dirty="0">
                <a:latin typeface="Figtree"/>
              </a:rPr>
              <a:t>  "conformément à ma mission judiciaire"</a:t>
            </a:r>
          </a:p>
          <a:p>
            <a:r>
              <a:rPr lang="fr-FR" dirty="0">
                <a:latin typeface="Figtree"/>
              </a:rPr>
              <a:t>     remplacer par → supprimer</a:t>
            </a:r>
          </a:p>
        </p:txBody>
      </p:sp>
    </p:spTree>
    <p:extLst>
      <p:ext uri="{BB962C8B-B14F-4D97-AF65-F5344CB8AC3E}">
        <p14:creationId xmlns:p14="http://schemas.microsoft.com/office/powerpoint/2010/main" val="21602208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46454-F4F7-4A40-ED7F-D90905C78BC7}"/>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D10FE4D0-5528-ECD7-6DC4-48DCD4E8431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11814218-B6AF-06DB-615D-DFADC1312B5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6303C917-6418-B1CA-6698-3D886340A563}"/>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4D61E903-E0C2-8CAF-BABC-8A628688396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2059CBFD-71F6-FAED-76D8-853FA5574508}"/>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9" name="ZoneTexte 18">
            <a:extLst>
              <a:ext uri="{FF2B5EF4-FFF2-40B4-BE49-F238E27FC236}">
                <a16:creationId xmlns:a16="http://schemas.microsoft.com/office/drawing/2014/main" id="{CAD0C708-9A9A-0149-782A-2B6397E3241F}"/>
              </a:ext>
            </a:extLst>
          </p:cNvPr>
          <p:cNvSpPr txBox="1"/>
          <p:nvPr/>
        </p:nvSpPr>
        <p:spPr>
          <a:xfrm>
            <a:off x="242578" y="1098430"/>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8D83AA73-71AA-9A00-25E2-98A0E2334FA4}"/>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9DC409E8-5ADE-7131-6AA6-4CD940BD16D9}"/>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4 – Description physique du bien</a:t>
            </a:r>
          </a:p>
        </p:txBody>
      </p:sp>
      <p:sp>
        <p:nvSpPr>
          <p:cNvPr id="25" name="ZoneTexte 24">
            <a:extLst>
              <a:ext uri="{FF2B5EF4-FFF2-40B4-BE49-F238E27FC236}">
                <a16:creationId xmlns:a16="http://schemas.microsoft.com/office/drawing/2014/main" id="{E82DF75C-D339-160B-35DC-C728B88FC7AF}"/>
              </a:ext>
            </a:extLst>
          </p:cNvPr>
          <p:cNvSpPr txBox="1"/>
          <p:nvPr/>
        </p:nvSpPr>
        <p:spPr>
          <a:xfrm>
            <a:off x="242578" y="1420997"/>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 name="ZoneTexte 1">
            <a:extLst>
              <a:ext uri="{FF2B5EF4-FFF2-40B4-BE49-F238E27FC236}">
                <a16:creationId xmlns:a16="http://schemas.microsoft.com/office/drawing/2014/main" id="{44870C1C-450A-BB37-1C9E-0E53D4049100}"/>
              </a:ext>
            </a:extLst>
          </p:cNvPr>
          <p:cNvSpPr txBox="1"/>
          <p:nvPr/>
        </p:nvSpPr>
        <p:spPr>
          <a:xfrm>
            <a:off x="242578" y="1940949"/>
            <a:ext cx="11284282" cy="4801314"/>
          </a:xfrm>
          <a:prstGeom prst="rect">
            <a:avLst/>
          </a:prstGeom>
          <a:noFill/>
        </p:spPr>
        <p:txBody>
          <a:bodyPr wrap="square" rtlCol="0">
            <a:spAutoFit/>
          </a:bodyPr>
          <a:lstStyle/>
          <a:p>
            <a:r>
              <a:rPr lang="fr-FR" sz="1700" b="1" dirty="0">
                <a:solidFill>
                  <a:schemeClr val="accent1">
                    <a:lumMod val="75000"/>
                  </a:schemeClr>
                </a:solidFill>
              </a:rPr>
              <a:t>Appartement en copropriété</a:t>
            </a:r>
          </a:p>
          <a:p>
            <a:r>
              <a:rPr lang="fr-FR" sz="1700" dirty="0"/>
              <a:t>Prompt universel applicable. </a:t>
            </a:r>
            <a:r>
              <a:rPr lang="fr-FR" sz="1700" b="1" dirty="0"/>
              <a:t>§1 inclut la situation dans l'immeuble (étage, ascenseur, état parties communes). §2 décrit la distribution et l'état intérieur.</a:t>
            </a:r>
          </a:p>
          <a:p>
            <a:r>
              <a:rPr lang="fr-FR" sz="1700" b="1" dirty="0">
                <a:solidFill>
                  <a:schemeClr val="accent1">
                    <a:lumMod val="75000"/>
                  </a:schemeClr>
                </a:solidFill>
              </a:rPr>
              <a:t>Maison individuelle</a:t>
            </a:r>
          </a:p>
          <a:p>
            <a:r>
              <a:rPr lang="fr-FR" sz="1700" dirty="0"/>
              <a:t>Remplacer la structure par : </a:t>
            </a:r>
            <a:r>
              <a:rPr lang="fr-FR" sz="1700" b="1" dirty="0"/>
              <a:t>"§1 — Description extérieure (façade, toiture, terrain, garage)" et "§2 — Description intérieure (distribution, surfaces, état des pièces)".</a:t>
            </a:r>
          </a:p>
          <a:p>
            <a:r>
              <a:rPr lang="fr-FR" sz="1700" b="1" dirty="0">
                <a:solidFill>
                  <a:schemeClr val="accent1">
                    <a:lumMod val="75000"/>
                  </a:schemeClr>
                </a:solidFill>
              </a:rPr>
              <a:t>Local commercial</a:t>
            </a:r>
          </a:p>
          <a:p>
            <a:r>
              <a:rPr lang="fr-FR" sz="1700" dirty="0"/>
              <a:t>Remplacer la structure par : </a:t>
            </a:r>
            <a:r>
              <a:rPr lang="fr-FR" sz="1700" b="1" dirty="0"/>
              <a:t>"§1 — Configuration et accessibilité" et "§2 — État des installations et équipements commerciaux".</a:t>
            </a:r>
            <a:r>
              <a:rPr lang="fr-FR" sz="1700" dirty="0"/>
              <a:t> Ajouter : vitrine, réserve, accès livraisons, installation électrique spécifique.</a:t>
            </a:r>
          </a:p>
          <a:p>
            <a:r>
              <a:rPr lang="fr-FR" sz="1700" b="1" dirty="0">
                <a:solidFill>
                  <a:schemeClr val="accent1">
                    <a:lumMod val="75000"/>
                  </a:schemeClr>
                </a:solidFill>
              </a:rPr>
              <a:t>Terrain à bâtir</a:t>
            </a:r>
          </a:p>
          <a:p>
            <a:r>
              <a:rPr lang="fr-FR" sz="1700" dirty="0"/>
              <a:t>Section réduite à un seul paragraphe : forme, superficie, accès, clôture, présence de constructions existantes à démolir éventuellement.</a:t>
            </a:r>
          </a:p>
          <a:p>
            <a:r>
              <a:rPr lang="fr-FR" sz="1700" b="1" dirty="0">
                <a:solidFill>
                  <a:schemeClr val="accent1">
                    <a:lumMod val="75000"/>
                  </a:schemeClr>
                </a:solidFill>
              </a:rPr>
              <a:t>Bien péri-urbain / rural</a:t>
            </a:r>
          </a:p>
          <a:p>
            <a:r>
              <a:rPr lang="fr-FR" sz="1700" b="1" dirty="0"/>
              <a:t>§1 description extérieure renforcée : dépendances, piscine éventuelle, superficie terrain, type de clôture. §2 description intérieure standard.</a:t>
            </a:r>
          </a:p>
          <a:p>
            <a:r>
              <a:rPr lang="fr-FR" sz="1700" b="1" dirty="0">
                <a:solidFill>
                  <a:schemeClr val="accent1">
                    <a:lumMod val="75000"/>
                  </a:schemeClr>
                </a:solidFill>
              </a:rPr>
              <a:t>Bien occupé / loué</a:t>
            </a:r>
          </a:p>
          <a:p>
            <a:r>
              <a:rPr lang="fr-FR" sz="1700" b="1" dirty="0"/>
              <a:t>Ajouter en fin de §2 : "La visite s'est déroulée en présence du locataire occupant. L'accès à [pièce(s)] a été [accordé / limité] dans les conditions suivantes : [préciser si applicable]."</a:t>
            </a:r>
          </a:p>
        </p:txBody>
      </p:sp>
      <p:sp>
        <p:nvSpPr>
          <p:cNvPr id="3" name="ZoneTexte 2">
            <a:extLst>
              <a:ext uri="{FF2B5EF4-FFF2-40B4-BE49-F238E27FC236}">
                <a16:creationId xmlns:a16="http://schemas.microsoft.com/office/drawing/2014/main" id="{7128D007-E400-77D1-4D0D-E3CE13479DF9}"/>
              </a:ext>
            </a:extLst>
          </p:cNvPr>
          <p:cNvSpPr txBox="1"/>
          <p:nvPr/>
        </p:nvSpPr>
        <p:spPr>
          <a:xfrm>
            <a:off x="4603176" y="1653376"/>
            <a:ext cx="5740418" cy="369332"/>
          </a:xfrm>
          <a:prstGeom prst="rect">
            <a:avLst/>
          </a:prstGeom>
          <a:noFill/>
        </p:spPr>
        <p:txBody>
          <a:bodyPr wrap="none" rtlCol="0">
            <a:spAutoFit/>
          </a:bodyPr>
          <a:lstStyle/>
          <a:p>
            <a:r>
              <a:rPr lang="fr-FR" b="1" u="sng" dirty="0"/>
              <a:t>Quelques déclinaisons selon la nature du bien a expertiser</a:t>
            </a:r>
          </a:p>
        </p:txBody>
      </p:sp>
    </p:spTree>
    <p:extLst>
      <p:ext uri="{BB962C8B-B14F-4D97-AF65-F5344CB8AC3E}">
        <p14:creationId xmlns:p14="http://schemas.microsoft.com/office/powerpoint/2010/main" val="35332209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F4530-F8CC-01BC-4724-F574038047C2}"/>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7EDDBCE9-3BA0-2037-7EA2-62B9546BC2F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AF5C076A-C5A6-8604-EE6B-4E46BAD575B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5C4B038D-A287-6D4E-C981-FBB2107181D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812E3921-808D-37D1-87C4-36708C2278E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1265B4BC-4443-678C-7155-8CB8FD6B71C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9" name="ZoneTexte 18">
            <a:extLst>
              <a:ext uri="{FF2B5EF4-FFF2-40B4-BE49-F238E27FC236}">
                <a16:creationId xmlns:a16="http://schemas.microsoft.com/office/drawing/2014/main" id="{1BEA1358-2801-37DB-F83A-97AE9A95BED4}"/>
              </a:ext>
            </a:extLst>
          </p:cNvPr>
          <p:cNvSpPr txBox="1"/>
          <p:nvPr/>
        </p:nvSpPr>
        <p:spPr>
          <a:xfrm>
            <a:off x="242578" y="1098430"/>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D93086FD-5DD1-F04C-FCAE-0DD30F1DEB71}"/>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1520B3AB-F4FB-9193-8A12-979E79779525}"/>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4 – Description physique du bien</a:t>
            </a:r>
          </a:p>
        </p:txBody>
      </p:sp>
      <p:sp>
        <p:nvSpPr>
          <p:cNvPr id="25" name="ZoneTexte 24">
            <a:extLst>
              <a:ext uri="{FF2B5EF4-FFF2-40B4-BE49-F238E27FC236}">
                <a16:creationId xmlns:a16="http://schemas.microsoft.com/office/drawing/2014/main" id="{EC268092-6430-023E-CA24-C2346A94BB83}"/>
              </a:ext>
            </a:extLst>
          </p:cNvPr>
          <p:cNvSpPr txBox="1"/>
          <p:nvPr/>
        </p:nvSpPr>
        <p:spPr>
          <a:xfrm>
            <a:off x="242578" y="1420997"/>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 name="ZoneTexte 1">
            <a:extLst>
              <a:ext uri="{FF2B5EF4-FFF2-40B4-BE49-F238E27FC236}">
                <a16:creationId xmlns:a16="http://schemas.microsoft.com/office/drawing/2014/main" id="{8EEF48F7-0E56-538E-F370-3C64440E5023}"/>
              </a:ext>
            </a:extLst>
          </p:cNvPr>
          <p:cNvSpPr txBox="1"/>
          <p:nvPr/>
        </p:nvSpPr>
        <p:spPr>
          <a:xfrm>
            <a:off x="242578" y="2013393"/>
            <a:ext cx="11284282" cy="4524315"/>
          </a:xfrm>
          <a:prstGeom prst="rect">
            <a:avLst/>
          </a:prstGeom>
          <a:noFill/>
        </p:spPr>
        <p:txBody>
          <a:bodyPr wrap="square" rtlCol="0">
            <a:spAutoFit/>
          </a:bodyPr>
          <a:lstStyle/>
          <a:p>
            <a:pPr algn="ctr"/>
            <a:r>
              <a:rPr lang="fr-FR" sz="2400" b="1" dirty="0">
                <a:solidFill>
                  <a:srgbClr val="FF0000"/>
                </a:solidFill>
              </a:rPr>
              <a:t>POINTS DE VIGILANCE</a:t>
            </a:r>
          </a:p>
          <a:p>
            <a:endParaRPr lang="fr-FR" sz="2400" dirty="0"/>
          </a:p>
          <a:p>
            <a:r>
              <a:rPr lang="fr-FR" sz="2400" dirty="0">
                <a:solidFill>
                  <a:srgbClr val="FF0000"/>
                </a:solidFill>
              </a:rPr>
              <a:t>Appréciation de valeur en §1 : </a:t>
            </a:r>
          </a:p>
          <a:p>
            <a:r>
              <a:rPr lang="fr-FR" sz="2400" dirty="0"/>
              <a:t>l'IA glisse parfois des formules comme "constitue une qualité intrinsèque" — à supprimer.</a:t>
            </a:r>
          </a:p>
          <a:p>
            <a:r>
              <a:rPr lang="fr-FR" sz="2400" i="1" dirty="0"/>
              <a:t>§1 et §2 décrivent, ils n'évaluent pas</a:t>
            </a:r>
            <a:r>
              <a:rPr lang="fr-FR" sz="2400" dirty="0"/>
              <a:t>.</a:t>
            </a:r>
          </a:p>
          <a:p>
            <a:r>
              <a:rPr lang="fr-FR" sz="2400" dirty="0"/>
              <a:t>  </a:t>
            </a:r>
          </a:p>
          <a:p>
            <a:r>
              <a:rPr lang="fr-FR" sz="2400" dirty="0">
                <a:solidFill>
                  <a:srgbClr val="FF0000"/>
                </a:solidFill>
              </a:rPr>
              <a:t>Points faibles atténués : </a:t>
            </a:r>
          </a:p>
          <a:p>
            <a:r>
              <a:rPr lang="fr-FR" sz="2400" dirty="0"/>
              <a:t>vérifier que la « SDB vétuste », « les équipements HS » sont formulés sans atténuation.</a:t>
            </a:r>
          </a:p>
          <a:p>
            <a:r>
              <a:rPr lang="fr-FR" sz="2400" dirty="0"/>
              <a:t>"Nécessite une remise en état complète" et non "présente quelques signes de vétusté".</a:t>
            </a:r>
          </a:p>
          <a:p>
            <a:r>
              <a:rPr lang="fr-FR" sz="2400" dirty="0"/>
              <a:t>  </a:t>
            </a:r>
          </a:p>
          <a:p>
            <a:r>
              <a:rPr lang="fr-FR" sz="2400" dirty="0">
                <a:solidFill>
                  <a:srgbClr val="FF0000"/>
                </a:solidFill>
              </a:rPr>
              <a:t>Surfaces inventées : </a:t>
            </a:r>
            <a:r>
              <a:rPr lang="fr-FR" sz="2400" dirty="0"/>
              <a:t>si vous ne fournissez pas les surfaces, l’IA peut être tentée de les  estimer. Toujours fournir les surfaces dans les notes.</a:t>
            </a:r>
            <a:endParaRPr lang="fr-FR" sz="2400" b="1" dirty="0"/>
          </a:p>
        </p:txBody>
      </p:sp>
    </p:spTree>
    <p:extLst>
      <p:ext uri="{BB962C8B-B14F-4D97-AF65-F5344CB8AC3E}">
        <p14:creationId xmlns:p14="http://schemas.microsoft.com/office/powerpoint/2010/main" val="11719720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A6365-0CF0-E442-51BC-E99DD90EBDA8}"/>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9BE91948-8B7A-C706-1BFA-D20A3F4AB32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5C98E492-13B8-B908-1CB4-C14D0AA0016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C39DC893-6045-BA38-80F0-C02DE97EA28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3515C3F4-C256-F0AE-26B9-80D56406C44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30B64482-3E0D-4503-0AB7-E619C5F2B0E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5" name="ZoneTexte 14">
            <a:extLst>
              <a:ext uri="{FF2B5EF4-FFF2-40B4-BE49-F238E27FC236}">
                <a16:creationId xmlns:a16="http://schemas.microsoft.com/office/drawing/2014/main" id="{109AD0D9-5D59-F945-1774-B562CC1D2524}"/>
              </a:ext>
            </a:extLst>
          </p:cNvPr>
          <p:cNvSpPr txBox="1"/>
          <p:nvPr/>
        </p:nvSpPr>
        <p:spPr>
          <a:xfrm>
            <a:off x="345738" y="2297568"/>
            <a:ext cx="5592483" cy="4031873"/>
          </a:xfrm>
          <a:prstGeom prst="rect">
            <a:avLst/>
          </a:prstGeom>
          <a:noFill/>
        </p:spPr>
        <p:txBody>
          <a:bodyPr wrap="square" rtlCol="0">
            <a:spAutoFit/>
          </a:bodyPr>
          <a:lstStyle/>
          <a:p>
            <a:r>
              <a:rPr lang="fr-FR" sz="1600" dirty="0">
                <a:latin typeface="Courier New" panose="02070309020205020404" pitchFamily="49" charset="0"/>
                <a:cs typeface="Courier New" panose="02070309020205020404" pitchFamily="49" charset="0"/>
              </a:rPr>
              <a:t>Tu es expert immobilier / agréé.</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Contexte du dossier en mémoire]</a:t>
            </a:r>
          </a:p>
          <a:p>
            <a:r>
              <a:rPr lang="fr-FR" sz="1600" dirty="0">
                <a:latin typeface="Courier New" panose="02070309020205020404" pitchFamily="49" charset="0"/>
                <a:cs typeface="Courier New" panose="02070309020205020404" pitchFamily="49" charset="0"/>
              </a:rPr>
              <a:t>  </a:t>
            </a:r>
          </a:p>
          <a:p>
            <a:r>
              <a:rPr lang="fr-FR" sz="1600" dirty="0">
                <a:latin typeface="Courier New" panose="02070309020205020404" pitchFamily="49" charset="0"/>
                <a:cs typeface="Courier New" panose="02070309020205020404" pitchFamily="49" charset="0"/>
              </a:rPr>
              <a:t>Rédige la section "État du bien — désordres et travaux".</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Prose sobre et technique, 250 à 300 mots, quatre paragraphes :</a:t>
            </a:r>
          </a:p>
          <a:p>
            <a:endParaRPr lang="fr-FR" sz="1600" dirty="0">
              <a:latin typeface="Courier New" panose="02070309020205020404" pitchFamily="49" charset="0"/>
              <a:cs typeface="Courier New" panose="02070309020205020404" pitchFamily="49" charset="0"/>
            </a:endParaRPr>
          </a:p>
          <a:p>
            <a:r>
              <a:rPr lang="fr-FR" sz="1600" b="1" dirty="0">
                <a:highlight>
                  <a:srgbClr val="FFFF00"/>
                </a:highlight>
                <a:latin typeface="Courier New" panose="02070309020205020404" pitchFamily="49" charset="0"/>
                <a:cs typeface="Courier New" panose="02070309020205020404" pitchFamily="49" charset="0"/>
              </a:rPr>
              <a:t>§1 — État général (appréciation globale)</a:t>
            </a:r>
          </a:p>
          <a:p>
            <a:r>
              <a:rPr lang="fr-FR" sz="1600" b="1" dirty="0">
                <a:highlight>
                  <a:srgbClr val="FFFF00"/>
                </a:highlight>
                <a:latin typeface="Courier New" panose="02070309020205020404" pitchFamily="49" charset="0"/>
                <a:cs typeface="Courier New" panose="02070309020205020404" pitchFamily="49" charset="0"/>
              </a:rPr>
              <a:t>§2 — Éléments en bon état (constats positifs factuels)</a:t>
            </a:r>
          </a:p>
          <a:p>
            <a:r>
              <a:rPr lang="fr-FR" sz="1600" b="1" dirty="0">
                <a:highlight>
                  <a:srgbClr val="FFFF00"/>
                </a:highlight>
                <a:latin typeface="Courier New" panose="02070309020205020404" pitchFamily="49" charset="0"/>
                <a:cs typeface="Courier New" panose="02070309020205020404" pitchFamily="49" charset="0"/>
              </a:rPr>
              <a:t>§3 — Désordres et points faibles constatés</a:t>
            </a:r>
          </a:p>
          <a:p>
            <a:r>
              <a:rPr lang="fr-FR" sz="1600" b="1" dirty="0">
                <a:highlight>
                  <a:srgbClr val="FFFF00"/>
                </a:highlight>
                <a:latin typeface="Courier New" panose="02070309020205020404" pitchFamily="49" charset="0"/>
                <a:cs typeface="Courier New" panose="02070309020205020404" pitchFamily="49" charset="0"/>
              </a:rPr>
              <a:t>§4 — Travaux nécessaires et estimation indicative</a:t>
            </a:r>
          </a:p>
        </p:txBody>
      </p:sp>
      <p:sp>
        <p:nvSpPr>
          <p:cNvPr id="19" name="ZoneTexte 18">
            <a:extLst>
              <a:ext uri="{FF2B5EF4-FFF2-40B4-BE49-F238E27FC236}">
                <a16:creationId xmlns:a16="http://schemas.microsoft.com/office/drawing/2014/main" id="{C6DDAB60-B9AF-61F3-DFC1-C83FB9FF8513}"/>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6ED5FE4A-20F6-ADF3-B410-C4A73E1967F0}"/>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AC5BA8D8-FA14-8FA0-A41F-24C77126E29D}"/>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5 – État du bien — désordres et travaux</a:t>
            </a:r>
          </a:p>
        </p:txBody>
      </p:sp>
      <p:sp>
        <p:nvSpPr>
          <p:cNvPr id="25" name="ZoneTexte 24">
            <a:extLst>
              <a:ext uri="{FF2B5EF4-FFF2-40B4-BE49-F238E27FC236}">
                <a16:creationId xmlns:a16="http://schemas.microsoft.com/office/drawing/2014/main" id="{4DBD7239-C946-C566-F095-8F9F9AC3DC54}"/>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3" name="ZoneTexte 2">
            <a:extLst>
              <a:ext uri="{FF2B5EF4-FFF2-40B4-BE49-F238E27FC236}">
                <a16:creationId xmlns:a16="http://schemas.microsoft.com/office/drawing/2014/main" id="{390EF941-D026-C030-9610-AEC131EF2455}"/>
              </a:ext>
            </a:extLst>
          </p:cNvPr>
          <p:cNvSpPr txBox="1"/>
          <p:nvPr/>
        </p:nvSpPr>
        <p:spPr>
          <a:xfrm>
            <a:off x="6228191" y="1815221"/>
            <a:ext cx="5592483" cy="5047536"/>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RÈGLES ABSOLUES :</a:t>
            </a:r>
          </a:p>
          <a:p>
            <a:r>
              <a:rPr lang="fr-FR" sz="1400" dirty="0">
                <a:latin typeface="Courier New" panose="02070309020205020404" pitchFamily="49" charset="0"/>
                <a:cs typeface="Courier New" panose="02070309020205020404" pitchFamily="49" charset="0"/>
              </a:rPr>
              <a:t>— Première personne pour tous les constats</a:t>
            </a:r>
          </a:p>
          <a:p>
            <a:r>
              <a:rPr lang="fr-FR" sz="1400" dirty="0">
                <a:latin typeface="Courier New" panose="02070309020205020404" pitchFamily="49" charset="0"/>
                <a:cs typeface="Courier New" panose="02070309020205020404" pitchFamily="49" charset="0"/>
              </a:rPr>
              <a:t>— Ne qualifier aucun désordre au-delà du visible</a:t>
            </a:r>
          </a:p>
          <a:p>
            <a:r>
              <a:rPr lang="fr-FR" sz="1400" dirty="0">
                <a:latin typeface="Courier New" panose="02070309020205020404" pitchFamily="49" charset="0"/>
                <a:cs typeface="Courier New" panose="02070309020205020404" pitchFamily="49" charset="0"/>
              </a:rPr>
              <a:t>pas de "fissure structurelle" si non vérifiée)</a:t>
            </a:r>
          </a:p>
          <a:p>
            <a:r>
              <a:rPr lang="fr-FR" sz="1400" dirty="0">
                <a:latin typeface="Courier New" panose="02070309020205020404" pitchFamily="49" charset="0"/>
                <a:cs typeface="Courier New" panose="02070309020205020404" pitchFamily="49" charset="0"/>
              </a:rPr>
              <a:t>— Hypothèses : "susceptible de résulter de",</a:t>
            </a:r>
          </a:p>
          <a:p>
            <a:r>
              <a:rPr lang="fr-FR" sz="1400" dirty="0">
                <a:latin typeface="Courier New" panose="02070309020205020404" pitchFamily="49" charset="0"/>
                <a:cs typeface="Courier New" panose="02070309020205020404" pitchFamily="49" charset="0"/>
              </a:rPr>
              <a:t>"sans examen approfondi, il n'est pas possible de"</a:t>
            </a:r>
          </a:p>
          <a:p>
            <a:r>
              <a:rPr lang="fr-FR" sz="1400" dirty="0">
                <a:latin typeface="Courier New" panose="02070309020205020404" pitchFamily="49" charset="0"/>
                <a:cs typeface="Courier New" panose="02070309020205020404" pitchFamily="49" charset="0"/>
              </a:rPr>
              <a:t>— Chiffrages indicatifs uniquement — toujours préciser</a:t>
            </a:r>
          </a:p>
          <a:p>
            <a:r>
              <a:rPr lang="fr-FR" sz="1400" dirty="0">
                <a:latin typeface="Courier New" panose="02070309020205020404" pitchFamily="49" charset="0"/>
                <a:cs typeface="Courier New" panose="02070309020205020404" pitchFamily="49" charset="0"/>
              </a:rPr>
              <a:t>— Ne rien inventer hors des notes</a:t>
            </a:r>
          </a:p>
          <a:p>
            <a:r>
              <a:rPr lang="fr-FR" sz="1400" dirty="0">
                <a:latin typeface="Courier New" panose="02070309020205020404" pitchFamily="49" charset="0"/>
                <a:cs typeface="Courier New" panose="02070309020205020404" pitchFamily="49" charset="0"/>
              </a:rPr>
              <a:t>  </a:t>
            </a:r>
          </a:p>
          <a:p>
            <a:r>
              <a:rPr lang="fr-FR" sz="1400" b="1" dirty="0">
                <a:latin typeface="Courier New" panose="02070309020205020404" pitchFamily="49" charset="0"/>
                <a:cs typeface="Courier New" panose="02070309020205020404" pitchFamily="49" charset="0"/>
              </a:rPr>
              <a:t>NOTES — ÉTAT GÉNÉRAL : </a:t>
            </a:r>
            <a:r>
              <a:rPr lang="fr-FR" sz="1400" dirty="0">
                <a:latin typeface="Courier New" panose="02070309020205020404" pitchFamily="49" charset="0"/>
                <a:cs typeface="Courier New" panose="02070309020205020404" pitchFamily="49" charset="0"/>
              </a:rPr>
              <a:t>[vétuste / courant / bon / très bon / neuf]</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DÉSORDRES RELEVÉS :</a:t>
            </a:r>
          </a:p>
          <a:p>
            <a:r>
              <a:rPr lang="fr-FR" sz="1400" dirty="0">
                <a:latin typeface="Courier New" panose="02070309020205020404" pitchFamily="49" charset="0"/>
                <a:cs typeface="Courier New" panose="02070309020205020404" pitchFamily="49" charset="0"/>
              </a:rPr>
              <a:t>[liste des désordres avec localisation précise, surface estimée, aspect, hypothèse d'origine si observable]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TRAVAUX ENVISAGÉS :</a:t>
            </a:r>
          </a:p>
          <a:p>
            <a:r>
              <a:rPr lang="fr-FR" sz="1400" dirty="0">
                <a:latin typeface="Courier New" panose="02070309020205020404" pitchFamily="49" charset="0"/>
                <a:cs typeface="Courier New" panose="02070309020205020404" pitchFamily="49" charset="0"/>
              </a:rPr>
              <a:t>[liste des postes de travaux avec fourchette indicative</a:t>
            </a:r>
          </a:p>
          <a:p>
            <a:r>
              <a:rPr lang="fr-FR" sz="1400" dirty="0">
                <a:latin typeface="Courier New" panose="02070309020205020404" pitchFamily="49" charset="0"/>
                <a:cs typeface="Courier New" panose="02070309020205020404" pitchFamily="49" charset="0"/>
              </a:rPr>
              <a:t>si disponible — sinon : "estimation à affiner par devis"]</a:t>
            </a:r>
          </a:p>
        </p:txBody>
      </p:sp>
    </p:spTree>
    <p:extLst>
      <p:ext uri="{BB962C8B-B14F-4D97-AF65-F5344CB8AC3E}">
        <p14:creationId xmlns:p14="http://schemas.microsoft.com/office/powerpoint/2010/main" val="13173111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30924-D6E6-F2F5-2E4D-259F3AA517C5}"/>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C4E640CA-9103-1D72-CFE3-D36D0A44EB4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C29966AC-190F-7EB1-FBFB-02C39B71A16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36CA1343-EECC-E18C-0A79-3E7233AFE31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0A575ACE-FD02-C5CF-B6F8-E37768E48EA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28C60D29-BC31-7CD2-2CF7-E6DF6D83F2EB}"/>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5" name="ZoneTexte 14">
            <a:extLst>
              <a:ext uri="{FF2B5EF4-FFF2-40B4-BE49-F238E27FC236}">
                <a16:creationId xmlns:a16="http://schemas.microsoft.com/office/drawing/2014/main" id="{7C10DFBD-6A64-B80E-C977-032CD55A62D5}"/>
              </a:ext>
            </a:extLst>
          </p:cNvPr>
          <p:cNvSpPr txBox="1"/>
          <p:nvPr/>
        </p:nvSpPr>
        <p:spPr>
          <a:xfrm>
            <a:off x="345738" y="2017152"/>
            <a:ext cx="11565846" cy="4801314"/>
          </a:xfrm>
          <a:prstGeom prst="rect">
            <a:avLst/>
          </a:prstGeom>
          <a:noFill/>
        </p:spPr>
        <p:txBody>
          <a:bodyPr wrap="square" rtlCol="0">
            <a:spAutoFit/>
          </a:bodyPr>
          <a:lstStyle/>
          <a:p>
            <a:r>
              <a:rPr lang="fr-FR" b="1" dirty="0">
                <a:solidFill>
                  <a:schemeClr val="accent1">
                    <a:lumMod val="75000"/>
                  </a:schemeClr>
                </a:solidFill>
                <a:latin typeface="Figtree"/>
                <a:cs typeface="Courier New" panose="02070309020205020404" pitchFamily="49" charset="0"/>
              </a:rPr>
              <a:t>Appartement — désordres mineurs</a:t>
            </a:r>
          </a:p>
          <a:p>
            <a:r>
              <a:rPr lang="fr-FR" dirty="0">
                <a:latin typeface="Figtree"/>
                <a:cs typeface="Courier New" panose="02070309020205020404" pitchFamily="49" charset="0"/>
              </a:rPr>
              <a:t>§3 court si peu de désordres. - §4 avec fourchettes indicatives limitées.</a:t>
            </a:r>
          </a:p>
          <a:p>
            <a:r>
              <a:rPr lang="fr-FR" b="1" dirty="0">
                <a:solidFill>
                  <a:schemeClr val="accent1">
                    <a:lumMod val="75000"/>
                  </a:schemeClr>
                </a:solidFill>
                <a:latin typeface="Figtree"/>
                <a:cs typeface="Courier New" panose="02070309020205020404" pitchFamily="49" charset="0"/>
              </a:rPr>
              <a:t>Appartement — désordres significatifs</a:t>
            </a:r>
          </a:p>
          <a:p>
            <a:r>
              <a:rPr lang="fr-FR" b="1" dirty="0">
                <a:latin typeface="Figtree"/>
                <a:cs typeface="Courier New" panose="02070309020205020404" pitchFamily="49" charset="0"/>
              </a:rPr>
              <a:t>ajouter §3 bis </a:t>
            </a:r>
            <a:r>
              <a:rPr lang="fr-FR" dirty="0">
                <a:latin typeface="Figtree"/>
                <a:cs typeface="Courier New" panose="02070309020205020404" pitchFamily="49" charset="0"/>
              </a:rPr>
              <a:t>"</a:t>
            </a:r>
            <a:r>
              <a:rPr lang="fr-FR" b="1" dirty="0">
                <a:latin typeface="Figtree"/>
                <a:cs typeface="Courier New" panose="02070309020205020404" pitchFamily="49" charset="0"/>
              </a:rPr>
              <a:t>Hypothèses d'origine des désordres</a:t>
            </a:r>
            <a:r>
              <a:rPr lang="fr-FR" dirty="0">
                <a:latin typeface="Figtree"/>
                <a:cs typeface="Courier New" panose="02070309020205020404" pitchFamily="49" charset="0"/>
              </a:rPr>
              <a:t>" avant le §4 travaux. Mentionner le besoin de sapiteur si désordres structurels.</a:t>
            </a:r>
          </a:p>
          <a:p>
            <a:r>
              <a:rPr lang="fr-FR" b="1" dirty="0">
                <a:solidFill>
                  <a:schemeClr val="accent1">
                    <a:lumMod val="75000"/>
                  </a:schemeClr>
                </a:solidFill>
                <a:latin typeface="Figtree"/>
                <a:cs typeface="Courier New" panose="02070309020205020404" pitchFamily="49" charset="0"/>
              </a:rPr>
              <a:t>Maison individuelle</a:t>
            </a:r>
          </a:p>
          <a:p>
            <a:r>
              <a:rPr lang="fr-FR" b="1" dirty="0">
                <a:latin typeface="Figtree"/>
                <a:cs typeface="Courier New" panose="02070309020205020404" pitchFamily="49" charset="0"/>
              </a:rPr>
              <a:t>Renforcer §1 </a:t>
            </a:r>
            <a:r>
              <a:rPr lang="fr-FR" dirty="0">
                <a:latin typeface="Figtree"/>
                <a:cs typeface="Courier New" panose="02070309020205020404" pitchFamily="49" charset="0"/>
              </a:rPr>
              <a:t>avec extérieur (toiture, façade, drainage). Ajouter : "La toiture [a été / n'a pas pu être] inspectée lors de la visite.« </a:t>
            </a:r>
          </a:p>
          <a:p>
            <a:r>
              <a:rPr lang="fr-FR" b="1" dirty="0">
                <a:solidFill>
                  <a:schemeClr val="accent1">
                    <a:lumMod val="75000"/>
                  </a:schemeClr>
                </a:solidFill>
                <a:latin typeface="Figtree"/>
                <a:cs typeface="Courier New" panose="02070309020205020404" pitchFamily="49" charset="0"/>
              </a:rPr>
              <a:t>Local commercial</a:t>
            </a:r>
          </a:p>
          <a:p>
            <a:r>
              <a:rPr lang="fr-FR" b="1" dirty="0">
                <a:latin typeface="Figtree"/>
                <a:cs typeface="Courier New" panose="02070309020205020404" pitchFamily="49" charset="0"/>
              </a:rPr>
              <a:t>Ajouter en §2 </a:t>
            </a:r>
            <a:r>
              <a:rPr lang="fr-FR" dirty="0">
                <a:latin typeface="Figtree"/>
                <a:cs typeface="Courier New" panose="02070309020205020404" pitchFamily="49" charset="0"/>
              </a:rPr>
              <a:t>: état des installations électriques spécifiques, ventilation, accès PMR. En §3 : noter si normes ERP applicables semblent respectées ou non.</a:t>
            </a:r>
          </a:p>
          <a:p>
            <a:r>
              <a:rPr lang="fr-FR" b="1" dirty="0">
                <a:solidFill>
                  <a:schemeClr val="accent1">
                    <a:lumMod val="75000"/>
                  </a:schemeClr>
                </a:solidFill>
                <a:latin typeface="Figtree"/>
                <a:cs typeface="Courier New" panose="02070309020205020404" pitchFamily="49" charset="0"/>
              </a:rPr>
              <a:t>Terrain à bâtir</a:t>
            </a:r>
          </a:p>
          <a:p>
            <a:r>
              <a:rPr lang="fr-FR" dirty="0">
                <a:latin typeface="Figtree"/>
                <a:cs typeface="Courier New" panose="02070309020205020404" pitchFamily="49" charset="0"/>
              </a:rPr>
              <a:t>Section réduite : état du sol apparent, présence de végétation à défricher, constructions à démolir, pollution visible ou non.</a:t>
            </a:r>
          </a:p>
          <a:p>
            <a:r>
              <a:rPr lang="fr-FR" b="1" dirty="0">
                <a:solidFill>
                  <a:schemeClr val="accent1">
                    <a:lumMod val="75000"/>
                  </a:schemeClr>
                </a:solidFill>
                <a:latin typeface="Figtree"/>
                <a:cs typeface="Courier New" panose="02070309020205020404" pitchFamily="49" charset="0"/>
              </a:rPr>
              <a:t>Bien occupé / loué</a:t>
            </a:r>
          </a:p>
          <a:p>
            <a:r>
              <a:rPr lang="fr-FR" b="1" dirty="0">
                <a:latin typeface="Figtree"/>
                <a:cs typeface="Courier New" panose="02070309020205020404" pitchFamily="49" charset="0"/>
              </a:rPr>
              <a:t>Ajouter en §1 </a:t>
            </a:r>
            <a:r>
              <a:rPr lang="fr-FR" dirty="0">
                <a:latin typeface="Figtree"/>
                <a:cs typeface="Courier New" panose="02070309020205020404" pitchFamily="49" charset="0"/>
              </a:rPr>
              <a:t>: "La visite s'est déroulée en présence du locataire. L'accès à l'ensemble des pièces a été [accordé / partiellement accordé]." Mentionner toute pièce non visitée.</a:t>
            </a:r>
          </a:p>
        </p:txBody>
      </p:sp>
      <p:sp>
        <p:nvSpPr>
          <p:cNvPr id="19" name="ZoneTexte 18">
            <a:extLst>
              <a:ext uri="{FF2B5EF4-FFF2-40B4-BE49-F238E27FC236}">
                <a16:creationId xmlns:a16="http://schemas.microsoft.com/office/drawing/2014/main" id="{AA7EA58E-C0FE-C994-58CA-9F727B8DACB5}"/>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2F7765FA-A58B-98EA-27DA-A3287E5215A5}"/>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052809FC-8521-C97B-DDFA-6E08281961F4}"/>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5 – État du bien — désordres et travaux</a:t>
            </a:r>
          </a:p>
        </p:txBody>
      </p:sp>
      <p:sp>
        <p:nvSpPr>
          <p:cNvPr id="25" name="ZoneTexte 24">
            <a:extLst>
              <a:ext uri="{FF2B5EF4-FFF2-40B4-BE49-F238E27FC236}">
                <a16:creationId xmlns:a16="http://schemas.microsoft.com/office/drawing/2014/main" id="{6A6BDABD-A337-DBB0-60B9-6A09B942E97F}"/>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Tree>
    <p:extLst>
      <p:ext uri="{BB962C8B-B14F-4D97-AF65-F5344CB8AC3E}">
        <p14:creationId xmlns:p14="http://schemas.microsoft.com/office/powerpoint/2010/main" val="18632401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7A3F0-AB82-088A-9DBB-72D15B2AA392}"/>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1F7F4ABA-4894-3DD4-2831-B3F06803A1C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D87AB643-E4E7-D1EB-88F3-CB867F1BD5F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F153556E-021C-32BE-EC92-7F34153CEB1B}"/>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34E2AADF-F906-26C5-0C68-212BC5414A0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7FFA5C5F-24BA-AF98-8DF0-1296117EBC3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9" name="ZoneTexte 18">
            <a:extLst>
              <a:ext uri="{FF2B5EF4-FFF2-40B4-BE49-F238E27FC236}">
                <a16:creationId xmlns:a16="http://schemas.microsoft.com/office/drawing/2014/main" id="{CFC43FFC-99BA-251D-E32D-88E5C86CD17E}"/>
              </a:ext>
            </a:extLst>
          </p:cNvPr>
          <p:cNvSpPr txBox="1"/>
          <p:nvPr/>
        </p:nvSpPr>
        <p:spPr>
          <a:xfrm>
            <a:off x="242578" y="1098430"/>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8C699448-383E-6826-0306-85981CDD03D4}"/>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3FEF97FD-6076-F39E-50A3-0D5C248A4ABC}"/>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5 – État du bien — désordres et travaux</a:t>
            </a:r>
          </a:p>
        </p:txBody>
      </p:sp>
      <p:sp>
        <p:nvSpPr>
          <p:cNvPr id="25" name="ZoneTexte 24">
            <a:extLst>
              <a:ext uri="{FF2B5EF4-FFF2-40B4-BE49-F238E27FC236}">
                <a16:creationId xmlns:a16="http://schemas.microsoft.com/office/drawing/2014/main" id="{A5C2C1F2-A50B-130B-9ED0-0968E84274BA}"/>
              </a:ext>
            </a:extLst>
          </p:cNvPr>
          <p:cNvSpPr txBox="1"/>
          <p:nvPr/>
        </p:nvSpPr>
        <p:spPr>
          <a:xfrm>
            <a:off x="242578" y="1420997"/>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 name="ZoneTexte 1">
            <a:extLst>
              <a:ext uri="{FF2B5EF4-FFF2-40B4-BE49-F238E27FC236}">
                <a16:creationId xmlns:a16="http://schemas.microsoft.com/office/drawing/2014/main" id="{9DB53BE7-16B8-C3CC-E81B-8332504211A5}"/>
              </a:ext>
            </a:extLst>
          </p:cNvPr>
          <p:cNvSpPr txBox="1"/>
          <p:nvPr/>
        </p:nvSpPr>
        <p:spPr>
          <a:xfrm>
            <a:off x="242578" y="1915857"/>
            <a:ext cx="11284282" cy="4832092"/>
          </a:xfrm>
          <a:prstGeom prst="rect">
            <a:avLst/>
          </a:prstGeom>
          <a:noFill/>
        </p:spPr>
        <p:txBody>
          <a:bodyPr wrap="square" rtlCol="0">
            <a:spAutoFit/>
          </a:bodyPr>
          <a:lstStyle/>
          <a:p>
            <a:pPr algn="ctr"/>
            <a:r>
              <a:rPr lang="fr-FR" sz="2200" b="1" dirty="0">
                <a:solidFill>
                  <a:srgbClr val="FF0000"/>
                </a:solidFill>
              </a:rPr>
              <a:t>POINTS DE VIGILANCE</a:t>
            </a:r>
          </a:p>
          <a:p>
            <a:endParaRPr lang="fr-FR" sz="2200" dirty="0"/>
          </a:p>
          <a:p>
            <a:r>
              <a:rPr lang="fr-FR" sz="2200" b="1" dirty="0">
                <a:solidFill>
                  <a:srgbClr val="FF0000"/>
                </a:solidFill>
              </a:rPr>
              <a:t>la qualification des désordres</a:t>
            </a:r>
            <a:r>
              <a:rPr lang="fr-FR" sz="2200" dirty="0"/>
              <a:t>. C'est le risque le plus élevé de toute la section</a:t>
            </a:r>
          </a:p>
          <a:p>
            <a:endParaRPr lang="fr-FR" sz="2200" dirty="0"/>
          </a:p>
          <a:p>
            <a:r>
              <a:rPr lang="fr-FR" sz="2200" b="1" dirty="0">
                <a:solidFill>
                  <a:srgbClr val="FF0000"/>
                </a:solidFill>
              </a:rPr>
              <a:t>les chiffrages de travaux</a:t>
            </a:r>
            <a:r>
              <a:rPr lang="fr-FR" sz="2200" dirty="0"/>
              <a:t>. L'IA produit des fourchettes plausibles sur la base de coûts moyens nationaux. Toute estimation chiffrée doit être qualifiée « </a:t>
            </a:r>
            <a:r>
              <a:rPr lang="fr-FR" sz="2200" b="1" dirty="0"/>
              <a:t>d'indicative, non contractuelle, à affiner par devis d'entreprise </a:t>
            </a:r>
            <a:r>
              <a:rPr lang="fr-FR" sz="2200" dirty="0"/>
              <a:t>». </a:t>
            </a:r>
          </a:p>
          <a:p>
            <a:endParaRPr lang="fr-FR" sz="2200" dirty="0"/>
          </a:p>
          <a:p>
            <a:r>
              <a:rPr lang="fr-FR" sz="2200" b="1" dirty="0">
                <a:solidFill>
                  <a:srgbClr val="FF0000"/>
                </a:solidFill>
              </a:rPr>
              <a:t>la mention du sapiteur</a:t>
            </a:r>
            <a:r>
              <a:rPr lang="fr-FR" sz="2200" dirty="0"/>
              <a:t>. Lorsque des désordres dépassent les compétences de l'expert immobilier : mentionner que l'analyse dépasse le cadre de la présente expertise et qu'un sapiteur spécialisé devrait être désigné.</a:t>
            </a:r>
          </a:p>
          <a:p>
            <a:endParaRPr lang="fr-FR" sz="2200" b="1" dirty="0">
              <a:solidFill>
                <a:srgbClr val="FF0000"/>
              </a:solidFill>
            </a:endParaRPr>
          </a:p>
          <a:p>
            <a:r>
              <a:rPr lang="fr-FR" sz="2200" b="1" dirty="0">
                <a:solidFill>
                  <a:srgbClr val="FF0000"/>
                </a:solidFill>
              </a:rPr>
              <a:t>la cohérence avec la valorisation</a:t>
            </a:r>
            <a:r>
              <a:rPr lang="fr-FR" sz="2200" dirty="0"/>
              <a:t>. Chaque désordre mentionné dans cette section doit se retrouver comme facteur d'ajustement en section 7 (Valorisation)</a:t>
            </a:r>
            <a:endParaRPr lang="fr-FR" sz="2200" b="1" dirty="0"/>
          </a:p>
        </p:txBody>
      </p:sp>
    </p:spTree>
    <p:extLst>
      <p:ext uri="{BB962C8B-B14F-4D97-AF65-F5344CB8AC3E}">
        <p14:creationId xmlns:p14="http://schemas.microsoft.com/office/powerpoint/2010/main" val="36351912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E457-7483-19BD-4AF2-E82C741DCCD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841CBB0E-B6EF-6664-F999-5E391FE2968D}"/>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11">
            <a:extLst>
              <a:ext uri="{FF2B5EF4-FFF2-40B4-BE49-F238E27FC236}">
                <a16:creationId xmlns:a16="http://schemas.microsoft.com/office/drawing/2014/main" id="{96A19720-E282-A379-5E9A-86C6F67E0D7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
            <a:extLst>
              <a:ext uri="{FF2B5EF4-FFF2-40B4-BE49-F238E27FC236}">
                <a16:creationId xmlns:a16="http://schemas.microsoft.com/office/drawing/2014/main" id="{8BC04187-BA00-7F64-A318-DC8EF1609CA8}"/>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9" name="Freeform: Shape 3">
            <a:extLst>
              <a:ext uri="{FF2B5EF4-FFF2-40B4-BE49-F238E27FC236}">
                <a16:creationId xmlns:a16="http://schemas.microsoft.com/office/drawing/2014/main" id="{A1B7A8C3-59B2-5A45-6C58-F0DC46F7B0C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
            <a:extLst>
              <a:ext uri="{FF2B5EF4-FFF2-40B4-BE49-F238E27FC236}">
                <a16:creationId xmlns:a16="http://schemas.microsoft.com/office/drawing/2014/main" id="{CD7CA560-59D3-305D-6779-4B2C2DB5A00B}"/>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3" name="ZoneTexte 12">
            <a:extLst>
              <a:ext uri="{FF2B5EF4-FFF2-40B4-BE49-F238E27FC236}">
                <a16:creationId xmlns:a16="http://schemas.microsoft.com/office/drawing/2014/main" id="{9CE60A06-9B7F-F923-64B2-7B6EBB7517AE}"/>
              </a:ext>
            </a:extLst>
          </p:cNvPr>
          <p:cNvSpPr txBox="1"/>
          <p:nvPr/>
        </p:nvSpPr>
        <p:spPr>
          <a:xfrm>
            <a:off x="345738" y="2630077"/>
            <a:ext cx="5592483" cy="3539430"/>
          </a:xfrm>
          <a:prstGeom prst="rect">
            <a:avLst/>
          </a:prstGeom>
          <a:noFill/>
        </p:spPr>
        <p:txBody>
          <a:bodyPr wrap="square" rtlCol="0">
            <a:spAutoFit/>
          </a:bodyPr>
          <a:lstStyle/>
          <a:p>
            <a:r>
              <a:rPr lang="fr-FR" sz="1600" dirty="0">
                <a:latin typeface="Courier New" panose="02070309020205020404" pitchFamily="49" charset="0"/>
                <a:cs typeface="Courier New" panose="02070309020205020404" pitchFamily="49" charset="0"/>
              </a:rPr>
              <a:t>Tu es expert immobilier / agréé.</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Voici mon tableau de comparables :</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[COLLER LE TABLEAU ICI]</a:t>
            </a:r>
          </a:p>
          <a:p>
            <a:r>
              <a:rPr lang="fr-FR" sz="1600" dirty="0">
                <a:latin typeface="Courier New" panose="02070309020205020404" pitchFamily="49" charset="0"/>
                <a:cs typeface="Courier New" panose="02070309020205020404" pitchFamily="49" charset="0"/>
              </a:rPr>
              <a:t>  </a:t>
            </a:r>
          </a:p>
          <a:p>
            <a:r>
              <a:rPr lang="fr-FR" sz="1600" b="1" dirty="0">
                <a:solidFill>
                  <a:schemeClr val="accent1">
                    <a:lumMod val="75000"/>
                  </a:schemeClr>
                </a:solidFill>
                <a:latin typeface="Courier New" panose="02070309020205020404" pitchFamily="49" charset="0"/>
                <a:cs typeface="Courier New" panose="02070309020205020404" pitchFamily="49" charset="0"/>
              </a:rPr>
              <a:t>ÉTAPE 1 — Calculs avant rédaction :</a:t>
            </a:r>
          </a:p>
          <a:p>
            <a:r>
              <a:rPr lang="fr-FR" sz="1600" b="1" dirty="0">
                <a:highlight>
                  <a:srgbClr val="FFFF00"/>
                </a:highlight>
                <a:latin typeface="Courier New" panose="02070309020205020404" pitchFamily="49" charset="0"/>
                <a:cs typeface="Courier New" panose="02070309020205020404" pitchFamily="49" charset="0"/>
              </a:rPr>
              <a:t>1. Fourchette (min et max)</a:t>
            </a:r>
          </a:p>
          <a:p>
            <a:r>
              <a:rPr lang="fr-FR" sz="1600" b="1" dirty="0">
                <a:highlight>
                  <a:srgbClr val="FFFF00"/>
                </a:highlight>
                <a:latin typeface="Courier New" panose="02070309020205020404" pitchFamily="49" charset="0"/>
                <a:cs typeface="Courier New" panose="02070309020205020404" pitchFamily="49" charset="0"/>
              </a:rPr>
              <a:t>2. Moyenne arithmétique</a:t>
            </a:r>
          </a:p>
          <a:p>
            <a:r>
              <a:rPr lang="fr-FR" sz="1600" b="1" dirty="0">
                <a:highlight>
                  <a:srgbClr val="FFFF00"/>
                </a:highlight>
                <a:latin typeface="Courier New" panose="02070309020205020404" pitchFamily="49" charset="0"/>
                <a:cs typeface="Courier New" panose="02070309020205020404" pitchFamily="49" charset="0"/>
              </a:rPr>
              <a:t>3. Médiane</a:t>
            </a:r>
          </a:p>
          <a:p>
            <a:r>
              <a:rPr lang="fr-FR" sz="1600" b="1" dirty="0">
                <a:highlight>
                  <a:srgbClr val="FFFF00"/>
                </a:highlight>
                <a:latin typeface="Courier New" panose="02070309020205020404" pitchFamily="49" charset="0"/>
                <a:cs typeface="Courier New" panose="02070309020205020404" pitchFamily="49" charset="0"/>
              </a:rPr>
              <a:t>4. Analyse par état si applicable (vétuste/courant/rénové/</a:t>
            </a:r>
            <a:r>
              <a:rPr lang="fr-FR" sz="1600" b="1" dirty="0" err="1">
                <a:highlight>
                  <a:srgbClr val="FFFF00"/>
                </a:highlight>
                <a:latin typeface="Courier New" panose="02070309020205020404" pitchFamily="49" charset="0"/>
                <a:cs typeface="Courier New" panose="02070309020205020404" pitchFamily="49" charset="0"/>
              </a:rPr>
              <a:t>etc</a:t>
            </a:r>
            <a:r>
              <a:rPr lang="fr-FR" sz="1600" b="1" dirty="0">
                <a:highlight>
                  <a:srgbClr val="FFFF00"/>
                </a:highlight>
                <a:latin typeface="Courier New" panose="02070309020205020404" pitchFamily="49" charset="0"/>
                <a:cs typeface="Courier New" panose="02070309020205020404" pitchFamily="49" charset="0"/>
              </a:rPr>
              <a:t>)</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Détailler les calculs étape par étape.</a:t>
            </a:r>
          </a:p>
        </p:txBody>
      </p:sp>
      <p:sp>
        <p:nvSpPr>
          <p:cNvPr id="15" name="ZoneTexte 14">
            <a:extLst>
              <a:ext uri="{FF2B5EF4-FFF2-40B4-BE49-F238E27FC236}">
                <a16:creationId xmlns:a16="http://schemas.microsoft.com/office/drawing/2014/main" id="{4E5019D7-E004-9C5F-352A-28578F4ADB02}"/>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7" name="Rectangle: Rounded Corners 14">
            <a:extLst>
              <a:ext uri="{FF2B5EF4-FFF2-40B4-BE49-F238E27FC236}">
                <a16:creationId xmlns:a16="http://schemas.microsoft.com/office/drawing/2014/main" id="{E901CD92-CB71-4E68-D9CB-1DB50454EA1D}"/>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TextBox 1">
            <a:extLst>
              <a:ext uri="{FF2B5EF4-FFF2-40B4-BE49-F238E27FC236}">
                <a16:creationId xmlns:a16="http://schemas.microsoft.com/office/drawing/2014/main" id="{81EC95A5-0BCF-D03B-2B20-45B917C1D0F4}"/>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6 – Analyse de marché et comparables</a:t>
            </a:r>
          </a:p>
        </p:txBody>
      </p:sp>
      <p:sp>
        <p:nvSpPr>
          <p:cNvPr id="21" name="ZoneTexte 20">
            <a:extLst>
              <a:ext uri="{FF2B5EF4-FFF2-40B4-BE49-F238E27FC236}">
                <a16:creationId xmlns:a16="http://schemas.microsoft.com/office/drawing/2014/main" id="{73A76F27-8929-274F-4DF3-32835FC3C24A}"/>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3" name="ZoneTexte 22">
            <a:extLst>
              <a:ext uri="{FF2B5EF4-FFF2-40B4-BE49-F238E27FC236}">
                <a16:creationId xmlns:a16="http://schemas.microsoft.com/office/drawing/2014/main" id="{43DC149F-88E6-54AB-2E78-4180F9251DB9}"/>
              </a:ext>
            </a:extLst>
          </p:cNvPr>
          <p:cNvSpPr txBox="1"/>
          <p:nvPr/>
        </p:nvSpPr>
        <p:spPr>
          <a:xfrm>
            <a:off x="6307626" y="1684481"/>
            <a:ext cx="5592483" cy="5016758"/>
          </a:xfrm>
          <a:prstGeom prst="rect">
            <a:avLst/>
          </a:prstGeom>
          <a:noFill/>
        </p:spPr>
        <p:txBody>
          <a:bodyPr wrap="square" rtlCol="0">
            <a:spAutoFit/>
          </a:bodyPr>
          <a:lstStyle/>
          <a:p>
            <a:r>
              <a:rPr lang="fr-FR" sz="1600" b="1" dirty="0">
                <a:solidFill>
                  <a:schemeClr val="accent1">
                    <a:lumMod val="75000"/>
                  </a:schemeClr>
                </a:solidFill>
                <a:latin typeface="Courier New" panose="02070309020205020404" pitchFamily="49" charset="0"/>
                <a:cs typeface="Courier New" panose="02070309020205020404" pitchFamily="49" charset="0"/>
              </a:rPr>
              <a:t>ÉTAPE 2 — Rédiger après vérification :</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Section "Analyse de marché et références".</a:t>
            </a:r>
          </a:p>
          <a:p>
            <a:r>
              <a:rPr lang="fr-FR" sz="1600" dirty="0">
                <a:latin typeface="Courier New" panose="02070309020205020404" pitchFamily="49" charset="0"/>
                <a:cs typeface="Courier New" panose="02070309020205020404" pitchFamily="49" charset="0"/>
              </a:rPr>
              <a:t>Prose sobre et professionnelle, 200 à 250 mots, trois §.</a:t>
            </a:r>
          </a:p>
          <a:p>
            <a:endParaRPr lang="fr-FR" sz="1600" dirty="0">
              <a:latin typeface="Courier New" panose="02070309020205020404" pitchFamily="49" charset="0"/>
              <a:cs typeface="Courier New" panose="02070309020205020404" pitchFamily="49" charset="0"/>
            </a:endParaRPr>
          </a:p>
          <a:p>
            <a:r>
              <a:rPr lang="fr-FR" sz="1600" b="1" dirty="0">
                <a:highlight>
                  <a:srgbClr val="FFFF00"/>
                </a:highlight>
                <a:latin typeface="Courier New" panose="02070309020205020404" pitchFamily="49" charset="0"/>
                <a:cs typeface="Courier New" panose="02070309020205020404" pitchFamily="49" charset="0"/>
              </a:rPr>
              <a:t>§1 — Périmètre, sources, période</a:t>
            </a:r>
          </a:p>
          <a:p>
            <a:r>
              <a:rPr lang="fr-FR" sz="1600" b="1" dirty="0">
                <a:highlight>
                  <a:srgbClr val="FFFF00"/>
                </a:highlight>
                <a:latin typeface="Courier New" panose="02070309020205020404" pitchFamily="49" charset="0"/>
                <a:cs typeface="Courier New" panose="02070309020205020404" pitchFamily="49" charset="0"/>
              </a:rPr>
              <a:t>§2 — Fourchette et segmentation</a:t>
            </a:r>
          </a:p>
          <a:p>
            <a:r>
              <a:rPr lang="fr-FR" sz="1600" b="1" dirty="0">
                <a:highlight>
                  <a:srgbClr val="FFFF00"/>
                </a:highlight>
                <a:latin typeface="Courier New" panose="02070309020205020404" pitchFamily="49" charset="0"/>
                <a:cs typeface="Courier New" panose="02070309020205020404" pitchFamily="49" charset="0"/>
              </a:rPr>
              <a:t>§3 — Positionnement du bien (sans anticiper la valeur)</a:t>
            </a:r>
          </a:p>
          <a:p>
            <a:r>
              <a:rPr lang="fr-FR" sz="1600" dirty="0">
                <a:latin typeface="Courier New" panose="02070309020205020404" pitchFamily="49" charset="0"/>
                <a:cs typeface="Courier New" panose="02070309020205020404" pitchFamily="49" charset="0"/>
              </a:rPr>
              <a:t>  </a:t>
            </a:r>
          </a:p>
          <a:p>
            <a:r>
              <a:rPr lang="fr-FR" sz="1600" dirty="0">
                <a:latin typeface="Courier New" panose="02070309020205020404" pitchFamily="49" charset="0"/>
                <a:cs typeface="Courier New" panose="02070309020205020404" pitchFamily="49" charset="0"/>
              </a:rPr>
              <a:t>Ton professionnel et sobre (avec mention PAS de registre judiciaire si l’expertise ne l’est pas).</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Sources (DVF et/ou PERVAL) citées explicitement. </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Aucun prix de marché inventé — tout provient du tableau fourni.</a:t>
            </a:r>
          </a:p>
        </p:txBody>
      </p:sp>
    </p:spTree>
    <p:extLst>
      <p:ext uri="{BB962C8B-B14F-4D97-AF65-F5344CB8AC3E}">
        <p14:creationId xmlns:p14="http://schemas.microsoft.com/office/powerpoint/2010/main" val="11851947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E9092-269F-B059-25F2-A7FED756A768}"/>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5101E2FF-9510-6C53-0844-9AC73CEBFD3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3FF06F93-CD39-EEA2-8E3C-8352F09F67A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C90ABB5A-E2E7-4C12-B99C-8D327E605828}"/>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798604E7-3B98-3A9A-5A02-C4F9ED0FDB1D}"/>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036C2088-ECF8-6788-A828-206199B9D4F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5" name="ZoneTexte 14">
            <a:extLst>
              <a:ext uri="{FF2B5EF4-FFF2-40B4-BE49-F238E27FC236}">
                <a16:creationId xmlns:a16="http://schemas.microsoft.com/office/drawing/2014/main" id="{BFBA4F4C-BAD7-8DB1-2637-1F16BFAD14BA}"/>
              </a:ext>
            </a:extLst>
          </p:cNvPr>
          <p:cNvSpPr txBox="1"/>
          <p:nvPr/>
        </p:nvSpPr>
        <p:spPr>
          <a:xfrm>
            <a:off x="345738" y="2029344"/>
            <a:ext cx="11565846" cy="4561505"/>
          </a:xfrm>
          <a:prstGeom prst="rect">
            <a:avLst/>
          </a:prstGeom>
          <a:noFill/>
        </p:spPr>
        <p:txBody>
          <a:bodyPr wrap="square" rtlCol="0">
            <a:spAutoFit/>
          </a:bodyPr>
          <a:lstStyle/>
          <a:p>
            <a:pPr>
              <a:lnSpc>
                <a:spcPts val="2500"/>
              </a:lnSpc>
            </a:pPr>
            <a:r>
              <a:rPr lang="fr-FR" b="1" dirty="0">
                <a:solidFill>
                  <a:schemeClr val="accent1">
                    <a:lumMod val="75000"/>
                  </a:schemeClr>
                </a:solidFill>
                <a:latin typeface="Figtree"/>
                <a:cs typeface="Courier New" panose="02070309020205020404" pitchFamily="49" charset="0"/>
              </a:rPr>
              <a:t>Appartement / maison — marché actif</a:t>
            </a:r>
          </a:p>
          <a:p>
            <a:pPr>
              <a:lnSpc>
                <a:spcPts val="2500"/>
              </a:lnSpc>
            </a:pPr>
            <a:r>
              <a:rPr lang="fr-FR" dirty="0">
                <a:latin typeface="Figtree"/>
                <a:cs typeface="Courier New" panose="02070309020205020404" pitchFamily="49" charset="0"/>
              </a:rPr>
              <a:t>Segmenter par état (vétuste/courant/rénové) si le tableau le permet.</a:t>
            </a:r>
          </a:p>
          <a:p>
            <a:pPr>
              <a:lnSpc>
                <a:spcPts val="2500"/>
              </a:lnSpc>
            </a:pPr>
            <a:r>
              <a:rPr lang="fr-FR" b="1" dirty="0">
                <a:solidFill>
                  <a:schemeClr val="accent1">
                    <a:lumMod val="75000"/>
                  </a:schemeClr>
                </a:solidFill>
                <a:latin typeface="Figtree"/>
                <a:cs typeface="Courier New" panose="02070309020205020404" pitchFamily="49" charset="0"/>
              </a:rPr>
              <a:t>Local commercial</a:t>
            </a:r>
          </a:p>
          <a:p>
            <a:pPr>
              <a:lnSpc>
                <a:spcPts val="2500"/>
              </a:lnSpc>
            </a:pPr>
            <a:r>
              <a:rPr lang="fr-FR" dirty="0">
                <a:latin typeface="Figtree"/>
                <a:cs typeface="Courier New" panose="02070309020205020404" pitchFamily="49" charset="0"/>
              </a:rPr>
              <a:t>Remplacer le prix/m² par le loyer annuel/m² et le taux de capitalisation observé. Ajouter : "Rendements bruts observés sur le secteur : [X% à Y%]".</a:t>
            </a:r>
          </a:p>
          <a:p>
            <a:pPr>
              <a:lnSpc>
                <a:spcPts val="2500"/>
              </a:lnSpc>
            </a:pPr>
            <a:r>
              <a:rPr lang="fr-FR" b="1" dirty="0">
                <a:solidFill>
                  <a:schemeClr val="accent1">
                    <a:lumMod val="75000"/>
                  </a:schemeClr>
                </a:solidFill>
                <a:latin typeface="Figtree"/>
                <a:cs typeface="Courier New" panose="02070309020205020404" pitchFamily="49" charset="0"/>
              </a:rPr>
              <a:t>Terrain à bâtir</a:t>
            </a:r>
          </a:p>
          <a:p>
            <a:pPr>
              <a:lnSpc>
                <a:spcPts val="2500"/>
              </a:lnSpc>
            </a:pPr>
            <a:r>
              <a:rPr lang="fr-FR" dirty="0">
                <a:latin typeface="Figtree"/>
                <a:cs typeface="Courier New" panose="02070309020205020404" pitchFamily="49" charset="0"/>
              </a:rPr>
              <a:t>Comparer en prix/m² de terrain. Distinguer les terrains viabilisés des non viabilisés. Préciser la charge foncière si applicable.</a:t>
            </a:r>
          </a:p>
          <a:p>
            <a:pPr>
              <a:lnSpc>
                <a:spcPts val="2500"/>
              </a:lnSpc>
            </a:pPr>
            <a:r>
              <a:rPr lang="fr-FR" b="1" dirty="0">
                <a:solidFill>
                  <a:schemeClr val="accent1">
                    <a:lumMod val="75000"/>
                  </a:schemeClr>
                </a:solidFill>
                <a:latin typeface="Figtree"/>
                <a:cs typeface="Courier New" panose="02070309020205020404" pitchFamily="49" charset="0"/>
              </a:rPr>
              <a:t>Bien péri-urbain / rural</a:t>
            </a:r>
          </a:p>
          <a:p>
            <a:pPr>
              <a:lnSpc>
                <a:spcPts val="2500"/>
              </a:lnSpc>
            </a:pPr>
            <a:r>
              <a:rPr lang="fr-FR" dirty="0">
                <a:latin typeface="Figtree"/>
                <a:cs typeface="Courier New" panose="02070309020205020404" pitchFamily="49" charset="0"/>
              </a:rPr>
              <a:t>Élargir le périmètre géographique (commune + communes limitrophes similaires). Préciser la zone de chalandise et la raison de l'élargissement.</a:t>
            </a:r>
          </a:p>
          <a:p>
            <a:pPr>
              <a:lnSpc>
                <a:spcPts val="2500"/>
              </a:lnSpc>
            </a:pPr>
            <a:r>
              <a:rPr lang="fr-FR" b="1" dirty="0">
                <a:solidFill>
                  <a:schemeClr val="accent1">
                    <a:lumMod val="75000"/>
                  </a:schemeClr>
                </a:solidFill>
                <a:latin typeface="Figtree"/>
                <a:cs typeface="Courier New" panose="02070309020205020404" pitchFamily="49" charset="0"/>
              </a:rPr>
              <a:t>Marché peu actif (peu de comparables)</a:t>
            </a:r>
          </a:p>
          <a:p>
            <a:pPr>
              <a:lnSpc>
                <a:spcPts val="2500"/>
              </a:lnSpc>
            </a:pPr>
            <a:r>
              <a:rPr lang="fr-FR" dirty="0">
                <a:latin typeface="Figtree"/>
                <a:cs typeface="Courier New" panose="02070309020205020404" pitchFamily="49" charset="0"/>
              </a:rPr>
              <a:t>Si moins de 5 transactions disponibles : "L'étroitesse du marché local a conduit à élargir le périmètre de recherche à [secteur]. Seules [N] transactions ont pu être retenues."</a:t>
            </a:r>
          </a:p>
        </p:txBody>
      </p:sp>
      <p:sp>
        <p:nvSpPr>
          <p:cNvPr id="19" name="ZoneTexte 18">
            <a:extLst>
              <a:ext uri="{FF2B5EF4-FFF2-40B4-BE49-F238E27FC236}">
                <a16:creationId xmlns:a16="http://schemas.microsoft.com/office/drawing/2014/main" id="{01ACC5C5-658D-FC13-AA64-D655BD0B0341}"/>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BC57F32C-8EC7-66ED-9DA0-02D00DCA8CA8}"/>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EB1ACACB-86A1-AB94-33D7-D1D8D23D738D}"/>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6 – Analyse de marché et comparables</a:t>
            </a:r>
          </a:p>
        </p:txBody>
      </p:sp>
      <p:sp>
        <p:nvSpPr>
          <p:cNvPr id="25" name="ZoneTexte 24">
            <a:extLst>
              <a:ext uri="{FF2B5EF4-FFF2-40B4-BE49-F238E27FC236}">
                <a16:creationId xmlns:a16="http://schemas.microsoft.com/office/drawing/2014/main" id="{FF6F30B2-1F6B-4967-362E-2B2259610B30}"/>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Tree>
    <p:extLst>
      <p:ext uri="{BB962C8B-B14F-4D97-AF65-F5344CB8AC3E}">
        <p14:creationId xmlns:p14="http://schemas.microsoft.com/office/powerpoint/2010/main" val="233427070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BBFC-3D8F-DF0B-9AE1-507EAC7C1755}"/>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AECBCD96-48B4-63E8-BC1E-364D0115410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B64416FE-ACA3-AF1C-5BD5-A81168E088D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20497325-8B85-81FA-DE9F-1B5BA7880363}"/>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28D33997-2E3B-7060-7955-84F75CDE0BF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B0327029-924D-4943-9899-8363A532CD1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9" name="ZoneTexte 18">
            <a:extLst>
              <a:ext uri="{FF2B5EF4-FFF2-40B4-BE49-F238E27FC236}">
                <a16:creationId xmlns:a16="http://schemas.microsoft.com/office/drawing/2014/main" id="{E4026E63-0470-EC0B-3879-FE2FFC791490}"/>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1" name="Rectangle: Rounded Corners 14">
            <a:extLst>
              <a:ext uri="{FF2B5EF4-FFF2-40B4-BE49-F238E27FC236}">
                <a16:creationId xmlns:a16="http://schemas.microsoft.com/office/drawing/2014/main" id="{67874A9C-11A3-C3D9-9043-28CC5DB24436}"/>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B5B701EE-0275-8765-E1D7-31CAC35BBB4B}"/>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6 – Analyse de marché et comparables</a:t>
            </a:r>
          </a:p>
        </p:txBody>
      </p:sp>
      <p:sp>
        <p:nvSpPr>
          <p:cNvPr id="25" name="ZoneTexte 24">
            <a:extLst>
              <a:ext uri="{FF2B5EF4-FFF2-40B4-BE49-F238E27FC236}">
                <a16:creationId xmlns:a16="http://schemas.microsoft.com/office/drawing/2014/main" id="{E0C967F0-A490-BB8B-10DF-E1DCBF507A63}"/>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3" name="ZoneTexte 2">
            <a:extLst>
              <a:ext uri="{FF2B5EF4-FFF2-40B4-BE49-F238E27FC236}">
                <a16:creationId xmlns:a16="http://schemas.microsoft.com/office/drawing/2014/main" id="{1C283A2C-6779-8DC0-BCB3-640E30AC31FC}"/>
              </a:ext>
            </a:extLst>
          </p:cNvPr>
          <p:cNvSpPr txBox="1"/>
          <p:nvPr/>
        </p:nvSpPr>
        <p:spPr>
          <a:xfrm>
            <a:off x="453859" y="2359534"/>
            <a:ext cx="11284282" cy="3477875"/>
          </a:xfrm>
          <a:prstGeom prst="rect">
            <a:avLst/>
          </a:prstGeom>
          <a:noFill/>
        </p:spPr>
        <p:txBody>
          <a:bodyPr wrap="square" rtlCol="0">
            <a:spAutoFit/>
          </a:bodyPr>
          <a:lstStyle/>
          <a:p>
            <a:pPr algn="ctr"/>
            <a:r>
              <a:rPr lang="fr-FR" sz="2200" b="1" dirty="0">
                <a:solidFill>
                  <a:srgbClr val="FF0000"/>
                </a:solidFill>
              </a:rPr>
              <a:t>POINTS DE VIGILANCE</a:t>
            </a:r>
          </a:p>
          <a:p>
            <a:endParaRPr lang="fr-FR" sz="2200" dirty="0"/>
          </a:p>
          <a:p>
            <a:r>
              <a:rPr lang="fr-FR" sz="2200" b="1" dirty="0">
                <a:solidFill>
                  <a:srgbClr val="FF0000"/>
                </a:solidFill>
              </a:rPr>
              <a:t>Calculs sont à vérifier </a:t>
            </a:r>
            <a:r>
              <a:rPr lang="fr-FR" sz="2200" dirty="0"/>
              <a:t>: comparer les chiffres produits par l’IA avec vos propres calculs. Vérifier médiane et moyenne. Des écarts sont fréquents sur les petits jeux de données.</a:t>
            </a:r>
          </a:p>
          <a:p>
            <a:r>
              <a:rPr lang="fr-FR" sz="2200" dirty="0"/>
              <a:t>  </a:t>
            </a:r>
          </a:p>
          <a:p>
            <a:r>
              <a:rPr lang="fr-FR" sz="2200" b="1" dirty="0">
                <a:solidFill>
                  <a:srgbClr val="FF0000"/>
                </a:solidFill>
              </a:rPr>
              <a:t>Prix sans tableau fourni </a:t>
            </a:r>
            <a:r>
              <a:rPr lang="fr-FR" sz="2200" dirty="0"/>
              <a:t>: </a:t>
            </a:r>
            <a:r>
              <a:rPr lang="fr-FR" sz="2200" dirty="0">
                <a:solidFill>
                  <a:srgbClr val="FF0000"/>
                </a:solidFill>
              </a:rPr>
              <a:t>NE JAMAIS </a:t>
            </a:r>
            <a:r>
              <a:rPr lang="fr-FR" sz="2200" dirty="0"/>
              <a:t>demander les prix de marché à l'IA sans tableau. Elle produit des chiffres périmés de 18 à 24 mois avec une confiance trompeuse.</a:t>
            </a:r>
          </a:p>
          <a:p>
            <a:r>
              <a:rPr lang="fr-FR" sz="2200" dirty="0"/>
              <a:t>  </a:t>
            </a:r>
          </a:p>
          <a:p>
            <a:r>
              <a:rPr lang="fr-FR" sz="2200" b="1" dirty="0">
                <a:solidFill>
                  <a:srgbClr val="FF0000"/>
                </a:solidFill>
              </a:rPr>
              <a:t>Ventes multi-lots DVF </a:t>
            </a:r>
            <a:r>
              <a:rPr lang="fr-FR" sz="2200" dirty="0"/>
              <a:t>: écarter les lignes que vous jugez aberrantes </a:t>
            </a:r>
            <a:r>
              <a:rPr lang="fr-FR" sz="2200" i="1" dirty="0"/>
              <a:t>(ex : une cave de 8 m² au prix total de = 40 000 €/m²).</a:t>
            </a:r>
            <a:endParaRPr lang="fr-FR" sz="2200" b="1" i="1" dirty="0"/>
          </a:p>
        </p:txBody>
      </p:sp>
    </p:spTree>
    <p:extLst>
      <p:ext uri="{BB962C8B-B14F-4D97-AF65-F5344CB8AC3E}">
        <p14:creationId xmlns:p14="http://schemas.microsoft.com/office/powerpoint/2010/main" val="38099053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6FB8-DFA8-420C-F9AA-CD600F69D0AA}"/>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A331C7AB-1508-2F36-796B-813EE080281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B06624E8-D366-9FA5-87C2-B93021246EB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43BAC8F1-253B-A023-CE51-8A67610CEA7A}"/>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B9B8444D-5F39-DBE6-585E-268A5129CEB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C40CFF2F-B77E-74C7-F86D-1E55825F4441}"/>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5" name="ZoneTexte 14">
            <a:extLst>
              <a:ext uri="{FF2B5EF4-FFF2-40B4-BE49-F238E27FC236}">
                <a16:creationId xmlns:a16="http://schemas.microsoft.com/office/drawing/2014/main" id="{1A57C663-7D64-88B5-4974-E546C05822B7}"/>
              </a:ext>
            </a:extLst>
          </p:cNvPr>
          <p:cNvSpPr txBox="1"/>
          <p:nvPr/>
        </p:nvSpPr>
        <p:spPr>
          <a:xfrm>
            <a:off x="294095" y="1607698"/>
            <a:ext cx="5592483" cy="5262979"/>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agréé par la cour d'appel.</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"Méthodes de valorisation" d'un </a:t>
            </a:r>
            <a:r>
              <a:rPr lang="fr-FR" sz="1400" b="1" dirty="0">
                <a:solidFill>
                  <a:schemeClr val="accent2">
                    <a:lumMod val="75000"/>
                  </a:schemeClr>
                </a:solidFill>
                <a:latin typeface="Courier New" panose="02070309020205020404" pitchFamily="49" charset="0"/>
                <a:cs typeface="Courier New" panose="02070309020205020404" pitchFamily="49" charset="0"/>
              </a:rPr>
              <a:t>rapport d'expertise judiciaire </a:t>
            </a:r>
            <a:r>
              <a:rPr lang="fr-FR" sz="1400" dirty="0">
                <a:latin typeface="Courier New" panose="02070309020205020404" pitchFamily="49" charset="0"/>
                <a:cs typeface="Courier New" panose="02070309020205020404" pitchFamily="49" charset="0"/>
              </a:rPr>
              <a:t>— </a:t>
            </a:r>
            <a:r>
              <a:rPr lang="fr-FR" sz="1400" b="1" dirty="0">
                <a:solidFill>
                  <a:schemeClr val="accent1">
                    <a:lumMod val="75000"/>
                  </a:schemeClr>
                </a:solidFill>
                <a:latin typeface="Courier New" panose="02070309020205020404" pitchFamily="49" charset="0"/>
                <a:cs typeface="Courier New" panose="02070309020205020404" pitchFamily="49" charset="0"/>
              </a:rPr>
              <a:t>méthode par </a:t>
            </a:r>
            <a:r>
              <a:rPr lang="fr-FR" sz="1400" b="1" cap="all" dirty="0">
                <a:solidFill>
                  <a:schemeClr val="accent1">
                    <a:lumMod val="75000"/>
                  </a:schemeClr>
                </a:solidFill>
                <a:latin typeface="Courier New" panose="02070309020205020404" pitchFamily="49" charset="0"/>
                <a:cs typeface="Courier New" panose="02070309020205020404" pitchFamily="49" charset="0"/>
              </a:rPr>
              <a:t>comparaison directe</a:t>
            </a:r>
            <a:r>
              <a:rPr lang="fr-FR" sz="1400" b="1" dirty="0">
                <a:solidFill>
                  <a:schemeClr val="accent1">
                    <a:lumMod val="75000"/>
                  </a:schemeClr>
                </a:solidFill>
                <a:latin typeface="Courier New" panose="02070309020205020404" pitchFamily="49" charset="0"/>
                <a:cs typeface="Courier New" panose="02070309020205020404" pitchFamily="49" charset="0"/>
              </a:rPr>
              <a:t>.</a:t>
            </a:r>
          </a:p>
          <a:p>
            <a:endParaRPr lang="fr-FR" sz="1400" b="1"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et technique, 220 à 260 mots, trois paragraphes :</a:t>
            </a:r>
          </a:p>
          <a:p>
            <a:r>
              <a:rPr lang="fr-FR" sz="1400" b="1" dirty="0">
                <a:highlight>
                  <a:srgbClr val="FFFF00"/>
                </a:highlight>
                <a:latin typeface="Courier New" panose="02070309020205020404" pitchFamily="49" charset="0"/>
                <a:cs typeface="Courier New" panose="02070309020205020404" pitchFamily="49" charset="0"/>
              </a:rPr>
              <a:t>§1 — Justification du choix méthodologique et méthodes écartées</a:t>
            </a:r>
          </a:p>
          <a:p>
            <a:r>
              <a:rPr lang="fr-FR" sz="1400" b="1" dirty="0">
                <a:highlight>
                  <a:srgbClr val="FFFF00"/>
                </a:highlight>
                <a:latin typeface="Courier New" panose="02070309020205020404" pitchFamily="49" charset="0"/>
                <a:cs typeface="Courier New" panose="02070309020205020404" pitchFamily="49" charset="0"/>
              </a:rPr>
              <a:t>§2 — Application de la méthode et ajustements motivés</a:t>
            </a:r>
          </a:p>
          <a:p>
            <a:r>
              <a:rPr lang="fr-FR" sz="1400" b="1" dirty="0">
                <a:highlight>
                  <a:srgbClr val="FFFF00"/>
                </a:highlight>
                <a:latin typeface="Courier New" panose="02070309020205020404" pitchFamily="49" charset="0"/>
                <a:cs typeface="Courier New" panose="02070309020205020404" pitchFamily="49" charset="0"/>
              </a:rPr>
              <a:t>§3 — Valeur unitaire retenue et calcul de la valeur avant arrondi</a:t>
            </a:r>
          </a:p>
          <a:p>
            <a:endParaRPr lang="fr-FR" sz="1400" dirty="0">
              <a:latin typeface="Courier New" panose="02070309020205020404" pitchFamily="49" charset="0"/>
              <a:cs typeface="Courier New" panose="02070309020205020404" pitchFamily="49" charset="0"/>
            </a:endParaRP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RÈGLES</a:t>
            </a:r>
            <a:r>
              <a:rPr lang="fr-FR" sz="1400" dirty="0">
                <a:solidFill>
                  <a:schemeClr val="bg1"/>
                </a:solidFill>
                <a:highlight>
                  <a:srgbClr val="FF0000"/>
                </a:highlight>
                <a:latin typeface="Courier New" panose="02070309020205020404" pitchFamily="49" charset="0"/>
                <a:cs typeface="Courier New" panose="02070309020205020404" pitchFamily="49" charset="0"/>
              </a:rPr>
              <a:t> :</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a:t>
            </a:r>
            <a:r>
              <a:rPr lang="fr-FR" sz="1400" b="1" dirty="0">
                <a:solidFill>
                  <a:schemeClr val="bg1"/>
                </a:solidFill>
                <a:highlight>
                  <a:srgbClr val="FF0000"/>
                </a:highlight>
                <a:latin typeface="Courier New" panose="02070309020205020404" pitchFamily="49" charset="0"/>
                <a:cs typeface="Courier New" panose="02070309020205020404" pitchFamily="49" charset="0"/>
              </a:rPr>
              <a:t>Motiver</a:t>
            </a:r>
            <a:r>
              <a:rPr lang="fr-FR" sz="1400" dirty="0">
                <a:solidFill>
                  <a:schemeClr val="bg1"/>
                </a:solidFill>
                <a:highlight>
                  <a:srgbClr val="FF0000"/>
                </a:highlight>
                <a:latin typeface="Courier New" panose="02070309020205020404" pitchFamily="49" charset="0"/>
                <a:cs typeface="Courier New" panose="02070309020205020404" pitchFamily="49" charset="0"/>
              </a:rPr>
              <a:t> chaque ajustement par un élément factuel du dossier</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a:t>
            </a:r>
            <a:r>
              <a:rPr lang="fr-FR" sz="1400" b="1" dirty="0">
                <a:solidFill>
                  <a:schemeClr val="bg1"/>
                </a:solidFill>
                <a:highlight>
                  <a:srgbClr val="FF0000"/>
                </a:highlight>
                <a:latin typeface="Courier New" panose="02070309020205020404" pitchFamily="49" charset="0"/>
                <a:cs typeface="Courier New" panose="02070309020205020404" pitchFamily="49" charset="0"/>
              </a:rPr>
              <a:t>Présenter</a:t>
            </a:r>
            <a:r>
              <a:rPr lang="fr-FR" sz="1400" dirty="0">
                <a:solidFill>
                  <a:schemeClr val="bg1"/>
                </a:solidFill>
                <a:highlight>
                  <a:srgbClr val="FF0000"/>
                </a:highlight>
                <a:latin typeface="Courier New" panose="02070309020205020404" pitchFamily="49" charset="0"/>
                <a:cs typeface="Courier New" panose="02070309020205020404" pitchFamily="49" charset="0"/>
              </a:rPr>
              <a:t> les calculs de façon transparente et vérifiable</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Ne jamais citer de pourcentage d'ajustement </a:t>
            </a:r>
            <a:r>
              <a:rPr lang="fr-FR" sz="1400" b="1" dirty="0">
                <a:solidFill>
                  <a:schemeClr val="bg1"/>
                </a:solidFill>
                <a:highlight>
                  <a:srgbClr val="FF0000"/>
                </a:highlight>
                <a:latin typeface="Courier New" panose="02070309020205020404" pitchFamily="49" charset="0"/>
                <a:cs typeface="Courier New" panose="02070309020205020404" pitchFamily="49" charset="0"/>
              </a:rPr>
              <a:t>sans le justifier</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La valeur est arrêtée par l'expert — l'IA met en forme</a:t>
            </a:r>
          </a:p>
        </p:txBody>
      </p:sp>
      <p:sp>
        <p:nvSpPr>
          <p:cNvPr id="21" name="Rectangle: Rounded Corners 14">
            <a:extLst>
              <a:ext uri="{FF2B5EF4-FFF2-40B4-BE49-F238E27FC236}">
                <a16:creationId xmlns:a16="http://schemas.microsoft.com/office/drawing/2014/main" id="{D9B67835-AC9E-4471-B817-A5EB3FD3BBF0}"/>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026098DE-CB08-5E24-315C-4281E3F37E14}"/>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7 – Méthodes et valorisation</a:t>
            </a:r>
          </a:p>
        </p:txBody>
      </p:sp>
      <p:sp>
        <p:nvSpPr>
          <p:cNvPr id="25" name="ZoneTexte 24">
            <a:extLst>
              <a:ext uri="{FF2B5EF4-FFF2-40B4-BE49-F238E27FC236}">
                <a16:creationId xmlns:a16="http://schemas.microsoft.com/office/drawing/2014/main" id="{145772AF-4320-3A2D-D722-D57ACA9D1BB9}"/>
              </a:ext>
            </a:extLst>
          </p:cNvPr>
          <p:cNvSpPr txBox="1"/>
          <p:nvPr/>
        </p:nvSpPr>
        <p:spPr>
          <a:xfrm>
            <a:off x="242578" y="1185708"/>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 name="ZoneTexte 1">
            <a:extLst>
              <a:ext uri="{FF2B5EF4-FFF2-40B4-BE49-F238E27FC236}">
                <a16:creationId xmlns:a16="http://schemas.microsoft.com/office/drawing/2014/main" id="{DE0EF242-2047-B8CD-81F5-D9CAC28F25AE}"/>
              </a:ext>
            </a:extLst>
          </p:cNvPr>
          <p:cNvSpPr txBox="1"/>
          <p:nvPr/>
        </p:nvSpPr>
        <p:spPr>
          <a:xfrm>
            <a:off x="6204441" y="1768303"/>
            <a:ext cx="5592483" cy="4893647"/>
          </a:xfrm>
          <a:prstGeom prst="rect">
            <a:avLst/>
          </a:prstGeom>
          <a:noFill/>
        </p:spPr>
        <p:txBody>
          <a:bodyPr wrap="square" rtlCol="0">
            <a:spAutoFit/>
          </a:bodyPr>
          <a:lstStyle/>
          <a:p>
            <a:r>
              <a:rPr lang="fr-FR" sz="1200" b="1" dirty="0">
                <a:latin typeface="Courier New" panose="02070309020205020404" pitchFamily="49" charset="0"/>
                <a:cs typeface="Courier New" panose="02070309020205020404" pitchFamily="49" charset="0"/>
              </a:rPr>
              <a:t>DONNÉES — BIEN EXPERTISÉ :</a:t>
            </a:r>
          </a:p>
          <a:p>
            <a:r>
              <a:rPr lang="fr-FR" sz="1200" b="1" dirty="0">
                <a:latin typeface="Courier New" panose="02070309020205020404" pitchFamily="49" charset="0"/>
                <a:cs typeface="Courier New" panose="02070309020205020404" pitchFamily="49" charset="0"/>
              </a:rPr>
              <a:t>Type et surface : </a:t>
            </a:r>
            <a:r>
              <a:rPr lang="fr-FR" sz="1200" b="1" dirty="0">
                <a:solidFill>
                  <a:srgbClr val="00B050"/>
                </a:solidFill>
                <a:latin typeface="Courier New" panose="02070309020205020404" pitchFamily="49" charset="0"/>
                <a:cs typeface="Courier New" panose="02070309020205020404" pitchFamily="49" charset="0"/>
              </a:rPr>
              <a:t>[type] de [X] m²</a:t>
            </a:r>
          </a:p>
          <a:p>
            <a:r>
              <a:rPr lang="fr-FR" sz="1200" b="1" dirty="0">
                <a:latin typeface="Courier New" panose="02070309020205020404" pitchFamily="49" charset="0"/>
                <a:cs typeface="Courier New" panose="02070309020205020404" pitchFamily="49" charset="0"/>
              </a:rPr>
              <a:t>État général retenu : </a:t>
            </a:r>
            <a:r>
              <a:rPr lang="fr-FR" sz="1200" b="1" dirty="0">
                <a:solidFill>
                  <a:srgbClr val="00B050"/>
                </a:solidFill>
                <a:latin typeface="Courier New" panose="02070309020205020404" pitchFamily="49" charset="0"/>
                <a:cs typeface="Courier New" panose="02070309020205020404" pitchFamily="49" charset="0"/>
              </a:rPr>
              <a:t>[vétuste / courant / bon / très bon]</a:t>
            </a:r>
          </a:p>
          <a:p>
            <a:r>
              <a:rPr lang="fr-FR" sz="1200" b="1" dirty="0">
                <a:latin typeface="Courier New" panose="02070309020205020404" pitchFamily="49" charset="0"/>
                <a:cs typeface="Courier New" panose="02070309020205020404" pitchFamily="49" charset="0"/>
              </a:rPr>
              <a:t>Caractéristiques distinctives : </a:t>
            </a:r>
            <a:r>
              <a:rPr lang="fr-FR" sz="1200" b="1" dirty="0">
                <a:solidFill>
                  <a:srgbClr val="00B050"/>
                </a:solidFill>
                <a:latin typeface="Courier New" panose="02070309020205020404" pitchFamily="49" charset="0"/>
                <a:cs typeface="Courier New" panose="02070309020205020404" pitchFamily="49" charset="0"/>
              </a:rPr>
              <a:t>[étage, ascenseur, exposition, éléments de qualité ou de faiblesse identifiés en section 5]</a:t>
            </a:r>
          </a:p>
          <a:p>
            <a:endParaRPr lang="fr-FR" sz="1200" dirty="0">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DONNÉES — MARCHÉ (issues de la section 6) :</a:t>
            </a:r>
          </a:p>
          <a:p>
            <a:r>
              <a:rPr lang="fr-FR" sz="1200" b="1" dirty="0">
                <a:latin typeface="Courier New" panose="02070309020205020404" pitchFamily="49" charset="0"/>
                <a:cs typeface="Courier New" panose="02070309020205020404" pitchFamily="49" charset="0"/>
              </a:rPr>
              <a:t>Fourchette observée : </a:t>
            </a:r>
            <a:r>
              <a:rPr lang="fr-FR" sz="1200" b="1" dirty="0">
                <a:solidFill>
                  <a:srgbClr val="00B050"/>
                </a:solidFill>
                <a:latin typeface="Courier New" panose="02070309020205020404" pitchFamily="49" charset="0"/>
                <a:cs typeface="Courier New" panose="02070309020205020404" pitchFamily="49" charset="0"/>
              </a:rPr>
              <a:t>[X à Y €/m²]</a:t>
            </a:r>
          </a:p>
          <a:p>
            <a:r>
              <a:rPr lang="fr-FR" sz="1200" b="1" dirty="0">
                <a:latin typeface="Courier New" panose="02070309020205020404" pitchFamily="49" charset="0"/>
                <a:cs typeface="Courier New" panose="02070309020205020404" pitchFamily="49" charset="0"/>
              </a:rPr>
              <a:t>Prix médian : </a:t>
            </a:r>
            <a:r>
              <a:rPr lang="fr-FR" sz="1200" b="1" dirty="0">
                <a:solidFill>
                  <a:srgbClr val="00B050"/>
                </a:solidFill>
                <a:latin typeface="Courier New" panose="02070309020205020404" pitchFamily="49" charset="0"/>
                <a:cs typeface="Courier New" panose="02070309020205020404" pitchFamily="49" charset="0"/>
              </a:rPr>
              <a:t>[Z €/m²]</a:t>
            </a:r>
          </a:p>
          <a:p>
            <a:r>
              <a:rPr lang="fr-FR" sz="1200" b="1" dirty="0">
                <a:latin typeface="Courier New" panose="02070309020205020404" pitchFamily="49" charset="0"/>
                <a:cs typeface="Courier New" panose="02070309020205020404" pitchFamily="49" charset="0"/>
              </a:rPr>
              <a:t>Nombre de comparables retenus : </a:t>
            </a:r>
            <a:r>
              <a:rPr lang="fr-FR" sz="1200" b="1" dirty="0">
                <a:solidFill>
                  <a:srgbClr val="00B050"/>
                </a:solidFill>
                <a:latin typeface="Courier New" panose="02070309020205020404" pitchFamily="49" charset="0"/>
                <a:cs typeface="Courier New" panose="02070309020205020404" pitchFamily="49" charset="0"/>
              </a:rPr>
              <a:t>[N]</a:t>
            </a:r>
          </a:p>
          <a:p>
            <a:r>
              <a:rPr lang="fr-FR" sz="1200" b="1" dirty="0">
                <a:latin typeface="Courier New" panose="02070309020205020404" pitchFamily="49" charset="0"/>
                <a:cs typeface="Courier New" panose="02070309020205020404" pitchFamily="49" charset="0"/>
              </a:rPr>
              <a:t>Période d'observation : </a:t>
            </a:r>
            <a:r>
              <a:rPr lang="fr-FR" sz="1200" b="1" dirty="0">
                <a:solidFill>
                  <a:srgbClr val="00B050"/>
                </a:solidFill>
                <a:latin typeface="Courier New" panose="02070309020205020404" pitchFamily="49" charset="0"/>
                <a:cs typeface="Courier New" panose="02070309020205020404" pitchFamily="49" charset="0"/>
              </a:rPr>
              <a:t>[mois–mois, année]</a:t>
            </a:r>
          </a:p>
          <a:p>
            <a:endParaRPr lang="fr-FR" sz="1200" b="1" dirty="0">
              <a:solidFill>
                <a:srgbClr val="00B050"/>
              </a:solidFill>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MÉTHODES ÉCARTÉES ET MOTIFS :</a:t>
            </a:r>
          </a:p>
          <a:p>
            <a:r>
              <a:rPr lang="fr-FR" sz="1200" b="1" dirty="0">
                <a:latin typeface="Courier New" panose="02070309020205020404" pitchFamily="49" charset="0"/>
                <a:cs typeface="Courier New" panose="02070309020205020404" pitchFamily="49" charset="0"/>
              </a:rPr>
              <a:t>Capitalisation : </a:t>
            </a:r>
            <a:r>
              <a:rPr lang="fr-FR" sz="1200" b="1" dirty="0">
                <a:solidFill>
                  <a:schemeClr val="accent4">
                    <a:lumMod val="75000"/>
                  </a:schemeClr>
                </a:solidFill>
                <a:latin typeface="Courier New" panose="02070309020205020404" pitchFamily="49" charset="0"/>
                <a:cs typeface="Courier New" panose="02070309020205020404" pitchFamily="49" charset="0"/>
              </a:rPr>
              <a:t>[motif — ex: bien non destiné à la location]</a:t>
            </a:r>
          </a:p>
          <a:p>
            <a:r>
              <a:rPr lang="fr-FR" sz="1200" b="1" dirty="0">
                <a:latin typeface="Courier New" panose="02070309020205020404" pitchFamily="49" charset="0"/>
                <a:cs typeface="Courier New" panose="02070309020205020404" pitchFamily="49" charset="0"/>
              </a:rPr>
              <a:t>Coût remplacement : </a:t>
            </a:r>
            <a:r>
              <a:rPr lang="fr-FR" sz="1200" b="1" dirty="0">
                <a:solidFill>
                  <a:schemeClr val="accent4">
                    <a:lumMod val="75000"/>
                  </a:schemeClr>
                </a:solidFill>
                <a:latin typeface="Courier New" panose="02070309020205020404" pitchFamily="49" charset="0"/>
                <a:cs typeface="Courier New" panose="02070309020205020404" pitchFamily="49" charset="0"/>
              </a:rPr>
              <a:t>[motif — ex: bien ancien, marché de comparables disponible]</a:t>
            </a:r>
          </a:p>
          <a:p>
            <a:endParaRPr lang="fr-FR" sz="1200" dirty="0">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AJUSTEMENTS RETENUS PAR L'EXPERT :</a:t>
            </a:r>
          </a:p>
          <a:p>
            <a:r>
              <a:rPr lang="fr-FR" sz="1200" b="1" dirty="0">
                <a:solidFill>
                  <a:srgbClr val="00B050"/>
                </a:solidFill>
                <a:latin typeface="Courier New" panose="02070309020205020404" pitchFamily="49" charset="0"/>
                <a:cs typeface="Courier New" panose="02070309020205020404" pitchFamily="49" charset="0"/>
              </a:rPr>
              <a:t>+ ou – [X%] : [motif factuel précis]</a:t>
            </a:r>
          </a:p>
          <a:p>
            <a:r>
              <a:rPr lang="fr-FR" sz="1200" b="1" dirty="0">
                <a:solidFill>
                  <a:srgbClr val="00B050"/>
                </a:solidFill>
                <a:latin typeface="Courier New" panose="02070309020205020404" pitchFamily="49" charset="0"/>
                <a:cs typeface="Courier New" panose="02070309020205020404" pitchFamily="49" charset="0"/>
              </a:rPr>
              <a:t>+ ou – [Y%] : [motif factuel précis]</a:t>
            </a:r>
          </a:p>
          <a:p>
            <a:r>
              <a:rPr lang="fr-FR" sz="1200" b="1" dirty="0">
                <a:solidFill>
                  <a:srgbClr val="00B050"/>
                </a:solidFill>
                <a:latin typeface="Courier New" panose="02070309020205020404" pitchFamily="49" charset="0"/>
                <a:cs typeface="Courier New" panose="02070309020205020404" pitchFamily="49" charset="0"/>
              </a:rPr>
              <a:t>[etc.]</a:t>
            </a:r>
          </a:p>
          <a:p>
            <a:endParaRPr lang="fr-FR" sz="1200" dirty="0">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PRIX UNITAIRE ARRÊTÉ PAR L'EXPERT : </a:t>
            </a:r>
            <a:r>
              <a:rPr lang="fr-FR" sz="1200" b="1" dirty="0">
                <a:solidFill>
                  <a:srgbClr val="00B050"/>
                </a:solidFill>
                <a:latin typeface="Courier New" panose="02070309020205020404" pitchFamily="49" charset="0"/>
                <a:cs typeface="Courier New" panose="02070309020205020404" pitchFamily="49" charset="0"/>
              </a:rPr>
              <a:t>[X €/m²]</a:t>
            </a:r>
          </a:p>
          <a:p>
            <a:r>
              <a:rPr lang="fr-FR" sz="1200" b="1" dirty="0">
                <a:latin typeface="Courier New" panose="02070309020205020404" pitchFamily="49" charset="0"/>
                <a:cs typeface="Courier New" panose="02070309020205020404" pitchFamily="49" charset="0"/>
              </a:rPr>
              <a:t>SURFACE RETENUE : </a:t>
            </a:r>
            <a:r>
              <a:rPr lang="fr-FR" sz="1200" b="1" dirty="0">
                <a:solidFill>
                  <a:srgbClr val="00B050"/>
                </a:solidFill>
                <a:latin typeface="Courier New" panose="02070309020205020404" pitchFamily="49" charset="0"/>
                <a:cs typeface="Courier New" panose="02070309020205020404" pitchFamily="49" charset="0"/>
              </a:rPr>
              <a:t>[S] m²</a:t>
            </a:r>
          </a:p>
        </p:txBody>
      </p:sp>
      <p:sp>
        <p:nvSpPr>
          <p:cNvPr id="6" name="ZoneTexte 5">
            <a:extLst>
              <a:ext uri="{FF2B5EF4-FFF2-40B4-BE49-F238E27FC236}">
                <a16:creationId xmlns:a16="http://schemas.microsoft.com/office/drawing/2014/main" id="{E802B6A0-40C8-4FD5-CCA7-262AAF751904}"/>
              </a:ext>
            </a:extLst>
          </p:cNvPr>
          <p:cNvSpPr txBox="1"/>
          <p:nvPr/>
        </p:nvSpPr>
        <p:spPr>
          <a:xfrm>
            <a:off x="9749328" y="1100567"/>
            <a:ext cx="1617174" cy="646331"/>
          </a:xfrm>
          <a:prstGeom prst="rect">
            <a:avLst/>
          </a:prstGeom>
          <a:noFill/>
        </p:spPr>
        <p:txBody>
          <a:bodyPr wrap="none" rtlCol="0">
            <a:spAutoFit/>
          </a:bodyPr>
          <a:lstStyle/>
          <a:p>
            <a:r>
              <a:rPr lang="fr-FR" sz="1200" b="1" dirty="0">
                <a:solidFill>
                  <a:srgbClr val="00B050"/>
                </a:solidFill>
                <a:latin typeface="Figtree"/>
              </a:rPr>
              <a:t>Données à fournir</a:t>
            </a:r>
          </a:p>
          <a:p>
            <a:r>
              <a:rPr lang="fr-FR" sz="1200" b="1" dirty="0">
                <a:solidFill>
                  <a:schemeClr val="accent4">
                    <a:lumMod val="75000"/>
                  </a:schemeClr>
                </a:solidFill>
                <a:latin typeface="Figtree"/>
              </a:rPr>
              <a:t>Données optionnelles</a:t>
            </a:r>
          </a:p>
          <a:p>
            <a:r>
              <a:rPr lang="fr-FR" sz="1200" b="1" dirty="0">
                <a:solidFill>
                  <a:srgbClr val="FF0000"/>
                </a:solidFill>
                <a:latin typeface="Figtree"/>
              </a:rPr>
              <a:t>Instructions critiques</a:t>
            </a:r>
          </a:p>
        </p:txBody>
      </p:sp>
    </p:spTree>
    <p:extLst>
      <p:ext uri="{BB962C8B-B14F-4D97-AF65-F5344CB8AC3E}">
        <p14:creationId xmlns:p14="http://schemas.microsoft.com/office/powerpoint/2010/main" val="20915728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AE4EC-7A05-C597-B3C9-B1FD8C7D4A62}"/>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5F6E4B8F-28B3-D7D8-C243-E525A706D3D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793953FF-FB79-ECB1-19EB-0B8CB641832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BE22354E-F400-D1A2-ED96-2DF08003D5A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8C6D5FBC-EFE5-2E97-4C3E-79B582D92C80}"/>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53ABB14A-2E95-6BF0-1F6D-09B17B82606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5" name="ZoneTexte 14">
            <a:extLst>
              <a:ext uri="{FF2B5EF4-FFF2-40B4-BE49-F238E27FC236}">
                <a16:creationId xmlns:a16="http://schemas.microsoft.com/office/drawing/2014/main" id="{B6328907-E5D1-71FC-2E72-983135989C48}"/>
              </a:ext>
            </a:extLst>
          </p:cNvPr>
          <p:cNvSpPr txBox="1"/>
          <p:nvPr/>
        </p:nvSpPr>
        <p:spPr>
          <a:xfrm>
            <a:off x="294095" y="1607698"/>
            <a:ext cx="5592483" cy="5262979"/>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"Méthodes de valorisation" d'un </a:t>
            </a:r>
            <a:r>
              <a:rPr lang="fr-FR" sz="1400" b="1" dirty="0">
                <a:solidFill>
                  <a:schemeClr val="accent2">
                    <a:lumMod val="75000"/>
                  </a:schemeClr>
                </a:solidFill>
                <a:latin typeface="Courier New" panose="02070309020205020404" pitchFamily="49" charset="0"/>
                <a:cs typeface="Courier New" panose="02070309020205020404" pitchFamily="49" charset="0"/>
              </a:rPr>
              <a:t>rapport d'expertise immobilière </a:t>
            </a:r>
            <a:r>
              <a:rPr lang="fr-FR" sz="1400" dirty="0">
                <a:latin typeface="Courier New" panose="02070309020205020404" pitchFamily="49" charset="0"/>
                <a:cs typeface="Courier New" panose="02070309020205020404" pitchFamily="49" charset="0"/>
              </a:rPr>
              <a:t>— </a:t>
            </a:r>
            <a:r>
              <a:rPr lang="fr-FR" sz="1400" b="1" dirty="0">
                <a:solidFill>
                  <a:schemeClr val="accent1">
                    <a:lumMod val="75000"/>
                  </a:schemeClr>
                </a:solidFill>
                <a:latin typeface="Courier New" panose="02070309020205020404" pitchFamily="49" charset="0"/>
                <a:cs typeface="Courier New" panose="02070309020205020404" pitchFamily="49" charset="0"/>
              </a:rPr>
              <a:t>méthode par </a:t>
            </a:r>
            <a:r>
              <a:rPr lang="fr-FR" sz="1400" b="1" cap="all" dirty="0">
                <a:solidFill>
                  <a:schemeClr val="accent1">
                    <a:lumMod val="75000"/>
                  </a:schemeClr>
                </a:solidFill>
                <a:latin typeface="Courier New" panose="02070309020205020404" pitchFamily="49" charset="0"/>
                <a:cs typeface="Courier New" panose="02070309020205020404" pitchFamily="49" charset="0"/>
              </a:rPr>
              <a:t>comparaison directe</a:t>
            </a:r>
            <a:r>
              <a:rPr lang="fr-FR" sz="1400" b="1" dirty="0">
                <a:solidFill>
                  <a:schemeClr val="accent1">
                    <a:lumMod val="75000"/>
                  </a:schemeClr>
                </a:solidFill>
                <a:latin typeface="Courier New" panose="02070309020205020404" pitchFamily="49" charset="0"/>
                <a:cs typeface="Courier New" panose="02070309020205020404" pitchFamily="49" charset="0"/>
              </a:rPr>
              <a:t>.</a:t>
            </a:r>
          </a:p>
          <a:p>
            <a:endParaRPr lang="fr-FR" sz="1400" b="1"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Prose sobre, direct et technique, 220 à 260 mots, trois paragraphes </a:t>
            </a:r>
            <a:r>
              <a:rPr lang="fr-FR" sz="1400" b="1" cap="all" dirty="0">
                <a:solidFill>
                  <a:schemeClr val="accent2">
                    <a:lumMod val="75000"/>
                  </a:schemeClr>
                </a:solidFill>
                <a:latin typeface="Courier New" panose="02070309020205020404" pitchFamily="49" charset="0"/>
                <a:cs typeface="Courier New" panose="02070309020205020404" pitchFamily="49" charset="0"/>
              </a:rPr>
              <a:t>sans formalisme judiciaire </a:t>
            </a:r>
            <a:r>
              <a:rPr lang="fr-FR" sz="1400" b="1" dirty="0">
                <a:solidFill>
                  <a:schemeClr val="accent2">
                    <a:lumMod val="75000"/>
                  </a:schemeClr>
                </a:solidFill>
                <a:latin typeface="Courier New" panose="02070309020205020404" pitchFamily="49" charset="0"/>
                <a:cs typeface="Courier New" panose="02070309020205020404" pitchFamily="49" charset="0"/>
              </a:rPr>
              <a:t>:</a:t>
            </a:r>
          </a:p>
          <a:p>
            <a:r>
              <a:rPr lang="fr-FR" sz="1400" b="1" dirty="0">
                <a:highlight>
                  <a:srgbClr val="FFFF00"/>
                </a:highlight>
                <a:latin typeface="Courier New" panose="02070309020205020404" pitchFamily="49" charset="0"/>
                <a:cs typeface="Courier New" panose="02070309020205020404" pitchFamily="49" charset="0"/>
              </a:rPr>
              <a:t>§1 — Justification du choix méthodologique et méthodes écartées</a:t>
            </a:r>
          </a:p>
          <a:p>
            <a:r>
              <a:rPr lang="fr-FR" sz="1400" b="1" dirty="0">
                <a:highlight>
                  <a:srgbClr val="FFFF00"/>
                </a:highlight>
                <a:latin typeface="Courier New" panose="02070309020205020404" pitchFamily="49" charset="0"/>
                <a:cs typeface="Courier New" panose="02070309020205020404" pitchFamily="49" charset="0"/>
              </a:rPr>
              <a:t>§2 — Application de la méthode et ajustements motivés</a:t>
            </a:r>
          </a:p>
          <a:p>
            <a:r>
              <a:rPr lang="fr-FR" sz="1400" b="1" dirty="0">
                <a:highlight>
                  <a:srgbClr val="FFFF00"/>
                </a:highlight>
                <a:latin typeface="Courier New" panose="02070309020205020404" pitchFamily="49" charset="0"/>
                <a:cs typeface="Courier New" panose="02070309020205020404" pitchFamily="49" charset="0"/>
              </a:rPr>
              <a:t>§3 — Valeur unitaire retenue et calcul de la valeur avant arrondi</a:t>
            </a:r>
          </a:p>
          <a:p>
            <a:endParaRPr lang="fr-FR" sz="1400" dirty="0">
              <a:latin typeface="Courier New" panose="02070309020205020404" pitchFamily="49" charset="0"/>
              <a:cs typeface="Courier New" panose="02070309020205020404" pitchFamily="49" charset="0"/>
            </a:endParaRP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RÈGLES</a:t>
            </a:r>
            <a:r>
              <a:rPr lang="fr-FR" sz="1400" dirty="0">
                <a:solidFill>
                  <a:schemeClr val="bg1"/>
                </a:solidFill>
                <a:highlight>
                  <a:srgbClr val="FF0000"/>
                </a:highlight>
                <a:latin typeface="Courier New" panose="02070309020205020404" pitchFamily="49" charset="0"/>
                <a:cs typeface="Courier New" panose="02070309020205020404" pitchFamily="49" charset="0"/>
              </a:rPr>
              <a:t> :</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a:t>
            </a:r>
            <a:r>
              <a:rPr lang="fr-FR" sz="1400" b="1" dirty="0">
                <a:solidFill>
                  <a:schemeClr val="bg1"/>
                </a:solidFill>
                <a:highlight>
                  <a:srgbClr val="FF0000"/>
                </a:highlight>
                <a:latin typeface="Courier New" panose="02070309020205020404" pitchFamily="49" charset="0"/>
                <a:cs typeface="Courier New" panose="02070309020205020404" pitchFamily="49" charset="0"/>
              </a:rPr>
              <a:t>Motiver</a:t>
            </a:r>
            <a:r>
              <a:rPr lang="fr-FR" sz="1400" dirty="0">
                <a:solidFill>
                  <a:schemeClr val="bg1"/>
                </a:solidFill>
                <a:highlight>
                  <a:srgbClr val="FF0000"/>
                </a:highlight>
                <a:latin typeface="Courier New" panose="02070309020205020404" pitchFamily="49" charset="0"/>
                <a:cs typeface="Courier New" panose="02070309020205020404" pitchFamily="49" charset="0"/>
              </a:rPr>
              <a:t> chaque ajustement par un élément factuel du dossier</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a:t>
            </a:r>
            <a:r>
              <a:rPr lang="fr-FR" sz="1400" b="1" dirty="0">
                <a:solidFill>
                  <a:schemeClr val="bg1"/>
                </a:solidFill>
                <a:highlight>
                  <a:srgbClr val="FF0000"/>
                </a:highlight>
                <a:latin typeface="Courier New" panose="02070309020205020404" pitchFamily="49" charset="0"/>
                <a:cs typeface="Courier New" panose="02070309020205020404" pitchFamily="49" charset="0"/>
              </a:rPr>
              <a:t>Présenter</a:t>
            </a:r>
            <a:r>
              <a:rPr lang="fr-FR" sz="1400" dirty="0">
                <a:solidFill>
                  <a:schemeClr val="bg1"/>
                </a:solidFill>
                <a:highlight>
                  <a:srgbClr val="FF0000"/>
                </a:highlight>
                <a:latin typeface="Courier New" panose="02070309020205020404" pitchFamily="49" charset="0"/>
                <a:cs typeface="Courier New" panose="02070309020205020404" pitchFamily="49" charset="0"/>
              </a:rPr>
              <a:t> les calculs de façon transparente et vérifiable</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Ne jamais citer de pourcentage d'ajustement </a:t>
            </a:r>
            <a:r>
              <a:rPr lang="fr-FR" sz="1400" b="1" dirty="0">
                <a:solidFill>
                  <a:schemeClr val="bg1"/>
                </a:solidFill>
                <a:highlight>
                  <a:srgbClr val="FF0000"/>
                </a:highlight>
                <a:latin typeface="Courier New" panose="02070309020205020404" pitchFamily="49" charset="0"/>
                <a:cs typeface="Courier New" panose="02070309020205020404" pitchFamily="49" charset="0"/>
              </a:rPr>
              <a:t>sans le justifier</a:t>
            </a:r>
          </a:p>
          <a:p>
            <a:r>
              <a:rPr lang="fr-FR" sz="1400" dirty="0">
                <a:solidFill>
                  <a:schemeClr val="bg1"/>
                </a:solidFill>
                <a:highlight>
                  <a:srgbClr val="FF0000"/>
                </a:highlight>
                <a:latin typeface="Courier New" panose="02070309020205020404" pitchFamily="49" charset="0"/>
                <a:cs typeface="Courier New" panose="02070309020205020404" pitchFamily="49" charset="0"/>
              </a:rPr>
              <a:t>— La valeur est arrêtée par l'expert — l'IA met en forme</a:t>
            </a:r>
          </a:p>
        </p:txBody>
      </p:sp>
      <p:sp>
        <p:nvSpPr>
          <p:cNvPr id="21" name="Rectangle: Rounded Corners 14">
            <a:extLst>
              <a:ext uri="{FF2B5EF4-FFF2-40B4-BE49-F238E27FC236}">
                <a16:creationId xmlns:a16="http://schemas.microsoft.com/office/drawing/2014/main" id="{8E4BD20F-C1FB-D7F1-173D-64693092E0A3}"/>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634D64FB-EF01-3B8C-A805-DA9E97806A8A}"/>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7 – Méthodes et valorisation</a:t>
            </a:r>
          </a:p>
        </p:txBody>
      </p:sp>
      <p:sp>
        <p:nvSpPr>
          <p:cNvPr id="2" name="ZoneTexte 1">
            <a:extLst>
              <a:ext uri="{FF2B5EF4-FFF2-40B4-BE49-F238E27FC236}">
                <a16:creationId xmlns:a16="http://schemas.microsoft.com/office/drawing/2014/main" id="{DCC3732C-7FFD-D94C-CF53-0E4B459BCD2D}"/>
              </a:ext>
            </a:extLst>
          </p:cNvPr>
          <p:cNvSpPr txBox="1"/>
          <p:nvPr/>
        </p:nvSpPr>
        <p:spPr>
          <a:xfrm>
            <a:off x="6204441" y="1768303"/>
            <a:ext cx="5592483" cy="4893647"/>
          </a:xfrm>
          <a:prstGeom prst="rect">
            <a:avLst/>
          </a:prstGeom>
          <a:noFill/>
        </p:spPr>
        <p:txBody>
          <a:bodyPr wrap="square" rtlCol="0">
            <a:spAutoFit/>
          </a:bodyPr>
          <a:lstStyle/>
          <a:p>
            <a:r>
              <a:rPr lang="fr-FR" sz="1200" b="1" dirty="0">
                <a:latin typeface="Courier New" panose="02070309020205020404" pitchFamily="49" charset="0"/>
                <a:cs typeface="Courier New" panose="02070309020205020404" pitchFamily="49" charset="0"/>
              </a:rPr>
              <a:t>DONNÉES — BIEN EXPERTISÉ :</a:t>
            </a:r>
          </a:p>
          <a:p>
            <a:r>
              <a:rPr lang="fr-FR" sz="1200" b="1" dirty="0">
                <a:latin typeface="Courier New" panose="02070309020205020404" pitchFamily="49" charset="0"/>
                <a:cs typeface="Courier New" panose="02070309020205020404" pitchFamily="49" charset="0"/>
              </a:rPr>
              <a:t>Type et surface : </a:t>
            </a:r>
            <a:r>
              <a:rPr lang="fr-FR" sz="1200" b="1" dirty="0">
                <a:solidFill>
                  <a:srgbClr val="00B050"/>
                </a:solidFill>
                <a:latin typeface="Courier New" panose="02070309020205020404" pitchFamily="49" charset="0"/>
                <a:cs typeface="Courier New" panose="02070309020205020404" pitchFamily="49" charset="0"/>
              </a:rPr>
              <a:t>[type] de [X] m²</a:t>
            </a:r>
          </a:p>
          <a:p>
            <a:r>
              <a:rPr lang="fr-FR" sz="1200" b="1" dirty="0">
                <a:latin typeface="Courier New" panose="02070309020205020404" pitchFamily="49" charset="0"/>
                <a:cs typeface="Courier New" panose="02070309020205020404" pitchFamily="49" charset="0"/>
              </a:rPr>
              <a:t>État général retenu : </a:t>
            </a:r>
            <a:r>
              <a:rPr lang="fr-FR" sz="1200" b="1" dirty="0">
                <a:solidFill>
                  <a:srgbClr val="00B050"/>
                </a:solidFill>
                <a:latin typeface="Courier New" panose="02070309020205020404" pitchFamily="49" charset="0"/>
                <a:cs typeface="Courier New" panose="02070309020205020404" pitchFamily="49" charset="0"/>
              </a:rPr>
              <a:t>[vétuste / courant / bon / très bon]</a:t>
            </a:r>
          </a:p>
          <a:p>
            <a:r>
              <a:rPr lang="fr-FR" sz="1200" b="1" dirty="0">
                <a:latin typeface="Courier New" panose="02070309020205020404" pitchFamily="49" charset="0"/>
                <a:cs typeface="Courier New" panose="02070309020205020404" pitchFamily="49" charset="0"/>
              </a:rPr>
              <a:t>Caractéristiques distinctives : </a:t>
            </a:r>
            <a:r>
              <a:rPr lang="fr-FR" sz="1200" b="1" dirty="0">
                <a:solidFill>
                  <a:srgbClr val="00B050"/>
                </a:solidFill>
                <a:latin typeface="Courier New" panose="02070309020205020404" pitchFamily="49" charset="0"/>
                <a:cs typeface="Courier New" panose="02070309020205020404" pitchFamily="49" charset="0"/>
              </a:rPr>
              <a:t>[étage, ascenseur, exposition, éléments de qualité ou de faiblesse identifiés en section 5]</a:t>
            </a:r>
          </a:p>
          <a:p>
            <a:endParaRPr lang="fr-FR" sz="1200" dirty="0">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DONNÉES — MARCHÉ (issues de la section 6) :</a:t>
            </a:r>
          </a:p>
          <a:p>
            <a:r>
              <a:rPr lang="fr-FR" sz="1200" b="1" dirty="0">
                <a:latin typeface="Courier New" panose="02070309020205020404" pitchFamily="49" charset="0"/>
                <a:cs typeface="Courier New" panose="02070309020205020404" pitchFamily="49" charset="0"/>
              </a:rPr>
              <a:t>Fourchette observée : </a:t>
            </a:r>
            <a:r>
              <a:rPr lang="fr-FR" sz="1200" b="1" dirty="0">
                <a:solidFill>
                  <a:srgbClr val="00B050"/>
                </a:solidFill>
                <a:latin typeface="Courier New" panose="02070309020205020404" pitchFamily="49" charset="0"/>
                <a:cs typeface="Courier New" panose="02070309020205020404" pitchFamily="49" charset="0"/>
              </a:rPr>
              <a:t>[X à Y €/m²]</a:t>
            </a:r>
          </a:p>
          <a:p>
            <a:r>
              <a:rPr lang="fr-FR" sz="1200" b="1" dirty="0">
                <a:latin typeface="Courier New" panose="02070309020205020404" pitchFamily="49" charset="0"/>
                <a:cs typeface="Courier New" panose="02070309020205020404" pitchFamily="49" charset="0"/>
              </a:rPr>
              <a:t>Prix médian : </a:t>
            </a:r>
            <a:r>
              <a:rPr lang="fr-FR" sz="1200" b="1" dirty="0">
                <a:solidFill>
                  <a:srgbClr val="00B050"/>
                </a:solidFill>
                <a:latin typeface="Courier New" panose="02070309020205020404" pitchFamily="49" charset="0"/>
                <a:cs typeface="Courier New" panose="02070309020205020404" pitchFamily="49" charset="0"/>
              </a:rPr>
              <a:t>[Z €/m²]</a:t>
            </a:r>
          </a:p>
          <a:p>
            <a:r>
              <a:rPr lang="fr-FR" sz="1200" b="1" dirty="0">
                <a:latin typeface="Courier New" panose="02070309020205020404" pitchFamily="49" charset="0"/>
                <a:cs typeface="Courier New" panose="02070309020205020404" pitchFamily="49" charset="0"/>
              </a:rPr>
              <a:t>Nombre de comparables retenus : </a:t>
            </a:r>
            <a:r>
              <a:rPr lang="fr-FR" sz="1200" b="1" dirty="0">
                <a:solidFill>
                  <a:srgbClr val="00B050"/>
                </a:solidFill>
                <a:latin typeface="Courier New" panose="02070309020205020404" pitchFamily="49" charset="0"/>
                <a:cs typeface="Courier New" panose="02070309020205020404" pitchFamily="49" charset="0"/>
              </a:rPr>
              <a:t>[N]</a:t>
            </a:r>
          </a:p>
          <a:p>
            <a:r>
              <a:rPr lang="fr-FR" sz="1200" b="1" dirty="0">
                <a:latin typeface="Courier New" panose="02070309020205020404" pitchFamily="49" charset="0"/>
                <a:cs typeface="Courier New" panose="02070309020205020404" pitchFamily="49" charset="0"/>
              </a:rPr>
              <a:t>Période d'observation : </a:t>
            </a:r>
            <a:r>
              <a:rPr lang="fr-FR" sz="1200" b="1" dirty="0">
                <a:solidFill>
                  <a:srgbClr val="00B050"/>
                </a:solidFill>
                <a:latin typeface="Courier New" panose="02070309020205020404" pitchFamily="49" charset="0"/>
                <a:cs typeface="Courier New" panose="02070309020205020404" pitchFamily="49" charset="0"/>
              </a:rPr>
              <a:t>[mois–mois, année]</a:t>
            </a:r>
          </a:p>
          <a:p>
            <a:endParaRPr lang="fr-FR" sz="1200" b="1" dirty="0">
              <a:solidFill>
                <a:srgbClr val="00B050"/>
              </a:solidFill>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MÉTHODES ÉCARTÉES ET MOTIFS :</a:t>
            </a:r>
          </a:p>
          <a:p>
            <a:r>
              <a:rPr lang="fr-FR" sz="1200" b="1" dirty="0">
                <a:latin typeface="Courier New" panose="02070309020205020404" pitchFamily="49" charset="0"/>
                <a:cs typeface="Courier New" panose="02070309020205020404" pitchFamily="49" charset="0"/>
              </a:rPr>
              <a:t>Capitalisation : </a:t>
            </a:r>
            <a:r>
              <a:rPr lang="fr-FR" sz="1200" b="1" dirty="0">
                <a:solidFill>
                  <a:schemeClr val="accent4">
                    <a:lumMod val="75000"/>
                  </a:schemeClr>
                </a:solidFill>
                <a:latin typeface="Courier New" panose="02070309020205020404" pitchFamily="49" charset="0"/>
                <a:cs typeface="Courier New" panose="02070309020205020404" pitchFamily="49" charset="0"/>
              </a:rPr>
              <a:t>[motif — ex: bien non destiné à la location]</a:t>
            </a:r>
          </a:p>
          <a:p>
            <a:r>
              <a:rPr lang="fr-FR" sz="1200" b="1" dirty="0">
                <a:latin typeface="Courier New" panose="02070309020205020404" pitchFamily="49" charset="0"/>
                <a:cs typeface="Courier New" panose="02070309020205020404" pitchFamily="49" charset="0"/>
              </a:rPr>
              <a:t>Coût remplacement : </a:t>
            </a:r>
            <a:r>
              <a:rPr lang="fr-FR" sz="1200" b="1" dirty="0">
                <a:solidFill>
                  <a:schemeClr val="accent4">
                    <a:lumMod val="75000"/>
                  </a:schemeClr>
                </a:solidFill>
                <a:latin typeface="Courier New" panose="02070309020205020404" pitchFamily="49" charset="0"/>
                <a:cs typeface="Courier New" panose="02070309020205020404" pitchFamily="49" charset="0"/>
              </a:rPr>
              <a:t>[motif — ex: bien ancien, marché de comparables disponible]</a:t>
            </a:r>
          </a:p>
          <a:p>
            <a:endParaRPr lang="fr-FR" sz="1200" dirty="0">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AJUSTEMENTS RETENUS PAR L'EXPERT :</a:t>
            </a:r>
          </a:p>
          <a:p>
            <a:r>
              <a:rPr lang="fr-FR" sz="1200" b="1" dirty="0">
                <a:solidFill>
                  <a:srgbClr val="00B050"/>
                </a:solidFill>
                <a:latin typeface="Courier New" panose="02070309020205020404" pitchFamily="49" charset="0"/>
                <a:cs typeface="Courier New" panose="02070309020205020404" pitchFamily="49" charset="0"/>
              </a:rPr>
              <a:t>+ ou – [X%] : [motif factuel précis]</a:t>
            </a:r>
          </a:p>
          <a:p>
            <a:r>
              <a:rPr lang="fr-FR" sz="1200" b="1" dirty="0">
                <a:solidFill>
                  <a:srgbClr val="00B050"/>
                </a:solidFill>
                <a:latin typeface="Courier New" panose="02070309020205020404" pitchFamily="49" charset="0"/>
                <a:cs typeface="Courier New" panose="02070309020205020404" pitchFamily="49" charset="0"/>
              </a:rPr>
              <a:t>+ ou – [Y%] : [motif factuel précis]</a:t>
            </a:r>
          </a:p>
          <a:p>
            <a:r>
              <a:rPr lang="fr-FR" sz="1200" b="1" dirty="0">
                <a:solidFill>
                  <a:srgbClr val="00B050"/>
                </a:solidFill>
                <a:latin typeface="Courier New" panose="02070309020205020404" pitchFamily="49" charset="0"/>
                <a:cs typeface="Courier New" panose="02070309020205020404" pitchFamily="49" charset="0"/>
              </a:rPr>
              <a:t>[etc.]</a:t>
            </a:r>
          </a:p>
          <a:p>
            <a:endParaRPr lang="fr-FR" sz="1200" dirty="0">
              <a:latin typeface="Courier New" panose="02070309020205020404" pitchFamily="49" charset="0"/>
              <a:cs typeface="Courier New" panose="02070309020205020404" pitchFamily="49" charset="0"/>
            </a:endParaRPr>
          </a:p>
          <a:p>
            <a:r>
              <a:rPr lang="fr-FR" sz="1200" b="1" dirty="0">
                <a:latin typeface="Courier New" panose="02070309020205020404" pitchFamily="49" charset="0"/>
                <a:cs typeface="Courier New" panose="02070309020205020404" pitchFamily="49" charset="0"/>
              </a:rPr>
              <a:t>PRIX UNITAIRE ARRÊTÉ PAR L'EXPERT : </a:t>
            </a:r>
            <a:r>
              <a:rPr lang="fr-FR" sz="1200" b="1" dirty="0">
                <a:solidFill>
                  <a:srgbClr val="00B050"/>
                </a:solidFill>
                <a:latin typeface="Courier New" panose="02070309020205020404" pitchFamily="49" charset="0"/>
                <a:cs typeface="Courier New" panose="02070309020205020404" pitchFamily="49" charset="0"/>
              </a:rPr>
              <a:t>[X €/m²]</a:t>
            </a:r>
          </a:p>
          <a:p>
            <a:r>
              <a:rPr lang="fr-FR" sz="1200" b="1" dirty="0">
                <a:latin typeface="Courier New" panose="02070309020205020404" pitchFamily="49" charset="0"/>
                <a:cs typeface="Courier New" panose="02070309020205020404" pitchFamily="49" charset="0"/>
              </a:rPr>
              <a:t>SURFACE RETENUE : </a:t>
            </a:r>
            <a:r>
              <a:rPr lang="fr-FR" sz="1200" b="1" dirty="0">
                <a:solidFill>
                  <a:srgbClr val="00B050"/>
                </a:solidFill>
                <a:latin typeface="Courier New" panose="02070309020205020404" pitchFamily="49" charset="0"/>
                <a:cs typeface="Courier New" panose="02070309020205020404" pitchFamily="49" charset="0"/>
              </a:rPr>
              <a:t>[S] m²</a:t>
            </a:r>
          </a:p>
        </p:txBody>
      </p:sp>
      <p:sp>
        <p:nvSpPr>
          <p:cNvPr id="6" name="ZoneTexte 5">
            <a:extLst>
              <a:ext uri="{FF2B5EF4-FFF2-40B4-BE49-F238E27FC236}">
                <a16:creationId xmlns:a16="http://schemas.microsoft.com/office/drawing/2014/main" id="{DBAB8D68-DBB3-3F94-A312-B7E07F96B2ED}"/>
              </a:ext>
            </a:extLst>
          </p:cNvPr>
          <p:cNvSpPr txBox="1"/>
          <p:nvPr/>
        </p:nvSpPr>
        <p:spPr>
          <a:xfrm>
            <a:off x="9749328" y="1100567"/>
            <a:ext cx="1617174" cy="646331"/>
          </a:xfrm>
          <a:prstGeom prst="rect">
            <a:avLst/>
          </a:prstGeom>
          <a:noFill/>
        </p:spPr>
        <p:txBody>
          <a:bodyPr wrap="none" rtlCol="0">
            <a:spAutoFit/>
          </a:bodyPr>
          <a:lstStyle/>
          <a:p>
            <a:r>
              <a:rPr lang="fr-FR" sz="1200" b="1" dirty="0">
                <a:solidFill>
                  <a:srgbClr val="00B050"/>
                </a:solidFill>
                <a:latin typeface="Figtree"/>
              </a:rPr>
              <a:t>Données à fournir</a:t>
            </a:r>
          </a:p>
          <a:p>
            <a:r>
              <a:rPr lang="fr-FR" sz="1200" b="1" dirty="0">
                <a:solidFill>
                  <a:schemeClr val="accent4">
                    <a:lumMod val="75000"/>
                  </a:schemeClr>
                </a:solidFill>
                <a:latin typeface="Figtree"/>
              </a:rPr>
              <a:t>Données optionnelles</a:t>
            </a:r>
          </a:p>
          <a:p>
            <a:r>
              <a:rPr lang="fr-FR" sz="1200" b="1" dirty="0">
                <a:solidFill>
                  <a:srgbClr val="FF0000"/>
                </a:solidFill>
                <a:latin typeface="Figtree"/>
              </a:rPr>
              <a:t>Instructions critiques</a:t>
            </a:r>
          </a:p>
        </p:txBody>
      </p:sp>
      <p:sp>
        <p:nvSpPr>
          <p:cNvPr id="10" name="ZoneTexte 9">
            <a:extLst>
              <a:ext uri="{FF2B5EF4-FFF2-40B4-BE49-F238E27FC236}">
                <a16:creationId xmlns:a16="http://schemas.microsoft.com/office/drawing/2014/main" id="{5797AE1B-F073-1D31-ABA2-963026C65463}"/>
              </a:ext>
            </a:extLst>
          </p:cNvPr>
          <p:cNvSpPr txBox="1"/>
          <p:nvPr/>
        </p:nvSpPr>
        <p:spPr>
          <a:xfrm>
            <a:off x="242578" y="1183774"/>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Tree>
    <p:extLst>
      <p:ext uri="{BB962C8B-B14F-4D97-AF65-F5344CB8AC3E}">
        <p14:creationId xmlns:p14="http://schemas.microsoft.com/office/powerpoint/2010/main" val="22286251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A9473-2E0B-5722-94D2-59AFA95B8F56}"/>
            </a:ext>
          </a:extLst>
        </p:cNvPr>
        <p:cNvGrpSpPr/>
        <p:nvPr/>
      </p:nvGrpSpPr>
      <p:grpSpPr>
        <a:xfrm>
          <a:off x="0" y="0"/>
          <a:ext cx="0" cy="0"/>
          <a:chOff x="0" y="0"/>
          <a:chExt cx="0" cy="0"/>
        </a:xfrm>
      </p:grpSpPr>
      <p:sp>
        <p:nvSpPr>
          <p:cNvPr id="8" name="Oval 2">
            <a:extLst>
              <a:ext uri="{FF2B5EF4-FFF2-40B4-BE49-F238E27FC236}">
                <a16:creationId xmlns:a16="http://schemas.microsoft.com/office/drawing/2014/main" id="{14B685D9-24C0-3931-A256-6AAD02FFADF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11">
            <a:extLst>
              <a:ext uri="{FF2B5EF4-FFF2-40B4-BE49-F238E27FC236}">
                <a16:creationId xmlns:a16="http://schemas.microsoft.com/office/drawing/2014/main" id="{36FBC10A-F587-AAFC-CC5C-DE1C27C0F49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
            <a:extLst>
              <a:ext uri="{FF2B5EF4-FFF2-40B4-BE49-F238E27FC236}">
                <a16:creationId xmlns:a16="http://schemas.microsoft.com/office/drawing/2014/main" id="{2C3FB0AD-52B8-244D-F96A-45A618043DA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4" name="Freeform: Shape 3">
            <a:extLst>
              <a:ext uri="{FF2B5EF4-FFF2-40B4-BE49-F238E27FC236}">
                <a16:creationId xmlns:a16="http://schemas.microsoft.com/office/drawing/2014/main" id="{6EA258B4-5CC8-52E5-1DE2-07D46E34355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TextBox 1">
            <a:extLst>
              <a:ext uri="{FF2B5EF4-FFF2-40B4-BE49-F238E27FC236}">
                <a16:creationId xmlns:a16="http://schemas.microsoft.com/office/drawing/2014/main" id="{1852E24E-A778-E5DB-8950-B365AD396B3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0" name="Rectangle: Rounded Corners 14">
            <a:extLst>
              <a:ext uri="{FF2B5EF4-FFF2-40B4-BE49-F238E27FC236}">
                <a16:creationId xmlns:a16="http://schemas.microsoft.com/office/drawing/2014/main" id="{1CE225D4-843A-67DF-3D05-E439A4247606}"/>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TextBox 1">
            <a:extLst>
              <a:ext uri="{FF2B5EF4-FFF2-40B4-BE49-F238E27FC236}">
                <a16:creationId xmlns:a16="http://schemas.microsoft.com/office/drawing/2014/main" id="{20CC4CE4-7549-A53C-FC15-9D6014299B4A}"/>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7 – Méthodes et valorisation</a:t>
            </a:r>
          </a:p>
        </p:txBody>
      </p:sp>
      <p:sp>
        <p:nvSpPr>
          <p:cNvPr id="6" name="ZoneTexte 5">
            <a:extLst>
              <a:ext uri="{FF2B5EF4-FFF2-40B4-BE49-F238E27FC236}">
                <a16:creationId xmlns:a16="http://schemas.microsoft.com/office/drawing/2014/main" id="{69DAD93F-634B-561E-5C82-5B19EB2E2889}"/>
              </a:ext>
            </a:extLst>
          </p:cNvPr>
          <p:cNvSpPr txBox="1"/>
          <p:nvPr/>
        </p:nvSpPr>
        <p:spPr>
          <a:xfrm>
            <a:off x="1270660" y="5674226"/>
            <a:ext cx="9282801" cy="1077218"/>
          </a:xfrm>
          <a:prstGeom prst="rect">
            <a:avLst/>
          </a:prstGeom>
          <a:solidFill>
            <a:schemeClr val="bg1">
              <a:lumMod val="95000"/>
            </a:schemeClr>
          </a:solidFill>
        </p:spPr>
        <p:txBody>
          <a:bodyPr wrap="square" rtlCol="0">
            <a:spAutoFit/>
          </a:bodyPr>
          <a:lstStyle/>
          <a:p>
            <a:pPr algn="ctr"/>
            <a:r>
              <a:rPr lang="fr-FR" sz="3200" dirty="0">
                <a:latin typeface="Figtree"/>
              </a:rPr>
              <a:t>L'IA peut rédiger la justification de n'importe quelle méthode — mais c'est </a:t>
            </a:r>
            <a:r>
              <a:rPr lang="fr-FR" sz="3200" b="1" dirty="0">
                <a:latin typeface="Figtree"/>
              </a:rPr>
              <a:t>l'expert qui choisit</a:t>
            </a:r>
            <a:r>
              <a:rPr lang="fr-FR" sz="3200" dirty="0">
                <a:latin typeface="Figtree"/>
              </a:rPr>
              <a:t>, pas l'IA.</a:t>
            </a:r>
          </a:p>
        </p:txBody>
      </p:sp>
      <p:sp>
        <p:nvSpPr>
          <p:cNvPr id="29" name="ZoneTexte 28">
            <a:extLst>
              <a:ext uri="{FF2B5EF4-FFF2-40B4-BE49-F238E27FC236}">
                <a16:creationId xmlns:a16="http://schemas.microsoft.com/office/drawing/2014/main" id="{59A876AD-53A8-004D-77E6-9AF7DF0BC6C5}"/>
              </a:ext>
            </a:extLst>
          </p:cNvPr>
          <p:cNvSpPr txBox="1"/>
          <p:nvPr/>
        </p:nvSpPr>
        <p:spPr>
          <a:xfrm>
            <a:off x="569718" y="2101795"/>
            <a:ext cx="3527270" cy="3447098"/>
          </a:xfrm>
          <a:prstGeom prst="rect">
            <a:avLst/>
          </a:prstGeom>
          <a:solidFill>
            <a:schemeClr val="accent4">
              <a:lumMod val="20000"/>
              <a:lumOff val="80000"/>
            </a:schemeClr>
          </a:solidFill>
        </p:spPr>
        <p:txBody>
          <a:bodyPr wrap="square" rtlCol="0">
            <a:spAutoFit/>
          </a:bodyPr>
          <a:lstStyle/>
          <a:p>
            <a:r>
              <a:rPr lang="fr-FR" sz="2000" b="1" dirty="0">
                <a:latin typeface="Figtree"/>
              </a:rPr>
              <a:t>Comparaison directe</a:t>
            </a:r>
          </a:p>
          <a:p>
            <a:r>
              <a:rPr lang="fr-FR" i="1" dirty="0">
                <a:latin typeface="Figtree"/>
              </a:rPr>
              <a:t>Par le marché</a:t>
            </a:r>
          </a:p>
          <a:p>
            <a:endParaRPr lang="fr-FR" dirty="0">
              <a:latin typeface="Figtree"/>
            </a:endParaRPr>
          </a:p>
          <a:p>
            <a:pPr marL="285750" indent="-285750">
              <a:buFont typeface="Arial" panose="020B0604020202020204" pitchFamily="34" charset="0"/>
              <a:buChar char="•"/>
            </a:pPr>
            <a:r>
              <a:rPr lang="fr-FR" sz="1600" dirty="0">
                <a:latin typeface="Figtree"/>
              </a:rPr>
              <a:t>Méthode de référence pour les biens résidentiels</a:t>
            </a:r>
          </a:p>
          <a:p>
            <a:pPr marL="285750" indent="-285750">
              <a:buFont typeface="Arial" panose="020B0604020202020204" pitchFamily="34" charset="0"/>
              <a:buChar char="•"/>
            </a:pPr>
            <a:r>
              <a:rPr lang="fr-FR" sz="1600" dirty="0">
                <a:latin typeface="Figtree"/>
              </a:rPr>
              <a:t>Reconnue par les juridictions</a:t>
            </a:r>
          </a:p>
          <a:p>
            <a:pPr marL="285750" indent="-285750">
              <a:buFont typeface="Arial" panose="020B0604020202020204" pitchFamily="34" charset="0"/>
              <a:buChar char="•"/>
            </a:pPr>
            <a:r>
              <a:rPr lang="fr-FR" sz="1600" dirty="0">
                <a:latin typeface="Figtree"/>
              </a:rPr>
              <a:t>Nécessite des comparables disponibles et pertinents</a:t>
            </a:r>
          </a:p>
          <a:p>
            <a:pPr marL="285750" indent="-285750">
              <a:buFont typeface="Arial" panose="020B0604020202020204" pitchFamily="34" charset="0"/>
              <a:buChar char="•"/>
            </a:pPr>
            <a:r>
              <a:rPr lang="fr-FR" sz="1600" dirty="0">
                <a:latin typeface="Figtree"/>
              </a:rPr>
              <a:t>Impossible sur marchés peu actifs ou biens très atypiques</a:t>
            </a:r>
          </a:p>
          <a:p>
            <a:pPr marL="285750" indent="-285750">
              <a:buFont typeface="Arial" panose="020B0604020202020204" pitchFamily="34" charset="0"/>
              <a:buChar char="•"/>
            </a:pPr>
            <a:r>
              <a:rPr lang="fr-FR" sz="1600" dirty="0">
                <a:latin typeface="Figtree"/>
              </a:rPr>
              <a:t>Utiliser pour : logements, locaux courants, terrains en zone urbaine</a:t>
            </a:r>
          </a:p>
          <a:p>
            <a:endParaRPr lang="fr-FR" dirty="0">
              <a:latin typeface="Figtree"/>
            </a:endParaRPr>
          </a:p>
        </p:txBody>
      </p:sp>
      <p:sp>
        <p:nvSpPr>
          <p:cNvPr id="30" name="ZoneTexte 29">
            <a:extLst>
              <a:ext uri="{FF2B5EF4-FFF2-40B4-BE49-F238E27FC236}">
                <a16:creationId xmlns:a16="http://schemas.microsoft.com/office/drawing/2014/main" id="{6BCC2F32-0329-FC41-39CA-B0285BEC085B}"/>
              </a:ext>
            </a:extLst>
          </p:cNvPr>
          <p:cNvSpPr txBox="1"/>
          <p:nvPr/>
        </p:nvSpPr>
        <p:spPr>
          <a:xfrm>
            <a:off x="4403075" y="2101795"/>
            <a:ext cx="3776353" cy="3170099"/>
          </a:xfrm>
          <a:prstGeom prst="rect">
            <a:avLst/>
          </a:prstGeom>
          <a:noFill/>
        </p:spPr>
        <p:txBody>
          <a:bodyPr wrap="square" rtlCol="0">
            <a:spAutoFit/>
          </a:bodyPr>
          <a:lstStyle/>
          <a:p>
            <a:r>
              <a:rPr lang="fr-FR" sz="2000" b="1" dirty="0">
                <a:latin typeface="Figtree"/>
              </a:rPr>
              <a:t>Capitalisation du revenu</a:t>
            </a:r>
          </a:p>
          <a:p>
            <a:r>
              <a:rPr lang="fr-FR" i="1" dirty="0">
                <a:latin typeface="Figtree"/>
              </a:rPr>
              <a:t>Par le rendement</a:t>
            </a:r>
          </a:p>
          <a:p>
            <a:endParaRPr lang="fr-FR" dirty="0">
              <a:latin typeface="Figtree"/>
            </a:endParaRPr>
          </a:p>
          <a:p>
            <a:pPr marL="285750" indent="-285750">
              <a:buFont typeface="Arial" panose="020B0604020202020204" pitchFamily="34" charset="0"/>
              <a:buChar char="•"/>
            </a:pPr>
            <a:r>
              <a:rPr lang="fr-FR" sz="1600" dirty="0">
                <a:latin typeface="Figtree"/>
              </a:rPr>
              <a:t>Adaptée aux biens à vocation locative</a:t>
            </a:r>
          </a:p>
          <a:p>
            <a:pPr marL="285750" indent="-285750">
              <a:buFont typeface="Arial" panose="020B0604020202020204" pitchFamily="34" charset="0"/>
              <a:buChar char="•"/>
            </a:pPr>
            <a:r>
              <a:rPr lang="fr-FR" sz="1600" dirty="0">
                <a:latin typeface="Figtree"/>
              </a:rPr>
              <a:t>Pertinente pour les commerces et bureaux</a:t>
            </a:r>
          </a:p>
          <a:p>
            <a:pPr marL="285750" indent="-285750">
              <a:buFont typeface="Arial" panose="020B0604020202020204" pitchFamily="34" charset="0"/>
              <a:buChar char="•"/>
            </a:pPr>
            <a:r>
              <a:rPr lang="fr-FR" sz="1600" dirty="0">
                <a:latin typeface="Figtree"/>
              </a:rPr>
              <a:t>Fiable quand le loyer de marché est bien établi</a:t>
            </a:r>
          </a:p>
          <a:p>
            <a:pPr marL="285750" indent="-285750">
              <a:buFont typeface="Arial" panose="020B0604020202020204" pitchFamily="34" charset="0"/>
              <a:buChar char="•"/>
            </a:pPr>
            <a:r>
              <a:rPr lang="fr-FR" sz="1600" dirty="0">
                <a:latin typeface="Figtree"/>
              </a:rPr>
              <a:t>Sensible au taux de capitalisation retenu</a:t>
            </a:r>
          </a:p>
          <a:p>
            <a:pPr marL="285750" indent="-285750">
              <a:buFont typeface="Arial" panose="020B0604020202020204" pitchFamily="34" charset="0"/>
              <a:buChar char="•"/>
            </a:pPr>
            <a:r>
              <a:rPr lang="fr-FR" sz="1600" dirty="0">
                <a:latin typeface="Figtree"/>
              </a:rPr>
              <a:t>Utiliser pour : locaux commerciaux loués, immeubles de rapport, bureaux</a:t>
            </a:r>
          </a:p>
        </p:txBody>
      </p:sp>
      <p:sp>
        <p:nvSpPr>
          <p:cNvPr id="31" name="ZoneTexte 30">
            <a:extLst>
              <a:ext uri="{FF2B5EF4-FFF2-40B4-BE49-F238E27FC236}">
                <a16:creationId xmlns:a16="http://schemas.microsoft.com/office/drawing/2014/main" id="{5D3AF1B0-87B3-B89F-F9B6-C496FE1AA667}"/>
              </a:ext>
            </a:extLst>
          </p:cNvPr>
          <p:cNvSpPr txBox="1"/>
          <p:nvPr/>
        </p:nvSpPr>
        <p:spPr>
          <a:xfrm>
            <a:off x="8179428" y="2101795"/>
            <a:ext cx="3956803" cy="3416320"/>
          </a:xfrm>
          <a:prstGeom prst="rect">
            <a:avLst/>
          </a:prstGeom>
          <a:noFill/>
        </p:spPr>
        <p:txBody>
          <a:bodyPr wrap="square" rtlCol="0">
            <a:spAutoFit/>
          </a:bodyPr>
          <a:lstStyle/>
          <a:p>
            <a:r>
              <a:rPr lang="fr-FR" sz="2000" b="1" dirty="0">
                <a:latin typeface="Figtree"/>
              </a:rPr>
              <a:t>Coût de remplacement</a:t>
            </a:r>
          </a:p>
          <a:p>
            <a:r>
              <a:rPr lang="fr-FR" i="1" dirty="0">
                <a:latin typeface="Figtree"/>
              </a:rPr>
              <a:t>À neuf déprécié</a:t>
            </a:r>
          </a:p>
          <a:p>
            <a:endParaRPr lang="fr-FR" dirty="0">
              <a:latin typeface="Figtree"/>
            </a:endParaRPr>
          </a:p>
          <a:p>
            <a:pPr marL="285750" indent="-285750">
              <a:buFont typeface="Arial" panose="020B0604020202020204" pitchFamily="34" charset="0"/>
              <a:buChar char="•"/>
            </a:pPr>
            <a:r>
              <a:rPr lang="fr-FR" sz="1600" dirty="0">
                <a:latin typeface="Figtree"/>
              </a:rPr>
              <a:t>Utile pour les biens sans référence de marché</a:t>
            </a:r>
          </a:p>
          <a:p>
            <a:pPr marL="285750" indent="-285750">
              <a:buFont typeface="Arial" panose="020B0604020202020204" pitchFamily="34" charset="0"/>
              <a:buChar char="•"/>
            </a:pPr>
            <a:r>
              <a:rPr lang="fr-FR" sz="1600" dirty="0">
                <a:latin typeface="Figtree"/>
              </a:rPr>
              <a:t>Pertinente pour les bâtiments industriels ou spéciaux</a:t>
            </a:r>
          </a:p>
          <a:p>
            <a:pPr marL="285750" indent="-285750">
              <a:buFont typeface="Arial" panose="020B0604020202020204" pitchFamily="34" charset="0"/>
              <a:buChar char="•"/>
            </a:pPr>
            <a:r>
              <a:rPr lang="fr-FR" sz="1600" dirty="0">
                <a:latin typeface="Figtree"/>
              </a:rPr>
              <a:t>Complexe à justifier — coefficient de vétusté subjectif</a:t>
            </a:r>
          </a:p>
          <a:p>
            <a:pPr marL="285750" indent="-285750">
              <a:buFont typeface="Arial" panose="020B0604020202020204" pitchFamily="34" charset="0"/>
              <a:buChar char="•"/>
            </a:pPr>
            <a:r>
              <a:rPr lang="fr-FR" sz="1600" dirty="0">
                <a:latin typeface="Figtree"/>
              </a:rPr>
              <a:t>Rarement utilisée seule en judiciaire résidentiel</a:t>
            </a:r>
          </a:p>
          <a:p>
            <a:pPr marL="285750" indent="-285750">
              <a:buFont typeface="Arial" panose="020B0604020202020204" pitchFamily="34" charset="0"/>
              <a:buChar char="•"/>
            </a:pPr>
            <a:r>
              <a:rPr lang="fr-FR" sz="1600" dirty="0">
                <a:latin typeface="Figtree"/>
              </a:rPr>
              <a:t>Utiliser pour : bâtiments d'activité, équipements spéciaux, biens sans marché</a:t>
            </a:r>
          </a:p>
        </p:txBody>
      </p:sp>
      <p:sp>
        <p:nvSpPr>
          <p:cNvPr id="32" name="Flèche : courbe vers la gauche 31">
            <a:extLst>
              <a:ext uri="{FF2B5EF4-FFF2-40B4-BE49-F238E27FC236}">
                <a16:creationId xmlns:a16="http://schemas.microsoft.com/office/drawing/2014/main" id="{B2CEEC15-0743-6E8A-64D8-869E74BBB514}"/>
              </a:ext>
            </a:extLst>
          </p:cNvPr>
          <p:cNvSpPr/>
          <p:nvPr/>
        </p:nvSpPr>
        <p:spPr>
          <a:xfrm>
            <a:off x="3361172" y="1892826"/>
            <a:ext cx="546265" cy="700644"/>
          </a:xfrm>
          <a:prstGeom prst="curvedLeftArrow">
            <a:avLst>
              <a:gd name="adj1" fmla="val 7328"/>
              <a:gd name="adj2" fmla="val 58765"/>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10476760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9F2D7-BEDF-8975-A44B-FBD309DEF3BF}"/>
            </a:ext>
          </a:extLst>
        </p:cNvPr>
        <p:cNvGrpSpPr/>
        <p:nvPr/>
      </p:nvGrpSpPr>
      <p:grpSpPr>
        <a:xfrm>
          <a:off x="0" y="0"/>
          <a:ext cx="0" cy="0"/>
          <a:chOff x="0" y="0"/>
          <a:chExt cx="0" cy="0"/>
        </a:xfrm>
      </p:grpSpPr>
      <p:sp>
        <p:nvSpPr>
          <p:cNvPr id="8" name="Oval 2">
            <a:extLst>
              <a:ext uri="{FF2B5EF4-FFF2-40B4-BE49-F238E27FC236}">
                <a16:creationId xmlns:a16="http://schemas.microsoft.com/office/drawing/2014/main" id="{00485CEF-FE27-9B7C-9286-71671FFE5E0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11">
            <a:extLst>
              <a:ext uri="{FF2B5EF4-FFF2-40B4-BE49-F238E27FC236}">
                <a16:creationId xmlns:a16="http://schemas.microsoft.com/office/drawing/2014/main" id="{2E5BE3BD-35A9-25D4-3623-20D88C9AA4D9}"/>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
            <a:extLst>
              <a:ext uri="{FF2B5EF4-FFF2-40B4-BE49-F238E27FC236}">
                <a16:creationId xmlns:a16="http://schemas.microsoft.com/office/drawing/2014/main" id="{0E715620-61FF-2D7E-AA3B-292B267C60C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4" name="Freeform: Shape 3">
            <a:extLst>
              <a:ext uri="{FF2B5EF4-FFF2-40B4-BE49-F238E27FC236}">
                <a16:creationId xmlns:a16="http://schemas.microsoft.com/office/drawing/2014/main" id="{3CF7DB84-DF01-5854-B161-2358426BE3D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TextBox 1">
            <a:extLst>
              <a:ext uri="{FF2B5EF4-FFF2-40B4-BE49-F238E27FC236}">
                <a16:creationId xmlns:a16="http://schemas.microsoft.com/office/drawing/2014/main" id="{C94FBC2A-8428-1B91-CFF2-880AFD300F6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0" name="Rectangle: Rounded Corners 14">
            <a:extLst>
              <a:ext uri="{FF2B5EF4-FFF2-40B4-BE49-F238E27FC236}">
                <a16:creationId xmlns:a16="http://schemas.microsoft.com/office/drawing/2014/main" id="{52FA2455-6ABC-6D90-9426-1E979FFD1554}"/>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TextBox 1">
            <a:extLst>
              <a:ext uri="{FF2B5EF4-FFF2-40B4-BE49-F238E27FC236}">
                <a16:creationId xmlns:a16="http://schemas.microsoft.com/office/drawing/2014/main" id="{004768AA-91E4-46B2-5214-B0622E51DC76}"/>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7 – Méthodes et valorisation</a:t>
            </a:r>
          </a:p>
        </p:txBody>
      </p:sp>
      <p:sp>
        <p:nvSpPr>
          <p:cNvPr id="3" name="ZoneTexte 2">
            <a:extLst>
              <a:ext uri="{FF2B5EF4-FFF2-40B4-BE49-F238E27FC236}">
                <a16:creationId xmlns:a16="http://schemas.microsoft.com/office/drawing/2014/main" id="{FAB9CB93-7346-FB6A-61CF-88E3CFBCD326}"/>
              </a:ext>
            </a:extLst>
          </p:cNvPr>
          <p:cNvSpPr txBox="1"/>
          <p:nvPr/>
        </p:nvSpPr>
        <p:spPr>
          <a:xfrm>
            <a:off x="453859" y="2244174"/>
            <a:ext cx="11284282" cy="4493538"/>
          </a:xfrm>
          <a:prstGeom prst="rect">
            <a:avLst/>
          </a:prstGeom>
          <a:noFill/>
        </p:spPr>
        <p:txBody>
          <a:bodyPr wrap="square" rtlCol="0">
            <a:spAutoFit/>
          </a:bodyPr>
          <a:lstStyle/>
          <a:p>
            <a:pPr algn="ctr"/>
            <a:r>
              <a:rPr lang="fr-FR" sz="2200" b="1" dirty="0">
                <a:solidFill>
                  <a:srgbClr val="FF0000"/>
                </a:solidFill>
              </a:rPr>
              <a:t>POINTS DE VIGILANCE</a:t>
            </a:r>
          </a:p>
          <a:p>
            <a:endParaRPr lang="fr-FR" sz="2200" dirty="0"/>
          </a:p>
          <a:p>
            <a:r>
              <a:rPr lang="fr-FR" sz="2200" b="1" dirty="0">
                <a:solidFill>
                  <a:srgbClr val="FF0000"/>
                </a:solidFill>
              </a:rPr>
              <a:t>les ajustements sont de l'expert, pas de l’IA </a:t>
            </a:r>
            <a:r>
              <a:rPr lang="fr-FR" sz="2200" dirty="0"/>
              <a:t>: l'expert arrête les ajustements avant de lancer le prompt, les motive dans ses notes, et les fournit explicitement à l'IA. L'IA les met en forme, elle ne les invente pas.</a:t>
            </a:r>
          </a:p>
          <a:p>
            <a:r>
              <a:rPr lang="fr-FR" sz="2200" dirty="0"/>
              <a:t>  </a:t>
            </a:r>
          </a:p>
          <a:p>
            <a:r>
              <a:rPr lang="fr-FR" sz="2200" b="1" dirty="0">
                <a:solidFill>
                  <a:srgbClr val="FF0000"/>
                </a:solidFill>
              </a:rPr>
              <a:t>les méthodes écartées doivent être justifiées</a:t>
            </a:r>
            <a:r>
              <a:rPr lang="fr-FR" sz="2200" dirty="0">
                <a:solidFill>
                  <a:srgbClr val="FF0000"/>
                </a:solidFill>
              </a:rPr>
              <a:t> </a:t>
            </a:r>
            <a:r>
              <a:rPr lang="fr-FR" sz="2200" dirty="0"/>
              <a:t>: vérifiez qu'elle est bien présente et spécifique au cas traité.</a:t>
            </a:r>
          </a:p>
          <a:p>
            <a:r>
              <a:rPr lang="fr-FR" sz="2200" dirty="0"/>
              <a:t>  </a:t>
            </a:r>
          </a:p>
          <a:p>
            <a:r>
              <a:rPr lang="fr-FR" sz="2200" b="1" dirty="0">
                <a:solidFill>
                  <a:srgbClr val="FF0000"/>
                </a:solidFill>
              </a:rPr>
              <a:t>le calcul final doit être transparent et vérifiable </a:t>
            </a:r>
            <a:r>
              <a:rPr lang="fr-FR" sz="2200" dirty="0"/>
              <a:t>: vérifiez que les chiffres correspondent exactement aux données que vous lui avez fournies, et que la valeur en lettres est cohérente avec la valeur en chiffres.</a:t>
            </a:r>
          </a:p>
          <a:p>
            <a:endParaRPr lang="fr-FR" sz="2200" b="1" i="1" dirty="0"/>
          </a:p>
        </p:txBody>
      </p:sp>
      <p:sp>
        <p:nvSpPr>
          <p:cNvPr id="5" name="ZoneTexte 4">
            <a:extLst>
              <a:ext uri="{FF2B5EF4-FFF2-40B4-BE49-F238E27FC236}">
                <a16:creationId xmlns:a16="http://schemas.microsoft.com/office/drawing/2014/main" id="{2B6C48CB-DE97-A06E-F33F-259A616E0662}"/>
              </a:ext>
            </a:extLst>
          </p:cNvPr>
          <p:cNvSpPr txBox="1"/>
          <p:nvPr/>
        </p:nvSpPr>
        <p:spPr>
          <a:xfrm>
            <a:off x="242578" y="1183774"/>
            <a:ext cx="3405616"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9" name="ZoneTexte 8">
            <a:extLst>
              <a:ext uri="{FF2B5EF4-FFF2-40B4-BE49-F238E27FC236}">
                <a16:creationId xmlns:a16="http://schemas.microsoft.com/office/drawing/2014/main" id="{F7304CAE-4467-7BF8-CDEB-44F77D846EE7}"/>
              </a:ext>
            </a:extLst>
          </p:cNvPr>
          <p:cNvSpPr txBox="1"/>
          <p:nvPr/>
        </p:nvSpPr>
        <p:spPr>
          <a:xfrm>
            <a:off x="242578" y="1506341"/>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Tree>
    <p:extLst>
      <p:ext uri="{BB962C8B-B14F-4D97-AF65-F5344CB8AC3E}">
        <p14:creationId xmlns:p14="http://schemas.microsoft.com/office/powerpoint/2010/main" val="16318163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3C5BF-A605-7C43-7BDD-1DC850F131A7}"/>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EC67E7C9-FC48-91EA-81C6-9661FB215A0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61D2B010-507A-A49C-667A-2A8A237F67D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73E50ABF-7137-8B85-668A-24FBCFB0955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23BD672A-29BC-F3B0-81F4-4017AD3A626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48E7A07F-C6D8-28A7-204F-2A77968278C8}"/>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1" name="Rectangle: Rounded Corners 14">
            <a:extLst>
              <a:ext uri="{FF2B5EF4-FFF2-40B4-BE49-F238E27FC236}">
                <a16:creationId xmlns:a16="http://schemas.microsoft.com/office/drawing/2014/main" id="{9FA78FA6-F1E7-47C8-07A1-485B7752D56F}"/>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0C052DB5-5214-C45E-8747-D372B596927F}"/>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8 – Conclusion et valeur vénale</a:t>
            </a:r>
          </a:p>
        </p:txBody>
      </p:sp>
      <p:sp>
        <p:nvSpPr>
          <p:cNvPr id="3" name="ZoneTexte 2">
            <a:extLst>
              <a:ext uri="{FF2B5EF4-FFF2-40B4-BE49-F238E27FC236}">
                <a16:creationId xmlns:a16="http://schemas.microsoft.com/office/drawing/2014/main" id="{802C705D-C524-9E1F-8D23-49C8862A84BD}"/>
              </a:ext>
            </a:extLst>
          </p:cNvPr>
          <p:cNvSpPr txBox="1"/>
          <p:nvPr/>
        </p:nvSpPr>
        <p:spPr>
          <a:xfrm>
            <a:off x="467227" y="1808761"/>
            <a:ext cx="3454400" cy="2246769"/>
          </a:xfrm>
          <a:prstGeom prst="rect">
            <a:avLst/>
          </a:prstGeom>
          <a:noFill/>
        </p:spPr>
        <p:txBody>
          <a:bodyPr wrap="square" rtlCol="0">
            <a:spAutoFit/>
          </a:bodyPr>
          <a:lstStyle/>
          <a:p>
            <a:r>
              <a:rPr lang="fr-FR" b="1" dirty="0">
                <a:solidFill>
                  <a:srgbClr val="00B050"/>
                </a:solidFill>
                <a:latin typeface="Figtree"/>
              </a:rPr>
              <a:t>Valeur en chiffres et en lettres</a:t>
            </a:r>
          </a:p>
          <a:p>
            <a:r>
              <a:rPr lang="fr-FR" dirty="0">
                <a:latin typeface="Figtree"/>
              </a:rPr>
              <a:t>La valeur arrêtée doit apparaître </a:t>
            </a:r>
            <a:r>
              <a:rPr lang="fr-FR" b="1" dirty="0">
                <a:solidFill>
                  <a:srgbClr val="00B050"/>
                </a:solidFill>
                <a:latin typeface="Figtree"/>
              </a:rPr>
              <a:t>deux fois </a:t>
            </a:r>
            <a:r>
              <a:rPr lang="fr-FR" dirty="0">
                <a:latin typeface="Figtree"/>
              </a:rPr>
              <a:t>— en chiffres pour la précision, en lettres pour l'opposabilité juridique.</a:t>
            </a:r>
          </a:p>
          <a:p>
            <a:endParaRPr lang="fr-FR" dirty="0">
              <a:latin typeface="Figtree"/>
            </a:endParaRPr>
          </a:p>
          <a:p>
            <a:r>
              <a:rPr lang="fr-FR" sz="1600" i="1" dirty="0">
                <a:latin typeface="Figtree"/>
              </a:rPr>
              <a:t>521 700 € — cinq cent vingt et un mille sept cents euros</a:t>
            </a:r>
          </a:p>
        </p:txBody>
      </p:sp>
      <p:sp>
        <p:nvSpPr>
          <p:cNvPr id="5" name="ZoneTexte 4">
            <a:extLst>
              <a:ext uri="{FF2B5EF4-FFF2-40B4-BE49-F238E27FC236}">
                <a16:creationId xmlns:a16="http://schemas.microsoft.com/office/drawing/2014/main" id="{F69227B0-FDBD-ACC5-33C6-8AFA7ED8FA95}"/>
              </a:ext>
            </a:extLst>
          </p:cNvPr>
          <p:cNvSpPr txBox="1"/>
          <p:nvPr/>
        </p:nvSpPr>
        <p:spPr>
          <a:xfrm>
            <a:off x="467227" y="4382282"/>
            <a:ext cx="3454400" cy="2000548"/>
          </a:xfrm>
          <a:prstGeom prst="rect">
            <a:avLst/>
          </a:prstGeom>
          <a:noFill/>
        </p:spPr>
        <p:txBody>
          <a:bodyPr wrap="square" rtlCol="0">
            <a:spAutoFit/>
          </a:bodyPr>
          <a:lstStyle/>
          <a:p>
            <a:r>
              <a:rPr lang="fr-FR" b="1" dirty="0">
                <a:solidFill>
                  <a:schemeClr val="accent6">
                    <a:lumMod val="75000"/>
                  </a:schemeClr>
                </a:solidFill>
                <a:latin typeface="Figtree"/>
              </a:rPr>
              <a:t>Réserves éventuelles</a:t>
            </a:r>
          </a:p>
          <a:p>
            <a:r>
              <a:rPr lang="fr-FR" dirty="0">
                <a:latin typeface="Figtree"/>
              </a:rPr>
              <a:t>Toute limite de la mission, document non communiqué, ou incertitude affectant la valeur doit figurer en réserve explicite.</a:t>
            </a:r>
          </a:p>
          <a:p>
            <a:endParaRPr lang="fr-FR" dirty="0">
              <a:latin typeface="Figtree"/>
            </a:endParaRPr>
          </a:p>
          <a:p>
            <a:r>
              <a:rPr lang="fr-FR" sz="1600" i="1" dirty="0">
                <a:latin typeface="Figtree"/>
              </a:rPr>
              <a:t>sous réserve de... / en l'absence de...</a:t>
            </a:r>
          </a:p>
        </p:txBody>
      </p:sp>
      <p:sp>
        <p:nvSpPr>
          <p:cNvPr id="8" name="ZoneTexte 7">
            <a:extLst>
              <a:ext uri="{FF2B5EF4-FFF2-40B4-BE49-F238E27FC236}">
                <a16:creationId xmlns:a16="http://schemas.microsoft.com/office/drawing/2014/main" id="{D71E0CF3-42AF-4EFF-29F4-294CB8920482}"/>
              </a:ext>
            </a:extLst>
          </p:cNvPr>
          <p:cNvSpPr txBox="1"/>
          <p:nvPr/>
        </p:nvSpPr>
        <p:spPr>
          <a:xfrm>
            <a:off x="4429627" y="1808761"/>
            <a:ext cx="3454400" cy="2000548"/>
          </a:xfrm>
          <a:prstGeom prst="rect">
            <a:avLst/>
          </a:prstGeom>
          <a:noFill/>
        </p:spPr>
        <p:txBody>
          <a:bodyPr wrap="square" rtlCol="0">
            <a:spAutoFit/>
          </a:bodyPr>
          <a:lstStyle/>
          <a:p>
            <a:r>
              <a:rPr lang="fr-FR" b="1" dirty="0">
                <a:solidFill>
                  <a:schemeClr val="accent1">
                    <a:lumMod val="50000"/>
                  </a:schemeClr>
                </a:solidFill>
                <a:latin typeface="Figtree"/>
              </a:rPr>
              <a:t>Date de valeur explicite</a:t>
            </a:r>
          </a:p>
          <a:p>
            <a:r>
              <a:rPr lang="fr-FR" dirty="0">
                <a:latin typeface="Figtree"/>
              </a:rPr>
              <a:t>La valeur vénale est toujours datée — elle ne vaut qu'à la date de la visite ou à la date fixée par la mission.</a:t>
            </a:r>
          </a:p>
          <a:p>
            <a:endParaRPr lang="fr-FR" dirty="0">
              <a:latin typeface="Figtree"/>
            </a:endParaRPr>
          </a:p>
          <a:p>
            <a:r>
              <a:rPr lang="fr-FR" sz="1600" i="1" dirty="0">
                <a:latin typeface="Figtree"/>
              </a:rPr>
              <a:t>à la date du 15 octobre 2025</a:t>
            </a:r>
          </a:p>
        </p:txBody>
      </p:sp>
      <p:sp>
        <p:nvSpPr>
          <p:cNvPr id="10" name="ZoneTexte 9">
            <a:extLst>
              <a:ext uri="{FF2B5EF4-FFF2-40B4-BE49-F238E27FC236}">
                <a16:creationId xmlns:a16="http://schemas.microsoft.com/office/drawing/2014/main" id="{F2DA815D-DED5-4968-F8ED-1FA2CA16A5B5}"/>
              </a:ext>
            </a:extLst>
          </p:cNvPr>
          <p:cNvSpPr txBox="1"/>
          <p:nvPr/>
        </p:nvSpPr>
        <p:spPr>
          <a:xfrm>
            <a:off x="4429627" y="4382282"/>
            <a:ext cx="3454400" cy="2246769"/>
          </a:xfrm>
          <a:prstGeom prst="rect">
            <a:avLst/>
          </a:prstGeom>
          <a:noFill/>
        </p:spPr>
        <p:txBody>
          <a:bodyPr wrap="square" rtlCol="0">
            <a:spAutoFit/>
          </a:bodyPr>
          <a:lstStyle/>
          <a:p>
            <a:r>
              <a:rPr lang="fr-FR" b="1" dirty="0">
                <a:solidFill>
                  <a:schemeClr val="accent3">
                    <a:lumMod val="75000"/>
                  </a:schemeClr>
                </a:solidFill>
                <a:latin typeface="Figtree"/>
              </a:rPr>
              <a:t>Formule de certification</a:t>
            </a:r>
          </a:p>
          <a:p>
            <a:r>
              <a:rPr lang="fr-FR" dirty="0">
                <a:latin typeface="Figtree"/>
              </a:rPr>
              <a:t>La formule finale engage l'expert sur l'exactitude et la sincérité du rapport. Elle est normée et non modifiable.</a:t>
            </a:r>
          </a:p>
          <a:p>
            <a:endParaRPr lang="fr-FR" dirty="0">
              <a:latin typeface="Figtree"/>
            </a:endParaRPr>
          </a:p>
          <a:p>
            <a:r>
              <a:rPr lang="fr-FR" sz="1600" i="1" dirty="0">
                <a:latin typeface="Figtree"/>
              </a:rPr>
              <a:t>En foi de quoi j'ai dressé le présent rapport... (expertise judiciaire)</a:t>
            </a:r>
          </a:p>
        </p:txBody>
      </p:sp>
      <p:sp>
        <p:nvSpPr>
          <p:cNvPr id="12" name="ZoneTexte 11">
            <a:extLst>
              <a:ext uri="{FF2B5EF4-FFF2-40B4-BE49-F238E27FC236}">
                <a16:creationId xmlns:a16="http://schemas.microsoft.com/office/drawing/2014/main" id="{60485C13-00F6-DD0D-4EB5-A02431C784D2}"/>
              </a:ext>
            </a:extLst>
          </p:cNvPr>
          <p:cNvSpPr txBox="1"/>
          <p:nvPr/>
        </p:nvSpPr>
        <p:spPr>
          <a:xfrm>
            <a:off x="8176127" y="1808761"/>
            <a:ext cx="3454400" cy="1969770"/>
          </a:xfrm>
          <a:prstGeom prst="rect">
            <a:avLst/>
          </a:prstGeom>
          <a:noFill/>
        </p:spPr>
        <p:txBody>
          <a:bodyPr wrap="square" rtlCol="0">
            <a:spAutoFit/>
          </a:bodyPr>
          <a:lstStyle/>
          <a:p>
            <a:r>
              <a:rPr lang="fr-FR" b="1" dirty="0">
                <a:solidFill>
                  <a:schemeClr val="accent4">
                    <a:lumMod val="75000"/>
                  </a:schemeClr>
                </a:solidFill>
                <a:latin typeface="Figtree"/>
              </a:rPr>
              <a:t>Qualification de la valeur</a:t>
            </a:r>
          </a:p>
          <a:p>
            <a:r>
              <a:rPr lang="fr-FR" dirty="0">
                <a:latin typeface="Figtree"/>
              </a:rPr>
              <a:t>Préciser si la valeur est libre (bien vacant), occupée (bail en cours), ou sous conditions particulières.</a:t>
            </a:r>
          </a:p>
          <a:p>
            <a:endParaRPr lang="fr-FR" dirty="0">
              <a:latin typeface="Figtree"/>
            </a:endParaRPr>
          </a:p>
          <a:p>
            <a:r>
              <a:rPr lang="fr-FR" sz="1600" i="1" dirty="0">
                <a:latin typeface="Figtree"/>
              </a:rPr>
              <a:t>valeur vénale libre / valeur vénale occupée</a:t>
            </a:r>
          </a:p>
        </p:txBody>
      </p:sp>
      <p:sp>
        <p:nvSpPr>
          <p:cNvPr id="14" name="ZoneTexte 13">
            <a:extLst>
              <a:ext uri="{FF2B5EF4-FFF2-40B4-BE49-F238E27FC236}">
                <a16:creationId xmlns:a16="http://schemas.microsoft.com/office/drawing/2014/main" id="{535D6C1C-5D5F-7631-2B05-D68B3FCA63FF}"/>
              </a:ext>
            </a:extLst>
          </p:cNvPr>
          <p:cNvSpPr txBox="1"/>
          <p:nvPr/>
        </p:nvSpPr>
        <p:spPr>
          <a:xfrm>
            <a:off x="8270375" y="3924144"/>
            <a:ext cx="3863473" cy="2862322"/>
          </a:xfrm>
          <a:prstGeom prst="rect">
            <a:avLst/>
          </a:prstGeom>
          <a:solidFill>
            <a:schemeClr val="accent2">
              <a:lumMod val="40000"/>
              <a:lumOff val="60000"/>
            </a:schemeClr>
          </a:solidFill>
        </p:spPr>
        <p:txBody>
          <a:bodyPr wrap="square" rtlCol="0">
            <a:spAutoFit/>
          </a:bodyPr>
          <a:lstStyle/>
          <a:p>
            <a:r>
              <a:rPr lang="fr-FR" b="1" dirty="0"/>
              <a:t>Élément souvent omis : </a:t>
            </a:r>
            <a:r>
              <a:rPr lang="fr-FR" dirty="0"/>
              <a:t>l'arrondi. La valeur avant arrondi vient de la section 7 (ex. : 521 700 €). La valeur arrêtée en conclusion est arrondie à 5 000 ou 10 000 € selon le niveau de précision approprié au bien et à la mission (ex. : 520 000 €). L'IA doit arrondir uniquement si l'expert lui précise le palier d'arrondi — sinon elle retient la valeur exacte.</a:t>
            </a:r>
          </a:p>
        </p:txBody>
      </p:sp>
      <p:sp>
        <p:nvSpPr>
          <p:cNvPr id="16" name="ZoneTexte 15">
            <a:extLst>
              <a:ext uri="{FF2B5EF4-FFF2-40B4-BE49-F238E27FC236}">
                <a16:creationId xmlns:a16="http://schemas.microsoft.com/office/drawing/2014/main" id="{E3C246B4-33D8-C61F-D2AF-5F9CB389E941}"/>
              </a:ext>
            </a:extLst>
          </p:cNvPr>
          <p:cNvSpPr txBox="1"/>
          <p:nvPr/>
        </p:nvSpPr>
        <p:spPr>
          <a:xfrm>
            <a:off x="215899" y="1815221"/>
            <a:ext cx="345573" cy="400110"/>
          </a:xfrm>
          <a:prstGeom prst="rect">
            <a:avLst/>
          </a:prstGeom>
          <a:noFill/>
        </p:spPr>
        <p:txBody>
          <a:bodyPr wrap="square" rtlCol="0">
            <a:spAutoFit/>
          </a:bodyPr>
          <a:lstStyle/>
          <a:p>
            <a:r>
              <a:rPr lang="fr-FR" sz="2000" dirty="0">
                <a:latin typeface="Figtree"/>
              </a:rPr>
              <a:t>1</a:t>
            </a:r>
          </a:p>
        </p:txBody>
      </p:sp>
      <p:sp>
        <p:nvSpPr>
          <p:cNvPr id="18" name="ZoneTexte 17">
            <a:extLst>
              <a:ext uri="{FF2B5EF4-FFF2-40B4-BE49-F238E27FC236}">
                <a16:creationId xmlns:a16="http://schemas.microsoft.com/office/drawing/2014/main" id="{742E4C5D-074D-2471-1ADF-A308F7E0FCB1}"/>
              </a:ext>
            </a:extLst>
          </p:cNvPr>
          <p:cNvSpPr txBox="1"/>
          <p:nvPr/>
        </p:nvSpPr>
        <p:spPr>
          <a:xfrm>
            <a:off x="4172955" y="1808761"/>
            <a:ext cx="345573" cy="400110"/>
          </a:xfrm>
          <a:prstGeom prst="rect">
            <a:avLst/>
          </a:prstGeom>
          <a:noFill/>
        </p:spPr>
        <p:txBody>
          <a:bodyPr wrap="square" rtlCol="0">
            <a:spAutoFit/>
          </a:bodyPr>
          <a:lstStyle/>
          <a:p>
            <a:r>
              <a:rPr lang="fr-FR" sz="2000" dirty="0">
                <a:latin typeface="Figtree"/>
              </a:rPr>
              <a:t>2</a:t>
            </a:r>
          </a:p>
        </p:txBody>
      </p:sp>
      <p:sp>
        <p:nvSpPr>
          <p:cNvPr id="19" name="ZoneTexte 18">
            <a:extLst>
              <a:ext uri="{FF2B5EF4-FFF2-40B4-BE49-F238E27FC236}">
                <a16:creationId xmlns:a16="http://schemas.microsoft.com/office/drawing/2014/main" id="{718683D1-89C9-54A2-8F4F-5832CCA3EAF6}"/>
              </a:ext>
            </a:extLst>
          </p:cNvPr>
          <p:cNvSpPr txBox="1"/>
          <p:nvPr/>
        </p:nvSpPr>
        <p:spPr>
          <a:xfrm>
            <a:off x="7843255" y="1808761"/>
            <a:ext cx="345573" cy="400110"/>
          </a:xfrm>
          <a:prstGeom prst="rect">
            <a:avLst/>
          </a:prstGeom>
          <a:noFill/>
        </p:spPr>
        <p:txBody>
          <a:bodyPr wrap="square" rtlCol="0">
            <a:spAutoFit/>
          </a:bodyPr>
          <a:lstStyle/>
          <a:p>
            <a:r>
              <a:rPr lang="fr-FR" sz="2000" dirty="0">
                <a:latin typeface="Figtree"/>
              </a:rPr>
              <a:t>3</a:t>
            </a:r>
          </a:p>
        </p:txBody>
      </p:sp>
      <p:sp>
        <p:nvSpPr>
          <p:cNvPr id="20" name="ZoneTexte 19">
            <a:extLst>
              <a:ext uri="{FF2B5EF4-FFF2-40B4-BE49-F238E27FC236}">
                <a16:creationId xmlns:a16="http://schemas.microsoft.com/office/drawing/2014/main" id="{E864B049-9264-679D-EB76-B1570EA45145}"/>
              </a:ext>
            </a:extLst>
          </p:cNvPr>
          <p:cNvSpPr txBox="1"/>
          <p:nvPr/>
        </p:nvSpPr>
        <p:spPr>
          <a:xfrm>
            <a:off x="215899" y="4393321"/>
            <a:ext cx="345573" cy="400110"/>
          </a:xfrm>
          <a:prstGeom prst="rect">
            <a:avLst/>
          </a:prstGeom>
          <a:noFill/>
        </p:spPr>
        <p:txBody>
          <a:bodyPr wrap="square" rtlCol="0">
            <a:spAutoFit/>
          </a:bodyPr>
          <a:lstStyle/>
          <a:p>
            <a:r>
              <a:rPr lang="fr-FR" sz="2000" dirty="0">
                <a:latin typeface="Figtree"/>
              </a:rPr>
              <a:t>4</a:t>
            </a:r>
          </a:p>
        </p:txBody>
      </p:sp>
      <p:sp>
        <p:nvSpPr>
          <p:cNvPr id="22" name="ZoneTexte 21">
            <a:extLst>
              <a:ext uri="{FF2B5EF4-FFF2-40B4-BE49-F238E27FC236}">
                <a16:creationId xmlns:a16="http://schemas.microsoft.com/office/drawing/2014/main" id="{C812CE21-0A06-4BC9-CD35-89F527F194A6}"/>
              </a:ext>
            </a:extLst>
          </p:cNvPr>
          <p:cNvSpPr txBox="1"/>
          <p:nvPr/>
        </p:nvSpPr>
        <p:spPr>
          <a:xfrm>
            <a:off x="4172955" y="4386861"/>
            <a:ext cx="345573" cy="400110"/>
          </a:xfrm>
          <a:prstGeom prst="rect">
            <a:avLst/>
          </a:prstGeom>
          <a:noFill/>
        </p:spPr>
        <p:txBody>
          <a:bodyPr wrap="square" rtlCol="0">
            <a:spAutoFit/>
          </a:bodyPr>
          <a:lstStyle/>
          <a:p>
            <a:r>
              <a:rPr lang="fr-FR" sz="2000" dirty="0">
                <a:latin typeface="Figtree"/>
              </a:rPr>
              <a:t>5</a:t>
            </a:r>
          </a:p>
        </p:txBody>
      </p:sp>
    </p:spTree>
    <p:extLst>
      <p:ext uri="{BB962C8B-B14F-4D97-AF65-F5344CB8AC3E}">
        <p14:creationId xmlns:p14="http://schemas.microsoft.com/office/powerpoint/2010/main" val="339474797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D7B1D-5B35-1CF9-465B-542C3E5B792C}"/>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CBC6B9D8-7F4A-D316-24AA-8669BB52E366}"/>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1D575715-F8EB-6B09-BFF0-4BF3BC9AC7C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99851D6F-B5EC-9D4D-1CC2-B683B879737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31B677D1-ED24-01BE-940A-3AA0DDEF758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C5697182-BBB0-8E30-5D63-4470CACD6AD9}"/>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1" name="Rectangle: Rounded Corners 14">
            <a:extLst>
              <a:ext uri="{FF2B5EF4-FFF2-40B4-BE49-F238E27FC236}">
                <a16:creationId xmlns:a16="http://schemas.microsoft.com/office/drawing/2014/main" id="{AAE51BC8-7625-1816-E0E5-B0C496F842C7}"/>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97ED0296-2D9A-A437-D010-01606415A760}"/>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8 – Conclusion et valeur vénale</a:t>
            </a:r>
          </a:p>
        </p:txBody>
      </p:sp>
      <p:sp>
        <p:nvSpPr>
          <p:cNvPr id="6" name="ZoneTexte 5">
            <a:extLst>
              <a:ext uri="{FF2B5EF4-FFF2-40B4-BE49-F238E27FC236}">
                <a16:creationId xmlns:a16="http://schemas.microsoft.com/office/drawing/2014/main" id="{6CD9757D-A98D-887A-A3E5-68F4B8B57FF2}"/>
              </a:ext>
            </a:extLst>
          </p:cNvPr>
          <p:cNvSpPr txBox="1"/>
          <p:nvPr/>
        </p:nvSpPr>
        <p:spPr>
          <a:xfrm>
            <a:off x="294095" y="2594089"/>
            <a:ext cx="5592483" cy="3539430"/>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agréé par la cour d'appel.</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"Conclusion — valeur vénale" d'un rapport d'expertise judiciaire.</a:t>
            </a:r>
          </a:p>
          <a:p>
            <a:endParaRPr lang="fr-FR" sz="1400" dirty="0">
              <a:latin typeface="Courier New" panose="02070309020205020404" pitchFamily="49" charset="0"/>
              <a:cs typeface="Courier New" panose="02070309020205020404" pitchFamily="49" charset="0"/>
            </a:endParaRPr>
          </a:p>
          <a:p>
            <a:r>
              <a:rPr lang="fr-FR" sz="1400" b="1" dirty="0">
                <a:highlight>
                  <a:srgbClr val="FFFF00"/>
                </a:highlight>
                <a:latin typeface="Courier New" panose="02070309020205020404" pitchFamily="49" charset="0"/>
                <a:cs typeface="Courier New" panose="02070309020205020404" pitchFamily="49" charset="0"/>
              </a:rPr>
              <a:t>Un seul paragraphe </a:t>
            </a:r>
            <a:r>
              <a:rPr lang="fr-FR" sz="1400" dirty="0">
                <a:latin typeface="Courier New" panose="02070309020205020404" pitchFamily="49" charset="0"/>
                <a:cs typeface="Courier New" panose="02070309020205020404" pitchFamily="49" charset="0"/>
              </a:rPr>
              <a:t>sobre de 80 à 100 mots maximum.</a:t>
            </a:r>
          </a:p>
          <a:p>
            <a:r>
              <a:rPr lang="fr-FR" sz="1400" dirty="0">
                <a:latin typeface="Courier New" panose="02070309020205020404" pitchFamily="49" charset="0"/>
                <a:cs typeface="Courier New" panose="02070309020205020404" pitchFamily="49" charset="0"/>
              </a:rPr>
              <a:t>Aucun développement argumentaire — tout argument figure déjà en section 7.</a:t>
            </a:r>
          </a:p>
          <a:p>
            <a:endParaRPr lang="fr-FR" sz="1400" dirty="0">
              <a:latin typeface="Courier New" panose="02070309020205020404" pitchFamily="49" charset="0"/>
              <a:cs typeface="Courier New" panose="02070309020205020404" pitchFamily="49" charset="0"/>
            </a:endParaRP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RÈGLES ABSOLUES :</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Valeur en chiffres ET en lettres (obligatoire)</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Date de valeur explicite</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Qualification libre / occupée</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Formule de certification en dernière phrase (normée, ne pas modifier)</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Un seul paragraphe — ne pas déborder</a:t>
            </a:r>
          </a:p>
        </p:txBody>
      </p:sp>
      <p:sp>
        <p:nvSpPr>
          <p:cNvPr id="17" name="ZoneTexte 16">
            <a:extLst>
              <a:ext uri="{FF2B5EF4-FFF2-40B4-BE49-F238E27FC236}">
                <a16:creationId xmlns:a16="http://schemas.microsoft.com/office/drawing/2014/main" id="{EF89E8BC-6357-B302-6DC2-DF5EAA3C2C70}"/>
              </a:ext>
            </a:extLst>
          </p:cNvPr>
          <p:cNvSpPr txBox="1"/>
          <p:nvPr/>
        </p:nvSpPr>
        <p:spPr>
          <a:xfrm>
            <a:off x="6237695" y="2594089"/>
            <a:ext cx="5592483" cy="2893100"/>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a:t>
            </a:r>
          </a:p>
          <a:p>
            <a:pPr marL="285750" indent="-285750">
              <a:buFont typeface="Arial" panose="020B0604020202020204" pitchFamily="34" charset="0"/>
              <a:buChar char="•"/>
            </a:pPr>
            <a:r>
              <a:rPr lang="fr-FR" sz="1400" b="1" dirty="0">
                <a:solidFill>
                  <a:srgbClr val="00B050"/>
                </a:solidFill>
                <a:latin typeface="Courier New" panose="02070309020205020404" pitchFamily="49" charset="0"/>
                <a:cs typeface="Courier New" panose="02070309020205020404" pitchFamily="49" charset="0"/>
              </a:rPr>
              <a:t>Valeur avant arrondi (section 7) : [X €]</a:t>
            </a:r>
          </a:p>
          <a:p>
            <a:pPr marL="285750" indent="-285750">
              <a:buFont typeface="Arial" panose="020B0604020202020204" pitchFamily="34" charset="0"/>
              <a:buChar char="•"/>
            </a:pPr>
            <a:r>
              <a:rPr lang="fr-FR" sz="1400" b="1" dirty="0">
                <a:solidFill>
                  <a:srgbClr val="00B050"/>
                </a:solidFill>
                <a:latin typeface="Courier New" panose="02070309020205020404" pitchFamily="49" charset="0"/>
                <a:cs typeface="Courier New" panose="02070309020205020404" pitchFamily="49" charset="0"/>
              </a:rPr>
              <a:t>Palier d'arrondi retenu : [5 000 € / 10 000 €]</a:t>
            </a:r>
          </a:p>
          <a:p>
            <a:pPr marL="285750" indent="-285750">
              <a:buFont typeface="Arial" panose="020B0604020202020204" pitchFamily="34" charset="0"/>
              <a:buChar char="•"/>
            </a:pPr>
            <a:r>
              <a:rPr lang="fr-FR" sz="1400" b="1" dirty="0">
                <a:solidFill>
                  <a:srgbClr val="00B050"/>
                </a:solidFill>
                <a:latin typeface="Courier New" panose="02070309020205020404" pitchFamily="49" charset="0"/>
                <a:cs typeface="Courier New" panose="02070309020205020404" pitchFamily="49" charset="0"/>
              </a:rPr>
              <a:t>Valeur arrêtée après arrondi : [Y €]</a:t>
            </a:r>
          </a:p>
          <a:p>
            <a:pPr marL="285750" indent="-285750">
              <a:buFont typeface="Arial" panose="020B0604020202020204" pitchFamily="34" charset="0"/>
              <a:buChar char="•"/>
            </a:pPr>
            <a:r>
              <a:rPr lang="fr-FR" sz="1400" b="1" dirty="0">
                <a:solidFill>
                  <a:srgbClr val="00B050"/>
                </a:solidFill>
                <a:latin typeface="Courier New" panose="02070309020205020404" pitchFamily="49" charset="0"/>
                <a:cs typeface="Courier New" panose="02070309020205020404" pitchFamily="49" charset="0"/>
              </a:rPr>
              <a:t>Date de valeur : [date]</a:t>
            </a:r>
          </a:p>
          <a:p>
            <a:pPr marL="285750" indent="-285750">
              <a:buFont typeface="Arial" panose="020B0604020202020204" pitchFamily="34" charset="0"/>
              <a:buChar char="•"/>
            </a:pPr>
            <a:r>
              <a:rPr lang="fr-FR" sz="1400" b="1" dirty="0">
                <a:solidFill>
                  <a:srgbClr val="00B050"/>
                </a:solidFill>
                <a:latin typeface="Courier New" panose="02070309020205020404" pitchFamily="49" charset="0"/>
                <a:cs typeface="Courier New" panose="02070309020205020404" pitchFamily="49" charset="0"/>
              </a:rPr>
              <a:t>Qualification : libre</a:t>
            </a:r>
          </a:p>
          <a:p>
            <a:pPr marL="285750" indent="-285750">
              <a:buFont typeface="Arial" panose="020B0604020202020204" pitchFamily="34" charset="0"/>
              <a:buChar char="•"/>
            </a:pPr>
            <a:r>
              <a:rPr lang="fr-FR" sz="1400" b="1" dirty="0">
                <a:solidFill>
                  <a:srgbClr val="00B050"/>
                </a:solidFill>
                <a:latin typeface="Courier New" panose="02070309020205020404" pitchFamily="49" charset="0"/>
                <a:cs typeface="Courier New" panose="02070309020205020404" pitchFamily="49" charset="0"/>
              </a:rPr>
              <a:t>Réserves : aucune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FORMULE DE CERTIFICATION À UTILISER TELLE QUELLE :</a:t>
            </a:r>
          </a:p>
          <a:p>
            <a:r>
              <a:rPr lang="fr-FR" sz="1400" b="1" dirty="0">
                <a:solidFill>
                  <a:schemeClr val="accent1">
                    <a:lumMod val="75000"/>
                  </a:schemeClr>
                </a:solidFill>
                <a:latin typeface="Courier New" panose="02070309020205020404" pitchFamily="49" charset="0"/>
                <a:cs typeface="Courier New" panose="02070309020205020404" pitchFamily="49" charset="0"/>
              </a:rPr>
              <a:t>"En foi de quoi, j'ai dressé le présent rapport que je certifie exact et sincère, conformément à la mission qui m'a été confiée par ordonnance du [date]."</a:t>
            </a:r>
          </a:p>
        </p:txBody>
      </p:sp>
      <p:sp>
        <p:nvSpPr>
          <p:cNvPr id="24" name="ZoneTexte 23">
            <a:extLst>
              <a:ext uri="{FF2B5EF4-FFF2-40B4-BE49-F238E27FC236}">
                <a16:creationId xmlns:a16="http://schemas.microsoft.com/office/drawing/2014/main" id="{25CC52B8-E7C8-6341-0863-D7345D3D1AC1}"/>
              </a:ext>
            </a:extLst>
          </p:cNvPr>
          <p:cNvSpPr txBox="1"/>
          <p:nvPr/>
        </p:nvSpPr>
        <p:spPr>
          <a:xfrm>
            <a:off x="294095" y="2079841"/>
            <a:ext cx="8600303" cy="369332"/>
          </a:xfrm>
          <a:prstGeom prst="rect">
            <a:avLst/>
          </a:prstGeom>
          <a:noFill/>
        </p:spPr>
        <p:txBody>
          <a:bodyPr wrap="none" rtlCol="0">
            <a:spAutoFit/>
          </a:bodyPr>
          <a:lstStyle/>
          <a:p>
            <a:r>
              <a:rPr lang="fr-FR" b="1" dirty="0"/>
              <a:t>3 variantes selon le contexte : </a:t>
            </a:r>
            <a:r>
              <a:rPr lang="fr-FR" b="1" dirty="0">
                <a:solidFill>
                  <a:schemeClr val="accent3">
                    <a:lumMod val="75000"/>
                  </a:schemeClr>
                </a:solidFill>
              </a:rPr>
              <a:t>Conclusion sans réserve </a:t>
            </a:r>
            <a:r>
              <a:rPr lang="fr-FR" b="1" dirty="0"/>
              <a:t>– Avec réserves – Valeur  occupée</a:t>
            </a:r>
          </a:p>
        </p:txBody>
      </p:sp>
      <p:sp>
        <p:nvSpPr>
          <p:cNvPr id="30" name="ZoneTexte 29">
            <a:extLst>
              <a:ext uri="{FF2B5EF4-FFF2-40B4-BE49-F238E27FC236}">
                <a16:creationId xmlns:a16="http://schemas.microsoft.com/office/drawing/2014/main" id="{5D3F3EC3-B548-FBBA-DC56-A788EFBDFFB3}"/>
              </a:ext>
            </a:extLst>
          </p:cNvPr>
          <p:cNvSpPr txBox="1"/>
          <p:nvPr/>
        </p:nvSpPr>
        <p:spPr>
          <a:xfrm>
            <a:off x="242578" y="1472795"/>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32" name="ZoneTexte 31">
            <a:extLst>
              <a:ext uri="{FF2B5EF4-FFF2-40B4-BE49-F238E27FC236}">
                <a16:creationId xmlns:a16="http://schemas.microsoft.com/office/drawing/2014/main" id="{52C87B22-BD0A-1595-8F2C-AB7E51474C36}"/>
              </a:ext>
            </a:extLst>
          </p:cNvPr>
          <p:cNvSpPr txBox="1"/>
          <p:nvPr/>
        </p:nvSpPr>
        <p:spPr>
          <a:xfrm>
            <a:off x="242578" y="1125211"/>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34" name="ZoneTexte 33">
            <a:extLst>
              <a:ext uri="{FF2B5EF4-FFF2-40B4-BE49-F238E27FC236}">
                <a16:creationId xmlns:a16="http://schemas.microsoft.com/office/drawing/2014/main" id="{B43C3A17-833B-86DF-9BE2-24D5C9FA48D3}"/>
              </a:ext>
            </a:extLst>
          </p:cNvPr>
          <p:cNvSpPr txBox="1"/>
          <p:nvPr/>
        </p:nvSpPr>
        <p:spPr>
          <a:xfrm>
            <a:off x="6305424" y="5732789"/>
            <a:ext cx="5361059" cy="646331"/>
          </a:xfrm>
          <a:prstGeom prst="rect">
            <a:avLst/>
          </a:prstGeom>
          <a:solidFill>
            <a:schemeClr val="accent4">
              <a:lumMod val="20000"/>
              <a:lumOff val="80000"/>
            </a:schemeClr>
          </a:solidFill>
        </p:spPr>
        <p:txBody>
          <a:bodyPr wrap="square">
            <a:spAutoFit/>
          </a:bodyPr>
          <a:lstStyle/>
          <a:p>
            <a:r>
              <a:rPr lang="fr-FR" sz="1800" dirty="0">
                <a:solidFill>
                  <a:schemeClr val="tx1"/>
                </a:solidFill>
                <a:effectLst/>
                <a:latin typeface="+mn-lt"/>
                <a:ea typeface="Calibri" panose="020F0502020204030204" pitchFamily="34" charset="0"/>
              </a:rPr>
              <a:t>à supprimer systématiquement la formulation juridique dans les rapport</a:t>
            </a:r>
            <a:r>
              <a:rPr lang="fr-FR" dirty="0">
                <a:ea typeface="Calibri" panose="020F0502020204030204" pitchFamily="34" charset="0"/>
              </a:rPr>
              <a:t>s non judiciaires</a:t>
            </a:r>
            <a:endParaRPr lang="fr-FR" dirty="0"/>
          </a:p>
        </p:txBody>
      </p:sp>
    </p:spTree>
    <p:extLst>
      <p:ext uri="{BB962C8B-B14F-4D97-AF65-F5344CB8AC3E}">
        <p14:creationId xmlns:p14="http://schemas.microsoft.com/office/powerpoint/2010/main" val="6177745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2023C-8F62-C3E7-59C4-42E0B1120AE9}"/>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940D1080-64BC-948F-1083-885DBD7F4C5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1C3810F7-4FBE-D858-6B2B-A23CB816039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EE15E325-DEC2-9AED-80C4-EA4E54CB6F8C}"/>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3FF5A58B-9C92-09FE-16F8-D166B77C368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632FD860-3D15-6476-2DAF-1DC3551972CA}"/>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1" name="Rectangle: Rounded Corners 14">
            <a:extLst>
              <a:ext uri="{FF2B5EF4-FFF2-40B4-BE49-F238E27FC236}">
                <a16:creationId xmlns:a16="http://schemas.microsoft.com/office/drawing/2014/main" id="{EA423197-DA9F-26DA-D6B8-F79797CA0D2F}"/>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7EA4DB71-A006-2039-B9F1-6A6D06B0FEDC}"/>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8 – Conclusion et valeur vénale</a:t>
            </a:r>
          </a:p>
        </p:txBody>
      </p:sp>
      <p:sp>
        <p:nvSpPr>
          <p:cNvPr id="6" name="ZoneTexte 5">
            <a:extLst>
              <a:ext uri="{FF2B5EF4-FFF2-40B4-BE49-F238E27FC236}">
                <a16:creationId xmlns:a16="http://schemas.microsoft.com/office/drawing/2014/main" id="{30CAB288-E22D-653E-83E6-E047465AEBDB}"/>
              </a:ext>
            </a:extLst>
          </p:cNvPr>
          <p:cNvSpPr txBox="1"/>
          <p:nvPr/>
        </p:nvSpPr>
        <p:spPr>
          <a:xfrm>
            <a:off x="294095" y="2432306"/>
            <a:ext cx="5994400" cy="3754874"/>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agréé par la cour d'appel.</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"Conclusion — valeur vénale" avec réserves, en deux parties distinctes dans un seul paragraphe :</a:t>
            </a:r>
          </a:p>
          <a:p>
            <a:r>
              <a:rPr lang="fr-FR" sz="1400" b="1" dirty="0">
                <a:highlight>
                  <a:srgbClr val="FFFF00"/>
                </a:highlight>
                <a:latin typeface="Courier New" panose="02070309020205020404" pitchFamily="49" charset="0"/>
                <a:cs typeface="Courier New" panose="02070309020205020404" pitchFamily="49" charset="0"/>
              </a:rPr>
              <a:t>(a) Réserves préalables à la valeur</a:t>
            </a:r>
          </a:p>
          <a:p>
            <a:r>
              <a:rPr lang="fr-FR" sz="1400" b="1" dirty="0">
                <a:highlight>
                  <a:srgbClr val="FFFF00"/>
                </a:highlight>
                <a:latin typeface="Courier New" panose="02070309020205020404" pitchFamily="49" charset="0"/>
                <a:cs typeface="Courier New" panose="02070309020205020404" pitchFamily="49" charset="0"/>
              </a:rPr>
              <a:t>(b) Valeur arrêtée sous ces réserves</a:t>
            </a:r>
          </a:p>
          <a:p>
            <a:endParaRPr lang="fr-FR" sz="1400" dirty="0">
              <a:latin typeface="Courier New" panose="02070309020205020404" pitchFamily="49" charset="0"/>
              <a:cs typeface="Courier New" panose="02070309020205020404" pitchFamily="49" charset="0"/>
            </a:endParaRP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RÈGLES :</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Les réserves précèdent la valeur — elles la conditionnent</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Chaque réserve est formulée de façon précise et vérifiable</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La valeur est exprimée "sous les réserves ci-dessus"</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Valeur en chiffres et en lettres — date — qualification</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Formule de certification en clôture</a:t>
            </a:r>
          </a:p>
        </p:txBody>
      </p:sp>
      <p:sp>
        <p:nvSpPr>
          <p:cNvPr id="15" name="ZoneTexte 14">
            <a:extLst>
              <a:ext uri="{FF2B5EF4-FFF2-40B4-BE49-F238E27FC236}">
                <a16:creationId xmlns:a16="http://schemas.microsoft.com/office/drawing/2014/main" id="{4821DA84-15F4-89FC-976D-BC860EC8801B}"/>
              </a:ext>
            </a:extLst>
          </p:cNvPr>
          <p:cNvSpPr txBox="1"/>
          <p:nvPr/>
        </p:nvSpPr>
        <p:spPr>
          <a:xfrm>
            <a:off x="6288495" y="1754841"/>
            <a:ext cx="5592483" cy="4616648"/>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a:t>
            </a:r>
          </a:p>
          <a:p>
            <a:r>
              <a:rPr lang="fr-FR" sz="1400" b="1" dirty="0">
                <a:solidFill>
                  <a:srgbClr val="00B050"/>
                </a:solidFill>
                <a:latin typeface="Courier New" panose="02070309020205020404" pitchFamily="49" charset="0"/>
                <a:cs typeface="Courier New" panose="02070309020205020404" pitchFamily="49" charset="0"/>
              </a:rPr>
              <a:t>Valeur arrêtée : [Y €]</a:t>
            </a:r>
          </a:p>
          <a:p>
            <a:r>
              <a:rPr lang="fr-FR" sz="1400" b="1" dirty="0">
                <a:solidFill>
                  <a:srgbClr val="00B050"/>
                </a:solidFill>
                <a:latin typeface="Courier New" panose="02070309020205020404" pitchFamily="49" charset="0"/>
                <a:cs typeface="Courier New" panose="02070309020205020404" pitchFamily="49" charset="0"/>
              </a:rPr>
              <a:t>Date de valeur : [date]</a:t>
            </a:r>
          </a:p>
          <a:p>
            <a:r>
              <a:rPr lang="fr-FR" sz="1400" b="1" dirty="0">
                <a:solidFill>
                  <a:srgbClr val="00B050"/>
                </a:solidFill>
                <a:latin typeface="Courier New" panose="02070309020205020404" pitchFamily="49" charset="0"/>
                <a:cs typeface="Courier New" panose="02070309020205020404" pitchFamily="49" charset="0"/>
              </a:rPr>
              <a:t>Qualification : [libre / occupée]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RÉSERVES À FORMULER :</a:t>
            </a:r>
          </a:p>
          <a:p>
            <a:r>
              <a:rPr lang="fr-FR" sz="1400" b="1" dirty="0">
                <a:latin typeface="Courier New" panose="02070309020205020404" pitchFamily="49" charset="0"/>
                <a:cs typeface="Courier New" panose="02070309020205020404" pitchFamily="49" charset="0"/>
              </a:rPr>
              <a:t>Réserve 1 : </a:t>
            </a:r>
            <a:r>
              <a:rPr lang="fr-FR" sz="1400" b="1" dirty="0">
                <a:solidFill>
                  <a:schemeClr val="accent4">
                    <a:lumMod val="75000"/>
                  </a:schemeClr>
                </a:solidFill>
                <a:latin typeface="Courier New" panose="02070309020205020404" pitchFamily="49" charset="0"/>
                <a:cs typeface="Courier New" panose="02070309020205020404" pitchFamily="49" charset="0"/>
              </a:rPr>
              <a:t>[libellé précis — ex: "sous réserve de l'absence de servitude non mentionnée dans les pièces communiquées"]</a:t>
            </a:r>
          </a:p>
          <a:p>
            <a:r>
              <a:rPr lang="fr-FR" sz="1400" b="1" dirty="0">
                <a:latin typeface="Courier New" panose="02070309020205020404" pitchFamily="49" charset="0"/>
                <a:cs typeface="Courier New" panose="02070309020205020404" pitchFamily="49" charset="0"/>
              </a:rPr>
              <a:t>Réserve 2 : </a:t>
            </a:r>
            <a:r>
              <a:rPr lang="fr-FR" sz="1400" b="1" dirty="0">
                <a:solidFill>
                  <a:schemeClr val="accent4">
                    <a:lumMod val="75000"/>
                  </a:schemeClr>
                </a:solidFill>
                <a:latin typeface="Courier New" panose="02070309020205020404" pitchFamily="49" charset="0"/>
                <a:cs typeface="Courier New" panose="02070309020205020404" pitchFamily="49" charset="0"/>
              </a:rPr>
              <a:t>[ex: "sous réserve de la conformité des surfaces aux actes notariés, les mesures ayant été effectuées visuellement lors de la visite"]</a:t>
            </a:r>
          </a:p>
          <a:p>
            <a:r>
              <a:rPr lang="fr-FR" sz="1400" b="1" dirty="0">
                <a:latin typeface="Courier New" panose="02070309020205020404" pitchFamily="49" charset="0"/>
                <a:cs typeface="Courier New" panose="02070309020205020404" pitchFamily="49" charset="0"/>
              </a:rPr>
              <a:t>Réserve 3 : </a:t>
            </a:r>
            <a:r>
              <a:rPr lang="fr-FR" sz="1400" b="1" dirty="0">
                <a:solidFill>
                  <a:schemeClr val="accent4">
                    <a:lumMod val="75000"/>
                  </a:schemeClr>
                </a:solidFill>
                <a:latin typeface="Courier New" panose="02070309020205020404" pitchFamily="49" charset="0"/>
                <a:cs typeface="Courier New" panose="02070309020205020404" pitchFamily="49" charset="0"/>
              </a:rPr>
              <a:t>[ex: "en l'absence d'examen de la charpente, non accessible lors de la visite"]</a:t>
            </a:r>
          </a:p>
          <a:p>
            <a:r>
              <a:rPr lang="fr-FR" sz="1400" b="1" dirty="0">
                <a:solidFill>
                  <a:schemeClr val="accent4">
                    <a:lumMod val="75000"/>
                  </a:schemeClr>
                </a:solidFill>
                <a:latin typeface="Courier New" panose="02070309020205020404" pitchFamily="49" charset="0"/>
                <a:cs typeface="Courier New" panose="02070309020205020404" pitchFamily="49" charset="0"/>
              </a:rPr>
              <a:t>[etc.]</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FORMULE DE CERTIFICATION :</a:t>
            </a:r>
          </a:p>
          <a:p>
            <a:r>
              <a:rPr lang="fr-FR" sz="1400" b="1" dirty="0">
                <a:solidFill>
                  <a:schemeClr val="accent1">
                    <a:lumMod val="75000"/>
                  </a:schemeClr>
                </a:solidFill>
                <a:latin typeface="Courier New" panose="02070309020205020404" pitchFamily="49" charset="0"/>
                <a:cs typeface="Courier New" panose="02070309020205020404" pitchFamily="49" charset="0"/>
              </a:rPr>
              <a:t>"En foi de quoi, j'ai dressé le présent rapport que je certifie exact et sincère sous les réserves</a:t>
            </a:r>
          </a:p>
          <a:p>
            <a:r>
              <a:rPr lang="fr-FR" sz="1400" b="1" dirty="0">
                <a:solidFill>
                  <a:schemeClr val="accent1">
                    <a:lumMod val="75000"/>
                  </a:schemeClr>
                </a:solidFill>
                <a:latin typeface="Courier New" panose="02070309020205020404" pitchFamily="49" charset="0"/>
                <a:cs typeface="Courier New" panose="02070309020205020404" pitchFamily="49" charset="0"/>
              </a:rPr>
              <a:t>ci-dessus exprimées, conformément à la mission</a:t>
            </a:r>
          </a:p>
          <a:p>
            <a:r>
              <a:rPr lang="fr-FR" sz="1400" b="1" dirty="0">
                <a:solidFill>
                  <a:schemeClr val="accent1">
                    <a:lumMod val="75000"/>
                  </a:schemeClr>
                </a:solidFill>
                <a:latin typeface="Courier New" panose="02070309020205020404" pitchFamily="49" charset="0"/>
                <a:cs typeface="Courier New" panose="02070309020205020404" pitchFamily="49" charset="0"/>
              </a:rPr>
              <a:t>qui m'a été confiée."</a:t>
            </a:r>
          </a:p>
        </p:txBody>
      </p:sp>
      <p:sp>
        <p:nvSpPr>
          <p:cNvPr id="3" name="ZoneTexte 2">
            <a:extLst>
              <a:ext uri="{FF2B5EF4-FFF2-40B4-BE49-F238E27FC236}">
                <a16:creationId xmlns:a16="http://schemas.microsoft.com/office/drawing/2014/main" id="{A8554A32-686C-5F7C-9204-98AF0A732BA9}"/>
              </a:ext>
            </a:extLst>
          </p:cNvPr>
          <p:cNvSpPr txBox="1"/>
          <p:nvPr/>
        </p:nvSpPr>
        <p:spPr>
          <a:xfrm>
            <a:off x="242578" y="2020420"/>
            <a:ext cx="1488741" cy="369332"/>
          </a:xfrm>
          <a:prstGeom prst="rect">
            <a:avLst/>
          </a:prstGeom>
          <a:noFill/>
        </p:spPr>
        <p:txBody>
          <a:bodyPr wrap="none" rtlCol="0">
            <a:spAutoFit/>
          </a:bodyPr>
          <a:lstStyle/>
          <a:p>
            <a:r>
              <a:rPr lang="fr-FR" b="1" dirty="0">
                <a:solidFill>
                  <a:srgbClr val="FF0000"/>
                </a:solidFill>
              </a:rPr>
              <a:t>Avec réserves</a:t>
            </a:r>
            <a:endParaRPr lang="fr-FR" b="1" dirty="0"/>
          </a:p>
        </p:txBody>
      </p:sp>
      <p:sp>
        <p:nvSpPr>
          <p:cNvPr id="10" name="ZoneTexte 9">
            <a:extLst>
              <a:ext uri="{FF2B5EF4-FFF2-40B4-BE49-F238E27FC236}">
                <a16:creationId xmlns:a16="http://schemas.microsoft.com/office/drawing/2014/main" id="{3844807B-8FE2-61F9-2CC9-B8B3E3FDAD76}"/>
              </a:ext>
            </a:extLst>
          </p:cNvPr>
          <p:cNvSpPr txBox="1"/>
          <p:nvPr/>
        </p:nvSpPr>
        <p:spPr>
          <a:xfrm>
            <a:off x="242578" y="1472795"/>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4" name="ZoneTexte 13">
            <a:extLst>
              <a:ext uri="{FF2B5EF4-FFF2-40B4-BE49-F238E27FC236}">
                <a16:creationId xmlns:a16="http://schemas.microsoft.com/office/drawing/2014/main" id="{2E10D8F2-E0A1-177C-CA88-53B9A6E03882}"/>
              </a:ext>
            </a:extLst>
          </p:cNvPr>
          <p:cNvSpPr txBox="1"/>
          <p:nvPr/>
        </p:nvSpPr>
        <p:spPr>
          <a:xfrm>
            <a:off x="242578" y="1125211"/>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17" name="ZoneTexte 16">
            <a:extLst>
              <a:ext uri="{FF2B5EF4-FFF2-40B4-BE49-F238E27FC236}">
                <a16:creationId xmlns:a16="http://schemas.microsoft.com/office/drawing/2014/main" id="{B85D7116-E2DA-F5BC-74A9-50AB1C41B389}"/>
              </a:ext>
            </a:extLst>
          </p:cNvPr>
          <p:cNvSpPr txBox="1"/>
          <p:nvPr/>
        </p:nvSpPr>
        <p:spPr>
          <a:xfrm>
            <a:off x="3328218" y="6425619"/>
            <a:ext cx="8702566" cy="369332"/>
          </a:xfrm>
          <a:prstGeom prst="rect">
            <a:avLst/>
          </a:prstGeom>
          <a:solidFill>
            <a:schemeClr val="accent4">
              <a:lumMod val="20000"/>
              <a:lumOff val="80000"/>
            </a:schemeClr>
          </a:solidFill>
        </p:spPr>
        <p:txBody>
          <a:bodyPr wrap="square">
            <a:spAutoFit/>
          </a:bodyPr>
          <a:lstStyle/>
          <a:p>
            <a:r>
              <a:rPr lang="fr-FR" sz="1800" dirty="0">
                <a:solidFill>
                  <a:schemeClr val="tx1"/>
                </a:solidFill>
                <a:effectLst/>
                <a:latin typeface="+mn-lt"/>
                <a:ea typeface="Calibri" panose="020F0502020204030204" pitchFamily="34" charset="0"/>
              </a:rPr>
              <a:t>à supprimer systématiquement la formulation juridique dans les rapport</a:t>
            </a:r>
            <a:r>
              <a:rPr lang="fr-FR" dirty="0">
                <a:ea typeface="Calibri" panose="020F0502020204030204" pitchFamily="34" charset="0"/>
              </a:rPr>
              <a:t>s non judiciaires</a:t>
            </a:r>
            <a:endParaRPr lang="fr-FR" dirty="0"/>
          </a:p>
        </p:txBody>
      </p:sp>
    </p:spTree>
    <p:extLst>
      <p:ext uri="{BB962C8B-B14F-4D97-AF65-F5344CB8AC3E}">
        <p14:creationId xmlns:p14="http://schemas.microsoft.com/office/powerpoint/2010/main" val="27163813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4EC83-BD6B-01AA-9C6C-9D132AA51039}"/>
            </a:ext>
          </a:extLst>
        </p:cNvPr>
        <p:cNvGrpSpPr/>
        <p:nvPr/>
      </p:nvGrpSpPr>
      <p:grpSpPr>
        <a:xfrm>
          <a:off x="0" y="0"/>
          <a:ext cx="0" cy="0"/>
          <a:chOff x="0" y="0"/>
          <a:chExt cx="0" cy="0"/>
        </a:xfrm>
      </p:grpSpPr>
      <p:sp>
        <p:nvSpPr>
          <p:cNvPr id="4" name="Oval 2">
            <a:extLst>
              <a:ext uri="{FF2B5EF4-FFF2-40B4-BE49-F238E27FC236}">
                <a16:creationId xmlns:a16="http://schemas.microsoft.com/office/drawing/2014/main" id="{4099304F-8F1B-C338-E286-05F3A065E13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11">
            <a:extLst>
              <a:ext uri="{FF2B5EF4-FFF2-40B4-BE49-F238E27FC236}">
                <a16:creationId xmlns:a16="http://schemas.microsoft.com/office/drawing/2014/main" id="{B1978298-A515-E9E0-35DE-B867625B0A6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a:extLst>
              <a:ext uri="{FF2B5EF4-FFF2-40B4-BE49-F238E27FC236}">
                <a16:creationId xmlns:a16="http://schemas.microsoft.com/office/drawing/2014/main" id="{380ED6F7-1983-715C-B806-8CDB056ACB7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Freeform: Shape 3">
            <a:extLst>
              <a:ext uri="{FF2B5EF4-FFF2-40B4-BE49-F238E27FC236}">
                <a16:creationId xmlns:a16="http://schemas.microsoft.com/office/drawing/2014/main" id="{41071448-460C-4DF7-EA4E-365549DCCEC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
            <a:extLst>
              <a:ext uri="{FF2B5EF4-FFF2-40B4-BE49-F238E27FC236}">
                <a16:creationId xmlns:a16="http://schemas.microsoft.com/office/drawing/2014/main" id="{F494B5BD-0DFB-9510-E6BB-438CC212149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21" name="Rectangle: Rounded Corners 14">
            <a:extLst>
              <a:ext uri="{FF2B5EF4-FFF2-40B4-BE49-F238E27FC236}">
                <a16:creationId xmlns:a16="http://schemas.microsoft.com/office/drawing/2014/main" id="{522DA5B7-05B0-33E4-2F87-9DAF967FA13C}"/>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TextBox 1">
            <a:extLst>
              <a:ext uri="{FF2B5EF4-FFF2-40B4-BE49-F238E27FC236}">
                <a16:creationId xmlns:a16="http://schemas.microsoft.com/office/drawing/2014/main" id="{98DEAA3B-D067-BF97-9040-0D2EE0598978}"/>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8 – Conclusion et valeur vénale</a:t>
            </a:r>
          </a:p>
        </p:txBody>
      </p:sp>
      <p:sp>
        <p:nvSpPr>
          <p:cNvPr id="6" name="ZoneTexte 5">
            <a:extLst>
              <a:ext uri="{FF2B5EF4-FFF2-40B4-BE49-F238E27FC236}">
                <a16:creationId xmlns:a16="http://schemas.microsoft.com/office/drawing/2014/main" id="{44F20214-3B82-8F93-EA29-711C34B9F488}"/>
              </a:ext>
            </a:extLst>
          </p:cNvPr>
          <p:cNvSpPr txBox="1"/>
          <p:nvPr/>
        </p:nvSpPr>
        <p:spPr>
          <a:xfrm>
            <a:off x="294095" y="2327198"/>
            <a:ext cx="5592483" cy="3970318"/>
          </a:xfrm>
          <a:prstGeom prst="rect">
            <a:avLst/>
          </a:prstGeom>
          <a:noFill/>
        </p:spPr>
        <p:txBody>
          <a:bodyPr wrap="square" rtlCol="0">
            <a:spAutoFit/>
          </a:bodyPr>
          <a:lstStyle/>
          <a:p>
            <a:r>
              <a:rPr lang="fr-FR" sz="1400" dirty="0">
                <a:latin typeface="Courier New" panose="02070309020205020404" pitchFamily="49" charset="0"/>
                <a:cs typeface="Courier New" panose="02070309020205020404" pitchFamily="49" charset="0"/>
              </a:rPr>
              <a:t>Tu es expert immobilier agréé par la cour d'appel.</a:t>
            </a:r>
          </a:p>
          <a:p>
            <a:endParaRPr lang="fr-FR" sz="1400" dirty="0">
              <a:latin typeface="Courier New" panose="02070309020205020404" pitchFamily="49" charset="0"/>
              <a:cs typeface="Courier New" panose="02070309020205020404" pitchFamily="49" charset="0"/>
            </a:endParaRPr>
          </a:p>
          <a:p>
            <a:r>
              <a:rPr lang="fr-FR" sz="1400" dirty="0">
                <a:latin typeface="Courier New" panose="02070309020205020404" pitchFamily="49" charset="0"/>
                <a:cs typeface="Courier New" panose="02070309020205020404" pitchFamily="49" charset="0"/>
              </a:rPr>
              <a:t>Rédige la section "Conclusion — valeur vénale occupée«  d'un rapport d'expertise pour un bien sous bail.</a:t>
            </a:r>
          </a:p>
          <a:p>
            <a:r>
              <a:rPr lang="fr-FR" sz="1400" b="1" dirty="0">
                <a:highlight>
                  <a:srgbClr val="FFFF00"/>
                </a:highlight>
                <a:latin typeface="Courier New" panose="02070309020205020404" pitchFamily="49" charset="0"/>
                <a:cs typeface="Courier New" panose="02070309020205020404" pitchFamily="49" charset="0"/>
              </a:rPr>
              <a:t>Un seul paragraphe de 100 à 120 mots.</a:t>
            </a:r>
          </a:p>
          <a:p>
            <a:endParaRPr lang="fr-FR" sz="1400" b="1" dirty="0">
              <a:latin typeface="Courier New" panose="02070309020205020404" pitchFamily="49" charset="0"/>
              <a:cs typeface="Courier New" panose="02070309020205020404" pitchFamily="49" charset="0"/>
            </a:endParaRP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RÈGLES SPÉCIFIQUES VALEUR OCCUPÉE :</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Rappeler en une phrase les conditions d'occupation (type de bail, loyer mensuel, échéance)</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Mentionner la décote d'occupation appliquée et son motif</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Exprimer la valeur occupée en chiffres et en lettres</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Rappeler que la valeur libre aurait été de [X €]</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pour permettre comparaison</a:t>
            </a:r>
          </a:p>
          <a:p>
            <a:r>
              <a:rPr lang="fr-FR" sz="1400" b="1" dirty="0">
                <a:solidFill>
                  <a:schemeClr val="bg1"/>
                </a:solidFill>
                <a:highlight>
                  <a:srgbClr val="FF0000"/>
                </a:highlight>
                <a:latin typeface="Courier New" panose="02070309020205020404" pitchFamily="49" charset="0"/>
                <a:cs typeface="Courier New" panose="02070309020205020404" pitchFamily="49" charset="0"/>
              </a:rPr>
              <a:t>— Formule de certification adaptée</a:t>
            </a:r>
          </a:p>
        </p:txBody>
      </p:sp>
      <p:sp>
        <p:nvSpPr>
          <p:cNvPr id="15" name="ZoneTexte 14">
            <a:extLst>
              <a:ext uri="{FF2B5EF4-FFF2-40B4-BE49-F238E27FC236}">
                <a16:creationId xmlns:a16="http://schemas.microsoft.com/office/drawing/2014/main" id="{0AE373E0-123A-003F-5129-135C76425D5D}"/>
              </a:ext>
            </a:extLst>
          </p:cNvPr>
          <p:cNvSpPr txBox="1"/>
          <p:nvPr/>
        </p:nvSpPr>
        <p:spPr>
          <a:xfrm>
            <a:off x="6288495" y="2358289"/>
            <a:ext cx="5592483" cy="3108543"/>
          </a:xfrm>
          <a:prstGeom prst="rect">
            <a:avLst/>
          </a:prstGeom>
          <a:noFill/>
        </p:spPr>
        <p:txBody>
          <a:bodyPr wrap="square" rtlCol="0">
            <a:spAutoFit/>
          </a:bodyPr>
          <a:lstStyle/>
          <a:p>
            <a:r>
              <a:rPr lang="fr-FR" sz="1400" b="1" dirty="0">
                <a:latin typeface="Courier New" panose="02070309020205020404" pitchFamily="49" charset="0"/>
                <a:cs typeface="Courier New" panose="02070309020205020404" pitchFamily="49" charset="0"/>
              </a:rPr>
              <a:t>DONNÉES :</a:t>
            </a:r>
          </a:p>
          <a:p>
            <a:r>
              <a:rPr lang="fr-FR" sz="1400" b="1" dirty="0">
                <a:solidFill>
                  <a:srgbClr val="00B050"/>
                </a:solidFill>
                <a:latin typeface="Courier New" panose="02070309020205020404" pitchFamily="49" charset="0"/>
                <a:cs typeface="Courier New" panose="02070309020205020404" pitchFamily="49" charset="0"/>
              </a:rPr>
              <a:t>Valeur libre estimée : [X €]</a:t>
            </a:r>
          </a:p>
          <a:p>
            <a:r>
              <a:rPr lang="fr-FR" sz="1400" b="1" dirty="0">
                <a:solidFill>
                  <a:srgbClr val="00B050"/>
                </a:solidFill>
                <a:latin typeface="Courier New" panose="02070309020205020404" pitchFamily="49" charset="0"/>
                <a:cs typeface="Courier New" panose="02070309020205020404" pitchFamily="49" charset="0"/>
              </a:rPr>
              <a:t>Décote d'occupation retenue : [D%] — motif : [justification]</a:t>
            </a:r>
          </a:p>
          <a:p>
            <a:r>
              <a:rPr lang="fr-FR" sz="1400" b="1" dirty="0">
                <a:solidFill>
                  <a:srgbClr val="00B050"/>
                </a:solidFill>
                <a:latin typeface="Courier New" panose="02070309020205020404" pitchFamily="49" charset="0"/>
                <a:cs typeface="Courier New" panose="02070309020205020404" pitchFamily="49" charset="0"/>
              </a:rPr>
              <a:t>Valeur occupée arrêtée : [Y €]</a:t>
            </a:r>
          </a:p>
          <a:p>
            <a:r>
              <a:rPr lang="fr-FR" sz="1400" b="1" dirty="0">
                <a:solidFill>
                  <a:srgbClr val="00B050"/>
                </a:solidFill>
                <a:latin typeface="Courier New" panose="02070309020205020404" pitchFamily="49" charset="0"/>
                <a:cs typeface="Courier New" panose="02070309020205020404" pitchFamily="49" charset="0"/>
              </a:rPr>
              <a:t>Date de valeur : [date]</a:t>
            </a:r>
          </a:p>
          <a:p>
            <a:r>
              <a:rPr lang="fr-FR" sz="1400" b="1" dirty="0">
                <a:solidFill>
                  <a:srgbClr val="00B050"/>
                </a:solidFill>
                <a:latin typeface="Courier New" panose="02070309020205020404" pitchFamily="49" charset="0"/>
                <a:cs typeface="Courier New" panose="02070309020205020404" pitchFamily="49" charset="0"/>
              </a:rPr>
              <a:t>Conditions du bail : [type] — loyer [Z €/mois] — échéance [date]</a:t>
            </a:r>
          </a:p>
          <a:p>
            <a:r>
              <a:rPr lang="fr-FR" sz="1400" b="1" dirty="0">
                <a:solidFill>
                  <a:schemeClr val="accent4">
                    <a:lumMod val="75000"/>
                  </a:schemeClr>
                </a:solidFill>
                <a:latin typeface="Courier New" panose="02070309020205020404" pitchFamily="49" charset="0"/>
                <a:cs typeface="Courier New" panose="02070309020205020404" pitchFamily="49" charset="0"/>
              </a:rPr>
              <a:t>Réserves : [aucune / liste]</a:t>
            </a:r>
          </a:p>
          <a:p>
            <a:endParaRPr lang="fr-FR" sz="1400" dirty="0">
              <a:latin typeface="Courier New" panose="02070309020205020404" pitchFamily="49" charset="0"/>
              <a:cs typeface="Courier New" panose="02070309020205020404" pitchFamily="49" charset="0"/>
            </a:endParaRPr>
          </a:p>
          <a:p>
            <a:r>
              <a:rPr lang="fr-FR" sz="1400" b="1" dirty="0">
                <a:latin typeface="Courier New" panose="02070309020205020404" pitchFamily="49" charset="0"/>
                <a:cs typeface="Courier New" panose="02070309020205020404" pitchFamily="49" charset="0"/>
              </a:rPr>
              <a:t>FORMULE DE CERTIFICATION :</a:t>
            </a:r>
          </a:p>
          <a:p>
            <a:r>
              <a:rPr lang="fr-FR" sz="1400" b="1" dirty="0">
                <a:solidFill>
                  <a:schemeClr val="accent1">
                    <a:lumMod val="75000"/>
                  </a:schemeClr>
                </a:solidFill>
                <a:latin typeface="Courier New" panose="02070309020205020404" pitchFamily="49" charset="0"/>
                <a:cs typeface="Courier New" panose="02070309020205020404" pitchFamily="49" charset="0"/>
              </a:rPr>
              <a:t>"En foi de quoi, j'ai dressé le présent rapport que je certifie exact et sincère, conformément à la mission qui m'a été confiée. »</a:t>
            </a:r>
          </a:p>
        </p:txBody>
      </p:sp>
      <p:sp>
        <p:nvSpPr>
          <p:cNvPr id="8" name="ZoneTexte 7">
            <a:extLst>
              <a:ext uri="{FF2B5EF4-FFF2-40B4-BE49-F238E27FC236}">
                <a16:creationId xmlns:a16="http://schemas.microsoft.com/office/drawing/2014/main" id="{1E105E22-7B74-A937-DC22-305ABC69774E}"/>
              </a:ext>
            </a:extLst>
          </p:cNvPr>
          <p:cNvSpPr txBox="1"/>
          <p:nvPr/>
        </p:nvSpPr>
        <p:spPr>
          <a:xfrm>
            <a:off x="242578" y="2062457"/>
            <a:ext cx="1645066" cy="369332"/>
          </a:xfrm>
          <a:prstGeom prst="rect">
            <a:avLst/>
          </a:prstGeom>
          <a:noFill/>
        </p:spPr>
        <p:txBody>
          <a:bodyPr wrap="none" rtlCol="0">
            <a:spAutoFit/>
          </a:bodyPr>
          <a:lstStyle/>
          <a:p>
            <a:r>
              <a:rPr lang="fr-FR" b="1" dirty="0">
                <a:solidFill>
                  <a:srgbClr val="FF0000"/>
                </a:solidFill>
              </a:rPr>
              <a:t>Valeur occupée</a:t>
            </a:r>
            <a:endParaRPr lang="fr-FR" b="1" dirty="0"/>
          </a:p>
        </p:txBody>
      </p:sp>
      <p:sp>
        <p:nvSpPr>
          <p:cNvPr id="16" name="ZoneTexte 15">
            <a:extLst>
              <a:ext uri="{FF2B5EF4-FFF2-40B4-BE49-F238E27FC236}">
                <a16:creationId xmlns:a16="http://schemas.microsoft.com/office/drawing/2014/main" id="{CEF43F32-9458-3927-3A68-B341C945AE26}"/>
              </a:ext>
            </a:extLst>
          </p:cNvPr>
          <p:cNvSpPr txBox="1"/>
          <p:nvPr/>
        </p:nvSpPr>
        <p:spPr>
          <a:xfrm>
            <a:off x="242578" y="1472795"/>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8" name="ZoneTexte 17">
            <a:extLst>
              <a:ext uri="{FF2B5EF4-FFF2-40B4-BE49-F238E27FC236}">
                <a16:creationId xmlns:a16="http://schemas.microsoft.com/office/drawing/2014/main" id="{584BE49F-9CBC-5F2F-C0DB-33FEA37D65A0}"/>
              </a:ext>
            </a:extLst>
          </p:cNvPr>
          <p:cNvSpPr txBox="1"/>
          <p:nvPr/>
        </p:nvSpPr>
        <p:spPr>
          <a:xfrm>
            <a:off x="242578" y="1125211"/>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
        <p:nvSpPr>
          <p:cNvPr id="20" name="ZoneTexte 19">
            <a:extLst>
              <a:ext uri="{FF2B5EF4-FFF2-40B4-BE49-F238E27FC236}">
                <a16:creationId xmlns:a16="http://schemas.microsoft.com/office/drawing/2014/main" id="{1E9069DE-13F5-26D8-F42D-1DACC8A00353}"/>
              </a:ext>
            </a:extLst>
          </p:cNvPr>
          <p:cNvSpPr txBox="1"/>
          <p:nvPr/>
        </p:nvSpPr>
        <p:spPr>
          <a:xfrm>
            <a:off x="6305424" y="5732789"/>
            <a:ext cx="5361059" cy="646331"/>
          </a:xfrm>
          <a:prstGeom prst="rect">
            <a:avLst/>
          </a:prstGeom>
          <a:solidFill>
            <a:schemeClr val="accent4">
              <a:lumMod val="20000"/>
              <a:lumOff val="80000"/>
            </a:schemeClr>
          </a:solidFill>
        </p:spPr>
        <p:txBody>
          <a:bodyPr wrap="square">
            <a:spAutoFit/>
          </a:bodyPr>
          <a:lstStyle/>
          <a:p>
            <a:r>
              <a:rPr lang="fr-FR" sz="1800" dirty="0">
                <a:solidFill>
                  <a:schemeClr val="tx1"/>
                </a:solidFill>
                <a:effectLst/>
                <a:latin typeface="+mn-lt"/>
                <a:ea typeface="Calibri" panose="020F0502020204030204" pitchFamily="34" charset="0"/>
              </a:rPr>
              <a:t>à supprimer systématiquement la formulation juridique dans les rapport</a:t>
            </a:r>
            <a:r>
              <a:rPr lang="fr-FR" dirty="0">
                <a:ea typeface="Calibri" panose="020F0502020204030204" pitchFamily="34" charset="0"/>
              </a:rPr>
              <a:t>s non judiciaires</a:t>
            </a:r>
            <a:endParaRPr lang="fr-FR" dirty="0"/>
          </a:p>
        </p:txBody>
      </p:sp>
    </p:spTree>
    <p:extLst>
      <p:ext uri="{BB962C8B-B14F-4D97-AF65-F5344CB8AC3E}">
        <p14:creationId xmlns:p14="http://schemas.microsoft.com/office/powerpoint/2010/main" val="4929292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C9AA-9BFE-FC13-232D-BABFE24A31BD}"/>
            </a:ext>
          </a:extLst>
        </p:cNvPr>
        <p:cNvGrpSpPr/>
        <p:nvPr/>
      </p:nvGrpSpPr>
      <p:grpSpPr>
        <a:xfrm>
          <a:off x="0" y="0"/>
          <a:ext cx="0" cy="0"/>
          <a:chOff x="0" y="0"/>
          <a:chExt cx="0" cy="0"/>
        </a:xfrm>
      </p:grpSpPr>
      <p:sp>
        <p:nvSpPr>
          <p:cNvPr id="14" name="Freeform: Shape 3">
            <a:extLst>
              <a:ext uri="{FF2B5EF4-FFF2-40B4-BE49-F238E27FC236}">
                <a16:creationId xmlns:a16="http://schemas.microsoft.com/office/drawing/2014/main" id="{02B06D05-7631-6A33-DF28-572E9777A16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6199CA99-43E4-3350-AE84-F1F4B3429897}"/>
              </a:ext>
            </a:extLst>
          </p:cNvPr>
          <p:cNvSpPr txBox="1"/>
          <p:nvPr/>
        </p:nvSpPr>
        <p:spPr>
          <a:xfrm>
            <a:off x="369870" y="3227988"/>
            <a:ext cx="4952144" cy="1477328"/>
          </a:xfrm>
          <a:prstGeom prst="rect">
            <a:avLst/>
          </a:prstGeom>
          <a:noFill/>
        </p:spPr>
        <p:txBody>
          <a:bodyPr wrap="square" rtlCol="0">
            <a:spAutoFit/>
          </a:bodyPr>
          <a:lstStyle/>
          <a:p>
            <a:r>
              <a:rPr lang="fr-FR" dirty="0"/>
              <a:t>En appliquant le prompt "</a:t>
            </a:r>
            <a:r>
              <a:rPr lang="fr-FR" b="1" dirty="0">
                <a:solidFill>
                  <a:srgbClr val="FF0000"/>
                </a:solidFill>
              </a:rPr>
              <a:t>conclusion sans réserve</a:t>
            </a:r>
            <a:r>
              <a:rPr lang="fr-FR" dirty="0"/>
              <a:t>" </a:t>
            </a:r>
          </a:p>
          <a:p>
            <a:endParaRPr lang="fr-FR" dirty="0"/>
          </a:p>
          <a:p>
            <a:r>
              <a:rPr lang="fr-FR" dirty="0"/>
              <a:t>Appartement T4 Lyon 6e — valeur avant arrondi 521 700 €, arrondie à 520 000 €, valeur libre, date 15 octobre 2024</a:t>
            </a:r>
          </a:p>
        </p:txBody>
      </p:sp>
      <p:sp>
        <p:nvSpPr>
          <p:cNvPr id="7" name="ZoneTexte 6">
            <a:extLst>
              <a:ext uri="{FF2B5EF4-FFF2-40B4-BE49-F238E27FC236}">
                <a16:creationId xmlns:a16="http://schemas.microsoft.com/office/drawing/2014/main" id="{10463971-0884-212F-2C7A-E951F1AAFC91}"/>
              </a:ext>
            </a:extLst>
          </p:cNvPr>
          <p:cNvSpPr txBox="1"/>
          <p:nvPr/>
        </p:nvSpPr>
        <p:spPr>
          <a:xfrm>
            <a:off x="5989833" y="1997838"/>
            <a:ext cx="5832297" cy="2862322"/>
          </a:xfrm>
          <a:prstGeom prst="rect">
            <a:avLst/>
          </a:prstGeom>
          <a:solidFill>
            <a:schemeClr val="accent6">
              <a:lumMod val="20000"/>
              <a:lumOff val="80000"/>
            </a:schemeClr>
          </a:solidFill>
        </p:spPr>
        <p:txBody>
          <a:bodyPr wrap="square" rtlCol="0">
            <a:spAutoFit/>
          </a:bodyPr>
          <a:lstStyle/>
          <a:p>
            <a:r>
              <a:rPr lang="fr-FR" b="1" dirty="0"/>
              <a:t>Conclusion — valeur vénale</a:t>
            </a:r>
          </a:p>
          <a:p>
            <a:endParaRPr lang="fr-FR" dirty="0"/>
          </a:p>
          <a:p>
            <a:r>
              <a:rPr lang="fr-FR" i="1" dirty="0"/>
              <a:t>Au regard des éléments développés dans le présent rapport et des données de marché collectées sur le secteur du 6e arrondissement de Lyon, j'estime la valeur vénale </a:t>
            </a:r>
            <a:r>
              <a:rPr lang="fr-FR" b="1" i="1" dirty="0">
                <a:solidFill>
                  <a:schemeClr val="accent4">
                    <a:lumMod val="75000"/>
                  </a:schemeClr>
                </a:solidFill>
              </a:rPr>
              <a:t>libre</a:t>
            </a:r>
            <a:r>
              <a:rPr lang="fr-FR" i="1" dirty="0"/>
              <a:t> du bien expertisé, à la date du </a:t>
            </a:r>
            <a:r>
              <a:rPr lang="fr-FR" b="1" i="1" dirty="0">
                <a:solidFill>
                  <a:schemeClr val="accent4">
                    <a:lumMod val="75000"/>
                  </a:schemeClr>
                </a:solidFill>
              </a:rPr>
              <a:t>15 octobre 2024</a:t>
            </a:r>
            <a:r>
              <a:rPr lang="fr-FR" i="1" dirty="0"/>
              <a:t>, à la somme de 520 000 € (</a:t>
            </a:r>
            <a:r>
              <a:rPr lang="fr-FR" b="1" i="1" dirty="0">
                <a:solidFill>
                  <a:schemeClr val="accent4">
                    <a:lumMod val="75000"/>
                  </a:schemeClr>
                </a:solidFill>
              </a:rPr>
              <a:t>cinq cent vingt mille euros</a:t>
            </a:r>
            <a:r>
              <a:rPr lang="fr-FR" i="1" dirty="0"/>
              <a:t>). </a:t>
            </a:r>
            <a:r>
              <a:rPr lang="fr-FR" i="1" dirty="0">
                <a:solidFill>
                  <a:schemeClr val="accent1">
                    <a:lumMod val="75000"/>
                  </a:schemeClr>
                </a:solidFill>
              </a:rPr>
              <a:t>En foi de quoi, j'ai dressé le présent rapport que je certifie exact et sincère, conformément à la mission qui m'a été confiée par ordonnance du Tribunal judiciaire de Lyon.</a:t>
            </a:r>
          </a:p>
        </p:txBody>
      </p:sp>
      <p:sp>
        <p:nvSpPr>
          <p:cNvPr id="8" name="ZoneTexte 7">
            <a:extLst>
              <a:ext uri="{FF2B5EF4-FFF2-40B4-BE49-F238E27FC236}">
                <a16:creationId xmlns:a16="http://schemas.microsoft.com/office/drawing/2014/main" id="{1E6125E9-22C5-7349-95C1-E250C4F46926}"/>
              </a:ext>
            </a:extLst>
          </p:cNvPr>
          <p:cNvSpPr txBox="1"/>
          <p:nvPr/>
        </p:nvSpPr>
        <p:spPr>
          <a:xfrm>
            <a:off x="2162824" y="5652461"/>
            <a:ext cx="7654018" cy="369332"/>
          </a:xfrm>
          <a:prstGeom prst="rect">
            <a:avLst/>
          </a:prstGeom>
          <a:noFill/>
        </p:spPr>
        <p:txBody>
          <a:bodyPr wrap="none" rtlCol="0">
            <a:spAutoFit/>
          </a:bodyPr>
          <a:lstStyle/>
          <a:p>
            <a:r>
              <a:rPr lang="fr-FR" b="1" dirty="0"/>
              <a:t>Décompte : 78 mots. Un seul paragraphe. Cinq éléments obligatoires présents.</a:t>
            </a:r>
            <a:endParaRPr lang="fr-FR" dirty="0"/>
          </a:p>
        </p:txBody>
      </p:sp>
      <p:sp>
        <p:nvSpPr>
          <p:cNvPr id="12" name="TextBox 1">
            <a:extLst>
              <a:ext uri="{FF2B5EF4-FFF2-40B4-BE49-F238E27FC236}">
                <a16:creationId xmlns:a16="http://schemas.microsoft.com/office/drawing/2014/main" id="{F34F594E-D74B-0703-D53B-D629439E8630}"/>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6" name="TextBox 1">
            <a:extLst>
              <a:ext uri="{FF2B5EF4-FFF2-40B4-BE49-F238E27FC236}">
                <a16:creationId xmlns:a16="http://schemas.microsoft.com/office/drawing/2014/main" id="{408A0D55-A45C-9165-F0AA-DDED8045008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18" name="Rectangle: Rounded Corners 14">
            <a:extLst>
              <a:ext uri="{FF2B5EF4-FFF2-40B4-BE49-F238E27FC236}">
                <a16:creationId xmlns:a16="http://schemas.microsoft.com/office/drawing/2014/main" id="{499E0C0E-434A-14B9-16BC-7EC3F418AEAD}"/>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TextBox 1">
            <a:extLst>
              <a:ext uri="{FF2B5EF4-FFF2-40B4-BE49-F238E27FC236}">
                <a16:creationId xmlns:a16="http://schemas.microsoft.com/office/drawing/2014/main" id="{00A55387-9DD7-936A-18F1-D039594E2AB1}"/>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8 – Conclusion et valeur vénale</a:t>
            </a:r>
          </a:p>
        </p:txBody>
      </p:sp>
      <p:sp>
        <p:nvSpPr>
          <p:cNvPr id="24" name="ZoneTexte 23">
            <a:extLst>
              <a:ext uri="{FF2B5EF4-FFF2-40B4-BE49-F238E27FC236}">
                <a16:creationId xmlns:a16="http://schemas.microsoft.com/office/drawing/2014/main" id="{ABD40814-BE8A-FE2D-B5E3-35732AA48342}"/>
              </a:ext>
            </a:extLst>
          </p:cNvPr>
          <p:cNvSpPr txBox="1"/>
          <p:nvPr/>
        </p:nvSpPr>
        <p:spPr>
          <a:xfrm>
            <a:off x="242578" y="1472795"/>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25" name="ZoneTexte 24">
            <a:extLst>
              <a:ext uri="{FF2B5EF4-FFF2-40B4-BE49-F238E27FC236}">
                <a16:creationId xmlns:a16="http://schemas.microsoft.com/office/drawing/2014/main" id="{D8EC9755-F154-C147-2224-F5B3F46D09C0}"/>
              </a:ext>
            </a:extLst>
          </p:cNvPr>
          <p:cNvSpPr txBox="1"/>
          <p:nvPr/>
        </p:nvSpPr>
        <p:spPr>
          <a:xfrm>
            <a:off x="369870" y="2467626"/>
            <a:ext cx="5063950" cy="369332"/>
          </a:xfrm>
          <a:prstGeom prst="rect">
            <a:avLst/>
          </a:prstGeom>
          <a:noFill/>
        </p:spPr>
        <p:txBody>
          <a:bodyPr wrap="none" rtlCol="0">
            <a:spAutoFit/>
          </a:bodyPr>
          <a:lstStyle/>
          <a:p>
            <a:r>
              <a:rPr lang="fr-FR" b="1" dirty="0"/>
              <a:t>Ce que produit le prompt — exemple : dossier Lyon</a:t>
            </a:r>
          </a:p>
        </p:txBody>
      </p:sp>
      <p:sp>
        <p:nvSpPr>
          <p:cNvPr id="27" name="ZoneTexte 26">
            <a:extLst>
              <a:ext uri="{FF2B5EF4-FFF2-40B4-BE49-F238E27FC236}">
                <a16:creationId xmlns:a16="http://schemas.microsoft.com/office/drawing/2014/main" id="{29E8B403-69E5-7F1D-AA61-2E5F651A20A7}"/>
              </a:ext>
            </a:extLst>
          </p:cNvPr>
          <p:cNvSpPr txBox="1"/>
          <p:nvPr/>
        </p:nvSpPr>
        <p:spPr>
          <a:xfrm>
            <a:off x="242578" y="1125211"/>
            <a:ext cx="767972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Tree>
    <p:extLst>
      <p:ext uri="{BB962C8B-B14F-4D97-AF65-F5344CB8AC3E}">
        <p14:creationId xmlns:p14="http://schemas.microsoft.com/office/powerpoint/2010/main" val="42670470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1486-6B09-9008-AAD4-FB43FEE8D5D6}"/>
            </a:ext>
          </a:extLst>
        </p:cNvPr>
        <p:cNvGrpSpPr/>
        <p:nvPr/>
      </p:nvGrpSpPr>
      <p:grpSpPr>
        <a:xfrm>
          <a:off x="0" y="0"/>
          <a:ext cx="0" cy="0"/>
          <a:chOff x="0" y="0"/>
          <a:chExt cx="0" cy="0"/>
        </a:xfrm>
      </p:grpSpPr>
      <p:sp>
        <p:nvSpPr>
          <p:cNvPr id="17" name="Freeform: Shape 3">
            <a:extLst>
              <a:ext uri="{FF2B5EF4-FFF2-40B4-BE49-F238E27FC236}">
                <a16:creationId xmlns:a16="http://schemas.microsoft.com/office/drawing/2014/main" id="{21365C13-186A-9040-2EB7-DF9627AB5CD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aphicFrame>
        <p:nvGraphicFramePr>
          <p:cNvPr id="3" name="Tableau 2">
            <a:extLst>
              <a:ext uri="{FF2B5EF4-FFF2-40B4-BE49-F238E27FC236}">
                <a16:creationId xmlns:a16="http://schemas.microsoft.com/office/drawing/2014/main" id="{F8582A52-430F-806A-443A-0DFA04574D85}"/>
              </a:ext>
            </a:extLst>
          </p:cNvPr>
          <p:cNvGraphicFramePr>
            <a:graphicFrameLocks noGrp="1"/>
          </p:cNvGraphicFramePr>
          <p:nvPr>
            <p:extLst>
              <p:ext uri="{D42A27DB-BD31-4B8C-83A1-F6EECF244321}">
                <p14:modId xmlns:p14="http://schemas.microsoft.com/office/powerpoint/2010/main" val="310676037"/>
              </p:ext>
            </p:extLst>
          </p:nvPr>
        </p:nvGraphicFramePr>
        <p:xfrm>
          <a:off x="944929" y="3429000"/>
          <a:ext cx="10515600" cy="256032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1428200356"/>
                    </a:ext>
                  </a:extLst>
                </a:gridCol>
                <a:gridCol w="3505200">
                  <a:extLst>
                    <a:ext uri="{9D8B030D-6E8A-4147-A177-3AD203B41FA5}">
                      <a16:colId xmlns:a16="http://schemas.microsoft.com/office/drawing/2014/main" val="3471261983"/>
                    </a:ext>
                  </a:extLst>
                </a:gridCol>
                <a:gridCol w="3505200">
                  <a:extLst>
                    <a:ext uri="{9D8B030D-6E8A-4147-A177-3AD203B41FA5}">
                      <a16:colId xmlns:a16="http://schemas.microsoft.com/office/drawing/2014/main" val="1194935602"/>
                    </a:ext>
                  </a:extLst>
                </a:gridCol>
              </a:tblGrid>
              <a:tr h="0">
                <a:tc>
                  <a:txBody>
                    <a:bodyPr/>
                    <a:lstStyle/>
                    <a:p>
                      <a:pPr>
                        <a:buNone/>
                      </a:pPr>
                      <a:r>
                        <a:rPr lang="fr-FR" dirty="0"/>
                        <a:t>Élément</a:t>
                      </a:r>
                    </a:p>
                  </a:txBody>
                  <a:tcPr anchor="ctr"/>
                </a:tc>
                <a:tc>
                  <a:txBody>
                    <a:bodyPr/>
                    <a:lstStyle/>
                    <a:p>
                      <a:pPr>
                        <a:buNone/>
                      </a:pPr>
                      <a:r>
                        <a:rPr lang="fr-FR"/>
                        <a:t>Judiciaire</a:t>
                      </a:r>
                    </a:p>
                  </a:txBody>
                  <a:tcPr anchor="ctr"/>
                </a:tc>
                <a:tc>
                  <a:txBody>
                    <a:bodyPr/>
                    <a:lstStyle/>
                    <a:p>
                      <a:pPr>
                        <a:buNone/>
                      </a:pPr>
                      <a:r>
                        <a:rPr lang="fr-FR"/>
                        <a:t>Amiable</a:t>
                      </a:r>
                    </a:p>
                  </a:txBody>
                  <a:tcPr anchor="ctr"/>
                </a:tc>
                <a:extLst>
                  <a:ext uri="{0D108BD9-81ED-4DB2-BD59-A6C34878D82A}">
                    <a16:rowId xmlns:a16="http://schemas.microsoft.com/office/drawing/2014/main" val="3715625867"/>
                  </a:ext>
                </a:extLst>
              </a:tr>
              <a:tr h="0">
                <a:tc>
                  <a:txBody>
                    <a:bodyPr/>
                    <a:lstStyle/>
                    <a:p>
                      <a:pPr>
                        <a:buNone/>
                      </a:pPr>
                      <a:r>
                        <a:rPr lang="fr-FR"/>
                        <a:t>Prompt d'init</a:t>
                      </a:r>
                    </a:p>
                  </a:txBody>
                  <a:tcPr anchor="ctr"/>
                </a:tc>
                <a:tc>
                  <a:txBody>
                    <a:bodyPr/>
                    <a:lstStyle/>
                    <a:p>
                      <a:pPr>
                        <a:buNone/>
                      </a:pPr>
                      <a:r>
                        <a:rPr lang="fr-FR" dirty="0"/>
                        <a:t>"Expert agréé cour d'appel"</a:t>
                      </a:r>
                    </a:p>
                  </a:txBody>
                  <a:tcPr anchor="ctr"/>
                </a:tc>
                <a:tc>
                  <a:txBody>
                    <a:bodyPr/>
                    <a:lstStyle/>
                    <a:p>
                      <a:pPr>
                        <a:buNone/>
                      </a:pPr>
                      <a:r>
                        <a:rPr lang="fr-FR" dirty="0"/>
                        <a:t>"Expert immobilier"</a:t>
                      </a:r>
                    </a:p>
                  </a:txBody>
                  <a:tcPr anchor="ctr"/>
                </a:tc>
                <a:extLst>
                  <a:ext uri="{0D108BD9-81ED-4DB2-BD59-A6C34878D82A}">
                    <a16:rowId xmlns:a16="http://schemas.microsoft.com/office/drawing/2014/main" val="961253047"/>
                  </a:ext>
                </a:extLst>
              </a:tr>
              <a:tr h="0">
                <a:tc>
                  <a:txBody>
                    <a:bodyPr/>
                    <a:lstStyle/>
                    <a:p>
                      <a:pPr>
                        <a:buNone/>
                      </a:pPr>
                      <a:r>
                        <a:rPr lang="fr-FR"/>
                        <a:t>Section 1</a:t>
                      </a:r>
                    </a:p>
                  </a:txBody>
                  <a:tcPr anchor="ctr"/>
                </a:tc>
                <a:tc>
                  <a:txBody>
                    <a:bodyPr/>
                    <a:lstStyle/>
                    <a:p>
                      <a:pPr>
                        <a:buNone/>
                      </a:pPr>
                      <a:r>
                        <a:rPr lang="fr-FR" dirty="0"/>
                        <a:t>Mission + ordonnance</a:t>
                      </a:r>
                    </a:p>
                  </a:txBody>
                  <a:tcPr anchor="ctr"/>
                </a:tc>
                <a:tc>
                  <a:txBody>
                    <a:bodyPr/>
                    <a:lstStyle/>
                    <a:p>
                      <a:pPr>
                        <a:buNone/>
                      </a:pPr>
                      <a:r>
                        <a:rPr lang="fr-FR" dirty="0"/>
                        <a:t>Cadre + lettre de mission</a:t>
                      </a:r>
                    </a:p>
                  </a:txBody>
                  <a:tcPr anchor="ctr"/>
                </a:tc>
                <a:extLst>
                  <a:ext uri="{0D108BD9-81ED-4DB2-BD59-A6C34878D82A}">
                    <a16:rowId xmlns:a16="http://schemas.microsoft.com/office/drawing/2014/main" val="504480617"/>
                  </a:ext>
                </a:extLst>
              </a:tr>
              <a:tr h="0">
                <a:tc>
                  <a:txBody>
                    <a:bodyPr/>
                    <a:lstStyle/>
                    <a:p>
                      <a:pPr>
                        <a:buNone/>
                      </a:pPr>
                      <a:r>
                        <a:rPr lang="fr-FR" dirty="0"/>
                        <a:t>Sections 2 à 6</a:t>
                      </a:r>
                    </a:p>
                  </a:txBody>
                  <a:tcPr anchor="ctr"/>
                </a:tc>
                <a:tc>
                  <a:txBody>
                    <a:bodyPr/>
                    <a:lstStyle/>
                    <a:p>
                      <a:pPr>
                        <a:buNone/>
                      </a:pPr>
                      <a:r>
                        <a:rPr lang="fr-FR" dirty="0"/>
                        <a:t>Identiques</a:t>
                      </a:r>
                    </a:p>
                  </a:txBody>
                  <a:tcPr anchor="ctr"/>
                </a:tc>
                <a:tc>
                  <a:txBody>
                    <a:bodyPr/>
                    <a:lstStyle/>
                    <a:p>
                      <a:pPr>
                        <a:buNone/>
                      </a:pPr>
                      <a:r>
                        <a:rPr lang="fr-FR"/>
                        <a:t>Identiques</a:t>
                      </a:r>
                    </a:p>
                  </a:txBody>
                  <a:tcPr anchor="ctr"/>
                </a:tc>
                <a:extLst>
                  <a:ext uri="{0D108BD9-81ED-4DB2-BD59-A6C34878D82A}">
                    <a16:rowId xmlns:a16="http://schemas.microsoft.com/office/drawing/2014/main" val="181391027"/>
                  </a:ext>
                </a:extLst>
              </a:tr>
              <a:tr h="0">
                <a:tc>
                  <a:txBody>
                    <a:bodyPr/>
                    <a:lstStyle/>
                    <a:p>
                      <a:pPr>
                        <a:buNone/>
                      </a:pPr>
                      <a:r>
                        <a:rPr lang="fr-FR"/>
                        <a:t>Section 7</a:t>
                      </a:r>
                    </a:p>
                  </a:txBody>
                  <a:tcPr anchor="ctr"/>
                </a:tc>
                <a:tc>
                  <a:txBody>
                    <a:bodyPr/>
                    <a:lstStyle/>
                    <a:p>
                      <a:pPr>
                        <a:buNone/>
                      </a:pPr>
                      <a:r>
                        <a:rPr lang="fr-FR" dirty="0"/>
                        <a:t>Méthodes + formalisme judiciaire</a:t>
                      </a:r>
                    </a:p>
                  </a:txBody>
                  <a:tcPr anchor="ctr"/>
                </a:tc>
                <a:tc>
                  <a:txBody>
                    <a:bodyPr/>
                    <a:lstStyle/>
                    <a:p>
                      <a:pPr>
                        <a:buNone/>
                      </a:pPr>
                      <a:r>
                        <a:rPr lang="fr-FR" dirty="0"/>
                        <a:t>Méthodes + ton direct</a:t>
                      </a:r>
                    </a:p>
                  </a:txBody>
                  <a:tcPr anchor="ctr"/>
                </a:tc>
                <a:extLst>
                  <a:ext uri="{0D108BD9-81ED-4DB2-BD59-A6C34878D82A}">
                    <a16:rowId xmlns:a16="http://schemas.microsoft.com/office/drawing/2014/main" val="431106292"/>
                  </a:ext>
                </a:extLst>
              </a:tr>
              <a:tr h="0">
                <a:tc>
                  <a:txBody>
                    <a:bodyPr/>
                    <a:lstStyle/>
                    <a:p>
                      <a:pPr>
                        <a:buNone/>
                      </a:pPr>
                      <a:r>
                        <a:rPr lang="fr-FR"/>
                        <a:t>Section 8</a:t>
                      </a:r>
                    </a:p>
                  </a:txBody>
                  <a:tcPr anchor="ctr"/>
                </a:tc>
                <a:tc>
                  <a:txBody>
                    <a:bodyPr/>
                    <a:lstStyle/>
                    <a:p>
                      <a:pPr>
                        <a:buNone/>
                      </a:pPr>
                      <a:r>
                        <a:rPr lang="fr-FR"/>
                        <a:t>Valeur + formule certification</a:t>
                      </a:r>
                    </a:p>
                  </a:txBody>
                  <a:tcPr anchor="ctr"/>
                </a:tc>
                <a:tc>
                  <a:txBody>
                    <a:bodyPr/>
                    <a:lstStyle/>
                    <a:p>
                      <a:pPr>
                        <a:buNone/>
                      </a:pPr>
                      <a:r>
                        <a:rPr lang="fr-FR" dirty="0"/>
                        <a:t>Avis de valeur sobre</a:t>
                      </a:r>
                    </a:p>
                  </a:txBody>
                  <a:tcPr anchor="ctr"/>
                </a:tc>
                <a:extLst>
                  <a:ext uri="{0D108BD9-81ED-4DB2-BD59-A6C34878D82A}">
                    <a16:rowId xmlns:a16="http://schemas.microsoft.com/office/drawing/2014/main" val="3533288469"/>
                  </a:ext>
                </a:extLst>
              </a:tr>
              <a:tr h="0">
                <a:tc>
                  <a:txBody>
                    <a:bodyPr/>
                    <a:lstStyle/>
                    <a:p>
                      <a:pPr>
                        <a:buNone/>
                      </a:pPr>
                      <a:r>
                        <a:rPr lang="fr-FR"/>
                        <a:t>Relecture ton</a:t>
                      </a:r>
                    </a:p>
                  </a:txBody>
                  <a:tcPr anchor="ctr"/>
                </a:tc>
                <a:tc>
                  <a:txBody>
                    <a:bodyPr/>
                    <a:lstStyle/>
                    <a:p>
                      <a:pPr>
                        <a:buNone/>
                      </a:pPr>
                      <a:r>
                        <a:rPr lang="fr-FR" dirty="0"/>
                        <a:t>Registre judiciaire vérifié</a:t>
                      </a:r>
                    </a:p>
                  </a:txBody>
                  <a:tcPr anchor="ctr"/>
                </a:tc>
                <a:tc>
                  <a:txBody>
                    <a:bodyPr/>
                    <a:lstStyle/>
                    <a:p>
                      <a:pPr>
                        <a:buNone/>
                      </a:pPr>
                      <a:r>
                        <a:rPr lang="fr-FR" dirty="0"/>
                        <a:t>Glissements judiciaires traqués</a:t>
                      </a:r>
                    </a:p>
                  </a:txBody>
                  <a:tcPr anchor="ctr"/>
                </a:tc>
                <a:extLst>
                  <a:ext uri="{0D108BD9-81ED-4DB2-BD59-A6C34878D82A}">
                    <a16:rowId xmlns:a16="http://schemas.microsoft.com/office/drawing/2014/main" val="2986811945"/>
                  </a:ext>
                </a:extLst>
              </a:tr>
            </a:tbl>
          </a:graphicData>
        </a:graphic>
      </p:graphicFrame>
      <p:sp>
        <p:nvSpPr>
          <p:cNvPr id="5" name="ZoneTexte 4">
            <a:extLst>
              <a:ext uri="{FF2B5EF4-FFF2-40B4-BE49-F238E27FC236}">
                <a16:creationId xmlns:a16="http://schemas.microsoft.com/office/drawing/2014/main" id="{BF39A7C3-5F79-BAB7-B0C1-DF97820CFF84}"/>
              </a:ext>
            </a:extLst>
          </p:cNvPr>
          <p:cNvSpPr txBox="1"/>
          <p:nvPr/>
        </p:nvSpPr>
        <p:spPr>
          <a:xfrm>
            <a:off x="2704281" y="2449744"/>
            <a:ext cx="6996895" cy="369332"/>
          </a:xfrm>
          <a:prstGeom prst="rect">
            <a:avLst/>
          </a:prstGeom>
          <a:noFill/>
        </p:spPr>
        <p:txBody>
          <a:bodyPr wrap="square">
            <a:spAutoFit/>
          </a:bodyPr>
          <a:lstStyle/>
          <a:p>
            <a:pPr algn="ctr" rtl="0">
              <a:buNone/>
            </a:pPr>
            <a:r>
              <a:rPr lang="fr-FR" b="1" dirty="0"/>
              <a:t>Tableau comparatif final — Module 4 comparer judiciaire vs amiable</a:t>
            </a:r>
          </a:p>
        </p:txBody>
      </p:sp>
      <p:sp>
        <p:nvSpPr>
          <p:cNvPr id="4" name="TextBox 1">
            <a:extLst>
              <a:ext uri="{FF2B5EF4-FFF2-40B4-BE49-F238E27FC236}">
                <a16:creationId xmlns:a16="http://schemas.microsoft.com/office/drawing/2014/main" id="{6086FA7A-5478-144A-D45E-1B5AAAA530B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7" name="TextBox 1">
            <a:extLst>
              <a:ext uri="{FF2B5EF4-FFF2-40B4-BE49-F238E27FC236}">
                <a16:creationId xmlns:a16="http://schemas.microsoft.com/office/drawing/2014/main" id="{CEC45D1C-D438-B515-5B1B-BE3CB4D93982}"/>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3</a:t>
            </a:r>
            <a:endParaRPr lang="en-US" sz="2000" b="1" dirty="0">
              <a:solidFill>
                <a:schemeClr val="accent2"/>
              </a:solidFill>
              <a:latin typeface="Space Grotesk Medium"/>
              <a:sym typeface="Manrope"/>
            </a:endParaRPr>
          </a:p>
        </p:txBody>
      </p:sp>
      <p:sp>
        <p:nvSpPr>
          <p:cNvPr id="9" name="Rectangle: Rounded Corners 14">
            <a:extLst>
              <a:ext uri="{FF2B5EF4-FFF2-40B4-BE49-F238E27FC236}">
                <a16:creationId xmlns:a16="http://schemas.microsoft.com/office/drawing/2014/main" id="{7CF28B3A-3B47-3769-A9AD-F2A51BCDE17B}"/>
              </a:ext>
            </a:extLst>
          </p:cNvPr>
          <p:cNvSpPr/>
          <p:nvPr/>
        </p:nvSpPr>
        <p:spPr>
          <a:xfrm>
            <a:off x="3648195" y="4323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TextBox 1">
            <a:extLst>
              <a:ext uri="{FF2B5EF4-FFF2-40B4-BE49-F238E27FC236}">
                <a16:creationId xmlns:a16="http://schemas.microsoft.com/office/drawing/2014/main" id="{6FC4F45E-08A6-5B87-0679-73549B42F2AA}"/>
              </a:ext>
            </a:extLst>
          </p:cNvPr>
          <p:cNvSpPr txBox="1"/>
          <p:nvPr/>
        </p:nvSpPr>
        <p:spPr>
          <a:xfrm>
            <a:off x="3648195" y="455202"/>
            <a:ext cx="7641391" cy="1077218"/>
          </a:xfrm>
          <a:prstGeom prst="rect">
            <a:avLst/>
          </a:prstGeom>
          <a:noFill/>
        </p:spPr>
        <p:txBody>
          <a:bodyPr wrap="square" rtlCol="0">
            <a:spAutoFit/>
          </a:bodyPr>
          <a:lstStyle/>
          <a:p>
            <a:pPr algn="ctr"/>
            <a:r>
              <a:rPr lang="fr-FR" sz="4400" dirty="0"/>
              <a:t>Les prompts section par section</a:t>
            </a:r>
          </a:p>
          <a:p>
            <a:pPr algn="ctr"/>
            <a:r>
              <a:rPr lang="fr-FR" sz="2000" b="1" dirty="0">
                <a:solidFill>
                  <a:schemeClr val="tx2">
                    <a:alpha val="60000"/>
                  </a:schemeClr>
                </a:solidFill>
                <a:latin typeface="Figtree" pitchFamily="2" charset="0"/>
              </a:rPr>
              <a:t>Synthèse</a:t>
            </a:r>
          </a:p>
        </p:txBody>
      </p:sp>
      <p:sp>
        <p:nvSpPr>
          <p:cNvPr id="13" name="ZoneTexte 12">
            <a:extLst>
              <a:ext uri="{FF2B5EF4-FFF2-40B4-BE49-F238E27FC236}">
                <a16:creationId xmlns:a16="http://schemas.microsoft.com/office/drawing/2014/main" id="{DD0D3112-5525-64DD-0D6A-AF3D83DC2B76}"/>
              </a:ext>
            </a:extLst>
          </p:cNvPr>
          <p:cNvSpPr txBox="1"/>
          <p:nvPr/>
        </p:nvSpPr>
        <p:spPr>
          <a:xfrm>
            <a:off x="242578" y="1472795"/>
            <a:ext cx="3272450" cy="523220"/>
          </a:xfrm>
          <a:prstGeom prst="rect">
            <a:avLst/>
          </a:prstGeom>
          <a:noFill/>
        </p:spPr>
        <p:txBody>
          <a:bodyPr wrap="square">
            <a:spAutoFit/>
          </a:bodyPr>
          <a:lstStyle/>
          <a:p>
            <a:r>
              <a:rPr lang="fr-FR" sz="2800" b="1" dirty="0">
                <a:solidFill>
                  <a:srgbClr val="FF0000"/>
                </a:solidFill>
                <a:latin typeface="Figtree"/>
              </a:rPr>
              <a:t>expertise judiciaire </a:t>
            </a:r>
            <a:endParaRPr lang="fr-FR" dirty="0">
              <a:solidFill>
                <a:srgbClr val="FF0000"/>
              </a:solidFill>
            </a:endParaRPr>
          </a:p>
        </p:txBody>
      </p:sp>
      <p:sp>
        <p:nvSpPr>
          <p:cNvPr id="15" name="ZoneTexte 14">
            <a:extLst>
              <a:ext uri="{FF2B5EF4-FFF2-40B4-BE49-F238E27FC236}">
                <a16:creationId xmlns:a16="http://schemas.microsoft.com/office/drawing/2014/main" id="{ED6EE935-2B96-0B84-399C-190E09AD70C4}"/>
              </a:ext>
            </a:extLst>
          </p:cNvPr>
          <p:cNvSpPr txBox="1"/>
          <p:nvPr/>
        </p:nvSpPr>
        <p:spPr>
          <a:xfrm>
            <a:off x="242578" y="1125211"/>
            <a:ext cx="3517764" cy="523220"/>
          </a:xfrm>
          <a:prstGeom prst="rect">
            <a:avLst/>
          </a:prstGeom>
          <a:noFill/>
        </p:spPr>
        <p:txBody>
          <a:bodyPr wrap="square">
            <a:spAutoFit/>
          </a:bodyPr>
          <a:lstStyle/>
          <a:p>
            <a:r>
              <a:rPr lang="fr-FR" sz="2800" b="1" dirty="0">
                <a:solidFill>
                  <a:srgbClr val="00B050"/>
                </a:solidFill>
                <a:latin typeface="Figtree"/>
              </a:rPr>
              <a:t>expertise amiable </a:t>
            </a:r>
            <a:endParaRPr lang="fr-FR" dirty="0">
              <a:solidFill>
                <a:srgbClr val="00B050"/>
              </a:solidFill>
            </a:endParaRPr>
          </a:p>
        </p:txBody>
      </p:sp>
    </p:spTree>
    <p:extLst>
      <p:ext uri="{BB962C8B-B14F-4D97-AF65-F5344CB8AC3E}">
        <p14:creationId xmlns:p14="http://schemas.microsoft.com/office/powerpoint/2010/main" val="22266426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C289F-3526-8EF0-A41D-41EE0784B4AC}"/>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F2405D5D-60B7-A8B9-4CE4-4A05401D4D0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extBox 1">
            <a:extLst>
              <a:ext uri="{FF2B5EF4-FFF2-40B4-BE49-F238E27FC236}">
                <a16:creationId xmlns:a16="http://schemas.microsoft.com/office/drawing/2014/main" id="{34D0FF55-1CD1-DA21-F0F7-F343F13EB82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11" name="TextBox 1">
            <a:extLst>
              <a:ext uri="{FF2B5EF4-FFF2-40B4-BE49-F238E27FC236}">
                <a16:creationId xmlns:a16="http://schemas.microsoft.com/office/drawing/2014/main" id="{14339416-D30D-0962-71F8-646E0EF0EBFF}"/>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24" name="ZoneTexte 23">
            <a:extLst>
              <a:ext uri="{FF2B5EF4-FFF2-40B4-BE49-F238E27FC236}">
                <a16:creationId xmlns:a16="http://schemas.microsoft.com/office/drawing/2014/main" id="{4D030750-EB26-94F3-C681-94E5AB4DE75F}"/>
              </a:ext>
            </a:extLst>
          </p:cNvPr>
          <p:cNvSpPr txBox="1"/>
          <p:nvPr/>
        </p:nvSpPr>
        <p:spPr>
          <a:xfrm>
            <a:off x="1305880" y="2331512"/>
            <a:ext cx="9580239" cy="3155351"/>
          </a:xfrm>
          <a:prstGeom prst="rect">
            <a:avLst/>
          </a:prstGeom>
          <a:noFill/>
        </p:spPr>
        <p:txBody>
          <a:bodyPr wrap="square" rtlCol="0">
            <a:spAutoFit/>
          </a:bodyPr>
          <a:lstStyle/>
          <a:p>
            <a:pPr algn="ctr">
              <a:lnSpc>
                <a:spcPct val="150000"/>
              </a:lnSpc>
            </a:pPr>
            <a:r>
              <a:rPr lang="fr-FR" sz="3600" dirty="0"/>
              <a:t>C'est un usage de l'IA, souvent négligé : </a:t>
            </a:r>
            <a:r>
              <a:rPr lang="fr-FR" sz="3600" b="1" dirty="0">
                <a:solidFill>
                  <a:schemeClr val="accent4">
                    <a:lumMod val="75000"/>
                  </a:schemeClr>
                </a:solidFill>
              </a:rPr>
              <a:t>la relecture du rapport une fois rédigé</a:t>
            </a:r>
            <a:r>
              <a:rPr lang="fr-FR" sz="3600" b="1" dirty="0"/>
              <a:t>.</a:t>
            </a:r>
          </a:p>
          <a:p>
            <a:pPr algn="ctr">
              <a:lnSpc>
                <a:spcPct val="150000"/>
              </a:lnSpc>
            </a:pPr>
            <a:r>
              <a:rPr lang="fr-FR" sz="3200" dirty="0"/>
              <a:t> Après avoir assemblé toutes les sections, on peut demander à l'IA d'effectuer plusieurs types de contrôles.</a:t>
            </a:r>
          </a:p>
        </p:txBody>
      </p:sp>
      <p:sp>
        <p:nvSpPr>
          <p:cNvPr id="3" name="Rectangle: Rounded Corners 14">
            <a:extLst>
              <a:ext uri="{FF2B5EF4-FFF2-40B4-BE49-F238E27FC236}">
                <a16:creationId xmlns:a16="http://schemas.microsoft.com/office/drawing/2014/main" id="{708926EE-3DB6-EB29-74BB-496573F6B6BB}"/>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TextBox 1">
            <a:extLst>
              <a:ext uri="{FF2B5EF4-FFF2-40B4-BE49-F238E27FC236}">
                <a16:creationId xmlns:a16="http://schemas.microsoft.com/office/drawing/2014/main" id="{DA6631D2-79E8-FE3C-76A3-845EA348F3EB}"/>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L'IA comme outil de relecture</a:t>
            </a:r>
          </a:p>
          <a:p>
            <a:pPr algn="ctr"/>
            <a:r>
              <a:rPr lang="fr-FR" sz="2000" b="1" dirty="0">
                <a:solidFill>
                  <a:schemeClr val="tx2">
                    <a:alpha val="60000"/>
                  </a:schemeClr>
                </a:solidFill>
                <a:latin typeface="Figtree" pitchFamily="2" charset="0"/>
              </a:rPr>
              <a:t>le contrôle qualité</a:t>
            </a:r>
          </a:p>
        </p:txBody>
      </p:sp>
    </p:spTree>
    <p:extLst>
      <p:ext uri="{BB962C8B-B14F-4D97-AF65-F5344CB8AC3E}">
        <p14:creationId xmlns:p14="http://schemas.microsoft.com/office/powerpoint/2010/main" val="15110704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E0242F8-660C-D7C8-8DCE-9CCAAB55C1D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8239786-3595-F341-EFCF-EDC6F365BBDC}"/>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033633D9-CBFA-0771-17DE-ED0AF516182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5FFEED9-0F68-B28D-6C85-169D7A1DD2D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A64BECAD-DE0A-56F5-8D82-6FFA007D72E3}"/>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02A87B5A-F3FC-9ADA-A3CE-12C08852E697}"/>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L'IA comme outil de relecture</a:t>
            </a:r>
          </a:p>
          <a:p>
            <a:pPr algn="ctr"/>
            <a:r>
              <a:rPr lang="fr-FR" sz="2000" b="1" dirty="0">
                <a:solidFill>
                  <a:schemeClr val="tx2">
                    <a:alpha val="60000"/>
                  </a:schemeClr>
                </a:solidFill>
                <a:latin typeface="Figtree" pitchFamily="2" charset="0"/>
              </a:rPr>
              <a:t>le contrôle qualité</a:t>
            </a:r>
          </a:p>
        </p:txBody>
      </p:sp>
      <p:sp>
        <p:nvSpPr>
          <p:cNvPr id="13" name="Freeform: Shape 3">
            <a:extLst>
              <a:ext uri="{FF2B5EF4-FFF2-40B4-BE49-F238E27FC236}">
                <a16:creationId xmlns:a16="http://schemas.microsoft.com/office/drawing/2014/main" id="{AA0423A5-2126-8285-991F-A5CF7C568AF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91324CDA-5651-A860-5212-090D295ED34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9" name="ZoneTexte 8">
            <a:extLst>
              <a:ext uri="{FF2B5EF4-FFF2-40B4-BE49-F238E27FC236}">
                <a16:creationId xmlns:a16="http://schemas.microsoft.com/office/drawing/2014/main" id="{952BE5EF-E62B-AA2E-15EE-571EA052B656}"/>
              </a:ext>
            </a:extLst>
          </p:cNvPr>
          <p:cNvSpPr txBox="1"/>
          <p:nvPr/>
        </p:nvSpPr>
        <p:spPr>
          <a:xfrm>
            <a:off x="1474511" y="1686636"/>
            <a:ext cx="9662675" cy="4832092"/>
          </a:xfrm>
          <a:prstGeom prst="rect">
            <a:avLst/>
          </a:prstGeom>
          <a:noFill/>
        </p:spPr>
        <p:txBody>
          <a:bodyPr wrap="square" rtlCol="0">
            <a:spAutoFit/>
          </a:bodyPr>
          <a:lstStyle/>
          <a:p>
            <a:r>
              <a:rPr lang="fr-FR" sz="2800" b="1" dirty="0">
                <a:solidFill>
                  <a:schemeClr val="accent1">
                    <a:lumMod val="75000"/>
                  </a:schemeClr>
                </a:solidFill>
                <a:latin typeface="Figtree"/>
              </a:rPr>
              <a:t>Contrôle 1 </a:t>
            </a:r>
            <a:r>
              <a:rPr lang="fr-FR" sz="2800" b="1" dirty="0">
                <a:latin typeface="Figtree"/>
              </a:rPr>
              <a:t>— Cohérence interne</a:t>
            </a:r>
          </a:p>
          <a:p>
            <a:endParaRPr lang="fr-FR" sz="2800" b="1" dirty="0">
              <a:latin typeface="Figtree"/>
            </a:endParaRPr>
          </a:p>
          <a:p>
            <a:r>
              <a:rPr lang="fr-FR" b="1" dirty="0">
                <a:solidFill>
                  <a:srgbClr val="FF0000"/>
                </a:solidFill>
                <a:latin typeface="Courier New" panose="02070309020205020404" pitchFamily="49" charset="0"/>
                <a:cs typeface="Courier New" panose="02070309020205020404" pitchFamily="49" charset="0"/>
              </a:rPr>
              <a:t>Voici mon rapport d'expertise </a:t>
            </a:r>
            <a:r>
              <a:rPr lang="fr-FR" dirty="0">
                <a:latin typeface="Courier New" panose="02070309020205020404" pitchFamily="49" charset="0"/>
                <a:cs typeface="Courier New" panose="02070309020205020404" pitchFamily="49" charset="0"/>
              </a:rPr>
              <a:t>[coller le rapport complet]. </a:t>
            </a:r>
          </a:p>
          <a:p>
            <a:endParaRPr lang="fr-FR" dirty="0">
              <a:latin typeface="Courier New" panose="02070309020205020404" pitchFamily="49" charset="0"/>
              <a:cs typeface="Courier New" panose="02070309020205020404" pitchFamily="49" charset="0"/>
            </a:endParaRPr>
          </a:p>
          <a:p>
            <a:r>
              <a:rPr lang="fr-FR" b="1" dirty="0">
                <a:latin typeface="Courier New" panose="02070309020205020404" pitchFamily="49" charset="0"/>
                <a:cs typeface="Courier New" panose="02070309020205020404" pitchFamily="49" charset="0"/>
              </a:rPr>
              <a:t>Vérifie la cohérence interne du document : </a:t>
            </a:r>
          </a:p>
          <a:p>
            <a:endParaRPr lang="fr-FR" dirty="0">
              <a:latin typeface="Courier New" panose="02070309020205020404" pitchFamily="49" charset="0"/>
              <a:cs typeface="Courier New" panose="02070309020205020404" pitchFamily="49" charset="0"/>
            </a:endParaRPr>
          </a:p>
          <a:p>
            <a:pPr marL="457200" indent="-457200">
              <a:buAutoNum type="arabicPeriod"/>
            </a:pPr>
            <a:r>
              <a:rPr lang="fr-FR" dirty="0">
                <a:latin typeface="Courier New" panose="02070309020205020404" pitchFamily="49" charset="0"/>
                <a:cs typeface="Courier New" panose="02070309020205020404" pitchFamily="49" charset="0"/>
              </a:rPr>
              <a:t>La valeur citée en conclusion correspond-elle aux calculs de la section valorisation ? </a:t>
            </a:r>
          </a:p>
          <a:p>
            <a:pPr marL="457200" indent="-457200">
              <a:buAutoNum type="arabicPeriod"/>
            </a:pPr>
            <a:r>
              <a:rPr lang="fr-FR" dirty="0">
                <a:latin typeface="Courier New" panose="02070309020205020404" pitchFamily="49" charset="0"/>
                <a:cs typeface="Courier New" panose="02070309020205020404" pitchFamily="49" charset="0"/>
              </a:rPr>
              <a:t>La surface utilisée dans le calcul est-elle identique à celle déclarée en description ? </a:t>
            </a:r>
          </a:p>
          <a:p>
            <a:pPr marL="457200" indent="-457200">
              <a:buAutoNum type="arabicPeriod"/>
            </a:pPr>
            <a:r>
              <a:rPr lang="fr-FR" dirty="0">
                <a:latin typeface="Courier New" panose="02070309020205020404" pitchFamily="49" charset="0"/>
                <a:cs typeface="Courier New" panose="02070309020205020404" pitchFamily="49" charset="0"/>
              </a:rPr>
              <a:t>Les ajustements de valeur cités sont-ils tous justifiés dans le corps du rapport ? </a:t>
            </a:r>
          </a:p>
          <a:p>
            <a:pPr marL="457200" indent="-457200">
              <a:buAutoNum type="arabicPeriod"/>
            </a:pPr>
            <a:r>
              <a:rPr lang="fr-FR" dirty="0">
                <a:latin typeface="Courier New" panose="02070309020205020404" pitchFamily="49" charset="0"/>
                <a:cs typeface="Courier New" panose="02070309020205020404" pitchFamily="49" charset="0"/>
              </a:rPr>
              <a:t>Y a-t-il des contradictions entre sections (état courant en description mais vétuste en valorisation, etc.) ? </a:t>
            </a:r>
          </a:p>
          <a:p>
            <a:pPr marL="457200" indent="-457200">
              <a:buAutoNum type="arabicPeriod"/>
            </a:pPr>
            <a:r>
              <a:rPr lang="fr-FR" dirty="0">
                <a:latin typeface="Courier New" panose="02070309020205020404" pitchFamily="49" charset="0"/>
                <a:cs typeface="Courier New" panose="02070309020205020404" pitchFamily="49" charset="0"/>
              </a:rPr>
              <a:t>Donne-moi une liste des incohérences détectées, avec la référence exacte de chaque conflit.</a:t>
            </a:r>
          </a:p>
        </p:txBody>
      </p:sp>
    </p:spTree>
    <p:extLst>
      <p:ext uri="{BB962C8B-B14F-4D97-AF65-F5344CB8AC3E}">
        <p14:creationId xmlns:p14="http://schemas.microsoft.com/office/powerpoint/2010/main" val="179691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658AFA4-4E24-E234-83FE-B4AA9985EA9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EF7B64E-622A-E821-5225-F32595591EF5}"/>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3BCF75B-917F-904F-94B7-E83C719B7AD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8F3FE9F-77A5-55CA-CA49-819ABCB9929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7FDC6ED9-2D17-53C9-79CC-E328822362D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AD096B9E-4599-0EC4-9B6C-F6350DE6A3D8}"/>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L'IA comme outil de relecture</a:t>
            </a:r>
          </a:p>
          <a:p>
            <a:pPr algn="ctr"/>
            <a:r>
              <a:rPr lang="fr-FR" sz="2000" b="1" dirty="0">
                <a:solidFill>
                  <a:schemeClr val="tx2">
                    <a:alpha val="60000"/>
                  </a:schemeClr>
                </a:solidFill>
                <a:latin typeface="Figtree" pitchFamily="2" charset="0"/>
              </a:rPr>
              <a:t>le contrôle qualité</a:t>
            </a:r>
          </a:p>
        </p:txBody>
      </p:sp>
      <p:sp>
        <p:nvSpPr>
          <p:cNvPr id="13" name="Freeform: Shape 3">
            <a:extLst>
              <a:ext uri="{FF2B5EF4-FFF2-40B4-BE49-F238E27FC236}">
                <a16:creationId xmlns:a16="http://schemas.microsoft.com/office/drawing/2014/main" id="{7B1A3EAA-D84F-1B53-E5E7-2BEA6D13D6B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2FFA851F-ED1E-BABF-B5AB-EBC253A3EEE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9" name="ZoneTexte 8">
            <a:extLst>
              <a:ext uri="{FF2B5EF4-FFF2-40B4-BE49-F238E27FC236}">
                <a16:creationId xmlns:a16="http://schemas.microsoft.com/office/drawing/2014/main" id="{CFD2FEC0-5EC2-8F82-7C8A-C4D83838203C}"/>
              </a:ext>
            </a:extLst>
          </p:cNvPr>
          <p:cNvSpPr txBox="1"/>
          <p:nvPr/>
        </p:nvSpPr>
        <p:spPr>
          <a:xfrm>
            <a:off x="1474511" y="1679819"/>
            <a:ext cx="9662675" cy="4832092"/>
          </a:xfrm>
          <a:prstGeom prst="rect">
            <a:avLst/>
          </a:prstGeom>
          <a:noFill/>
        </p:spPr>
        <p:txBody>
          <a:bodyPr wrap="square" rtlCol="0">
            <a:spAutoFit/>
          </a:bodyPr>
          <a:lstStyle/>
          <a:p>
            <a:r>
              <a:rPr lang="fr-FR" sz="2800" b="1" dirty="0">
                <a:solidFill>
                  <a:srgbClr val="00B050"/>
                </a:solidFill>
                <a:latin typeface="Figtree"/>
              </a:rPr>
              <a:t>Contrôle 2 </a:t>
            </a:r>
            <a:r>
              <a:rPr lang="fr-FR" sz="2800" b="1" dirty="0">
                <a:latin typeface="Figtree"/>
              </a:rPr>
              <a:t>— Ton et/ou registre judiciaire</a:t>
            </a:r>
          </a:p>
          <a:p>
            <a:endParaRPr lang="fr-FR" sz="2800" b="1" dirty="0">
              <a:latin typeface="Figtree"/>
            </a:endParaRPr>
          </a:p>
          <a:p>
            <a:r>
              <a:rPr lang="fr-FR" b="1" dirty="0">
                <a:solidFill>
                  <a:srgbClr val="FF0000"/>
                </a:solidFill>
                <a:latin typeface="Courier New" panose="02070309020205020404" pitchFamily="49" charset="0"/>
                <a:cs typeface="Courier New" panose="02070309020205020404" pitchFamily="49" charset="0"/>
              </a:rPr>
              <a:t>Voici mon rapport d'expertise </a:t>
            </a:r>
            <a:r>
              <a:rPr lang="fr-FR" dirty="0">
                <a:latin typeface="Courier New" panose="02070309020205020404" pitchFamily="49" charset="0"/>
                <a:cs typeface="Courier New" panose="02070309020205020404" pitchFamily="49" charset="0"/>
              </a:rPr>
              <a:t>[coller le rapport complet]. </a:t>
            </a:r>
          </a:p>
          <a:p>
            <a:endParaRPr lang="fr-FR" dirty="0">
              <a:latin typeface="Courier New" panose="02070309020205020404" pitchFamily="49" charset="0"/>
              <a:cs typeface="Courier New" panose="02070309020205020404" pitchFamily="49" charset="0"/>
            </a:endParaRPr>
          </a:p>
          <a:p>
            <a:r>
              <a:rPr lang="fr-FR" b="1" dirty="0">
                <a:latin typeface="Courier New" panose="02070309020205020404" pitchFamily="49" charset="0"/>
                <a:cs typeface="Courier New" panose="02070309020205020404" pitchFamily="49" charset="0"/>
              </a:rPr>
              <a:t>Analyse le ton et le style du document : </a:t>
            </a:r>
          </a:p>
          <a:p>
            <a:endParaRPr lang="fr-FR" dirty="0">
              <a:latin typeface="Courier New" panose="02070309020205020404" pitchFamily="49" charset="0"/>
              <a:cs typeface="Courier New" panose="02070309020205020404" pitchFamily="49" charset="0"/>
            </a:endParaRPr>
          </a:p>
          <a:p>
            <a:pPr marL="457200" indent="-457200">
              <a:buAutoNum type="arabicPeriod"/>
            </a:pPr>
            <a:r>
              <a:rPr lang="fr-FR" b="1" dirty="0">
                <a:latin typeface="Courier New" panose="02070309020205020404" pitchFamily="49" charset="0"/>
                <a:cs typeface="Courier New" panose="02070309020205020404" pitchFamily="49" charset="0"/>
              </a:rPr>
              <a:t>Identifie</a:t>
            </a:r>
            <a:r>
              <a:rPr lang="fr-FR" dirty="0">
                <a:latin typeface="Courier New" panose="02070309020205020404" pitchFamily="49" charset="0"/>
                <a:cs typeface="Courier New" panose="02070309020205020404" pitchFamily="49" charset="0"/>
              </a:rPr>
              <a:t> toutes les </a:t>
            </a:r>
            <a:r>
              <a:rPr lang="fr-FR" b="1" dirty="0">
                <a:latin typeface="Courier New" panose="02070309020205020404" pitchFamily="49" charset="0"/>
                <a:cs typeface="Courier New" panose="02070309020205020404" pitchFamily="49" charset="0"/>
              </a:rPr>
              <a:t>formulations</a:t>
            </a:r>
            <a:r>
              <a:rPr lang="fr-FR" dirty="0">
                <a:latin typeface="Courier New" panose="02070309020205020404" pitchFamily="49" charset="0"/>
                <a:cs typeface="Courier New" panose="02070309020205020404" pitchFamily="49" charset="0"/>
              </a:rPr>
              <a:t> qui ne sont </a:t>
            </a:r>
            <a:r>
              <a:rPr lang="fr-FR" b="1" dirty="0">
                <a:latin typeface="Courier New" panose="02070309020205020404" pitchFamily="49" charset="0"/>
                <a:cs typeface="Courier New" panose="02070309020205020404" pitchFamily="49" charset="0"/>
              </a:rPr>
              <a:t>pas adaptées </a:t>
            </a:r>
            <a:r>
              <a:rPr lang="fr-FR" dirty="0">
                <a:latin typeface="Courier New" panose="02070309020205020404" pitchFamily="49" charset="0"/>
                <a:cs typeface="Courier New" panose="02070309020205020404" pitchFamily="49" charset="0"/>
              </a:rPr>
              <a:t>à un rapport d’expertise / judiciaire (superlatifs, formules commerciales, appréciations subjectives, jugements de valeur non étayés). </a:t>
            </a:r>
          </a:p>
          <a:p>
            <a:pPr marL="457200" indent="-457200">
              <a:buAutoNum type="arabicPeriod"/>
            </a:pPr>
            <a:r>
              <a:rPr lang="fr-FR" b="1" dirty="0">
                <a:latin typeface="Courier New" panose="02070309020205020404" pitchFamily="49" charset="0"/>
                <a:cs typeface="Courier New" panose="02070309020205020404" pitchFamily="49" charset="0"/>
              </a:rPr>
              <a:t>Signale</a:t>
            </a:r>
            <a:r>
              <a:rPr lang="fr-FR" dirty="0">
                <a:latin typeface="Courier New" panose="02070309020205020404" pitchFamily="49" charset="0"/>
                <a:cs typeface="Courier New" panose="02070309020205020404" pitchFamily="49" charset="0"/>
              </a:rPr>
              <a:t> les phrases </a:t>
            </a:r>
            <a:r>
              <a:rPr lang="fr-FR" b="1" dirty="0">
                <a:latin typeface="Courier New" panose="02070309020205020404" pitchFamily="49" charset="0"/>
                <a:cs typeface="Courier New" panose="02070309020205020404" pitchFamily="49" charset="0"/>
              </a:rPr>
              <a:t>ambiguës</a:t>
            </a:r>
            <a:r>
              <a:rPr lang="fr-FR" dirty="0">
                <a:latin typeface="Courier New" panose="02070309020205020404" pitchFamily="49" charset="0"/>
                <a:cs typeface="Courier New" panose="02070309020205020404" pitchFamily="49" charset="0"/>
              </a:rPr>
              <a:t> qui pourraient être contestées en expertise contradictoire. </a:t>
            </a:r>
          </a:p>
          <a:p>
            <a:pPr marL="457200" indent="-457200">
              <a:buAutoNum type="arabicPeriod"/>
            </a:pPr>
            <a:r>
              <a:rPr lang="fr-FR" dirty="0">
                <a:latin typeface="Courier New" panose="02070309020205020404" pitchFamily="49" charset="0"/>
                <a:cs typeface="Courier New" panose="02070309020205020404" pitchFamily="49" charset="0"/>
              </a:rPr>
              <a:t>Pour chaque formulation problématique, </a:t>
            </a:r>
            <a:r>
              <a:rPr lang="fr-FR" b="1" dirty="0">
                <a:latin typeface="Courier New" panose="02070309020205020404" pitchFamily="49" charset="0"/>
                <a:cs typeface="Courier New" panose="02070309020205020404" pitchFamily="49" charset="0"/>
              </a:rPr>
              <a:t>propose</a:t>
            </a:r>
            <a:r>
              <a:rPr lang="fr-FR" dirty="0">
                <a:latin typeface="Courier New" panose="02070309020205020404" pitchFamily="49" charset="0"/>
                <a:cs typeface="Courier New" panose="02070309020205020404" pitchFamily="49" charset="0"/>
              </a:rPr>
              <a:t> une </a:t>
            </a:r>
            <a:r>
              <a:rPr lang="fr-FR" b="1" dirty="0">
                <a:latin typeface="Courier New" panose="02070309020205020404" pitchFamily="49" charset="0"/>
                <a:cs typeface="Courier New" panose="02070309020205020404" pitchFamily="49" charset="0"/>
              </a:rPr>
              <a:t>reformulation</a:t>
            </a:r>
            <a:r>
              <a:rPr lang="fr-FR" dirty="0">
                <a:latin typeface="Courier New" panose="02070309020205020404" pitchFamily="49" charset="0"/>
                <a:cs typeface="Courier New" panose="02070309020205020404" pitchFamily="49" charset="0"/>
              </a:rPr>
              <a:t> sobre et défendable. </a:t>
            </a:r>
          </a:p>
          <a:p>
            <a:pPr marL="457200" indent="-457200">
              <a:buAutoNum type="arabicPeriod"/>
            </a:pPr>
            <a:r>
              <a:rPr lang="fr-FR" b="1" dirty="0">
                <a:latin typeface="Courier New" panose="02070309020205020404" pitchFamily="49" charset="0"/>
                <a:cs typeface="Courier New" panose="02070309020205020404" pitchFamily="49" charset="0"/>
              </a:rPr>
              <a:t>Format de réponse : </a:t>
            </a:r>
            <a:r>
              <a:rPr lang="fr-FR" dirty="0">
                <a:latin typeface="Courier New" panose="02070309020205020404" pitchFamily="49" charset="0"/>
                <a:cs typeface="Courier New" panose="02070309020205020404" pitchFamily="49" charset="0"/>
              </a:rPr>
              <a:t>tableau avec trois colonnes — "formulation originale", "problème identifié", "reformulation proposée".</a:t>
            </a:r>
          </a:p>
        </p:txBody>
      </p:sp>
    </p:spTree>
    <p:extLst>
      <p:ext uri="{BB962C8B-B14F-4D97-AF65-F5344CB8AC3E}">
        <p14:creationId xmlns:p14="http://schemas.microsoft.com/office/powerpoint/2010/main" val="18395701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798CBA6-9BB9-14AF-226B-8C5A017D5AC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4EFB8C6-4C48-1D06-85C6-1FEE1832E4B7}"/>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46BD55A-DFC0-C27B-0C45-A60BA411184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CBC0E12-20F4-D8F5-889B-AF7CAF4FB6A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7CB28AA7-2C15-0DEF-757A-55C6279888BC}"/>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A719213-A583-FB24-1B3C-53171AD173E9}"/>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L'IA comme outil de relecture</a:t>
            </a:r>
          </a:p>
          <a:p>
            <a:pPr algn="ctr"/>
            <a:r>
              <a:rPr lang="fr-FR" sz="2000" b="1" dirty="0">
                <a:solidFill>
                  <a:schemeClr val="tx2">
                    <a:alpha val="60000"/>
                  </a:schemeClr>
                </a:solidFill>
                <a:latin typeface="Figtree" pitchFamily="2" charset="0"/>
              </a:rPr>
              <a:t>le contrôle qualité</a:t>
            </a:r>
          </a:p>
        </p:txBody>
      </p:sp>
      <p:sp>
        <p:nvSpPr>
          <p:cNvPr id="13" name="Freeform: Shape 3">
            <a:extLst>
              <a:ext uri="{FF2B5EF4-FFF2-40B4-BE49-F238E27FC236}">
                <a16:creationId xmlns:a16="http://schemas.microsoft.com/office/drawing/2014/main" id="{973B581C-15B7-17FB-3A35-AEDB905A47C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5C9CC5C7-6B63-E18F-2CD5-DC21810D2FAD}"/>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9" name="ZoneTexte 8">
            <a:extLst>
              <a:ext uri="{FF2B5EF4-FFF2-40B4-BE49-F238E27FC236}">
                <a16:creationId xmlns:a16="http://schemas.microsoft.com/office/drawing/2014/main" id="{FCCD38E8-6767-70C6-E265-15E52C2E01BD}"/>
              </a:ext>
            </a:extLst>
          </p:cNvPr>
          <p:cNvSpPr txBox="1"/>
          <p:nvPr/>
        </p:nvSpPr>
        <p:spPr>
          <a:xfrm>
            <a:off x="2194427" y="1533569"/>
            <a:ext cx="8449937" cy="4985980"/>
          </a:xfrm>
          <a:prstGeom prst="rect">
            <a:avLst/>
          </a:prstGeom>
          <a:noFill/>
        </p:spPr>
        <p:txBody>
          <a:bodyPr wrap="square" rtlCol="0">
            <a:spAutoFit/>
          </a:bodyPr>
          <a:lstStyle/>
          <a:p>
            <a:r>
              <a:rPr lang="fr-FR" sz="2800" b="1" dirty="0">
                <a:solidFill>
                  <a:schemeClr val="accent4">
                    <a:lumMod val="75000"/>
                  </a:schemeClr>
                </a:solidFill>
                <a:latin typeface="Figtree"/>
              </a:rPr>
              <a:t>Contrôle 3 </a:t>
            </a:r>
            <a:r>
              <a:rPr lang="fr-FR" sz="2800" b="1" dirty="0">
                <a:latin typeface="Figtree"/>
              </a:rPr>
              <a:t>— Complétude du rapport</a:t>
            </a:r>
            <a:br>
              <a:rPr lang="fr-FR" sz="2800" b="1" dirty="0">
                <a:latin typeface="Figtree"/>
              </a:rPr>
            </a:br>
            <a:endParaRPr lang="fr-FR" sz="2000" b="1" dirty="0">
              <a:latin typeface="Figtree"/>
            </a:endParaRPr>
          </a:p>
          <a:p>
            <a:r>
              <a:rPr lang="fr-FR" dirty="0">
                <a:latin typeface="Courier New" panose="02070309020205020404" pitchFamily="49" charset="0"/>
                <a:cs typeface="Courier New" panose="02070309020205020404" pitchFamily="49" charset="0"/>
              </a:rPr>
              <a:t>Voici mon rapport d'expertise [coller le rapport complet]. </a:t>
            </a:r>
          </a:p>
          <a:p>
            <a:endParaRPr lang="fr-FR" dirty="0">
              <a:latin typeface="Courier New" panose="02070309020205020404" pitchFamily="49" charset="0"/>
              <a:cs typeface="Courier New" panose="02070309020205020404" pitchFamily="49" charset="0"/>
            </a:endParaRPr>
          </a:p>
          <a:p>
            <a:r>
              <a:rPr lang="fr-FR" b="1" dirty="0">
                <a:latin typeface="Courier New" panose="02070309020205020404" pitchFamily="49" charset="0"/>
                <a:cs typeface="Courier New" panose="02070309020205020404" pitchFamily="49" charset="0"/>
              </a:rPr>
              <a:t>Vérifie que toutes les sections obligatoires sont présentes et suffisamment développées </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Mission et cadre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Situation géographique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Situation juridique et urbanistique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Description physique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État du bien et désordres :</a:t>
            </a:r>
            <a:r>
              <a:rPr lang="fr-FR" b="1" dirty="0">
                <a:solidFill>
                  <a:srgbClr val="00B050"/>
                </a:solidFill>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endParaRPr lang="fr-FR" dirty="0">
              <a:latin typeface="Courier New" panose="02070309020205020404" pitchFamily="49" charset="0"/>
              <a:cs typeface="Courier New" panose="02070309020205020404" pitchFamily="49" charset="0"/>
            </a:endParaRPr>
          </a:p>
          <a:p>
            <a:pPr marL="342900" indent="-342900">
              <a:buFontTx/>
              <a:buChar char="-"/>
            </a:pPr>
            <a:r>
              <a:rPr lang="fr-FR" dirty="0">
                <a:latin typeface="Courier New" panose="02070309020205020404" pitchFamily="49" charset="0"/>
                <a:cs typeface="Courier New" panose="02070309020205020404" pitchFamily="49" charset="0"/>
              </a:rPr>
              <a:t>Analyse de marché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Méthodes de valorisation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 </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Conclusion valeur vénale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 </a:t>
            </a:r>
            <a:r>
              <a:rPr lang="fr-FR" dirty="0">
                <a:latin typeface="Courier New" panose="02070309020205020404" pitchFamily="49" charset="0"/>
                <a:cs typeface="Courier New" panose="02070309020205020404" pitchFamily="49" charset="0"/>
              </a:rPr>
              <a:t> </a:t>
            </a:r>
          </a:p>
          <a:p>
            <a:pPr marL="342900" indent="-342900">
              <a:buFontTx/>
              <a:buChar char="-"/>
            </a:pPr>
            <a:r>
              <a:rPr lang="fr-FR" dirty="0">
                <a:latin typeface="Courier New" panose="02070309020205020404" pitchFamily="49" charset="0"/>
                <a:cs typeface="Courier New" panose="02070309020205020404" pitchFamily="49" charset="0"/>
              </a:rPr>
              <a:t>Formule de certification : </a:t>
            </a:r>
            <a:r>
              <a:rPr lang="fr-FR" b="1" dirty="0">
                <a:solidFill>
                  <a:srgbClr val="00B050"/>
                </a:solidFill>
                <a:latin typeface="Courier New" panose="02070309020205020404" pitchFamily="49" charset="0"/>
                <a:cs typeface="Courier New" panose="02070309020205020404" pitchFamily="49" charset="0"/>
              </a:rPr>
              <a:t>✓</a:t>
            </a:r>
            <a:r>
              <a:rPr lang="fr-FR" b="1" dirty="0">
                <a:latin typeface="Courier New" panose="02070309020205020404" pitchFamily="49" charset="0"/>
                <a:cs typeface="Courier New" panose="02070309020205020404" pitchFamily="49" charset="0"/>
              </a:rPr>
              <a:t>/</a:t>
            </a:r>
            <a:r>
              <a:rPr lang="fr-FR" b="1" dirty="0">
                <a:solidFill>
                  <a:srgbClr val="FF0000"/>
                </a:solidFill>
                <a:latin typeface="Courier New" panose="02070309020205020404" pitchFamily="49" charset="0"/>
                <a:cs typeface="Courier New" panose="02070309020205020404" pitchFamily="49" charset="0"/>
              </a:rPr>
              <a:t>✗</a:t>
            </a:r>
            <a:r>
              <a:rPr lang="fr-FR" dirty="0">
                <a:latin typeface="Courier New" panose="02070309020205020404" pitchFamily="49" charset="0"/>
                <a:cs typeface="Courier New" panose="02070309020205020404" pitchFamily="49" charset="0"/>
              </a:rPr>
              <a:t> </a:t>
            </a:r>
          </a:p>
          <a:p>
            <a:pPr marL="342900" indent="-342900">
              <a:buFontTx/>
              <a:buChar char="-"/>
            </a:pPr>
            <a:r>
              <a:rPr lang="fr-FR" b="1" dirty="0">
                <a:latin typeface="Courier New" panose="02070309020205020404" pitchFamily="49" charset="0"/>
                <a:cs typeface="Courier New" panose="02070309020205020404" pitchFamily="49" charset="0"/>
              </a:rPr>
              <a:t>Pour les sections présentes mais insuffisantes, indique ce qui manque.</a:t>
            </a:r>
          </a:p>
        </p:txBody>
      </p:sp>
    </p:spTree>
    <p:extLst>
      <p:ext uri="{BB962C8B-B14F-4D97-AF65-F5344CB8AC3E}">
        <p14:creationId xmlns:p14="http://schemas.microsoft.com/office/powerpoint/2010/main" val="37368756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BC93E38-5E12-EA9B-085C-22D3B3FD64F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1588E61-9C3F-C969-9DFE-916044731060}"/>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D04D968-9F72-5892-1494-EC44CD938A2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A582DC4-0F0C-2C4A-A715-E269AD1361C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37034AC5-CFAB-C0FA-0C20-14FF8ACD123A}"/>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CAE3C4B-F86F-6A8A-C4E4-21FE61BCF923}"/>
              </a:ext>
            </a:extLst>
          </p:cNvPr>
          <p:cNvSpPr txBox="1"/>
          <p:nvPr/>
        </p:nvSpPr>
        <p:spPr>
          <a:xfrm>
            <a:off x="3495795" y="302802"/>
            <a:ext cx="7641391" cy="1077218"/>
          </a:xfrm>
          <a:prstGeom prst="rect">
            <a:avLst/>
          </a:prstGeom>
          <a:noFill/>
        </p:spPr>
        <p:txBody>
          <a:bodyPr wrap="square" rtlCol="0">
            <a:spAutoFit/>
          </a:bodyPr>
          <a:lstStyle/>
          <a:p>
            <a:pPr algn="ctr"/>
            <a:r>
              <a:rPr lang="fr-FR" sz="4400" dirty="0"/>
              <a:t>L'IA comme outil de relecture</a:t>
            </a:r>
          </a:p>
          <a:p>
            <a:pPr algn="ctr"/>
            <a:r>
              <a:rPr lang="fr-FR" sz="2000" b="1" dirty="0">
                <a:solidFill>
                  <a:schemeClr val="tx2">
                    <a:alpha val="60000"/>
                  </a:schemeClr>
                </a:solidFill>
                <a:latin typeface="Figtree" pitchFamily="2" charset="0"/>
              </a:rPr>
              <a:t>le contrôle qualité</a:t>
            </a:r>
          </a:p>
        </p:txBody>
      </p:sp>
      <p:sp>
        <p:nvSpPr>
          <p:cNvPr id="13" name="Freeform: Shape 3">
            <a:extLst>
              <a:ext uri="{FF2B5EF4-FFF2-40B4-BE49-F238E27FC236}">
                <a16:creationId xmlns:a16="http://schemas.microsoft.com/office/drawing/2014/main" id="{3E6519D9-2B26-5C1F-BACF-A258358B299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647B4B4D-9A10-7CA7-B817-8BA583DF0703}"/>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9" name="ZoneTexte 8">
            <a:extLst>
              <a:ext uri="{FF2B5EF4-FFF2-40B4-BE49-F238E27FC236}">
                <a16:creationId xmlns:a16="http://schemas.microsoft.com/office/drawing/2014/main" id="{25CAA10A-7F37-A9BD-9781-653114982047}"/>
              </a:ext>
            </a:extLst>
          </p:cNvPr>
          <p:cNvSpPr txBox="1"/>
          <p:nvPr/>
        </p:nvSpPr>
        <p:spPr>
          <a:xfrm>
            <a:off x="2194427" y="1533569"/>
            <a:ext cx="8449937" cy="4955203"/>
          </a:xfrm>
          <a:prstGeom prst="rect">
            <a:avLst/>
          </a:prstGeom>
          <a:noFill/>
        </p:spPr>
        <p:txBody>
          <a:bodyPr wrap="square" rtlCol="0">
            <a:spAutoFit/>
          </a:bodyPr>
          <a:lstStyle/>
          <a:p>
            <a:r>
              <a:rPr lang="fr-FR" sz="2800" b="1" dirty="0">
                <a:solidFill>
                  <a:schemeClr val="accent2">
                    <a:lumMod val="75000"/>
                  </a:schemeClr>
                </a:solidFill>
                <a:latin typeface="Figtree"/>
              </a:rPr>
              <a:t>Contrôle 4 </a:t>
            </a:r>
            <a:r>
              <a:rPr lang="fr-FR" sz="2800" b="1" dirty="0">
                <a:latin typeface="Figtree"/>
              </a:rPr>
              <a:t>— Synthèse exécutive</a:t>
            </a:r>
          </a:p>
          <a:p>
            <a:endParaRPr lang="fr-FR" sz="2800" b="1" dirty="0">
              <a:latin typeface="Figtree"/>
            </a:endParaRPr>
          </a:p>
          <a:p>
            <a:r>
              <a:rPr lang="fr-FR" sz="1600" dirty="0">
                <a:latin typeface="Courier New" panose="02070309020205020404" pitchFamily="49" charset="0"/>
                <a:cs typeface="Courier New" panose="02070309020205020404" pitchFamily="49" charset="0"/>
              </a:rPr>
              <a:t>Voici mon rapport d'expertise [coller le rapport complet]. </a:t>
            </a:r>
          </a:p>
          <a:p>
            <a:endParaRPr lang="fr-FR" sz="1600" dirty="0">
              <a:latin typeface="Courier New" panose="02070309020205020404" pitchFamily="49" charset="0"/>
              <a:cs typeface="Courier New" panose="02070309020205020404" pitchFamily="49" charset="0"/>
            </a:endParaRPr>
          </a:p>
          <a:p>
            <a:r>
              <a:rPr lang="fr-FR" sz="1600" b="1" dirty="0">
                <a:latin typeface="Courier New" panose="02070309020205020404" pitchFamily="49" charset="0"/>
                <a:cs typeface="Courier New" panose="02070309020205020404" pitchFamily="49" charset="0"/>
              </a:rPr>
              <a:t>À partir de ce rapport, génère un résumé exécutif d'une page (300 à 350 mots maximum) </a:t>
            </a:r>
            <a:r>
              <a:rPr lang="fr-FR" sz="1600" b="1" dirty="0">
                <a:solidFill>
                  <a:schemeClr val="accent1">
                    <a:lumMod val="50000"/>
                  </a:schemeClr>
                </a:solidFill>
                <a:latin typeface="Courier New" panose="02070309020205020404" pitchFamily="49" charset="0"/>
                <a:cs typeface="Courier New" panose="02070309020205020404" pitchFamily="49" charset="0"/>
              </a:rPr>
              <a:t>(éventuellement destiné au juge ou aux parties.) </a:t>
            </a:r>
          </a:p>
          <a:p>
            <a:endParaRPr lang="fr-FR" sz="1600" dirty="0">
              <a:latin typeface="Courier New" panose="02070309020205020404" pitchFamily="49" charset="0"/>
              <a:cs typeface="Courier New" panose="02070309020205020404" pitchFamily="49" charset="0"/>
            </a:endParaRPr>
          </a:p>
          <a:p>
            <a:r>
              <a:rPr lang="fr-FR" sz="1600" dirty="0">
                <a:latin typeface="Courier New" panose="02070309020205020404" pitchFamily="49" charset="0"/>
                <a:cs typeface="Courier New" panose="02070309020205020404" pitchFamily="49" charset="0"/>
              </a:rPr>
              <a:t>Ce résumé doit contenir : </a:t>
            </a:r>
          </a:p>
          <a:p>
            <a:pPr marL="457200" indent="-457200">
              <a:buAutoNum type="arabicPeriod"/>
            </a:pPr>
            <a:r>
              <a:rPr lang="fr-FR" sz="1600" b="1" dirty="0">
                <a:latin typeface="Courier New" panose="02070309020205020404" pitchFamily="49" charset="0"/>
                <a:cs typeface="Courier New" panose="02070309020205020404" pitchFamily="49" charset="0"/>
              </a:rPr>
              <a:t>L'identification</a:t>
            </a:r>
            <a:r>
              <a:rPr lang="fr-FR" sz="1600" dirty="0">
                <a:latin typeface="Courier New" panose="02070309020205020404" pitchFamily="49" charset="0"/>
                <a:cs typeface="Courier New" panose="02070309020205020404" pitchFamily="49" charset="0"/>
              </a:rPr>
              <a:t> du bien et la nature de la mission (2 phrases)</a:t>
            </a:r>
          </a:p>
          <a:p>
            <a:pPr marL="457200" indent="-457200">
              <a:buAutoNum type="arabicPeriod"/>
            </a:pPr>
            <a:r>
              <a:rPr lang="fr-FR" sz="1600" b="1" dirty="0">
                <a:latin typeface="Courier New" panose="02070309020205020404" pitchFamily="49" charset="0"/>
                <a:cs typeface="Courier New" panose="02070309020205020404" pitchFamily="49" charset="0"/>
              </a:rPr>
              <a:t>Les caractéristiques </a:t>
            </a:r>
            <a:r>
              <a:rPr lang="fr-FR" sz="1600" dirty="0">
                <a:latin typeface="Courier New" panose="02070309020205020404" pitchFamily="49" charset="0"/>
                <a:cs typeface="Courier New" panose="02070309020205020404" pitchFamily="49" charset="0"/>
              </a:rPr>
              <a:t>principales du bien (3–4 lignes)</a:t>
            </a:r>
          </a:p>
          <a:p>
            <a:pPr marL="457200" indent="-457200">
              <a:buAutoNum type="arabicPeriod"/>
            </a:pPr>
            <a:r>
              <a:rPr lang="fr-FR" sz="1600" b="1" dirty="0">
                <a:latin typeface="Courier New" panose="02070309020205020404" pitchFamily="49" charset="0"/>
                <a:cs typeface="Courier New" panose="02070309020205020404" pitchFamily="49" charset="0"/>
              </a:rPr>
              <a:t>Les éléments de marché </a:t>
            </a:r>
            <a:r>
              <a:rPr lang="fr-FR" sz="1600" dirty="0">
                <a:latin typeface="Courier New" panose="02070309020205020404" pitchFamily="49" charset="0"/>
                <a:cs typeface="Courier New" panose="02070309020205020404" pitchFamily="49" charset="0"/>
              </a:rPr>
              <a:t>retenus (fourchette, médiane) (2–3 lignes)</a:t>
            </a:r>
          </a:p>
          <a:p>
            <a:pPr marL="457200" indent="-457200">
              <a:buAutoNum type="arabicPeriod"/>
            </a:pPr>
            <a:r>
              <a:rPr lang="fr-FR" sz="1600" b="1" dirty="0">
                <a:latin typeface="Courier New" panose="02070309020205020404" pitchFamily="49" charset="0"/>
                <a:cs typeface="Courier New" panose="02070309020205020404" pitchFamily="49" charset="0"/>
              </a:rPr>
              <a:t>La méthode de valorisation </a:t>
            </a:r>
            <a:r>
              <a:rPr lang="fr-FR" sz="1600" dirty="0">
                <a:latin typeface="Courier New" panose="02070309020205020404" pitchFamily="49" charset="0"/>
                <a:cs typeface="Courier New" panose="02070309020205020404" pitchFamily="49" charset="0"/>
              </a:rPr>
              <a:t>choisie et sa justification (2–3 lignes)</a:t>
            </a:r>
          </a:p>
          <a:p>
            <a:pPr marL="457200" indent="-457200">
              <a:buAutoNum type="arabicPeriod"/>
            </a:pPr>
            <a:r>
              <a:rPr lang="fr-FR" sz="1600" b="1" dirty="0">
                <a:latin typeface="Courier New" panose="02070309020205020404" pitchFamily="49" charset="0"/>
                <a:cs typeface="Courier New" panose="02070309020205020404" pitchFamily="49" charset="0"/>
              </a:rPr>
              <a:t>La valeur vénale </a:t>
            </a:r>
            <a:r>
              <a:rPr lang="fr-FR" sz="1600" dirty="0">
                <a:latin typeface="Courier New" panose="02070309020205020404" pitchFamily="49" charset="0"/>
                <a:cs typeface="Courier New" panose="02070309020205020404" pitchFamily="49" charset="0"/>
              </a:rPr>
              <a:t>retenue à la date de [date] (1 phrase conclusive) </a:t>
            </a:r>
          </a:p>
          <a:p>
            <a:pPr marL="457200" indent="-457200">
              <a:buAutoNum type="arabicPeriod"/>
            </a:pPr>
            <a:r>
              <a:rPr lang="fr-FR" sz="1600" b="1" dirty="0">
                <a:latin typeface="Courier New" panose="02070309020205020404" pitchFamily="49" charset="0"/>
                <a:cs typeface="Courier New" panose="02070309020205020404" pitchFamily="49" charset="0"/>
              </a:rPr>
              <a:t>Ton sobre et synthétique</a:t>
            </a:r>
            <a:r>
              <a:rPr lang="fr-FR" sz="1600" dirty="0">
                <a:latin typeface="Courier New" panose="02070309020205020404" pitchFamily="49" charset="0"/>
                <a:cs typeface="Courier New" panose="02070309020205020404" pitchFamily="49" charset="0"/>
              </a:rPr>
              <a:t>. Ce résumé doit permettre de comprendre l'essentiel sans lire le rapport complet.</a:t>
            </a:r>
          </a:p>
        </p:txBody>
      </p:sp>
    </p:spTree>
    <p:extLst>
      <p:ext uri="{BB962C8B-B14F-4D97-AF65-F5344CB8AC3E}">
        <p14:creationId xmlns:p14="http://schemas.microsoft.com/office/powerpoint/2010/main" val="23801382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5E81635-A245-A89B-B825-0661FEA0FCA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6FB3765-B093-E07C-2672-8AFC8A997FC7}"/>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5A5F0413-0222-424D-4073-72A3E9720E9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FA4941-3BD2-4F54-C3A9-3F5898EA7F51}"/>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78B2EDC-71D0-AFE8-332E-9EB61422B3D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4</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3707A04-1081-6570-CE3D-55690390CE9F}"/>
              </a:ext>
            </a:extLst>
          </p:cNvPr>
          <p:cNvSpPr txBox="1"/>
          <p:nvPr/>
        </p:nvSpPr>
        <p:spPr>
          <a:xfrm>
            <a:off x="3495795" y="302802"/>
            <a:ext cx="7641391" cy="1077218"/>
          </a:xfrm>
          <a:prstGeom prst="rect">
            <a:avLst/>
          </a:prstGeom>
          <a:noFill/>
        </p:spPr>
        <p:txBody>
          <a:bodyPr wrap="square" rtlCol="0">
            <a:spAutoFit/>
          </a:bodyPr>
          <a:lstStyle/>
          <a:p>
            <a:pPr algn="ctr"/>
            <a:r>
              <a:rPr lang="fr-FR" sz="4400" dirty="0"/>
              <a:t>Bibliothèque de Prompts</a:t>
            </a:r>
          </a:p>
          <a:p>
            <a:pPr algn="ctr"/>
            <a:r>
              <a:rPr lang="fr-FR" sz="2000" b="1" dirty="0">
                <a:solidFill>
                  <a:schemeClr val="tx2">
                    <a:alpha val="60000"/>
                  </a:schemeClr>
                </a:solidFill>
                <a:latin typeface="Figtree" pitchFamily="2" charset="0"/>
              </a:rPr>
              <a:t>Expertise Immobilière</a:t>
            </a:r>
          </a:p>
        </p:txBody>
      </p:sp>
      <p:sp>
        <p:nvSpPr>
          <p:cNvPr id="13" name="Freeform: Shape 3">
            <a:extLst>
              <a:ext uri="{FF2B5EF4-FFF2-40B4-BE49-F238E27FC236}">
                <a16:creationId xmlns:a16="http://schemas.microsoft.com/office/drawing/2014/main" id="{BDB68971-F7B3-8002-C9AC-E4D75949105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1">
            <a:extLst>
              <a:ext uri="{FF2B5EF4-FFF2-40B4-BE49-F238E27FC236}">
                <a16:creationId xmlns:a16="http://schemas.microsoft.com/office/drawing/2014/main" id="{DB81784F-C9C9-2739-DD20-39301980331C}"/>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4</a:t>
            </a:r>
            <a:endParaRPr lang="en-US" sz="2000" b="1" dirty="0">
              <a:solidFill>
                <a:schemeClr val="accent2"/>
              </a:solidFill>
              <a:latin typeface="Space Grotesk Medium"/>
              <a:sym typeface="Manrope"/>
            </a:endParaRPr>
          </a:p>
        </p:txBody>
      </p:sp>
      <p:sp>
        <p:nvSpPr>
          <p:cNvPr id="9" name="ZoneTexte 8">
            <a:extLst>
              <a:ext uri="{FF2B5EF4-FFF2-40B4-BE49-F238E27FC236}">
                <a16:creationId xmlns:a16="http://schemas.microsoft.com/office/drawing/2014/main" id="{7B15CB42-457A-3CBA-4E40-815D822DFBB9}"/>
              </a:ext>
            </a:extLst>
          </p:cNvPr>
          <p:cNvSpPr txBox="1"/>
          <p:nvPr/>
        </p:nvSpPr>
        <p:spPr>
          <a:xfrm>
            <a:off x="2194427" y="1533569"/>
            <a:ext cx="8449937" cy="5078313"/>
          </a:xfrm>
          <a:prstGeom prst="rect">
            <a:avLst/>
          </a:prstGeom>
          <a:noFill/>
        </p:spPr>
        <p:txBody>
          <a:bodyPr wrap="square" rtlCol="0">
            <a:spAutoFit/>
          </a:bodyPr>
          <a:lstStyle/>
          <a:p>
            <a:r>
              <a:rPr lang="fr-FR" b="1" dirty="0">
                <a:latin typeface="Courier New" panose="02070309020205020404" pitchFamily="49" charset="0"/>
                <a:cs typeface="Courier New" panose="02070309020205020404" pitchFamily="49" charset="0"/>
              </a:rPr>
              <a:t>BIBLIOTHÈQUE DE PROMPTS — EXPERTISE IMMOBILIÈRE</a:t>
            </a:r>
          </a:p>
          <a:p>
            <a:r>
              <a:rPr lang="fr-FR" dirty="0">
                <a:latin typeface="Courier New" panose="02070309020205020404" pitchFamily="49" charset="0"/>
                <a:cs typeface="Courier New" panose="02070309020205020404" pitchFamily="49" charset="0"/>
              </a:rPr>
              <a:t>────────────────────────────────────────────────</a:t>
            </a:r>
          </a:p>
          <a:p>
            <a:r>
              <a:rPr lang="fr-FR" b="1" dirty="0">
                <a:latin typeface="Courier New" panose="02070309020205020404" pitchFamily="49" charset="0"/>
                <a:cs typeface="Courier New" panose="02070309020205020404" pitchFamily="49" charset="0"/>
              </a:rPr>
              <a:t>[INITIALISATION] </a:t>
            </a:r>
            <a:r>
              <a:rPr lang="fr-FR" dirty="0">
                <a:latin typeface="Courier New" panose="02070309020205020404" pitchFamily="49" charset="0"/>
                <a:cs typeface="Courier New" panose="02070309020205020404" pitchFamily="49" charset="0"/>
              </a:rPr>
              <a:t>prompt_init.txt</a:t>
            </a:r>
          </a:p>
          <a:p>
            <a:r>
              <a:rPr lang="fr-FR" dirty="0">
                <a:latin typeface="Courier New" panose="02070309020205020404" pitchFamily="49" charset="0"/>
                <a:cs typeface="Courier New" panose="02070309020205020404" pitchFamily="49" charset="0"/>
              </a:rPr>
              <a:t>[S1] </a:t>
            </a:r>
            <a:r>
              <a:rPr lang="fr-FR" b="1" dirty="0">
                <a:latin typeface="Courier New" panose="02070309020205020404" pitchFamily="49" charset="0"/>
                <a:cs typeface="Courier New" panose="02070309020205020404" pitchFamily="49" charset="0"/>
              </a:rPr>
              <a:t>Mission et cadre </a:t>
            </a:r>
            <a:r>
              <a:rPr lang="fr-FR" dirty="0">
                <a:latin typeface="Courier New" panose="02070309020205020404" pitchFamily="49" charset="0"/>
                <a:cs typeface="Courier New" panose="02070309020205020404" pitchFamily="49" charset="0"/>
              </a:rPr>
              <a:t>→ prompt_mission.txt</a:t>
            </a:r>
          </a:p>
          <a:p>
            <a:r>
              <a:rPr lang="fr-FR" dirty="0">
                <a:latin typeface="Courier New" panose="02070309020205020404" pitchFamily="49" charset="0"/>
                <a:cs typeface="Courier New" panose="02070309020205020404" pitchFamily="49" charset="0"/>
              </a:rPr>
              <a:t>[S2] </a:t>
            </a:r>
            <a:r>
              <a:rPr lang="fr-FR" b="1" dirty="0">
                <a:latin typeface="Courier New" panose="02070309020205020404" pitchFamily="49" charset="0"/>
                <a:cs typeface="Courier New" panose="02070309020205020404" pitchFamily="49" charset="0"/>
              </a:rPr>
              <a:t>Situation géo </a:t>
            </a:r>
            <a:r>
              <a:rPr lang="fr-FR" dirty="0">
                <a:latin typeface="Courier New" panose="02070309020205020404" pitchFamily="49" charset="0"/>
                <a:cs typeface="Courier New" panose="02070309020205020404" pitchFamily="49" charset="0"/>
              </a:rPr>
              <a:t>→ prompt_geo.txt</a:t>
            </a:r>
          </a:p>
          <a:p>
            <a:r>
              <a:rPr lang="fr-FR" dirty="0">
                <a:latin typeface="Courier New" panose="02070309020205020404" pitchFamily="49" charset="0"/>
                <a:cs typeface="Courier New" panose="02070309020205020404" pitchFamily="49" charset="0"/>
              </a:rPr>
              <a:t>[S3] </a:t>
            </a:r>
            <a:r>
              <a:rPr lang="fr-FR" b="1" dirty="0">
                <a:latin typeface="Courier New" panose="02070309020205020404" pitchFamily="49" charset="0"/>
                <a:cs typeface="Courier New" panose="02070309020205020404" pitchFamily="49" charset="0"/>
              </a:rPr>
              <a:t>Juridique/urbanistique </a:t>
            </a:r>
            <a:r>
              <a:rPr lang="fr-FR" dirty="0">
                <a:latin typeface="Courier New" panose="02070309020205020404" pitchFamily="49" charset="0"/>
                <a:cs typeface="Courier New" panose="02070309020205020404" pitchFamily="49" charset="0"/>
              </a:rPr>
              <a:t>→ prompt_juridique.txt</a:t>
            </a:r>
          </a:p>
          <a:p>
            <a:r>
              <a:rPr lang="fr-FR" dirty="0">
                <a:latin typeface="Courier New" panose="02070309020205020404" pitchFamily="49" charset="0"/>
                <a:cs typeface="Courier New" panose="02070309020205020404" pitchFamily="49" charset="0"/>
              </a:rPr>
              <a:t>[S4] </a:t>
            </a:r>
            <a:r>
              <a:rPr lang="fr-FR" b="1" dirty="0">
                <a:latin typeface="Courier New" panose="02070309020205020404" pitchFamily="49" charset="0"/>
                <a:cs typeface="Courier New" panose="02070309020205020404" pitchFamily="49" charset="0"/>
              </a:rPr>
              <a:t>Description bien</a:t>
            </a:r>
            <a:r>
              <a:rPr lang="fr-FR" dirty="0">
                <a:latin typeface="Courier New" panose="02070309020205020404" pitchFamily="49" charset="0"/>
                <a:cs typeface="Courier New" panose="02070309020205020404" pitchFamily="49" charset="0"/>
              </a:rPr>
              <a:t>	→ prompt_description_appt.txt                      				→ prompt_description_maison.txt                      				→ prompt_description_local.txt</a:t>
            </a:r>
          </a:p>
          <a:p>
            <a:r>
              <a:rPr lang="fr-FR" dirty="0">
                <a:latin typeface="Courier New" panose="02070309020205020404" pitchFamily="49" charset="0"/>
                <a:cs typeface="Courier New" panose="02070309020205020404" pitchFamily="49" charset="0"/>
              </a:rPr>
              <a:t>[S5] </a:t>
            </a:r>
            <a:r>
              <a:rPr lang="fr-FR" b="1" dirty="0">
                <a:latin typeface="Courier New" panose="02070309020205020404" pitchFamily="49" charset="0"/>
                <a:cs typeface="Courier New" panose="02070309020205020404" pitchFamily="49" charset="0"/>
              </a:rPr>
              <a:t>État / désordres </a:t>
            </a:r>
            <a:r>
              <a:rPr lang="fr-FR" dirty="0">
                <a:latin typeface="Courier New" panose="02070309020205020404" pitchFamily="49" charset="0"/>
                <a:cs typeface="Courier New" panose="02070309020205020404" pitchFamily="49" charset="0"/>
              </a:rPr>
              <a:t>→ prompt_etat.txt</a:t>
            </a:r>
          </a:p>
          <a:p>
            <a:r>
              <a:rPr lang="fr-FR" dirty="0">
                <a:latin typeface="Courier New" panose="02070309020205020404" pitchFamily="49" charset="0"/>
                <a:cs typeface="Courier New" panose="02070309020205020404" pitchFamily="49" charset="0"/>
              </a:rPr>
              <a:t>[S6] </a:t>
            </a:r>
            <a:r>
              <a:rPr lang="fr-FR" b="1" dirty="0">
                <a:latin typeface="Courier New" panose="02070309020205020404" pitchFamily="49" charset="0"/>
                <a:cs typeface="Courier New" panose="02070309020205020404" pitchFamily="49" charset="0"/>
              </a:rPr>
              <a:t>Marché</a:t>
            </a:r>
            <a:r>
              <a:rPr lang="fr-FR" dirty="0">
                <a:latin typeface="Courier New" panose="02070309020205020404" pitchFamily="49" charset="0"/>
                <a:cs typeface="Courier New" panose="02070309020205020404" pitchFamily="49" charset="0"/>
              </a:rPr>
              <a:t> → prompt_marche.txt</a:t>
            </a:r>
          </a:p>
          <a:p>
            <a:r>
              <a:rPr lang="fr-FR" dirty="0">
                <a:latin typeface="Courier New" panose="02070309020205020404" pitchFamily="49" charset="0"/>
                <a:cs typeface="Courier New" panose="02070309020205020404" pitchFamily="49" charset="0"/>
              </a:rPr>
              <a:t>[S7] </a:t>
            </a:r>
            <a:r>
              <a:rPr lang="fr-FR" b="1" dirty="0">
                <a:latin typeface="Courier New" panose="02070309020205020404" pitchFamily="49" charset="0"/>
                <a:cs typeface="Courier New" panose="02070309020205020404" pitchFamily="49" charset="0"/>
              </a:rPr>
              <a:t>Valorisation</a:t>
            </a:r>
            <a:r>
              <a:rPr lang="fr-FR" dirty="0">
                <a:latin typeface="Courier New" panose="02070309020205020404" pitchFamily="49" charset="0"/>
                <a:cs typeface="Courier New" panose="02070309020205020404" pitchFamily="49" charset="0"/>
              </a:rPr>
              <a:t> 	→ prompt_valorisation_comparaison.txt                  			→ prompt_valorisation_capitalisation.txt</a:t>
            </a:r>
          </a:p>
          <a:p>
            <a:r>
              <a:rPr lang="fr-FR" dirty="0">
                <a:latin typeface="Courier New" panose="02070309020205020404" pitchFamily="49" charset="0"/>
                <a:cs typeface="Courier New" panose="02070309020205020404" pitchFamily="49" charset="0"/>
              </a:rPr>
              <a:t>[S8] </a:t>
            </a:r>
            <a:r>
              <a:rPr lang="fr-FR" b="1" dirty="0">
                <a:latin typeface="Courier New" panose="02070309020205020404" pitchFamily="49" charset="0"/>
                <a:cs typeface="Courier New" panose="02070309020205020404" pitchFamily="49" charset="0"/>
              </a:rPr>
              <a:t>Conclusion</a:t>
            </a:r>
            <a:r>
              <a:rPr lang="fr-FR" dirty="0">
                <a:latin typeface="Courier New" panose="02070309020205020404" pitchFamily="49" charset="0"/>
                <a:cs typeface="Courier New" panose="02070309020205020404" pitchFamily="49" charset="0"/>
              </a:rPr>
              <a:t> → prompt_conclusion.txt</a:t>
            </a:r>
            <a:br>
              <a:rPr lang="fr-FR" dirty="0">
                <a:latin typeface="Courier New" panose="02070309020205020404" pitchFamily="49" charset="0"/>
                <a:cs typeface="Courier New" panose="02070309020205020404" pitchFamily="49" charset="0"/>
              </a:rPr>
            </a:br>
            <a:r>
              <a:rPr lang="fr-FR" b="1" dirty="0">
                <a:latin typeface="Courier New" panose="02070309020205020404" pitchFamily="49" charset="0"/>
                <a:cs typeface="Courier New" panose="02070309020205020404" pitchFamily="49" charset="0"/>
              </a:rPr>
              <a:t>[RELECTURE] </a:t>
            </a:r>
            <a:r>
              <a:rPr lang="fr-FR" dirty="0">
                <a:latin typeface="Courier New" panose="02070309020205020404" pitchFamily="49" charset="0"/>
                <a:cs typeface="Courier New" panose="02070309020205020404" pitchFamily="49" charset="0"/>
              </a:rPr>
              <a:t>	→ prompt_coherence.txt            </a:t>
            </a:r>
          </a:p>
          <a:p>
            <a:r>
              <a:rPr lang="fr-FR" dirty="0">
                <a:latin typeface="Courier New" panose="02070309020205020404" pitchFamily="49" charset="0"/>
                <a:cs typeface="Courier New" panose="02070309020205020404" pitchFamily="49" charset="0"/>
              </a:rPr>
              <a:t>		→ prompt_ton.txt            </a:t>
            </a:r>
          </a:p>
          <a:p>
            <a:r>
              <a:rPr lang="fr-FR" dirty="0">
                <a:latin typeface="Courier New" panose="02070309020205020404" pitchFamily="49" charset="0"/>
                <a:cs typeface="Courier New" panose="02070309020205020404" pitchFamily="49" charset="0"/>
              </a:rPr>
              <a:t>		→ prompt_completude.txt            </a:t>
            </a:r>
          </a:p>
          <a:p>
            <a:r>
              <a:rPr lang="fr-FR" dirty="0">
                <a:latin typeface="Courier New" panose="02070309020205020404" pitchFamily="49" charset="0"/>
                <a:cs typeface="Courier New" panose="02070309020205020404" pitchFamily="49" charset="0"/>
              </a:rPr>
              <a:t>		→ prompt_synthese.txt</a:t>
            </a:r>
          </a:p>
        </p:txBody>
      </p:sp>
    </p:spTree>
    <p:extLst>
      <p:ext uri="{BB962C8B-B14F-4D97-AF65-F5344CB8AC3E}">
        <p14:creationId xmlns:p14="http://schemas.microsoft.com/office/powerpoint/2010/main" val="30832346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B519F4-D534-8DC1-2299-8F216BEBC2C1}"/>
            </a:ext>
          </a:extLst>
        </p:cNvPr>
        <p:cNvGrpSpPr/>
        <p:nvPr/>
      </p:nvGrpSpPr>
      <p:grpSpPr>
        <a:xfrm>
          <a:off x="0" y="0"/>
          <a:ext cx="0" cy="0"/>
          <a:chOff x="0" y="0"/>
          <a:chExt cx="0" cy="0"/>
        </a:xfrm>
      </p:grpSpPr>
      <p:sp>
        <p:nvSpPr>
          <p:cNvPr id="4" name="Rectangle: Rounded Corners 62">
            <a:extLst>
              <a:ext uri="{FF2B5EF4-FFF2-40B4-BE49-F238E27FC236}">
                <a16:creationId xmlns:a16="http://schemas.microsoft.com/office/drawing/2014/main" id="{5FBBF7EA-331D-60D9-1EC6-57B654969B60}"/>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Freeform: Shape 3">
            <a:extLst>
              <a:ext uri="{FF2B5EF4-FFF2-40B4-BE49-F238E27FC236}">
                <a16:creationId xmlns:a16="http://schemas.microsoft.com/office/drawing/2014/main" id="{EC9FA57A-044B-12B6-DA1F-D6152656462E}"/>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4">
            <a:extLst>
              <a:ext uri="{FF2B5EF4-FFF2-40B4-BE49-F238E27FC236}">
                <a16:creationId xmlns:a16="http://schemas.microsoft.com/office/drawing/2014/main" id="{557C918E-D935-4D4A-536F-CDC8B3183394}"/>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5">
            <a:extLst>
              <a:ext uri="{FF2B5EF4-FFF2-40B4-BE49-F238E27FC236}">
                <a16:creationId xmlns:a16="http://schemas.microsoft.com/office/drawing/2014/main" id="{DA25037B-9B39-9AA6-70AE-E6D1DEE90E2B}"/>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6">
            <a:extLst>
              <a:ext uri="{FF2B5EF4-FFF2-40B4-BE49-F238E27FC236}">
                <a16:creationId xmlns:a16="http://schemas.microsoft.com/office/drawing/2014/main" id="{1B11053E-8507-FB14-8323-FAA611FF635B}"/>
              </a:ext>
            </a:extLst>
          </p:cNvPr>
          <p:cNvSpPr txBox="1"/>
          <p:nvPr/>
        </p:nvSpPr>
        <p:spPr>
          <a:xfrm>
            <a:off x="14514" y="728629"/>
            <a:ext cx="12192000" cy="1015663"/>
          </a:xfrm>
          <a:prstGeom prst="rect">
            <a:avLst/>
          </a:prstGeom>
          <a:noFill/>
        </p:spPr>
        <p:txBody>
          <a:bodyPr wrap="square" rtlCol="0">
            <a:spAutoFit/>
          </a:bodyPr>
          <a:lstStyle/>
          <a:p>
            <a:pPr algn="ctr"/>
            <a:r>
              <a:rPr lang="fr-FR" sz="6000" dirty="0">
                <a:solidFill>
                  <a:schemeClr val="bg1"/>
                </a:solidFill>
                <a:latin typeface="Space Grotesk Medium" pitchFamily="2" charset="0"/>
              </a:rPr>
              <a:t>Module 5</a:t>
            </a:r>
            <a:endParaRPr lang="en-US" sz="6000" dirty="0">
              <a:solidFill>
                <a:schemeClr val="bg1"/>
              </a:solidFill>
              <a:latin typeface="Space Grotesk Medium" pitchFamily="2" charset="0"/>
            </a:endParaRPr>
          </a:p>
        </p:txBody>
      </p:sp>
      <p:sp>
        <p:nvSpPr>
          <p:cNvPr id="14" name="Rectangle: Rounded Corners 14">
            <a:extLst>
              <a:ext uri="{FF2B5EF4-FFF2-40B4-BE49-F238E27FC236}">
                <a16:creationId xmlns:a16="http://schemas.microsoft.com/office/drawing/2014/main" id="{3A956DFE-4C4A-0C12-B679-B9E95F378144}"/>
              </a:ext>
            </a:extLst>
          </p:cNvPr>
          <p:cNvSpPr/>
          <p:nvPr/>
        </p:nvSpPr>
        <p:spPr>
          <a:xfrm>
            <a:off x="2399070" y="2481177"/>
            <a:ext cx="7641392" cy="295258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TextBox 7">
            <a:extLst>
              <a:ext uri="{FF2B5EF4-FFF2-40B4-BE49-F238E27FC236}">
                <a16:creationId xmlns:a16="http://schemas.microsoft.com/office/drawing/2014/main" id="{552E92E2-287B-45FC-21D6-E071D0E6897C}"/>
              </a:ext>
            </a:extLst>
          </p:cNvPr>
          <p:cNvSpPr txBox="1"/>
          <p:nvPr/>
        </p:nvSpPr>
        <p:spPr>
          <a:xfrm>
            <a:off x="2399069" y="4059950"/>
            <a:ext cx="7641392" cy="50629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fr-FR" sz="2000" b="1" dirty="0">
                <a:solidFill>
                  <a:schemeClr val="tx2">
                    <a:alpha val="60000"/>
                  </a:schemeClr>
                </a:solidFill>
              </a:rPr>
              <a:t>Rédiger un rapport pas à pas</a:t>
            </a:r>
          </a:p>
        </p:txBody>
      </p:sp>
      <p:sp>
        <p:nvSpPr>
          <p:cNvPr id="17" name="TextBox 1">
            <a:extLst>
              <a:ext uri="{FF2B5EF4-FFF2-40B4-BE49-F238E27FC236}">
                <a16:creationId xmlns:a16="http://schemas.microsoft.com/office/drawing/2014/main" id="{D60E2C6C-B388-EB02-583A-665D39C04E5D}"/>
              </a:ext>
            </a:extLst>
          </p:cNvPr>
          <p:cNvSpPr txBox="1"/>
          <p:nvPr/>
        </p:nvSpPr>
        <p:spPr>
          <a:xfrm>
            <a:off x="2399070" y="3188027"/>
            <a:ext cx="7641391" cy="769441"/>
          </a:xfrm>
          <a:prstGeom prst="rect">
            <a:avLst/>
          </a:prstGeom>
          <a:noFill/>
        </p:spPr>
        <p:txBody>
          <a:bodyPr wrap="square" rtlCol="0">
            <a:spAutoFit/>
          </a:bodyPr>
          <a:lstStyle/>
          <a:p>
            <a:pPr algn="ctr"/>
            <a:r>
              <a:rPr lang="fr-FR" sz="4400" dirty="0">
                <a:solidFill>
                  <a:schemeClr val="tx2"/>
                </a:solidFill>
                <a:latin typeface="Space Grotesk Medium" pitchFamily="2" charset="0"/>
              </a:rPr>
              <a:t>Atelier pratique</a:t>
            </a:r>
            <a:endParaRPr lang="en-US" sz="4400" dirty="0">
              <a:solidFill>
                <a:schemeClr val="tx2"/>
              </a:solidFill>
              <a:latin typeface="Space Grotesk Medium" pitchFamily="2" charset="0"/>
            </a:endParaRPr>
          </a:p>
        </p:txBody>
      </p:sp>
    </p:spTree>
    <p:extLst>
      <p:ext uri="{BB962C8B-B14F-4D97-AF65-F5344CB8AC3E}">
        <p14:creationId xmlns:p14="http://schemas.microsoft.com/office/powerpoint/2010/main" val="11365250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C150B7B-D200-897F-7B32-AE1DD45341E3}"/>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0A8F12D-3726-B25F-0021-672B57624937}"/>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2604346-8DFF-3395-0871-F0F3913A747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AA9FE62-A7BB-E959-6EA8-E63D7463728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8E1C7294-65FD-3864-50C5-6BE409D801F8}"/>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A66F591-9A23-64FB-3C13-7786C806474B}"/>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6DCB0F44-EF08-A313-EAF0-CE16368931F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5E694C9F-64C3-F52D-5193-68A4A79ED955}"/>
              </a:ext>
            </a:extLst>
          </p:cNvPr>
          <p:cNvSpPr txBox="1"/>
          <p:nvPr/>
        </p:nvSpPr>
        <p:spPr>
          <a:xfrm>
            <a:off x="5961350" y="1989972"/>
            <a:ext cx="5340876" cy="3416320"/>
          </a:xfrm>
          <a:prstGeom prst="rect">
            <a:avLst/>
          </a:prstGeom>
          <a:noFill/>
        </p:spPr>
        <p:txBody>
          <a:bodyPr wrap="square" rtlCol="0">
            <a:spAutoFit/>
          </a:bodyPr>
          <a:lstStyle/>
          <a:p>
            <a:r>
              <a:rPr lang="fr-FR" sz="2400" b="1" dirty="0">
                <a:latin typeface="Figtree"/>
              </a:rPr>
              <a:t>NOTES DE VISITE (résumé)</a:t>
            </a:r>
            <a:br>
              <a:rPr lang="fr-FR" sz="2400" dirty="0">
                <a:latin typeface="Figtree"/>
              </a:rPr>
            </a:br>
            <a:r>
              <a:rPr lang="fr-FR" sz="2400" dirty="0">
                <a:latin typeface="Figtree"/>
              </a:rPr>
              <a:t>Séjour 22 m² · 2 chambres 11 et 9 m² · cuisine séparée · salle de bains vétuste · double vitrage partiel · parquet ancien bon état · DPE E</a:t>
            </a:r>
          </a:p>
          <a:p>
            <a:endParaRPr lang="fr-FR" sz="2400" dirty="0">
              <a:latin typeface="Figtree"/>
            </a:endParaRPr>
          </a:p>
          <a:p>
            <a:r>
              <a:rPr lang="fr-FR" sz="2400" b="1" dirty="0">
                <a:latin typeface="Figtree"/>
              </a:rPr>
              <a:t>COMPARABLES</a:t>
            </a:r>
            <a:br>
              <a:rPr lang="fr-FR" sz="2400" dirty="0">
                <a:latin typeface="Figtree"/>
              </a:rPr>
            </a:br>
            <a:r>
              <a:rPr lang="fr-FR" sz="2400" dirty="0">
                <a:latin typeface="Figtree"/>
              </a:rPr>
              <a:t>10 transactions DVF — Paris 11e — secteur Keller — période </a:t>
            </a:r>
            <a:r>
              <a:rPr lang="fr-FR" sz="2400" dirty="0" err="1">
                <a:latin typeface="Figtree"/>
              </a:rPr>
              <a:t>janv</a:t>
            </a:r>
            <a:r>
              <a:rPr lang="fr-FR" sz="2400" dirty="0">
                <a:latin typeface="Figtree"/>
              </a:rPr>
              <a:t>–août 2024</a:t>
            </a:r>
          </a:p>
        </p:txBody>
      </p:sp>
      <p:sp>
        <p:nvSpPr>
          <p:cNvPr id="5" name="ZoneTexte 4">
            <a:extLst>
              <a:ext uri="{FF2B5EF4-FFF2-40B4-BE49-F238E27FC236}">
                <a16:creationId xmlns:a16="http://schemas.microsoft.com/office/drawing/2014/main" id="{4FE9D236-2A57-0B81-0E94-6383D76A2FD5}"/>
              </a:ext>
            </a:extLst>
          </p:cNvPr>
          <p:cNvSpPr txBox="1"/>
          <p:nvPr/>
        </p:nvSpPr>
        <p:spPr>
          <a:xfrm>
            <a:off x="620474" y="2058074"/>
            <a:ext cx="5340876" cy="4524315"/>
          </a:xfrm>
          <a:prstGeom prst="rect">
            <a:avLst/>
          </a:prstGeom>
          <a:noFill/>
        </p:spPr>
        <p:txBody>
          <a:bodyPr wrap="square" rtlCol="0">
            <a:spAutoFit/>
          </a:bodyPr>
          <a:lstStyle/>
          <a:p>
            <a:r>
              <a:rPr lang="fr-FR" sz="2400" b="1" dirty="0">
                <a:latin typeface="Figtree"/>
              </a:rPr>
              <a:t>LE BIEN</a:t>
            </a:r>
            <a:endParaRPr lang="fr-FR" sz="2400" dirty="0">
              <a:latin typeface="Figtree"/>
            </a:endParaRPr>
          </a:p>
          <a:p>
            <a:pPr lvl="0"/>
            <a:r>
              <a:rPr lang="fr-FR" sz="2400" dirty="0">
                <a:latin typeface="Figtree"/>
              </a:rPr>
              <a:t>Appartement T3 — 68 m²</a:t>
            </a:r>
          </a:p>
          <a:p>
            <a:pPr lvl="0"/>
            <a:r>
              <a:rPr lang="fr-FR" sz="2400" dirty="0">
                <a:latin typeface="Figtree"/>
              </a:rPr>
              <a:t>3e étage sans ascenseur</a:t>
            </a:r>
          </a:p>
          <a:p>
            <a:pPr lvl="0"/>
            <a:r>
              <a:rPr lang="fr-FR" sz="2400" dirty="0">
                <a:latin typeface="Figtree"/>
              </a:rPr>
              <a:t>Immeuble de rapport 1932</a:t>
            </a:r>
          </a:p>
          <a:p>
            <a:pPr lvl="0"/>
            <a:r>
              <a:rPr lang="fr-FR" sz="2400" dirty="0">
                <a:latin typeface="Figtree"/>
              </a:rPr>
              <a:t>Rue Keller, Paris 11</a:t>
            </a:r>
            <a:r>
              <a:rPr lang="fr-FR" sz="2400" baseline="30000" dirty="0">
                <a:latin typeface="Figtree"/>
              </a:rPr>
              <a:t>e</a:t>
            </a:r>
            <a:endParaRPr lang="fr-FR" sz="2400" dirty="0">
              <a:latin typeface="Figtree"/>
            </a:endParaRPr>
          </a:p>
          <a:p>
            <a:pPr lvl="0"/>
            <a:endParaRPr lang="fr-FR" sz="2400" dirty="0">
              <a:latin typeface="Figtree"/>
            </a:endParaRPr>
          </a:p>
          <a:p>
            <a:r>
              <a:rPr lang="fr-FR" sz="2400" b="1" dirty="0">
                <a:latin typeface="Figtree"/>
              </a:rPr>
              <a:t>LA MISSION</a:t>
            </a:r>
            <a:endParaRPr lang="fr-FR" sz="2400" dirty="0">
              <a:latin typeface="Figtree"/>
            </a:endParaRPr>
          </a:p>
          <a:p>
            <a:pPr lvl="0"/>
            <a:r>
              <a:rPr lang="fr-FR" sz="2400" dirty="0">
                <a:latin typeface="Figtree"/>
              </a:rPr>
              <a:t>Type : expertise amiable</a:t>
            </a:r>
          </a:p>
          <a:p>
            <a:pPr lvl="0"/>
            <a:r>
              <a:rPr lang="fr-FR" sz="2400" dirty="0">
                <a:latin typeface="Figtree"/>
              </a:rPr>
              <a:t>Mandant : Maître X, notaire à Paris</a:t>
            </a:r>
          </a:p>
          <a:p>
            <a:pPr lvl="0"/>
            <a:r>
              <a:rPr lang="fr-FR" sz="2400" dirty="0">
                <a:latin typeface="Figtree"/>
              </a:rPr>
              <a:t>Objet : valeur vénale dans le cadre d'une succession</a:t>
            </a:r>
          </a:p>
          <a:p>
            <a:pPr lvl="0"/>
            <a:r>
              <a:rPr lang="fr-FR" sz="2400" dirty="0">
                <a:latin typeface="Figtree"/>
              </a:rPr>
              <a:t>Date de valeur : [date de visite]</a:t>
            </a:r>
          </a:p>
        </p:txBody>
      </p:sp>
      <p:sp>
        <p:nvSpPr>
          <p:cNvPr id="6" name="ZoneTexte 5">
            <a:extLst>
              <a:ext uri="{FF2B5EF4-FFF2-40B4-BE49-F238E27FC236}">
                <a16:creationId xmlns:a16="http://schemas.microsoft.com/office/drawing/2014/main" id="{A97DC793-EEC0-0797-7FC7-62F2D9661CB4}"/>
              </a:ext>
            </a:extLst>
          </p:cNvPr>
          <p:cNvSpPr txBox="1"/>
          <p:nvPr/>
        </p:nvSpPr>
        <p:spPr>
          <a:xfrm>
            <a:off x="620474" y="953414"/>
            <a:ext cx="2322111" cy="830997"/>
          </a:xfrm>
          <a:prstGeom prst="rect">
            <a:avLst/>
          </a:prstGeom>
          <a:noFill/>
        </p:spPr>
        <p:txBody>
          <a:bodyPr wrap="none" rtlCol="0">
            <a:spAutoFit/>
          </a:bodyPr>
          <a:lstStyle/>
          <a:p>
            <a:pPr algn="ctr"/>
            <a:r>
              <a:rPr lang="fr-FR" sz="2400" dirty="0">
                <a:solidFill>
                  <a:schemeClr val="accent3">
                    <a:lumMod val="75000"/>
                  </a:schemeClr>
                </a:solidFill>
              </a:rPr>
              <a:t>Présentation </a:t>
            </a:r>
          </a:p>
          <a:p>
            <a:pPr algn="ctr"/>
            <a:r>
              <a:rPr lang="fr-FR" sz="2400" dirty="0">
                <a:solidFill>
                  <a:schemeClr val="accent3">
                    <a:lumMod val="75000"/>
                  </a:schemeClr>
                </a:solidFill>
              </a:rPr>
              <a:t>du dossier de cas</a:t>
            </a:r>
          </a:p>
        </p:txBody>
      </p:sp>
    </p:spTree>
    <p:extLst>
      <p:ext uri="{BB962C8B-B14F-4D97-AF65-F5344CB8AC3E}">
        <p14:creationId xmlns:p14="http://schemas.microsoft.com/office/powerpoint/2010/main" val="16293265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4D96D8B-6561-EB33-ED85-CA74D334FE19}"/>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8140F13-9EB7-9594-8312-B4A379D96581}"/>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D39A18A3-2F64-D891-E2B9-21F4C869FFE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01AF996-B120-1EA2-CCD1-DDABEED8853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19D1744-24FF-D079-FB2E-EE4A87F6CCE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22BF945-EAAB-B2D0-CB8D-E90E5B9091D7}"/>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813ED122-E018-BEF5-C643-ED8BB76C009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C00D534E-1D09-4711-05F5-1CF4528294D4}"/>
              </a:ext>
            </a:extLst>
          </p:cNvPr>
          <p:cNvSpPr txBox="1"/>
          <p:nvPr/>
        </p:nvSpPr>
        <p:spPr>
          <a:xfrm>
            <a:off x="5961350" y="1693877"/>
            <a:ext cx="6174882" cy="3416320"/>
          </a:xfrm>
          <a:prstGeom prst="rect">
            <a:avLst/>
          </a:prstGeom>
          <a:noFill/>
        </p:spPr>
        <p:txBody>
          <a:bodyPr wrap="square" rtlCol="0">
            <a:spAutoFit/>
          </a:bodyPr>
          <a:lstStyle/>
          <a:p>
            <a:r>
              <a:rPr lang="fr-FR" sz="2400" b="1" dirty="0">
                <a:latin typeface="Figtree"/>
              </a:rPr>
              <a:t>PIÈCES COMMUNIQUÉES</a:t>
            </a:r>
          </a:p>
          <a:p>
            <a:endParaRPr lang="fr-FR" sz="2400" b="1" dirty="0">
              <a:latin typeface="Figtree"/>
            </a:endParaRPr>
          </a:p>
          <a:p>
            <a:pPr marL="342900" lvl="0" indent="-342900">
              <a:buFont typeface="Arial" panose="020B0604020202020204" pitchFamily="34" charset="0"/>
              <a:buChar char="•"/>
            </a:pPr>
            <a:r>
              <a:rPr lang="fr-FR" sz="2400" dirty="0"/>
              <a:t>Acte de propriété (2009)</a:t>
            </a:r>
          </a:p>
          <a:p>
            <a:pPr marL="342900" lvl="0" indent="-342900">
              <a:buFont typeface="Arial" panose="020B0604020202020204" pitchFamily="34" charset="0"/>
              <a:buChar char="•"/>
            </a:pPr>
            <a:r>
              <a:rPr lang="fr-FR" sz="2400" dirty="0"/>
              <a:t>Règlement de copropriété</a:t>
            </a:r>
          </a:p>
          <a:p>
            <a:pPr marL="342900" lvl="0" indent="-342900">
              <a:buFont typeface="Arial" panose="020B0604020202020204" pitchFamily="34" charset="0"/>
              <a:buChar char="•"/>
            </a:pPr>
            <a:r>
              <a:rPr lang="fr-FR" sz="2400" dirty="0"/>
              <a:t>Derniers procès-verbaux d'AG (2022, 2023)</a:t>
            </a:r>
          </a:p>
          <a:p>
            <a:pPr marL="342900" lvl="0" indent="-342900">
              <a:buFont typeface="Arial" panose="020B0604020202020204" pitchFamily="34" charset="0"/>
              <a:buChar char="•"/>
            </a:pPr>
            <a:r>
              <a:rPr lang="fr-FR" sz="2400" dirty="0"/>
              <a:t>Diagnostics techniques : DPE E, amiante négatif</a:t>
            </a:r>
          </a:p>
          <a:p>
            <a:pPr marL="342900" lvl="0" indent="-342900">
              <a:buFont typeface="Arial" panose="020B0604020202020204" pitchFamily="34" charset="0"/>
              <a:buChar char="•"/>
            </a:pPr>
            <a:r>
              <a:rPr lang="fr-FR" sz="2400" dirty="0"/>
              <a:t>Plans de l'appartement</a:t>
            </a:r>
          </a:p>
          <a:p>
            <a:pPr marL="342900" lvl="0" indent="-342900">
              <a:buFont typeface="Arial" panose="020B0604020202020204" pitchFamily="34" charset="0"/>
              <a:buChar char="•"/>
            </a:pPr>
            <a:r>
              <a:rPr lang="fr-FR" sz="2400" dirty="0"/>
              <a:t>Relevé de charges (2 200 €/an)</a:t>
            </a:r>
          </a:p>
        </p:txBody>
      </p:sp>
      <p:sp>
        <p:nvSpPr>
          <p:cNvPr id="5" name="ZoneTexte 4">
            <a:extLst>
              <a:ext uri="{FF2B5EF4-FFF2-40B4-BE49-F238E27FC236}">
                <a16:creationId xmlns:a16="http://schemas.microsoft.com/office/drawing/2014/main" id="{864441BA-7157-5C92-36AE-8C484D9E27F0}"/>
              </a:ext>
            </a:extLst>
          </p:cNvPr>
          <p:cNvSpPr txBox="1"/>
          <p:nvPr/>
        </p:nvSpPr>
        <p:spPr>
          <a:xfrm>
            <a:off x="620474" y="1743305"/>
            <a:ext cx="5340876" cy="5262979"/>
          </a:xfrm>
          <a:prstGeom prst="rect">
            <a:avLst/>
          </a:prstGeom>
          <a:noFill/>
        </p:spPr>
        <p:txBody>
          <a:bodyPr wrap="square" rtlCol="0">
            <a:spAutoFit/>
          </a:bodyPr>
          <a:lstStyle/>
          <a:p>
            <a:r>
              <a:rPr lang="fr-FR" sz="2400" b="1" dirty="0">
                <a:latin typeface="Figtree"/>
              </a:rPr>
              <a:t>LA LETTRE DE MISSION </a:t>
            </a:r>
            <a:endParaRPr lang="fr-FR" sz="2400" dirty="0">
              <a:latin typeface="Figtree"/>
            </a:endParaRPr>
          </a:p>
          <a:p>
            <a:pPr lvl="0"/>
            <a:r>
              <a:rPr lang="fr-FR" sz="2000" dirty="0">
                <a:latin typeface="Figtree"/>
              </a:rPr>
              <a:t>Maître X, notaire associé</a:t>
            </a:r>
          </a:p>
          <a:p>
            <a:pPr lvl="0"/>
            <a:r>
              <a:rPr lang="fr-FR" sz="2000" dirty="0">
                <a:latin typeface="Figtree"/>
              </a:rPr>
              <a:t>Étude notariale — Paris 11</a:t>
            </a:r>
            <a:r>
              <a:rPr lang="fr-FR" sz="2000" baseline="30000" dirty="0">
                <a:latin typeface="Figtree"/>
              </a:rPr>
              <a:t>e</a:t>
            </a:r>
            <a:endParaRPr lang="fr-FR" sz="2000" dirty="0">
              <a:latin typeface="Figtree"/>
            </a:endParaRPr>
          </a:p>
          <a:p>
            <a:pPr lvl="0"/>
            <a:endParaRPr lang="fr-FR" sz="2400" dirty="0">
              <a:latin typeface="Figtree"/>
            </a:endParaRPr>
          </a:p>
          <a:p>
            <a:pPr lvl="0"/>
            <a:r>
              <a:rPr lang="fr-FR" sz="2400" i="1" dirty="0">
                <a:latin typeface="Figtree"/>
              </a:rPr>
              <a:t>Objet : demande d'avis de valeur</a:t>
            </a:r>
          </a:p>
          <a:p>
            <a:pPr lvl="0"/>
            <a:endParaRPr lang="fr-FR" sz="2400" i="1" dirty="0">
              <a:latin typeface="Figtree"/>
            </a:endParaRPr>
          </a:p>
          <a:p>
            <a:pPr lvl="0"/>
            <a:r>
              <a:rPr lang="fr-FR" sz="2400" i="1" dirty="0">
                <a:latin typeface="Figtree"/>
              </a:rPr>
              <a:t>Dans le cadre d'une succession ouverte au profit de [héritiers A], je vous serais reconnaissant de bien vouloir procéder à l'estimation de la valeur vénale de l'appartement sis rue Keller, Paris 11e, à la date du [date].Vous voudrez bien me faire parvenir votre rapport dans un délai de [X] jours.</a:t>
            </a:r>
          </a:p>
        </p:txBody>
      </p:sp>
      <p:sp>
        <p:nvSpPr>
          <p:cNvPr id="6" name="ZoneTexte 5">
            <a:extLst>
              <a:ext uri="{FF2B5EF4-FFF2-40B4-BE49-F238E27FC236}">
                <a16:creationId xmlns:a16="http://schemas.microsoft.com/office/drawing/2014/main" id="{3F277228-2448-17D8-1C08-335D13FB1582}"/>
              </a:ext>
            </a:extLst>
          </p:cNvPr>
          <p:cNvSpPr txBox="1"/>
          <p:nvPr/>
        </p:nvSpPr>
        <p:spPr>
          <a:xfrm>
            <a:off x="55768" y="1049766"/>
            <a:ext cx="3464600" cy="461665"/>
          </a:xfrm>
          <a:prstGeom prst="rect">
            <a:avLst/>
          </a:prstGeom>
          <a:noFill/>
        </p:spPr>
        <p:txBody>
          <a:bodyPr wrap="square" rtlCol="0">
            <a:spAutoFit/>
          </a:bodyPr>
          <a:lstStyle/>
          <a:p>
            <a:pPr algn="ctr"/>
            <a:r>
              <a:rPr lang="fr-FR" sz="2400" dirty="0">
                <a:solidFill>
                  <a:schemeClr val="accent3">
                    <a:lumMod val="75000"/>
                  </a:schemeClr>
                </a:solidFill>
              </a:rPr>
              <a:t>La mission et les pièces</a:t>
            </a:r>
          </a:p>
        </p:txBody>
      </p:sp>
    </p:spTree>
    <p:extLst>
      <p:ext uri="{BB962C8B-B14F-4D97-AF65-F5344CB8AC3E}">
        <p14:creationId xmlns:p14="http://schemas.microsoft.com/office/powerpoint/2010/main" val="12678983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7A2911D-9371-F849-BC22-989E97F4561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89D98F8-6007-52E7-4EC3-578927789485}"/>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FA4F04E9-034A-B516-EA25-7927CDB651C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1EEC5C0-56EE-E549-4264-5E5B649771D6}"/>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6EDC3F85-7F55-6663-27C6-12A92A82B08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9AAF056-2EBC-45DD-9CB0-4D4B0F3A8A19}"/>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FC958CAE-7579-CB2C-EB57-217B8349C51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ZoneTexte 4">
            <a:extLst>
              <a:ext uri="{FF2B5EF4-FFF2-40B4-BE49-F238E27FC236}">
                <a16:creationId xmlns:a16="http://schemas.microsoft.com/office/drawing/2014/main" id="{AC74F609-2511-4605-B941-D771DD75250B}"/>
              </a:ext>
            </a:extLst>
          </p:cNvPr>
          <p:cNvSpPr txBox="1"/>
          <p:nvPr/>
        </p:nvSpPr>
        <p:spPr>
          <a:xfrm>
            <a:off x="190780" y="1674893"/>
            <a:ext cx="6324023" cy="4708981"/>
          </a:xfrm>
          <a:prstGeom prst="rect">
            <a:avLst/>
          </a:prstGeom>
          <a:noFill/>
        </p:spPr>
        <p:txBody>
          <a:bodyPr wrap="square" rtlCol="0">
            <a:spAutoFit/>
          </a:bodyPr>
          <a:lstStyle/>
          <a:p>
            <a:pPr lvl="0"/>
            <a:r>
              <a:rPr lang="fr-FR" sz="2000" b="1" dirty="0">
                <a:latin typeface="Figtree"/>
              </a:rPr>
              <a:t>VISITE DU [DATE] — 10H30 À 11H45</a:t>
            </a:r>
          </a:p>
          <a:p>
            <a:pPr lvl="0"/>
            <a:r>
              <a:rPr lang="fr-FR" sz="2000" dirty="0">
                <a:latin typeface="Figtree"/>
              </a:rPr>
              <a:t>Rue Keller, Paris 11e — 3e étage sans ascenseur</a:t>
            </a:r>
          </a:p>
          <a:p>
            <a:pPr lvl="0"/>
            <a:endParaRPr lang="fr-FR" sz="2000" dirty="0">
              <a:latin typeface="Figtree"/>
            </a:endParaRPr>
          </a:p>
          <a:p>
            <a:pPr lvl="0"/>
            <a:r>
              <a:rPr lang="fr-FR" sz="2000" b="1" dirty="0">
                <a:latin typeface="Figtree"/>
              </a:rPr>
              <a:t>IMMEUBLE</a:t>
            </a:r>
          </a:p>
          <a:p>
            <a:pPr lvl="0"/>
            <a:r>
              <a:rPr lang="fr-FR" sz="2000" dirty="0">
                <a:latin typeface="Figtree"/>
              </a:rPr>
              <a:t>Pierre de taille 1932— immeuble de rapport 6 étages</a:t>
            </a:r>
          </a:p>
          <a:p>
            <a:pPr lvl="0"/>
            <a:r>
              <a:rPr lang="fr-FR" sz="2000" dirty="0">
                <a:latin typeface="Figtree"/>
              </a:rPr>
              <a:t>Bon entretien parties communes — hall carrelé d'époque</a:t>
            </a:r>
          </a:p>
          <a:p>
            <a:pPr lvl="0"/>
            <a:r>
              <a:rPr lang="fr-FR" sz="2000" dirty="0">
                <a:latin typeface="Figtree"/>
              </a:rPr>
              <a:t>Ferronnerie d'origine aux garde-corps — cave en SS</a:t>
            </a:r>
          </a:p>
          <a:p>
            <a:pPr lvl="0"/>
            <a:r>
              <a:rPr lang="fr-FR" sz="2000" dirty="0">
                <a:latin typeface="Figtree"/>
              </a:rPr>
              <a:t>Pas d'ascenseur</a:t>
            </a:r>
          </a:p>
          <a:p>
            <a:pPr lvl="0"/>
            <a:endParaRPr lang="fr-FR" sz="2000" dirty="0">
              <a:latin typeface="Figtree"/>
            </a:endParaRPr>
          </a:p>
          <a:p>
            <a:pPr lvl="0"/>
            <a:r>
              <a:rPr lang="fr-FR" sz="2000" b="1" dirty="0">
                <a:latin typeface="Figtree"/>
              </a:rPr>
              <a:t>APPARTEMENT T3— 3e ÉTAGE SUR RUE</a:t>
            </a:r>
          </a:p>
          <a:p>
            <a:pPr lvl="0"/>
            <a:r>
              <a:rPr lang="fr-FR" sz="2000" dirty="0">
                <a:latin typeface="Figtree"/>
              </a:rPr>
              <a:t>Entrée : 4 m² — parquet chêne ancien — bon état</a:t>
            </a:r>
          </a:p>
          <a:p>
            <a:pPr lvl="0"/>
            <a:r>
              <a:rPr lang="fr-FR" sz="2000" dirty="0">
                <a:latin typeface="Figtree"/>
              </a:rPr>
              <a:t>Séjour : 22 m² — parquet — moulures plafond -  2 fenêtres sur rue — double vitrage récent</a:t>
            </a:r>
          </a:p>
          <a:p>
            <a:pPr lvl="0"/>
            <a:r>
              <a:rPr lang="fr-FR" sz="2000" dirty="0">
                <a:latin typeface="Figtree"/>
              </a:rPr>
              <a:t>Ch. 1 : 11 m² — parquet — fenêtre sur rue — DV</a:t>
            </a:r>
          </a:p>
          <a:p>
            <a:pPr lvl="0"/>
            <a:r>
              <a:rPr lang="fr-FR" sz="2000" dirty="0">
                <a:latin typeface="Figtree"/>
              </a:rPr>
              <a:t>Ch. 2 : 9 m² — parquet — fenêtre sur cour</a:t>
            </a:r>
            <a:endParaRPr lang="fr-FR" sz="2400" i="1" dirty="0">
              <a:latin typeface="Figtree"/>
            </a:endParaRPr>
          </a:p>
        </p:txBody>
      </p:sp>
      <p:sp>
        <p:nvSpPr>
          <p:cNvPr id="6" name="ZoneTexte 5">
            <a:extLst>
              <a:ext uri="{FF2B5EF4-FFF2-40B4-BE49-F238E27FC236}">
                <a16:creationId xmlns:a16="http://schemas.microsoft.com/office/drawing/2014/main" id="{1BDB0104-F748-4523-DE87-48F2D5C3B0DB}"/>
              </a:ext>
            </a:extLst>
          </p:cNvPr>
          <p:cNvSpPr txBox="1"/>
          <p:nvPr/>
        </p:nvSpPr>
        <p:spPr>
          <a:xfrm>
            <a:off x="31194" y="879070"/>
            <a:ext cx="3464600" cy="830997"/>
          </a:xfrm>
          <a:prstGeom prst="rect">
            <a:avLst/>
          </a:prstGeom>
          <a:noFill/>
        </p:spPr>
        <p:txBody>
          <a:bodyPr wrap="square" rtlCol="0">
            <a:spAutoFit/>
          </a:bodyPr>
          <a:lstStyle/>
          <a:p>
            <a:pPr algn="ctr"/>
            <a:r>
              <a:rPr lang="fr-FR" sz="2400" dirty="0">
                <a:solidFill>
                  <a:schemeClr val="accent3">
                    <a:lumMod val="75000"/>
                  </a:schemeClr>
                </a:solidFill>
              </a:rPr>
              <a:t>Je consulte mes</a:t>
            </a:r>
          </a:p>
          <a:p>
            <a:pPr algn="ctr"/>
            <a:r>
              <a:rPr lang="fr-FR" sz="2400" dirty="0">
                <a:solidFill>
                  <a:schemeClr val="accent3">
                    <a:lumMod val="75000"/>
                  </a:schemeClr>
                </a:solidFill>
              </a:rPr>
              <a:t>notes de visite</a:t>
            </a:r>
          </a:p>
        </p:txBody>
      </p:sp>
      <p:sp>
        <p:nvSpPr>
          <p:cNvPr id="7" name="ZoneTexte 6">
            <a:extLst>
              <a:ext uri="{FF2B5EF4-FFF2-40B4-BE49-F238E27FC236}">
                <a16:creationId xmlns:a16="http://schemas.microsoft.com/office/drawing/2014/main" id="{391105E4-0A67-F631-D906-094E610D0FBF}"/>
              </a:ext>
            </a:extLst>
          </p:cNvPr>
          <p:cNvSpPr txBox="1"/>
          <p:nvPr/>
        </p:nvSpPr>
        <p:spPr>
          <a:xfrm>
            <a:off x="6649815" y="1765054"/>
            <a:ext cx="5597784" cy="3785652"/>
          </a:xfrm>
          <a:prstGeom prst="rect">
            <a:avLst/>
          </a:prstGeom>
          <a:noFill/>
        </p:spPr>
        <p:txBody>
          <a:bodyPr wrap="square" rtlCol="0">
            <a:spAutoFit/>
          </a:bodyPr>
          <a:lstStyle/>
          <a:p>
            <a:pPr lvl="0"/>
            <a:r>
              <a:rPr lang="fr-FR" sz="2000" b="1" dirty="0">
                <a:latin typeface="Figtree"/>
              </a:rPr>
              <a:t>SIMPLE VITRAGE D'ORIGINE </a:t>
            </a:r>
            <a:r>
              <a:rPr lang="fr-FR" sz="2000" dirty="0">
                <a:latin typeface="Figtree"/>
              </a:rPr>
              <a:t>— à remplacer</a:t>
            </a:r>
          </a:p>
          <a:p>
            <a:pPr lvl="0"/>
            <a:r>
              <a:rPr lang="fr-FR" sz="2000" dirty="0">
                <a:latin typeface="Figtree"/>
              </a:rPr>
              <a:t>Cuisine séparée : 5 m² — carrelage années 70</a:t>
            </a:r>
          </a:p>
          <a:p>
            <a:pPr lvl="0"/>
            <a:r>
              <a:rPr lang="fr-FR" sz="2000" dirty="0">
                <a:latin typeface="Figtree"/>
              </a:rPr>
              <a:t>Équipements vétustes — fenêtre cour — SV</a:t>
            </a:r>
          </a:p>
          <a:p>
            <a:pPr lvl="0"/>
            <a:endParaRPr lang="fr-FR" sz="2000" dirty="0">
              <a:latin typeface="Figtree"/>
            </a:endParaRPr>
          </a:p>
          <a:p>
            <a:pPr lvl="0"/>
            <a:r>
              <a:rPr lang="fr-FR" sz="2000" b="1" dirty="0">
                <a:latin typeface="Figtree"/>
              </a:rPr>
              <a:t>SDB</a:t>
            </a:r>
            <a:r>
              <a:rPr lang="fr-FR" sz="2000" dirty="0">
                <a:latin typeface="Figtree"/>
              </a:rPr>
              <a:t> : 4 m² — baignoire fonte ancienne</a:t>
            </a:r>
          </a:p>
          <a:p>
            <a:pPr lvl="0"/>
            <a:r>
              <a:rPr lang="fr-FR" sz="2000" dirty="0">
                <a:latin typeface="Figtree"/>
              </a:rPr>
              <a:t>Robinetterie hors d'âge — carrelage décollé</a:t>
            </a:r>
          </a:p>
          <a:p>
            <a:pPr lvl="0"/>
            <a:r>
              <a:rPr lang="fr-FR" sz="2000" dirty="0">
                <a:latin typeface="Figtree"/>
              </a:rPr>
              <a:t>Aucune VMC — fenêtre obturée</a:t>
            </a:r>
          </a:p>
          <a:p>
            <a:pPr lvl="0"/>
            <a:r>
              <a:rPr lang="fr-FR" sz="2000" u="sng" dirty="0">
                <a:latin typeface="Figtree"/>
              </a:rPr>
              <a:t>REMISE EN ÉTAT COMPLÈTE NÉCESSAIRE</a:t>
            </a:r>
          </a:p>
          <a:p>
            <a:pPr lvl="0"/>
            <a:endParaRPr lang="fr-FR" sz="2000" dirty="0">
              <a:latin typeface="Figtree"/>
            </a:endParaRPr>
          </a:p>
          <a:p>
            <a:pPr lvl="0"/>
            <a:r>
              <a:rPr lang="fr-FR" sz="2000" b="1" dirty="0">
                <a:latin typeface="Figtree"/>
              </a:rPr>
              <a:t>WC</a:t>
            </a:r>
            <a:r>
              <a:rPr lang="fr-FR" sz="2000" dirty="0">
                <a:latin typeface="Figtree"/>
              </a:rPr>
              <a:t> séparé : 2 m² — correct</a:t>
            </a:r>
          </a:p>
          <a:p>
            <a:pPr lvl="0"/>
            <a:r>
              <a:rPr lang="fr-FR" sz="2000" b="1" dirty="0">
                <a:latin typeface="Figtree"/>
              </a:rPr>
              <a:t>DPE</a:t>
            </a:r>
            <a:r>
              <a:rPr lang="fr-FR" sz="2000" dirty="0">
                <a:latin typeface="Figtree"/>
              </a:rPr>
              <a:t> : étiquette E — 265 kWh/m²/an</a:t>
            </a:r>
          </a:p>
          <a:p>
            <a:pPr lvl="0"/>
            <a:r>
              <a:rPr lang="fr-FR" sz="2000" b="1" dirty="0">
                <a:latin typeface="Figtree"/>
              </a:rPr>
              <a:t>Chauffage</a:t>
            </a:r>
            <a:r>
              <a:rPr lang="fr-FR" sz="2000" dirty="0">
                <a:latin typeface="Figtree"/>
              </a:rPr>
              <a:t> : individuel gaz — chaudière 2009</a:t>
            </a:r>
            <a:endParaRPr lang="fr-FR" sz="2400" i="1" dirty="0">
              <a:latin typeface="Figtree"/>
            </a:endParaRPr>
          </a:p>
        </p:txBody>
      </p:sp>
    </p:spTree>
    <p:extLst>
      <p:ext uri="{BB962C8B-B14F-4D97-AF65-F5344CB8AC3E}">
        <p14:creationId xmlns:p14="http://schemas.microsoft.com/office/powerpoint/2010/main" val="39112396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065609B-BC10-684F-C8AF-BBDE3419DEE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1EA6ECE-0F19-5AF9-F49B-0B9652854C16}"/>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4073046-0E0A-DA9C-7FAB-F177FE41D5D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D2A77B8-945F-9100-4E2A-9F206921F83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F87DE68-9001-ABE1-0159-870EA8792C4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40E9E03-EAA1-E280-C440-531FB2C1E316}"/>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2DAB60FF-BCE2-D1DD-553B-8D58FAFCF5D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FB1D4453-F817-5CAA-56CA-7F9C5C59A87A}"/>
              </a:ext>
            </a:extLst>
          </p:cNvPr>
          <p:cNvSpPr txBox="1"/>
          <p:nvPr/>
        </p:nvSpPr>
        <p:spPr>
          <a:xfrm>
            <a:off x="31195" y="1216430"/>
            <a:ext cx="3464600" cy="830997"/>
          </a:xfrm>
          <a:prstGeom prst="rect">
            <a:avLst/>
          </a:prstGeom>
          <a:noFill/>
        </p:spPr>
        <p:txBody>
          <a:bodyPr wrap="square" rtlCol="0">
            <a:spAutoFit/>
          </a:bodyPr>
          <a:lstStyle/>
          <a:p>
            <a:pPr algn="ctr"/>
            <a:r>
              <a:rPr lang="fr-FR" sz="2400" dirty="0">
                <a:solidFill>
                  <a:schemeClr val="accent3">
                    <a:lumMod val="75000"/>
                  </a:schemeClr>
                </a:solidFill>
              </a:rPr>
              <a:t>Je prépare mon tableau de comparables DVF</a:t>
            </a:r>
          </a:p>
        </p:txBody>
      </p:sp>
      <p:sp>
        <p:nvSpPr>
          <p:cNvPr id="8" name="ZoneTexte 7">
            <a:extLst>
              <a:ext uri="{FF2B5EF4-FFF2-40B4-BE49-F238E27FC236}">
                <a16:creationId xmlns:a16="http://schemas.microsoft.com/office/drawing/2014/main" id="{2B5D458F-A616-9D95-D74E-A6215D103964}"/>
              </a:ext>
            </a:extLst>
          </p:cNvPr>
          <p:cNvSpPr txBox="1"/>
          <p:nvPr/>
        </p:nvSpPr>
        <p:spPr>
          <a:xfrm>
            <a:off x="622570" y="2161434"/>
            <a:ext cx="11140790" cy="3769622"/>
          </a:xfrm>
          <a:prstGeom prst="rect">
            <a:avLst/>
          </a:prstGeom>
          <a:noFill/>
        </p:spPr>
        <p:txBody>
          <a:bodyPr wrap="square" rtlCol="0">
            <a:spAutoFit/>
          </a:bodyPr>
          <a:lstStyle/>
          <a:p>
            <a:pPr>
              <a:lnSpc>
                <a:spcPts val="2400"/>
              </a:lnSpc>
            </a:pPr>
            <a:r>
              <a:rPr lang="fr-FR" b="1" dirty="0">
                <a:latin typeface="Figtree"/>
              </a:rPr>
              <a:t>Réf.	Adresse approx. 		Surface   	Prix total		</a:t>
            </a:r>
            <a:r>
              <a:rPr lang="fr-FR" b="1" dirty="0">
                <a:solidFill>
                  <a:srgbClr val="00B050"/>
                </a:solidFill>
                <a:latin typeface="Figtree"/>
              </a:rPr>
              <a:t>Prix/m²	Date</a:t>
            </a:r>
            <a:r>
              <a:rPr lang="fr-FR" b="1" dirty="0">
                <a:latin typeface="Figtree"/>
              </a:rPr>
              <a:t>		</a:t>
            </a:r>
            <a:r>
              <a:rPr lang="fr-FR" b="1" dirty="0">
                <a:solidFill>
                  <a:srgbClr val="FF0000"/>
                </a:solidFill>
                <a:latin typeface="Figtree"/>
              </a:rPr>
              <a:t>Étage	État</a:t>
            </a:r>
          </a:p>
          <a:p>
            <a:pPr>
              <a:lnSpc>
                <a:spcPts val="2400"/>
              </a:lnSpc>
            </a:pPr>
            <a:endParaRPr lang="fr-FR" b="1" dirty="0">
              <a:latin typeface="Figtree"/>
            </a:endParaRPr>
          </a:p>
          <a:p>
            <a:pPr>
              <a:lnSpc>
                <a:spcPts val="2400"/>
              </a:lnSpc>
            </a:pPr>
            <a:r>
              <a:rPr lang="fr-FR" dirty="0">
                <a:latin typeface="Figtree"/>
              </a:rPr>
              <a:t>C-01     	Rue de la Roquette		64 m²	582 400 €	</a:t>
            </a:r>
            <a:r>
              <a:rPr lang="fr-FR" dirty="0">
                <a:solidFill>
                  <a:srgbClr val="00B050"/>
                </a:solidFill>
                <a:latin typeface="Figtree"/>
              </a:rPr>
              <a:t>9 100 €	Fév. 2024	</a:t>
            </a:r>
            <a:r>
              <a:rPr lang="fr-FR" dirty="0">
                <a:latin typeface="Figtree"/>
              </a:rPr>
              <a:t>	2</a:t>
            </a:r>
            <a:r>
              <a:rPr lang="fr-FR" baseline="30000" dirty="0">
                <a:latin typeface="Figtree"/>
              </a:rPr>
              <a:t>e</a:t>
            </a:r>
            <a:r>
              <a:rPr lang="fr-FR" dirty="0">
                <a:latin typeface="Figtree"/>
              </a:rPr>
              <a:t>	Courant</a:t>
            </a:r>
          </a:p>
          <a:p>
            <a:pPr>
              <a:lnSpc>
                <a:spcPts val="2400"/>
              </a:lnSpc>
            </a:pPr>
            <a:r>
              <a:rPr lang="fr-FR" dirty="0">
                <a:latin typeface="Figtree"/>
              </a:rPr>
              <a:t>C-02     	Avenue Ledru-Rollin	71 m²	682 560 €	</a:t>
            </a:r>
            <a:r>
              <a:rPr lang="fr-FR" dirty="0">
                <a:solidFill>
                  <a:srgbClr val="00B050"/>
                </a:solidFill>
                <a:latin typeface="Figtree"/>
              </a:rPr>
              <a:t>9 614 €	Mars 2024</a:t>
            </a:r>
            <a:r>
              <a:rPr lang="fr-FR" dirty="0">
                <a:latin typeface="Figtree"/>
              </a:rPr>
              <a:t>	4e </a:t>
            </a:r>
            <a:r>
              <a:rPr lang="fr-FR" dirty="0" err="1">
                <a:latin typeface="Figtree"/>
              </a:rPr>
              <a:t>asc</a:t>
            </a:r>
            <a:r>
              <a:rPr lang="fr-FR" dirty="0">
                <a:latin typeface="Figtree"/>
              </a:rPr>
              <a:t>	Rénové</a:t>
            </a:r>
          </a:p>
          <a:p>
            <a:pPr>
              <a:lnSpc>
                <a:spcPts val="2400"/>
              </a:lnSpc>
            </a:pPr>
            <a:r>
              <a:rPr lang="fr-FR" dirty="0">
                <a:latin typeface="Figtree"/>
              </a:rPr>
              <a:t>C-03     	Rue de la Folie Méricourt	58 m²	513 220 €	</a:t>
            </a:r>
            <a:r>
              <a:rPr lang="fr-FR" dirty="0">
                <a:solidFill>
                  <a:srgbClr val="00B050"/>
                </a:solidFill>
                <a:latin typeface="Figtree"/>
              </a:rPr>
              <a:t>8 849 €	Janv. 2024</a:t>
            </a:r>
            <a:r>
              <a:rPr lang="fr-FR" dirty="0">
                <a:latin typeface="Figtree"/>
              </a:rPr>
              <a:t>	1</a:t>
            </a:r>
            <a:r>
              <a:rPr lang="fr-FR" baseline="30000" dirty="0">
                <a:latin typeface="Figtree"/>
              </a:rPr>
              <a:t>er</a:t>
            </a:r>
            <a:r>
              <a:rPr lang="fr-FR" dirty="0">
                <a:latin typeface="Figtree"/>
              </a:rPr>
              <a:t>	Courant</a:t>
            </a:r>
          </a:p>
          <a:p>
            <a:pPr>
              <a:lnSpc>
                <a:spcPts val="2400"/>
              </a:lnSpc>
            </a:pPr>
            <a:r>
              <a:rPr lang="fr-FR" dirty="0">
                <a:latin typeface="Figtree"/>
              </a:rPr>
              <a:t>C-04     	Rue Oberkampf		75 m²	712 500 €	</a:t>
            </a:r>
            <a:r>
              <a:rPr lang="fr-FR" dirty="0">
                <a:solidFill>
                  <a:srgbClr val="00B050"/>
                </a:solidFill>
                <a:latin typeface="Figtree"/>
              </a:rPr>
              <a:t>9 500 €	Avr. 2024</a:t>
            </a:r>
            <a:r>
              <a:rPr lang="fr-FR" dirty="0">
                <a:latin typeface="Figtree"/>
              </a:rPr>
              <a:t>		3e </a:t>
            </a:r>
            <a:r>
              <a:rPr lang="fr-FR" dirty="0" err="1">
                <a:latin typeface="Figtree"/>
              </a:rPr>
              <a:t>asc</a:t>
            </a:r>
            <a:r>
              <a:rPr lang="fr-FR" dirty="0">
                <a:latin typeface="Figtree"/>
              </a:rPr>
              <a:t>	Rénové</a:t>
            </a:r>
          </a:p>
          <a:p>
            <a:pPr>
              <a:lnSpc>
                <a:spcPts val="2400"/>
              </a:lnSpc>
            </a:pPr>
            <a:r>
              <a:rPr lang="fr-FR" dirty="0">
                <a:latin typeface="Figtree"/>
              </a:rPr>
              <a:t>C-05     	Rue Saint-Maur		62 m²	544 380 €	</a:t>
            </a:r>
            <a:r>
              <a:rPr lang="fr-FR" dirty="0">
                <a:solidFill>
                  <a:srgbClr val="00B050"/>
                </a:solidFill>
                <a:latin typeface="Figtree"/>
              </a:rPr>
              <a:t>8 780 €	Janv. 2024</a:t>
            </a:r>
            <a:r>
              <a:rPr lang="fr-FR" dirty="0">
                <a:latin typeface="Figtree"/>
              </a:rPr>
              <a:t>	3</a:t>
            </a:r>
            <a:r>
              <a:rPr lang="fr-FR" baseline="30000" dirty="0">
                <a:latin typeface="Figtree"/>
              </a:rPr>
              <a:t>e</a:t>
            </a:r>
            <a:r>
              <a:rPr lang="fr-FR" dirty="0">
                <a:latin typeface="Figtree"/>
              </a:rPr>
              <a:t>	Vétuste</a:t>
            </a:r>
          </a:p>
          <a:p>
            <a:pPr>
              <a:lnSpc>
                <a:spcPts val="2400"/>
              </a:lnSpc>
            </a:pPr>
            <a:r>
              <a:rPr lang="fr-FR" dirty="0">
                <a:latin typeface="Figtree"/>
              </a:rPr>
              <a:t>C-06     	Rue de Charonne		69 m²	641 640 €	</a:t>
            </a:r>
            <a:r>
              <a:rPr lang="fr-FR" dirty="0">
                <a:solidFill>
                  <a:srgbClr val="00B050"/>
                </a:solidFill>
                <a:latin typeface="Figtree"/>
              </a:rPr>
              <a:t>9 300 €	Mai 2024</a:t>
            </a:r>
            <a:r>
              <a:rPr lang="fr-FR" dirty="0">
                <a:latin typeface="Figtree"/>
              </a:rPr>
              <a:t>		2</a:t>
            </a:r>
            <a:r>
              <a:rPr lang="fr-FR" baseline="30000" dirty="0">
                <a:latin typeface="Figtree"/>
              </a:rPr>
              <a:t>e</a:t>
            </a:r>
            <a:r>
              <a:rPr lang="fr-FR" dirty="0">
                <a:latin typeface="Figtree"/>
              </a:rPr>
              <a:t>	Courant</a:t>
            </a:r>
          </a:p>
          <a:p>
            <a:pPr>
              <a:lnSpc>
                <a:spcPts val="2400"/>
              </a:lnSpc>
            </a:pPr>
            <a:r>
              <a:rPr lang="fr-FR" dirty="0">
                <a:latin typeface="Figtree"/>
              </a:rPr>
              <a:t>C-07     	Boulevard Voltaire		80 m²	764 000 €	</a:t>
            </a:r>
            <a:r>
              <a:rPr lang="fr-FR" dirty="0">
                <a:solidFill>
                  <a:srgbClr val="00B050"/>
                </a:solidFill>
                <a:latin typeface="Figtree"/>
              </a:rPr>
              <a:t>9 550 €	Juin 2024</a:t>
            </a:r>
            <a:r>
              <a:rPr lang="fr-FR" dirty="0">
                <a:latin typeface="Figtree"/>
              </a:rPr>
              <a:t>		5e </a:t>
            </a:r>
            <a:r>
              <a:rPr lang="fr-FR" dirty="0" err="1">
                <a:latin typeface="Figtree"/>
              </a:rPr>
              <a:t>asc</a:t>
            </a:r>
            <a:r>
              <a:rPr lang="fr-FR" dirty="0">
                <a:latin typeface="Figtree"/>
              </a:rPr>
              <a:t>	Rénové</a:t>
            </a:r>
          </a:p>
          <a:p>
            <a:pPr>
              <a:lnSpc>
                <a:spcPts val="2400"/>
              </a:lnSpc>
            </a:pPr>
            <a:r>
              <a:rPr lang="fr-FR" dirty="0">
                <a:latin typeface="Figtree"/>
              </a:rPr>
              <a:t>C-08     	Rue Keller		55 m²	479 600 €	</a:t>
            </a:r>
            <a:r>
              <a:rPr lang="fr-FR" dirty="0">
                <a:solidFill>
                  <a:srgbClr val="00B050"/>
                </a:solidFill>
                <a:latin typeface="Figtree"/>
              </a:rPr>
              <a:t>8 720 €	Fév. 2024</a:t>
            </a:r>
            <a:r>
              <a:rPr lang="fr-FR" dirty="0">
                <a:latin typeface="Figtree"/>
              </a:rPr>
              <a:t>		2</a:t>
            </a:r>
            <a:r>
              <a:rPr lang="fr-FR" baseline="30000" dirty="0">
                <a:latin typeface="Figtree"/>
              </a:rPr>
              <a:t>e</a:t>
            </a:r>
            <a:r>
              <a:rPr lang="fr-FR" dirty="0">
                <a:latin typeface="Figtree"/>
              </a:rPr>
              <a:t>	Vétuste</a:t>
            </a:r>
          </a:p>
          <a:p>
            <a:pPr>
              <a:lnSpc>
                <a:spcPts val="2400"/>
              </a:lnSpc>
            </a:pPr>
            <a:r>
              <a:rPr lang="fr-FR" dirty="0">
                <a:latin typeface="Figtree"/>
              </a:rPr>
              <a:t>C-09     	Rue de la Croix </a:t>
            </a:r>
            <a:r>
              <a:rPr lang="fr-FR" dirty="0" err="1">
                <a:latin typeface="Figtree"/>
              </a:rPr>
              <a:t>Faubin</a:t>
            </a:r>
            <a:r>
              <a:rPr lang="fr-FR" dirty="0">
                <a:latin typeface="Figtree"/>
              </a:rPr>
              <a:t>	67 m²	619 750 €	</a:t>
            </a:r>
            <a:r>
              <a:rPr lang="fr-FR" dirty="0">
                <a:solidFill>
                  <a:srgbClr val="00B050"/>
                </a:solidFill>
                <a:latin typeface="Figtree"/>
              </a:rPr>
              <a:t>9 250 €	Juil. 2024</a:t>
            </a:r>
            <a:r>
              <a:rPr lang="fr-FR" dirty="0">
                <a:latin typeface="Figtree"/>
              </a:rPr>
              <a:t>		3</a:t>
            </a:r>
            <a:r>
              <a:rPr lang="fr-FR" baseline="30000" dirty="0">
                <a:latin typeface="Figtree"/>
              </a:rPr>
              <a:t>e</a:t>
            </a:r>
            <a:r>
              <a:rPr lang="fr-FR" dirty="0">
                <a:latin typeface="Figtree"/>
              </a:rPr>
              <a:t>	Courant</a:t>
            </a:r>
          </a:p>
          <a:p>
            <a:pPr>
              <a:lnSpc>
                <a:spcPts val="2400"/>
              </a:lnSpc>
            </a:pPr>
            <a:r>
              <a:rPr lang="fr-FR" dirty="0">
                <a:latin typeface="Figtree"/>
              </a:rPr>
              <a:t>C-10     	Rue Sedaine		73 m²	694 750 €	</a:t>
            </a:r>
            <a:r>
              <a:rPr lang="fr-FR" dirty="0">
                <a:solidFill>
                  <a:srgbClr val="00B050"/>
                </a:solidFill>
                <a:latin typeface="Figtree"/>
              </a:rPr>
              <a:t>9 517 €	Août 2024</a:t>
            </a:r>
            <a:r>
              <a:rPr lang="fr-FR" dirty="0">
                <a:latin typeface="Figtree"/>
              </a:rPr>
              <a:t>	4e </a:t>
            </a:r>
            <a:r>
              <a:rPr lang="fr-FR" dirty="0" err="1">
                <a:latin typeface="Figtree"/>
              </a:rPr>
              <a:t>asc</a:t>
            </a:r>
            <a:r>
              <a:rPr lang="fr-FR" dirty="0">
                <a:latin typeface="Figtree"/>
              </a:rPr>
              <a:t>	Courant</a:t>
            </a:r>
          </a:p>
        </p:txBody>
      </p:sp>
      <p:sp>
        <p:nvSpPr>
          <p:cNvPr id="9" name="ZoneTexte 8">
            <a:extLst>
              <a:ext uri="{FF2B5EF4-FFF2-40B4-BE49-F238E27FC236}">
                <a16:creationId xmlns:a16="http://schemas.microsoft.com/office/drawing/2014/main" id="{F14B08B4-A67E-0A74-FF31-AB9D9E1FAC47}"/>
              </a:ext>
            </a:extLst>
          </p:cNvPr>
          <p:cNvSpPr txBox="1"/>
          <p:nvPr/>
        </p:nvSpPr>
        <p:spPr>
          <a:xfrm>
            <a:off x="1507524" y="6159070"/>
            <a:ext cx="8761116" cy="369332"/>
          </a:xfrm>
          <a:prstGeom prst="rect">
            <a:avLst/>
          </a:prstGeom>
          <a:noFill/>
        </p:spPr>
        <p:txBody>
          <a:bodyPr wrap="none" rtlCol="0">
            <a:spAutoFit/>
          </a:bodyPr>
          <a:lstStyle/>
          <a:p>
            <a:r>
              <a:rPr lang="fr-FR" dirty="0">
                <a:highlight>
                  <a:srgbClr val="FFFF00"/>
                </a:highlight>
              </a:rPr>
              <a:t>Fourchette observée : </a:t>
            </a:r>
            <a:r>
              <a:rPr lang="fr-FR" b="1" dirty="0">
                <a:highlight>
                  <a:srgbClr val="FFFF00"/>
                </a:highlight>
              </a:rPr>
              <a:t>8 720 € à 9 614 €/m²</a:t>
            </a:r>
            <a:r>
              <a:rPr lang="fr-FR" dirty="0">
                <a:highlight>
                  <a:srgbClr val="FFFF00"/>
                </a:highlight>
              </a:rPr>
              <a:t> · Médiane : </a:t>
            </a:r>
            <a:r>
              <a:rPr lang="fr-FR" b="1" dirty="0">
                <a:highlight>
                  <a:srgbClr val="FFFF00"/>
                </a:highlight>
              </a:rPr>
              <a:t>9 225 €/m²</a:t>
            </a:r>
            <a:r>
              <a:rPr lang="fr-FR" dirty="0">
                <a:highlight>
                  <a:srgbClr val="FFFF00"/>
                </a:highlight>
              </a:rPr>
              <a:t> · Moyenne : </a:t>
            </a:r>
            <a:r>
              <a:rPr lang="fr-FR" b="1" dirty="0">
                <a:highlight>
                  <a:srgbClr val="FFFF00"/>
                </a:highlight>
              </a:rPr>
              <a:t>9 218 €/m²</a:t>
            </a:r>
            <a:endParaRPr lang="fr-FR" dirty="0">
              <a:highlight>
                <a:srgbClr val="FFFF00"/>
              </a:highlight>
            </a:endParaRPr>
          </a:p>
        </p:txBody>
      </p:sp>
    </p:spTree>
    <p:extLst>
      <p:ext uri="{BB962C8B-B14F-4D97-AF65-F5344CB8AC3E}">
        <p14:creationId xmlns:p14="http://schemas.microsoft.com/office/powerpoint/2010/main" val="89446688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BB869CB-4A38-76A5-53FD-C1F39E37DF8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933C44B-4E7F-F2B3-28FA-765DD68397B7}"/>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5197FE5-7A2E-6E89-E828-12A38D61997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EAE56B7-7FCB-B248-BE16-96E420CC886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99BC7A00-AD6C-CFB4-842D-22D33941CE9C}"/>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BEA7ED88-97B7-90FD-3B6A-015B78853400}"/>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EA5185D7-AE76-4C56-8BDE-4274F72E62D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D1DC4543-DAED-A066-AFCD-89E148DE37DD}"/>
              </a:ext>
              <a:ext uri="{C183D7F6-B498-43B3-948B-1728B52AA6E4}">
                <adec:decorative xmlns:adec="http://schemas.microsoft.com/office/drawing/2017/decorative" val="1"/>
              </a:ext>
            </a:extLst>
          </p:cNvPr>
          <p:cNvSpPr/>
          <p:nvPr>
            <p:custDataLst>
              <p:tags r:id="rId1"/>
            </p:custDataLst>
          </p:nvPr>
        </p:nvSpPr>
        <p:spPr>
          <a:xfrm>
            <a:off x="304636" y="1298265"/>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87AD227C-7582-9137-DE8A-19ED93F61F65}"/>
              </a:ext>
            </a:extLst>
          </p:cNvPr>
          <p:cNvSpPr/>
          <p:nvPr>
            <p:custDataLst>
              <p:tags r:id="rId2"/>
            </p:custDataLst>
          </p:nvPr>
        </p:nvSpPr>
        <p:spPr>
          <a:xfrm>
            <a:off x="2843909" y="1815221"/>
            <a:ext cx="848622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Quel est le premier prompt que je dois réaliser avec l’IA ? </a:t>
            </a:r>
          </a:p>
        </p:txBody>
      </p:sp>
      <p:sp>
        <p:nvSpPr>
          <p:cNvPr id="11" name="ZoneTexte 10">
            <a:extLst>
              <a:ext uri="{FF2B5EF4-FFF2-40B4-BE49-F238E27FC236}">
                <a16:creationId xmlns:a16="http://schemas.microsoft.com/office/drawing/2014/main" id="{5EC8DFA8-4472-8240-589D-D5BEA3FBF569}"/>
              </a:ext>
            </a:extLst>
          </p:cNvPr>
          <p:cNvSpPr txBox="1"/>
          <p:nvPr/>
        </p:nvSpPr>
        <p:spPr>
          <a:xfrm>
            <a:off x="2885928" y="3823434"/>
            <a:ext cx="8269187" cy="1938992"/>
          </a:xfrm>
          <a:prstGeom prst="rect">
            <a:avLst/>
          </a:prstGeom>
          <a:noFill/>
        </p:spPr>
        <p:txBody>
          <a:bodyPr wrap="none" rtlCol="0">
            <a:spAutoFit/>
          </a:bodyPr>
          <a:lstStyle/>
          <a:p>
            <a:pPr marL="742950" indent="-742950">
              <a:buFont typeface="+mj-lt"/>
              <a:buAutoNum type="arabicPeriod"/>
            </a:pPr>
            <a:r>
              <a:rPr lang="fr-FR" sz="4000" dirty="0"/>
              <a:t>Prompt de description du bien ?</a:t>
            </a:r>
          </a:p>
          <a:p>
            <a:pPr marL="742950" indent="-742950">
              <a:buFont typeface="+mj-lt"/>
              <a:buAutoNum type="arabicPeriod"/>
            </a:pPr>
            <a:r>
              <a:rPr lang="fr-FR" sz="4000" dirty="0"/>
              <a:t>Prompt d’initialisation ?</a:t>
            </a:r>
          </a:p>
          <a:p>
            <a:pPr marL="742950" indent="-742950">
              <a:buFont typeface="+mj-lt"/>
              <a:buAutoNum type="arabicPeriod"/>
            </a:pPr>
            <a:r>
              <a:rPr lang="fr-FR" sz="4000" dirty="0"/>
              <a:t>Prompt de description du marché ?</a:t>
            </a:r>
          </a:p>
        </p:txBody>
      </p:sp>
    </p:spTree>
    <p:extLst>
      <p:ext uri="{BB962C8B-B14F-4D97-AF65-F5344CB8AC3E}">
        <p14:creationId xmlns:p14="http://schemas.microsoft.com/office/powerpoint/2010/main" val="32876327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259A6FF-7EBA-E742-2E8E-8F8CE3C35BC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04AFD8FD-D9BF-BB20-702B-13D2A4582D74}"/>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B876D46-BC32-5729-46F0-9966EAAB765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7A89639-9B8F-F88E-87C8-8090D945088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A077E2D-1DF4-E005-0382-8792CCDBD3D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E490324-06C4-E400-DFC0-05B7D025A25B}"/>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0CF891CE-1CFD-97D4-E461-D9885A1637A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C1E565C2-AB24-A716-D33C-71DF0AA7009E}"/>
              </a:ext>
              <a:ext uri="{C183D7F6-B498-43B3-948B-1728B52AA6E4}">
                <adec:decorative xmlns:adec="http://schemas.microsoft.com/office/drawing/2017/decorative" val="1"/>
              </a:ext>
            </a:extLst>
          </p:cNvPr>
          <p:cNvSpPr/>
          <p:nvPr>
            <p:custDataLst>
              <p:tags r:id="rId1"/>
            </p:custDataLst>
          </p:nvPr>
        </p:nvSpPr>
        <p:spPr>
          <a:xfrm>
            <a:off x="304636" y="1298265"/>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187FCE3B-9E27-1D55-2961-8C9D2141D28E}"/>
              </a:ext>
            </a:extLst>
          </p:cNvPr>
          <p:cNvSpPr/>
          <p:nvPr>
            <p:custDataLst>
              <p:tags r:id="rId2"/>
            </p:custDataLst>
          </p:nvPr>
        </p:nvSpPr>
        <p:spPr>
          <a:xfrm>
            <a:off x="2843909" y="1815221"/>
            <a:ext cx="848622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Quel est le premier prompt que je dois réaliser avec l’IA ? </a:t>
            </a:r>
          </a:p>
        </p:txBody>
      </p:sp>
      <p:sp>
        <p:nvSpPr>
          <p:cNvPr id="11" name="ZoneTexte 10">
            <a:extLst>
              <a:ext uri="{FF2B5EF4-FFF2-40B4-BE49-F238E27FC236}">
                <a16:creationId xmlns:a16="http://schemas.microsoft.com/office/drawing/2014/main" id="{15A10FD1-5DA0-6E24-82F2-FF7586C1DEF5}"/>
              </a:ext>
            </a:extLst>
          </p:cNvPr>
          <p:cNvSpPr txBox="1"/>
          <p:nvPr/>
        </p:nvSpPr>
        <p:spPr>
          <a:xfrm>
            <a:off x="2885928" y="3823434"/>
            <a:ext cx="8269187" cy="1938992"/>
          </a:xfrm>
          <a:prstGeom prst="rect">
            <a:avLst/>
          </a:prstGeom>
          <a:noFill/>
        </p:spPr>
        <p:txBody>
          <a:bodyPr wrap="none" rtlCol="0">
            <a:spAutoFit/>
          </a:bodyPr>
          <a:lstStyle/>
          <a:p>
            <a:pPr marL="742950" indent="-742950">
              <a:buFont typeface="+mj-lt"/>
              <a:buAutoNum type="arabicPeriod"/>
            </a:pPr>
            <a:r>
              <a:rPr lang="fr-FR" sz="4000" dirty="0"/>
              <a:t>Prompt de description du bien ?</a:t>
            </a:r>
          </a:p>
          <a:p>
            <a:pPr marL="742950" indent="-742950">
              <a:buFont typeface="+mj-lt"/>
              <a:buAutoNum type="arabicPeriod"/>
            </a:pPr>
            <a:r>
              <a:rPr lang="fr-FR" sz="4000" dirty="0">
                <a:highlight>
                  <a:srgbClr val="FFFF00"/>
                </a:highlight>
              </a:rPr>
              <a:t>Prompt d’initialisation ?</a:t>
            </a:r>
          </a:p>
          <a:p>
            <a:pPr marL="742950" indent="-742950">
              <a:buFont typeface="+mj-lt"/>
              <a:buAutoNum type="arabicPeriod"/>
            </a:pPr>
            <a:r>
              <a:rPr lang="fr-FR" sz="4000" dirty="0"/>
              <a:t>Prompt de description du marché ?</a:t>
            </a:r>
          </a:p>
        </p:txBody>
      </p:sp>
    </p:spTree>
    <p:extLst>
      <p:ext uri="{BB962C8B-B14F-4D97-AF65-F5344CB8AC3E}">
        <p14:creationId xmlns:p14="http://schemas.microsoft.com/office/powerpoint/2010/main" val="203570736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C95B0A6-C5FB-FCBC-4D7F-B9D1EE3EB34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CAC6210-A22B-BBC1-8E97-CA9F7D51744C}"/>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D98A961D-0B45-6CB8-F7CA-CE681EE47FF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B3E9709-879C-5C78-9FCB-154CF942D3D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CB9057A-E795-6D72-21C2-8B63936F8B40}"/>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EEFD5F9-F5CD-9BC4-5461-383D4AA3240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AB8B4D2D-E0E5-8DA6-A756-2239497C4AB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29F9B02F-9E6B-6687-20F5-EEBFB9D91097}"/>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3535A40D-F878-A206-14C0-54F557C85057}"/>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Dites en une phrase : </a:t>
            </a:r>
          </a:p>
          <a:p>
            <a:r>
              <a:rPr lang="fr-FR" sz="4000" b="1" dirty="0">
                <a:solidFill>
                  <a:srgbClr val="000000"/>
                </a:solidFill>
              </a:rPr>
              <a:t>par quoi commence votre prompt d'initialisation ?</a:t>
            </a:r>
          </a:p>
        </p:txBody>
      </p:sp>
    </p:spTree>
    <p:extLst>
      <p:ext uri="{BB962C8B-B14F-4D97-AF65-F5344CB8AC3E}">
        <p14:creationId xmlns:p14="http://schemas.microsoft.com/office/powerpoint/2010/main" val="34298133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AE4D7B6-AD9C-D560-0C52-60D8A5B3DF5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3643ECB-83B0-A2A4-5386-6AD1D89A4C35}"/>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16E14CE-E350-C2F4-2A4B-9593AD96C8C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C257CB8-0663-229E-7472-8477F9BE6EB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65BBB77E-E103-AD91-5EC6-859C12843A1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2797132-675B-7AF2-95F2-E316B8DD1EC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2DDB5FB9-0E6D-5C1C-230A-3D5AA64BFAB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4BC94E06-DD69-EB8C-0107-DE6440AD466E}"/>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59BC99BB-626A-5AAA-276F-DC9F3AA22E1B}"/>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Vrai ou faux </a:t>
            </a:r>
            <a:r>
              <a:rPr lang="fr-FR" sz="4000" b="1" dirty="0">
                <a:solidFill>
                  <a:srgbClr val="000000"/>
                </a:solidFill>
              </a:rPr>
              <a:t>: l'IA a mentionné le nom du notaire dans sa réponse ?</a:t>
            </a:r>
          </a:p>
        </p:txBody>
      </p:sp>
    </p:spTree>
    <p:extLst>
      <p:ext uri="{BB962C8B-B14F-4D97-AF65-F5344CB8AC3E}">
        <p14:creationId xmlns:p14="http://schemas.microsoft.com/office/powerpoint/2010/main" val="301582928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8CE35D0-B9AD-C08B-0C35-B33461FAA5A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850C9C-3A24-CF98-B2D7-DA560F4FFAA5}"/>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E5265719-1CB9-60F0-F346-E4838002CBA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FA87C15-23A8-8201-1C27-9BED17F1A3F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F7E0121-278F-6B4E-D9C3-800C2CEE202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3075A18-00F6-C64D-B6A4-A70D646BA10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1C85AEEE-E092-7B1B-EDEA-406DD6F58B2C}"/>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C6B3BF7-C77B-A615-B107-ED7284CEF422}"/>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64B87D3A-CD4C-4AF5-F04E-22C4A393D072}"/>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Vrai ou </a:t>
            </a:r>
            <a:r>
              <a:rPr lang="fr-FR" sz="4000" i="1" dirty="0">
                <a:solidFill>
                  <a:srgbClr val="000000"/>
                </a:solidFill>
                <a:highlight>
                  <a:srgbClr val="FFFF00"/>
                </a:highlight>
              </a:rPr>
              <a:t>faux</a:t>
            </a:r>
            <a:r>
              <a:rPr lang="fr-FR" sz="4000" i="1" dirty="0">
                <a:solidFill>
                  <a:srgbClr val="000000"/>
                </a:solidFill>
              </a:rPr>
              <a:t> </a:t>
            </a:r>
            <a:r>
              <a:rPr lang="fr-FR" sz="4000" b="1" dirty="0">
                <a:solidFill>
                  <a:srgbClr val="000000"/>
                </a:solidFill>
              </a:rPr>
              <a:t>: l'IA a mentionné le nom du notaire dans sa réponse ?</a:t>
            </a:r>
          </a:p>
        </p:txBody>
      </p:sp>
    </p:spTree>
    <p:extLst>
      <p:ext uri="{BB962C8B-B14F-4D97-AF65-F5344CB8AC3E}">
        <p14:creationId xmlns:p14="http://schemas.microsoft.com/office/powerpoint/2010/main" val="422453059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ABAC81A-8B4D-473A-2FA5-4DDA961C25C2}"/>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0E9D2EC-7DFF-4CC4-A714-AFBA0B3D44CC}"/>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E26050F-D4AB-B96E-BE2B-1D9039FE45A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1F49005-120E-81F0-0AF2-437F2CB3B78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80161BC-BDAF-1F6B-E666-75C068061EE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908C8CD3-AB68-1333-F281-602E88A674C1}"/>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3ED4EFF4-F4D7-6681-A415-8EE8B70B49A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73EB3A41-AF83-F16A-73EE-ACE1E7D36AED}"/>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7CF95084-2A2F-5D22-6CC5-88AFAF22CC5B}"/>
              </a:ext>
            </a:extLst>
          </p:cNvPr>
          <p:cNvSpPr/>
          <p:nvPr>
            <p:custDataLst>
              <p:tags r:id="rId2"/>
            </p:custDataLst>
          </p:nvPr>
        </p:nvSpPr>
        <p:spPr>
          <a:xfrm>
            <a:off x="2843908" y="1866912"/>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Dans un rapport amiable, quelle est la première section à rédiger après l'initialisation ?</a:t>
            </a:r>
          </a:p>
        </p:txBody>
      </p:sp>
      <p:sp>
        <p:nvSpPr>
          <p:cNvPr id="7" name="ZoneTexte 6">
            <a:extLst>
              <a:ext uri="{FF2B5EF4-FFF2-40B4-BE49-F238E27FC236}">
                <a16:creationId xmlns:a16="http://schemas.microsoft.com/office/drawing/2014/main" id="{3302EF8E-8128-40E9-C566-1C49E1F7E45A}"/>
              </a:ext>
            </a:extLst>
          </p:cNvPr>
          <p:cNvSpPr txBox="1"/>
          <p:nvPr/>
        </p:nvSpPr>
        <p:spPr>
          <a:xfrm>
            <a:off x="2885928" y="3823434"/>
            <a:ext cx="8210453" cy="2554545"/>
          </a:xfrm>
          <a:prstGeom prst="rect">
            <a:avLst/>
          </a:prstGeom>
          <a:noFill/>
        </p:spPr>
        <p:txBody>
          <a:bodyPr wrap="none" rtlCol="0">
            <a:spAutoFit/>
          </a:bodyPr>
          <a:lstStyle/>
          <a:p>
            <a:pPr marL="742950" indent="-742950">
              <a:buFont typeface="+mj-lt"/>
              <a:buAutoNum type="arabicPeriod"/>
            </a:pPr>
            <a:r>
              <a:rPr lang="fr-FR" sz="4000" dirty="0"/>
              <a:t>A — L'analyse de marché</a:t>
            </a:r>
          </a:p>
          <a:p>
            <a:pPr marL="742950" indent="-742950">
              <a:buFont typeface="+mj-lt"/>
              <a:buAutoNum type="arabicPeriod"/>
            </a:pPr>
            <a:r>
              <a:rPr lang="fr-FR" sz="4000" dirty="0"/>
              <a:t>B — Le cadre et objet de la mission</a:t>
            </a:r>
          </a:p>
          <a:p>
            <a:pPr marL="742950" indent="-742950">
              <a:buFont typeface="+mj-lt"/>
              <a:buAutoNum type="arabicPeriod"/>
            </a:pPr>
            <a:r>
              <a:rPr lang="fr-FR" sz="4000" dirty="0"/>
              <a:t>C — La description du bien</a:t>
            </a:r>
          </a:p>
          <a:p>
            <a:pPr marL="742950" indent="-742950">
              <a:buFont typeface="+mj-lt"/>
              <a:buAutoNum type="arabicPeriod"/>
            </a:pPr>
            <a:r>
              <a:rPr lang="fr-FR" sz="4000" dirty="0"/>
              <a:t>D — L'avis de valeur</a:t>
            </a:r>
          </a:p>
        </p:txBody>
      </p:sp>
    </p:spTree>
    <p:extLst>
      <p:ext uri="{BB962C8B-B14F-4D97-AF65-F5344CB8AC3E}">
        <p14:creationId xmlns:p14="http://schemas.microsoft.com/office/powerpoint/2010/main" val="79507731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6E5DCCD-8F06-90F0-35D4-A71EC996ED04}"/>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B385581-B852-2592-4265-4852EA864E48}"/>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6193CDEC-36E1-AB3F-B024-2809CBD66F8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D4F4BB4-1C5B-B648-E855-70D30F415D3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6A71DAF9-91E8-3AAA-CBCB-CC11059E7F9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F213629-3DDD-A572-A323-8DC2DA558C7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529FC59D-E1E9-83D3-C455-BAD86488B4B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D31BE621-4699-B5ED-885D-02970B2729A3}"/>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A695E979-850D-99C3-394E-F0AD4E0C149F}"/>
              </a:ext>
            </a:extLst>
          </p:cNvPr>
          <p:cNvSpPr/>
          <p:nvPr>
            <p:custDataLst>
              <p:tags r:id="rId2"/>
            </p:custDataLst>
          </p:nvPr>
        </p:nvSpPr>
        <p:spPr>
          <a:xfrm>
            <a:off x="2843908" y="1866912"/>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Dans un rapport amiable, quelle est la première section à rédiger après l'initialisation ?</a:t>
            </a:r>
          </a:p>
        </p:txBody>
      </p:sp>
      <p:sp>
        <p:nvSpPr>
          <p:cNvPr id="7" name="ZoneTexte 6">
            <a:extLst>
              <a:ext uri="{FF2B5EF4-FFF2-40B4-BE49-F238E27FC236}">
                <a16:creationId xmlns:a16="http://schemas.microsoft.com/office/drawing/2014/main" id="{DE401EFC-012C-BB74-14B9-22221E8BD7E4}"/>
              </a:ext>
            </a:extLst>
          </p:cNvPr>
          <p:cNvSpPr txBox="1"/>
          <p:nvPr/>
        </p:nvSpPr>
        <p:spPr>
          <a:xfrm>
            <a:off x="2885928" y="3823434"/>
            <a:ext cx="8210453" cy="2554545"/>
          </a:xfrm>
          <a:prstGeom prst="rect">
            <a:avLst/>
          </a:prstGeom>
          <a:noFill/>
        </p:spPr>
        <p:txBody>
          <a:bodyPr wrap="none" rtlCol="0">
            <a:spAutoFit/>
          </a:bodyPr>
          <a:lstStyle/>
          <a:p>
            <a:pPr marL="742950" indent="-742950">
              <a:buFont typeface="+mj-lt"/>
              <a:buAutoNum type="arabicPeriod"/>
            </a:pPr>
            <a:r>
              <a:rPr lang="fr-FR" sz="4000" dirty="0"/>
              <a:t>A — L'analyse de marché</a:t>
            </a:r>
          </a:p>
          <a:p>
            <a:pPr marL="742950" indent="-742950">
              <a:buFont typeface="+mj-lt"/>
              <a:buAutoNum type="arabicPeriod"/>
            </a:pPr>
            <a:r>
              <a:rPr lang="fr-FR" sz="4000" dirty="0">
                <a:highlight>
                  <a:srgbClr val="FFFF00"/>
                </a:highlight>
              </a:rPr>
              <a:t>B — Le cadre et objet de la mission</a:t>
            </a:r>
          </a:p>
          <a:p>
            <a:pPr marL="742950" indent="-742950">
              <a:buFont typeface="+mj-lt"/>
              <a:buAutoNum type="arabicPeriod"/>
            </a:pPr>
            <a:r>
              <a:rPr lang="fr-FR" sz="4000" dirty="0"/>
              <a:t>C — La description du bien</a:t>
            </a:r>
          </a:p>
          <a:p>
            <a:pPr marL="742950" indent="-742950">
              <a:buFont typeface="+mj-lt"/>
              <a:buAutoNum type="arabicPeriod"/>
            </a:pPr>
            <a:r>
              <a:rPr lang="fr-FR" sz="4000" dirty="0"/>
              <a:t>D — L'avis de valeur</a:t>
            </a:r>
          </a:p>
        </p:txBody>
      </p:sp>
      <p:sp>
        <p:nvSpPr>
          <p:cNvPr id="8" name="ZoneTexte 7">
            <a:extLst>
              <a:ext uri="{FF2B5EF4-FFF2-40B4-BE49-F238E27FC236}">
                <a16:creationId xmlns:a16="http://schemas.microsoft.com/office/drawing/2014/main" id="{3F625D9F-DC29-76A4-F058-7B9EB4C2B43E}"/>
              </a:ext>
            </a:extLst>
          </p:cNvPr>
          <p:cNvSpPr txBox="1"/>
          <p:nvPr/>
        </p:nvSpPr>
        <p:spPr>
          <a:xfrm>
            <a:off x="304636" y="1473891"/>
            <a:ext cx="3650999" cy="461665"/>
          </a:xfrm>
          <a:prstGeom prst="rect">
            <a:avLst/>
          </a:prstGeom>
          <a:noFill/>
        </p:spPr>
        <p:txBody>
          <a:bodyPr wrap="none" rtlCol="0">
            <a:spAutoFit/>
          </a:bodyPr>
          <a:lstStyle/>
          <a:p>
            <a:r>
              <a:rPr lang="fr-FR" sz="2400" u="sng" dirty="0"/>
              <a:t>Cadre et objet de la mission</a:t>
            </a:r>
          </a:p>
        </p:txBody>
      </p:sp>
    </p:spTree>
    <p:extLst>
      <p:ext uri="{BB962C8B-B14F-4D97-AF65-F5344CB8AC3E}">
        <p14:creationId xmlns:p14="http://schemas.microsoft.com/office/powerpoint/2010/main" val="345016173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28577A9-FCDA-B267-4F78-86550DD29604}"/>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FDB1DCC-5F2A-4424-12D1-A6074863463B}"/>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3D6F7F0-14A4-EEDF-CAA8-B2E0BE8DA83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7A4427D-A920-98E6-89AB-3A42E6CE1E29}"/>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206A6443-C0AE-600A-E95E-A4AF98DF9A4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FF3FFCB5-0FA8-34DD-85EE-57107CE306C2}"/>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1C8F523A-A1F9-4C58-C883-02D8241DCA9A}"/>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337ADD8B-F10B-4776-D7AC-F102D6BA2F5E}"/>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814245DA-3D40-1F11-EE1B-41BBC47F719D}"/>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Vrai ou faux </a:t>
            </a:r>
            <a:r>
              <a:rPr lang="fr-FR" sz="4000" b="1" dirty="0">
                <a:solidFill>
                  <a:srgbClr val="000000"/>
                </a:solidFill>
              </a:rPr>
              <a:t>: l'IA a mentionné "l'expert soussigné a été commis".</a:t>
            </a:r>
          </a:p>
        </p:txBody>
      </p:sp>
      <p:sp>
        <p:nvSpPr>
          <p:cNvPr id="7" name="ZoneTexte 6">
            <a:extLst>
              <a:ext uri="{FF2B5EF4-FFF2-40B4-BE49-F238E27FC236}">
                <a16:creationId xmlns:a16="http://schemas.microsoft.com/office/drawing/2014/main" id="{9C107C9C-C9B6-E535-FF10-C7C68DAFD7C5}"/>
              </a:ext>
            </a:extLst>
          </p:cNvPr>
          <p:cNvSpPr txBox="1"/>
          <p:nvPr/>
        </p:nvSpPr>
        <p:spPr>
          <a:xfrm>
            <a:off x="304636" y="1473891"/>
            <a:ext cx="3650999" cy="461665"/>
          </a:xfrm>
          <a:prstGeom prst="rect">
            <a:avLst/>
          </a:prstGeom>
          <a:noFill/>
        </p:spPr>
        <p:txBody>
          <a:bodyPr wrap="none" rtlCol="0">
            <a:spAutoFit/>
          </a:bodyPr>
          <a:lstStyle/>
          <a:p>
            <a:r>
              <a:rPr lang="fr-FR" sz="2400" u="sng" dirty="0"/>
              <a:t>Cadre et objet de la mission</a:t>
            </a:r>
          </a:p>
        </p:txBody>
      </p:sp>
    </p:spTree>
    <p:extLst>
      <p:ext uri="{BB962C8B-B14F-4D97-AF65-F5344CB8AC3E}">
        <p14:creationId xmlns:p14="http://schemas.microsoft.com/office/powerpoint/2010/main" val="8062305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1E89DD2-3F7E-16F3-8000-4B41DF5E23CB}"/>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3504C9E-E881-ECF6-0374-FB4C76FF3F1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CD480D2-4F2D-4AB8-53C6-8B095090E2D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D7168B2-A3C3-7A3F-7DF3-5844789B55E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88091594-1747-0D2F-A419-F3B9B4C91DEF}"/>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8859746-D014-638D-D782-3E4A3675E2C6}"/>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D8BB4A3C-96D6-399A-29F6-A10AB1BEA7E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E2F5DFB6-E06C-BD50-E7D1-77C066E5174B}"/>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16BEB9E8-A34E-E7ED-9277-F0CDC6688BE9}"/>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Vrai ou </a:t>
            </a:r>
            <a:r>
              <a:rPr lang="fr-FR" sz="4000" i="1" dirty="0">
                <a:solidFill>
                  <a:srgbClr val="000000"/>
                </a:solidFill>
                <a:highlight>
                  <a:srgbClr val="FFFF00"/>
                </a:highlight>
              </a:rPr>
              <a:t>faux</a:t>
            </a:r>
            <a:r>
              <a:rPr lang="fr-FR" sz="4000" i="1" dirty="0">
                <a:solidFill>
                  <a:srgbClr val="000000"/>
                </a:solidFill>
              </a:rPr>
              <a:t> </a:t>
            </a:r>
            <a:r>
              <a:rPr lang="fr-FR" sz="4000" b="1" dirty="0">
                <a:solidFill>
                  <a:srgbClr val="000000"/>
                </a:solidFill>
              </a:rPr>
              <a:t>: l'IA a mentionné "l'expert soussigné a été commis".</a:t>
            </a:r>
          </a:p>
        </p:txBody>
      </p:sp>
      <p:sp>
        <p:nvSpPr>
          <p:cNvPr id="7" name="ZoneTexte 6">
            <a:extLst>
              <a:ext uri="{FF2B5EF4-FFF2-40B4-BE49-F238E27FC236}">
                <a16:creationId xmlns:a16="http://schemas.microsoft.com/office/drawing/2014/main" id="{9AD90DBC-2F33-303D-B7C2-D9C492B1A90A}"/>
              </a:ext>
            </a:extLst>
          </p:cNvPr>
          <p:cNvSpPr txBox="1"/>
          <p:nvPr/>
        </p:nvSpPr>
        <p:spPr>
          <a:xfrm>
            <a:off x="304636" y="1473891"/>
            <a:ext cx="3650999" cy="461665"/>
          </a:xfrm>
          <a:prstGeom prst="rect">
            <a:avLst/>
          </a:prstGeom>
          <a:noFill/>
        </p:spPr>
        <p:txBody>
          <a:bodyPr wrap="none" rtlCol="0">
            <a:spAutoFit/>
          </a:bodyPr>
          <a:lstStyle/>
          <a:p>
            <a:r>
              <a:rPr lang="fr-FR" sz="2400" u="sng" dirty="0"/>
              <a:t>Cadre et objet de la mission</a:t>
            </a:r>
          </a:p>
        </p:txBody>
      </p:sp>
    </p:spTree>
    <p:extLst>
      <p:ext uri="{BB962C8B-B14F-4D97-AF65-F5344CB8AC3E}">
        <p14:creationId xmlns:p14="http://schemas.microsoft.com/office/powerpoint/2010/main" val="3123735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520884-4DF6-B3F1-5457-E0FC7DE724C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C1A0C3E-4FD3-EE40-6DF8-3F85C698ADFF}"/>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A2D37AA-75DB-2385-F6C4-AC5C99ADC39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E2BADFB-68E9-C97B-EB2A-6FAD85FA099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0D687A3-0192-73D7-30A9-F293904B7FAA}"/>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A2657D5-B3DF-E290-9268-6EBEE150C816}"/>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CAAFE02B-820E-B81D-D64B-FF217AB03B2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3FB15126-144A-952F-AAF3-89C8A88B7B2D}"/>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03D33EA8-1948-3B6F-AD17-248A6C7848B4}"/>
              </a:ext>
            </a:extLst>
          </p:cNvPr>
          <p:cNvSpPr/>
          <p:nvPr>
            <p:custDataLst>
              <p:tags r:id="rId2"/>
            </p:custDataLst>
          </p:nvPr>
        </p:nvSpPr>
        <p:spPr>
          <a:xfrm>
            <a:off x="2843908" y="1866912"/>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 manque-t-il dans cette section pour qu'elle soit complète ?</a:t>
            </a:r>
          </a:p>
        </p:txBody>
      </p:sp>
      <p:sp>
        <p:nvSpPr>
          <p:cNvPr id="7" name="ZoneTexte 6">
            <a:extLst>
              <a:ext uri="{FF2B5EF4-FFF2-40B4-BE49-F238E27FC236}">
                <a16:creationId xmlns:a16="http://schemas.microsoft.com/office/drawing/2014/main" id="{9278C43E-5F0D-BC5C-3FEA-4B6D9ED5BBFA}"/>
              </a:ext>
            </a:extLst>
          </p:cNvPr>
          <p:cNvSpPr txBox="1"/>
          <p:nvPr/>
        </p:nvSpPr>
        <p:spPr>
          <a:xfrm>
            <a:off x="2885928" y="3567941"/>
            <a:ext cx="6948121" cy="2554545"/>
          </a:xfrm>
          <a:prstGeom prst="rect">
            <a:avLst/>
          </a:prstGeom>
          <a:noFill/>
        </p:spPr>
        <p:txBody>
          <a:bodyPr wrap="none" rtlCol="0">
            <a:spAutoFit/>
          </a:bodyPr>
          <a:lstStyle/>
          <a:p>
            <a:pPr marL="742950" indent="-742950">
              <a:buFont typeface="+mj-lt"/>
              <a:buAutoNum type="arabicPeriod"/>
            </a:pPr>
            <a:r>
              <a:rPr lang="fr-FR" sz="4000" dirty="0"/>
              <a:t>A — La valeur du bien</a:t>
            </a:r>
          </a:p>
          <a:p>
            <a:pPr marL="742950" indent="-742950">
              <a:buFont typeface="+mj-lt"/>
              <a:buAutoNum type="arabicPeriod"/>
            </a:pPr>
            <a:r>
              <a:rPr lang="fr-FR" sz="4000" dirty="0"/>
              <a:t>B — Le nom du notaire</a:t>
            </a:r>
          </a:p>
          <a:p>
            <a:pPr marL="742950" indent="-742950">
              <a:buFont typeface="+mj-lt"/>
              <a:buAutoNum type="arabicPeriod"/>
            </a:pPr>
            <a:r>
              <a:rPr lang="fr-FR" sz="4000" dirty="0"/>
              <a:t>C — Rien, elle est complète</a:t>
            </a:r>
          </a:p>
          <a:p>
            <a:pPr marL="742950" indent="-742950">
              <a:buFont typeface="+mj-lt"/>
              <a:buAutoNum type="arabicPeriod"/>
            </a:pPr>
            <a:r>
              <a:rPr lang="fr-FR" sz="4000" dirty="0"/>
              <a:t>D — La date de l'ordonnance</a:t>
            </a:r>
          </a:p>
        </p:txBody>
      </p:sp>
      <p:sp>
        <p:nvSpPr>
          <p:cNvPr id="8" name="ZoneTexte 7">
            <a:extLst>
              <a:ext uri="{FF2B5EF4-FFF2-40B4-BE49-F238E27FC236}">
                <a16:creationId xmlns:a16="http://schemas.microsoft.com/office/drawing/2014/main" id="{255E8C34-5AAE-1A1D-110C-1B16A72EC00C}"/>
              </a:ext>
            </a:extLst>
          </p:cNvPr>
          <p:cNvSpPr txBox="1"/>
          <p:nvPr/>
        </p:nvSpPr>
        <p:spPr>
          <a:xfrm>
            <a:off x="304636" y="1473891"/>
            <a:ext cx="3650999" cy="461665"/>
          </a:xfrm>
          <a:prstGeom prst="rect">
            <a:avLst/>
          </a:prstGeom>
          <a:noFill/>
        </p:spPr>
        <p:txBody>
          <a:bodyPr wrap="none" rtlCol="0">
            <a:spAutoFit/>
          </a:bodyPr>
          <a:lstStyle/>
          <a:p>
            <a:r>
              <a:rPr lang="fr-FR" sz="2400" u="sng" dirty="0"/>
              <a:t>Cadre et objet de la mission</a:t>
            </a:r>
          </a:p>
        </p:txBody>
      </p:sp>
    </p:spTree>
    <p:extLst>
      <p:ext uri="{BB962C8B-B14F-4D97-AF65-F5344CB8AC3E}">
        <p14:creationId xmlns:p14="http://schemas.microsoft.com/office/powerpoint/2010/main" val="1116081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7AC0B49-0542-5E4A-E06C-F48B26CD0E0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5A5084E-0B5C-E8B6-D5A3-6391E97A3B5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5598C363-4FF0-22B5-863E-4278CC063E7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B13CF13-F82F-19F3-10C7-E44D3D3B80E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11D61DB-8EFA-BF3D-3218-5ADBA46CD17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39153A7-A142-445C-AA4D-B0A5E68AE482}"/>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0638914C-E0BD-2185-2689-BF8F4FC01A3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B4B3A7F3-FE63-1FAE-0269-C78BA1276D9D}"/>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80F9287A-1DC9-ADF5-4944-16911D7E604B}"/>
              </a:ext>
            </a:extLst>
          </p:cNvPr>
          <p:cNvSpPr/>
          <p:nvPr>
            <p:custDataLst>
              <p:tags r:id="rId2"/>
            </p:custDataLst>
          </p:nvPr>
        </p:nvSpPr>
        <p:spPr>
          <a:xfrm>
            <a:off x="2843908" y="1866912"/>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 manque-t-il dans cette section pour qu'elle soit complète ?</a:t>
            </a:r>
          </a:p>
        </p:txBody>
      </p:sp>
      <p:sp>
        <p:nvSpPr>
          <p:cNvPr id="7" name="ZoneTexte 6">
            <a:extLst>
              <a:ext uri="{FF2B5EF4-FFF2-40B4-BE49-F238E27FC236}">
                <a16:creationId xmlns:a16="http://schemas.microsoft.com/office/drawing/2014/main" id="{97591FA0-0AE6-BBE5-3EA0-56533712BF44}"/>
              </a:ext>
            </a:extLst>
          </p:cNvPr>
          <p:cNvSpPr txBox="1"/>
          <p:nvPr/>
        </p:nvSpPr>
        <p:spPr>
          <a:xfrm>
            <a:off x="2885928" y="3567941"/>
            <a:ext cx="6948121" cy="2554545"/>
          </a:xfrm>
          <a:prstGeom prst="rect">
            <a:avLst/>
          </a:prstGeom>
          <a:noFill/>
        </p:spPr>
        <p:txBody>
          <a:bodyPr wrap="none" rtlCol="0">
            <a:spAutoFit/>
          </a:bodyPr>
          <a:lstStyle/>
          <a:p>
            <a:pPr marL="742950" indent="-742950">
              <a:buFont typeface="+mj-lt"/>
              <a:buAutoNum type="arabicPeriod"/>
            </a:pPr>
            <a:r>
              <a:rPr lang="fr-FR" sz="4000" dirty="0"/>
              <a:t>A — La valeur du bien</a:t>
            </a:r>
          </a:p>
          <a:p>
            <a:pPr marL="742950" indent="-742950">
              <a:buFont typeface="+mj-lt"/>
              <a:buAutoNum type="arabicPeriod"/>
            </a:pPr>
            <a:r>
              <a:rPr lang="fr-FR" sz="4000" dirty="0"/>
              <a:t>B — Le nom du notaire</a:t>
            </a:r>
          </a:p>
          <a:p>
            <a:pPr marL="742950" indent="-742950">
              <a:buFont typeface="+mj-lt"/>
              <a:buAutoNum type="arabicPeriod"/>
            </a:pPr>
            <a:r>
              <a:rPr lang="fr-FR" sz="4000" dirty="0">
                <a:highlight>
                  <a:srgbClr val="FFFF00"/>
                </a:highlight>
              </a:rPr>
              <a:t>C — Rien, elle est complète</a:t>
            </a:r>
          </a:p>
          <a:p>
            <a:pPr marL="742950" indent="-742950">
              <a:buFont typeface="+mj-lt"/>
              <a:buAutoNum type="arabicPeriod"/>
            </a:pPr>
            <a:r>
              <a:rPr lang="fr-FR" sz="4000" dirty="0"/>
              <a:t>D — La date de l'ordonnance</a:t>
            </a:r>
          </a:p>
        </p:txBody>
      </p:sp>
      <p:sp>
        <p:nvSpPr>
          <p:cNvPr id="8" name="ZoneTexte 7">
            <a:extLst>
              <a:ext uri="{FF2B5EF4-FFF2-40B4-BE49-F238E27FC236}">
                <a16:creationId xmlns:a16="http://schemas.microsoft.com/office/drawing/2014/main" id="{27B08538-8CC0-D870-71B4-7B01A994905D}"/>
              </a:ext>
            </a:extLst>
          </p:cNvPr>
          <p:cNvSpPr txBox="1"/>
          <p:nvPr/>
        </p:nvSpPr>
        <p:spPr>
          <a:xfrm>
            <a:off x="304636" y="1473891"/>
            <a:ext cx="3650999" cy="461665"/>
          </a:xfrm>
          <a:prstGeom prst="rect">
            <a:avLst/>
          </a:prstGeom>
          <a:noFill/>
        </p:spPr>
        <p:txBody>
          <a:bodyPr wrap="none" rtlCol="0">
            <a:spAutoFit/>
          </a:bodyPr>
          <a:lstStyle/>
          <a:p>
            <a:r>
              <a:rPr lang="fr-FR" sz="2400" u="sng" dirty="0"/>
              <a:t>Cadre et objet de la mission</a:t>
            </a:r>
          </a:p>
        </p:txBody>
      </p:sp>
    </p:spTree>
    <p:extLst>
      <p:ext uri="{BB962C8B-B14F-4D97-AF65-F5344CB8AC3E}">
        <p14:creationId xmlns:p14="http://schemas.microsoft.com/office/powerpoint/2010/main" val="3588124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64147EB-06D8-C2C3-290E-B465D2B97DA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E40D834-5A36-7F2E-4A5D-74B1FD33370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01FFE5A5-AD79-3BF0-3F42-D6ADA13C55C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3666110-1726-5B89-7873-82AE6BA5DFB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851DE334-8E11-B04D-5B69-82E3EEA3149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8497992D-5CFD-0AD0-E756-1DF8056C7CE8}"/>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CAA977A1-1B81-919F-53D0-0BC82F38172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2C929516-0717-5E12-4D09-943F3672A427}"/>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01634F31-4B76-BA83-2166-F1AEC1BD5EE0}"/>
              </a:ext>
            </a:extLst>
          </p:cNvPr>
          <p:cNvSpPr/>
          <p:nvPr>
            <p:custDataLst>
              <p:tags r:id="rId2"/>
            </p:custDataLst>
          </p:nvPr>
        </p:nvSpPr>
        <p:spPr>
          <a:xfrm>
            <a:off x="2843908" y="1866912"/>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 colle-t-on dans le prompt pour obtenir la description du bien ?</a:t>
            </a:r>
          </a:p>
        </p:txBody>
      </p:sp>
      <p:sp>
        <p:nvSpPr>
          <p:cNvPr id="7" name="ZoneTexte 6">
            <a:extLst>
              <a:ext uri="{FF2B5EF4-FFF2-40B4-BE49-F238E27FC236}">
                <a16:creationId xmlns:a16="http://schemas.microsoft.com/office/drawing/2014/main" id="{819690DB-090F-B297-C743-D4BE5DE9B751}"/>
              </a:ext>
            </a:extLst>
          </p:cNvPr>
          <p:cNvSpPr txBox="1"/>
          <p:nvPr/>
        </p:nvSpPr>
        <p:spPr>
          <a:xfrm>
            <a:off x="2702016" y="3566967"/>
            <a:ext cx="9327240" cy="2308324"/>
          </a:xfrm>
          <a:prstGeom prst="rect">
            <a:avLst/>
          </a:prstGeom>
          <a:noFill/>
        </p:spPr>
        <p:txBody>
          <a:bodyPr wrap="square" rtlCol="0">
            <a:spAutoFit/>
          </a:bodyPr>
          <a:lstStyle/>
          <a:p>
            <a:pPr marL="742950" indent="-742950">
              <a:buFont typeface="+mj-lt"/>
              <a:buAutoNum type="arabicPeriod"/>
            </a:pPr>
            <a:r>
              <a:rPr lang="fr-FR" sz="3600" dirty="0"/>
              <a:t>A — Un résumé rédigé de vos observations</a:t>
            </a:r>
          </a:p>
          <a:p>
            <a:pPr marL="742950" indent="-742950">
              <a:buFont typeface="+mj-lt"/>
              <a:buAutoNum type="arabicPeriod"/>
            </a:pPr>
            <a:r>
              <a:rPr lang="fr-FR" sz="3600" dirty="0"/>
              <a:t>B — Vos notes de visite brutes telles quelles</a:t>
            </a:r>
          </a:p>
          <a:p>
            <a:pPr marL="742950" indent="-742950">
              <a:buFont typeface="+mj-lt"/>
              <a:buAutoNum type="arabicPeriod"/>
            </a:pPr>
            <a:r>
              <a:rPr lang="fr-FR" sz="3600" dirty="0"/>
              <a:t>C — Le règlement de copropriété</a:t>
            </a:r>
          </a:p>
          <a:p>
            <a:pPr marL="742950" indent="-742950">
              <a:buFont typeface="+mj-lt"/>
              <a:buAutoNum type="arabicPeriod"/>
            </a:pPr>
            <a:r>
              <a:rPr lang="fr-FR" sz="3600" dirty="0"/>
              <a:t>D — Le DPE</a:t>
            </a:r>
          </a:p>
        </p:txBody>
      </p:sp>
      <p:sp>
        <p:nvSpPr>
          <p:cNvPr id="6" name="ZoneTexte 5">
            <a:extLst>
              <a:ext uri="{FF2B5EF4-FFF2-40B4-BE49-F238E27FC236}">
                <a16:creationId xmlns:a16="http://schemas.microsoft.com/office/drawing/2014/main" id="{655DB1B5-5CE9-6228-FE6C-4EBFEA6DF351}"/>
              </a:ext>
            </a:extLst>
          </p:cNvPr>
          <p:cNvSpPr txBox="1"/>
          <p:nvPr/>
        </p:nvSpPr>
        <p:spPr>
          <a:xfrm>
            <a:off x="304636" y="1473891"/>
            <a:ext cx="3815147" cy="461665"/>
          </a:xfrm>
          <a:prstGeom prst="rect">
            <a:avLst/>
          </a:prstGeom>
          <a:noFill/>
        </p:spPr>
        <p:txBody>
          <a:bodyPr wrap="none" rtlCol="0">
            <a:spAutoFit/>
          </a:bodyPr>
          <a:lstStyle/>
          <a:p>
            <a:r>
              <a:rPr lang="fr-FR" sz="2400" u="sng" dirty="0"/>
              <a:t>Description physique du bien</a:t>
            </a:r>
          </a:p>
        </p:txBody>
      </p:sp>
    </p:spTree>
    <p:extLst>
      <p:ext uri="{BB962C8B-B14F-4D97-AF65-F5344CB8AC3E}">
        <p14:creationId xmlns:p14="http://schemas.microsoft.com/office/powerpoint/2010/main" val="196358335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13DDB7E-A72F-D3E2-2A24-B00557324C12}"/>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6B8C4E3-6C10-C40F-316B-28CD47AA476B}"/>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DE3660D-6945-23EA-3C9F-B7BF27593A8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7FF83B2-6729-2EA3-FD42-DA76109A69A1}"/>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7D5BE172-B630-F02E-F863-287DB732644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9EF74B51-A1EB-C56B-3311-0B5DCDA0F1A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EA8901FF-27F9-8B37-33D2-2C7B24C04E4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008B004B-3B8A-4436-0793-308D191086B4}"/>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FB0DBDA0-1F4F-4F85-52B2-2C17E0FF2BAD}"/>
              </a:ext>
            </a:extLst>
          </p:cNvPr>
          <p:cNvSpPr/>
          <p:nvPr>
            <p:custDataLst>
              <p:tags r:id="rId2"/>
            </p:custDataLst>
          </p:nvPr>
        </p:nvSpPr>
        <p:spPr>
          <a:xfrm>
            <a:off x="2843908" y="1866912"/>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 colle-t-on dans le prompt pour obtenir la description du bien ?</a:t>
            </a:r>
          </a:p>
        </p:txBody>
      </p:sp>
      <p:sp>
        <p:nvSpPr>
          <p:cNvPr id="7" name="ZoneTexte 6">
            <a:extLst>
              <a:ext uri="{FF2B5EF4-FFF2-40B4-BE49-F238E27FC236}">
                <a16:creationId xmlns:a16="http://schemas.microsoft.com/office/drawing/2014/main" id="{81FD2EAD-D2F7-C50A-44F1-FB5795B78B91}"/>
              </a:ext>
            </a:extLst>
          </p:cNvPr>
          <p:cNvSpPr txBox="1"/>
          <p:nvPr/>
        </p:nvSpPr>
        <p:spPr>
          <a:xfrm>
            <a:off x="2702016" y="3566967"/>
            <a:ext cx="9327240" cy="2308324"/>
          </a:xfrm>
          <a:prstGeom prst="rect">
            <a:avLst/>
          </a:prstGeom>
          <a:noFill/>
        </p:spPr>
        <p:txBody>
          <a:bodyPr wrap="square" rtlCol="0">
            <a:spAutoFit/>
          </a:bodyPr>
          <a:lstStyle/>
          <a:p>
            <a:pPr marL="742950" indent="-742950">
              <a:buFont typeface="+mj-lt"/>
              <a:buAutoNum type="arabicPeriod"/>
            </a:pPr>
            <a:r>
              <a:rPr lang="fr-FR" sz="3600" dirty="0"/>
              <a:t>A — Un résumé rédigé de vos observations</a:t>
            </a:r>
          </a:p>
          <a:p>
            <a:pPr marL="742950" indent="-742950">
              <a:buFont typeface="+mj-lt"/>
              <a:buAutoNum type="arabicPeriod"/>
            </a:pPr>
            <a:r>
              <a:rPr lang="fr-FR" sz="3600" dirty="0">
                <a:highlight>
                  <a:srgbClr val="FFFF00"/>
                </a:highlight>
              </a:rPr>
              <a:t>B — Vos notes de visite brutes telles quelles</a:t>
            </a:r>
          </a:p>
          <a:p>
            <a:pPr marL="742950" indent="-742950">
              <a:buFont typeface="+mj-lt"/>
              <a:buAutoNum type="arabicPeriod"/>
            </a:pPr>
            <a:r>
              <a:rPr lang="fr-FR" sz="3600" dirty="0"/>
              <a:t>C — Le règlement de copropriété</a:t>
            </a:r>
          </a:p>
          <a:p>
            <a:pPr marL="742950" indent="-742950">
              <a:buFont typeface="+mj-lt"/>
              <a:buAutoNum type="arabicPeriod"/>
            </a:pPr>
            <a:r>
              <a:rPr lang="fr-FR" sz="3600" dirty="0"/>
              <a:t>D — Le DPE</a:t>
            </a:r>
          </a:p>
        </p:txBody>
      </p:sp>
      <p:sp>
        <p:nvSpPr>
          <p:cNvPr id="6" name="ZoneTexte 5">
            <a:extLst>
              <a:ext uri="{FF2B5EF4-FFF2-40B4-BE49-F238E27FC236}">
                <a16:creationId xmlns:a16="http://schemas.microsoft.com/office/drawing/2014/main" id="{CA8BAA43-1CBD-174A-D5F8-9F874483DA1A}"/>
              </a:ext>
            </a:extLst>
          </p:cNvPr>
          <p:cNvSpPr txBox="1"/>
          <p:nvPr/>
        </p:nvSpPr>
        <p:spPr>
          <a:xfrm>
            <a:off x="304636" y="1473891"/>
            <a:ext cx="3815147" cy="461665"/>
          </a:xfrm>
          <a:prstGeom prst="rect">
            <a:avLst/>
          </a:prstGeom>
          <a:noFill/>
        </p:spPr>
        <p:txBody>
          <a:bodyPr wrap="none" rtlCol="0">
            <a:spAutoFit/>
          </a:bodyPr>
          <a:lstStyle/>
          <a:p>
            <a:r>
              <a:rPr lang="fr-FR" sz="2400" u="sng" dirty="0"/>
              <a:t>Description physique du bien</a:t>
            </a:r>
          </a:p>
        </p:txBody>
      </p:sp>
    </p:spTree>
    <p:extLst>
      <p:ext uri="{BB962C8B-B14F-4D97-AF65-F5344CB8AC3E}">
        <p14:creationId xmlns:p14="http://schemas.microsoft.com/office/powerpoint/2010/main" val="401736059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804F1FE-09EC-E474-4445-9584D6535DA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EE37EA2-28EF-E34D-87C0-D31C0F42B101}"/>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0CE6AE24-6859-32B7-EC8B-381F8DAB92F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F768DBE-DB28-E1DC-795F-CA10954477D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4592F375-1CCA-875D-5355-C6A8D19DDAF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D65432D-4DF3-4717-5C03-D521FB595668}"/>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213034F2-A83C-1837-EA1B-77341E7C9ED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EED087A6-4C7A-9559-0CD0-2D816E3920F3}"/>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43F7A2D9-54AD-9636-9FDF-CBCC1F2874CC}"/>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Vrai ou faux </a:t>
            </a:r>
            <a:r>
              <a:rPr lang="fr-FR" sz="4000" b="1" dirty="0">
                <a:solidFill>
                  <a:srgbClr val="000000"/>
                </a:solidFill>
              </a:rPr>
              <a:t>: l'IA a atténué l'état de la salle de bains.</a:t>
            </a:r>
          </a:p>
        </p:txBody>
      </p:sp>
      <p:sp>
        <p:nvSpPr>
          <p:cNvPr id="7" name="ZoneTexte 6">
            <a:extLst>
              <a:ext uri="{FF2B5EF4-FFF2-40B4-BE49-F238E27FC236}">
                <a16:creationId xmlns:a16="http://schemas.microsoft.com/office/drawing/2014/main" id="{92FAE0F3-B97D-BFAE-8655-0010C125A219}"/>
              </a:ext>
            </a:extLst>
          </p:cNvPr>
          <p:cNvSpPr txBox="1"/>
          <p:nvPr/>
        </p:nvSpPr>
        <p:spPr>
          <a:xfrm>
            <a:off x="304636" y="1473891"/>
            <a:ext cx="3650999" cy="461665"/>
          </a:xfrm>
          <a:prstGeom prst="rect">
            <a:avLst/>
          </a:prstGeom>
          <a:noFill/>
        </p:spPr>
        <p:txBody>
          <a:bodyPr wrap="none" rtlCol="0">
            <a:spAutoFit/>
          </a:bodyPr>
          <a:lstStyle/>
          <a:p>
            <a:r>
              <a:rPr lang="fr-FR" sz="2400" u="sng" dirty="0"/>
              <a:t>Cadre et objet de la mission</a:t>
            </a:r>
          </a:p>
        </p:txBody>
      </p:sp>
    </p:spTree>
    <p:extLst>
      <p:ext uri="{BB962C8B-B14F-4D97-AF65-F5344CB8AC3E}">
        <p14:creationId xmlns:p14="http://schemas.microsoft.com/office/powerpoint/2010/main" val="290005941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B11234F-4836-BA0A-BEF6-20F4668F954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BC1FA29-09A1-B404-592A-A71A82A78A2F}"/>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21EAD706-0C8C-354A-4C2C-BDDD5CBD3D7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CA9CD90-497D-8A4F-36EC-B525F44AA45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66481E5E-4753-F75B-AAAB-1F77E1FEF3C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FAE8163-C517-69E9-E3FF-693E369737A2}"/>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23F94E75-DDF7-2F19-D53A-3187E8BF3DA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07087DB1-0FAA-B4DF-3E2B-FB7D8960E905}"/>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CF91B996-0A43-7FDF-6EFC-16D511F78907}"/>
              </a:ext>
            </a:extLst>
          </p:cNvPr>
          <p:cNvSpPr/>
          <p:nvPr>
            <p:custDataLst>
              <p:tags r:id="rId2"/>
            </p:custDataLst>
          </p:nvPr>
        </p:nvSpPr>
        <p:spPr>
          <a:xfrm>
            <a:off x="2843908" y="3052114"/>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Vrai ou </a:t>
            </a:r>
            <a:r>
              <a:rPr lang="fr-FR" sz="4000" i="1" dirty="0">
                <a:solidFill>
                  <a:srgbClr val="000000"/>
                </a:solidFill>
                <a:highlight>
                  <a:srgbClr val="FFFF00"/>
                </a:highlight>
              </a:rPr>
              <a:t>faux</a:t>
            </a:r>
            <a:r>
              <a:rPr lang="fr-FR" sz="4000" i="1" dirty="0">
                <a:solidFill>
                  <a:srgbClr val="000000"/>
                </a:solidFill>
              </a:rPr>
              <a:t> </a:t>
            </a:r>
            <a:r>
              <a:rPr lang="fr-FR" sz="4000" b="1" dirty="0">
                <a:solidFill>
                  <a:srgbClr val="000000"/>
                </a:solidFill>
              </a:rPr>
              <a:t>: l'IA a atténué l'état de la salle de bains.</a:t>
            </a:r>
          </a:p>
        </p:txBody>
      </p:sp>
      <p:sp>
        <p:nvSpPr>
          <p:cNvPr id="7" name="ZoneTexte 6">
            <a:extLst>
              <a:ext uri="{FF2B5EF4-FFF2-40B4-BE49-F238E27FC236}">
                <a16:creationId xmlns:a16="http://schemas.microsoft.com/office/drawing/2014/main" id="{679D9671-030F-7067-C0A8-F20211D8DEA3}"/>
              </a:ext>
            </a:extLst>
          </p:cNvPr>
          <p:cNvSpPr txBox="1"/>
          <p:nvPr/>
        </p:nvSpPr>
        <p:spPr>
          <a:xfrm>
            <a:off x="304636" y="1473891"/>
            <a:ext cx="3815147" cy="461665"/>
          </a:xfrm>
          <a:prstGeom prst="rect">
            <a:avLst/>
          </a:prstGeom>
          <a:noFill/>
        </p:spPr>
        <p:txBody>
          <a:bodyPr wrap="none" rtlCol="0">
            <a:spAutoFit/>
          </a:bodyPr>
          <a:lstStyle/>
          <a:p>
            <a:r>
              <a:rPr lang="fr-FR" sz="2400" u="sng" dirty="0"/>
              <a:t>Description physique du bien</a:t>
            </a:r>
          </a:p>
        </p:txBody>
      </p:sp>
    </p:spTree>
    <p:extLst>
      <p:ext uri="{BB962C8B-B14F-4D97-AF65-F5344CB8AC3E}">
        <p14:creationId xmlns:p14="http://schemas.microsoft.com/office/powerpoint/2010/main" val="166540643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E3846FD-7263-0AF3-6116-6ABDA4C233C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B8D9165-BD32-DBEB-C216-22738FD55B83}"/>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7A4E9B9C-5CE1-661A-CB44-C069AC8FA0D6}"/>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DF6437C-E1B5-A4D7-5818-3E15D449774D}"/>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A6AB5A10-CFCD-3C45-57FE-CA9CC5CCC36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DFAD292-B9D4-3A72-D02D-F0995FA86622}"/>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5DC93B22-A879-7D88-349B-ADD7A74A655D}"/>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D121C67A-97A8-4228-C58B-E498D7711B49}"/>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6D85AB77-4137-2955-9774-CF0D41A25B7F}"/>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Combien de fois l'IA utilise "j'ai constaté" ou "j'ai relevé" dans cette section ?</a:t>
            </a:r>
          </a:p>
        </p:txBody>
      </p:sp>
      <p:sp>
        <p:nvSpPr>
          <p:cNvPr id="7" name="ZoneTexte 6">
            <a:extLst>
              <a:ext uri="{FF2B5EF4-FFF2-40B4-BE49-F238E27FC236}">
                <a16:creationId xmlns:a16="http://schemas.microsoft.com/office/drawing/2014/main" id="{F4131795-1840-0075-8972-9E1CA554E6C7}"/>
              </a:ext>
            </a:extLst>
          </p:cNvPr>
          <p:cNvSpPr txBox="1"/>
          <p:nvPr/>
        </p:nvSpPr>
        <p:spPr>
          <a:xfrm>
            <a:off x="304636" y="1473891"/>
            <a:ext cx="3815147" cy="461665"/>
          </a:xfrm>
          <a:prstGeom prst="rect">
            <a:avLst/>
          </a:prstGeom>
          <a:noFill/>
        </p:spPr>
        <p:txBody>
          <a:bodyPr wrap="none" rtlCol="0">
            <a:spAutoFit/>
          </a:bodyPr>
          <a:lstStyle/>
          <a:p>
            <a:r>
              <a:rPr lang="fr-FR" sz="2400" u="sng" dirty="0"/>
              <a:t>Description physique du bien</a:t>
            </a:r>
          </a:p>
        </p:txBody>
      </p:sp>
      <p:sp>
        <p:nvSpPr>
          <p:cNvPr id="8" name="ZoneTexte 7">
            <a:extLst>
              <a:ext uri="{FF2B5EF4-FFF2-40B4-BE49-F238E27FC236}">
                <a16:creationId xmlns:a16="http://schemas.microsoft.com/office/drawing/2014/main" id="{74C4E9E9-54E8-D083-2DAB-07FE0E6762A5}"/>
              </a:ext>
            </a:extLst>
          </p:cNvPr>
          <p:cNvSpPr txBox="1"/>
          <p:nvPr/>
        </p:nvSpPr>
        <p:spPr>
          <a:xfrm>
            <a:off x="2702016" y="3752692"/>
            <a:ext cx="9327240" cy="2308324"/>
          </a:xfrm>
          <a:prstGeom prst="rect">
            <a:avLst/>
          </a:prstGeom>
          <a:noFill/>
        </p:spPr>
        <p:txBody>
          <a:bodyPr wrap="square" rtlCol="0">
            <a:spAutoFit/>
          </a:bodyPr>
          <a:lstStyle/>
          <a:p>
            <a:pPr marL="742950" indent="-742950">
              <a:buFont typeface="+mj-lt"/>
              <a:buAutoNum type="arabicPeriod"/>
            </a:pPr>
            <a:r>
              <a:rPr lang="fr-FR" sz="3600" dirty="0"/>
              <a:t>A — 0 fois</a:t>
            </a:r>
          </a:p>
          <a:p>
            <a:pPr marL="742950" indent="-742950">
              <a:buFont typeface="+mj-lt"/>
              <a:buAutoNum type="arabicPeriod"/>
            </a:pPr>
            <a:r>
              <a:rPr lang="fr-FR" sz="3600" dirty="0"/>
              <a:t>B — 1 fois</a:t>
            </a:r>
          </a:p>
          <a:p>
            <a:pPr marL="742950" indent="-742950">
              <a:buFont typeface="+mj-lt"/>
              <a:buAutoNum type="arabicPeriod"/>
            </a:pPr>
            <a:r>
              <a:rPr lang="fr-FR" sz="3600" dirty="0"/>
              <a:t>C — 2 fois</a:t>
            </a:r>
          </a:p>
          <a:p>
            <a:pPr marL="742950" indent="-742950">
              <a:buFont typeface="+mj-lt"/>
              <a:buAutoNum type="arabicPeriod"/>
            </a:pPr>
            <a:r>
              <a:rPr lang="fr-FR" sz="3600" dirty="0"/>
              <a:t>D — 4 fois</a:t>
            </a:r>
          </a:p>
        </p:txBody>
      </p:sp>
    </p:spTree>
    <p:extLst>
      <p:ext uri="{BB962C8B-B14F-4D97-AF65-F5344CB8AC3E}">
        <p14:creationId xmlns:p14="http://schemas.microsoft.com/office/powerpoint/2010/main" val="246320095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1464A5B-991B-70DF-9F39-5928AC7BDCD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69E0C95-1DE9-579E-54F8-BF17B5B8756D}"/>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0700FA4-7D5B-FC64-236A-B73A91ED23F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115E697-0791-3AE1-F30A-14DADBBB079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ECE865F6-1DCA-DA14-1EB0-6D9EDAB8A0A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19F65E1-88BF-5B92-267A-7B2A36A9642D}"/>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028AA558-9FAE-6B2C-846E-5D03892217F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8162C6FF-2CAD-D6C3-F42C-4A2AD053F0B7}"/>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41F7394D-443D-6B42-5FFD-C5A0839227B2}"/>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Combien de fois l'IA utilise "j'ai constaté" ou "j'ai relevé" dans cette section ?</a:t>
            </a:r>
          </a:p>
        </p:txBody>
      </p:sp>
      <p:sp>
        <p:nvSpPr>
          <p:cNvPr id="7" name="ZoneTexte 6">
            <a:extLst>
              <a:ext uri="{FF2B5EF4-FFF2-40B4-BE49-F238E27FC236}">
                <a16:creationId xmlns:a16="http://schemas.microsoft.com/office/drawing/2014/main" id="{3FE7D41B-939F-BAAF-ABA0-3DD49CA8BAB2}"/>
              </a:ext>
            </a:extLst>
          </p:cNvPr>
          <p:cNvSpPr txBox="1"/>
          <p:nvPr/>
        </p:nvSpPr>
        <p:spPr>
          <a:xfrm>
            <a:off x="304636" y="1473891"/>
            <a:ext cx="3815147" cy="461665"/>
          </a:xfrm>
          <a:prstGeom prst="rect">
            <a:avLst/>
          </a:prstGeom>
          <a:noFill/>
        </p:spPr>
        <p:txBody>
          <a:bodyPr wrap="none" rtlCol="0">
            <a:spAutoFit/>
          </a:bodyPr>
          <a:lstStyle/>
          <a:p>
            <a:r>
              <a:rPr lang="fr-FR" sz="2400" u="sng" dirty="0"/>
              <a:t>Description physique du bien</a:t>
            </a:r>
          </a:p>
        </p:txBody>
      </p:sp>
      <p:sp>
        <p:nvSpPr>
          <p:cNvPr id="8" name="ZoneTexte 7">
            <a:extLst>
              <a:ext uri="{FF2B5EF4-FFF2-40B4-BE49-F238E27FC236}">
                <a16:creationId xmlns:a16="http://schemas.microsoft.com/office/drawing/2014/main" id="{A783320C-B0F2-628C-53F8-4A38061B5944}"/>
              </a:ext>
            </a:extLst>
          </p:cNvPr>
          <p:cNvSpPr txBox="1"/>
          <p:nvPr/>
        </p:nvSpPr>
        <p:spPr>
          <a:xfrm>
            <a:off x="2702016" y="3752692"/>
            <a:ext cx="9327240" cy="2308324"/>
          </a:xfrm>
          <a:prstGeom prst="rect">
            <a:avLst/>
          </a:prstGeom>
          <a:noFill/>
        </p:spPr>
        <p:txBody>
          <a:bodyPr wrap="square" rtlCol="0">
            <a:spAutoFit/>
          </a:bodyPr>
          <a:lstStyle/>
          <a:p>
            <a:pPr marL="742950" indent="-742950">
              <a:buFont typeface="+mj-lt"/>
              <a:buAutoNum type="arabicPeriod"/>
            </a:pPr>
            <a:r>
              <a:rPr lang="fr-FR" sz="3600" dirty="0"/>
              <a:t>A — 0 fois</a:t>
            </a:r>
          </a:p>
          <a:p>
            <a:pPr marL="742950" indent="-742950">
              <a:buFont typeface="+mj-lt"/>
              <a:buAutoNum type="arabicPeriod"/>
            </a:pPr>
            <a:r>
              <a:rPr lang="fr-FR" sz="3600" dirty="0"/>
              <a:t>B — 1 fois</a:t>
            </a:r>
          </a:p>
          <a:p>
            <a:pPr marL="742950" indent="-742950">
              <a:buFont typeface="+mj-lt"/>
              <a:buAutoNum type="arabicPeriod"/>
            </a:pPr>
            <a:r>
              <a:rPr lang="fr-FR" sz="3600" dirty="0">
                <a:highlight>
                  <a:srgbClr val="FFFF00"/>
                </a:highlight>
              </a:rPr>
              <a:t>C — 2 fois</a:t>
            </a:r>
          </a:p>
          <a:p>
            <a:pPr marL="742950" indent="-742950">
              <a:buFont typeface="+mj-lt"/>
              <a:buAutoNum type="arabicPeriod"/>
            </a:pPr>
            <a:r>
              <a:rPr lang="fr-FR" sz="3600" dirty="0"/>
              <a:t>D — 4 fois</a:t>
            </a:r>
          </a:p>
        </p:txBody>
      </p:sp>
    </p:spTree>
    <p:extLst>
      <p:ext uri="{BB962C8B-B14F-4D97-AF65-F5344CB8AC3E}">
        <p14:creationId xmlns:p14="http://schemas.microsoft.com/office/powerpoint/2010/main" val="7362632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5FDAA55-FEC5-0B7F-A415-E9C07B82D81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8A6B9B9-EC57-3995-89BD-7E90141417ED}"/>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894CAA5-086C-27EC-6FD6-B910F9F0626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9835AA5-8408-467E-F603-285D054447D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430B23C-59F7-F914-448E-AD3050C234E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CDD1538-65C5-2267-D449-93D54DA282B8}"/>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B3277E35-67BF-41DF-A380-05ED7CAF0B7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BA2CC1FE-1911-2969-AA4C-587A3B0AAA24}"/>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2DCADF55-FFA9-D83F-47DE-34C16F5B0A43}"/>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D'où viennent les données de marché que l’on utilise dans le prompt ?</a:t>
            </a:r>
          </a:p>
        </p:txBody>
      </p:sp>
      <p:sp>
        <p:nvSpPr>
          <p:cNvPr id="7" name="ZoneTexte 6">
            <a:extLst>
              <a:ext uri="{FF2B5EF4-FFF2-40B4-BE49-F238E27FC236}">
                <a16:creationId xmlns:a16="http://schemas.microsoft.com/office/drawing/2014/main" id="{09FC5ACA-C913-69DF-1064-E16C4BA00B04}"/>
              </a:ext>
            </a:extLst>
          </p:cNvPr>
          <p:cNvSpPr txBox="1"/>
          <p:nvPr/>
        </p:nvSpPr>
        <p:spPr>
          <a:xfrm>
            <a:off x="304636" y="1473891"/>
            <a:ext cx="4539769" cy="461665"/>
          </a:xfrm>
          <a:prstGeom prst="rect">
            <a:avLst/>
          </a:prstGeom>
          <a:noFill/>
        </p:spPr>
        <p:txBody>
          <a:bodyPr wrap="none" rtlCol="0">
            <a:spAutoFit/>
          </a:bodyPr>
          <a:lstStyle/>
          <a:p>
            <a:r>
              <a:rPr lang="fr-FR" sz="2400" u="sng" dirty="0"/>
              <a:t>Analyse de marché et comparables</a:t>
            </a:r>
          </a:p>
        </p:txBody>
      </p:sp>
      <p:sp>
        <p:nvSpPr>
          <p:cNvPr id="8" name="ZoneTexte 7">
            <a:extLst>
              <a:ext uri="{FF2B5EF4-FFF2-40B4-BE49-F238E27FC236}">
                <a16:creationId xmlns:a16="http://schemas.microsoft.com/office/drawing/2014/main" id="{2D447A79-6196-AD52-3445-EE2B00FC4CFC}"/>
              </a:ext>
            </a:extLst>
          </p:cNvPr>
          <p:cNvSpPr txBox="1"/>
          <p:nvPr/>
        </p:nvSpPr>
        <p:spPr>
          <a:xfrm>
            <a:off x="2702016" y="3752692"/>
            <a:ext cx="9327240" cy="2554545"/>
          </a:xfrm>
          <a:prstGeom prst="rect">
            <a:avLst/>
          </a:prstGeom>
          <a:noFill/>
        </p:spPr>
        <p:txBody>
          <a:bodyPr wrap="square" rtlCol="0">
            <a:spAutoFit/>
          </a:bodyPr>
          <a:lstStyle/>
          <a:p>
            <a:pPr marL="742950" indent="-742950">
              <a:buFont typeface="+mj-lt"/>
              <a:buAutoNum type="arabicPeriod"/>
            </a:pPr>
            <a:r>
              <a:rPr lang="fr-FR" sz="3200" dirty="0"/>
              <a:t>A — On les demande directement à l'IA</a:t>
            </a:r>
          </a:p>
          <a:p>
            <a:pPr marL="742950" indent="-742950">
              <a:buFont typeface="+mj-lt"/>
              <a:buAutoNum type="arabicPeriod"/>
            </a:pPr>
            <a:r>
              <a:rPr lang="fr-FR" sz="3200" dirty="0"/>
              <a:t>B — On les trouve sur des bases type DVF ou les bases notariales</a:t>
            </a:r>
          </a:p>
          <a:p>
            <a:pPr marL="742950" indent="-742950">
              <a:buFont typeface="+mj-lt"/>
              <a:buAutoNum type="arabicPeriod"/>
            </a:pPr>
            <a:r>
              <a:rPr lang="fr-FR" sz="3200" dirty="0"/>
              <a:t>C — On les estime à partir de notre expérience</a:t>
            </a:r>
          </a:p>
          <a:p>
            <a:pPr marL="742950" indent="-742950">
              <a:buFont typeface="+mj-lt"/>
              <a:buAutoNum type="arabicPeriod"/>
            </a:pPr>
            <a:r>
              <a:rPr lang="fr-FR" sz="3200" dirty="0"/>
              <a:t>D — On les copie depuis </a:t>
            </a:r>
            <a:r>
              <a:rPr lang="fr-FR" sz="3200" dirty="0" err="1"/>
              <a:t>SeLoger</a:t>
            </a:r>
            <a:endParaRPr lang="fr-FR" sz="3200" dirty="0"/>
          </a:p>
        </p:txBody>
      </p:sp>
    </p:spTree>
    <p:extLst>
      <p:ext uri="{BB962C8B-B14F-4D97-AF65-F5344CB8AC3E}">
        <p14:creationId xmlns:p14="http://schemas.microsoft.com/office/powerpoint/2010/main" val="14839286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653CA54-9920-3722-CF13-6DD511347229}"/>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60A7EB0-E438-9A3A-494B-5BE0D109D921}"/>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A5D4773-71FF-984B-4CE0-4D775614102D}"/>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9CAB2CD-3992-C118-4F9E-7534214FC9B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938E66DB-E516-DC66-4C7B-F84BCFA34F3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D06632A4-782A-409C-2459-1004F883DDBB}"/>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969DC080-B1D8-5BD3-FF12-708713DBC093}"/>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1D351D1C-D1D5-D45C-217C-A9D2A39B1A86}"/>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8E5D14A1-3706-BE17-A075-CDB2C278D98D}"/>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D'où viennent les données de marché que l’on utilise dans le prompt ?</a:t>
            </a:r>
          </a:p>
        </p:txBody>
      </p:sp>
      <p:sp>
        <p:nvSpPr>
          <p:cNvPr id="7" name="ZoneTexte 6">
            <a:extLst>
              <a:ext uri="{FF2B5EF4-FFF2-40B4-BE49-F238E27FC236}">
                <a16:creationId xmlns:a16="http://schemas.microsoft.com/office/drawing/2014/main" id="{C35394D7-5593-CF03-0503-E03205D6BDE7}"/>
              </a:ext>
            </a:extLst>
          </p:cNvPr>
          <p:cNvSpPr txBox="1"/>
          <p:nvPr/>
        </p:nvSpPr>
        <p:spPr>
          <a:xfrm>
            <a:off x="304636" y="1473891"/>
            <a:ext cx="4539769" cy="461665"/>
          </a:xfrm>
          <a:prstGeom prst="rect">
            <a:avLst/>
          </a:prstGeom>
          <a:noFill/>
        </p:spPr>
        <p:txBody>
          <a:bodyPr wrap="none" rtlCol="0">
            <a:spAutoFit/>
          </a:bodyPr>
          <a:lstStyle/>
          <a:p>
            <a:r>
              <a:rPr lang="fr-FR" sz="2400" u="sng" dirty="0"/>
              <a:t>Analyse de marché et comparables</a:t>
            </a:r>
          </a:p>
        </p:txBody>
      </p:sp>
      <p:sp>
        <p:nvSpPr>
          <p:cNvPr id="8" name="ZoneTexte 7">
            <a:extLst>
              <a:ext uri="{FF2B5EF4-FFF2-40B4-BE49-F238E27FC236}">
                <a16:creationId xmlns:a16="http://schemas.microsoft.com/office/drawing/2014/main" id="{2951956A-FEC4-B7DB-6551-EDA19D5C271C}"/>
              </a:ext>
            </a:extLst>
          </p:cNvPr>
          <p:cNvSpPr txBox="1"/>
          <p:nvPr/>
        </p:nvSpPr>
        <p:spPr>
          <a:xfrm>
            <a:off x="2702016" y="3752692"/>
            <a:ext cx="9327240" cy="2554545"/>
          </a:xfrm>
          <a:prstGeom prst="rect">
            <a:avLst/>
          </a:prstGeom>
          <a:noFill/>
        </p:spPr>
        <p:txBody>
          <a:bodyPr wrap="square" rtlCol="0">
            <a:spAutoFit/>
          </a:bodyPr>
          <a:lstStyle/>
          <a:p>
            <a:pPr marL="742950" indent="-742950">
              <a:buFont typeface="+mj-lt"/>
              <a:buAutoNum type="arabicPeriod"/>
            </a:pPr>
            <a:r>
              <a:rPr lang="fr-FR" sz="3200" dirty="0"/>
              <a:t>A — On les demande directement à l'IA</a:t>
            </a:r>
          </a:p>
          <a:p>
            <a:pPr marL="742950" indent="-742950">
              <a:buFont typeface="+mj-lt"/>
              <a:buAutoNum type="arabicPeriod"/>
            </a:pPr>
            <a:r>
              <a:rPr lang="fr-FR" sz="3200" dirty="0">
                <a:highlight>
                  <a:srgbClr val="FFFF00"/>
                </a:highlight>
              </a:rPr>
              <a:t>B — On les trouve sur des bases type DVF ou les bases notariales</a:t>
            </a:r>
          </a:p>
          <a:p>
            <a:pPr marL="742950" indent="-742950">
              <a:buFont typeface="+mj-lt"/>
              <a:buAutoNum type="arabicPeriod"/>
            </a:pPr>
            <a:r>
              <a:rPr lang="fr-FR" sz="3200" dirty="0"/>
              <a:t>C — On les estime à partir de notre expérience</a:t>
            </a:r>
          </a:p>
          <a:p>
            <a:pPr marL="742950" indent="-742950">
              <a:buFont typeface="+mj-lt"/>
              <a:buAutoNum type="arabicPeriod"/>
            </a:pPr>
            <a:r>
              <a:rPr lang="fr-FR" sz="3200" dirty="0"/>
              <a:t>D — On les copie depuis </a:t>
            </a:r>
            <a:r>
              <a:rPr lang="fr-FR" sz="3200" dirty="0" err="1"/>
              <a:t>SeLoger</a:t>
            </a:r>
            <a:endParaRPr lang="fr-FR" sz="3200" dirty="0"/>
          </a:p>
        </p:txBody>
      </p:sp>
    </p:spTree>
    <p:extLst>
      <p:ext uri="{BB962C8B-B14F-4D97-AF65-F5344CB8AC3E}">
        <p14:creationId xmlns:p14="http://schemas.microsoft.com/office/powerpoint/2010/main" val="307078258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FEB73B8-CA25-C7CA-EFD1-9883F27E77A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A99C52B-3008-B896-930A-202B747A555F}"/>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CEA0018A-BA3D-F1A0-A0C7-BFC8BCBA7B6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F8D3860-687A-86EF-CA4A-AB371DF9AAE1}"/>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ABDFF05F-9F79-285F-C709-6CFE811C8F29}"/>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6265FF2-7E64-6B7C-FC32-5A508ECEF5B9}"/>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3879192A-694C-2B44-1848-745C08355B4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B9E96FB7-BF9C-7953-D24A-A6C34E5735EA}"/>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61D9155B-78FB-4C09-97D0-189D8FCA0FA0}"/>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Pourquoi l'IA affiche ses calculs AVANT de rédiger le paragraphe ?</a:t>
            </a:r>
          </a:p>
        </p:txBody>
      </p:sp>
      <p:sp>
        <p:nvSpPr>
          <p:cNvPr id="7" name="ZoneTexte 6">
            <a:extLst>
              <a:ext uri="{FF2B5EF4-FFF2-40B4-BE49-F238E27FC236}">
                <a16:creationId xmlns:a16="http://schemas.microsoft.com/office/drawing/2014/main" id="{C6EB7A4F-8ED2-BDE9-B98A-BA941C95B292}"/>
              </a:ext>
            </a:extLst>
          </p:cNvPr>
          <p:cNvSpPr txBox="1"/>
          <p:nvPr/>
        </p:nvSpPr>
        <p:spPr>
          <a:xfrm>
            <a:off x="304636" y="1473891"/>
            <a:ext cx="4539769" cy="461665"/>
          </a:xfrm>
          <a:prstGeom prst="rect">
            <a:avLst/>
          </a:prstGeom>
          <a:noFill/>
        </p:spPr>
        <p:txBody>
          <a:bodyPr wrap="none" rtlCol="0">
            <a:spAutoFit/>
          </a:bodyPr>
          <a:lstStyle/>
          <a:p>
            <a:r>
              <a:rPr lang="fr-FR" sz="2400" u="sng" dirty="0"/>
              <a:t>Analyse de marché et comparables</a:t>
            </a:r>
          </a:p>
        </p:txBody>
      </p:sp>
      <p:sp>
        <p:nvSpPr>
          <p:cNvPr id="8" name="ZoneTexte 7">
            <a:extLst>
              <a:ext uri="{FF2B5EF4-FFF2-40B4-BE49-F238E27FC236}">
                <a16:creationId xmlns:a16="http://schemas.microsoft.com/office/drawing/2014/main" id="{BFA43916-DFBA-E045-A5D5-5841FD64819A}"/>
              </a:ext>
            </a:extLst>
          </p:cNvPr>
          <p:cNvSpPr txBox="1"/>
          <p:nvPr/>
        </p:nvSpPr>
        <p:spPr>
          <a:xfrm>
            <a:off x="2702016" y="3752692"/>
            <a:ext cx="9327240" cy="3046988"/>
          </a:xfrm>
          <a:prstGeom prst="rect">
            <a:avLst/>
          </a:prstGeom>
          <a:noFill/>
        </p:spPr>
        <p:txBody>
          <a:bodyPr wrap="square" rtlCol="0">
            <a:spAutoFit/>
          </a:bodyPr>
          <a:lstStyle/>
          <a:p>
            <a:pPr marL="742950" indent="-742950">
              <a:buFont typeface="+mj-lt"/>
              <a:buAutoNum type="arabicPeriod"/>
            </a:pPr>
            <a:r>
              <a:rPr lang="fr-FR" sz="3200" dirty="0"/>
              <a:t>A — Pour faire plus long</a:t>
            </a:r>
          </a:p>
          <a:p>
            <a:pPr marL="742950" indent="-742950">
              <a:buFont typeface="+mj-lt"/>
              <a:buAutoNum type="arabicPeriod"/>
            </a:pPr>
            <a:r>
              <a:rPr lang="fr-FR" sz="3200" dirty="0"/>
              <a:t>B — Pour que l'expert puisse vérifier chaque chiffre avant intégration</a:t>
            </a:r>
          </a:p>
          <a:p>
            <a:pPr marL="742950" indent="-742950">
              <a:buFont typeface="+mj-lt"/>
              <a:buAutoNum type="arabicPeriod"/>
            </a:pPr>
            <a:r>
              <a:rPr lang="fr-FR" sz="3200" dirty="0"/>
              <a:t>C — Parce que c'est obligatoire dans tous les prompts</a:t>
            </a:r>
          </a:p>
          <a:p>
            <a:pPr marL="742950" indent="-742950">
              <a:buFont typeface="+mj-lt"/>
              <a:buAutoNum type="arabicPeriod"/>
            </a:pPr>
            <a:r>
              <a:rPr lang="fr-FR" sz="3200" dirty="0"/>
              <a:t>D — Pour impressionner le mandant</a:t>
            </a:r>
          </a:p>
        </p:txBody>
      </p:sp>
    </p:spTree>
    <p:extLst>
      <p:ext uri="{BB962C8B-B14F-4D97-AF65-F5344CB8AC3E}">
        <p14:creationId xmlns:p14="http://schemas.microsoft.com/office/powerpoint/2010/main" val="425638036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188B0CB-9B99-18B8-E4B1-66C5DE306EE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9A13C27-59CD-2F28-CDCC-E1E1B667AD6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3ACFA0D-3D27-B0F9-88B9-193AA73305E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E87B66F-2861-55F5-10FE-D12A86FBFB9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B888E83C-6EF2-0639-4E0A-E16E32CF5DC8}"/>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924F8932-8F2A-CA40-9731-8E5B7EB9F320}"/>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C292F089-D720-A940-E4BF-A449D1B966D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ECA7017B-F78F-9CAB-1253-6FDBB129BBEE}"/>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27BED936-FAF6-201C-4B65-C5772A89428C}"/>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Pourquoi l'IA affiche ses calculs AVANT de rédiger le paragraphe ?</a:t>
            </a:r>
          </a:p>
        </p:txBody>
      </p:sp>
      <p:sp>
        <p:nvSpPr>
          <p:cNvPr id="7" name="ZoneTexte 6">
            <a:extLst>
              <a:ext uri="{FF2B5EF4-FFF2-40B4-BE49-F238E27FC236}">
                <a16:creationId xmlns:a16="http://schemas.microsoft.com/office/drawing/2014/main" id="{0ED16600-EA37-9ABF-25BD-5A3A171F29B6}"/>
              </a:ext>
            </a:extLst>
          </p:cNvPr>
          <p:cNvSpPr txBox="1"/>
          <p:nvPr/>
        </p:nvSpPr>
        <p:spPr>
          <a:xfrm>
            <a:off x="304636" y="1473891"/>
            <a:ext cx="4539769" cy="461665"/>
          </a:xfrm>
          <a:prstGeom prst="rect">
            <a:avLst/>
          </a:prstGeom>
          <a:noFill/>
        </p:spPr>
        <p:txBody>
          <a:bodyPr wrap="none" rtlCol="0">
            <a:spAutoFit/>
          </a:bodyPr>
          <a:lstStyle/>
          <a:p>
            <a:r>
              <a:rPr lang="fr-FR" sz="2400" u="sng" dirty="0"/>
              <a:t>Analyse de marché et comparables</a:t>
            </a:r>
          </a:p>
        </p:txBody>
      </p:sp>
      <p:sp>
        <p:nvSpPr>
          <p:cNvPr id="8" name="ZoneTexte 7">
            <a:extLst>
              <a:ext uri="{FF2B5EF4-FFF2-40B4-BE49-F238E27FC236}">
                <a16:creationId xmlns:a16="http://schemas.microsoft.com/office/drawing/2014/main" id="{C9EB98E6-EA5C-8D26-BD1B-5431E5359615}"/>
              </a:ext>
            </a:extLst>
          </p:cNvPr>
          <p:cNvSpPr txBox="1"/>
          <p:nvPr/>
        </p:nvSpPr>
        <p:spPr>
          <a:xfrm>
            <a:off x="2702016" y="3752692"/>
            <a:ext cx="9327240" cy="3046988"/>
          </a:xfrm>
          <a:prstGeom prst="rect">
            <a:avLst/>
          </a:prstGeom>
          <a:noFill/>
        </p:spPr>
        <p:txBody>
          <a:bodyPr wrap="square" rtlCol="0">
            <a:spAutoFit/>
          </a:bodyPr>
          <a:lstStyle/>
          <a:p>
            <a:pPr marL="742950" indent="-742950">
              <a:buFont typeface="+mj-lt"/>
              <a:buAutoNum type="arabicPeriod"/>
            </a:pPr>
            <a:r>
              <a:rPr lang="fr-FR" sz="3200" dirty="0"/>
              <a:t>A — Pour faire plus long</a:t>
            </a:r>
          </a:p>
          <a:p>
            <a:pPr marL="742950" indent="-742950">
              <a:buFont typeface="+mj-lt"/>
              <a:buAutoNum type="arabicPeriod"/>
            </a:pPr>
            <a:r>
              <a:rPr lang="fr-FR" sz="3200" dirty="0">
                <a:highlight>
                  <a:srgbClr val="FFFF00"/>
                </a:highlight>
              </a:rPr>
              <a:t>B — Pour que l'expert puisse vérifier chaque chiffre avant intégration</a:t>
            </a:r>
          </a:p>
          <a:p>
            <a:pPr marL="742950" indent="-742950">
              <a:buFont typeface="+mj-lt"/>
              <a:buAutoNum type="arabicPeriod"/>
            </a:pPr>
            <a:r>
              <a:rPr lang="fr-FR" sz="3200" dirty="0"/>
              <a:t>C — Parce que c'est obligatoire dans tous les prompts</a:t>
            </a:r>
          </a:p>
          <a:p>
            <a:pPr marL="742950" indent="-742950">
              <a:buFont typeface="+mj-lt"/>
              <a:buAutoNum type="arabicPeriod"/>
            </a:pPr>
            <a:r>
              <a:rPr lang="fr-FR" sz="3200" dirty="0"/>
              <a:t>D — Pour impressionner le mandant</a:t>
            </a:r>
          </a:p>
        </p:txBody>
      </p:sp>
    </p:spTree>
    <p:extLst>
      <p:ext uri="{BB962C8B-B14F-4D97-AF65-F5344CB8AC3E}">
        <p14:creationId xmlns:p14="http://schemas.microsoft.com/office/powerpoint/2010/main" val="301174462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A976E7-A0EA-E62F-A0A5-BB6F2BBD3299}"/>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4A9C887-195E-6AEE-F82B-974A3FCAE5A4}"/>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7FF8943-DA31-1826-FAC0-52CE7CD69D6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18023AC-3F18-3C81-ACDF-12D576310EB6}"/>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B45A1DF6-323B-E56B-9B3D-4DD518F600BA}"/>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C5AC1D2-CA65-B9F4-47AB-D2C575AA9BEB}"/>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5A61C27A-0C30-6351-2F78-D7896F5BF2C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AB43DCA7-537E-8F61-F47C-6D6192186419}"/>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8888016C-477A-9213-4290-5CF75170EFB4}"/>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Qui arrête le prix unitaire retenu dans le rapport ?</a:t>
            </a:r>
          </a:p>
        </p:txBody>
      </p:sp>
      <p:sp>
        <p:nvSpPr>
          <p:cNvPr id="7" name="ZoneTexte 6">
            <a:extLst>
              <a:ext uri="{FF2B5EF4-FFF2-40B4-BE49-F238E27FC236}">
                <a16:creationId xmlns:a16="http://schemas.microsoft.com/office/drawing/2014/main" id="{F201CCD0-74FE-E8FA-7B68-170F6AE4FC58}"/>
              </a:ext>
            </a:extLst>
          </p:cNvPr>
          <p:cNvSpPr txBox="1"/>
          <p:nvPr/>
        </p:nvSpPr>
        <p:spPr>
          <a:xfrm>
            <a:off x="304636" y="1473891"/>
            <a:ext cx="3756926" cy="461665"/>
          </a:xfrm>
          <a:prstGeom prst="rect">
            <a:avLst/>
          </a:prstGeom>
          <a:noFill/>
        </p:spPr>
        <p:txBody>
          <a:bodyPr wrap="none" rtlCol="0">
            <a:spAutoFit/>
          </a:bodyPr>
          <a:lstStyle/>
          <a:p>
            <a:r>
              <a:rPr lang="fr-FR" sz="2400" u="sng" dirty="0"/>
              <a:t>Valorisation et avis de valeur</a:t>
            </a:r>
          </a:p>
        </p:txBody>
      </p:sp>
      <p:sp>
        <p:nvSpPr>
          <p:cNvPr id="8" name="ZoneTexte 7">
            <a:extLst>
              <a:ext uri="{FF2B5EF4-FFF2-40B4-BE49-F238E27FC236}">
                <a16:creationId xmlns:a16="http://schemas.microsoft.com/office/drawing/2014/main" id="{20BECEA7-1401-5BD5-DE51-5AAB28914DA9}"/>
              </a:ext>
            </a:extLst>
          </p:cNvPr>
          <p:cNvSpPr txBox="1"/>
          <p:nvPr/>
        </p:nvSpPr>
        <p:spPr>
          <a:xfrm>
            <a:off x="2702016" y="3752692"/>
            <a:ext cx="9327240" cy="2062103"/>
          </a:xfrm>
          <a:prstGeom prst="rect">
            <a:avLst/>
          </a:prstGeom>
          <a:noFill/>
        </p:spPr>
        <p:txBody>
          <a:bodyPr wrap="square" rtlCol="0">
            <a:spAutoFit/>
          </a:bodyPr>
          <a:lstStyle/>
          <a:p>
            <a:pPr marL="742950" indent="-742950">
              <a:buFont typeface="+mj-lt"/>
              <a:buAutoNum type="arabicPeriod"/>
            </a:pPr>
            <a:r>
              <a:rPr lang="fr-FR" sz="3200" dirty="0"/>
              <a:t>A — L'IA sur la base des comparables</a:t>
            </a:r>
          </a:p>
          <a:p>
            <a:pPr marL="742950" indent="-742950">
              <a:buFont typeface="+mj-lt"/>
              <a:buAutoNum type="arabicPeriod"/>
            </a:pPr>
            <a:r>
              <a:rPr lang="fr-FR" sz="3200" dirty="0"/>
              <a:t>B — Le mandant notaire</a:t>
            </a:r>
          </a:p>
          <a:p>
            <a:pPr marL="742950" indent="-742950">
              <a:buFont typeface="+mj-lt"/>
              <a:buAutoNum type="arabicPeriod"/>
            </a:pPr>
            <a:r>
              <a:rPr lang="fr-FR" sz="3200" dirty="0"/>
              <a:t>C — L'expert immobilier</a:t>
            </a:r>
          </a:p>
          <a:p>
            <a:pPr marL="742950" indent="-742950">
              <a:buFont typeface="+mj-lt"/>
              <a:buAutoNum type="arabicPeriod"/>
            </a:pPr>
            <a:r>
              <a:rPr lang="fr-FR" sz="3200" dirty="0"/>
              <a:t>D — La moyenne des comparables</a:t>
            </a:r>
          </a:p>
        </p:txBody>
      </p:sp>
    </p:spTree>
    <p:extLst>
      <p:ext uri="{BB962C8B-B14F-4D97-AF65-F5344CB8AC3E}">
        <p14:creationId xmlns:p14="http://schemas.microsoft.com/office/powerpoint/2010/main" val="99656641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FCC61FF-8118-F724-40B6-8FF5B676222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7A8DD0A-9373-2FA5-3559-31480854C98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C2ABC228-A7E5-F8B3-1CAA-88C7B019131A}"/>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F6CA8F9-F680-3297-ADFF-EC17CB1DA1D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0AC6E2C-C187-B37A-3CF3-94A84766288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C779E8B-9B20-3E3C-4A39-BA36F25E1B6B}"/>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1D3A04ED-0152-6781-C6BE-FBEC7D514AF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515981AC-1FE0-81E1-BC57-2D77E2EB5E92}"/>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006F9BBA-363B-B16B-463A-3EDD859CE175}"/>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Qui arrête le prix unitaire retenu dans le rapport ?</a:t>
            </a:r>
          </a:p>
        </p:txBody>
      </p:sp>
      <p:sp>
        <p:nvSpPr>
          <p:cNvPr id="7" name="ZoneTexte 6">
            <a:extLst>
              <a:ext uri="{FF2B5EF4-FFF2-40B4-BE49-F238E27FC236}">
                <a16:creationId xmlns:a16="http://schemas.microsoft.com/office/drawing/2014/main" id="{79F097B4-3D13-B032-58F8-A86675E506B8}"/>
              </a:ext>
            </a:extLst>
          </p:cNvPr>
          <p:cNvSpPr txBox="1"/>
          <p:nvPr/>
        </p:nvSpPr>
        <p:spPr>
          <a:xfrm>
            <a:off x="304636" y="1473891"/>
            <a:ext cx="3756926" cy="461665"/>
          </a:xfrm>
          <a:prstGeom prst="rect">
            <a:avLst/>
          </a:prstGeom>
          <a:noFill/>
        </p:spPr>
        <p:txBody>
          <a:bodyPr wrap="none" rtlCol="0">
            <a:spAutoFit/>
          </a:bodyPr>
          <a:lstStyle/>
          <a:p>
            <a:r>
              <a:rPr lang="fr-FR" sz="2400" u="sng" dirty="0"/>
              <a:t>Valorisation et avis de valeur</a:t>
            </a:r>
          </a:p>
        </p:txBody>
      </p:sp>
      <p:sp>
        <p:nvSpPr>
          <p:cNvPr id="8" name="ZoneTexte 7">
            <a:extLst>
              <a:ext uri="{FF2B5EF4-FFF2-40B4-BE49-F238E27FC236}">
                <a16:creationId xmlns:a16="http://schemas.microsoft.com/office/drawing/2014/main" id="{7AC1334D-B044-BAEC-4D45-97462665DDDA}"/>
              </a:ext>
            </a:extLst>
          </p:cNvPr>
          <p:cNvSpPr txBox="1"/>
          <p:nvPr/>
        </p:nvSpPr>
        <p:spPr>
          <a:xfrm>
            <a:off x="2702016" y="3752692"/>
            <a:ext cx="9327240" cy="2062103"/>
          </a:xfrm>
          <a:prstGeom prst="rect">
            <a:avLst/>
          </a:prstGeom>
          <a:noFill/>
        </p:spPr>
        <p:txBody>
          <a:bodyPr wrap="square" rtlCol="0">
            <a:spAutoFit/>
          </a:bodyPr>
          <a:lstStyle/>
          <a:p>
            <a:pPr marL="742950" indent="-742950">
              <a:buFont typeface="+mj-lt"/>
              <a:buAutoNum type="arabicPeriod"/>
            </a:pPr>
            <a:r>
              <a:rPr lang="fr-FR" sz="3200" dirty="0"/>
              <a:t>A — L'IA sur la base des comparables</a:t>
            </a:r>
          </a:p>
          <a:p>
            <a:pPr marL="742950" indent="-742950">
              <a:buFont typeface="+mj-lt"/>
              <a:buAutoNum type="arabicPeriod"/>
            </a:pPr>
            <a:r>
              <a:rPr lang="fr-FR" sz="3200" dirty="0"/>
              <a:t>B — Le mandant notaire</a:t>
            </a:r>
          </a:p>
          <a:p>
            <a:pPr marL="742950" indent="-742950">
              <a:buFont typeface="+mj-lt"/>
              <a:buAutoNum type="arabicPeriod"/>
            </a:pPr>
            <a:r>
              <a:rPr lang="fr-FR" sz="3200" dirty="0">
                <a:highlight>
                  <a:srgbClr val="FFFF00"/>
                </a:highlight>
              </a:rPr>
              <a:t>C — L'expert immobilier</a:t>
            </a:r>
          </a:p>
          <a:p>
            <a:pPr marL="742950" indent="-742950">
              <a:buFont typeface="+mj-lt"/>
              <a:buAutoNum type="arabicPeriod"/>
            </a:pPr>
            <a:r>
              <a:rPr lang="fr-FR" sz="3200" dirty="0"/>
              <a:t>D — La moyenne des comparables</a:t>
            </a:r>
          </a:p>
        </p:txBody>
      </p:sp>
    </p:spTree>
    <p:extLst>
      <p:ext uri="{BB962C8B-B14F-4D97-AF65-F5344CB8AC3E}">
        <p14:creationId xmlns:p14="http://schemas.microsoft.com/office/powerpoint/2010/main" val="40435857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F77AF77-8C5D-2339-22D1-C0072C2F88B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804502F-AEC6-BE8A-377B-80170C196285}"/>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9AC44F4E-13DC-493A-E633-D8E4B5191CC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A993FFC-D14A-B2D5-C4B2-858F49E6019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822F0D57-4C48-43A8-C3D3-26106382F60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EEDBAA8-D898-E701-18E8-6B1CCF533539}"/>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00ED4180-87CE-5907-3D93-4E595869BEE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9D37C875-0AFA-2EE9-FE2C-17F0D0FFD703}"/>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88F2C418-7F40-FB86-7DE9-ACC60A66272B}"/>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 manque-t-il dans l'avis de valeur par rapport à un rapport judiciaire ?</a:t>
            </a:r>
          </a:p>
        </p:txBody>
      </p:sp>
      <p:sp>
        <p:nvSpPr>
          <p:cNvPr id="7" name="ZoneTexte 6">
            <a:extLst>
              <a:ext uri="{FF2B5EF4-FFF2-40B4-BE49-F238E27FC236}">
                <a16:creationId xmlns:a16="http://schemas.microsoft.com/office/drawing/2014/main" id="{755EC384-0FF8-14E3-3972-50030F11EC37}"/>
              </a:ext>
            </a:extLst>
          </p:cNvPr>
          <p:cNvSpPr txBox="1"/>
          <p:nvPr/>
        </p:nvSpPr>
        <p:spPr>
          <a:xfrm>
            <a:off x="304636" y="1473891"/>
            <a:ext cx="3756926" cy="461665"/>
          </a:xfrm>
          <a:prstGeom prst="rect">
            <a:avLst/>
          </a:prstGeom>
          <a:noFill/>
        </p:spPr>
        <p:txBody>
          <a:bodyPr wrap="none" rtlCol="0">
            <a:spAutoFit/>
          </a:bodyPr>
          <a:lstStyle/>
          <a:p>
            <a:r>
              <a:rPr lang="fr-FR" sz="2400" u="sng" dirty="0"/>
              <a:t>Valorisation et avis de valeur</a:t>
            </a:r>
          </a:p>
        </p:txBody>
      </p:sp>
      <p:sp>
        <p:nvSpPr>
          <p:cNvPr id="8" name="ZoneTexte 7">
            <a:extLst>
              <a:ext uri="{FF2B5EF4-FFF2-40B4-BE49-F238E27FC236}">
                <a16:creationId xmlns:a16="http://schemas.microsoft.com/office/drawing/2014/main" id="{9FD298C6-3B20-6FA6-CCB8-BF7D557FB220}"/>
              </a:ext>
            </a:extLst>
          </p:cNvPr>
          <p:cNvSpPr txBox="1"/>
          <p:nvPr/>
        </p:nvSpPr>
        <p:spPr>
          <a:xfrm>
            <a:off x="2702016" y="3752692"/>
            <a:ext cx="9327240" cy="2062103"/>
          </a:xfrm>
          <a:prstGeom prst="rect">
            <a:avLst/>
          </a:prstGeom>
          <a:noFill/>
        </p:spPr>
        <p:txBody>
          <a:bodyPr wrap="square" rtlCol="0">
            <a:spAutoFit/>
          </a:bodyPr>
          <a:lstStyle/>
          <a:p>
            <a:pPr marL="742950" indent="-742950">
              <a:buFont typeface="+mj-lt"/>
              <a:buAutoNum type="arabicPeriod"/>
            </a:pPr>
            <a:r>
              <a:rPr lang="fr-FR" sz="3200" dirty="0"/>
              <a:t>A — La valeur en lettres</a:t>
            </a:r>
          </a:p>
          <a:p>
            <a:pPr marL="742950" indent="-742950">
              <a:buFont typeface="+mj-lt"/>
              <a:buAutoNum type="arabicPeriod"/>
            </a:pPr>
            <a:r>
              <a:rPr lang="fr-FR" sz="3200" dirty="0"/>
              <a:t>B — La date de valeur</a:t>
            </a:r>
          </a:p>
          <a:p>
            <a:pPr marL="742950" indent="-742950">
              <a:buFont typeface="+mj-lt"/>
              <a:buAutoNum type="arabicPeriod"/>
            </a:pPr>
            <a:r>
              <a:rPr lang="fr-FR" sz="3200" dirty="0"/>
              <a:t>C — La formule de certification</a:t>
            </a:r>
          </a:p>
          <a:p>
            <a:pPr marL="742950" indent="-742950">
              <a:buFont typeface="+mj-lt"/>
              <a:buAutoNum type="arabicPeriod"/>
            </a:pPr>
            <a:r>
              <a:rPr lang="fr-FR" sz="3200" dirty="0"/>
              <a:t>D — Le prix au m²</a:t>
            </a:r>
          </a:p>
        </p:txBody>
      </p:sp>
    </p:spTree>
    <p:extLst>
      <p:ext uri="{BB962C8B-B14F-4D97-AF65-F5344CB8AC3E}">
        <p14:creationId xmlns:p14="http://schemas.microsoft.com/office/powerpoint/2010/main" val="401527541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F00470E-7FF6-9D51-379D-1573CDEE518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C07D322-971B-E2CB-654C-E1FD63FE1678}"/>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03831CBD-58D3-0658-0CDE-3CDF1D3D319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5ECE3E1-D461-2560-EB53-7505744A074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FE4A6674-9424-1C58-53D2-682AB097418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F8CAC6F-DD0F-6324-F838-27E667864BA3}"/>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22ED9F00-256B-179B-6816-9CCBE0F9D39F}"/>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4B845C20-E71D-5E8B-6DB1-F3A89ED20B4F}"/>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ABF8A4E2-8414-BCBC-8189-8176EAF28971}"/>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Que manque-t-il dans l'avis de valeur par rapport à un rapport judiciaire ?</a:t>
            </a:r>
          </a:p>
        </p:txBody>
      </p:sp>
      <p:sp>
        <p:nvSpPr>
          <p:cNvPr id="7" name="ZoneTexte 6">
            <a:extLst>
              <a:ext uri="{FF2B5EF4-FFF2-40B4-BE49-F238E27FC236}">
                <a16:creationId xmlns:a16="http://schemas.microsoft.com/office/drawing/2014/main" id="{76EBD6AD-F618-7054-2EBA-68A563C0BFC4}"/>
              </a:ext>
            </a:extLst>
          </p:cNvPr>
          <p:cNvSpPr txBox="1"/>
          <p:nvPr/>
        </p:nvSpPr>
        <p:spPr>
          <a:xfrm>
            <a:off x="304636" y="1473891"/>
            <a:ext cx="3756926" cy="461665"/>
          </a:xfrm>
          <a:prstGeom prst="rect">
            <a:avLst/>
          </a:prstGeom>
          <a:noFill/>
        </p:spPr>
        <p:txBody>
          <a:bodyPr wrap="none" rtlCol="0">
            <a:spAutoFit/>
          </a:bodyPr>
          <a:lstStyle/>
          <a:p>
            <a:r>
              <a:rPr lang="fr-FR" sz="2400" u="sng" dirty="0"/>
              <a:t>Valorisation et avis de valeur</a:t>
            </a:r>
          </a:p>
        </p:txBody>
      </p:sp>
      <p:sp>
        <p:nvSpPr>
          <p:cNvPr id="8" name="ZoneTexte 7">
            <a:extLst>
              <a:ext uri="{FF2B5EF4-FFF2-40B4-BE49-F238E27FC236}">
                <a16:creationId xmlns:a16="http://schemas.microsoft.com/office/drawing/2014/main" id="{60184DBA-C79C-5B06-508B-9C023978534B}"/>
              </a:ext>
            </a:extLst>
          </p:cNvPr>
          <p:cNvSpPr txBox="1"/>
          <p:nvPr/>
        </p:nvSpPr>
        <p:spPr>
          <a:xfrm>
            <a:off x="2702016" y="3752692"/>
            <a:ext cx="9327240" cy="2062103"/>
          </a:xfrm>
          <a:prstGeom prst="rect">
            <a:avLst/>
          </a:prstGeom>
          <a:noFill/>
        </p:spPr>
        <p:txBody>
          <a:bodyPr wrap="square" rtlCol="0">
            <a:spAutoFit/>
          </a:bodyPr>
          <a:lstStyle/>
          <a:p>
            <a:pPr marL="742950" indent="-742950">
              <a:buFont typeface="+mj-lt"/>
              <a:buAutoNum type="arabicPeriod"/>
            </a:pPr>
            <a:r>
              <a:rPr lang="fr-FR" sz="3200" dirty="0"/>
              <a:t>A — La valeur en lettres</a:t>
            </a:r>
          </a:p>
          <a:p>
            <a:pPr marL="742950" indent="-742950">
              <a:buFont typeface="+mj-lt"/>
              <a:buAutoNum type="arabicPeriod"/>
            </a:pPr>
            <a:r>
              <a:rPr lang="fr-FR" sz="3200" dirty="0"/>
              <a:t>B — La date de valeur</a:t>
            </a:r>
          </a:p>
          <a:p>
            <a:pPr marL="742950" indent="-742950">
              <a:buFont typeface="+mj-lt"/>
              <a:buAutoNum type="arabicPeriod"/>
            </a:pPr>
            <a:r>
              <a:rPr lang="fr-FR" sz="3200" dirty="0">
                <a:highlight>
                  <a:srgbClr val="FFFF00"/>
                </a:highlight>
              </a:rPr>
              <a:t>C — La formule de certification</a:t>
            </a:r>
          </a:p>
          <a:p>
            <a:pPr marL="742950" indent="-742950">
              <a:buFont typeface="+mj-lt"/>
              <a:buAutoNum type="arabicPeriod"/>
            </a:pPr>
            <a:r>
              <a:rPr lang="fr-FR" sz="3200" dirty="0"/>
              <a:t>D — Le prix au m²</a:t>
            </a:r>
          </a:p>
        </p:txBody>
      </p:sp>
    </p:spTree>
    <p:extLst>
      <p:ext uri="{BB962C8B-B14F-4D97-AF65-F5344CB8AC3E}">
        <p14:creationId xmlns:p14="http://schemas.microsoft.com/office/powerpoint/2010/main" val="396667673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204E4B2-1B95-134C-1F5E-4D87D8EAF38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348D6C0-151C-8F37-B152-3E9DFC835E34}"/>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C7806FD8-8DA9-FA0E-6787-8855371648B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E00ABF5-0EFA-E081-F708-4D288D3AFC9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3EFB39E4-E479-E290-35D5-6315234C103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BAF2B22-5FF7-1863-86BA-840DC122C5B2}"/>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194583F0-6D64-1FDC-7234-06756907E32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0C6ED97F-EDD2-B88C-0E93-334A8977A537}"/>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6FFD3A73-ACE0-E111-FD5D-D11C9D2E297D}"/>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Après avoir rédigé toutes les sections, quelle est la dernière étape avant de remettre le rapport ?</a:t>
            </a:r>
          </a:p>
        </p:txBody>
      </p:sp>
      <p:sp>
        <p:nvSpPr>
          <p:cNvPr id="7" name="ZoneTexte 6">
            <a:extLst>
              <a:ext uri="{FF2B5EF4-FFF2-40B4-BE49-F238E27FC236}">
                <a16:creationId xmlns:a16="http://schemas.microsoft.com/office/drawing/2014/main" id="{18E12CD9-8339-2671-F271-AF507894248F}"/>
              </a:ext>
            </a:extLst>
          </p:cNvPr>
          <p:cNvSpPr txBox="1"/>
          <p:nvPr/>
        </p:nvSpPr>
        <p:spPr>
          <a:xfrm>
            <a:off x="304636" y="1473891"/>
            <a:ext cx="5504071" cy="461665"/>
          </a:xfrm>
          <a:prstGeom prst="rect">
            <a:avLst/>
          </a:prstGeom>
          <a:noFill/>
        </p:spPr>
        <p:txBody>
          <a:bodyPr wrap="none" rtlCol="0">
            <a:spAutoFit/>
          </a:bodyPr>
          <a:lstStyle/>
          <a:p>
            <a:r>
              <a:rPr lang="fr-FR" sz="2400" u="sng" dirty="0"/>
              <a:t>Relecture qualité et contrôle de cohérence</a:t>
            </a:r>
          </a:p>
        </p:txBody>
      </p:sp>
      <p:sp>
        <p:nvSpPr>
          <p:cNvPr id="8" name="ZoneTexte 7">
            <a:extLst>
              <a:ext uri="{FF2B5EF4-FFF2-40B4-BE49-F238E27FC236}">
                <a16:creationId xmlns:a16="http://schemas.microsoft.com/office/drawing/2014/main" id="{048DE172-2DAE-2A6C-AE5E-AF530BD12A00}"/>
              </a:ext>
            </a:extLst>
          </p:cNvPr>
          <p:cNvSpPr txBox="1"/>
          <p:nvPr/>
        </p:nvSpPr>
        <p:spPr>
          <a:xfrm>
            <a:off x="2702016" y="3940950"/>
            <a:ext cx="9327240" cy="2554545"/>
          </a:xfrm>
          <a:prstGeom prst="rect">
            <a:avLst/>
          </a:prstGeom>
          <a:noFill/>
        </p:spPr>
        <p:txBody>
          <a:bodyPr wrap="square" rtlCol="0">
            <a:spAutoFit/>
          </a:bodyPr>
          <a:lstStyle/>
          <a:p>
            <a:pPr marL="742950" indent="-742950">
              <a:buFont typeface="+mj-lt"/>
              <a:buAutoNum type="arabicPeriod"/>
            </a:pPr>
            <a:r>
              <a:rPr lang="fr-FR" sz="3200" dirty="0"/>
              <a:t>A — L'imprimer et le signer</a:t>
            </a:r>
          </a:p>
          <a:p>
            <a:pPr marL="742950" indent="-742950">
              <a:buFont typeface="+mj-lt"/>
              <a:buAutoNum type="arabicPeriod"/>
            </a:pPr>
            <a:r>
              <a:rPr lang="fr-FR" sz="3200" dirty="0"/>
              <a:t>B — Le relire rapidement en diagonale</a:t>
            </a:r>
          </a:p>
          <a:p>
            <a:pPr marL="742950" indent="-742950">
              <a:buFont typeface="+mj-lt"/>
              <a:buAutoNum type="arabicPeriod"/>
            </a:pPr>
            <a:r>
              <a:rPr lang="fr-FR" sz="3200" dirty="0"/>
              <a:t>C — Demander à l'IA de contrôler sa propre cohérence</a:t>
            </a:r>
          </a:p>
          <a:p>
            <a:pPr marL="742950" indent="-742950">
              <a:buFont typeface="+mj-lt"/>
              <a:buAutoNum type="arabicPeriod"/>
            </a:pPr>
            <a:r>
              <a:rPr lang="fr-FR" sz="3200" dirty="0"/>
              <a:t>D — L'envoyer directement au notaire</a:t>
            </a:r>
          </a:p>
        </p:txBody>
      </p:sp>
    </p:spTree>
    <p:extLst>
      <p:ext uri="{BB962C8B-B14F-4D97-AF65-F5344CB8AC3E}">
        <p14:creationId xmlns:p14="http://schemas.microsoft.com/office/powerpoint/2010/main" val="132395037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BECB4C4-DFBC-078D-C5EF-165F0229CEFC}"/>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F9085ABE-02A2-53FE-B69A-F1185E6654E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64DDE5EC-BCB8-95F5-C0D9-37B4A29D876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F483BEA-D829-FC1C-FF8D-14799046A24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A0BA40F-D1D7-D522-C74B-62C6E5C346F8}"/>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8C72605-2F6F-8FCE-2EED-52CE1D4D3255}"/>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E86D2296-EA3C-F424-1EEE-623604B05BFD}"/>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0CFF8F11-F632-CC9A-5CD1-0D6944962384}"/>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3EB0ED43-5927-896D-DBCF-3BC96D765799}"/>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Après avoir rédigé toutes les sections, quelle est la dernière étape avant de remettre le rapport ?</a:t>
            </a:r>
          </a:p>
        </p:txBody>
      </p:sp>
      <p:sp>
        <p:nvSpPr>
          <p:cNvPr id="7" name="ZoneTexte 6">
            <a:extLst>
              <a:ext uri="{FF2B5EF4-FFF2-40B4-BE49-F238E27FC236}">
                <a16:creationId xmlns:a16="http://schemas.microsoft.com/office/drawing/2014/main" id="{824EE2B7-E8F1-65AC-C08F-1C49C673BCF9}"/>
              </a:ext>
            </a:extLst>
          </p:cNvPr>
          <p:cNvSpPr txBox="1"/>
          <p:nvPr/>
        </p:nvSpPr>
        <p:spPr>
          <a:xfrm>
            <a:off x="304636" y="1473891"/>
            <a:ext cx="5504071" cy="461665"/>
          </a:xfrm>
          <a:prstGeom prst="rect">
            <a:avLst/>
          </a:prstGeom>
          <a:noFill/>
        </p:spPr>
        <p:txBody>
          <a:bodyPr wrap="none" rtlCol="0">
            <a:spAutoFit/>
          </a:bodyPr>
          <a:lstStyle/>
          <a:p>
            <a:r>
              <a:rPr lang="fr-FR" sz="2400" u="sng" dirty="0"/>
              <a:t>Relecture qualité et contrôle de cohérence</a:t>
            </a:r>
          </a:p>
        </p:txBody>
      </p:sp>
      <p:sp>
        <p:nvSpPr>
          <p:cNvPr id="8" name="ZoneTexte 7">
            <a:extLst>
              <a:ext uri="{FF2B5EF4-FFF2-40B4-BE49-F238E27FC236}">
                <a16:creationId xmlns:a16="http://schemas.microsoft.com/office/drawing/2014/main" id="{9518A6CF-637B-94B8-BDAD-A4E9BC5BA675}"/>
              </a:ext>
            </a:extLst>
          </p:cNvPr>
          <p:cNvSpPr txBox="1"/>
          <p:nvPr/>
        </p:nvSpPr>
        <p:spPr>
          <a:xfrm>
            <a:off x="2702016" y="3940950"/>
            <a:ext cx="9327240" cy="2554545"/>
          </a:xfrm>
          <a:prstGeom prst="rect">
            <a:avLst/>
          </a:prstGeom>
          <a:noFill/>
        </p:spPr>
        <p:txBody>
          <a:bodyPr wrap="square" rtlCol="0">
            <a:spAutoFit/>
          </a:bodyPr>
          <a:lstStyle/>
          <a:p>
            <a:pPr marL="742950" indent="-742950">
              <a:buFont typeface="+mj-lt"/>
              <a:buAutoNum type="arabicPeriod"/>
            </a:pPr>
            <a:r>
              <a:rPr lang="fr-FR" sz="3200" dirty="0"/>
              <a:t>A — L'imprimer et le signer</a:t>
            </a:r>
          </a:p>
          <a:p>
            <a:pPr marL="742950" indent="-742950">
              <a:buFont typeface="+mj-lt"/>
              <a:buAutoNum type="arabicPeriod"/>
            </a:pPr>
            <a:r>
              <a:rPr lang="fr-FR" sz="3200" dirty="0"/>
              <a:t>B — Le relire rapidement en diagonale</a:t>
            </a:r>
          </a:p>
          <a:p>
            <a:pPr marL="742950" indent="-742950">
              <a:buFont typeface="+mj-lt"/>
              <a:buAutoNum type="arabicPeriod"/>
            </a:pPr>
            <a:r>
              <a:rPr lang="fr-FR" sz="3200" dirty="0">
                <a:highlight>
                  <a:srgbClr val="FFFF00"/>
                </a:highlight>
              </a:rPr>
              <a:t>C — Demander à l'IA de contrôler sa propre cohérence</a:t>
            </a:r>
          </a:p>
          <a:p>
            <a:pPr marL="742950" indent="-742950">
              <a:buFont typeface="+mj-lt"/>
              <a:buAutoNum type="arabicPeriod"/>
            </a:pPr>
            <a:r>
              <a:rPr lang="fr-FR" sz="3200" dirty="0"/>
              <a:t>D — L'envoyer directement au notaire</a:t>
            </a:r>
          </a:p>
        </p:txBody>
      </p:sp>
    </p:spTree>
    <p:extLst>
      <p:ext uri="{BB962C8B-B14F-4D97-AF65-F5344CB8AC3E}">
        <p14:creationId xmlns:p14="http://schemas.microsoft.com/office/powerpoint/2010/main" val="4556409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A21BE7E-8AE6-F898-052F-D9E1A6DB193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00D8D91-3F61-6B0A-C11B-65A06C83310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07198D1E-978F-F506-9173-AF9CBDE53FD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2690E20-5439-6B74-C8DE-9EFED8BEF96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21B318F0-42C7-D163-AA87-9E70B1D6264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5AF21A92-FFC2-AC43-C295-952B750B571D}"/>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FEC73824-8611-0515-2804-41991ACAC01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F48AD570-5382-BEB8-C100-BD665DAEA190}"/>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2171E03B-D688-0C4F-827C-BE76922132DC}"/>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En combien de minutes environ peut-on produire un rapport amiable complet avec l'IA ?</a:t>
            </a:r>
          </a:p>
        </p:txBody>
      </p:sp>
      <p:sp>
        <p:nvSpPr>
          <p:cNvPr id="7" name="ZoneTexte 6">
            <a:extLst>
              <a:ext uri="{FF2B5EF4-FFF2-40B4-BE49-F238E27FC236}">
                <a16:creationId xmlns:a16="http://schemas.microsoft.com/office/drawing/2014/main" id="{6E163929-6DFD-C767-2C8C-FB92C31F787B}"/>
              </a:ext>
            </a:extLst>
          </p:cNvPr>
          <p:cNvSpPr txBox="1"/>
          <p:nvPr/>
        </p:nvSpPr>
        <p:spPr>
          <a:xfrm>
            <a:off x="304636" y="1473891"/>
            <a:ext cx="4231095" cy="461665"/>
          </a:xfrm>
          <a:prstGeom prst="rect">
            <a:avLst/>
          </a:prstGeom>
          <a:noFill/>
        </p:spPr>
        <p:txBody>
          <a:bodyPr wrap="none" rtlCol="0">
            <a:spAutoFit/>
          </a:bodyPr>
          <a:lstStyle/>
          <a:p>
            <a:r>
              <a:rPr lang="fr-FR" sz="2400" u="sng" dirty="0"/>
              <a:t>Synthèse et clôture du module 5</a:t>
            </a:r>
          </a:p>
        </p:txBody>
      </p:sp>
      <p:sp>
        <p:nvSpPr>
          <p:cNvPr id="8" name="ZoneTexte 7">
            <a:extLst>
              <a:ext uri="{FF2B5EF4-FFF2-40B4-BE49-F238E27FC236}">
                <a16:creationId xmlns:a16="http://schemas.microsoft.com/office/drawing/2014/main" id="{4227229A-77E0-AD67-F961-E5D53B998689}"/>
              </a:ext>
            </a:extLst>
          </p:cNvPr>
          <p:cNvSpPr txBox="1"/>
          <p:nvPr/>
        </p:nvSpPr>
        <p:spPr>
          <a:xfrm>
            <a:off x="2702016" y="3940950"/>
            <a:ext cx="9327240" cy="2062103"/>
          </a:xfrm>
          <a:prstGeom prst="rect">
            <a:avLst/>
          </a:prstGeom>
          <a:noFill/>
        </p:spPr>
        <p:txBody>
          <a:bodyPr wrap="square" rtlCol="0">
            <a:spAutoFit/>
          </a:bodyPr>
          <a:lstStyle/>
          <a:p>
            <a:pPr marL="742950" indent="-742950">
              <a:buFont typeface="+mj-lt"/>
              <a:buAutoNum type="arabicPeriod"/>
            </a:pPr>
            <a:r>
              <a:rPr lang="fr-FR" sz="3200" dirty="0"/>
              <a:t>A — 15 minutes</a:t>
            </a:r>
          </a:p>
          <a:p>
            <a:pPr marL="742950" indent="-742950">
              <a:buFont typeface="+mj-lt"/>
              <a:buAutoNum type="arabicPeriod"/>
            </a:pPr>
            <a:r>
              <a:rPr lang="fr-FR" sz="3200" dirty="0"/>
              <a:t>B — 20 minutes</a:t>
            </a:r>
          </a:p>
          <a:p>
            <a:pPr marL="742950" indent="-742950">
              <a:buFont typeface="+mj-lt"/>
              <a:buAutoNum type="arabicPeriod"/>
            </a:pPr>
            <a:r>
              <a:rPr lang="fr-FR" sz="3200" dirty="0"/>
              <a:t>C — 45 à 50 minutes</a:t>
            </a:r>
          </a:p>
          <a:p>
            <a:pPr marL="742950" indent="-742950">
              <a:buFont typeface="+mj-lt"/>
              <a:buAutoNum type="arabicPeriod"/>
            </a:pPr>
            <a:r>
              <a:rPr lang="fr-FR" sz="3200" dirty="0"/>
              <a:t>D — 3 heures</a:t>
            </a:r>
          </a:p>
        </p:txBody>
      </p:sp>
    </p:spTree>
    <p:extLst>
      <p:ext uri="{BB962C8B-B14F-4D97-AF65-F5344CB8AC3E}">
        <p14:creationId xmlns:p14="http://schemas.microsoft.com/office/powerpoint/2010/main" val="64992270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CEF712C-2213-7DD9-0C0A-20697AC00E3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94B9E947-0B91-550F-4F5A-B68EDD86A44D}"/>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EC7B0906-2A6B-3749-C60B-7F7AE7B775DE}"/>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BD1EC46-BAEE-0274-E145-CCCBB1EEEDE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7E5C337-69FB-AC8B-CE0F-2AA006F4D6C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00D22FE-1DE7-60F5-9104-4CF0213C683E}"/>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AA5B4F7D-C9FF-28CE-860C-6C28EE5ADA14}"/>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8A932572-330E-FA29-1366-FE98C1FAD41F}"/>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1A554F7A-199A-EDF5-FB64-864AD9A5CB99}"/>
              </a:ext>
            </a:extLst>
          </p:cNvPr>
          <p:cNvSpPr/>
          <p:nvPr>
            <p:custDataLst>
              <p:tags r:id="rId2"/>
            </p:custDataLst>
          </p:nvPr>
        </p:nvSpPr>
        <p:spPr>
          <a:xfrm>
            <a:off x="2843908" y="2149299"/>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En combien de minutes environ peut-on produire un rapport amiable complet avec l'IA ?</a:t>
            </a:r>
          </a:p>
        </p:txBody>
      </p:sp>
      <p:sp>
        <p:nvSpPr>
          <p:cNvPr id="7" name="ZoneTexte 6">
            <a:extLst>
              <a:ext uri="{FF2B5EF4-FFF2-40B4-BE49-F238E27FC236}">
                <a16:creationId xmlns:a16="http://schemas.microsoft.com/office/drawing/2014/main" id="{5F0B999D-2A0D-FCB7-56D4-9FF5759A9B6F}"/>
              </a:ext>
            </a:extLst>
          </p:cNvPr>
          <p:cNvSpPr txBox="1"/>
          <p:nvPr/>
        </p:nvSpPr>
        <p:spPr>
          <a:xfrm>
            <a:off x="304636" y="1473891"/>
            <a:ext cx="4231095" cy="461665"/>
          </a:xfrm>
          <a:prstGeom prst="rect">
            <a:avLst/>
          </a:prstGeom>
          <a:noFill/>
        </p:spPr>
        <p:txBody>
          <a:bodyPr wrap="none" rtlCol="0">
            <a:spAutoFit/>
          </a:bodyPr>
          <a:lstStyle/>
          <a:p>
            <a:r>
              <a:rPr lang="fr-FR" sz="2400" u="sng" dirty="0"/>
              <a:t>Synthèse et clôture du module 5</a:t>
            </a:r>
          </a:p>
        </p:txBody>
      </p:sp>
      <p:sp>
        <p:nvSpPr>
          <p:cNvPr id="8" name="ZoneTexte 7">
            <a:extLst>
              <a:ext uri="{FF2B5EF4-FFF2-40B4-BE49-F238E27FC236}">
                <a16:creationId xmlns:a16="http://schemas.microsoft.com/office/drawing/2014/main" id="{6C47B4E8-E90F-ACE9-4A0B-4D84C0BF403B}"/>
              </a:ext>
            </a:extLst>
          </p:cNvPr>
          <p:cNvSpPr txBox="1"/>
          <p:nvPr/>
        </p:nvSpPr>
        <p:spPr>
          <a:xfrm>
            <a:off x="2702016" y="3940950"/>
            <a:ext cx="9327240" cy="2062103"/>
          </a:xfrm>
          <a:prstGeom prst="rect">
            <a:avLst/>
          </a:prstGeom>
          <a:noFill/>
        </p:spPr>
        <p:txBody>
          <a:bodyPr wrap="square" rtlCol="0">
            <a:spAutoFit/>
          </a:bodyPr>
          <a:lstStyle/>
          <a:p>
            <a:pPr marL="742950" indent="-742950">
              <a:buFont typeface="+mj-lt"/>
              <a:buAutoNum type="arabicPeriod"/>
            </a:pPr>
            <a:r>
              <a:rPr lang="fr-FR" sz="3200" dirty="0"/>
              <a:t>A — 15 minutes</a:t>
            </a:r>
          </a:p>
          <a:p>
            <a:pPr marL="742950" indent="-742950">
              <a:buFont typeface="+mj-lt"/>
              <a:buAutoNum type="arabicPeriod"/>
            </a:pPr>
            <a:r>
              <a:rPr lang="fr-FR" sz="3200" dirty="0"/>
              <a:t>B — 20 minutes</a:t>
            </a:r>
          </a:p>
          <a:p>
            <a:pPr marL="742950" indent="-742950">
              <a:buFont typeface="+mj-lt"/>
              <a:buAutoNum type="arabicPeriod"/>
            </a:pPr>
            <a:r>
              <a:rPr lang="fr-FR" sz="3200" dirty="0">
                <a:highlight>
                  <a:srgbClr val="FFFF00"/>
                </a:highlight>
              </a:rPr>
              <a:t>C — 45 à 50 minutes</a:t>
            </a:r>
          </a:p>
          <a:p>
            <a:pPr marL="742950" indent="-742950">
              <a:buFont typeface="+mj-lt"/>
              <a:buAutoNum type="arabicPeriod"/>
            </a:pPr>
            <a:r>
              <a:rPr lang="fr-FR" sz="3200" dirty="0"/>
              <a:t>D — 3 heures</a:t>
            </a:r>
          </a:p>
        </p:txBody>
      </p:sp>
    </p:spTree>
    <p:extLst>
      <p:ext uri="{BB962C8B-B14F-4D97-AF65-F5344CB8AC3E}">
        <p14:creationId xmlns:p14="http://schemas.microsoft.com/office/powerpoint/2010/main" val="206194920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94C8E92-5ECA-194C-618F-BF34CE0B9EB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8BAAF08-5DB3-07E5-B3A8-0B7FF5D01416}"/>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86DF30BB-ED24-5E35-0FA9-382155DA497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DD2084-E247-8FF8-9348-A56375A715A4}"/>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9514C7F0-A305-B95A-0397-5C8A12EA6A5D}"/>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B0D3D7B-7A55-5FD1-7A34-79154BFAE285}"/>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12E6B379-6001-151A-2482-8C4ECC9E43E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18C0ADC5-8127-7C39-A5D2-2463665216E7}"/>
              </a:ext>
              <a:ext uri="{C183D7F6-B498-43B3-948B-1728B52AA6E4}">
                <adec:decorative xmlns:adec="http://schemas.microsoft.com/office/drawing/2017/decorative" val="1"/>
              </a:ext>
            </a:extLst>
          </p:cNvPr>
          <p:cNvSpPr/>
          <p:nvPr>
            <p:custDataLst>
              <p:tags r:id="rId1"/>
            </p:custDataLst>
          </p:nvPr>
        </p:nvSpPr>
        <p:spPr>
          <a:xfrm>
            <a:off x="304636" y="2535158"/>
            <a:ext cx="2371696" cy="2371696"/>
          </a:xfrm>
          <a:prstGeom prst="rect">
            <a:avLst/>
          </a:prstGeom>
          <a:blipFill>
            <a:blip>
              <a:extLst>
                <a:ext uri="{96DAC541-7B7A-43D3-8B79-37D633B846F1}">
                  <asvg:svgBlip xmlns:asvg="http://schemas.microsoft.com/office/drawing/2016/SVG/main" r:embed="rId5"/>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descr="Quel est le tout premier prompt que je dois réaliser ? (1.30 mn)">
            <a:extLst>
              <a:ext uri="{FF2B5EF4-FFF2-40B4-BE49-F238E27FC236}">
                <a16:creationId xmlns:a16="http://schemas.microsoft.com/office/drawing/2014/main" id="{5F68117B-62AF-4D92-6248-3CFB7AFC2F66}"/>
              </a:ext>
            </a:extLst>
          </p:cNvPr>
          <p:cNvSpPr/>
          <p:nvPr>
            <p:custDataLst>
              <p:tags r:id="rId2"/>
            </p:custDataLst>
          </p:nvPr>
        </p:nvSpPr>
        <p:spPr>
          <a:xfrm>
            <a:off x="2843908" y="2802086"/>
            <a:ext cx="9043456" cy="1573012"/>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b="1" dirty="0">
                <a:solidFill>
                  <a:srgbClr val="000000"/>
                </a:solidFill>
              </a:rPr>
              <a:t>En un mot : quelle est la règle la plus importante à retenir de ce module ?</a:t>
            </a:r>
          </a:p>
        </p:txBody>
      </p:sp>
      <p:sp>
        <p:nvSpPr>
          <p:cNvPr id="7" name="ZoneTexte 6">
            <a:extLst>
              <a:ext uri="{FF2B5EF4-FFF2-40B4-BE49-F238E27FC236}">
                <a16:creationId xmlns:a16="http://schemas.microsoft.com/office/drawing/2014/main" id="{D3373ABC-9D6F-DB1B-8DEB-A8ED4DE3788B}"/>
              </a:ext>
            </a:extLst>
          </p:cNvPr>
          <p:cNvSpPr txBox="1"/>
          <p:nvPr/>
        </p:nvSpPr>
        <p:spPr>
          <a:xfrm>
            <a:off x="304636" y="1473891"/>
            <a:ext cx="4231095" cy="461665"/>
          </a:xfrm>
          <a:prstGeom prst="rect">
            <a:avLst/>
          </a:prstGeom>
          <a:noFill/>
        </p:spPr>
        <p:txBody>
          <a:bodyPr wrap="none" rtlCol="0">
            <a:spAutoFit/>
          </a:bodyPr>
          <a:lstStyle/>
          <a:p>
            <a:r>
              <a:rPr lang="fr-FR" sz="2400" u="sng" dirty="0"/>
              <a:t>Synthèse et clôture du module 5</a:t>
            </a:r>
          </a:p>
        </p:txBody>
      </p:sp>
    </p:spTree>
    <p:extLst>
      <p:ext uri="{BB962C8B-B14F-4D97-AF65-F5344CB8AC3E}">
        <p14:creationId xmlns:p14="http://schemas.microsoft.com/office/powerpoint/2010/main" val="386293484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E07CD67-E6C8-8723-0C36-1354532748D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C94632D-2082-CCA8-4252-012C712CF776}"/>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36F6C6B3-49B7-4BD0-0E71-2AF8D417305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9881F06-E951-9695-53A3-4434135050D1}"/>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26B73190-99E6-5847-01D0-6502E9B1E69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7D27BF42-7C03-25DD-DF2D-C3D64EB56AFD}"/>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rPr>
              <a:t>Rédiger un rapport pas à pas</a:t>
            </a:r>
          </a:p>
        </p:txBody>
      </p:sp>
      <p:sp>
        <p:nvSpPr>
          <p:cNvPr id="13" name="Freeform: Shape 3">
            <a:extLst>
              <a:ext uri="{FF2B5EF4-FFF2-40B4-BE49-F238E27FC236}">
                <a16:creationId xmlns:a16="http://schemas.microsoft.com/office/drawing/2014/main" id="{A89267E5-0D13-1897-FA61-5B0BD93DE62E}"/>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Rectangle 4" descr="Quel est le tout premier prompt que je dois réaliser ? (1.30 mn)">
            <a:extLst>
              <a:ext uri="{FF2B5EF4-FFF2-40B4-BE49-F238E27FC236}">
                <a16:creationId xmlns:a16="http://schemas.microsoft.com/office/drawing/2014/main" id="{15D593A7-8123-1A2F-E2DA-264C85ED950F}"/>
              </a:ext>
            </a:extLst>
          </p:cNvPr>
          <p:cNvSpPr/>
          <p:nvPr>
            <p:custDataLst>
              <p:tags r:id="rId1"/>
            </p:custDataLst>
          </p:nvPr>
        </p:nvSpPr>
        <p:spPr>
          <a:xfrm>
            <a:off x="457200" y="2121758"/>
            <a:ext cx="11430164" cy="4227661"/>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4000" i="1" dirty="0">
                <a:solidFill>
                  <a:srgbClr val="000000"/>
                </a:solidFill>
              </a:rPr>
              <a:t>« Nous avons vu aujourd'hui qu’un rapport amiable peut se construire de zéro, section par section, en temps réel. L'IA a rédigé, calculé, détecté des erreurs. Nous avons vérifié, décidé, corrigé. C'est exactement cette répartition des rôles que la Charte de l'Expertise 6e édition prescrit désormais.</a:t>
            </a:r>
          </a:p>
        </p:txBody>
      </p:sp>
      <p:sp>
        <p:nvSpPr>
          <p:cNvPr id="7" name="ZoneTexte 6">
            <a:extLst>
              <a:ext uri="{FF2B5EF4-FFF2-40B4-BE49-F238E27FC236}">
                <a16:creationId xmlns:a16="http://schemas.microsoft.com/office/drawing/2014/main" id="{25001E6B-005B-E7C0-E192-26850AFDAD52}"/>
              </a:ext>
            </a:extLst>
          </p:cNvPr>
          <p:cNvSpPr txBox="1"/>
          <p:nvPr/>
        </p:nvSpPr>
        <p:spPr>
          <a:xfrm>
            <a:off x="936645" y="1473891"/>
            <a:ext cx="1548822" cy="461665"/>
          </a:xfrm>
          <a:prstGeom prst="rect">
            <a:avLst/>
          </a:prstGeom>
          <a:noFill/>
        </p:spPr>
        <p:txBody>
          <a:bodyPr wrap="none" rtlCol="0">
            <a:spAutoFit/>
          </a:bodyPr>
          <a:lstStyle/>
          <a:p>
            <a:r>
              <a:rPr lang="fr-FR" sz="2400" u="sng" dirty="0"/>
              <a:t>Conclusion</a:t>
            </a:r>
          </a:p>
        </p:txBody>
      </p:sp>
    </p:spTree>
    <p:extLst>
      <p:ext uri="{BB962C8B-B14F-4D97-AF65-F5344CB8AC3E}">
        <p14:creationId xmlns:p14="http://schemas.microsoft.com/office/powerpoint/2010/main" val="235972409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F3E217E-AF82-DC5C-2EDA-8DB746B2A2F3}"/>
            </a:ext>
          </a:extLst>
        </p:cNvPr>
        <p:cNvGrpSpPr/>
        <p:nvPr/>
      </p:nvGrpSpPr>
      <p:grpSpPr>
        <a:xfrm>
          <a:off x="0" y="0"/>
          <a:ext cx="0" cy="0"/>
          <a:chOff x="0" y="0"/>
          <a:chExt cx="0" cy="0"/>
        </a:xfrm>
      </p:grpSpPr>
      <p:sp>
        <p:nvSpPr>
          <p:cNvPr id="4" name="Rectangle: Rounded Corners 62">
            <a:extLst>
              <a:ext uri="{FF2B5EF4-FFF2-40B4-BE49-F238E27FC236}">
                <a16:creationId xmlns:a16="http://schemas.microsoft.com/office/drawing/2014/main" id="{59E7C106-6D70-97E0-4B7A-39876F9E07A4}"/>
              </a:ext>
            </a:extLst>
          </p:cNvPr>
          <p:cNvSpPr txBox="1">
            <a:spLocks/>
          </p:cNvSpPr>
          <p:nvPr/>
        </p:nvSpPr>
        <p:spPr>
          <a:xfrm>
            <a:off x="7688" y="-2794"/>
            <a:ext cx="12192000" cy="6976131"/>
          </a:xfrm>
          <a:prstGeom prst="rect">
            <a:avLst/>
          </a:prstGeom>
          <a:gradFill>
            <a:gsLst>
              <a:gs pos="0">
                <a:schemeClr val="bg2">
                  <a:alpha val="0"/>
                </a:schemeClr>
              </a:gs>
              <a:gs pos="100000">
                <a:schemeClr val="bg2"/>
              </a:gs>
            </a:gsLst>
            <a:lin ang="5400000" scaled="1"/>
          </a:gradFill>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Freeform: Shape 3">
            <a:extLst>
              <a:ext uri="{FF2B5EF4-FFF2-40B4-BE49-F238E27FC236}">
                <a16:creationId xmlns:a16="http://schemas.microsoft.com/office/drawing/2014/main" id="{63DB2F06-0373-496B-5BF6-FC87E1043E03}"/>
              </a:ext>
            </a:extLst>
          </p:cNvPr>
          <p:cNvSpPr/>
          <p:nvPr/>
        </p:nvSpPr>
        <p:spPr>
          <a:xfrm>
            <a:off x="3033486" y="366486"/>
            <a:ext cx="6125028" cy="6125028"/>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4">
            <a:extLst>
              <a:ext uri="{FF2B5EF4-FFF2-40B4-BE49-F238E27FC236}">
                <a16:creationId xmlns:a16="http://schemas.microsoft.com/office/drawing/2014/main" id="{1784A6A7-B24E-9A6B-B52B-83ACA3B9BCC3}"/>
              </a:ext>
            </a:extLst>
          </p:cNvPr>
          <p:cNvSpPr/>
          <p:nvPr/>
        </p:nvSpPr>
        <p:spPr>
          <a:xfrm>
            <a:off x="-3821117" y="2049736"/>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5">
            <a:extLst>
              <a:ext uri="{FF2B5EF4-FFF2-40B4-BE49-F238E27FC236}">
                <a16:creationId xmlns:a16="http://schemas.microsoft.com/office/drawing/2014/main" id="{0D87C3A0-A221-72CE-1B93-1778E4EA8A60}"/>
              </a:ext>
            </a:extLst>
          </p:cNvPr>
          <p:cNvSpPr/>
          <p:nvPr/>
        </p:nvSpPr>
        <p:spPr>
          <a:xfrm>
            <a:off x="8070378" y="-411627"/>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6">
            <a:extLst>
              <a:ext uri="{FF2B5EF4-FFF2-40B4-BE49-F238E27FC236}">
                <a16:creationId xmlns:a16="http://schemas.microsoft.com/office/drawing/2014/main" id="{2E5A5AEE-98B1-F141-790D-80B41E606BF3}"/>
              </a:ext>
            </a:extLst>
          </p:cNvPr>
          <p:cNvSpPr txBox="1"/>
          <p:nvPr/>
        </p:nvSpPr>
        <p:spPr>
          <a:xfrm>
            <a:off x="14514" y="728629"/>
            <a:ext cx="12192000" cy="1015663"/>
          </a:xfrm>
          <a:prstGeom prst="rect">
            <a:avLst/>
          </a:prstGeom>
          <a:noFill/>
        </p:spPr>
        <p:txBody>
          <a:bodyPr wrap="square" rtlCol="0">
            <a:spAutoFit/>
          </a:bodyPr>
          <a:lstStyle/>
          <a:p>
            <a:pPr algn="ctr"/>
            <a:r>
              <a:rPr lang="fr-FR" sz="6000" dirty="0">
                <a:solidFill>
                  <a:schemeClr val="bg1"/>
                </a:solidFill>
                <a:latin typeface="Space Grotesk Medium" pitchFamily="2" charset="0"/>
              </a:rPr>
              <a:t>Module 6</a:t>
            </a:r>
            <a:endParaRPr lang="en-US" sz="6000" dirty="0">
              <a:solidFill>
                <a:schemeClr val="bg1"/>
              </a:solidFill>
              <a:latin typeface="Space Grotesk Medium" pitchFamily="2" charset="0"/>
            </a:endParaRPr>
          </a:p>
        </p:txBody>
      </p:sp>
      <p:sp>
        <p:nvSpPr>
          <p:cNvPr id="14" name="Rectangle: Rounded Corners 14">
            <a:extLst>
              <a:ext uri="{FF2B5EF4-FFF2-40B4-BE49-F238E27FC236}">
                <a16:creationId xmlns:a16="http://schemas.microsoft.com/office/drawing/2014/main" id="{014258F0-ECFC-AA19-5A77-E5C53D534329}"/>
              </a:ext>
            </a:extLst>
          </p:cNvPr>
          <p:cNvSpPr/>
          <p:nvPr/>
        </p:nvSpPr>
        <p:spPr>
          <a:xfrm>
            <a:off x="2399070" y="2481177"/>
            <a:ext cx="7641392" cy="2952582"/>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TextBox 7">
            <a:extLst>
              <a:ext uri="{FF2B5EF4-FFF2-40B4-BE49-F238E27FC236}">
                <a16:creationId xmlns:a16="http://schemas.microsoft.com/office/drawing/2014/main" id="{6294D7FF-6AC0-A256-8050-CD307B8274E0}"/>
              </a:ext>
            </a:extLst>
          </p:cNvPr>
          <p:cNvSpPr txBox="1"/>
          <p:nvPr/>
        </p:nvSpPr>
        <p:spPr>
          <a:xfrm>
            <a:off x="2399069" y="4059950"/>
            <a:ext cx="7641392" cy="506292"/>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r>
              <a:rPr lang="fr-FR" sz="2000" b="1" dirty="0">
                <a:solidFill>
                  <a:schemeClr val="tx2">
                    <a:alpha val="60000"/>
                  </a:schemeClr>
                </a:solidFill>
              </a:rPr>
              <a:t>Expertise immobilier et IA ?</a:t>
            </a:r>
          </a:p>
        </p:txBody>
      </p:sp>
      <p:sp>
        <p:nvSpPr>
          <p:cNvPr id="17" name="TextBox 1">
            <a:extLst>
              <a:ext uri="{FF2B5EF4-FFF2-40B4-BE49-F238E27FC236}">
                <a16:creationId xmlns:a16="http://schemas.microsoft.com/office/drawing/2014/main" id="{8A469EB3-F549-444E-6A47-C662729EA73A}"/>
              </a:ext>
            </a:extLst>
          </p:cNvPr>
          <p:cNvSpPr txBox="1"/>
          <p:nvPr/>
        </p:nvSpPr>
        <p:spPr>
          <a:xfrm>
            <a:off x="2399070" y="2655165"/>
            <a:ext cx="7641391" cy="1446550"/>
          </a:xfrm>
          <a:prstGeom prst="rect">
            <a:avLst/>
          </a:prstGeom>
          <a:noFill/>
        </p:spPr>
        <p:txBody>
          <a:bodyPr wrap="square" rtlCol="0">
            <a:spAutoFit/>
          </a:bodyPr>
          <a:lstStyle/>
          <a:p>
            <a:pPr algn="ctr"/>
            <a:r>
              <a:rPr lang="fr-FR" sz="4400" dirty="0">
                <a:solidFill>
                  <a:schemeClr val="tx2"/>
                </a:solidFill>
                <a:latin typeface="Space Grotesk Medium" pitchFamily="2" charset="0"/>
              </a:rPr>
              <a:t>Déontologie, limites et intégration dans la pratique</a:t>
            </a:r>
            <a:endParaRPr lang="en-US" sz="4400" dirty="0">
              <a:solidFill>
                <a:schemeClr val="tx2"/>
              </a:solidFill>
              <a:latin typeface="Space Grotesk Medium" pitchFamily="2" charset="0"/>
            </a:endParaRPr>
          </a:p>
        </p:txBody>
      </p:sp>
    </p:spTree>
    <p:extLst>
      <p:ext uri="{BB962C8B-B14F-4D97-AF65-F5344CB8AC3E}">
        <p14:creationId xmlns:p14="http://schemas.microsoft.com/office/powerpoint/2010/main" val="126618518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28F25B4-4A70-8BD6-0318-DAA07F8AFDF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1B6863A-5576-D1E1-EA47-C3D10404D375}"/>
              </a:ext>
            </a:extLst>
          </p:cNvPr>
          <p:cNvSpPr/>
          <p:nvPr/>
        </p:nvSpPr>
        <p:spPr>
          <a:xfrm>
            <a:off x="3495795" y="279981"/>
            <a:ext cx="7641392" cy="1723631"/>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890CB345-445D-C382-48B8-13C0F16A82EB}"/>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0348E2E-3EDE-DA3F-CE65-1DDA1456F9CF}"/>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D53D05A8-F969-B9CD-8792-4264FB1AEFC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6</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8228E661-DBF3-3C38-CA75-0BA367DF8012}"/>
              </a:ext>
            </a:extLst>
          </p:cNvPr>
          <p:cNvSpPr txBox="1"/>
          <p:nvPr/>
        </p:nvSpPr>
        <p:spPr>
          <a:xfrm>
            <a:off x="3495795" y="302802"/>
            <a:ext cx="7641391" cy="1508105"/>
          </a:xfrm>
          <a:prstGeom prst="rect">
            <a:avLst/>
          </a:prstGeom>
          <a:noFill/>
        </p:spPr>
        <p:txBody>
          <a:bodyPr wrap="square" rtlCol="0">
            <a:spAutoFit/>
          </a:bodyPr>
          <a:lstStyle/>
          <a:p>
            <a:pPr algn="ctr"/>
            <a:r>
              <a:rPr lang="fr-FR" sz="3600" dirty="0">
                <a:solidFill>
                  <a:schemeClr val="tx2"/>
                </a:solidFill>
                <a:latin typeface="Space Grotesk Medium" pitchFamily="2" charset="0"/>
              </a:rPr>
              <a:t>Déontologie, limites et intégration </a:t>
            </a:r>
          </a:p>
          <a:p>
            <a:pPr algn="ctr"/>
            <a:r>
              <a:rPr lang="fr-FR" sz="3600" dirty="0">
                <a:solidFill>
                  <a:schemeClr val="tx2"/>
                </a:solidFill>
                <a:latin typeface="Space Grotesk Medium" pitchFamily="2" charset="0"/>
              </a:rPr>
              <a:t>dans la pratique</a:t>
            </a:r>
            <a:endParaRPr lang="en-US" sz="3600" dirty="0">
              <a:solidFill>
                <a:schemeClr val="tx2"/>
              </a:solidFill>
              <a:latin typeface="Space Grotesk Medium" pitchFamily="2" charset="0"/>
            </a:endParaRPr>
          </a:p>
          <a:p>
            <a:pPr algn="ctr"/>
            <a:r>
              <a:rPr lang="fr-FR" sz="2000" b="1" dirty="0">
                <a:solidFill>
                  <a:schemeClr val="tx2">
                    <a:alpha val="60000"/>
                  </a:schemeClr>
                </a:solidFill>
                <a:latin typeface="Figtree" pitchFamily="2" charset="0"/>
              </a:rPr>
              <a:t>Expertise et IA ?</a:t>
            </a:r>
          </a:p>
        </p:txBody>
      </p:sp>
      <p:sp>
        <p:nvSpPr>
          <p:cNvPr id="13" name="Freeform: Shape 3">
            <a:extLst>
              <a:ext uri="{FF2B5EF4-FFF2-40B4-BE49-F238E27FC236}">
                <a16:creationId xmlns:a16="http://schemas.microsoft.com/office/drawing/2014/main" id="{C160611C-7617-25EB-7E0C-4330D44DBC4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38764000-F2AD-05E6-1674-6462959202F4}"/>
              </a:ext>
            </a:extLst>
          </p:cNvPr>
          <p:cNvSpPr txBox="1"/>
          <p:nvPr/>
        </p:nvSpPr>
        <p:spPr>
          <a:xfrm>
            <a:off x="376519" y="2136303"/>
            <a:ext cx="4793107" cy="584775"/>
          </a:xfrm>
          <a:prstGeom prst="rect">
            <a:avLst/>
          </a:prstGeom>
          <a:noFill/>
        </p:spPr>
        <p:txBody>
          <a:bodyPr wrap="none" rtlCol="0">
            <a:spAutoFit/>
          </a:bodyPr>
          <a:lstStyle/>
          <a:p>
            <a:r>
              <a:rPr lang="fr-FR" sz="3200" b="1" u="sng" dirty="0">
                <a:latin typeface="Figtree"/>
              </a:rPr>
              <a:t>Ce que la Charte dit sur l'IA</a:t>
            </a:r>
          </a:p>
        </p:txBody>
      </p:sp>
      <p:sp>
        <p:nvSpPr>
          <p:cNvPr id="6" name="ZoneTexte 5">
            <a:extLst>
              <a:ext uri="{FF2B5EF4-FFF2-40B4-BE49-F238E27FC236}">
                <a16:creationId xmlns:a16="http://schemas.microsoft.com/office/drawing/2014/main" id="{AAD83185-C914-D80D-1CE5-6D910E3E8434}"/>
              </a:ext>
            </a:extLst>
          </p:cNvPr>
          <p:cNvSpPr txBox="1"/>
          <p:nvPr/>
        </p:nvSpPr>
        <p:spPr>
          <a:xfrm>
            <a:off x="3056063" y="3415083"/>
            <a:ext cx="8164223" cy="523220"/>
          </a:xfrm>
          <a:prstGeom prst="rect">
            <a:avLst/>
          </a:prstGeom>
          <a:noFill/>
        </p:spPr>
        <p:txBody>
          <a:bodyPr wrap="none" rtlCol="0">
            <a:spAutoFit/>
          </a:bodyPr>
          <a:lstStyle/>
          <a:p>
            <a:r>
              <a:rPr lang="fr-FR" sz="2800" dirty="0">
                <a:latin typeface="Figtree"/>
              </a:rPr>
              <a:t>1 - l'IA est un outil </a:t>
            </a:r>
            <a:r>
              <a:rPr lang="fr-FR" sz="2800" b="1" dirty="0">
                <a:latin typeface="Figtree"/>
              </a:rPr>
              <a:t>d'aide à la décision</a:t>
            </a:r>
            <a:r>
              <a:rPr lang="fr-FR" sz="2800" dirty="0">
                <a:latin typeface="Figtree"/>
              </a:rPr>
              <a:t>, pas un substitut</a:t>
            </a:r>
          </a:p>
        </p:txBody>
      </p:sp>
      <p:sp>
        <p:nvSpPr>
          <p:cNvPr id="9" name="ZoneTexte 8">
            <a:extLst>
              <a:ext uri="{FF2B5EF4-FFF2-40B4-BE49-F238E27FC236}">
                <a16:creationId xmlns:a16="http://schemas.microsoft.com/office/drawing/2014/main" id="{204B32AF-3946-3ABF-806A-E3C85020964A}"/>
              </a:ext>
            </a:extLst>
          </p:cNvPr>
          <p:cNvSpPr txBox="1"/>
          <p:nvPr/>
        </p:nvSpPr>
        <p:spPr>
          <a:xfrm>
            <a:off x="3056063" y="3950984"/>
            <a:ext cx="8175508" cy="523220"/>
          </a:xfrm>
          <a:prstGeom prst="rect">
            <a:avLst/>
          </a:prstGeom>
          <a:noFill/>
        </p:spPr>
        <p:txBody>
          <a:bodyPr wrap="none" rtlCol="0">
            <a:spAutoFit/>
          </a:bodyPr>
          <a:lstStyle/>
          <a:p>
            <a:r>
              <a:rPr lang="fr-FR" sz="2800" dirty="0">
                <a:latin typeface="Figtree"/>
              </a:rPr>
              <a:t>2 - l'expert </a:t>
            </a:r>
            <a:r>
              <a:rPr lang="fr-FR" sz="2800" b="1" dirty="0">
                <a:latin typeface="Figtree"/>
              </a:rPr>
              <a:t>conserve la responsabilité </a:t>
            </a:r>
            <a:r>
              <a:rPr lang="fr-FR" sz="2800" dirty="0">
                <a:latin typeface="Figtree"/>
              </a:rPr>
              <a:t>pleine et entière</a:t>
            </a:r>
          </a:p>
        </p:txBody>
      </p:sp>
      <p:sp>
        <p:nvSpPr>
          <p:cNvPr id="14" name="ZoneTexte 13">
            <a:extLst>
              <a:ext uri="{FF2B5EF4-FFF2-40B4-BE49-F238E27FC236}">
                <a16:creationId xmlns:a16="http://schemas.microsoft.com/office/drawing/2014/main" id="{27EE94CA-AA70-B95C-B70B-1E8AA7AC26FD}"/>
              </a:ext>
            </a:extLst>
          </p:cNvPr>
          <p:cNvSpPr txBox="1"/>
          <p:nvPr/>
        </p:nvSpPr>
        <p:spPr>
          <a:xfrm>
            <a:off x="3056063" y="4486885"/>
            <a:ext cx="6052811" cy="523220"/>
          </a:xfrm>
          <a:prstGeom prst="rect">
            <a:avLst/>
          </a:prstGeom>
          <a:noFill/>
        </p:spPr>
        <p:txBody>
          <a:bodyPr wrap="none" rtlCol="0">
            <a:spAutoFit/>
          </a:bodyPr>
          <a:lstStyle/>
          <a:p>
            <a:r>
              <a:rPr lang="fr-FR" sz="2800" dirty="0">
                <a:latin typeface="Figtree"/>
              </a:rPr>
              <a:t>3 - la protection des données et le </a:t>
            </a:r>
            <a:r>
              <a:rPr lang="fr-FR" sz="2800" b="1" dirty="0">
                <a:latin typeface="Figtree"/>
              </a:rPr>
              <a:t>RGPD</a:t>
            </a:r>
          </a:p>
        </p:txBody>
      </p:sp>
      <p:sp>
        <p:nvSpPr>
          <p:cNvPr id="17" name="ZoneTexte 16">
            <a:extLst>
              <a:ext uri="{FF2B5EF4-FFF2-40B4-BE49-F238E27FC236}">
                <a16:creationId xmlns:a16="http://schemas.microsoft.com/office/drawing/2014/main" id="{2CEF7A28-2B10-24D2-A014-2C01904DD947}"/>
              </a:ext>
            </a:extLst>
          </p:cNvPr>
          <p:cNvSpPr txBox="1"/>
          <p:nvPr/>
        </p:nvSpPr>
        <p:spPr>
          <a:xfrm>
            <a:off x="3056063" y="5022786"/>
            <a:ext cx="7679346" cy="523220"/>
          </a:xfrm>
          <a:prstGeom prst="rect">
            <a:avLst/>
          </a:prstGeom>
          <a:noFill/>
        </p:spPr>
        <p:txBody>
          <a:bodyPr wrap="none" rtlCol="0">
            <a:spAutoFit/>
          </a:bodyPr>
          <a:lstStyle/>
          <a:p>
            <a:r>
              <a:rPr lang="fr-FR" sz="2800" dirty="0">
                <a:latin typeface="Figtree"/>
              </a:rPr>
              <a:t>4 - la plus nouvelle : la </a:t>
            </a:r>
            <a:r>
              <a:rPr lang="fr-FR" sz="2800" b="1" dirty="0">
                <a:latin typeface="Figtree"/>
              </a:rPr>
              <a:t>transparence</a:t>
            </a:r>
            <a:r>
              <a:rPr lang="fr-FR" sz="2800" dirty="0">
                <a:latin typeface="Figtree"/>
              </a:rPr>
              <a:t> envers le client</a:t>
            </a:r>
          </a:p>
        </p:txBody>
      </p:sp>
      <p:sp>
        <p:nvSpPr>
          <p:cNvPr id="18" name="ZoneTexte 17">
            <a:extLst>
              <a:ext uri="{FF2B5EF4-FFF2-40B4-BE49-F238E27FC236}">
                <a16:creationId xmlns:a16="http://schemas.microsoft.com/office/drawing/2014/main" id="{31397F65-E6DD-AD38-2537-C6DC0BBB8193}"/>
              </a:ext>
            </a:extLst>
          </p:cNvPr>
          <p:cNvSpPr txBox="1"/>
          <p:nvPr/>
        </p:nvSpPr>
        <p:spPr>
          <a:xfrm>
            <a:off x="1689099" y="2957888"/>
            <a:ext cx="3858300" cy="369332"/>
          </a:xfrm>
          <a:prstGeom prst="rect">
            <a:avLst/>
          </a:prstGeom>
          <a:noFill/>
        </p:spPr>
        <p:txBody>
          <a:bodyPr wrap="none" rtlCol="0">
            <a:spAutoFit/>
          </a:bodyPr>
          <a:lstStyle/>
          <a:p>
            <a:r>
              <a:rPr lang="fr-FR" b="1" dirty="0">
                <a:latin typeface="Figtree"/>
              </a:rPr>
              <a:t>La Charte pose quatre positions claires</a:t>
            </a:r>
          </a:p>
        </p:txBody>
      </p:sp>
    </p:spTree>
    <p:extLst>
      <p:ext uri="{BB962C8B-B14F-4D97-AF65-F5344CB8AC3E}">
        <p14:creationId xmlns:p14="http://schemas.microsoft.com/office/powerpoint/2010/main" val="23722563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BA9D810-495A-8981-81CC-FE2A4B26A06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A3726A8-39C0-6D8D-A93D-77A75B29BDCF}"/>
              </a:ext>
            </a:extLst>
          </p:cNvPr>
          <p:cNvSpPr/>
          <p:nvPr/>
        </p:nvSpPr>
        <p:spPr>
          <a:xfrm>
            <a:off x="3495795" y="279981"/>
            <a:ext cx="7641392" cy="1723631"/>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45A2662B-1950-29B8-1F91-F9A46CA2FEE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FA15B3A-E2D4-33C6-75E3-758F2683BC7B}"/>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3A4958AB-CDE3-84B2-211D-DAAE7D665ED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6</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E8E14408-589B-3962-9506-71D886CBDF3D}"/>
              </a:ext>
            </a:extLst>
          </p:cNvPr>
          <p:cNvSpPr txBox="1"/>
          <p:nvPr/>
        </p:nvSpPr>
        <p:spPr>
          <a:xfrm>
            <a:off x="3495795" y="302802"/>
            <a:ext cx="7641391" cy="1508105"/>
          </a:xfrm>
          <a:prstGeom prst="rect">
            <a:avLst/>
          </a:prstGeom>
          <a:noFill/>
        </p:spPr>
        <p:txBody>
          <a:bodyPr wrap="square" rtlCol="0">
            <a:spAutoFit/>
          </a:bodyPr>
          <a:lstStyle/>
          <a:p>
            <a:pPr algn="ctr"/>
            <a:r>
              <a:rPr lang="fr-FR" sz="3600" dirty="0">
                <a:solidFill>
                  <a:schemeClr val="tx2"/>
                </a:solidFill>
                <a:latin typeface="Space Grotesk Medium" pitchFamily="2" charset="0"/>
              </a:rPr>
              <a:t>Déontologie, limites et intégration </a:t>
            </a:r>
          </a:p>
          <a:p>
            <a:pPr algn="ctr"/>
            <a:r>
              <a:rPr lang="fr-FR" sz="3600" dirty="0">
                <a:solidFill>
                  <a:schemeClr val="tx2"/>
                </a:solidFill>
                <a:latin typeface="Space Grotesk Medium" pitchFamily="2" charset="0"/>
              </a:rPr>
              <a:t>dans la pratique</a:t>
            </a:r>
            <a:endParaRPr lang="en-US" sz="3600" dirty="0">
              <a:solidFill>
                <a:schemeClr val="tx2"/>
              </a:solidFill>
              <a:latin typeface="Space Grotesk Medium" pitchFamily="2" charset="0"/>
            </a:endParaRPr>
          </a:p>
          <a:p>
            <a:pPr algn="ctr"/>
            <a:r>
              <a:rPr lang="fr-FR" sz="2000" b="1" dirty="0">
                <a:solidFill>
                  <a:schemeClr val="tx2">
                    <a:alpha val="60000"/>
                  </a:schemeClr>
                </a:solidFill>
                <a:latin typeface="Figtree" pitchFamily="2" charset="0"/>
              </a:rPr>
              <a:t>Expertise et IA ?</a:t>
            </a:r>
          </a:p>
        </p:txBody>
      </p:sp>
      <p:sp>
        <p:nvSpPr>
          <p:cNvPr id="13" name="Freeform: Shape 3">
            <a:extLst>
              <a:ext uri="{FF2B5EF4-FFF2-40B4-BE49-F238E27FC236}">
                <a16:creationId xmlns:a16="http://schemas.microsoft.com/office/drawing/2014/main" id="{67EED683-544B-BDFC-C8BD-9E427EBD632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D388D56D-8543-E737-B7D4-97E131FE66E0}"/>
              </a:ext>
            </a:extLst>
          </p:cNvPr>
          <p:cNvSpPr txBox="1"/>
          <p:nvPr/>
        </p:nvSpPr>
        <p:spPr>
          <a:xfrm>
            <a:off x="376519" y="2136303"/>
            <a:ext cx="6165470" cy="584775"/>
          </a:xfrm>
          <a:prstGeom prst="rect">
            <a:avLst/>
          </a:prstGeom>
          <a:noFill/>
        </p:spPr>
        <p:txBody>
          <a:bodyPr wrap="none" rtlCol="0">
            <a:spAutoFit/>
          </a:bodyPr>
          <a:lstStyle/>
          <a:p>
            <a:r>
              <a:rPr lang="fr-FR" sz="3200" b="1" u="sng" dirty="0">
                <a:latin typeface="Figtree"/>
              </a:rPr>
              <a:t>La responsabilité ne se délègue pas</a:t>
            </a:r>
          </a:p>
        </p:txBody>
      </p:sp>
      <p:sp>
        <p:nvSpPr>
          <p:cNvPr id="6" name="ZoneTexte 5">
            <a:extLst>
              <a:ext uri="{FF2B5EF4-FFF2-40B4-BE49-F238E27FC236}">
                <a16:creationId xmlns:a16="http://schemas.microsoft.com/office/drawing/2014/main" id="{BA3DF380-10AD-E6FF-4FB3-FFD5E66DC3FC}"/>
              </a:ext>
            </a:extLst>
          </p:cNvPr>
          <p:cNvSpPr txBox="1"/>
          <p:nvPr/>
        </p:nvSpPr>
        <p:spPr>
          <a:xfrm>
            <a:off x="1992027" y="3742268"/>
            <a:ext cx="8878326" cy="2123658"/>
          </a:xfrm>
          <a:prstGeom prst="rect">
            <a:avLst/>
          </a:prstGeom>
          <a:noFill/>
        </p:spPr>
        <p:txBody>
          <a:bodyPr wrap="square" rtlCol="0">
            <a:spAutoFit/>
          </a:bodyPr>
          <a:lstStyle/>
          <a:p>
            <a:pPr algn="ctr"/>
            <a:r>
              <a:rPr lang="fr-FR" sz="4400" dirty="0"/>
              <a:t>L'IA a rédigé. </a:t>
            </a:r>
          </a:p>
          <a:p>
            <a:pPr algn="ctr"/>
            <a:r>
              <a:rPr lang="fr-FR" sz="4400" dirty="0"/>
              <a:t>Vous signez. </a:t>
            </a:r>
          </a:p>
          <a:p>
            <a:pPr algn="ctr"/>
            <a:r>
              <a:rPr lang="fr-FR" sz="4400" dirty="0"/>
              <a:t>C'est aussi simple que ça.</a:t>
            </a:r>
            <a:endParaRPr lang="fr-FR" sz="4400" dirty="0">
              <a:latin typeface="Figtree"/>
            </a:endParaRPr>
          </a:p>
        </p:txBody>
      </p:sp>
    </p:spTree>
    <p:extLst>
      <p:ext uri="{BB962C8B-B14F-4D97-AF65-F5344CB8AC3E}">
        <p14:creationId xmlns:p14="http://schemas.microsoft.com/office/powerpoint/2010/main" val="231049320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2BAE22D-A7DB-965C-6FE3-6E90E73A5B3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AF85950-5613-29FD-C865-CFD813C5D6DE}"/>
              </a:ext>
            </a:extLst>
          </p:cNvPr>
          <p:cNvSpPr/>
          <p:nvPr/>
        </p:nvSpPr>
        <p:spPr>
          <a:xfrm>
            <a:off x="3495795" y="279981"/>
            <a:ext cx="7641392" cy="1723631"/>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DBC3C56D-E72D-7EBC-C7CB-A3AB239C4290}"/>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1B9E5AB-F430-581F-15A2-4C258382567E}"/>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7BEC7853-3B7B-3FB0-14A8-802E144574D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6</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B410E139-0DC0-175E-53EB-DEEEA5BAFB64}"/>
              </a:ext>
            </a:extLst>
          </p:cNvPr>
          <p:cNvSpPr txBox="1"/>
          <p:nvPr/>
        </p:nvSpPr>
        <p:spPr>
          <a:xfrm>
            <a:off x="3495795" y="302802"/>
            <a:ext cx="7641391" cy="1508105"/>
          </a:xfrm>
          <a:prstGeom prst="rect">
            <a:avLst/>
          </a:prstGeom>
          <a:noFill/>
        </p:spPr>
        <p:txBody>
          <a:bodyPr wrap="square" rtlCol="0">
            <a:spAutoFit/>
          </a:bodyPr>
          <a:lstStyle/>
          <a:p>
            <a:pPr algn="ctr"/>
            <a:r>
              <a:rPr lang="fr-FR" sz="3600" dirty="0">
                <a:solidFill>
                  <a:schemeClr val="tx2"/>
                </a:solidFill>
                <a:latin typeface="Space Grotesk Medium" pitchFamily="2" charset="0"/>
              </a:rPr>
              <a:t>Déontologie, limites et intégration </a:t>
            </a:r>
          </a:p>
          <a:p>
            <a:pPr algn="ctr"/>
            <a:r>
              <a:rPr lang="fr-FR" sz="3600" dirty="0">
                <a:solidFill>
                  <a:schemeClr val="tx2"/>
                </a:solidFill>
                <a:latin typeface="Space Grotesk Medium" pitchFamily="2" charset="0"/>
              </a:rPr>
              <a:t>dans la pratique</a:t>
            </a:r>
            <a:endParaRPr lang="en-US" sz="3600" dirty="0">
              <a:solidFill>
                <a:schemeClr val="tx2"/>
              </a:solidFill>
              <a:latin typeface="Space Grotesk Medium" pitchFamily="2" charset="0"/>
            </a:endParaRPr>
          </a:p>
          <a:p>
            <a:pPr algn="ctr"/>
            <a:r>
              <a:rPr lang="fr-FR" sz="2000" b="1" dirty="0">
                <a:solidFill>
                  <a:schemeClr val="tx2">
                    <a:alpha val="60000"/>
                  </a:schemeClr>
                </a:solidFill>
                <a:latin typeface="Figtree" pitchFamily="2" charset="0"/>
              </a:rPr>
              <a:t>Expertise et IA ?</a:t>
            </a:r>
          </a:p>
        </p:txBody>
      </p:sp>
      <p:sp>
        <p:nvSpPr>
          <p:cNvPr id="13" name="Freeform: Shape 3">
            <a:extLst>
              <a:ext uri="{FF2B5EF4-FFF2-40B4-BE49-F238E27FC236}">
                <a16:creationId xmlns:a16="http://schemas.microsoft.com/office/drawing/2014/main" id="{C7B0B96A-727D-1BD0-C413-49689DC91E70}"/>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4945795F-3724-FDE1-F071-1C8BF8C7BB8F}"/>
              </a:ext>
            </a:extLst>
          </p:cNvPr>
          <p:cNvSpPr txBox="1"/>
          <p:nvPr/>
        </p:nvSpPr>
        <p:spPr>
          <a:xfrm>
            <a:off x="376519" y="2136303"/>
            <a:ext cx="6197979" cy="584775"/>
          </a:xfrm>
          <a:prstGeom prst="rect">
            <a:avLst/>
          </a:prstGeom>
          <a:noFill/>
        </p:spPr>
        <p:txBody>
          <a:bodyPr wrap="none" rtlCol="0">
            <a:spAutoFit/>
          </a:bodyPr>
          <a:lstStyle/>
          <a:p>
            <a:r>
              <a:rPr lang="fr-FR" sz="3200" b="1" u="sng" dirty="0"/>
              <a:t>Les trois règles qui vous protègent</a:t>
            </a:r>
            <a:endParaRPr lang="fr-FR" sz="3200" b="1" u="sng" dirty="0">
              <a:latin typeface="Figtree"/>
            </a:endParaRPr>
          </a:p>
        </p:txBody>
      </p:sp>
      <p:sp>
        <p:nvSpPr>
          <p:cNvPr id="5" name="ZoneTexte 4">
            <a:extLst>
              <a:ext uri="{FF2B5EF4-FFF2-40B4-BE49-F238E27FC236}">
                <a16:creationId xmlns:a16="http://schemas.microsoft.com/office/drawing/2014/main" id="{07787140-C01F-BE35-0F0F-DEECF276918A}"/>
              </a:ext>
            </a:extLst>
          </p:cNvPr>
          <p:cNvSpPr txBox="1"/>
          <p:nvPr/>
        </p:nvSpPr>
        <p:spPr>
          <a:xfrm>
            <a:off x="715666" y="3195574"/>
            <a:ext cx="10760667" cy="2923877"/>
          </a:xfrm>
          <a:prstGeom prst="rect">
            <a:avLst/>
          </a:prstGeom>
          <a:noFill/>
        </p:spPr>
        <p:txBody>
          <a:bodyPr wrap="square" rtlCol="0">
            <a:spAutoFit/>
          </a:bodyPr>
          <a:lstStyle/>
          <a:p>
            <a:pPr algn="ctr"/>
            <a:r>
              <a:rPr lang="fr-FR" sz="2400" dirty="0"/>
              <a:t>Trois règles suffisent à travailler avec l'IA en toute sécurité professionnelle.</a:t>
            </a:r>
          </a:p>
          <a:p>
            <a:endParaRPr lang="fr-FR" sz="2000" dirty="0"/>
          </a:p>
          <a:p>
            <a:pPr algn="ctr"/>
            <a:r>
              <a:rPr lang="fr-FR" sz="2800" b="1" dirty="0"/>
              <a:t>Premièrement — ne jamais saisir de données personnelles.</a:t>
            </a:r>
            <a:r>
              <a:rPr lang="fr-FR" sz="2800" dirty="0"/>
              <a:t> </a:t>
            </a:r>
          </a:p>
          <a:p>
            <a:pPr algn="ctr"/>
            <a:endParaRPr lang="fr-FR" sz="2800" dirty="0"/>
          </a:p>
          <a:p>
            <a:pPr algn="ctr"/>
            <a:r>
              <a:rPr lang="fr-FR" sz="2800" b="1" dirty="0"/>
              <a:t>Deuxièmement — vérifier chaque chiffre.</a:t>
            </a:r>
            <a:r>
              <a:rPr lang="fr-FR" sz="2800" dirty="0"/>
              <a:t> </a:t>
            </a:r>
          </a:p>
          <a:p>
            <a:pPr algn="ctr"/>
            <a:endParaRPr lang="fr-FR" sz="2800" b="1" dirty="0"/>
          </a:p>
          <a:p>
            <a:pPr algn="ctr"/>
            <a:r>
              <a:rPr lang="fr-FR" sz="2800" b="1" dirty="0"/>
              <a:t>Troisièmement — informer votre mandant.</a:t>
            </a:r>
            <a:r>
              <a:rPr lang="fr-FR" sz="2800" dirty="0"/>
              <a:t> </a:t>
            </a:r>
            <a:endParaRPr lang="fr-FR" sz="3200" dirty="0"/>
          </a:p>
        </p:txBody>
      </p:sp>
    </p:spTree>
    <p:extLst>
      <p:ext uri="{BB962C8B-B14F-4D97-AF65-F5344CB8AC3E}">
        <p14:creationId xmlns:p14="http://schemas.microsoft.com/office/powerpoint/2010/main" val="40214015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9766E30-9894-CACC-CD88-EEAD1246692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9366E260-D173-03CB-0BDD-C7313D339EA8}"/>
              </a:ext>
            </a:extLst>
          </p:cNvPr>
          <p:cNvSpPr/>
          <p:nvPr/>
        </p:nvSpPr>
        <p:spPr>
          <a:xfrm>
            <a:off x="3495795" y="279981"/>
            <a:ext cx="7641392" cy="1723631"/>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8397FD33-654B-59A5-BCFD-ACDC3ADBBB6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5EAE29B-B104-844B-06EB-F64849755FE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2685CC5-AFA3-25A8-3766-B545062BB693}"/>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6</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4D3988A-C5E9-44A6-A55C-D5BFBCD6FE10}"/>
              </a:ext>
            </a:extLst>
          </p:cNvPr>
          <p:cNvSpPr txBox="1"/>
          <p:nvPr/>
        </p:nvSpPr>
        <p:spPr>
          <a:xfrm>
            <a:off x="3495795" y="302802"/>
            <a:ext cx="7641391" cy="1508105"/>
          </a:xfrm>
          <a:prstGeom prst="rect">
            <a:avLst/>
          </a:prstGeom>
          <a:noFill/>
        </p:spPr>
        <p:txBody>
          <a:bodyPr wrap="square" rtlCol="0">
            <a:spAutoFit/>
          </a:bodyPr>
          <a:lstStyle/>
          <a:p>
            <a:pPr algn="ctr"/>
            <a:r>
              <a:rPr lang="fr-FR" sz="3600" dirty="0">
                <a:solidFill>
                  <a:schemeClr val="tx2"/>
                </a:solidFill>
                <a:latin typeface="Space Grotesk Medium" pitchFamily="2" charset="0"/>
              </a:rPr>
              <a:t>Déontologie, limites et intégration </a:t>
            </a:r>
          </a:p>
          <a:p>
            <a:pPr algn="ctr"/>
            <a:r>
              <a:rPr lang="fr-FR" sz="3600" dirty="0">
                <a:solidFill>
                  <a:schemeClr val="tx2"/>
                </a:solidFill>
                <a:latin typeface="Space Grotesk Medium" pitchFamily="2" charset="0"/>
              </a:rPr>
              <a:t>dans la pratique</a:t>
            </a:r>
            <a:endParaRPr lang="en-US" sz="3600" dirty="0">
              <a:solidFill>
                <a:schemeClr val="tx2"/>
              </a:solidFill>
              <a:latin typeface="Space Grotesk Medium" pitchFamily="2" charset="0"/>
            </a:endParaRPr>
          </a:p>
          <a:p>
            <a:pPr algn="ctr"/>
            <a:r>
              <a:rPr lang="fr-FR" sz="2000" b="1" dirty="0">
                <a:solidFill>
                  <a:schemeClr val="tx2">
                    <a:alpha val="60000"/>
                  </a:schemeClr>
                </a:solidFill>
                <a:latin typeface="Figtree" pitchFamily="2" charset="0"/>
              </a:rPr>
              <a:t>Expertise et IA ?</a:t>
            </a:r>
          </a:p>
        </p:txBody>
      </p:sp>
      <p:sp>
        <p:nvSpPr>
          <p:cNvPr id="13" name="Freeform: Shape 3">
            <a:extLst>
              <a:ext uri="{FF2B5EF4-FFF2-40B4-BE49-F238E27FC236}">
                <a16:creationId xmlns:a16="http://schemas.microsoft.com/office/drawing/2014/main" id="{23B4ED02-7120-AAFC-813C-5FD47DF77767}"/>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76A6F29D-AD15-0606-2AA7-3ADB289A03B7}"/>
              </a:ext>
            </a:extLst>
          </p:cNvPr>
          <p:cNvSpPr txBox="1"/>
          <p:nvPr/>
        </p:nvSpPr>
        <p:spPr>
          <a:xfrm>
            <a:off x="376519" y="2136303"/>
            <a:ext cx="4475649" cy="584775"/>
          </a:xfrm>
          <a:prstGeom prst="rect">
            <a:avLst/>
          </a:prstGeom>
          <a:noFill/>
        </p:spPr>
        <p:txBody>
          <a:bodyPr wrap="none" rtlCol="0">
            <a:spAutoFit/>
          </a:bodyPr>
          <a:lstStyle/>
          <a:p>
            <a:r>
              <a:rPr lang="fr-FR" sz="3200" b="1" u="sng" dirty="0"/>
              <a:t>Ce que l'IA ne fera jamais</a:t>
            </a:r>
            <a:endParaRPr lang="fr-FR" sz="3200" b="1" u="sng" dirty="0">
              <a:latin typeface="Figtree"/>
            </a:endParaRPr>
          </a:p>
        </p:txBody>
      </p:sp>
      <p:sp>
        <p:nvSpPr>
          <p:cNvPr id="5" name="ZoneTexte 4">
            <a:extLst>
              <a:ext uri="{FF2B5EF4-FFF2-40B4-BE49-F238E27FC236}">
                <a16:creationId xmlns:a16="http://schemas.microsoft.com/office/drawing/2014/main" id="{C9938758-4E34-B153-9943-27F5DBD2D2D1}"/>
              </a:ext>
            </a:extLst>
          </p:cNvPr>
          <p:cNvSpPr txBox="1"/>
          <p:nvPr/>
        </p:nvSpPr>
        <p:spPr>
          <a:xfrm>
            <a:off x="715666" y="3195574"/>
            <a:ext cx="10760667" cy="2554545"/>
          </a:xfrm>
          <a:prstGeom prst="rect">
            <a:avLst/>
          </a:prstGeom>
          <a:noFill/>
        </p:spPr>
        <p:txBody>
          <a:bodyPr wrap="square" rtlCol="0">
            <a:spAutoFit/>
          </a:bodyPr>
          <a:lstStyle/>
          <a:p>
            <a:pPr algn="ctr"/>
            <a:r>
              <a:rPr lang="fr-FR" sz="4000" dirty="0"/>
              <a:t>Visiter le bien. Mesurer les surfaces. Juger de la qualité d'un marché local. Sélectionner les comparables pertinents. Arrêter le prix unitaire. Signer le rapport.</a:t>
            </a:r>
            <a:endParaRPr lang="fr-FR" sz="4800" dirty="0"/>
          </a:p>
        </p:txBody>
      </p:sp>
    </p:spTree>
    <p:extLst>
      <p:ext uri="{BB962C8B-B14F-4D97-AF65-F5344CB8AC3E}">
        <p14:creationId xmlns:p14="http://schemas.microsoft.com/office/powerpoint/2010/main" val="261591946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AC4440D-6F68-6B75-A0E3-57B4B5D18F1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BFFE8F0-69E1-93BE-887F-B4C63B39D1B6}"/>
              </a:ext>
            </a:extLst>
          </p:cNvPr>
          <p:cNvSpPr/>
          <p:nvPr/>
        </p:nvSpPr>
        <p:spPr>
          <a:xfrm>
            <a:off x="3495795" y="279981"/>
            <a:ext cx="7641392" cy="1723631"/>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26D4EC3F-B347-38C1-3F0B-15F8FFDA19AC}"/>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0EBA2A3-CAD6-70C8-64B0-61377F898233}"/>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F80D007E-6FF6-EB12-F0B1-E792CBC3CBF7}"/>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6</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2AD5A22-132C-4531-9271-3289BF27E848}"/>
              </a:ext>
            </a:extLst>
          </p:cNvPr>
          <p:cNvSpPr txBox="1"/>
          <p:nvPr/>
        </p:nvSpPr>
        <p:spPr>
          <a:xfrm>
            <a:off x="3495795" y="302802"/>
            <a:ext cx="7641391" cy="1508105"/>
          </a:xfrm>
          <a:prstGeom prst="rect">
            <a:avLst/>
          </a:prstGeom>
          <a:noFill/>
        </p:spPr>
        <p:txBody>
          <a:bodyPr wrap="square" rtlCol="0">
            <a:spAutoFit/>
          </a:bodyPr>
          <a:lstStyle/>
          <a:p>
            <a:pPr algn="ctr"/>
            <a:r>
              <a:rPr lang="fr-FR" sz="3600" dirty="0">
                <a:solidFill>
                  <a:schemeClr val="tx2"/>
                </a:solidFill>
                <a:latin typeface="Space Grotesk Medium" pitchFamily="2" charset="0"/>
              </a:rPr>
              <a:t>Déontologie, limites et intégration </a:t>
            </a:r>
          </a:p>
          <a:p>
            <a:pPr algn="ctr"/>
            <a:r>
              <a:rPr lang="fr-FR" sz="3600" dirty="0">
                <a:solidFill>
                  <a:schemeClr val="tx2"/>
                </a:solidFill>
                <a:latin typeface="Space Grotesk Medium" pitchFamily="2" charset="0"/>
              </a:rPr>
              <a:t>dans la pratique</a:t>
            </a:r>
            <a:endParaRPr lang="en-US" sz="3600" dirty="0">
              <a:solidFill>
                <a:schemeClr val="tx2"/>
              </a:solidFill>
              <a:latin typeface="Space Grotesk Medium" pitchFamily="2" charset="0"/>
            </a:endParaRPr>
          </a:p>
          <a:p>
            <a:pPr algn="ctr"/>
            <a:r>
              <a:rPr lang="fr-FR" sz="2000" b="1" dirty="0">
                <a:solidFill>
                  <a:schemeClr val="tx2">
                    <a:alpha val="60000"/>
                  </a:schemeClr>
                </a:solidFill>
                <a:latin typeface="Figtree" pitchFamily="2" charset="0"/>
              </a:rPr>
              <a:t>Expertise et IA ?</a:t>
            </a:r>
          </a:p>
        </p:txBody>
      </p:sp>
      <p:sp>
        <p:nvSpPr>
          <p:cNvPr id="13" name="Freeform: Shape 3">
            <a:extLst>
              <a:ext uri="{FF2B5EF4-FFF2-40B4-BE49-F238E27FC236}">
                <a16:creationId xmlns:a16="http://schemas.microsoft.com/office/drawing/2014/main" id="{F0160A73-F1FC-A571-3B60-29D72383DA6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ZoneTexte 3">
            <a:extLst>
              <a:ext uri="{FF2B5EF4-FFF2-40B4-BE49-F238E27FC236}">
                <a16:creationId xmlns:a16="http://schemas.microsoft.com/office/drawing/2014/main" id="{DFBFE5F1-610E-9B38-AACE-83F5FFAAB90B}"/>
              </a:ext>
            </a:extLst>
          </p:cNvPr>
          <p:cNvSpPr txBox="1"/>
          <p:nvPr/>
        </p:nvSpPr>
        <p:spPr>
          <a:xfrm>
            <a:off x="376519" y="2136303"/>
            <a:ext cx="5726311" cy="584775"/>
          </a:xfrm>
          <a:prstGeom prst="rect">
            <a:avLst/>
          </a:prstGeom>
          <a:noFill/>
        </p:spPr>
        <p:txBody>
          <a:bodyPr wrap="none" rtlCol="0">
            <a:spAutoFit/>
          </a:bodyPr>
          <a:lstStyle/>
          <a:p>
            <a:r>
              <a:rPr lang="fr-FR" sz="3200" b="1" u="sng" dirty="0"/>
              <a:t>Ce que vous faites demain matin</a:t>
            </a:r>
            <a:endParaRPr lang="fr-FR" sz="3200" b="1" u="sng" dirty="0">
              <a:latin typeface="Figtree"/>
            </a:endParaRPr>
          </a:p>
        </p:txBody>
      </p:sp>
      <p:sp>
        <p:nvSpPr>
          <p:cNvPr id="5" name="ZoneTexte 4">
            <a:extLst>
              <a:ext uri="{FF2B5EF4-FFF2-40B4-BE49-F238E27FC236}">
                <a16:creationId xmlns:a16="http://schemas.microsoft.com/office/drawing/2014/main" id="{CBF022DA-8413-8D65-6B5F-B3631244099D}"/>
              </a:ext>
            </a:extLst>
          </p:cNvPr>
          <p:cNvSpPr txBox="1"/>
          <p:nvPr/>
        </p:nvSpPr>
        <p:spPr>
          <a:xfrm>
            <a:off x="715666" y="3195574"/>
            <a:ext cx="10760667" cy="2554545"/>
          </a:xfrm>
          <a:prstGeom prst="rect">
            <a:avLst/>
          </a:prstGeom>
          <a:noFill/>
        </p:spPr>
        <p:txBody>
          <a:bodyPr wrap="square" rtlCol="0">
            <a:spAutoFit/>
          </a:bodyPr>
          <a:lstStyle/>
          <a:p>
            <a:pPr algn="ctr"/>
            <a:r>
              <a:rPr lang="fr-FR" sz="4000" dirty="0"/>
              <a:t>Vous avez trois dossiers sur votre bureau. </a:t>
            </a:r>
          </a:p>
          <a:p>
            <a:pPr algn="ctr"/>
            <a:r>
              <a:rPr lang="fr-FR" sz="4000" dirty="0"/>
              <a:t>Ouvrez Claude. Collez votre prompt d'initialisation. Collez vos notes de visite. Collez votre tableau DVF. Vérifiez les calculs. Relisez. Signez.</a:t>
            </a:r>
            <a:endParaRPr lang="fr-FR" sz="4800" dirty="0"/>
          </a:p>
        </p:txBody>
      </p:sp>
    </p:spTree>
    <p:extLst>
      <p:ext uri="{BB962C8B-B14F-4D97-AF65-F5344CB8AC3E}">
        <p14:creationId xmlns:p14="http://schemas.microsoft.com/office/powerpoint/2010/main" val="193886914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6DD7E7E-707D-1B81-EA28-4047FC31BB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030170-C693-3091-5C4E-E1AD0A8BDC3B}"/>
              </a:ext>
            </a:extLst>
          </p:cNvPr>
          <p:cNvSpPr txBox="1"/>
          <p:nvPr/>
        </p:nvSpPr>
        <p:spPr>
          <a:xfrm>
            <a:off x="755087" y="1122647"/>
            <a:ext cx="10751113" cy="1446550"/>
          </a:xfrm>
          <a:prstGeom prst="rect">
            <a:avLst/>
          </a:prstGeom>
          <a:noFill/>
        </p:spPr>
        <p:txBody>
          <a:bodyPr wrap="square" rtlCol="0">
            <a:spAutoFit/>
          </a:bodyPr>
          <a:lstStyle/>
          <a:p>
            <a:r>
              <a:rPr lang="fr-FR" sz="4400" dirty="0">
                <a:latin typeface="Space Grotesk Medium"/>
              </a:rPr>
              <a:t>Le nouveau profil de l'« expert augmenté »</a:t>
            </a:r>
          </a:p>
          <a:p>
            <a:endParaRPr lang="fr-FR" sz="4400" dirty="0">
              <a:latin typeface="Space Grotesk Medium"/>
            </a:endParaRPr>
          </a:p>
        </p:txBody>
      </p:sp>
      <p:sp>
        <p:nvSpPr>
          <p:cNvPr id="11" name="Freeform: Shape 10">
            <a:extLst>
              <a:ext uri="{FF2B5EF4-FFF2-40B4-BE49-F238E27FC236}">
                <a16:creationId xmlns:a16="http://schemas.microsoft.com/office/drawing/2014/main" id="{F4BE4432-CB73-4F41-319C-C28F9AA1951F}"/>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4C1852B9-3090-6CBA-40D4-A3AE2EB42785}"/>
              </a:ext>
            </a:extLst>
          </p:cNvPr>
          <p:cNvSpPr/>
          <p:nvPr/>
        </p:nvSpPr>
        <p:spPr>
          <a:xfrm>
            <a:off x="1947264" y="2074597"/>
            <a:ext cx="8492136" cy="1940395"/>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18" name="Groupe 17">
            <a:extLst>
              <a:ext uri="{FF2B5EF4-FFF2-40B4-BE49-F238E27FC236}">
                <a16:creationId xmlns:a16="http://schemas.microsoft.com/office/drawing/2014/main" id="{0FF6D0D9-7FC4-A502-3115-8EF6EE83281C}"/>
              </a:ext>
            </a:extLst>
          </p:cNvPr>
          <p:cNvGrpSpPr/>
          <p:nvPr/>
        </p:nvGrpSpPr>
        <p:grpSpPr>
          <a:xfrm>
            <a:off x="1234245" y="2411556"/>
            <a:ext cx="547042" cy="547042"/>
            <a:chOff x="2883144" y="3841563"/>
            <a:chExt cx="1249169" cy="1249169"/>
          </a:xfrm>
        </p:grpSpPr>
        <p:sp>
          <p:nvSpPr>
            <p:cNvPr id="111" name="Oval 110">
              <a:extLst>
                <a:ext uri="{FF2B5EF4-FFF2-40B4-BE49-F238E27FC236}">
                  <a16:creationId xmlns:a16="http://schemas.microsoft.com/office/drawing/2014/main" id="{2096B67D-E627-17AC-DD02-0AAAD2C74843}"/>
                </a:ext>
              </a:extLst>
            </p:cNvPr>
            <p:cNvSpPr/>
            <p:nvPr/>
          </p:nvSpPr>
          <p:spPr>
            <a:xfrm>
              <a:off x="2883144" y="3841563"/>
              <a:ext cx="1249169" cy="1249169"/>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1C036839-86E0-F6CB-8401-C4469DEB94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177494" y="4135913"/>
              <a:ext cx="660468" cy="660468"/>
            </a:xfrm>
            <a:prstGeom prst="rect">
              <a:avLst/>
            </a:prstGeom>
          </p:spPr>
        </p:pic>
      </p:grpSp>
      <p:sp>
        <p:nvSpPr>
          <p:cNvPr id="9" name="TextBox 1">
            <a:extLst>
              <a:ext uri="{FF2B5EF4-FFF2-40B4-BE49-F238E27FC236}">
                <a16:creationId xmlns:a16="http://schemas.microsoft.com/office/drawing/2014/main" id="{445F2708-9DE3-72E6-FE65-12BC63D672A4}"/>
              </a:ext>
            </a:extLst>
          </p:cNvPr>
          <p:cNvSpPr txBox="1"/>
          <p:nvPr/>
        </p:nvSpPr>
        <p:spPr>
          <a:xfrm>
            <a:off x="755087" y="480115"/>
            <a:ext cx="610124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Conclusion</a:t>
            </a:r>
            <a:endParaRPr lang="en-US" sz="2800" b="1" dirty="0">
              <a:solidFill>
                <a:schemeClr val="accent1">
                  <a:lumMod val="60000"/>
                  <a:lumOff val="40000"/>
                </a:schemeClr>
              </a:solidFill>
              <a:latin typeface="Space Grotesk Medium"/>
              <a:sym typeface="Manrope"/>
            </a:endParaRPr>
          </a:p>
        </p:txBody>
      </p:sp>
      <p:sp>
        <p:nvSpPr>
          <p:cNvPr id="4" name="TextBox 3">
            <a:extLst>
              <a:ext uri="{FF2B5EF4-FFF2-40B4-BE49-F238E27FC236}">
                <a16:creationId xmlns:a16="http://schemas.microsoft.com/office/drawing/2014/main" id="{4EBC7ED5-659F-3941-C021-BDD3311E5FCA}"/>
              </a:ext>
            </a:extLst>
          </p:cNvPr>
          <p:cNvSpPr txBox="1"/>
          <p:nvPr/>
        </p:nvSpPr>
        <p:spPr>
          <a:xfrm>
            <a:off x="2152140" y="2193842"/>
            <a:ext cx="8082384" cy="1697068"/>
          </a:xfrm>
          <a:prstGeom prst="rect">
            <a:avLst/>
          </a:prstGeom>
          <a:noFill/>
        </p:spPr>
        <p:txBody>
          <a:bodyPr wrap="square" rtlCol="0">
            <a:spAutoFit/>
          </a:bodyPr>
          <a:lstStyle/>
          <a:p>
            <a:pPr>
              <a:lnSpc>
                <a:spcPct val="110000"/>
              </a:lnSpc>
            </a:pPr>
            <a:r>
              <a:rPr lang="fr-FR" sz="2400" dirty="0">
                <a:latin typeface="Figtree"/>
              </a:rPr>
              <a:t>L'utilisation de l'IA transforme l'expert en "expert augmenté". Elle contribue à obtenir un gain de temps considérable, comme la recherche de comparables DVF ou l'extraction de clauses de baux par exemple…</a:t>
            </a:r>
          </a:p>
        </p:txBody>
      </p:sp>
      <p:sp>
        <p:nvSpPr>
          <p:cNvPr id="5" name="TextBox 3">
            <a:extLst>
              <a:ext uri="{FF2B5EF4-FFF2-40B4-BE49-F238E27FC236}">
                <a16:creationId xmlns:a16="http://schemas.microsoft.com/office/drawing/2014/main" id="{780FFC4D-715D-74EC-1F99-4AC0CDA6519B}"/>
              </a:ext>
            </a:extLst>
          </p:cNvPr>
          <p:cNvSpPr txBox="1"/>
          <p:nvPr/>
        </p:nvSpPr>
        <p:spPr>
          <a:xfrm>
            <a:off x="2152140" y="4247881"/>
            <a:ext cx="8744460" cy="2103333"/>
          </a:xfrm>
          <a:prstGeom prst="rect">
            <a:avLst/>
          </a:prstGeom>
          <a:noFill/>
        </p:spPr>
        <p:txBody>
          <a:bodyPr wrap="square" rtlCol="0">
            <a:spAutoFit/>
          </a:bodyPr>
          <a:lstStyle/>
          <a:p>
            <a:pPr>
              <a:lnSpc>
                <a:spcPct val="110000"/>
              </a:lnSpc>
            </a:pPr>
            <a:r>
              <a:rPr lang="fr-FR" sz="2400" dirty="0">
                <a:latin typeface="Figtree"/>
              </a:rPr>
              <a:t>Ce temps dégagé permet à l'expert de se concentrer sur l'essentiel :</a:t>
            </a:r>
          </a:p>
          <a:p>
            <a:pPr marL="342900" indent="-342900">
              <a:lnSpc>
                <a:spcPct val="110000"/>
              </a:lnSpc>
              <a:buFont typeface="Arial" panose="020B0604020202020204" pitchFamily="34" charset="0"/>
              <a:buChar char="•"/>
            </a:pPr>
            <a:r>
              <a:rPr lang="fr-FR" sz="2400" b="1" dirty="0">
                <a:latin typeface="Figtree"/>
              </a:rPr>
              <a:t>L'analyse approfondie </a:t>
            </a:r>
            <a:r>
              <a:rPr lang="fr-FR" sz="2400" dirty="0">
                <a:latin typeface="Figtree"/>
              </a:rPr>
              <a:t>des cas les plus complexes</a:t>
            </a:r>
          </a:p>
          <a:p>
            <a:pPr marL="342900" indent="-342900">
              <a:lnSpc>
                <a:spcPct val="110000"/>
              </a:lnSpc>
              <a:buFont typeface="Arial" panose="020B0604020202020204" pitchFamily="34" charset="0"/>
              <a:buChar char="•"/>
            </a:pPr>
            <a:r>
              <a:rPr lang="fr-FR" sz="2400" b="1" dirty="0">
                <a:latin typeface="Figtree"/>
              </a:rPr>
              <a:t>L'inspection</a:t>
            </a:r>
            <a:r>
              <a:rPr lang="fr-FR" sz="2400" dirty="0">
                <a:latin typeface="Figtree"/>
              </a:rPr>
              <a:t> et la visite terrain</a:t>
            </a:r>
          </a:p>
          <a:p>
            <a:pPr marL="342900" indent="-342900">
              <a:lnSpc>
                <a:spcPct val="110000"/>
              </a:lnSpc>
              <a:buFont typeface="Arial" panose="020B0604020202020204" pitchFamily="34" charset="0"/>
              <a:buChar char="•"/>
            </a:pPr>
            <a:r>
              <a:rPr lang="fr-FR" sz="2400" b="1" dirty="0">
                <a:latin typeface="Figtree"/>
              </a:rPr>
              <a:t>Le conseil stratégique </a:t>
            </a:r>
            <a:r>
              <a:rPr lang="fr-FR" sz="2400" dirty="0">
                <a:latin typeface="Figtree"/>
              </a:rPr>
              <a:t>auprès des clients et la négociation</a:t>
            </a:r>
          </a:p>
          <a:p>
            <a:pPr marL="342900" indent="-342900">
              <a:lnSpc>
                <a:spcPct val="110000"/>
              </a:lnSpc>
              <a:buFont typeface="Arial" panose="020B0604020202020204" pitchFamily="34" charset="0"/>
              <a:buChar char="•"/>
            </a:pPr>
            <a:r>
              <a:rPr lang="fr-FR" sz="2400" b="1" dirty="0">
                <a:latin typeface="Figtree"/>
              </a:rPr>
              <a:t>L'enrichissement</a:t>
            </a:r>
            <a:r>
              <a:rPr lang="fr-FR" sz="2400" dirty="0">
                <a:latin typeface="Figtree"/>
              </a:rPr>
              <a:t> de la veille marché.</a:t>
            </a:r>
          </a:p>
        </p:txBody>
      </p:sp>
    </p:spTree>
    <p:extLst>
      <p:ext uri="{BB962C8B-B14F-4D97-AF65-F5344CB8AC3E}">
        <p14:creationId xmlns:p14="http://schemas.microsoft.com/office/powerpoint/2010/main" val="417099293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4DA411C3-A333-6034-ADAF-91A1306457DE}"/>
              </a:ext>
            </a:extLst>
          </p:cNvPr>
          <p:cNvSpPr/>
          <p:nvPr/>
        </p:nvSpPr>
        <p:spPr>
          <a:xfrm>
            <a:off x="6040299" y="234992"/>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2E67ECC9-786C-3DB5-8BE2-17FEEE4AE2B0}"/>
              </a:ext>
            </a:extLst>
          </p:cNvPr>
          <p:cNvSpPr txBox="1"/>
          <p:nvPr/>
        </p:nvSpPr>
        <p:spPr>
          <a:xfrm>
            <a:off x="1099801" y="2809765"/>
            <a:ext cx="4768770" cy="1938992"/>
          </a:xfrm>
          <a:prstGeom prst="rect">
            <a:avLst/>
          </a:prstGeom>
          <a:noFill/>
        </p:spPr>
        <p:txBody>
          <a:bodyPr wrap="square" rtlCol="0">
            <a:spAutoFit/>
          </a:bodyPr>
          <a:lstStyle/>
          <a:p>
            <a:r>
              <a:rPr lang="en-US" sz="6000" dirty="0">
                <a:solidFill>
                  <a:schemeClr val="tx2"/>
                </a:solidFill>
                <a:latin typeface="Space Grotesk Medium" pitchFamily="2" charset="0"/>
                <a:sym typeface="Manrope"/>
              </a:rPr>
              <a:t>Merci pour </a:t>
            </a:r>
            <a:r>
              <a:rPr lang="en-US" sz="6000" dirty="0" err="1">
                <a:solidFill>
                  <a:schemeClr val="tx2"/>
                </a:solidFill>
                <a:latin typeface="Space Grotesk Medium" pitchFamily="2" charset="0"/>
                <a:sym typeface="Manrope"/>
              </a:rPr>
              <a:t>votre</a:t>
            </a:r>
            <a:r>
              <a:rPr lang="en-US" sz="6000" dirty="0">
                <a:solidFill>
                  <a:schemeClr val="tx2"/>
                </a:solidFill>
                <a:latin typeface="Space Grotesk Medium" pitchFamily="2" charset="0"/>
                <a:sym typeface="Manrope"/>
              </a:rPr>
              <a:t> </a:t>
            </a:r>
            <a:r>
              <a:rPr lang="en-US" sz="6000" dirty="0" err="1">
                <a:solidFill>
                  <a:schemeClr val="tx2"/>
                </a:solidFill>
                <a:latin typeface="Space Grotesk Medium" pitchFamily="2" charset="0"/>
                <a:sym typeface="Manrope"/>
              </a:rPr>
              <a:t>écoute</a:t>
            </a:r>
            <a:endParaRPr lang="en-US" sz="6000" dirty="0">
              <a:solidFill>
                <a:schemeClr val="tx2"/>
              </a:solidFill>
              <a:latin typeface="Space Grotesk Medium" pitchFamily="2" charset="0"/>
              <a:sym typeface="Manrope"/>
            </a:endParaRPr>
          </a:p>
        </p:txBody>
      </p:sp>
      <p:sp>
        <p:nvSpPr>
          <p:cNvPr id="16" name="Oval 15">
            <a:extLst>
              <a:ext uri="{FF2B5EF4-FFF2-40B4-BE49-F238E27FC236}">
                <a16:creationId xmlns:a16="http://schemas.microsoft.com/office/drawing/2014/main" id="{5AEA804B-2C7A-FACD-C571-E9B96A2BD01F}"/>
              </a:ext>
            </a:extLst>
          </p:cNvPr>
          <p:cNvSpPr/>
          <p:nvPr/>
        </p:nvSpPr>
        <p:spPr>
          <a:xfrm>
            <a:off x="406195" y="30792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7" name="Straight Arrow Connector 16">
            <a:extLst>
              <a:ext uri="{FF2B5EF4-FFF2-40B4-BE49-F238E27FC236}">
                <a16:creationId xmlns:a16="http://schemas.microsoft.com/office/drawing/2014/main" id="{17762EC7-F092-E8E1-9FE9-50A419ADC4C1}"/>
              </a:ext>
            </a:extLst>
          </p:cNvPr>
          <p:cNvCxnSpPr>
            <a:cxnSpLocks/>
          </p:cNvCxnSpPr>
          <p:nvPr/>
        </p:nvCxnSpPr>
        <p:spPr>
          <a:xfrm flipV="1">
            <a:off x="577923" y="32510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pic>
        <p:nvPicPr>
          <p:cNvPr id="7" name="Espace réservé pour une image  6">
            <a:extLst>
              <a:ext uri="{FF2B5EF4-FFF2-40B4-BE49-F238E27FC236}">
                <a16:creationId xmlns:a16="http://schemas.microsoft.com/office/drawing/2014/main" id="{E0F53343-9048-E987-1375-FB3232B57F0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8" r="18"/>
          <a:stretch>
            <a:fillRect/>
          </a:stretch>
        </p:blipFill>
        <p:spPr>
          <a:xfrm>
            <a:off x="6429475" y="624174"/>
            <a:ext cx="4469490" cy="4469490"/>
          </a:xfrm>
          <a:custGeom>
            <a:avLst/>
            <a:gdLst>
              <a:gd name="connsiteX0" fmla="*/ 2234745 w 4469490"/>
              <a:gd name="connsiteY0" fmla="*/ 0 h 4469490"/>
              <a:gd name="connsiteX1" fmla="*/ 4469490 w 4469490"/>
              <a:gd name="connsiteY1" fmla="*/ 2234745 h 4469490"/>
              <a:gd name="connsiteX2" fmla="*/ 2234745 w 4469490"/>
              <a:gd name="connsiteY2" fmla="*/ 4469490 h 4469490"/>
              <a:gd name="connsiteX3" fmla="*/ 0 w 4469490"/>
              <a:gd name="connsiteY3" fmla="*/ 2234745 h 4469490"/>
              <a:gd name="connsiteX4" fmla="*/ 2234745 w 4469490"/>
              <a:gd name="connsiteY4" fmla="*/ 0 h 446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9490" h="4469490">
                <a:moveTo>
                  <a:pt x="2234745" y="0"/>
                </a:moveTo>
                <a:cubicBezTo>
                  <a:pt x="3468961" y="0"/>
                  <a:pt x="4469490" y="1000529"/>
                  <a:pt x="4469490" y="2234745"/>
                </a:cubicBezTo>
                <a:cubicBezTo>
                  <a:pt x="4469490" y="3468961"/>
                  <a:pt x="3468961" y="4469490"/>
                  <a:pt x="2234745" y="4469490"/>
                </a:cubicBezTo>
                <a:cubicBezTo>
                  <a:pt x="1000529" y="4469490"/>
                  <a:pt x="0" y="3468961"/>
                  <a:pt x="0" y="2234745"/>
                </a:cubicBezTo>
                <a:cubicBezTo>
                  <a:pt x="0" y="1000529"/>
                  <a:pt x="1000529" y="0"/>
                  <a:pt x="2234745" y="0"/>
                </a:cubicBezTo>
                <a:close/>
              </a:path>
            </a:pathLst>
          </a:custGeom>
          <a:pattFill prst="pct5">
            <a:fgClr>
              <a:srgbClr val="FF0000"/>
            </a:fgClr>
            <a:bgClr>
              <a:prstClr val="white"/>
            </a:bgClr>
          </a:pattFill>
        </p:spPr>
      </p:pic>
      <p:sp>
        <p:nvSpPr>
          <p:cNvPr id="15" name="Freeform: Shape 14">
            <a:extLst>
              <a:ext uri="{FF2B5EF4-FFF2-40B4-BE49-F238E27FC236}">
                <a16:creationId xmlns:a16="http://schemas.microsoft.com/office/drawing/2014/main" id="{C8F76BA1-C25D-98BC-2957-0FE1EBAA8592}"/>
              </a:ext>
            </a:extLst>
          </p:cNvPr>
          <p:cNvSpPr/>
          <p:nvPr/>
        </p:nvSpPr>
        <p:spPr>
          <a:xfrm rot="7775267">
            <a:off x="-825965" y="-1938065"/>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3B8B9DCE-B1F9-E435-78A0-66A3745B6E6F}"/>
              </a:ext>
            </a:extLst>
          </p:cNvPr>
          <p:cNvSpPr txBox="1"/>
          <p:nvPr/>
        </p:nvSpPr>
        <p:spPr>
          <a:xfrm>
            <a:off x="1099801" y="4960027"/>
            <a:ext cx="2759528" cy="492443"/>
          </a:xfrm>
          <a:prstGeom prst="rect">
            <a:avLst/>
          </a:prstGeom>
          <a:noFill/>
        </p:spPr>
        <p:txBody>
          <a:bodyPr wrap="square">
            <a:spAutoFit/>
          </a:bodyPr>
          <a:lstStyle/>
          <a:p>
            <a:pPr algn="ctr"/>
            <a:r>
              <a:rPr lang="en-US" sz="2600" dirty="0"/>
              <a:t>Robert BESSOUDO</a:t>
            </a:r>
            <a:endParaRPr lang="fr-FR" dirty="0"/>
          </a:p>
        </p:txBody>
      </p:sp>
      <p:sp>
        <p:nvSpPr>
          <p:cNvPr id="18" name="TextBox 1">
            <a:extLst>
              <a:ext uri="{FF2B5EF4-FFF2-40B4-BE49-F238E27FC236}">
                <a16:creationId xmlns:a16="http://schemas.microsoft.com/office/drawing/2014/main" id="{14362DFA-8C3D-0386-C422-15480852D446}"/>
              </a:ext>
            </a:extLst>
          </p:cNvPr>
          <p:cNvSpPr txBox="1"/>
          <p:nvPr/>
        </p:nvSpPr>
        <p:spPr>
          <a:xfrm>
            <a:off x="5728274" y="5663740"/>
            <a:ext cx="5871893" cy="769441"/>
          </a:xfrm>
          <a:prstGeom prst="rect">
            <a:avLst/>
          </a:prstGeom>
          <a:noFill/>
        </p:spPr>
        <p:txBody>
          <a:bodyPr wrap="square" rtlCol="0">
            <a:spAutoFit/>
          </a:bodyPr>
          <a:lstStyle/>
          <a:p>
            <a:pPr algn="r"/>
            <a:r>
              <a:rPr lang="en-US" sz="4400" i="1" dirty="0">
                <a:solidFill>
                  <a:srgbClr val="FF0000"/>
                </a:solidFill>
                <a:latin typeface="Space Grotesk Medium" pitchFamily="2" charset="0"/>
                <a:sym typeface="Manrope"/>
              </a:rPr>
              <a:t>Photo </a:t>
            </a:r>
            <a:r>
              <a:rPr lang="en-US" sz="4400" i="1" dirty="0" err="1">
                <a:solidFill>
                  <a:srgbClr val="FF0000"/>
                </a:solidFill>
                <a:latin typeface="Space Grotesk Medium" pitchFamily="2" charset="0"/>
                <a:sym typeface="Manrope"/>
              </a:rPr>
              <a:t>réalisée</a:t>
            </a:r>
            <a:r>
              <a:rPr lang="en-US" sz="4400" i="1" dirty="0">
                <a:solidFill>
                  <a:srgbClr val="FF0000"/>
                </a:solidFill>
                <a:latin typeface="Space Grotesk Medium" pitchFamily="2" charset="0"/>
                <a:sym typeface="Manrope"/>
              </a:rPr>
              <a:t> avec </a:t>
            </a:r>
            <a:r>
              <a:rPr lang="en-US" sz="4400" i="1" dirty="0" err="1">
                <a:solidFill>
                  <a:srgbClr val="FF0000"/>
                </a:solidFill>
                <a:latin typeface="Space Grotesk Medium" pitchFamily="2" charset="0"/>
                <a:sym typeface="Manrope"/>
              </a:rPr>
              <a:t>l’IA</a:t>
            </a:r>
            <a:endParaRPr lang="en-US" sz="4400" i="1" dirty="0">
              <a:solidFill>
                <a:srgbClr val="FF0000"/>
              </a:solidFill>
              <a:latin typeface="Space Grotesk Medium" pitchFamily="2" charset="0"/>
              <a:sym typeface="Manrope"/>
            </a:endParaRPr>
          </a:p>
        </p:txBody>
      </p:sp>
    </p:spTree>
    <p:extLst>
      <p:ext uri="{BB962C8B-B14F-4D97-AF65-F5344CB8AC3E}">
        <p14:creationId xmlns:p14="http://schemas.microsoft.com/office/powerpoint/2010/main" val="140694503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E40A87-AB78-3559-3910-45278BF38D5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4C5B62E-F702-91BF-D51B-CF55C337600F}"/>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DB2E2B5-7C8D-CEB5-F995-946A091A3D25}"/>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85B9F40-96CE-AF34-0331-68EA01A27F20}"/>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DD59A22-ED0A-6BB3-0344-2BEB9041DAD5}"/>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883770FB-FC31-1057-A89B-1BEB3E3BD1B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latin typeface="Figtree" pitchFamily="2" charset="0"/>
              </a:rPr>
              <a:t>rédiger un rapport complet avec l'IA</a:t>
            </a:r>
          </a:p>
        </p:txBody>
      </p:sp>
      <p:sp>
        <p:nvSpPr>
          <p:cNvPr id="13" name="Freeform: Shape 3">
            <a:extLst>
              <a:ext uri="{FF2B5EF4-FFF2-40B4-BE49-F238E27FC236}">
                <a16:creationId xmlns:a16="http://schemas.microsoft.com/office/drawing/2014/main" id="{A9738418-39BF-0424-AB78-E9E6B37450C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9844346A-40E2-F077-A606-6449D7DFC19D}"/>
              </a:ext>
            </a:extLst>
          </p:cNvPr>
          <p:cNvSpPr txBox="1"/>
          <p:nvPr/>
        </p:nvSpPr>
        <p:spPr>
          <a:xfrm>
            <a:off x="31194" y="879070"/>
            <a:ext cx="3464600" cy="830997"/>
          </a:xfrm>
          <a:prstGeom prst="rect">
            <a:avLst/>
          </a:prstGeom>
          <a:noFill/>
        </p:spPr>
        <p:txBody>
          <a:bodyPr wrap="square" rtlCol="0">
            <a:spAutoFit/>
          </a:bodyPr>
          <a:lstStyle/>
          <a:p>
            <a:pPr algn="ctr"/>
            <a:r>
              <a:rPr lang="fr-FR" sz="2400" dirty="0">
                <a:solidFill>
                  <a:schemeClr val="accent3">
                    <a:lumMod val="75000"/>
                  </a:schemeClr>
                </a:solidFill>
              </a:rPr>
              <a:t>Prompt d'initialisation </a:t>
            </a:r>
          </a:p>
          <a:p>
            <a:pPr algn="ctr"/>
            <a:r>
              <a:rPr lang="fr-FR" sz="2400" dirty="0">
                <a:solidFill>
                  <a:schemeClr val="accent3">
                    <a:lumMod val="75000"/>
                  </a:schemeClr>
                </a:solidFill>
              </a:rPr>
              <a:t>- Différence -</a:t>
            </a:r>
          </a:p>
        </p:txBody>
      </p:sp>
      <p:sp>
        <p:nvSpPr>
          <p:cNvPr id="4" name="ZoneTexte 3">
            <a:extLst>
              <a:ext uri="{FF2B5EF4-FFF2-40B4-BE49-F238E27FC236}">
                <a16:creationId xmlns:a16="http://schemas.microsoft.com/office/drawing/2014/main" id="{2042298A-09E8-B2D8-2B66-A38C40B65387}"/>
              </a:ext>
            </a:extLst>
          </p:cNvPr>
          <p:cNvSpPr txBox="1"/>
          <p:nvPr/>
        </p:nvSpPr>
        <p:spPr>
          <a:xfrm>
            <a:off x="1757880" y="2414310"/>
            <a:ext cx="4611257" cy="3970318"/>
          </a:xfrm>
          <a:prstGeom prst="rect">
            <a:avLst/>
          </a:prstGeom>
          <a:noFill/>
        </p:spPr>
        <p:txBody>
          <a:bodyPr wrap="square" rtlCol="0">
            <a:spAutoFit/>
          </a:bodyPr>
          <a:lstStyle/>
          <a:p>
            <a:r>
              <a:rPr lang="fr-FR" dirty="0">
                <a:solidFill>
                  <a:srgbClr val="FF0000"/>
                </a:solidFill>
                <a:latin typeface="Courier New" panose="02070309020205020404" pitchFamily="49" charset="0"/>
                <a:cs typeface="Courier New" panose="02070309020205020404" pitchFamily="49" charset="0"/>
              </a:rPr>
              <a:t>Tu es expert immobilier agréé</a:t>
            </a:r>
          </a:p>
          <a:p>
            <a:r>
              <a:rPr lang="fr-FR" dirty="0">
                <a:solidFill>
                  <a:srgbClr val="FF0000"/>
                </a:solidFill>
                <a:latin typeface="Courier New" panose="02070309020205020404" pitchFamily="49" charset="0"/>
                <a:cs typeface="Courier New" panose="02070309020205020404" pitchFamily="49" charset="0"/>
              </a:rPr>
              <a:t>par la cour d'appel de [ville].</a:t>
            </a:r>
          </a:p>
          <a:p>
            <a:endParaRPr lang="fr-FR" dirty="0">
              <a:latin typeface="Courier New" panose="02070309020205020404" pitchFamily="49" charset="0"/>
              <a:cs typeface="Courier New" panose="02070309020205020404" pitchFamily="49" charset="0"/>
            </a:endParaRPr>
          </a:p>
          <a:p>
            <a:r>
              <a:rPr lang="fr-FR" dirty="0">
                <a:latin typeface="Courier New" panose="02070309020205020404" pitchFamily="49" charset="0"/>
                <a:cs typeface="Courier New" panose="02070309020205020404" pitchFamily="49" charset="0"/>
              </a:rPr>
              <a:t>Mission : </a:t>
            </a:r>
            <a:r>
              <a:rPr lang="fr-FR" dirty="0">
                <a:solidFill>
                  <a:srgbClr val="FF0000"/>
                </a:solidFill>
                <a:latin typeface="Courier New" panose="02070309020205020404" pitchFamily="49" charset="0"/>
                <a:cs typeface="Courier New" panose="02070309020205020404" pitchFamily="49" charset="0"/>
              </a:rPr>
              <a:t>ordonnance</a:t>
            </a:r>
            <a:r>
              <a:rPr lang="fr-FR" dirty="0">
                <a:latin typeface="Courier New" panose="02070309020205020404" pitchFamily="49" charset="0"/>
                <a:cs typeface="Courier New" panose="02070309020205020404" pitchFamily="49" charset="0"/>
              </a:rPr>
              <a:t> TJ [ville],</a:t>
            </a:r>
          </a:p>
          <a:p>
            <a:r>
              <a:rPr lang="fr-FR" dirty="0">
                <a:latin typeface="Courier New" panose="02070309020205020404" pitchFamily="49" charset="0"/>
                <a:cs typeface="Courier New" panose="02070309020205020404" pitchFamily="49" charset="0"/>
              </a:rPr>
              <a:t>[chambre].</a:t>
            </a:r>
          </a:p>
          <a:p>
            <a:r>
              <a:rPr lang="fr-FR" dirty="0">
                <a:latin typeface="Courier New" panose="02070309020205020404" pitchFamily="49" charset="0"/>
                <a:cs typeface="Courier New" panose="02070309020205020404" pitchFamily="49" charset="0"/>
              </a:rPr>
              <a:t>Parties : demandeur / défendeur.</a:t>
            </a:r>
          </a:p>
          <a:p>
            <a:r>
              <a:rPr lang="fr-FR" dirty="0">
                <a:latin typeface="Courier New" panose="02070309020205020404" pitchFamily="49" charset="0"/>
                <a:cs typeface="Courier New" panose="02070309020205020404" pitchFamily="49" charset="0"/>
              </a:rPr>
              <a:t>Valeur vénale libre au [date].</a:t>
            </a:r>
          </a:p>
          <a:p>
            <a:endParaRPr lang="fr-FR" dirty="0">
              <a:latin typeface="Courier New" panose="02070309020205020404" pitchFamily="49" charset="0"/>
              <a:cs typeface="Courier New" panose="02070309020205020404" pitchFamily="49" charset="0"/>
            </a:endParaRPr>
          </a:p>
          <a:p>
            <a:r>
              <a:rPr lang="fr-FR" dirty="0">
                <a:latin typeface="Courier New" panose="02070309020205020404" pitchFamily="49" charset="0"/>
                <a:cs typeface="Courier New" panose="02070309020205020404" pitchFamily="49" charset="0"/>
              </a:rPr>
              <a:t>Ton : </a:t>
            </a:r>
            <a:r>
              <a:rPr lang="fr-FR" dirty="0">
                <a:solidFill>
                  <a:srgbClr val="FF0000"/>
                </a:solidFill>
                <a:latin typeface="Courier New" panose="02070309020205020404" pitchFamily="49" charset="0"/>
                <a:cs typeface="Courier New" panose="02070309020205020404" pitchFamily="49" charset="0"/>
              </a:rPr>
              <a:t>judiciaire strict.</a:t>
            </a:r>
          </a:p>
          <a:p>
            <a:r>
              <a:rPr lang="fr-FR" dirty="0">
                <a:latin typeface="Courier New" panose="02070309020205020404" pitchFamily="49" charset="0"/>
                <a:cs typeface="Courier New" panose="02070309020205020404" pitchFamily="49" charset="0"/>
              </a:rPr>
              <a:t>Première personne pour les constats.</a:t>
            </a:r>
          </a:p>
          <a:p>
            <a:r>
              <a:rPr lang="fr-FR" dirty="0">
                <a:latin typeface="Courier New" panose="02070309020205020404" pitchFamily="49" charset="0"/>
                <a:cs typeface="Courier New" panose="02070309020205020404" pitchFamily="49" charset="0"/>
              </a:rPr>
              <a:t>Ne rien inventer.</a:t>
            </a:r>
          </a:p>
          <a:p>
            <a:r>
              <a:rPr lang="fr-FR" dirty="0">
                <a:solidFill>
                  <a:srgbClr val="FF0000"/>
                </a:solidFill>
                <a:latin typeface="Courier New" panose="02070309020205020404" pitchFamily="49" charset="0"/>
                <a:cs typeface="Courier New" panose="02070309020205020404" pitchFamily="49" charset="0"/>
              </a:rPr>
              <a:t>Formule de certification obligatoire.</a:t>
            </a:r>
          </a:p>
        </p:txBody>
      </p:sp>
      <p:sp>
        <p:nvSpPr>
          <p:cNvPr id="5" name="ZoneTexte 4">
            <a:extLst>
              <a:ext uri="{FF2B5EF4-FFF2-40B4-BE49-F238E27FC236}">
                <a16:creationId xmlns:a16="http://schemas.microsoft.com/office/drawing/2014/main" id="{E919158B-73FC-B38A-434D-DC68F15BAE32}"/>
              </a:ext>
            </a:extLst>
          </p:cNvPr>
          <p:cNvSpPr txBox="1"/>
          <p:nvPr/>
        </p:nvSpPr>
        <p:spPr>
          <a:xfrm>
            <a:off x="7142205" y="2414310"/>
            <a:ext cx="5147563" cy="3416320"/>
          </a:xfrm>
          <a:prstGeom prst="rect">
            <a:avLst/>
          </a:prstGeom>
          <a:noFill/>
        </p:spPr>
        <p:txBody>
          <a:bodyPr wrap="none" rtlCol="0">
            <a:spAutoFit/>
          </a:bodyPr>
          <a:lstStyle/>
          <a:p>
            <a:r>
              <a:rPr lang="fr-FR" dirty="0">
                <a:solidFill>
                  <a:srgbClr val="00B050"/>
                </a:solidFill>
                <a:latin typeface="Courier New" panose="02070309020205020404" pitchFamily="49" charset="0"/>
                <a:cs typeface="Courier New" panose="02070309020205020404" pitchFamily="49" charset="0"/>
              </a:rPr>
              <a:t>Tu es expert immobilier.</a:t>
            </a:r>
          </a:p>
          <a:p>
            <a:endParaRPr lang="fr-FR" dirty="0">
              <a:latin typeface="Courier New" panose="02070309020205020404" pitchFamily="49" charset="0"/>
              <a:cs typeface="Courier New" panose="02070309020205020404" pitchFamily="49" charset="0"/>
            </a:endParaRPr>
          </a:p>
          <a:p>
            <a:r>
              <a:rPr lang="fr-FR" dirty="0">
                <a:latin typeface="Courier New" panose="02070309020205020404" pitchFamily="49" charset="0"/>
                <a:cs typeface="Courier New" panose="02070309020205020404" pitchFamily="49" charset="0"/>
              </a:rPr>
              <a:t>Mission : </a:t>
            </a:r>
            <a:r>
              <a:rPr lang="fr-FR" dirty="0">
                <a:solidFill>
                  <a:srgbClr val="00B050"/>
                </a:solidFill>
                <a:latin typeface="Courier New" panose="02070309020205020404" pitchFamily="49" charset="0"/>
                <a:cs typeface="Courier New" panose="02070309020205020404" pitchFamily="49" charset="0"/>
              </a:rPr>
              <a:t>lettre de mission </a:t>
            </a:r>
            <a:r>
              <a:rPr lang="fr-FR" dirty="0">
                <a:latin typeface="Courier New" panose="02070309020205020404" pitchFamily="49" charset="0"/>
                <a:cs typeface="Courier New" panose="02070309020205020404" pitchFamily="49" charset="0"/>
              </a:rPr>
              <a:t>de</a:t>
            </a:r>
          </a:p>
          <a:p>
            <a:r>
              <a:rPr lang="fr-FR" dirty="0">
                <a:latin typeface="Courier New" panose="02070309020205020404" pitchFamily="49" charset="0"/>
                <a:cs typeface="Courier New" panose="02070309020205020404" pitchFamily="49" charset="0"/>
              </a:rPr>
              <a:t>[Maître X, notaire].</a:t>
            </a:r>
          </a:p>
          <a:p>
            <a:r>
              <a:rPr lang="fr-FR" dirty="0">
                <a:latin typeface="Courier New" panose="02070309020205020404" pitchFamily="49" charset="0"/>
                <a:cs typeface="Courier New" panose="02070309020205020404" pitchFamily="49" charset="0"/>
              </a:rPr>
              <a:t>Mandant : [qualité du notaire].</a:t>
            </a:r>
          </a:p>
          <a:p>
            <a:r>
              <a:rPr lang="fr-FR" dirty="0">
                <a:latin typeface="Courier New" panose="02070309020205020404" pitchFamily="49" charset="0"/>
                <a:cs typeface="Courier New" panose="02070309020205020404" pitchFamily="49" charset="0"/>
              </a:rPr>
              <a:t>Objet : valeur vénale succession</a:t>
            </a:r>
          </a:p>
          <a:p>
            <a:r>
              <a:rPr lang="fr-FR" dirty="0">
                <a:latin typeface="Courier New" panose="02070309020205020404" pitchFamily="49" charset="0"/>
                <a:cs typeface="Courier New" panose="02070309020205020404" pitchFamily="49" charset="0"/>
              </a:rPr>
              <a:t>au [date].</a:t>
            </a:r>
          </a:p>
          <a:p>
            <a:endParaRPr lang="fr-FR" dirty="0">
              <a:latin typeface="Courier New" panose="02070309020205020404" pitchFamily="49" charset="0"/>
              <a:cs typeface="Courier New" panose="02070309020205020404" pitchFamily="49" charset="0"/>
            </a:endParaRPr>
          </a:p>
          <a:p>
            <a:r>
              <a:rPr lang="fr-FR" dirty="0">
                <a:latin typeface="Courier New" panose="02070309020205020404" pitchFamily="49" charset="0"/>
                <a:cs typeface="Courier New" panose="02070309020205020404" pitchFamily="49" charset="0"/>
              </a:rPr>
              <a:t>Ton : </a:t>
            </a:r>
            <a:r>
              <a:rPr lang="fr-FR" dirty="0">
                <a:solidFill>
                  <a:srgbClr val="00B050"/>
                </a:solidFill>
                <a:latin typeface="Courier New" panose="02070309020205020404" pitchFamily="49" charset="0"/>
                <a:cs typeface="Courier New" panose="02070309020205020404" pitchFamily="49" charset="0"/>
              </a:rPr>
              <a:t>sobre et professionnel.</a:t>
            </a:r>
          </a:p>
          <a:p>
            <a:r>
              <a:rPr lang="fr-FR" dirty="0">
                <a:latin typeface="Courier New" panose="02070309020205020404" pitchFamily="49" charset="0"/>
                <a:cs typeface="Courier New" panose="02070309020205020404" pitchFamily="49" charset="0"/>
              </a:rPr>
              <a:t>Première personne pour les constats.</a:t>
            </a:r>
          </a:p>
          <a:p>
            <a:r>
              <a:rPr lang="fr-FR" dirty="0">
                <a:latin typeface="Courier New" panose="02070309020205020404" pitchFamily="49" charset="0"/>
                <a:cs typeface="Courier New" panose="02070309020205020404" pitchFamily="49" charset="0"/>
              </a:rPr>
              <a:t>Ne rien inventer.</a:t>
            </a:r>
          </a:p>
          <a:p>
            <a:r>
              <a:rPr lang="fr-FR" dirty="0">
                <a:solidFill>
                  <a:srgbClr val="00B050"/>
                </a:solidFill>
                <a:latin typeface="Courier New" panose="02070309020205020404" pitchFamily="49" charset="0"/>
                <a:cs typeface="Courier New" panose="02070309020205020404" pitchFamily="49" charset="0"/>
              </a:rPr>
              <a:t>Pas de formule de certification.</a:t>
            </a:r>
          </a:p>
        </p:txBody>
      </p:sp>
      <p:sp>
        <p:nvSpPr>
          <p:cNvPr id="7" name="ZoneTexte 6">
            <a:extLst>
              <a:ext uri="{FF2B5EF4-FFF2-40B4-BE49-F238E27FC236}">
                <a16:creationId xmlns:a16="http://schemas.microsoft.com/office/drawing/2014/main" id="{0EAF2558-9B45-41E9-7A8E-6B8161866F67}"/>
              </a:ext>
            </a:extLst>
          </p:cNvPr>
          <p:cNvSpPr txBox="1"/>
          <p:nvPr/>
        </p:nvSpPr>
        <p:spPr>
          <a:xfrm>
            <a:off x="1757880" y="1865983"/>
            <a:ext cx="1366080" cy="400110"/>
          </a:xfrm>
          <a:prstGeom prst="rect">
            <a:avLst/>
          </a:prstGeom>
          <a:noFill/>
        </p:spPr>
        <p:txBody>
          <a:bodyPr wrap="none" rtlCol="0">
            <a:spAutoFit/>
          </a:bodyPr>
          <a:lstStyle/>
          <a:p>
            <a:r>
              <a:rPr lang="fr-FR" sz="2000" b="1" dirty="0"/>
              <a:t>JUDICIAIRE</a:t>
            </a:r>
          </a:p>
        </p:txBody>
      </p:sp>
      <p:sp>
        <p:nvSpPr>
          <p:cNvPr id="11" name="ZoneTexte 10">
            <a:extLst>
              <a:ext uri="{FF2B5EF4-FFF2-40B4-BE49-F238E27FC236}">
                <a16:creationId xmlns:a16="http://schemas.microsoft.com/office/drawing/2014/main" id="{0D5E8792-6138-9644-5378-EC5A5B2596EF}"/>
              </a:ext>
            </a:extLst>
          </p:cNvPr>
          <p:cNvSpPr txBox="1"/>
          <p:nvPr/>
        </p:nvSpPr>
        <p:spPr>
          <a:xfrm>
            <a:off x="7176047" y="1865983"/>
            <a:ext cx="1167307" cy="400110"/>
          </a:xfrm>
          <a:prstGeom prst="rect">
            <a:avLst/>
          </a:prstGeom>
          <a:noFill/>
        </p:spPr>
        <p:txBody>
          <a:bodyPr wrap="none" rtlCol="0">
            <a:spAutoFit/>
          </a:bodyPr>
          <a:lstStyle/>
          <a:p>
            <a:r>
              <a:rPr lang="fr-FR" sz="2000" b="1" dirty="0"/>
              <a:t>AMIABLE</a:t>
            </a:r>
          </a:p>
        </p:txBody>
      </p:sp>
      <p:sp>
        <p:nvSpPr>
          <p:cNvPr id="14" name="ZoneTexte 13">
            <a:extLst>
              <a:ext uri="{FF2B5EF4-FFF2-40B4-BE49-F238E27FC236}">
                <a16:creationId xmlns:a16="http://schemas.microsoft.com/office/drawing/2014/main" id="{E29F5B14-3E4F-A97C-A8EA-7C83F0FFB299}"/>
              </a:ext>
            </a:extLst>
          </p:cNvPr>
          <p:cNvSpPr txBox="1"/>
          <p:nvPr/>
        </p:nvSpPr>
        <p:spPr>
          <a:xfrm>
            <a:off x="255722" y="2414310"/>
            <a:ext cx="595099" cy="369332"/>
          </a:xfrm>
          <a:prstGeom prst="rect">
            <a:avLst/>
          </a:prstGeom>
          <a:noFill/>
        </p:spPr>
        <p:txBody>
          <a:bodyPr wrap="none" rtlCol="0">
            <a:spAutoFit/>
          </a:bodyPr>
          <a:lstStyle/>
          <a:p>
            <a:r>
              <a:rPr lang="fr-FR" dirty="0"/>
              <a:t>Rôle</a:t>
            </a:r>
          </a:p>
        </p:txBody>
      </p:sp>
      <p:sp>
        <p:nvSpPr>
          <p:cNvPr id="16" name="ZoneTexte 15">
            <a:extLst>
              <a:ext uri="{FF2B5EF4-FFF2-40B4-BE49-F238E27FC236}">
                <a16:creationId xmlns:a16="http://schemas.microsoft.com/office/drawing/2014/main" id="{6DEC0DE6-7C06-AB1E-C524-3B85737AC1F3}"/>
              </a:ext>
            </a:extLst>
          </p:cNvPr>
          <p:cNvSpPr txBox="1"/>
          <p:nvPr/>
        </p:nvSpPr>
        <p:spPr>
          <a:xfrm>
            <a:off x="255722" y="3328710"/>
            <a:ext cx="1043363" cy="369332"/>
          </a:xfrm>
          <a:prstGeom prst="rect">
            <a:avLst/>
          </a:prstGeom>
          <a:noFill/>
        </p:spPr>
        <p:txBody>
          <a:bodyPr wrap="none" rtlCol="0">
            <a:spAutoFit/>
          </a:bodyPr>
          <a:lstStyle/>
          <a:p>
            <a:r>
              <a:rPr lang="fr-FR" dirty="0"/>
              <a:t>Mandant</a:t>
            </a:r>
          </a:p>
        </p:txBody>
      </p:sp>
      <p:sp>
        <p:nvSpPr>
          <p:cNvPr id="17" name="ZoneTexte 16">
            <a:extLst>
              <a:ext uri="{FF2B5EF4-FFF2-40B4-BE49-F238E27FC236}">
                <a16:creationId xmlns:a16="http://schemas.microsoft.com/office/drawing/2014/main" id="{0136CA8C-849D-CCBB-775E-BD3AC9C701E6}"/>
              </a:ext>
            </a:extLst>
          </p:cNvPr>
          <p:cNvSpPr txBox="1"/>
          <p:nvPr/>
        </p:nvSpPr>
        <p:spPr>
          <a:xfrm>
            <a:off x="255722" y="4638526"/>
            <a:ext cx="520014" cy="369332"/>
          </a:xfrm>
          <a:prstGeom prst="rect">
            <a:avLst/>
          </a:prstGeom>
          <a:noFill/>
        </p:spPr>
        <p:txBody>
          <a:bodyPr wrap="none" rtlCol="0">
            <a:spAutoFit/>
          </a:bodyPr>
          <a:lstStyle/>
          <a:p>
            <a:r>
              <a:rPr lang="fr-FR" dirty="0"/>
              <a:t>Ton</a:t>
            </a:r>
          </a:p>
        </p:txBody>
      </p:sp>
      <p:sp>
        <p:nvSpPr>
          <p:cNvPr id="19" name="Flèche : pentagone 18">
            <a:extLst>
              <a:ext uri="{FF2B5EF4-FFF2-40B4-BE49-F238E27FC236}">
                <a16:creationId xmlns:a16="http://schemas.microsoft.com/office/drawing/2014/main" id="{9CF3D010-6FAB-9E9C-517C-793D42EAA1B9}"/>
              </a:ext>
            </a:extLst>
          </p:cNvPr>
          <p:cNvSpPr/>
          <p:nvPr/>
        </p:nvSpPr>
        <p:spPr>
          <a:xfrm>
            <a:off x="6425514" y="1914614"/>
            <a:ext cx="546275" cy="28372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5645663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7EC7E51-0ECC-C804-1AD8-D07728C9549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B55E1CB-E9A1-4023-E265-2424A7DBB3C6}"/>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2E6BA38-6F68-F696-1B1C-961457F26B08}"/>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054303E-C757-B277-38B4-A0E93F224BEC}"/>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F020C74D-5AE8-D888-F5EB-35FE0FAE2F26}"/>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9902C93-0F7B-96D6-6808-DF59286A8FAC}"/>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latin typeface="Figtree" pitchFamily="2" charset="0"/>
              </a:rPr>
              <a:t>rédiger un rapport complet avec l'IA</a:t>
            </a:r>
          </a:p>
        </p:txBody>
      </p:sp>
      <p:sp>
        <p:nvSpPr>
          <p:cNvPr id="13" name="Freeform: Shape 3">
            <a:extLst>
              <a:ext uri="{FF2B5EF4-FFF2-40B4-BE49-F238E27FC236}">
                <a16:creationId xmlns:a16="http://schemas.microsoft.com/office/drawing/2014/main" id="{E17C8B0A-7C7E-0FB4-64E7-F27E1CF8C8E5}"/>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ZoneTexte 6">
            <a:extLst>
              <a:ext uri="{FF2B5EF4-FFF2-40B4-BE49-F238E27FC236}">
                <a16:creationId xmlns:a16="http://schemas.microsoft.com/office/drawing/2014/main" id="{8738B8AB-9C82-3354-78B4-AE6C0CE64078}"/>
              </a:ext>
            </a:extLst>
          </p:cNvPr>
          <p:cNvSpPr txBox="1"/>
          <p:nvPr/>
        </p:nvSpPr>
        <p:spPr>
          <a:xfrm>
            <a:off x="7125139" y="1767403"/>
            <a:ext cx="4445769" cy="400110"/>
          </a:xfrm>
          <a:prstGeom prst="rect">
            <a:avLst/>
          </a:prstGeom>
          <a:noFill/>
        </p:spPr>
        <p:txBody>
          <a:bodyPr wrap="none" rtlCol="0">
            <a:spAutoFit/>
          </a:bodyPr>
          <a:lstStyle/>
          <a:p>
            <a:r>
              <a:rPr lang="fr-FR" sz="2000" b="1" i="1" dirty="0"/>
              <a:t>Confirmation produite suite au prompt :</a:t>
            </a:r>
          </a:p>
        </p:txBody>
      </p:sp>
      <p:sp>
        <p:nvSpPr>
          <p:cNvPr id="9" name="ZoneTexte 8">
            <a:extLst>
              <a:ext uri="{FF2B5EF4-FFF2-40B4-BE49-F238E27FC236}">
                <a16:creationId xmlns:a16="http://schemas.microsoft.com/office/drawing/2014/main" id="{1425E94A-C446-B382-916F-A3AFBD5BB1AE}"/>
              </a:ext>
            </a:extLst>
          </p:cNvPr>
          <p:cNvSpPr txBox="1"/>
          <p:nvPr/>
        </p:nvSpPr>
        <p:spPr>
          <a:xfrm>
            <a:off x="7125139" y="2293412"/>
            <a:ext cx="4873271" cy="3785652"/>
          </a:xfrm>
          <a:prstGeom prst="rect">
            <a:avLst/>
          </a:prstGeom>
          <a:noFill/>
        </p:spPr>
        <p:txBody>
          <a:bodyPr wrap="square" rtlCol="0">
            <a:spAutoFit/>
          </a:bodyPr>
          <a:lstStyle/>
          <a:p>
            <a:r>
              <a:rPr lang="fr-FR" sz="2400" i="1" dirty="0"/>
              <a:t>J'ai bien pris en compte le dossier. Il s'agit d'une expertise amiable portant sur un appartement T3 de 68 m², situé au 3e étage sans ascenseur d'un immeuble de 1932, rue Keller dans le 11e arrondissement de Paris. La mission consiste à déterminer la valeur vénale du bien à la date de la visite, dans le cadre d'une succession, pour le compte d'un notaire mandant.</a:t>
            </a:r>
          </a:p>
        </p:txBody>
      </p:sp>
      <p:cxnSp>
        <p:nvCxnSpPr>
          <p:cNvPr id="19" name="Connecteur droit 18">
            <a:extLst>
              <a:ext uri="{FF2B5EF4-FFF2-40B4-BE49-F238E27FC236}">
                <a16:creationId xmlns:a16="http://schemas.microsoft.com/office/drawing/2014/main" id="{A1222CF2-D631-D811-8093-30D58CEE2C29}"/>
              </a:ext>
            </a:extLst>
          </p:cNvPr>
          <p:cNvCxnSpPr/>
          <p:nvPr/>
        </p:nvCxnSpPr>
        <p:spPr>
          <a:xfrm>
            <a:off x="7044867" y="2273643"/>
            <a:ext cx="0" cy="4176584"/>
          </a:xfrm>
          <a:prstGeom prst="line">
            <a:avLst/>
          </a:prstGeom>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6639C2BF-D04D-9996-F1F0-780604CEBEED}"/>
              </a:ext>
            </a:extLst>
          </p:cNvPr>
          <p:cNvSpPr txBox="1"/>
          <p:nvPr/>
        </p:nvSpPr>
        <p:spPr>
          <a:xfrm>
            <a:off x="31194" y="879070"/>
            <a:ext cx="4159806" cy="461665"/>
          </a:xfrm>
          <a:prstGeom prst="rect">
            <a:avLst/>
          </a:prstGeom>
          <a:noFill/>
        </p:spPr>
        <p:txBody>
          <a:bodyPr wrap="square" rtlCol="0">
            <a:spAutoFit/>
          </a:bodyPr>
          <a:lstStyle/>
          <a:p>
            <a:pPr algn="ctr"/>
            <a:r>
              <a:rPr lang="fr-FR" sz="2400" dirty="0">
                <a:solidFill>
                  <a:schemeClr val="accent3">
                    <a:lumMod val="75000"/>
                  </a:schemeClr>
                </a:solidFill>
              </a:rPr>
              <a:t>Prompt d'init et section cadre</a:t>
            </a:r>
          </a:p>
        </p:txBody>
      </p:sp>
      <p:sp>
        <p:nvSpPr>
          <p:cNvPr id="23" name="ZoneTexte 22">
            <a:extLst>
              <a:ext uri="{FF2B5EF4-FFF2-40B4-BE49-F238E27FC236}">
                <a16:creationId xmlns:a16="http://schemas.microsoft.com/office/drawing/2014/main" id="{5D43F05B-5B98-6AB4-EAAC-8DED486AC7C9}"/>
              </a:ext>
            </a:extLst>
          </p:cNvPr>
          <p:cNvSpPr txBox="1"/>
          <p:nvPr/>
        </p:nvSpPr>
        <p:spPr>
          <a:xfrm>
            <a:off x="524845" y="1480334"/>
            <a:ext cx="6419651" cy="5355312"/>
          </a:xfrm>
          <a:prstGeom prst="rect">
            <a:avLst/>
          </a:prstGeom>
          <a:solidFill>
            <a:schemeClr val="accent6">
              <a:lumMod val="20000"/>
              <a:lumOff val="80000"/>
            </a:schemeClr>
          </a:solidFill>
        </p:spPr>
        <p:txBody>
          <a:bodyPr wrap="square" rtlCol="0">
            <a:spAutoFit/>
          </a:bodyPr>
          <a:lstStyle/>
          <a:p>
            <a:r>
              <a:rPr lang="fr-FR" dirty="0">
                <a:latin typeface="Courier New" panose="02070309020205020404" pitchFamily="49" charset="0"/>
                <a:cs typeface="Courier New" panose="02070309020205020404" pitchFamily="49" charset="0"/>
              </a:rPr>
              <a:t>Tu es expert immobilier.</a:t>
            </a:r>
          </a:p>
          <a:p>
            <a:endParaRPr lang="fr-FR" dirty="0">
              <a:latin typeface="Courier New" panose="02070309020205020404" pitchFamily="49" charset="0"/>
              <a:cs typeface="Courier New" panose="02070309020205020404" pitchFamily="49" charset="0"/>
            </a:endParaRPr>
          </a:p>
          <a:p>
            <a:r>
              <a:rPr lang="fr-FR" b="1" dirty="0">
                <a:latin typeface="Courier New" panose="02070309020205020404" pitchFamily="49" charset="0"/>
                <a:cs typeface="Courier New" panose="02070309020205020404" pitchFamily="49" charset="0"/>
              </a:rPr>
              <a:t>Dossier</a:t>
            </a:r>
            <a:r>
              <a:rPr lang="fr-FR" dirty="0">
                <a:latin typeface="Courier New" panose="02070309020205020404" pitchFamily="49" charset="0"/>
                <a:cs typeface="Courier New" panose="02070309020205020404" pitchFamily="49" charset="0"/>
              </a:rPr>
              <a:t> : T3 68 m², 3e étage sans ascenseur, rue Keller Paris 11e, immeuble 1932.</a:t>
            </a:r>
          </a:p>
          <a:p>
            <a:r>
              <a:rPr lang="fr-FR" b="1" dirty="0">
                <a:latin typeface="Courier New" panose="02070309020205020404" pitchFamily="49" charset="0"/>
                <a:cs typeface="Courier New" panose="02070309020205020404" pitchFamily="49" charset="0"/>
              </a:rPr>
              <a:t>Mission amiable </a:t>
            </a:r>
            <a:r>
              <a:rPr lang="fr-FR" dirty="0">
                <a:latin typeface="Courier New" panose="02070309020205020404" pitchFamily="49" charset="0"/>
                <a:cs typeface="Courier New" panose="02070309020205020404" pitchFamily="49" charset="0"/>
              </a:rPr>
              <a:t>: valeur vénale succession, </a:t>
            </a:r>
            <a:r>
              <a:rPr lang="fr-FR" b="1" dirty="0">
                <a:latin typeface="Courier New" panose="02070309020205020404" pitchFamily="49" charset="0"/>
                <a:cs typeface="Courier New" panose="02070309020205020404" pitchFamily="49" charset="0"/>
              </a:rPr>
              <a:t>Mandant</a:t>
            </a:r>
            <a:r>
              <a:rPr lang="fr-FR" dirty="0">
                <a:latin typeface="Courier New" panose="02070309020205020404" pitchFamily="49" charset="0"/>
                <a:cs typeface="Courier New" panose="02070309020205020404" pitchFamily="49" charset="0"/>
              </a:rPr>
              <a:t> : notaire Paris 11e.</a:t>
            </a:r>
          </a:p>
          <a:p>
            <a:r>
              <a:rPr lang="fr-FR" b="1" dirty="0">
                <a:latin typeface="Courier New" panose="02070309020205020404" pitchFamily="49" charset="0"/>
                <a:cs typeface="Courier New" panose="02070309020205020404" pitchFamily="49" charset="0"/>
              </a:rPr>
              <a:t>Date de valeur </a:t>
            </a:r>
            <a:r>
              <a:rPr lang="fr-FR" dirty="0">
                <a:latin typeface="Courier New" panose="02070309020205020404" pitchFamily="49" charset="0"/>
                <a:cs typeface="Courier New" panose="02070309020205020404" pitchFamily="49" charset="0"/>
              </a:rPr>
              <a:t>: [date de visite].</a:t>
            </a:r>
          </a:p>
          <a:p>
            <a:r>
              <a:rPr lang="fr-FR" dirty="0">
                <a:latin typeface="Courier New" panose="02070309020205020404" pitchFamily="49" charset="0"/>
                <a:cs typeface="Courier New" panose="02070309020205020404" pitchFamily="49" charset="0"/>
              </a:rPr>
              <a:t>Bien occupé par les héritiers.</a:t>
            </a:r>
          </a:p>
          <a:p>
            <a:endParaRPr lang="fr-FR" dirty="0">
              <a:latin typeface="Courier New" panose="02070309020205020404" pitchFamily="49" charset="0"/>
              <a:cs typeface="Courier New" panose="02070309020205020404" pitchFamily="49" charset="0"/>
            </a:endParaRPr>
          </a:p>
          <a:p>
            <a:r>
              <a:rPr lang="fr-FR" b="1" dirty="0">
                <a:latin typeface="Courier New" panose="02070309020205020404" pitchFamily="49" charset="0"/>
                <a:cs typeface="Courier New" panose="02070309020205020404" pitchFamily="49" charset="0"/>
              </a:rPr>
              <a:t>TON ET RÈGLES POUR TOUTES LES SECTIONS :</a:t>
            </a:r>
          </a:p>
          <a:p>
            <a:r>
              <a:rPr lang="fr-FR" dirty="0">
                <a:latin typeface="Courier New" panose="02070309020205020404" pitchFamily="49" charset="0"/>
                <a:cs typeface="Courier New" panose="02070309020205020404" pitchFamily="49" charset="0"/>
              </a:rPr>
              <a:t>- Sobre et professionnel</a:t>
            </a:r>
          </a:p>
          <a:p>
            <a:r>
              <a:rPr lang="fr-FR" dirty="0">
                <a:latin typeface="Courier New" panose="02070309020205020404" pitchFamily="49" charset="0"/>
                <a:cs typeface="Courier New" panose="02070309020205020404" pitchFamily="49" charset="0"/>
              </a:rPr>
              <a:t>- Pas de registre judiciaire</a:t>
            </a:r>
          </a:p>
          <a:p>
            <a:r>
              <a:rPr lang="fr-FR" dirty="0">
                <a:latin typeface="Courier New" panose="02070309020205020404" pitchFamily="49" charset="0"/>
                <a:cs typeface="Courier New" panose="02070309020205020404" pitchFamily="49" charset="0"/>
              </a:rPr>
              <a:t>- Première personne pour les constats</a:t>
            </a:r>
          </a:p>
          <a:p>
            <a:r>
              <a:rPr lang="fr-FR" dirty="0">
                <a:latin typeface="Courier New" panose="02070309020205020404" pitchFamily="49" charset="0"/>
                <a:cs typeface="Courier New" panose="02070309020205020404" pitchFamily="49" charset="0"/>
              </a:rPr>
              <a:t>- Ne rien inventer / éléments non communiqués : «non-communiqué»</a:t>
            </a:r>
          </a:p>
          <a:p>
            <a:r>
              <a:rPr lang="fr-FR" dirty="0">
                <a:latin typeface="Courier New" panose="02070309020205020404" pitchFamily="49" charset="0"/>
                <a:cs typeface="Courier New" panose="02070309020205020404" pitchFamily="49" charset="0"/>
              </a:rPr>
              <a:t>- Pas de formule de certification</a:t>
            </a:r>
          </a:p>
          <a:p>
            <a:endParaRPr lang="fr-FR" dirty="0">
              <a:latin typeface="Courier New" panose="02070309020205020404" pitchFamily="49" charset="0"/>
              <a:cs typeface="Courier New" panose="02070309020205020404" pitchFamily="49" charset="0"/>
            </a:endParaRPr>
          </a:p>
          <a:p>
            <a:r>
              <a:rPr lang="fr-FR" b="1" i="1" dirty="0">
                <a:latin typeface="Courier New" panose="02070309020205020404" pitchFamily="49" charset="0"/>
                <a:cs typeface="Courier New" panose="02070309020205020404" pitchFamily="49" charset="0"/>
              </a:rPr>
              <a:t>Confirme ta compréhension en 3 lignes, puis attends mes instructions.</a:t>
            </a:r>
          </a:p>
        </p:txBody>
      </p:sp>
    </p:spTree>
    <p:extLst>
      <p:ext uri="{BB962C8B-B14F-4D97-AF65-F5344CB8AC3E}">
        <p14:creationId xmlns:p14="http://schemas.microsoft.com/office/powerpoint/2010/main" val="227610194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2FDB770-9134-E997-B5BC-8DAFFCDFCB7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69CAE41-958B-17BE-9B88-16D5B12524A9}"/>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DF8E1ED3-CCB7-770D-EDC8-C1FA8344D7FD}"/>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2AD4F1-ADDD-EC67-911A-7929A51B5AE9}"/>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C899EC5D-60F3-807C-9E59-678BFB938F60}"/>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11F2038C-1956-5A51-2437-FE4E02FB540A}"/>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latin typeface="Figtree" pitchFamily="2" charset="0"/>
              </a:rPr>
              <a:t>rédiger un rapport complet avec l'IA</a:t>
            </a:r>
          </a:p>
        </p:txBody>
      </p:sp>
      <p:sp>
        <p:nvSpPr>
          <p:cNvPr id="13" name="Freeform: Shape 3">
            <a:extLst>
              <a:ext uri="{FF2B5EF4-FFF2-40B4-BE49-F238E27FC236}">
                <a16:creationId xmlns:a16="http://schemas.microsoft.com/office/drawing/2014/main" id="{B7EF6BAE-D282-61F3-2B65-3BE2B2199D3B}"/>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C8FB7ECB-7F65-4D42-51E4-8FFABB278A7A}"/>
              </a:ext>
            </a:extLst>
          </p:cNvPr>
          <p:cNvSpPr txBox="1"/>
          <p:nvPr/>
        </p:nvSpPr>
        <p:spPr>
          <a:xfrm>
            <a:off x="31194" y="879070"/>
            <a:ext cx="4159806" cy="830997"/>
          </a:xfrm>
          <a:prstGeom prst="rect">
            <a:avLst/>
          </a:prstGeom>
          <a:noFill/>
        </p:spPr>
        <p:txBody>
          <a:bodyPr wrap="square" rtlCol="0">
            <a:spAutoFit/>
          </a:bodyPr>
          <a:lstStyle/>
          <a:p>
            <a:pPr algn="ctr"/>
            <a:r>
              <a:rPr lang="fr-FR" sz="2400" dirty="0">
                <a:solidFill>
                  <a:schemeClr val="accent3">
                    <a:lumMod val="75000"/>
                  </a:schemeClr>
                </a:solidFill>
              </a:rPr>
              <a:t>Prompt d'init et section 1 </a:t>
            </a:r>
          </a:p>
          <a:p>
            <a:pPr algn="ctr"/>
            <a:r>
              <a:rPr lang="fr-FR" sz="2400" dirty="0">
                <a:solidFill>
                  <a:schemeClr val="accent3">
                    <a:lumMod val="75000"/>
                  </a:schemeClr>
                </a:solidFill>
              </a:rPr>
              <a:t>Cadre et Objet</a:t>
            </a:r>
          </a:p>
        </p:txBody>
      </p:sp>
      <p:sp>
        <p:nvSpPr>
          <p:cNvPr id="4" name="ZoneTexte 3">
            <a:extLst>
              <a:ext uri="{FF2B5EF4-FFF2-40B4-BE49-F238E27FC236}">
                <a16:creationId xmlns:a16="http://schemas.microsoft.com/office/drawing/2014/main" id="{BA8B38C7-B8CA-D4C7-07A8-AF0322C17E92}"/>
              </a:ext>
            </a:extLst>
          </p:cNvPr>
          <p:cNvSpPr txBox="1"/>
          <p:nvPr/>
        </p:nvSpPr>
        <p:spPr>
          <a:xfrm>
            <a:off x="285969" y="2087016"/>
            <a:ext cx="6419651" cy="4093428"/>
          </a:xfrm>
          <a:prstGeom prst="rect">
            <a:avLst/>
          </a:prstGeom>
          <a:solidFill>
            <a:schemeClr val="accent6">
              <a:lumMod val="20000"/>
              <a:lumOff val="80000"/>
            </a:schemeClr>
          </a:solidFill>
        </p:spPr>
        <p:txBody>
          <a:bodyPr wrap="square" rtlCol="0">
            <a:spAutoFit/>
          </a:bodyPr>
          <a:lstStyle/>
          <a:p>
            <a:r>
              <a:rPr lang="fr-FR" sz="2000" b="1" dirty="0">
                <a:latin typeface="Courier New" panose="02070309020205020404" pitchFamily="49" charset="0"/>
                <a:cs typeface="Courier New" panose="02070309020205020404" pitchFamily="49" charset="0"/>
              </a:rPr>
              <a:t>Rédige la section "Cadre et objet de</a:t>
            </a:r>
          </a:p>
          <a:p>
            <a:r>
              <a:rPr lang="fr-FR" sz="2000" b="1" dirty="0">
                <a:latin typeface="Courier New" panose="02070309020205020404" pitchFamily="49" charset="0"/>
                <a:cs typeface="Courier New" panose="02070309020205020404" pitchFamily="49" charset="0"/>
              </a:rPr>
              <a:t>la mission". </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Prose</a:t>
            </a:r>
            <a:r>
              <a:rPr lang="fr-FR" sz="2000" dirty="0">
                <a:latin typeface="Courier New" panose="02070309020205020404" pitchFamily="49" charset="0"/>
                <a:cs typeface="Courier New" panose="02070309020205020404" pitchFamily="49" charset="0"/>
              </a:rPr>
              <a:t> sobre, 80 à 100 mots,</a:t>
            </a:r>
          </a:p>
          <a:p>
            <a:r>
              <a:rPr lang="fr-FR" sz="2000" dirty="0">
                <a:latin typeface="Courier New" panose="02070309020205020404" pitchFamily="49" charset="0"/>
                <a:cs typeface="Courier New" panose="02070309020205020404" pitchFamily="49" charset="0"/>
              </a:rPr>
              <a:t>un seul paragraphe.</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Structure</a:t>
            </a:r>
            <a:r>
              <a:rPr lang="fr-FR" sz="2000" dirty="0">
                <a:latin typeface="Courier New" panose="02070309020205020404" pitchFamily="49" charset="0"/>
                <a:cs typeface="Courier New" panose="02070309020205020404" pitchFamily="49" charset="0"/>
              </a:rPr>
              <a:t> : mandant → objet → date de valeur → date de visite → pièces communiquées .</a:t>
            </a:r>
          </a:p>
          <a:p>
            <a:endParaRPr lang="fr-FR" sz="2000" b="1"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Pièces</a:t>
            </a:r>
            <a:r>
              <a:rPr lang="fr-FR" sz="2000" dirty="0">
                <a:latin typeface="Courier New" panose="02070309020205020404" pitchFamily="49" charset="0"/>
                <a:cs typeface="Courier New" panose="02070309020205020404" pitchFamily="49" charset="0"/>
              </a:rPr>
              <a:t> : acte de propriété 2009, règlement copropriété, PV AG 2022-2023, DPE E, plans, relevé charges 2 200 €/an.</a:t>
            </a:r>
            <a:endParaRPr lang="fr-FR" sz="2000" b="1" i="1" dirty="0">
              <a:latin typeface="Courier New" panose="02070309020205020404" pitchFamily="49" charset="0"/>
              <a:cs typeface="Courier New" panose="02070309020205020404" pitchFamily="49" charset="0"/>
            </a:endParaRPr>
          </a:p>
        </p:txBody>
      </p:sp>
      <p:sp>
        <p:nvSpPr>
          <p:cNvPr id="7" name="ZoneTexte 6">
            <a:extLst>
              <a:ext uri="{FF2B5EF4-FFF2-40B4-BE49-F238E27FC236}">
                <a16:creationId xmlns:a16="http://schemas.microsoft.com/office/drawing/2014/main" id="{37B947AC-3500-33BF-106F-FAED8F153CDC}"/>
              </a:ext>
            </a:extLst>
          </p:cNvPr>
          <p:cNvSpPr txBox="1"/>
          <p:nvPr/>
        </p:nvSpPr>
        <p:spPr>
          <a:xfrm>
            <a:off x="7125139" y="1705848"/>
            <a:ext cx="3153427" cy="523220"/>
          </a:xfrm>
          <a:prstGeom prst="rect">
            <a:avLst/>
          </a:prstGeom>
          <a:noFill/>
        </p:spPr>
        <p:txBody>
          <a:bodyPr wrap="none" rtlCol="0">
            <a:spAutoFit/>
          </a:bodyPr>
          <a:lstStyle/>
          <a:p>
            <a:r>
              <a:rPr lang="fr-FR" sz="2800" b="1" dirty="0"/>
              <a:t>1 – CADRE ET OBJET</a:t>
            </a:r>
          </a:p>
        </p:txBody>
      </p:sp>
      <p:sp>
        <p:nvSpPr>
          <p:cNvPr id="9" name="ZoneTexte 8">
            <a:extLst>
              <a:ext uri="{FF2B5EF4-FFF2-40B4-BE49-F238E27FC236}">
                <a16:creationId xmlns:a16="http://schemas.microsoft.com/office/drawing/2014/main" id="{D5D10B3D-A72C-E6C2-CA8F-B605CDA9EEF3}"/>
              </a:ext>
            </a:extLst>
          </p:cNvPr>
          <p:cNvSpPr txBox="1"/>
          <p:nvPr/>
        </p:nvSpPr>
        <p:spPr>
          <a:xfrm>
            <a:off x="7125139" y="2232452"/>
            <a:ext cx="4873271" cy="4524315"/>
          </a:xfrm>
          <a:prstGeom prst="rect">
            <a:avLst/>
          </a:prstGeom>
          <a:noFill/>
        </p:spPr>
        <p:txBody>
          <a:bodyPr wrap="square" rtlCol="0">
            <a:spAutoFit/>
          </a:bodyPr>
          <a:lstStyle/>
          <a:p>
            <a:r>
              <a:rPr lang="fr-FR" sz="2400" i="1" dirty="0">
                <a:latin typeface="Figtree"/>
              </a:rPr>
              <a:t>Dans le cadre d'une succession, Maître [X], notaire à Paris, m'a confié la mission d'estimer la valeur vénale de l'appartement sis rue Keller, dans le 11e arrondissement de Paris, à la date du [date]. Le bien m'a été signalé comme occupé par les héritiers à la date de la visite. J'ai procédé à la visite des lieux le [date] à [heure]. Les pièces suivantes m'ont été communiquées préalablement : [liste des pièces sera reportée ici].</a:t>
            </a:r>
          </a:p>
        </p:txBody>
      </p:sp>
      <p:cxnSp>
        <p:nvCxnSpPr>
          <p:cNvPr id="19" name="Connecteur droit 18">
            <a:extLst>
              <a:ext uri="{FF2B5EF4-FFF2-40B4-BE49-F238E27FC236}">
                <a16:creationId xmlns:a16="http://schemas.microsoft.com/office/drawing/2014/main" id="{FAC58582-7AD0-660E-30AC-6CAA5255C2BF}"/>
              </a:ext>
            </a:extLst>
          </p:cNvPr>
          <p:cNvCxnSpPr/>
          <p:nvPr/>
        </p:nvCxnSpPr>
        <p:spPr>
          <a:xfrm>
            <a:off x="7044867" y="2273643"/>
            <a:ext cx="0" cy="4176584"/>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80EDAB3C-CE37-4A9A-2E71-D9EEDE57589D}"/>
              </a:ext>
            </a:extLst>
          </p:cNvPr>
          <p:cNvSpPr txBox="1"/>
          <p:nvPr/>
        </p:nvSpPr>
        <p:spPr>
          <a:xfrm>
            <a:off x="342692" y="1659264"/>
            <a:ext cx="3631122" cy="369332"/>
          </a:xfrm>
          <a:prstGeom prst="rect">
            <a:avLst/>
          </a:prstGeom>
          <a:noFill/>
        </p:spPr>
        <p:txBody>
          <a:bodyPr wrap="none" rtlCol="0">
            <a:spAutoFit/>
          </a:bodyPr>
          <a:lstStyle/>
          <a:p>
            <a:r>
              <a:rPr lang="fr-FR" b="1" dirty="0">
                <a:latin typeface="Courier New" panose="02070309020205020404" pitchFamily="49" charset="0"/>
                <a:cs typeface="Courier New" panose="02070309020205020404" pitchFamily="49" charset="0"/>
              </a:rPr>
              <a:t>À ENCHAÎNER IMMÉDIATEMENT</a:t>
            </a:r>
            <a:endParaRPr lang="fr-FR" dirty="0"/>
          </a:p>
        </p:txBody>
      </p:sp>
    </p:spTree>
    <p:extLst>
      <p:ext uri="{BB962C8B-B14F-4D97-AF65-F5344CB8AC3E}">
        <p14:creationId xmlns:p14="http://schemas.microsoft.com/office/powerpoint/2010/main" val="52383134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21E5603-B212-F58A-8115-76C53531481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3B488E8-A545-7ABE-82BE-880FD2978C48}"/>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2A5EB9CD-EF4E-B03C-B53A-BDBD867B7FE1}"/>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EEBDEF3-A95A-DB07-1B98-48E3FFC75A69}"/>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170E3348-CD99-97BD-F9A5-E7B4A2084B9E}"/>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371C64D8-474A-9605-F1D5-6011DF179F50}"/>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latin typeface="Figtree" pitchFamily="2" charset="0"/>
              </a:rPr>
              <a:t>rédiger un rapport complet avec l'IA</a:t>
            </a:r>
          </a:p>
        </p:txBody>
      </p:sp>
      <p:sp>
        <p:nvSpPr>
          <p:cNvPr id="13" name="Freeform: Shape 3">
            <a:extLst>
              <a:ext uri="{FF2B5EF4-FFF2-40B4-BE49-F238E27FC236}">
                <a16:creationId xmlns:a16="http://schemas.microsoft.com/office/drawing/2014/main" id="{B33571D7-F2A0-2C89-FF92-598B7A360539}"/>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D9573760-4CBD-165A-7EF6-CF2A98B44B28}"/>
              </a:ext>
            </a:extLst>
          </p:cNvPr>
          <p:cNvSpPr txBox="1"/>
          <p:nvPr/>
        </p:nvSpPr>
        <p:spPr>
          <a:xfrm>
            <a:off x="-390804" y="984224"/>
            <a:ext cx="4159806" cy="830997"/>
          </a:xfrm>
          <a:prstGeom prst="rect">
            <a:avLst/>
          </a:prstGeom>
          <a:noFill/>
        </p:spPr>
        <p:txBody>
          <a:bodyPr wrap="square" rtlCol="0">
            <a:spAutoFit/>
          </a:bodyPr>
          <a:lstStyle/>
          <a:p>
            <a:pPr algn="ctr"/>
            <a:r>
              <a:rPr lang="fr-FR" sz="2400" dirty="0">
                <a:solidFill>
                  <a:schemeClr val="accent3">
                    <a:lumMod val="75000"/>
                  </a:schemeClr>
                </a:solidFill>
              </a:rPr>
              <a:t>Section 2</a:t>
            </a:r>
          </a:p>
          <a:p>
            <a:pPr algn="ctr"/>
            <a:r>
              <a:rPr lang="fr-FR" sz="2400" dirty="0">
                <a:solidFill>
                  <a:schemeClr val="accent3">
                    <a:lumMod val="75000"/>
                  </a:schemeClr>
                </a:solidFill>
              </a:rPr>
              <a:t>Description du Bien</a:t>
            </a:r>
          </a:p>
        </p:txBody>
      </p:sp>
      <p:sp>
        <p:nvSpPr>
          <p:cNvPr id="4" name="ZoneTexte 3">
            <a:extLst>
              <a:ext uri="{FF2B5EF4-FFF2-40B4-BE49-F238E27FC236}">
                <a16:creationId xmlns:a16="http://schemas.microsoft.com/office/drawing/2014/main" id="{AA532ADA-7721-C131-F32F-84965E367E00}"/>
              </a:ext>
            </a:extLst>
          </p:cNvPr>
          <p:cNvSpPr txBox="1"/>
          <p:nvPr/>
        </p:nvSpPr>
        <p:spPr>
          <a:xfrm>
            <a:off x="254802" y="1965741"/>
            <a:ext cx="5140158" cy="4401205"/>
          </a:xfrm>
          <a:prstGeom prst="rect">
            <a:avLst/>
          </a:prstGeom>
          <a:solidFill>
            <a:schemeClr val="accent6">
              <a:lumMod val="20000"/>
              <a:lumOff val="80000"/>
            </a:schemeClr>
          </a:solidFill>
        </p:spPr>
        <p:txBody>
          <a:bodyPr wrap="square" rtlCol="0">
            <a:spAutoFit/>
          </a:bodyPr>
          <a:lstStyle/>
          <a:p>
            <a:r>
              <a:rPr lang="fr-FR" sz="2000" b="1" dirty="0">
                <a:latin typeface="Figtree"/>
                <a:cs typeface="Courier New" panose="02070309020205020404" pitchFamily="49" charset="0"/>
              </a:rPr>
              <a:t>Entrée</a:t>
            </a:r>
            <a:r>
              <a:rPr lang="fr-FR" sz="2000" dirty="0">
                <a:latin typeface="Figtree"/>
                <a:cs typeface="Courier New" panose="02070309020205020404" pitchFamily="49" charset="0"/>
              </a:rPr>
              <a:t> 4 m² parquet bon état</a:t>
            </a:r>
          </a:p>
          <a:p>
            <a:r>
              <a:rPr lang="fr-FR" sz="2000" b="1" dirty="0">
                <a:latin typeface="Figtree"/>
                <a:cs typeface="Courier New" panose="02070309020205020404" pitchFamily="49" charset="0"/>
              </a:rPr>
              <a:t>Séjour</a:t>
            </a:r>
            <a:r>
              <a:rPr lang="fr-FR" sz="2000" dirty="0">
                <a:latin typeface="Figtree"/>
                <a:cs typeface="Courier New" panose="02070309020205020404" pitchFamily="49" charset="0"/>
              </a:rPr>
              <a:t> 22 m² parquet moulures</a:t>
            </a:r>
          </a:p>
          <a:p>
            <a:r>
              <a:rPr lang="fr-FR" sz="2000" dirty="0">
                <a:latin typeface="Figtree"/>
                <a:cs typeface="Courier New" panose="02070309020205020404" pitchFamily="49" charset="0"/>
              </a:rPr>
              <a:t>  2 fenêtres rue DV récent</a:t>
            </a:r>
          </a:p>
          <a:p>
            <a:r>
              <a:rPr lang="fr-FR" sz="2000" b="1" dirty="0">
                <a:latin typeface="Figtree"/>
                <a:cs typeface="Courier New" panose="02070309020205020404" pitchFamily="49" charset="0"/>
              </a:rPr>
              <a:t>Ch1</a:t>
            </a:r>
            <a:r>
              <a:rPr lang="fr-FR" sz="2000" dirty="0">
                <a:latin typeface="Figtree"/>
                <a:cs typeface="Courier New" panose="02070309020205020404" pitchFamily="49" charset="0"/>
              </a:rPr>
              <a:t> 11 m² parquet rue DV</a:t>
            </a:r>
          </a:p>
          <a:p>
            <a:r>
              <a:rPr lang="fr-FR" sz="2000" b="1" dirty="0">
                <a:latin typeface="Figtree"/>
                <a:cs typeface="Courier New" panose="02070309020205020404" pitchFamily="49" charset="0"/>
              </a:rPr>
              <a:t>Ch2</a:t>
            </a:r>
            <a:r>
              <a:rPr lang="fr-FR" sz="2000" dirty="0">
                <a:latin typeface="Figtree"/>
                <a:cs typeface="Courier New" panose="02070309020205020404" pitchFamily="49" charset="0"/>
              </a:rPr>
              <a:t> 9 m² parquet cour SV origine</a:t>
            </a:r>
          </a:p>
          <a:p>
            <a:r>
              <a:rPr lang="fr-FR" sz="2000" b="1" dirty="0">
                <a:latin typeface="Figtree"/>
                <a:cs typeface="Courier New" panose="02070309020205020404" pitchFamily="49" charset="0"/>
              </a:rPr>
              <a:t>Cuisine</a:t>
            </a:r>
            <a:r>
              <a:rPr lang="fr-FR" sz="2000" dirty="0">
                <a:latin typeface="Figtree"/>
                <a:cs typeface="Courier New" panose="02070309020205020404" pitchFamily="49" charset="0"/>
              </a:rPr>
              <a:t> 5 m² carrelage 70</a:t>
            </a:r>
          </a:p>
          <a:p>
            <a:r>
              <a:rPr lang="fr-FR" sz="2000" dirty="0">
                <a:latin typeface="Figtree"/>
                <a:cs typeface="Courier New" panose="02070309020205020404" pitchFamily="49" charset="0"/>
              </a:rPr>
              <a:t>  équipements vétustes SV</a:t>
            </a:r>
          </a:p>
          <a:p>
            <a:r>
              <a:rPr lang="fr-FR" sz="2000" b="1" dirty="0">
                <a:latin typeface="Figtree"/>
                <a:cs typeface="Courier New" panose="02070309020205020404" pitchFamily="49" charset="0"/>
              </a:rPr>
              <a:t>SDB</a:t>
            </a:r>
            <a:r>
              <a:rPr lang="fr-FR" sz="2000" dirty="0">
                <a:latin typeface="Figtree"/>
                <a:cs typeface="Courier New" panose="02070309020205020404" pitchFamily="49" charset="0"/>
              </a:rPr>
              <a:t> 4 m² fonte ancienne</a:t>
            </a:r>
          </a:p>
          <a:p>
            <a:r>
              <a:rPr lang="fr-FR" sz="2000" dirty="0">
                <a:latin typeface="Figtree"/>
                <a:cs typeface="Courier New" panose="02070309020205020404" pitchFamily="49" charset="0"/>
              </a:rPr>
              <a:t>  robinetterie HS carrelage décollé</a:t>
            </a:r>
          </a:p>
          <a:p>
            <a:r>
              <a:rPr lang="fr-FR" sz="2000" dirty="0">
                <a:latin typeface="Figtree"/>
                <a:cs typeface="Courier New" panose="02070309020205020404" pitchFamily="49" charset="0"/>
              </a:rPr>
              <a:t>  pas VMC fenêtre obturée</a:t>
            </a:r>
          </a:p>
          <a:p>
            <a:r>
              <a:rPr lang="fr-FR" sz="2000" dirty="0">
                <a:latin typeface="Figtree"/>
                <a:cs typeface="Courier New" panose="02070309020205020404" pitchFamily="49" charset="0"/>
              </a:rPr>
              <a:t>  REMISE EN ÉTAT COMPLÈTE</a:t>
            </a:r>
          </a:p>
          <a:p>
            <a:r>
              <a:rPr lang="fr-FR" sz="2000" b="1" dirty="0">
                <a:latin typeface="Figtree"/>
                <a:cs typeface="Courier New" panose="02070309020205020404" pitchFamily="49" charset="0"/>
              </a:rPr>
              <a:t>WC</a:t>
            </a:r>
            <a:r>
              <a:rPr lang="fr-FR" sz="2000" dirty="0">
                <a:latin typeface="Figtree"/>
                <a:cs typeface="Courier New" panose="02070309020205020404" pitchFamily="49" charset="0"/>
              </a:rPr>
              <a:t> 2 m² correct</a:t>
            </a:r>
          </a:p>
          <a:p>
            <a:r>
              <a:rPr lang="fr-FR" sz="2000" b="1" dirty="0">
                <a:latin typeface="Figtree"/>
                <a:cs typeface="Courier New" panose="02070309020205020404" pitchFamily="49" charset="0"/>
              </a:rPr>
              <a:t>DPE</a:t>
            </a:r>
            <a:r>
              <a:rPr lang="fr-FR" sz="2000" dirty="0">
                <a:latin typeface="Figtree"/>
                <a:cs typeface="Courier New" panose="02070309020205020404" pitchFamily="49" charset="0"/>
              </a:rPr>
              <a:t> E 265 kWh</a:t>
            </a:r>
          </a:p>
          <a:p>
            <a:r>
              <a:rPr lang="fr-FR" sz="2000" b="1" dirty="0">
                <a:latin typeface="Figtree"/>
                <a:cs typeface="Courier New" panose="02070309020205020404" pitchFamily="49" charset="0"/>
              </a:rPr>
              <a:t>Chaudière</a:t>
            </a:r>
            <a:r>
              <a:rPr lang="fr-FR" sz="2000" dirty="0">
                <a:latin typeface="Figtree"/>
                <a:cs typeface="Courier New" panose="02070309020205020404" pitchFamily="49" charset="0"/>
              </a:rPr>
              <a:t> gaz </a:t>
            </a:r>
            <a:r>
              <a:rPr lang="fr-FR" sz="2000" dirty="0" err="1">
                <a:latin typeface="Figtree"/>
                <a:cs typeface="Courier New" panose="02070309020205020404" pitchFamily="49" charset="0"/>
              </a:rPr>
              <a:t>indiv</a:t>
            </a:r>
            <a:r>
              <a:rPr lang="fr-FR" sz="2000" dirty="0">
                <a:latin typeface="Figtree"/>
                <a:cs typeface="Courier New" panose="02070309020205020404" pitchFamily="49" charset="0"/>
              </a:rPr>
              <a:t> 2009</a:t>
            </a:r>
            <a:endParaRPr lang="fr-FR" sz="2000" b="1" i="1" dirty="0">
              <a:latin typeface="Figtree"/>
              <a:cs typeface="Courier New" panose="02070309020205020404" pitchFamily="49" charset="0"/>
            </a:endParaRPr>
          </a:p>
        </p:txBody>
      </p:sp>
      <p:sp>
        <p:nvSpPr>
          <p:cNvPr id="5" name="ZoneTexte 4">
            <a:extLst>
              <a:ext uri="{FF2B5EF4-FFF2-40B4-BE49-F238E27FC236}">
                <a16:creationId xmlns:a16="http://schemas.microsoft.com/office/drawing/2014/main" id="{AE2C3AF5-5C81-17F3-2D17-D32BF044633E}"/>
              </a:ext>
            </a:extLst>
          </p:cNvPr>
          <p:cNvSpPr txBox="1"/>
          <p:nvPr/>
        </p:nvSpPr>
        <p:spPr>
          <a:xfrm>
            <a:off x="3235319" y="1622497"/>
            <a:ext cx="2252540" cy="369332"/>
          </a:xfrm>
          <a:prstGeom prst="rect">
            <a:avLst/>
          </a:prstGeom>
          <a:noFill/>
        </p:spPr>
        <p:txBody>
          <a:bodyPr wrap="none" rtlCol="0">
            <a:spAutoFit/>
          </a:bodyPr>
          <a:lstStyle/>
          <a:p>
            <a:r>
              <a:rPr lang="fr-FR" b="1" dirty="0">
                <a:latin typeface="Courier New" panose="02070309020205020404" pitchFamily="49" charset="0"/>
                <a:cs typeface="Courier New" panose="02070309020205020404" pitchFamily="49" charset="0"/>
              </a:rPr>
              <a:t>NOTES DE VISITE</a:t>
            </a:r>
            <a:endParaRPr lang="fr-FR" dirty="0"/>
          </a:p>
        </p:txBody>
      </p:sp>
      <p:sp>
        <p:nvSpPr>
          <p:cNvPr id="8" name="ZoneTexte 7">
            <a:extLst>
              <a:ext uri="{FF2B5EF4-FFF2-40B4-BE49-F238E27FC236}">
                <a16:creationId xmlns:a16="http://schemas.microsoft.com/office/drawing/2014/main" id="{C6F4746E-1E45-8709-48DD-5C3699DAFD04}"/>
              </a:ext>
            </a:extLst>
          </p:cNvPr>
          <p:cNvSpPr txBox="1"/>
          <p:nvPr/>
        </p:nvSpPr>
        <p:spPr>
          <a:xfrm>
            <a:off x="5922971" y="1517805"/>
            <a:ext cx="5936571" cy="5016758"/>
          </a:xfrm>
          <a:prstGeom prst="rect">
            <a:avLst/>
          </a:prstGeom>
          <a:noFill/>
        </p:spPr>
        <p:txBody>
          <a:bodyPr wrap="square" rtlCol="0">
            <a:spAutoFit/>
          </a:bodyPr>
          <a:lstStyle/>
          <a:p>
            <a:r>
              <a:rPr lang="fr-FR" sz="2000" b="1" dirty="0">
                <a:latin typeface="Courier New" panose="02070309020205020404" pitchFamily="49" charset="0"/>
                <a:cs typeface="Courier New" panose="02070309020205020404" pitchFamily="49" charset="0"/>
              </a:rPr>
              <a:t>[Contexte en mémoire]</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Rédige</a:t>
            </a:r>
            <a:r>
              <a:rPr lang="fr-FR" sz="2000" dirty="0">
                <a:latin typeface="Courier New" panose="02070309020205020404" pitchFamily="49" charset="0"/>
                <a:cs typeface="Courier New" panose="02070309020205020404" pitchFamily="49" charset="0"/>
              </a:rPr>
              <a:t> la section "Description du bien".</a:t>
            </a:r>
          </a:p>
          <a:p>
            <a:r>
              <a:rPr lang="fr-FR" sz="2000" b="1" dirty="0">
                <a:latin typeface="Courier New" panose="02070309020205020404" pitchFamily="49" charset="0"/>
                <a:cs typeface="Courier New" panose="02070309020205020404" pitchFamily="49" charset="0"/>
              </a:rPr>
              <a:t>Prose</a:t>
            </a:r>
            <a:r>
              <a:rPr lang="fr-FR" sz="2000" dirty="0">
                <a:latin typeface="Courier New" panose="02070309020205020404" pitchFamily="49" charset="0"/>
                <a:cs typeface="Courier New" panose="02070309020205020404" pitchFamily="49" charset="0"/>
              </a:rPr>
              <a:t> sobre, 180 à 220 mots, deux §.</a:t>
            </a:r>
          </a:p>
          <a:p>
            <a:r>
              <a:rPr lang="fr-FR" sz="2000" b="1" dirty="0">
                <a:highlight>
                  <a:srgbClr val="FFFF00"/>
                </a:highlight>
                <a:latin typeface="Courier New" panose="02070309020205020404" pitchFamily="49" charset="0"/>
                <a:cs typeface="Courier New" panose="02070309020205020404" pitchFamily="49" charset="0"/>
              </a:rPr>
              <a:t>§1 : situation dans l'immeuble</a:t>
            </a:r>
          </a:p>
          <a:p>
            <a:r>
              <a:rPr lang="fr-FR" sz="2000" b="1" dirty="0">
                <a:highlight>
                  <a:srgbClr val="FFFF00"/>
                </a:highlight>
                <a:latin typeface="Courier New" panose="02070309020205020404" pitchFamily="49" charset="0"/>
                <a:cs typeface="Courier New" panose="02070309020205020404" pitchFamily="49" charset="0"/>
              </a:rPr>
              <a:t>     et caractéristiques générales</a:t>
            </a:r>
          </a:p>
          <a:p>
            <a:r>
              <a:rPr lang="fr-FR" sz="2000" b="1" dirty="0">
                <a:highlight>
                  <a:srgbClr val="FFFF00"/>
                </a:highlight>
                <a:latin typeface="Courier New" panose="02070309020205020404" pitchFamily="49" charset="0"/>
                <a:cs typeface="Courier New" panose="02070309020205020404" pitchFamily="49" charset="0"/>
              </a:rPr>
              <a:t>§2 : distribution et état des éléments constatés lors de la visite</a:t>
            </a:r>
          </a:p>
          <a:p>
            <a:r>
              <a:rPr lang="fr-FR" sz="2000" dirty="0">
                <a:latin typeface="Courier New" panose="02070309020205020404" pitchFamily="49" charset="0"/>
                <a:cs typeface="Courier New" panose="02070309020205020404" pitchFamily="49" charset="0"/>
              </a:rPr>
              <a:t>Première personne pour les constats.</a:t>
            </a:r>
          </a:p>
          <a:p>
            <a:r>
              <a:rPr lang="fr-FR" sz="2000" dirty="0">
                <a:latin typeface="Courier New" panose="02070309020205020404" pitchFamily="49" charset="0"/>
                <a:cs typeface="Courier New" panose="02070309020205020404" pitchFamily="49" charset="0"/>
              </a:rPr>
              <a:t>Aucun superlatif ni appréciation de valeur.</a:t>
            </a:r>
          </a:p>
          <a:p>
            <a:r>
              <a:rPr lang="fr-FR" sz="2000" dirty="0">
                <a:latin typeface="Courier New" panose="02070309020205020404" pitchFamily="49" charset="0"/>
                <a:cs typeface="Courier New" panose="02070309020205020404" pitchFamily="49" charset="0"/>
              </a:rPr>
              <a:t>Mentionner explicitement les points faibles.</a:t>
            </a:r>
          </a:p>
          <a:p>
            <a:r>
              <a:rPr lang="fr-FR" sz="2000" dirty="0">
                <a:latin typeface="Courier New" panose="02070309020205020404" pitchFamily="49" charset="0"/>
                <a:cs typeface="Courier New" panose="02070309020205020404" pitchFamily="49" charset="0"/>
              </a:rPr>
              <a:t>Ton sobre non judiciaire.</a:t>
            </a:r>
          </a:p>
          <a:p>
            <a:r>
              <a:rPr lang="fr-FR" sz="2000" dirty="0">
                <a:latin typeface="Courier New" panose="02070309020205020404" pitchFamily="49" charset="0"/>
                <a:cs typeface="Courier New" panose="02070309020205020404" pitchFamily="49" charset="0"/>
              </a:rPr>
              <a:t>Notes de visite : [coller ci-dessus]</a:t>
            </a:r>
          </a:p>
        </p:txBody>
      </p:sp>
    </p:spTree>
    <p:extLst>
      <p:ext uri="{BB962C8B-B14F-4D97-AF65-F5344CB8AC3E}">
        <p14:creationId xmlns:p14="http://schemas.microsoft.com/office/powerpoint/2010/main" val="240281912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5681EC6-0755-E32C-1F2C-0A068D06AE73}"/>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30E4AE1-BB3B-B7C4-F190-94208BD4AD1A}"/>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B7AB9E0-B497-480E-9257-F233ACB10709}"/>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5AE7457-412A-1722-0B47-E85F98AECDEA}"/>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2D7B9545-0086-B918-9FD5-26B185B03523}"/>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2C011939-D942-9CE0-7EB0-D3E54D1D1C16}"/>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latin typeface="Figtree" pitchFamily="2" charset="0"/>
              </a:rPr>
              <a:t>rédiger un rapport complet avec l'IA</a:t>
            </a:r>
          </a:p>
        </p:txBody>
      </p:sp>
      <p:sp>
        <p:nvSpPr>
          <p:cNvPr id="13" name="Freeform: Shape 3">
            <a:extLst>
              <a:ext uri="{FF2B5EF4-FFF2-40B4-BE49-F238E27FC236}">
                <a16:creationId xmlns:a16="http://schemas.microsoft.com/office/drawing/2014/main" id="{06522D4E-6369-EEDD-C5A8-72B1E2E25B26}"/>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6E766C74-AAA6-6921-E34D-3CB1782CBB15}"/>
              </a:ext>
            </a:extLst>
          </p:cNvPr>
          <p:cNvSpPr txBox="1"/>
          <p:nvPr/>
        </p:nvSpPr>
        <p:spPr>
          <a:xfrm>
            <a:off x="-390804" y="984224"/>
            <a:ext cx="4159806" cy="830997"/>
          </a:xfrm>
          <a:prstGeom prst="rect">
            <a:avLst/>
          </a:prstGeom>
          <a:noFill/>
        </p:spPr>
        <p:txBody>
          <a:bodyPr wrap="square" rtlCol="0">
            <a:spAutoFit/>
          </a:bodyPr>
          <a:lstStyle/>
          <a:p>
            <a:pPr algn="ctr"/>
            <a:r>
              <a:rPr lang="fr-FR" sz="2400" dirty="0">
                <a:solidFill>
                  <a:schemeClr val="accent3">
                    <a:lumMod val="75000"/>
                  </a:schemeClr>
                </a:solidFill>
              </a:rPr>
              <a:t>Section 2</a:t>
            </a:r>
          </a:p>
          <a:p>
            <a:pPr algn="ctr"/>
            <a:r>
              <a:rPr lang="fr-FR" sz="2400" dirty="0">
                <a:solidFill>
                  <a:schemeClr val="accent3">
                    <a:lumMod val="75000"/>
                  </a:schemeClr>
                </a:solidFill>
              </a:rPr>
              <a:t>Description du Bien</a:t>
            </a:r>
          </a:p>
        </p:txBody>
      </p:sp>
      <p:sp>
        <p:nvSpPr>
          <p:cNvPr id="4" name="ZoneTexte 3">
            <a:extLst>
              <a:ext uri="{FF2B5EF4-FFF2-40B4-BE49-F238E27FC236}">
                <a16:creationId xmlns:a16="http://schemas.microsoft.com/office/drawing/2014/main" id="{41F1DAB7-7F0A-9D46-B2CF-06CAC65620EC}"/>
              </a:ext>
            </a:extLst>
          </p:cNvPr>
          <p:cNvSpPr txBox="1"/>
          <p:nvPr/>
        </p:nvSpPr>
        <p:spPr>
          <a:xfrm>
            <a:off x="254802" y="1965741"/>
            <a:ext cx="5140158" cy="4401205"/>
          </a:xfrm>
          <a:prstGeom prst="rect">
            <a:avLst/>
          </a:prstGeom>
          <a:solidFill>
            <a:schemeClr val="accent6">
              <a:lumMod val="20000"/>
              <a:lumOff val="80000"/>
            </a:schemeClr>
          </a:solidFill>
        </p:spPr>
        <p:txBody>
          <a:bodyPr wrap="square" rtlCol="0">
            <a:spAutoFit/>
          </a:bodyPr>
          <a:lstStyle/>
          <a:p>
            <a:r>
              <a:rPr lang="fr-FR" sz="2000" b="1" dirty="0">
                <a:latin typeface="Figtree"/>
                <a:cs typeface="Courier New" panose="02070309020205020404" pitchFamily="49" charset="0"/>
              </a:rPr>
              <a:t>Entrée</a:t>
            </a:r>
            <a:r>
              <a:rPr lang="fr-FR" sz="2000" dirty="0">
                <a:latin typeface="Figtree"/>
                <a:cs typeface="Courier New" panose="02070309020205020404" pitchFamily="49" charset="0"/>
              </a:rPr>
              <a:t> 4 m² parquet bon état</a:t>
            </a:r>
          </a:p>
          <a:p>
            <a:r>
              <a:rPr lang="fr-FR" sz="2000" b="1" dirty="0">
                <a:latin typeface="Figtree"/>
                <a:cs typeface="Courier New" panose="02070309020205020404" pitchFamily="49" charset="0"/>
              </a:rPr>
              <a:t>Séjour</a:t>
            </a:r>
            <a:r>
              <a:rPr lang="fr-FR" sz="2000" dirty="0">
                <a:latin typeface="Figtree"/>
                <a:cs typeface="Courier New" panose="02070309020205020404" pitchFamily="49" charset="0"/>
              </a:rPr>
              <a:t> 22 m² parquet moulures</a:t>
            </a:r>
          </a:p>
          <a:p>
            <a:r>
              <a:rPr lang="fr-FR" sz="2000" dirty="0">
                <a:latin typeface="Figtree"/>
                <a:cs typeface="Courier New" panose="02070309020205020404" pitchFamily="49" charset="0"/>
              </a:rPr>
              <a:t>  2 fenêtres rue DV récent</a:t>
            </a:r>
          </a:p>
          <a:p>
            <a:r>
              <a:rPr lang="fr-FR" sz="2000" b="1" dirty="0">
                <a:latin typeface="Figtree"/>
                <a:cs typeface="Courier New" panose="02070309020205020404" pitchFamily="49" charset="0"/>
              </a:rPr>
              <a:t>Ch1</a:t>
            </a:r>
            <a:r>
              <a:rPr lang="fr-FR" sz="2000" dirty="0">
                <a:latin typeface="Figtree"/>
                <a:cs typeface="Courier New" panose="02070309020205020404" pitchFamily="49" charset="0"/>
              </a:rPr>
              <a:t> 11 m² parquet rue DV</a:t>
            </a:r>
          </a:p>
          <a:p>
            <a:r>
              <a:rPr lang="fr-FR" sz="2000" b="1" dirty="0">
                <a:latin typeface="Figtree"/>
                <a:cs typeface="Courier New" panose="02070309020205020404" pitchFamily="49" charset="0"/>
              </a:rPr>
              <a:t>Ch2</a:t>
            </a:r>
            <a:r>
              <a:rPr lang="fr-FR" sz="2000" dirty="0">
                <a:latin typeface="Figtree"/>
                <a:cs typeface="Courier New" panose="02070309020205020404" pitchFamily="49" charset="0"/>
              </a:rPr>
              <a:t> 9 m² parquet cour SV origine</a:t>
            </a:r>
          </a:p>
          <a:p>
            <a:r>
              <a:rPr lang="fr-FR" sz="2000" b="1" dirty="0">
                <a:latin typeface="Figtree"/>
                <a:cs typeface="Courier New" panose="02070309020205020404" pitchFamily="49" charset="0"/>
              </a:rPr>
              <a:t>Cuisine</a:t>
            </a:r>
            <a:r>
              <a:rPr lang="fr-FR" sz="2000" dirty="0">
                <a:latin typeface="Figtree"/>
                <a:cs typeface="Courier New" panose="02070309020205020404" pitchFamily="49" charset="0"/>
              </a:rPr>
              <a:t> 5 m² carrelage 70</a:t>
            </a:r>
          </a:p>
          <a:p>
            <a:r>
              <a:rPr lang="fr-FR" sz="2000" dirty="0">
                <a:latin typeface="Figtree"/>
                <a:cs typeface="Courier New" panose="02070309020205020404" pitchFamily="49" charset="0"/>
              </a:rPr>
              <a:t>  équipements vétustes SV</a:t>
            </a:r>
          </a:p>
          <a:p>
            <a:r>
              <a:rPr lang="fr-FR" sz="2000" b="1" dirty="0">
                <a:latin typeface="Figtree"/>
                <a:cs typeface="Courier New" panose="02070309020205020404" pitchFamily="49" charset="0"/>
              </a:rPr>
              <a:t>SDB</a:t>
            </a:r>
            <a:r>
              <a:rPr lang="fr-FR" sz="2000" dirty="0">
                <a:latin typeface="Figtree"/>
                <a:cs typeface="Courier New" panose="02070309020205020404" pitchFamily="49" charset="0"/>
              </a:rPr>
              <a:t> 4 m² fonte ancienne</a:t>
            </a:r>
          </a:p>
          <a:p>
            <a:r>
              <a:rPr lang="fr-FR" sz="2000" dirty="0">
                <a:latin typeface="Figtree"/>
                <a:cs typeface="Courier New" panose="02070309020205020404" pitchFamily="49" charset="0"/>
              </a:rPr>
              <a:t>  robinetterie HS carrelage décollé</a:t>
            </a:r>
          </a:p>
          <a:p>
            <a:r>
              <a:rPr lang="fr-FR" sz="2000" dirty="0">
                <a:latin typeface="Figtree"/>
                <a:cs typeface="Courier New" panose="02070309020205020404" pitchFamily="49" charset="0"/>
              </a:rPr>
              <a:t>  pas VMC fenêtre obturée</a:t>
            </a:r>
          </a:p>
          <a:p>
            <a:r>
              <a:rPr lang="fr-FR" sz="2000" dirty="0">
                <a:latin typeface="Figtree"/>
                <a:cs typeface="Courier New" panose="02070309020205020404" pitchFamily="49" charset="0"/>
              </a:rPr>
              <a:t>  REMISE EN ÉTAT COMPLÈTE</a:t>
            </a:r>
          </a:p>
          <a:p>
            <a:r>
              <a:rPr lang="fr-FR" sz="2000" b="1" dirty="0">
                <a:latin typeface="Figtree"/>
                <a:cs typeface="Courier New" panose="02070309020205020404" pitchFamily="49" charset="0"/>
              </a:rPr>
              <a:t>WC</a:t>
            </a:r>
            <a:r>
              <a:rPr lang="fr-FR" sz="2000" dirty="0">
                <a:latin typeface="Figtree"/>
                <a:cs typeface="Courier New" panose="02070309020205020404" pitchFamily="49" charset="0"/>
              </a:rPr>
              <a:t> 2 m² correct</a:t>
            </a:r>
          </a:p>
          <a:p>
            <a:r>
              <a:rPr lang="fr-FR" sz="2000" b="1" dirty="0">
                <a:latin typeface="Figtree"/>
                <a:cs typeface="Courier New" panose="02070309020205020404" pitchFamily="49" charset="0"/>
              </a:rPr>
              <a:t>DPE</a:t>
            </a:r>
            <a:r>
              <a:rPr lang="fr-FR" sz="2000" dirty="0">
                <a:latin typeface="Figtree"/>
                <a:cs typeface="Courier New" panose="02070309020205020404" pitchFamily="49" charset="0"/>
              </a:rPr>
              <a:t> E 265 kWh</a:t>
            </a:r>
          </a:p>
          <a:p>
            <a:r>
              <a:rPr lang="fr-FR" sz="2000" b="1" dirty="0">
                <a:latin typeface="Figtree"/>
                <a:cs typeface="Courier New" panose="02070309020205020404" pitchFamily="49" charset="0"/>
              </a:rPr>
              <a:t>Chaudière</a:t>
            </a:r>
            <a:r>
              <a:rPr lang="fr-FR" sz="2000" dirty="0">
                <a:latin typeface="Figtree"/>
                <a:cs typeface="Courier New" panose="02070309020205020404" pitchFamily="49" charset="0"/>
              </a:rPr>
              <a:t> gaz </a:t>
            </a:r>
            <a:r>
              <a:rPr lang="fr-FR" sz="2000" dirty="0" err="1">
                <a:latin typeface="Figtree"/>
                <a:cs typeface="Courier New" panose="02070309020205020404" pitchFamily="49" charset="0"/>
              </a:rPr>
              <a:t>indiv</a:t>
            </a:r>
            <a:r>
              <a:rPr lang="fr-FR" sz="2000" dirty="0">
                <a:latin typeface="Figtree"/>
                <a:cs typeface="Courier New" panose="02070309020205020404" pitchFamily="49" charset="0"/>
              </a:rPr>
              <a:t> 2009</a:t>
            </a:r>
            <a:endParaRPr lang="fr-FR" sz="2000" b="1" i="1" dirty="0">
              <a:latin typeface="Figtree"/>
              <a:cs typeface="Courier New" panose="02070309020205020404" pitchFamily="49" charset="0"/>
            </a:endParaRPr>
          </a:p>
        </p:txBody>
      </p:sp>
      <p:sp>
        <p:nvSpPr>
          <p:cNvPr id="5" name="ZoneTexte 4">
            <a:extLst>
              <a:ext uri="{FF2B5EF4-FFF2-40B4-BE49-F238E27FC236}">
                <a16:creationId xmlns:a16="http://schemas.microsoft.com/office/drawing/2014/main" id="{0129A4A8-4F1F-198A-D54F-2904AAB6EBF9}"/>
              </a:ext>
            </a:extLst>
          </p:cNvPr>
          <p:cNvSpPr txBox="1"/>
          <p:nvPr/>
        </p:nvSpPr>
        <p:spPr>
          <a:xfrm>
            <a:off x="3235319" y="1622497"/>
            <a:ext cx="2252540" cy="369332"/>
          </a:xfrm>
          <a:prstGeom prst="rect">
            <a:avLst/>
          </a:prstGeom>
          <a:noFill/>
        </p:spPr>
        <p:txBody>
          <a:bodyPr wrap="none" rtlCol="0">
            <a:spAutoFit/>
          </a:bodyPr>
          <a:lstStyle/>
          <a:p>
            <a:r>
              <a:rPr lang="fr-FR" b="1" dirty="0">
                <a:latin typeface="Courier New" panose="02070309020205020404" pitchFamily="49" charset="0"/>
                <a:cs typeface="Courier New" panose="02070309020205020404" pitchFamily="49" charset="0"/>
              </a:rPr>
              <a:t>NOTES DE VISITE</a:t>
            </a:r>
            <a:endParaRPr lang="fr-FR" dirty="0"/>
          </a:p>
        </p:txBody>
      </p:sp>
      <p:sp>
        <p:nvSpPr>
          <p:cNvPr id="8" name="ZoneTexte 7">
            <a:extLst>
              <a:ext uri="{FF2B5EF4-FFF2-40B4-BE49-F238E27FC236}">
                <a16:creationId xmlns:a16="http://schemas.microsoft.com/office/drawing/2014/main" id="{AF9B7647-F22E-6F5E-E976-8D09D2B7B9F3}"/>
              </a:ext>
            </a:extLst>
          </p:cNvPr>
          <p:cNvSpPr txBox="1"/>
          <p:nvPr/>
        </p:nvSpPr>
        <p:spPr>
          <a:xfrm>
            <a:off x="5922971" y="1517805"/>
            <a:ext cx="5936571" cy="5016758"/>
          </a:xfrm>
          <a:prstGeom prst="rect">
            <a:avLst/>
          </a:prstGeom>
          <a:noFill/>
        </p:spPr>
        <p:txBody>
          <a:bodyPr wrap="square" rtlCol="0">
            <a:spAutoFit/>
          </a:bodyPr>
          <a:lstStyle/>
          <a:p>
            <a:r>
              <a:rPr lang="fr-FR" sz="2000" b="1" dirty="0">
                <a:latin typeface="Courier New" panose="02070309020205020404" pitchFamily="49" charset="0"/>
                <a:cs typeface="Courier New" panose="02070309020205020404" pitchFamily="49" charset="0"/>
              </a:rPr>
              <a:t>[Contexte en mémoire]</a:t>
            </a:r>
          </a:p>
          <a:p>
            <a:endParaRPr lang="fr-FR" sz="2000" dirty="0">
              <a:latin typeface="Courier New" panose="02070309020205020404" pitchFamily="49" charset="0"/>
              <a:cs typeface="Courier New" panose="02070309020205020404" pitchFamily="49" charset="0"/>
            </a:endParaRPr>
          </a:p>
          <a:p>
            <a:r>
              <a:rPr lang="fr-FR" sz="2000" b="1" dirty="0">
                <a:latin typeface="Courier New" panose="02070309020205020404" pitchFamily="49" charset="0"/>
                <a:cs typeface="Courier New" panose="02070309020205020404" pitchFamily="49" charset="0"/>
              </a:rPr>
              <a:t>Rédige</a:t>
            </a:r>
            <a:r>
              <a:rPr lang="fr-FR" sz="2000" dirty="0">
                <a:latin typeface="Courier New" panose="02070309020205020404" pitchFamily="49" charset="0"/>
                <a:cs typeface="Courier New" panose="02070309020205020404" pitchFamily="49" charset="0"/>
              </a:rPr>
              <a:t> la section "Description du bien".</a:t>
            </a:r>
          </a:p>
          <a:p>
            <a:r>
              <a:rPr lang="fr-FR" sz="2000" b="1" dirty="0">
                <a:latin typeface="Courier New" panose="02070309020205020404" pitchFamily="49" charset="0"/>
                <a:cs typeface="Courier New" panose="02070309020205020404" pitchFamily="49" charset="0"/>
              </a:rPr>
              <a:t>Prose</a:t>
            </a:r>
            <a:r>
              <a:rPr lang="fr-FR" sz="2000" dirty="0">
                <a:latin typeface="Courier New" panose="02070309020205020404" pitchFamily="49" charset="0"/>
                <a:cs typeface="Courier New" panose="02070309020205020404" pitchFamily="49" charset="0"/>
              </a:rPr>
              <a:t> sobre, 180 à 220 mots, deux §.</a:t>
            </a:r>
          </a:p>
          <a:p>
            <a:r>
              <a:rPr lang="fr-FR" sz="2000" b="1" dirty="0">
                <a:highlight>
                  <a:srgbClr val="FFFF00"/>
                </a:highlight>
                <a:latin typeface="Courier New" panose="02070309020205020404" pitchFamily="49" charset="0"/>
                <a:cs typeface="Courier New" panose="02070309020205020404" pitchFamily="49" charset="0"/>
              </a:rPr>
              <a:t>§1 : situation dans l'immeuble</a:t>
            </a:r>
          </a:p>
          <a:p>
            <a:r>
              <a:rPr lang="fr-FR" sz="2000" b="1" dirty="0">
                <a:highlight>
                  <a:srgbClr val="FFFF00"/>
                </a:highlight>
                <a:latin typeface="Courier New" panose="02070309020205020404" pitchFamily="49" charset="0"/>
                <a:cs typeface="Courier New" panose="02070309020205020404" pitchFamily="49" charset="0"/>
              </a:rPr>
              <a:t>     et caractéristiques générales</a:t>
            </a:r>
          </a:p>
          <a:p>
            <a:r>
              <a:rPr lang="fr-FR" sz="2000" b="1" dirty="0">
                <a:highlight>
                  <a:srgbClr val="FFFF00"/>
                </a:highlight>
                <a:latin typeface="Courier New" panose="02070309020205020404" pitchFamily="49" charset="0"/>
                <a:cs typeface="Courier New" panose="02070309020205020404" pitchFamily="49" charset="0"/>
              </a:rPr>
              <a:t>§2 : distribution et état des éléments constatés lors de la visite</a:t>
            </a:r>
          </a:p>
          <a:p>
            <a:r>
              <a:rPr lang="fr-FR" sz="2000" dirty="0">
                <a:latin typeface="Courier New" panose="02070309020205020404" pitchFamily="49" charset="0"/>
                <a:cs typeface="Courier New" panose="02070309020205020404" pitchFamily="49" charset="0"/>
              </a:rPr>
              <a:t>Première personne pour les constats.</a:t>
            </a:r>
          </a:p>
          <a:p>
            <a:r>
              <a:rPr lang="fr-FR" sz="2000" dirty="0">
                <a:latin typeface="Courier New" panose="02070309020205020404" pitchFamily="49" charset="0"/>
                <a:cs typeface="Courier New" panose="02070309020205020404" pitchFamily="49" charset="0"/>
              </a:rPr>
              <a:t>Aucun superlatif ni appréciation de valeur.</a:t>
            </a:r>
          </a:p>
          <a:p>
            <a:r>
              <a:rPr lang="fr-FR" sz="2000" dirty="0">
                <a:latin typeface="Courier New" panose="02070309020205020404" pitchFamily="49" charset="0"/>
                <a:cs typeface="Courier New" panose="02070309020205020404" pitchFamily="49" charset="0"/>
              </a:rPr>
              <a:t>Mentionner explicitement les points faibles.</a:t>
            </a:r>
          </a:p>
          <a:p>
            <a:r>
              <a:rPr lang="fr-FR" sz="2000" dirty="0">
                <a:latin typeface="Courier New" panose="02070309020205020404" pitchFamily="49" charset="0"/>
                <a:cs typeface="Courier New" panose="02070309020205020404" pitchFamily="49" charset="0"/>
              </a:rPr>
              <a:t>Ton sobre non judiciaire.</a:t>
            </a:r>
          </a:p>
          <a:p>
            <a:r>
              <a:rPr lang="fr-FR" sz="2000" dirty="0">
                <a:latin typeface="Courier New" panose="02070309020205020404" pitchFamily="49" charset="0"/>
                <a:cs typeface="Courier New" panose="02070309020205020404" pitchFamily="49" charset="0"/>
              </a:rPr>
              <a:t>Notes de visite : [coller ci-dessus]</a:t>
            </a:r>
          </a:p>
        </p:txBody>
      </p:sp>
    </p:spTree>
    <p:extLst>
      <p:ext uri="{BB962C8B-B14F-4D97-AF65-F5344CB8AC3E}">
        <p14:creationId xmlns:p14="http://schemas.microsoft.com/office/powerpoint/2010/main" val="221566900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8821ED1-2147-CECC-643D-A247CDE83E3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92CE139-94EF-8BBF-CC9D-8E66C9BDAB2E}"/>
              </a:ext>
            </a:extLst>
          </p:cNvPr>
          <p:cNvSpPr/>
          <p:nvPr/>
        </p:nvSpPr>
        <p:spPr>
          <a:xfrm>
            <a:off x="3495795" y="279981"/>
            <a:ext cx="7641392" cy="1230767"/>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B423B43B-41EB-187A-65AB-DC08F8133AE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A78DF3-5B57-215F-72EB-8B7B89561C88}"/>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
            <a:extLst>
              <a:ext uri="{FF2B5EF4-FFF2-40B4-BE49-F238E27FC236}">
                <a16:creationId xmlns:a16="http://schemas.microsoft.com/office/drawing/2014/main" id="{EEA92684-26C0-8461-75DB-0FE2EE278E2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5</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FCDB79F2-3AFC-7C4F-EF73-2C5C17E8BC63}"/>
              </a:ext>
            </a:extLst>
          </p:cNvPr>
          <p:cNvSpPr txBox="1"/>
          <p:nvPr/>
        </p:nvSpPr>
        <p:spPr>
          <a:xfrm>
            <a:off x="3495795" y="302802"/>
            <a:ext cx="7641391" cy="1077218"/>
          </a:xfrm>
          <a:prstGeom prst="rect">
            <a:avLst/>
          </a:prstGeom>
          <a:noFill/>
        </p:spPr>
        <p:txBody>
          <a:bodyPr wrap="square" rtlCol="0">
            <a:spAutoFit/>
          </a:bodyPr>
          <a:lstStyle/>
          <a:p>
            <a:pPr algn="ctr"/>
            <a:r>
              <a:rPr lang="fr-FR" sz="4400" dirty="0"/>
              <a:t>Atelier pratique</a:t>
            </a:r>
          </a:p>
          <a:p>
            <a:pPr algn="ctr"/>
            <a:r>
              <a:rPr lang="fr-FR" sz="2000" b="1" dirty="0">
                <a:solidFill>
                  <a:schemeClr val="tx2">
                    <a:alpha val="60000"/>
                  </a:schemeClr>
                </a:solidFill>
                <a:latin typeface="Figtree" pitchFamily="2" charset="0"/>
              </a:rPr>
              <a:t>rédiger un rapport complet avec l'IA</a:t>
            </a:r>
          </a:p>
        </p:txBody>
      </p:sp>
      <p:sp>
        <p:nvSpPr>
          <p:cNvPr id="13" name="Freeform: Shape 3">
            <a:extLst>
              <a:ext uri="{FF2B5EF4-FFF2-40B4-BE49-F238E27FC236}">
                <a16:creationId xmlns:a16="http://schemas.microsoft.com/office/drawing/2014/main" id="{743B3C87-802A-3AE4-8B83-36EBDFE3B278}"/>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ZoneTexte 5">
            <a:extLst>
              <a:ext uri="{FF2B5EF4-FFF2-40B4-BE49-F238E27FC236}">
                <a16:creationId xmlns:a16="http://schemas.microsoft.com/office/drawing/2014/main" id="{923846A6-DBF8-8EF0-627C-B0280B5B3FC7}"/>
              </a:ext>
            </a:extLst>
          </p:cNvPr>
          <p:cNvSpPr txBox="1"/>
          <p:nvPr/>
        </p:nvSpPr>
        <p:spPr>
          <a:xfrm>
            <a:off x="31194" y="879070"/>
            <a:ext cx="3464600" cy="461665"/>
          </a:xfrm>
          <a:prstGeom prst="rect">
            <a:avLst/>
          </a:prstGeom>
          <a:noFill/>
        </p:spPr>
        <p:txBody>
          <a:bodyPr wrap="square" rtlCol="0">
            <a:spAutoFit/>
          </a:bodyPr>
          <a:lstStyle/>
          <a:p>
            <a:pPr algn="ctr"/>
            <a:r>
              <a:rPr lang="fr-FR" sz="2400" dirty="0">
                <a:solidFill>
                  <a:schemeClr val="accent3">
                    <a:lumMod val="75000"/>
                  </a:schemeClr>
                </a:solidFill>
              </a:rPr>
              <a:t>Règles de confidentialité</a:t>
            </a:r>
          </a:p>
        </p:txBody>
      </p:sp>
      <p:sp>
        <p:nvSpPr>
          <p:cNvPr id="8" name="ZoneTexte 7">
            <a:extLst>
              <a:ext uri="{FF2B5EF4-FFF2-40B4-BE49-F238E27FC236}">
                <a16:creationId xmlns:a16="http://schemas.microsoft.com/office/drawing/2014/main" id="{EF5AC0D3-3F7E-5CB3-B7F8-830520F2089B}"/>
              </a:ext>
            </a:extLst>
          </p:cNvPr>
          <p:cNvSpPr txBox="1"/>
          <p:nvPr/>
        </p:nvSpPr>
        <p:spPr>
          <a:xfrm>
            <a:off x="1129629" y="1979109"/>
            <a:ext cx="10579627" cy="4524315"/>
          </a:xfrm>
          <a:prstGeom prst="rect">
            <a:avLst/>
          </a:prstGeom>
          <a:noFill/>
        </p:spPr>
        <p:txBody>
          <a:bodyPr wrap="none" rtlCol="0">
            <a:spAutoFit/>
          </a:bodyPr>
          <a:lstStyle/>
          <a:p>
            <a:r>
              <a:rPr lang="fr-FR" sz="2400" b="1" dirty="0">
                <a:latin typeface="Figtree"/>
              </a:rPr>
              <a:t>Règle 1 — Le nom du notaire</a:t>
            </a:r>
            <a:endParaRPr lang="fr-FR" sz="2400" dirty="0">
              <a:latin typeface="Figtree"/>
            </a:endParaRPr>
          </a:p>
          <a:p>
            <a:r>
              <a:rPr lang="fr-FR" sz="2400" dirty="0">
                <a:latin typeface="Figtree"/>
              </a:rPr>
              <a:t>❌ "Maître Jean Dupont, notaire associé, 24 rue de la Paix Paris 1er"</a:t>
            </a:r>
          </a:p>
          <a:p>
            <a:r>
              <a:rPr lang="fr-FR" sz="2400" dirty="0">
                <a:latin typeface="Figtree"/>
              </a:rPr>
              <a:t>✅ </a:t>
            </a:r>
            <a:r>
              <a:rPr lang="fr-FR" sz="2400" i="1" dirty="0">
                <a:latin typeface="Figtree"/>
              </a:rPr>
              <a:t>"Le notaire mandant, dont les coordonnées figurent dans la lettre de mission "  </a:t>
            </a:r>
          </a:p>
          <a:p>
            <a:endParaRPr lang="fr-FR" sz="2400" dirty="0">
              <a:latin typeface="Figtree"/>
            </a:endParaRPr>
          </a:p>
          <a:p>
            <a:r>
              <a:rPr lang="fr-FR" sz="2400" b="1" dirty="0">
                <a:latin typeface="Figtree"/>
              </a:rPr>
              <a:t>Règle 2 — L'adresse exacte du bien</a:t>
            </a:r>
            <a:endParaRPr lang="fr-FR" sz="2400" dirty="0">
              <a:latin typeface="Figtree"/>
            </a:endParaRPr>
          </a:p>
          <a:p>
            <a:r>
              <a:rPr lang="fr-FR" sz="2400" dirty="0">
                <a:latin typeface="Figtree"/>
              </a:rPr>
              <a:t>❌ "Appartement sis au 14 rue Keller, Paris 11e, valeur estimée 580 000 €"</a:t>
            </a:r>
          </a:p>
          <a:p>
            <a:r>
              <a:rPr lang="fr-FR" sz="2400" dirty="0">
                <a:latin typeface="Figtree"/>
              </a:rPr>
              <a:t>✅ </a:t>
            </a:r>
            <a:r>
              <a:rPr lang="fr-FR" sz="2400" i="1" dirty="0">
                <a:latin typeface="Figtree"/>
              </a:rPr>
              <a:t>"Appartement situé rue Keller, secteur Bastille–Ledru-Rollin, Paris 11e "  </a:t>
            </a:r>
          </a:p>
          <a:p>
            <a:endParaRPr lang="fr-FR" sz="2400" dirty="0">
              <a:latin typeface="Figtree"/>
            </a:endParaRPr>
          </a:p>
          <a:p>
            <a:r>
              <a:rPr lang="fr-FR" sz="2400" b="1" dirty="0">
                <a:latin typeface="Figtree"/>
              </a:rPr>
              <a:t>Règle 3 — Les identités des héritiers</a:t>
            </a:r>
            <a:endParaRPr lang="fr-FR" sz="2400" dirty="0">
              <a:latin typeface="Figtree"/>
            </a:endParaRPr>
          </a:p>
          <a:p>
            <a:r>
              <a:rPr lang="fr-FR" sz="2400" dirty="0">
                <a:latin typeface="Figtree"/>
              </a:rPr>
              <a:t>❌ "Mme Sophie Martin et M. Thomas Martin, héritiers en indivision"</a:t>
            </a:r>
          </a:p>
          <a:p>
            <a:r>
              <a:rPr lang="fr-FR" sz="2400" dirty="0">
                <a:latin typeface="Figtree"/>
              </a:rPr>
              <a:t>✅ </a:t>
            </a:r>
            <a:r>
              <a:rPr lang="fr-FR" sz="2400" i="1" dirty="0">
                <a:latin typeface="Figtree"/>
              </a:rPr>
              <a:t>"Les héritiers indivisaires, dont l'identité figure aux pièces de la succession"</a:t>
            </a:r>
          </a:p>
          <a:p>
            <a:endParaRPr lang="fr-FR" sz="2400" dirty="0">
              <a:latin typeface="Figtree"/>
            </a:endParaRPr>
          </a:p>
        </p:txBody>
      </p:sp>
    </p:spTree>
    <p:extLst>
      <p:ext uri="{BB962C8B-B14F-4D97-AF65-F5344CB8AC3E}">
        <p14:creationId xmlns:p14="http://schemas.microsoft.com/office/powerpoint/2010/main" val="241208954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669522A-F097-4F2E-4B47-192DFCE255CB}"/>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1F6A73FE-DE7B-4D4F-6360-2BB461A669E2}"/>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DA7FC1D4-F69E-A501-F9A3-925587AC9CAD}"/>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584ABFCC-A664-8A0D-1419-282D0FABCD27}"/>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6094397-A8A5-6DC0-2405-7109CCBB5B85}"/>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85D466F6-771B-8024-0253-2B2FA40C54D1}"/>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E0B8E9C-A909-3384-4467-E483B9736156}"/>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42EC3243-E5E6-C290-5546-717DEBBFDA8B}"/>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11" name="ZoneTexte 10">
            <a:extLst>
              <a:ext uri="{FF2B5EF4-FFF2-40B4-BE49-F238E27FC236}">
                <a16:creationId xmlns:a16="http://schemas.microsoft.com/office/drawing/2014/main" id="{65CE4A83-14F7-AF31-143D-662AA3DE17AE}"/>
              </a:ext>
            </a:extLst>
          </p:cNvPr>
          <p:cNvSpPr txBox="1"/>
          <p:nvPr/>
        </p:nvSpPr>
        <p:spPr>
          <a:xfrm>
            <a:off x="825498" y="2089266"/>
            <a:ext cx="7051562" cy="4832092"/>
          </a:xfrm>
          <a:prstGeom prst="rect">
            <a:avLst/>
          </a:prstGeom>
          <a:noFill/>
        </p:spPr>
        <p:txBody>
          <a:bodyPr wrap="square" rtlCol="0">
            <a:spAutoFit/>
          </a:bodyPr>
          <a:lstStyle/>
          <a:p>
            <a:r>
              <a:rPr lang="fr-FR" sz="2800" dirty="0">
                <a:latin typeface="Figtree"/>
              </a:rPr>
              <a:t>Le mauvais prompt</a:t>
            </a:r>
          </a:p>
          <a:p>
            <a:r>
              <a:rPr lang="fr-FR" sz="2800" b="1" dirty="0">
                <a:latin typeface="Figtree"/>
              </a:rPr>
              <a:t>	« Décris cet appartement pour mon 	rapport. »</a:t>
            </a:r>
          </a:p>
          <a:p>
            <a:endParaRPr lang="fr-FR" sz="2800" dirty="0">
              <a:latin typeface="Figtree"/>
            </a:endParaRPr>
          </a:p>
          <a:p>
            <a:r>
              <a:rPr lang="fr-FR" sz="2800" dirty="0">
                <a:latin typeface="Figtree"/>
              </a:rPr>
              <a:t>ensuite :</a:t>
            </a:r>
          </a:p>
          <a:p>
            <a:r>
              <a:rPr lang="fr-FR" sz="2800" b="1" dirty="0">
                <a:latin typeface="Figtree"/>
              </a:rPr>
              <a:t>	« Tu es un rédacteur professionnel… »</a:t>
            </a:r>
          </a:p>
          <a:p>
            <a:endParaRPr lang="fr-FR" sz="2800" dirty="0">
              <a:latin typeface="Figtree"/>
            </a:endParaRPr>
          </a:p>
          <a:p>
            <a:r>
              <a:rPr lang="fr-FR" sz="2800" dirty="0">
                <a:latin typeface="Figtree"/>
              </a:rPr>
              <a:t>puis :</a:t>
            </a:r>
          </a:p>
          <a:p>
            <a:r>
              <a:rPr lang="fr-FR" sz="2800" b="1" dirty="0">
                <a:latin typeface="Figtree"/>
              </a:rPr>
              <a:t>	« Tu es un expert immobilier 	intervenant dans le cadre d'une 	expertise judiciaire… »</a:t>
            </a:r>
          </a:p>
        </p:txBody>
      </p:sp>
      <p:sp>
        <p:nvSpPr>
          <p:cNvPr id="14" name="ZoneTexte 13">
            <a:extLst>
              <a:ext uri="{FF2B5EF4-FFF2-40B4-BE49-F238E27FC236}">
                <a16:creationId xmlns:a16="http://schemas.microsoft.com/office/drawing/2014/main" id="{8F631411-A570-8D8D-1E1C-0DBEB09B4428}"/>
              </a:ext>
            </a:extLst>
          </p:cNvPr>
          <p:cNvSpPr txBox="1"/>
          <p:nvPr/>
        </p:nvSpPr>
        <p:spPr>
          <a:xfrm>
            <a:off x="8343804" y="3327755"/>
            <a:ext cx="3426245" cy="2126864"/>
          </a:xfrm>
          <a:prstGeom prst="rect">
            <a:avLst/>
          </a:prstGeom>
          <a:noFill/>
        </p:spPr>
        <p:txBody>
          <a:bodyPr wrap="square" rtlCol="0">
            <a:spAutoFit/>
          </a:bodyPr>
          <a:lstStyle/>
          <a:p>
            <a:pPr>
              <a:lnSpc>
                <a:spcPct val="150000"/>
              </a:lnSpc>
            </a:pPr>
            <a:r>
              <a:rPr lang="fr-FR" dirty="0">
                <a:latin typeface="Figtree"/>
              </a:rPr>
              <a:t>La réponse ne sera pas nécessairement meilleure </a:t>
            </a:r>
          </a:p>
          <a:p>
            <a:pPr>
              <a:lnSpc>
                <a:spcPct val="150000"/>
              </a:lnSpc>
            </a:pPr>
            <a:r>
              <a:rPr lang="fr-FR" dirty="0">
                <a:latin typeface="Figtree"/>
              </a:rPr>
              <a:t>uniquement parce que le rôle est plus précis, mais </a:t>
            </a:r>
            <a:r>
              <a:rPr lang="fr-FR" b="1" dirty="0">
                <a:latin typeface="Figtree"/>
              </a:rPr>
              <a:t>le cadre de production change</a:t>
            </a:r>
            <a:endParaRPr lang="fr-FR" dirty="0">
              <a:latin typeface="Figtree"/>
            </a:endParaRPr>
          </a:p>
        </p:txBody>
      </p:sp>
      <p:cxnSp>
        <p:nvCxnSpPr>
          <p:cNvPr id="25" name="Connecteur droit 24">
            <a:extLst>
              <a:ext uri="{FF2B5EF4-FFF2-40B4-BE49-F238E27FC236}">
                <a16:creationId xmlns:a16="http://schemas.microsoft.com/office/drawing/2014/main" id="{EA463A58-1C3C-9B38-DDD4-086980E7034F}"/>
              </a:ext>
            </a:extLst>
          </p:cNvPr>
          <p:cNvCxnSpPr>
            <a:cxnSpLocks/>
          </p:cNvCxnSpPr>
          <p:nvPr/>
        </p:nvCxnSpPr>
        <p:spPr>
          <a:xfrm>
            <a:off x="8097398" y="3547431"/>
            <a:ext cx="0" cy="19071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7">
            <a:extLst>
              <a:ext uri="{FF2B5EF4-FFF2-40B4-BE49-F238E27FC236}">
                <a16:creationId xmlns:a16="http://schemas.microsoft.com/office/drawing/2014/main" id="{F03D3829-0F99-E08C-81B4-FA730200FC26}"/>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cxnSp>
        <p:nvCxnSpPr>
          <p:cNvPr id="6" name="Connecteur droit 5">
            <a:extLst>
              <a:ext uri="{FF2B5EF4-FFF2-40B4-BE49-F238E27FC236}">
                <a16:creationId xmlns:a16="http://schemas.microsoft.com/office/drawing/2014/main" id="{F9C652AC-30DC-7148-D037-7181C1F85957}"/>
              </a:ext>
            </a:extLst>
          </p:cNvPr>
          <p:cNvCxnSpPr/>
          <p:nvPr/>
        </p:nvCxnSpPr>
        <p:spPr>
          <a:xfrm flipV="1">
            <a:off x="82296" y="832104"/>
            <a:ext cx="11137392" cy="5943600"/>
          </a:xfrm>
          <a:prstGeom prst="line">
            <a:avLst/>
          </a:prstGeom>
          <a:ln w="3810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14642153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A827AF-0728-AFA4-AB5D-3DA3AEA16C74}"/>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3042B836-64E4-A1B2-C2EB-62E938BFCC9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2A993EF9-15BD-1AC7-A70C-753BA42049F5}"/>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5B42EEE2-9F8B-1ABB-C74C-BABB4E13BC82}"/>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5553C05-38CD-1D55-FAE3-8C9DED9CC11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86806C99-58B2-1F96-59A6-AD5E39F52404}"/>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451D924C-5D1F-8833-459D-B4B5C0FEB5B6}"/>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8857C485-F87A-3421-A591-295080F6CCD7}"/>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4" name="ZoneTexte 3">
            <a:extLst>
              <a:ext uri="{FF2B5EF4-FFF2-40B4-BE49-F238E27FC236}">
                <a16:creationId xmlns:a16="http://schemas.microsoft.com/office/drawing/2014/main" id="{548288E5-0CFF-C08F-1E6F-8C5A68BBFC91}"/>
              </a:ext>
            </a:extLst>
          </p:cNvPr>
          <p:cNvSpPr txBox="1"/>
          <p:nvPr/>
        </p:nvSpPr>
        <p:spPr>
          <a:xfrm>
            <a:off x="776299" y="3593335"/>
            <a:ext cx="3272450" cy="1046440"/>
          </a:xfrm>
          <a:prstGeom prst="rect">
            <a:avLst/>
          </a:prstGeom>
          <a:noFill/>
        </p:spPr>
        <p:txBody>
          <a:bodyPr wrap="square" rtlCol="0">
            <a:spAutoFit/>
          </a:bodyPr>
          <a:lstStyle/>
          <a:p>
            <a:r>
              <a:rPr lang="fr-FR" sz="2600" b="1" dirty="0">
                <a:latin typeface="Figtree"/>
              </a:rPr>
              <a:t>Bien étudié :</a:t>
            </a:r>
          </a:p>
          <a:p>
            <a:endParaRPr lang="fr-FR" b="1" dirty="0"/>
          </a:p>
          <a:p>
            <a:r>
              <a:rPr lang="fr-FR" dirty="0">
                <a:latin typeface="Figtree"/>
              </a:rPr>
              <a:t>Appartement T3 - Marseille</a:t>
            </a:r>
          </a:p>
        </p:txBody>
      </p:sp>
      <p:sp>
        <p:nvSpPr>
          <p:cNvPr id="9" name="ZoneTexte 8">
            <a:extLst>
              <a:ext uri="{FF2B5EF4-FFF2-40B4-BE49-F238E27FC236}">
                <a16:creationId xmlns:a16="http://schemas.microsoft.com/office/drawing/2014/main" id="{F413AA5C-5E3A-874A-C449-8DEAEBA84D04}"/>
              </a:ext>
            </a:extLst>
          </p:cNvPr>
          <p:cNvSpPr txBox="1"/>
          <p:nvPr/>
        </p:nvSpPr>
        <p:spPr>
          <a:xfrm>
            <a:off x="4985082" y="2125365"/>
            <a:ext cx="6973127" cy="4524315"/>
          </a:xfrm>
          <a:prstGeom prst="rect">
            <a:avLst/>
          </a:prstGeom>
          <a:noFill/>
        </p:spPr>
        <p:txBody>
          <a:bodyPr wrap="none" rtlCol="0">
            <a:spAutoFit/>
          </a:bodyPr>
          <a:lstStyle/>
          <a:p>
            <a:pPr marL="285750" indent="-285750">
              <a:buFont typeface="Arial" panose="020B0604020202020204" pitchFamily="34" charset="0"/>
              <a:buChar char="•"/>
            </a:pPr>
            <a:r>
              <a:rPr lang="fr-FR" dirty="0">
                <a:latin typeface="Figtree"/>
              </a:rPr>
              <a:t>Appartement situé au 4e étage avec ascenseur.</a:t>
            </a:r>
          </a:p>
          <a:p>
            <a:pPr marL="285750" indent="-285750">
              <a:buFont typeface="Arial" panose="020B0604020202020204" pitchFamily="34" charset="0"/>
              <a:buChar char="•"/>
            </a:pPr>
            <a:r>
              <a:rPr lang="fr-FR" dirty="0">
                <a:latin typeface="Figtree"/>
              </a:rPr>
              <a:t>Immeuble ancien, façade correcte.</a:t>
            </a:r>
          </a:p>
          <a:p>
            <a:pPr marL="285750" indent="-285750">
              <a:buFont typeface="Arial" panose="020B0604020202020204" pitchFamily="34" charset="0"/>
              <a:buChar char="•"/>
            </a:pPr>
            <a:r>
              <a:rPr lang="fr-FR" dirty="0">
                <a:latin typeface="Figtree"/>
              </a:rPr>
              <a:t>Entrée assez étroite.</a:t>
            </a:r>
          </a:p>
          <a:p>
            <a:pPr marL="285750" indent="-285750">
              <a:buFont typeface="Arial" panose="020B0604020202020204" pitchFamily="34" charset="0"/>
              <a:buChar char="•"/>
            </a:pPr>
            <a:r>
              <a:rPr lang="fr-FR" dirty="0">
                <a:latin typeface="Figtree"/>
              </a:rPr>
              <a:t>Séjour donnant côté rue.</a:t>
            </a:r>
          </a:p>
          <a:p>
            <a:pPr marL="285750" indent="-285750">
              <a:buFont typeface="Arial" panose="020B0604020202020204" pitchFamily="34" charset="0"/>
              <a:buChar char="•"/>
            </a:pPr>
            <a:r>
              <a:rPr lang="fr-FR" dirty="0">
                <a:latin typeface="Figtree"/>
              </a:rPr>
              <a:t>Deux chambres côté cour.</a:t>
            </a:r>
          </a:p>
          <a:p>
            <a:pPr marL="285750" indent="-285750">
              <a:buFont typeface="Arial" panose="020B0604020202020204" pitchFamily="34" charset="0"/>
              <a:buChar char="•"/>
            </a:pPr>
            <a:r>
              <a:rPr lang="fr-FR" dirty="0">
                <a:latin typeface="Figtree"/>
              </a:rPr>
              <a:t>Cuisine séparée.</a:t>
            </a:r>
          </a:p>
          <a:p>
            <a:pPr marL="285750" indent="-285750">
              <a:buFont typeface="Arial" panose="020B0604020202020204" pitchFamily="34" charset="0"/>
              <a:buChar char="•"/>
            </a:pPr>
            <a:r>
              <a:rPr lang="fr-FR" dirty="0">
                <a:latin typeface="Figtree"/>
              </a:rPr>
              <a:t>Salle d'eau avec douche.</a:t>
            </a:r>
          </a:p>
          <a:p>
            <a:pPr marL="285750" indent="-285750">
              <a:buFont typeface="Arial" panose="020B0604020202020204" pitchFamily="34" charset="0"/>
              <a:buChar char="•"/>
            </a:pPr>
            <a:r>
              <a:rPr lang="fr-FR" dirty="0">
                <a:latin typeface="Figtree"/>
              </a:rPr>
              <a:t>Fenêtres PVC dans séjour et une chambre, bois dans l'autre chambre.</a:t>
            </a:r>
          </a:p>
          <a:p>
            <a:pPr marL="285750" indent="-285750">
              <a:buFont typeface="Arial" panose="020B0604020202020204" pitchFamily="34" charset="0"/>
              <a:buChar char="•"/>
            </a:pPr>
            <a:r>
              <a:rPr lang="fr-FR" dirty="0">
                <a:latin typeface="Figtree"/>
              </a:rPr>
              <a:t>Parquet ancien dans séjour et chambres.</a:t>
            </a:r>
          </a:p>
          <a:p>
            <a:pPr marL="285750" indent="-285750">
              <a:buFont typeface="Arial" panose="020B0604020202020204" pitchFamily="34" charset="0"/>
              <a:buChar char="•"/>
            </a:pPr>
            <a:r>
              <a:rPr lang="fr-FR" dirty="0">
                <a:latin typeface="Figtree"/>
              </a:rPr>
              <a:t>Carrelage cuisine et salle d'eau.</a:t>
            </a:r>
          </a:p>
          <a:p>
            <a:pPr marL="285750" indent="-285750">
              <a:buFont typeface="Arial" panose="020B0604020202020204" pitchFamily="34" charset="0"/>
              <a:buChar char="•"/>
            </a:pPr>
            <a:r>
              <a:rPr lang="fr-FR" dirty="0">
                <a:latin typeface="Figtree"/>
              </a:rPr>
              <a:t>Peintures anciennes, quelques traces au plafond du séjour.</a:t>
            </a:r>
          </a:p>
          <a:p>
            <a:pPr marL="285750" indent="-285750">
              <a:buFont typeface="Arial" panose="020B0604020202020204" pitchFamily="34" charset="0"/>
              <a:buChar char="•"/>
            </a:pPr>
            <a:r>
              <a:rPr lang="fr-FR" dirty="0">
                <a:latin typeface="Figtree"/>
              </a:rPr>
              <a:t>Cuisine ancienne mais utilisable.</a:t>
            </a:r>
          </a:p>
          <a:p>
            <a:pPr marL="285750" indent="-285750">
              <a:buFont typeface="Arial" panose="020B0604020202020204" pitchFamily="34" charset="0"/>
              <a:buChar char="•"/>
            </a:pPr>
            <a:r>
              <a:rPr lang="fr-FR" dirty="0">
                <a:latin typeface="Figtree"/>
              </a:rPr>
              <a:t>Chauffage individuel électrique.</a:t>
            </a:r>
          </a:p>
          <a:p>
            <a:pPr marL="285750" indent="-285750">
              <a:buFont typeface="Arial" panose="020B0604020202020204" pitchFamily="34" charset="0"/>
              <a:buChar char="•"/>
            </a:pPr>
            <a:r>
              <a:rPr lang="fr-FR" dirty="0">
                <a:latin typeface="Figtree"/>
              </a:rPr>
              <a:t>Balcon très petit côté rue.</a:t>
            </a:r>
          </a:p>
          <a:p>
            <a:pPr marL="285750" indent="-285750">
              <a:buFont typeface="Arial" panose="020B0604020202020204" pitchFamily="34" charset="0"/>
              <a:buChar char="•"/>
            </a:pPr>
            <a:r>
              <a:rPr lang="fr-FR" dirty="0">
                <a:latin typeface="Figtree"/>
              </a:rPr>
              <a:t>Cave au sous-sol.</a:t>
            </a:r>
          </a:p>
          <a:p>
            <a:pPr marL="285750" indent="-285750">
              <a:buFont typeface="Arial" panose="020B0604020202020204" pitchFamily="34" charset="0"/>
              <a:buChar char="•"/>
            </a:pPr>
            <a:r>
              <a:rPr lang="fr-FR" dirty="0">
                <a:latin typeface="Figtree"/>
              </a:rPr>
              <a:t>Appartement globalement entretenu mais nécessitant des travaux.</a:t>
            </a:r>
          </a:p>
        </p:txBody>
      </p:sp>
      <p:sp>
        <p:nvSpPr>
          <p:cNvPr id="19" name="Accolade ouvrante 18">
            <a:extLst>
              <a:ext uri="{FF2B5EF4-FFF2-40B4-BE49-F238E27FC236}">
                <a16:creationId xmlns:a16="http://schemas.microsoft.com/office/drawing/2014/main" id="{28F731ED-9FCD-F060-3EB5-5C30E2A3D74A}"/>
              </a:ext>
            </a:extLst>
          </p:cNvPr>
          <p:cNvSpPr/>
          <p:nvPr/>
        </p:nvSpPr>
        <p:spPr>
          <a:xfrm>
            <a:off x="4307595" y="2159306"/>
            <a:ext cx="418641" cy="45720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7" name="ZoneTexte 6">
            <a:extLst>
              <a:ext uri="{FF2B5EF4-FFF2-40B4-BE49-F238E27FC236}">
                <a16:creationId xmlns:a16="http://schemas.microsoft.com/office/drawing/2014/main" id="{519E69F4-719D-E3E3-AE71-46A8D34FA021}"/>
              </a:ext>
            </a:extLst>
          </p:cNvPr>
          <p:cNvSpPr txBox="1"/>
          <p:nvPr/>
        </p:nvSpPr>
        <p:spPr>
          <a:xfrm>
            <a:off x="396607" y="2856774"/>
            <a:ext cx="3652142" cy="369332"/>
          </a:xfrm>
          <a:prstGeom prst="rect">
            <a:avLst/>
          </a:prstGeom>
          <a:noFill/>
        </p:spPr>
        <p:txBody>
          <a:bodyPr wrap="square" rtlCol="0">
            <a:spAutoFit/>
          </a:bodyPr>
          <a:lstStyle/>
          <a:p>
            <a:r>
              <a:rPr lang="fr-FR" u="sng" dirty="0">
                <a:latin typeface="Figtree"/>
              </a:rPr>
              <a:t>Mes notes prises pendant la visite :</a:t>
            </a:r>
          </a:p>
        </p:txBody>
      </p:sp>
      <p:sp>
        <p:nvSpPr>
          <p:cNvPr id="14" name="TextBox 7">
            <a:extLst>
              <a:ext uri="{FF2B5EF4-FFF2-40B4-BE49-F238E27FC236}">
                <a16:creationId xmlns:a16="http://schemas.microsoft.com/office/drawing/2014/main" id="{FCB6D6B2-835B-3D59-909B-EA586842FBE5}"/>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cxnSp>
        <p:nvCxnSpPr>
          <p:cNvPr id="6" name="Connecteur droit 5">
            <a:extLst>
              <a:ext uri="{FF2B5EF4-FFF2-40B4-BE49-F238E27FC236}">
                <a16:creationId xmlns:a16="http://schemas.microsoft.com/office/drawing/2014/main" id="{CEEE6A9D-BE7B-5E08-3FD7-D8BCBACC48DE}"/>
              </a:ext>
            </a:extLst>
          </p:cNvPr>
          <p:cNvCxnSpPr/>
          <p:nvPr/>
        </p:nvCxnSpPr>
        <p:spPr>
          <a:xfrm flipV="1">
            <a:off x="82296" y="832104"/>
            <a:ext cx="11137392" cy="5943600"/>
          </a:xfrm>
          <a:prstGeom prst="line">
            <a:avLst/>
          </a:prstGeom>
          <a:ln w="3810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64259294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AE43F43-9AED-0987-2CBE-BA254E95F3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C19AAA-62D1-C0CE-7024-2C84514A3CF7}"/>
              </a:ext>
            </a:extLst>
          </p:cNvPr>
          <p:cNvSpPr txBox="1"/>
          <p:nvPr/>
        </p:nvSpPr>
        <p:spPr>
          <a:xfrm>
            <a:off x="755087" y="1122647"/>
            <a:ext cx="10751113" cy="1446550"/>
          </a:xfrm>
          <a:prstGeom prst="rect">
            <a:avLst/>
          </a:prstGeom>
          <a:noFill/>
        </p:spPr>
        <p:txBody>
          <a:bodyPr wrap="square" rtlCol="0">
            <a:spAutoFit/>
          </a:bodyPr>
          <a:lstStyle/>
          <a:p>
            <a:r>
              <a:rPr lang="fr-FR" sz="4400" dirty="0">
                <a:latin typeface="Space Grotesk Medium"/>
              </a:rPr>
              <a:t>L'IA n'est rien d'autre qu'un outil de tri et d'organisation des données</a:t>
            </a:r>
            <a:endParaRPr lang="en-US" sz="4400" dirty="0">
              <a:solidFill>
                <a:schemeClr val="tx2"/>
              </a:solidFill>
              <a:latin typeface="Space Grotesk Medium"/>
              <a:sym typeface="Manrope"/>
            </a:endParaRPr>
          </a:p>
        </p:txBody>
      </p:sp>
      <p:sp>
        <p:nvSpPr>
          <p:cNvPr id="11" name="Freeform: Shape 10">
            <a:extLst>
              <a:ext uri="{FF2B5EF4-FFF2-40B4-BE49-F238E27FC236}">
                <a16:creationId xmlns:a16="http://schemas.microsoft.com/office/drawing/2014/main" id="{C32AD9E1-5C9C-141E-7DB0-C6A91B448698}"/>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7A98B629-DE67-3FBB-188F-6E55C9589194}"/>
              </a:ext>
            </a:extLst>
          </p:cNvPr>
          <p:cNvSpPr/>
          <p:nvPr/>
        </p:nvSpPr>
        <p:spPr>
          <a:xfrm>
            <a:off x="1947264" y="3337340"/>
            <a:ext cx="8492136" cy="1940395"/>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18" name="Groupe 17">
            <a:extLst>
              <a:ext uri="{FF2B5EF4-FFF2-40B4-BE49-F238E27FC236}">
                <a16:creationId xmlns:a16="http://schemas.microsoft.com/office/drawing/2014/main" id="{998B4A0B-E076-41DC-5A4A-4FB3C54F1CAF}"/>
              </a:ext>
            </a:extLst>
          </p:cNvPr>
          <p:cNvGrpSpPr/>
          <p:nvPr/>
        </p:nvGrpSpPr>
        <p:grpSpPr>
          <a:xfrm>
            <a:off x="1234245" y="3674299"/>
            <a:ext cx="547042" cy="547042"/>
            <a:chOff x="2883144" y="3841563"/>
            <a:chExt cx="1249169" cy="1249169"/>
          </a:xfrm>
        </p:grpSpPr>
        <p:sp>
          <p:nvSpPr>
            <p:cNvPr id="111" name="Oval 110">
              <a:extLst>
                <a:ext uri="{FF2B5EF4-FFF2-40B4-BE49-F238E27FC236}">
                  <a16:creationId xmlns:a16="http://schemas.microsoft.com/office/drawing/2014/main" id="{A4322588-CB02-C60D-5060-321354C3EC40}"/>
                </a:ext>
              </a:extLst>
            </p:cNvPr>
            <p:cNvSpPr/>
            <p:nvPr/>
          </p:nvSpPr>
          <p:spPr>
            <a:xfrm>
              <a:off x="2883144" y="3841563"/>
              <a:ext cx="1249169" cy="1249169"/>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63C1CB31-F4D2-4F05-DDFE-185ED4B497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177494" y="4135913"/>
              <a:ext cx="660468" cy="660468"/>
            </a:xfrm>
            <a:prstGeom prst="rect">
              <a:avLst/>
            </a:prstGeom>
          </p:spPr>
        </p:pic>
      </p:grpSp>
      <p:sp>
        <p:nvSpPr>
          <p:cNvPr id="9" name="TextBox 1">
            <a:extLst>
              <a:ext uri="{FF2B5EF4-FFF2-40B4-BE49-F238E27FC236}">
                <a16:creationId xmlns:a16="http://schemas.microsoft.com/office/drawing/2014/main" id="{1144A71F-CF04-F96E-23E2-41FE7CD23655}"/>
              </a:ext>
            </a:extLst>
          </p:cNvPr>
          <p:cNvSpPr txBox="1"/>
          <p:nvPr/>
        </p:nvSpPr>
        <p:spPr>
          <a:xfrm>
            <a:off x="755087" y="480115"/>
            <a:ext cx="610124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Conclusion</a:t>
            </a:r>
            <a:endParaRPr lang="en-US" sz="2800" b="1" dirty="0">
              <a:solidFill>
                <a:schemeClr val="accent1">
                  <a:lumMod val="60000"/>
                  <a:lumOff val="40000"/>
                </a:schemeClr>
              </a:solidFill>
              <a:latin typeface="Space Grotesk Medium"/>
              <a:sym typeface="Manrope"/>
            </a:endParaRPr>
          </a:p>
        </p:txBody>
      </p:sp>
      <p:sp>
        <p:nvSpPr>
          <p:cNvPr id="4" name="TextBox 3">
            <a:extLst>
              <a:ext uri="{FF2B5EF4-FFF2-40B4-BE49-F238E27FC236}">
                <a16:creationId xmlns:a16="http://schemas.microsoft.com/office/drawing/2014/main" id="{0F7DB586-DB4E-A957-D40C-DF8D9C2DD7CA}"/>
              </a:ext>
            </a:extLst>
          </p:cNvPr>
          <p:cNvSpPr txBox="1"/>
          <p:nvPr/>
        </p:nvSpPr>
        <p:spPr>
          <a:xfrm>
            <a:off x="2152140" y="3640997"/>
            <a:ext cx="8082384" cy="1290803"/>
          </a:xfrm>
          <a:prstGeom prst="rect">
            <a:avLst/>
          </a:prstGeom>
          <a:noFill/>
        </p:spPr>
        <p:txBody>
          <a:bodyPr wrap="square" rtlCol="0">
            <a:spAutoFit/>
          </a:bodyPr>
          <a:lstStyle/>
          <a:p>
            <a:pPr>
              <a:lnSpc>
                <a:spcPct val="110000"/>
              </a:lnSpc>
            </a:pPr>
            <a:r>
              <a:rPr lang="fr-FR" sz="2400" dirty="0">
                <a:latin typeface="Figtree"/>
              </a:rPr>
              <a:t>Elle permet d'automatiser les tâches à faible valeur ajoutée, faisant ainsi émerger la véritable rareté du métier : </a:t>
            </a:r>
            <a:r>
              <a:rPr lang="fr-FR" sz="2400" b="1" dirty="0">
                <a:latin typeface="Figtree"/>
              </a:rPr>
              <a:t>le jugement de l'expert</a:t>
            </a:r>
            <a:r>
              <a:rPr lang="fr-FR" sz="2400" dirty="0">
                <a:latin typeface="Figtree"/>
              </a:rPr>
              <a:t>.</a:t>
            </a:r>
            <a:endParaRPr lang="en-US" sz="2400" dirty="0">
              <a:solidFill>
                <a:schemeClr val="accent1">
                  <a:lumMod val="60000"/>
                  <a:lumOff val="40000"/>
                </a:schemeClr>
              </a:solidFill>
              <a:latin typeface="Figtree"/>
              <a:ea typeface="Manrope Medium"/>
              <a:cs typeface="Manrope Medium"/>
              <a:sym typeface="Manrope Medium"/>
            </a:endParaRPr>
          </a:p>
        </p:txBody>
      </p:sp>
    </p:spTree>
    <p:extLst>
      <p:ext uri="{BB962C8B-B14F-4D97-AF65-F5344CB8AC3E}">
        <p14:creationId xmlns:p14="http://schemas.microsoft.com/office/powerpoint/2010/main" val="339438054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B7A721-1129-104D-34CF-78AB888E63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FE41AE-0ED1-BC4D-BC4C-55AC5247E842}"/>
              </a:ext>
            </a:extLst>
          </p:cNvPr>
          <p:cNvSpPr txBox="1"/>
          <p:nvPr/>
        </p:nvSpPr>
        <p:spPr>
          <a:xfrm>
            <a:off x="755088" y="1122647"/>
            <a:ext cx="3109342" cy="3477875"/>
          </a:xfrm>
          <a:prstGeom prst="rect">
            <a:avLst/>
          </a:prstGeom>
          <a:noFill/>
        </p:spPr>
        <p:txBody>
          <a:bodyPr wrap="square" rtlCol="0">
            <a:spAutoFit/>
          </a:bodyPr>
          <a:lstStyle/>
          <a:p>
            <a:r>
              <a:rPr lang="fr-FR" sz="4400" dirty="0">
                <a:latin typeface="Space Grotesk Medium"/>
              </a:rPr>
              <a:t>5 règles d’or </a:t>
            </a:r>
          </a:p>
          <a:p>
            <a:r>
              <a:rPr lang="fr-FR" sz="4400" dirty="0">
                <a:latin typeface="Space Grotesk Medium"/>
              </a:rPr>
              <a:t>pour une </a:t>
            </a:r>
          </a:p>
          <a:p>
            <a:r>
              <a:rPr lang="fr-FR" sz="4400" dirty="0">
                <a:latin typeface="Space Grotesk Medium"/>
              </a:rPr>
              <a:t>maîtrise </a:t>
            </a:r>
          </a:p>
          <a:p>
            <a:r>
              <a:rPr lang="fr-FR" sz="4400" dirty="0">
                <a:latin typeface="Space Grotesk Medium"/>
              </a:rPr>
              <a:t>de l’IA</a:t>
            </a:r>
          </a:p>
          <a:p>
            <a:endParaRPr lang="fr-FR" sz="4400" dirty="0">
              <a:latin typeface="Space Grotesk Medium"/>
            </a:endParaRPr>
          </a:p>
        </p:txBody>
      </p:sp>
      <p:sp>
        <p:nvSpPr>
          <p:cNvPr id="11" name="Freeform: Shape 10">
            <a:extLst>
              <a:ext uri="{FF2B5EF4-FFF2-40B4-BE49-F238E27FC236}">
                <a16:creationId xmlns:a16="http://schemas.microsoft.com/office/drawing/2014/main" id="{ED105464-7E3C-211E-34F2-09A758691D1D}"/>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e 17">
            <a:extLst>
              <a:ext uri="{FF2B5EF4-FFF2-40B4-BE49-F238E27FC236}">
                <a16:creationId xmlns:a16="http://schemas.microsoft.com/office/drawing/2014/main" id="{83BDE223-8DC3-3570-9370-1599AC888963}"/>
              </a:ext>
            </a:extLst>
          </p:cNvPr>
          <p:cNvGrpSpPr/>
          <p:nvPr/>
        </p:nvGrpSpPr>
        <p:grpSpPr>
          <a:xfrm>
            <a:off x="3153300" y="263537"/>
            <a:ext cx="547042" cy="547042"/>
            <a:chOff x="2883144" y="3841563"/>
            <a:chExt cx="1249169" cy="1249169"/>
          </a:xfrm>
        </p:grpSpPr>
        <p:sp>
          <p:nvSpPr>
            <p:cNvPr id="111" name="Oval 110">
              <a:extLst>
                <a:ext uri="{FF2B5EF4-FFF2-40B4-BE49-F238E27FC236}">
                  <a16:creationId xmlns:a16="http://schemas.microsoft.com/office/drawing/2014/main" id="{E1C6A78D-78BF-529A-2E88-059EFA51B5F2}"/>
                </a:ext>
              </a:extLst>
            </p:cNvPr>
            <p:cNvSpPr/>
            <p:nvPr/>
          </p:nvSpPr>
          <p:spPr>
            <a:xfrm>
              <a:off x="2883144" y="3841563"/>
              <a:ext cx="1249169" cy="1249169"/>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CB71C163-4EF0-8259-0FA6-051FB209BC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177494" y="4135913"/>
              <a:ext cx="660468" cy="660468"/>
            </a:xfrm>
            <a:prstGeom prst="rect">
              <a:avLst/>
            </a:prstGeom>
          </p:spPr>
        </p:pic>
      </p:grpSp>
      <p:sp>
        <p:nvSpPr>
          <p:cNvPr id="9" name="TextBox 1">
            <a:extLst>
              <a:ext uri="{FF2B5EF4-FFF2-40B4-BE49-F238E27FC236}">
                <a16:creationId xmlns:a16="http://schemas.microsoft.com/office/drawing/2014/main" id="{87855534-3D6A-BA22-080C-29B65FFDC4AB}"/>
              </a:ext>
            </a:extLst>
          </p:cNvPr>
          <p:cNvSpPr txBox="1"/>
          <p:nvPr/>
        </p:nvSpPr>
        <p:spPr>
          <a:xfrm>
            <a:off x="755087" y="480115"/>
            <a:ext cx="223412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Conclusion</a:t>
            </a:r>
            <a:endParaRPr lang="en-US" sz="2800" b="1" dirty="0">
              <a:solidFill>
                <a:schemeClr val="accent1">
                  <a:lumMod val="60000"/>
                  <a:lumOff val="40000"/>
                </a:schemeClr>
              </a:solidFill>
              <a:latin typeface="Space Grotesk Medium"/>
              <a:sym typeface="Manrope"/>
            </a:endParaRPr>
          </a:p>
        </p:txBody>
      </p:sp>
      <p:sp>
        <p:nvSpPr>
          <p:cNvPr id="6" name="Rectangle: Rounded Corners 108">
            <a:extLst>
              <a:ext uri="{FF2B5EF4-FFF2-40B4-BE49-F238E27FC236}">
                <a16:creationId xmlns:a16="http://schemas.microsoft.com/office/drawing/2014/main" id="{2E0E0399-FB39-A95F-4B47-795BC028EC7C}"/>
              </a:ext>
            </a:extLst>
          </p:cNvPr>
          <p:cNvSpPr/>
          <p:nvPr/>
        </p:nvSpPr>
        <p:spPr>
          <a:xfrm>
            <a:off x="3864430" y="261029"/>
            <a:ext cx="7880038" cy="1099101"/>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4" name="TextBox 3">
            <a:extLst>
              <a:ext uri="{FF2B5EF4-FFF2-40B4-BE49-F238E27FC236}">
                <a16:creationId xmlns:a16="http://schemas.microsoft.com/office/drawing/2014/main" id="{21E20161-9C18-9234-85A9-58F030A69E0D}"/>
              </a:ext>
            </a:extLst>
          </p:cNvPr>
          <p:cNvSpPr txBox="1"/>
          <p:nvPr/>
        </p:nvSpPr>
        <p:spPr>
          <a:xfrm>
            <a:off x="3957216" y="343925"/>
            <a:ext cx="8082384" cy="6033960"/>
          </a:xfrm>
          <a:prstGeom prst="rect">
            <a:avLst/>
          </a:prstGeom>
          <a:noFill/>
        </p:spPr>
        <p:txBody>
          <a:bodyPr wrap="square" rtlCol="0">
            <a:spAutoFit/>
          </a:bodyPr>
          <a:lstStyle/>
          <a:p>
            <a:pPr>
              <a:lnSpc>
                <a:spcPct val="110000"/>
              </a:lnSpc>
            </a:pPr>
            <a:r>
              <a:rPr lang="fr-FR" sz="2400" dirty="0">
                <a:latin typeface="Figtree"/>
              </a:rPr>
              <a:t>Pour éviter les pièges de la dépendance technologique et des biais, l'expert doit adhérer à des principes fondamentaux :</a:t>
            </a:r>
          </a:p>
          <a:p>
            <a:pPr>
              <a:lnSpc>
                <a:spcPct val="110000"/>
              </a:lnSpc>
            </a:pPr>
            <a:endParaRPr lang="fr-FR" sz="2400" dirty="0">
              <a:latin typeface="Figtree"/>
            </a:endParaRPr>
          </a:p>
          <a:p>
            <a:pPr>
              <a:lnSpc>
                <a:spcPct val="110000"/>
              </a:lnSpc>
            </a:pPr>
            <a:r>
              <a:rPr lang="fr-FR" sz="2000" dirty="0">
                <a:latin typeface="Figtree"/>
              </a:rPr>
              <a:t>1- </a:t>
            </a:r>
            <a:r>
              <a:rPr lang="fr-FR" sz="2000" b="1" dirty="0">
                <a:latin typeface="Figtree"/>
              </a:rPr>
              <a:t>La responsabilité est intransférable </a:t>
            </a:r>
            <a:r>
              <a:rPr lang="fr-FR" sz="2000" dirty="0">
                <a:latin typeface="Figtree"/>
              </a:rPr>
              <a:t>: L'expert est le seul garant de l'évaluation fournie. L'IA demeure une simple aide à la décision.</a:t>
            </a:r>
          </a:p>
          <a:p>
            <a:pPr>
              <a:lnSpc>
                <a:spcPct val="110000"/>
              </a:lnSpc>
            </a:pPr>
            <a:r>
              <a:rPr lang="fr-FR" sz="2000" dirty="0">
                <a:latin typeface="Figtree"/>
              </a:rPr>
              <a:t>2- </a:t>
            </a:r>
            <a:r>
              <a:rPr lang="fr-FR" sz="2000" b="1" dirty="0">
                <a:latin typeface="Figtree"/>
              </a:rPr>
              <a:t>La confrontation des résultats est obligatoire </a:t>
            </a:r>
            <a:r>
              <a:rPr lang="fr-FR" sz="2000" dirty="0">
                <a:latin typeface="Figtree"/>
              </a:rPr>
              <a:t>: Les analyses de l'IA doivent être systématiquement mises en regard du marché réel, du jugement professionnel et des ratios critiques vérifiés manuellement.</a:t>
            </a:r>
          </a:p>
          <a:p>
            <a:pPr>
              <a:lnSpc>
                <a:spcPct val="110000"/>
              </a:lnSpc>
            </a:pPr>
            <a:r>
              <a:rPr lang="fr-FR" sz="2000" dirty="0">
                <a:latin typeface="Figtree"/>
              </a:rPr>
              <a:t>3- </a:t>
            </a:r>
            <a:r>
              <a:rPr lang="fr-FR" sz="2000" b="1" dirty="0">
                <a:latin typeface="Figtree"/>
              </a:rPr>
              <a:t>La traçabilité est essentielle </a:t>
            </a:r>
            <a:r>
              <a:rPr lang="fr-FR" sz="2000" dirty="0">
                <a:latin typeface="Figtree"/>
              </a:rPr>
              <a:t>: Il est impératif de documenter la source, la version de l'outil, la date d'utilisation et surtout le prompt exact utilisé pour l'analyse.</a:t>
            </a:r>
          </a:p>
          <a:p>
            <a:pPr>
              <a:lnSpc>
                <a:spcPct val="110000"/>
              </a:lnSpc>
            </a:pPr>
            <a:r>
              <a:rPr lang="fr-FR" sz="2000" dirty="0">
                <a:latin typeface="Figtree"/>
              </a:rPr>
              <a:t>4- </a:t>
            </a:r>
            <a:r>
              <a:rPr lang="fr-FR" sz="2000" b="1" dirty="0">
                <a:latin typeface="Figtree"/>
              </a:rPr>
              <a:t>La maîtrise des fondamentaux est la base </a:t>
            </a:r>
            <a:r>
              <a:rPr lang="fr-FR" sz="2000" dirty="0">
                <a:latin typeface="Figtree"/>
              </a:rPr>
              <a:t>: L'IA amplifie les compétences existantes, elle ne comble pas les lacunes. Une solide base technique est indispensable.</a:t>
            </a:r>
          </a:p>
          <a:p>
            <a:pPr>
              <a:lnSpc>
                <a:spcPct val="110000"/>
              </a:lnSpc>
            </a:pPr>
            <a:r>
              <a:rPr lang="fr-FR" sz="2000" dirty="0">
                <a:latin typeface="Figtree"/>
              </a:rPr>
              <a:t>5- </a:t>
            </a:r>
            <a:r>
              <a:rPr lang="fr-FR" sz="2000" b="1" dirty="0">
                <a:latin typeface="Figtree"/>
              </a:rPr>
              <a:t>La diversification des outils est vitale </a:t>
            </a:r>
            <a:r>
              <a:rPr lang="fr-FR" sz="2000" dirty="0">
                <a:latin typeface="Figtree"/>
              </a:rPr>
              <a:t>: Il est recommandé de ne pas dépendre d'un seul fournisseur technologique pour assurer la continuité de service et la neutralité des sources.</a:t>
            </a:r>
          </a:p>
        </p:txBody>
      </p:sp>
    </p:spTree>
    <p:extLst>
      <p:ext uri="{BB962C8B-B14F-4D97-AF65-F5344CB8AC3E}">
        <p14:creationId xmlns:p14="http://schemas.microsoft.com/office/powerpoint/2010/main" val="16722109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ACE198-9388-9D9D-1C11-345A050EA57B}"/>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2FDA62CD-9EAB-806F-379A-912F623080A0}"/>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e 17">
            <a:extLst>
              <a:ext uri="{FF2B5EF4-FFF2-40B4-BE49-F238E27FC236}">
                <a16:creationId xmlns:a16="http://schemas.microsoft.com/office/drawing/2014/main" id="{2A88C10D-543A-A3DE-8F2A-1DF2E8691CC3}"/>
              </a:ext>
            </a:extLst>
          </p:cNvPr>
          <p:cNvGrpSpPr/>
          <p:nvPr/>
        </p:nvGrpSpPr>
        <p:grpSpPr>
          <a:xfrm>
            <a:off x="3153300" y="263537"/>
            <a:ext cx="547042" cy="547042"/>
            <a:chOff x="2883144" y="3841563"/>
            <a:chExt cx="1249169" cy="1249169"/>
          </a:xfrm>
        </p:grpSpPr>
        <p:sp>
          <p:nvSpPr>
            <p:cNvPr id="111" name="Oval 110">
              <a:extLst>
                <a:ext uri="{FF2B5EF4-FFF2-40B4-BE49-F238E27FC236}">
                  <a16:creationId xmlns:a16="http://schemas.microsoft.com/office/drawing/2014/main" id="{C53E5A5F-707A-3F1A-7A4E-4DEEDF730D4C}"/>
                </a:ext>
              </a:extLst>
            </p:cNvPr>
            <p:cNvSpPr/>
            <p:nvPr/>
          </p:nvSpPr>
          <p:spPr>
            <a:xfrm>
              <a:off x="2883144" y="3841563"/>
              <a:ext cx="1249169" cy="1249169"/>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16CBC3E9-F8E6-C66C-28D2-43B4EC549D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177494" y="4135913"/>
              <a:ext cx="660468" cy="660468"/>
            </a:xfrm>
            <a:prstGeom prst="rect">
              <a:avLst/>
            </a:prstGeom>
          </p:spPr>
        </p:pic>
      </p:grpSp>
      <p:sp>
        <p:nvSpPr>
          <p:cNvPr id="9" name="TextBox 1">
            <a:extLst>
              <a:ext uri="{FF2B5EF4-FFF2-40B4-BE49-F238E27FC236}">
                <a16:creationId xmlns:a16="http://schemas.microsoft.com/office/drawing/2014/main" id="{C1897EA6-8A31-0998-33B6-C50A02DC0488}"/>
              </a:ext>
            </a:extLst>
          </p:cNvPr>
          <p:cNvSpPr txBox="1"/>
          <p:nvPr/>
        </p:nvSpPr>
        <p:spPr>
          <a:xfrm>
            <a:off x="755087" y="480115"/>
            <a:ext cx="223412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Conclusion</a:t>
            </a:r>
            <a:endParaRPr lang="en-US" sz="2800" b="1" dirty="0">
              <a:solidFill>
                <a:schemeClr val="accent1">
                  <a:lumMod val="60000"/>
                  <a:lumOff val="40000"/>
                </a:schemeClr>
              </a:solidFill>
              <a:latin typeface="Space Grotesk Medium"/>
              <a:sym typeface="Manrope"/>
            </a:endParaRPr>
          </a:p>
        </p:txBody>
      </p:sp>
      <p:sp>
        <p:nvSpPr>
          <p:cNvPr id="6" name="Rectangle: Rounded Corners 108">
            <a:extLst>
              <a:ext uri="{FF2B5EF4-FFF2-40B4-BE49-F238E27FC236}">
                <a16:creationId xmlns:a16="http://schemas.microsoft.com/office/drawing/2014/main" id="{BB134DCE-01B8-1FEF-2825-37534DA64887}"/>
              </a:ext>
            </a:extLst>
          </p:cNvPr>
          <p:cNvSpPr/>
          <p:nvPr/>
        </p:nvSpPr>
        <p:spPr>
          <a:xfrm>
            <a:off x="3864430" y="261029"/>
            <a:ext cx="7880038" cy="1099101"/>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4" name="TextBox 3">
            <a:extLst>
              <a:ext uri="{FF2B5EF4-FFF2-40B4-BE49-F238E27FC236}">
                <a16:creationId xmlns:a16="http://schemas.microsoft.com/office/drawing/2014/main" id="{96E01122-C97D-AA6D-BF88-10C9A7A1C807}"/>
              </a:ext>
            </a:extLst>
          </p:cNvPr>
          <p:cNvSpPr txBox="1"/>
          <p:nvPr/>
        </p:nvSpPr>
        <p:spPr>
          <a:xfrm>
            <a:off x="1084730" y="810578"/>
            <a:ext cx="10793506" cy="5559984"/>
          </a:xfrm>
          <a:prstGeom prst="rect">
            <a:avLst/>
          </a:prstGeom>
          <a:noFill/>
        </p:spPr>
        <p:txBody>
          <a:bodyPr wrap="square" rtlCol="0">
            <a:spAutoFit/>
          </a:bodyPr>
          <a:lstStyle/>
          <a:p>
            <a:pPr>
              <a:lnSpc>
                <a:spcPct val="110000"/>
              </a:lnSpc>
            </a:pPr>
            <a:endParaRPr lang="fr-FR" sz="2400" dirty="0">
              <a:latin typeface="Figtree"/>
            </a:endParaRPr>
          </a:p>
          <a:p>
            <a:pPr>
              <a:lnSpc>
                <a:spcPct val="110000"/>
              </a:lnSpc>
            </a:pPr>
            <a:r>
              <a:rPr lang="fr-FR" sz="2000" dirty="0">
                <a:latin typeface="Figtree"/>
              </a:rPr>
              <a:t>Clôture de la formation (5 min)Le formateur conclut en trois phrases, sans slides, </a:t>
            </a:r>
            <a:r>
              <a:rPr lang="fr-FR" sz="2000" dirty="0" err="1">
                <a:latin typeface="Figtree"/>
              </a:rPr>
              <a:t>debout.La</a:t>
            </a:r>
            <a:r>
              <a:rPr lang="fr-FR" sz="2000" dirty="0">
                <a:latin typeface="Figtree"/>
              </a:rPr>
              <a:t> première : vous avez appris aujourd'hui à utiliser un outil. Mais l'outil ne vaut que ce que vous lui donnez — la qualité de vos notes de visite, la rigueur de votre sélection des comparables, la solidité de votre jugement d'expert. C'est ça qui fait la valeur du rapport, pas le </a:t>
            </a:r>
            <a:r>
              <a:rPr lang="fr-FR" sz="2000" dirty="0" err="1">
                <a:latin typeface="Figtree"/>
              </a:rPr>
              <a:t>rédacteur.La</a:t>
            </a:r>
            <a:r>
              <a:rPr lang="fr-FR" sz="2000" dirty="0">
                <a:latin typeface="Figtree"/>
              </a:rPr>
              <a:t> deuxième : dans dix ans, les experts qui n'utilisent pas l'IA passeront plus de temps à rédiger et moins de temps à expertiser. Ceux qui l'utilisent bien auront le temps de se concentrer sur ce qui ne peut pas être délégué — la visite, l'analyse, le </a:t>
            </a:r>
            <a:r>
              <a:rPr lang="fr-FR" sz="2000" dirty="0" err="1">
                <a:latin typeface="Figtree"/>
              </a:rPr>
              <a:t>jugement.La</a:t>
            </a:r>
            <a:r>
              <a:rPr lang="fr-FR" sz="2000" dirty="0">
                <a:latin typeface="Figtree"/>
              </a:rPr>
              <a:t> troisième : la formation est finie. La pratique commence </a:t>
            </a:r>
            <a:r>
              <a:rPr lang="fr-FR" sz="2000" dirty="0" err="1">
                <a:latin typeface="Figtree"/>
              </a:rPr>
              <a:t>lundi.Ressources</a:t>
            </a:r>
            <a:r>
              <a:rPr lang="fr-FR" sz="2000" dirty="0">
                <a:latin typeface="Figtree"/>
              </a:rPr>
              <a:t> à distribuer en fin de </a:t>
            </a:r>
            <a:r>
              <a:rPr lang="fr-FR" sz="2000" dirty="0" err="1">
                <a:latin typeface="Figtree"/>
              </a:rPr>
              <a:t>formationRemettez</a:t>
            </a:r>
            <a:r>
              <a:rPr lang="fr-FR" sz="2000" dirty="0">
                <a:latin typeface="Figtree"/>
              </a:rPr>
              <a:t> à chaque stagiaire un document de deux pages récapitulant :La bibliothèque de prompts modèles couvrant les huit sections du rapport, telle que construite au fil des modules 2, 3 et 4, avec les quatre prompts de relecture </a:t>
            </a:r>
            <a:r>
              <a:rPr lang="fr-FR" sz="2000" dirty="0" err="1">
                <a:latin typeface="Figtree"/>
              </a:rPr>
              <a:t>qualité.Le</a:t>
            </a:r>
            <a:r>
              <a:rPr lang="fr-FR" sz="2000" dirty="0">
                <a:latin typeface="Figtree"/>
              </a:rPr>
              <a:t> tableau de répartition des tâches IA / expert, à afficher dans leur espace de travail comme aide-mémoire des limites à ne pas </a:t>
            </a:r>
            <a:r>
              <a:rPr lang="fr-FR" sz="2000" dirty="0" err="1">
                <a:latin typeface="Figtree"/>
              </a:rPr>
              <a:t>franchir.Les</a:t>
            </a:r>
            <a:r>
              <a:rPr lang="fr-FR" sz="2000" dirty="0">
                <a:latin typeface="Figtree"/>
              </a:rPr>
              <a:t> quatre règles de confidentialité, avec les paramètres à activer sur Claude et </a:t>
            </a:r>
            <a:r>
              <a:rPr lang="fr-FR" sz="2000" dirty="0" err="1">
                <a:latin typeface="Figtree"/>
              </a:rPr>
              <a:t>ChatGPT</a:t>
            </a:r>
            <a:r>
              <a:rPr lang="fr-FR" sz="2000" dirty="0">
                <a:latin typeface="Figtree"/>
              </a:rPr>
              <a:t> avant tout usage </a:t>
            </a:r>
            <a:r>
              <a:rPr lang="fr-FR" sz="2000" dirty="0" err="1">
                <a:latin typeface="Figtree"/>
              </a:rPr>
              <a:t>professionnel.La</a:t>
            </a:r>
            <a:r>
              <a:rPr lang="fr-FR" sz="2000" dirty="0">
                <a:latin typeface="Figtree"/>
              </a:rPr>
              <a:t> checklist de vérification en cinq points à appliquer avant de finaliser chaque rapport : cohérence des chiffres, ton judiciaire, complétude des sections, vérification des calculs IA, et formule de certification.</a:t>
            </a:r>
          </a:p>
        </p:txBody>
      </p:sp>
    </p:spTree>
    <p:extLst>
      <p:ext uri="{BB962C8B-B14F-4D97-AF65-F5344CB8AC3E}">
        <p14:creationId xmlns:p14="http://schemas.microsoft.com/office/powerpoint/2010/main" val="191889647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DAF4E72-BEAC-FEFD-941A-03ED447953DA}"/>
            </a:ext>
          </a:extLst>
        </p:cNvPr>
        <p:cNvGrpSpPr/>
        <p:nvPr/>
      </p:nvGrpSpPr>
      <p:grpSpPr>
        <a:xfrm>
          <a:off x="0" y="0"/>
          <a:ext cx="0" cy="0"/>
          <a:chOff x="0" y="0"/>
          <a:chExt cx="0" cy="0"/>
        </a:xfrm>
      </p:grpSpPr>
      <p:sp>
        <p:nvSpPr>
          <p:cNvPr id="13" name="Freeform: Shape 3">
            <a:extLst>
              <a:ext uri="{FF2B5EF4-FFF2-40B4-BE49-F238E27FC236}">
                <a16:creationId xmlns:a16="http://schemas.microsoft.com/office/drawing/2014/main" id="{5EAB7FB1-E98F-52DC-FF04-E450998D0FA1}"/>
              </a:ext>
            </a:extLst>
          </p:cNvPr>
          <p:cNvSpPr/>
          <p:nvPr/>
        </p:nvSpPr>
        <p:spPr>
          <a:xfrm>
            <a:off x="55768" y="-734681"/>
            <a:ext cx="3272450" cy="3272450"/>
          </a:xfrm>
          <a:custGeom>
            <a:avLst/>
            <a:gdLst>
              <a:gd name="connsiteX0" fmla="*/ 3062513 w 6125028"/>
              <a:gd name="connsiteY0" fmla="*/ 1464961 h 6125028"/>
              <a:gd name="connsiteX1" fmla="*/ 1483260 w 6125028"/>
              <a:gd name="connsiteY1" fmla="*/ 3044214 h 6125028"/>
              <a:gd name="connsiteX2" fmla="*/ 3062513 w 6125028"/>
              <a:gd name="connsiteY2" fmla="*/ 4623467 h 6125028"/>
              <a:gd name="connsiteX3" fmla="*/ 4641766 w 6125028"/>
              <a:gd name="connsiteY3" fmla="*/ 3044214 h 6125028"/>
              <a:gd name="connsiteX4" fmla="*/ 3062513 w 6125028"/>
              <a:gd name="connsiteY4" fmla="*/ 1464961 h 6125028"/>
              <a:gd name="connsiteX5" fmla="*/ 3062515 w 6125028"/>
              <a:gd name="connsiteY5" fmla="*/ 0 h 6125028"/>
              <a:gd name="connsiteX6" fmla="*/ 6125028 w 6125028"/>
              <a:gd name="connsiteY6" fmla="*/ 3062514 h 6125028"/>
              <a:gd name="connsiteX7" fmla="*/ 3062515 w 6125028"/>
              <a:gd name="connsiteY7" fmla="*/ 6125028 h 6125028"/>
              <a:gd name="connsiteX8" fmla="*/ 0 w 6125028"/>
              <a:gd name="connsiteY8" fmla="*/ 3062514 h 6125028"/>
              <a:gd name="connsiteX9" fmla="*/ 3062515 w 6125028"/>
              <a:gd name="connsiteY9" fmla="*/ 0 h 612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5028" h="6125028">
                <a:moveTo>
                  <a:pt x="3062513" y="1464961"/>
                </a:moveTo>
                <a:cubicBezTo>
                  <a:pt x="2190316" y="1464961"/>
                  <a:pt x="1483260" y="2172016"/>
                  <a:pt x="1483260" y="3044214"/>
                </a:cubicBezTo>
                <a:cubicBezTo>
                  <a:pt x="1483260" y="3916411"/>
                  <a:pt x="2190316" y="4623467"/>
                  <a:pt x="3062513" y="4623467"/>
                </a:cubicBezTo>
                <a:cubicBezTo>
                  <a:pt x="3934711" y="4623467"/>
                  <a:pt x="4641766" y="3916411"/>
                  <a:pt x="4641766" y="3044214"/>
                </a:cubicBezTo>
                <a:cubicBezTo>
                  <a:pt x="4641766" y="2172016"/>
                  <a:pt x="3934711" y="1464961"/>
                  <a:pt x="3062513" y="1464961"/>
                </a:cubicBezTo>
                <a:close/>
                <a:moveTo>
                  <a:pt x="3062515" y="0"/>
                </a:moveTo>
                <a:cubicBezTo>
                  <a:pt x="4753894" y="0"/>
                  <a:pt x="6125028" y="1371135"/>
                  <a:pt x="6125028" y="3062514"/>
                </a:cubicBezTo>
                <a:cubicBezTo>
                  <a:pt x="6125028" y="4753894"/>
                  <a:pt x="4753894" y="6125028"/>
                  <a:pt x="3062515" y="6125028"/>
                </a:cubicBezTo>
                <a:cubicBezTo>
                  <a:pt x="1371135" y="6125028"/>
                  <a:pt x="0" y="4753894"/>
                  <a:pt x="0" y="3062514"/>
                </a:cubicBezTo>
                <a:cubicBezTo>
                  <a:pt x="0" y="1371135"/>
                  <a:pt x="1371135" y="0"/>
                  <a:pt x="3062515" y="0"/>
                </a:cubicBezTo>
                <a:close/>
              </a:path>
            </a:pathLst>
          </a:custGeom>
          <a:gradFill>
            <a:gsLst>
              <a:gs pos="0">
                <a:schemeClr val="accent1"/>
              </a:gs>
              <a:gs pos="70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Rounded Corners 14">
            <a:extLst>
              <a:ext uri="{FF2B5EF4-FFF2-40B4-BE49-F238E27FC236}">
                <a16:creationId xmlns:a16="http://schemas.microsoft.com/office/drawing/2014/main" id="{4FCCC4F2-D895-99C8-1CAB-C2AE3172F93C}"/>
              </a:ext>
            </a:extLst>
          </p:cNvPr>
          <p:cNvSpPr/>
          <p:nvPr/>
        </p:nvSpPr>
        <p:spPr>
          <a:xfrm>
            <a:off x="3495795" y="279980"/>
            <a:ext cx="7641392" cy="1778495"/>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18840A8E-AD6B-FD42-0868-3A384B6EC033}"/>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C9713ED-8708-77E0-4867-101985E56BF7}"/>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
            <a:extLst>
              <a:ext uri="{FF2B5EF4-FFF2-40B4-BE49-F238E27FC236}">
                <a16:creationId xmlns:a16="http://schemas.microsoft.com/office/drawing/2014/main" id="{F30265B4-44D2-6EBC-B071-14CF95F93232}"/>
              </a:ext>
            </a:extLst>
          </p:cNvPr>
          <p:cNvSpPr txBox="1"/>
          <p:nvPr/>
        </p:nvSpPr>
        <p:spPr>
          <a:xfrm>
            <a:off x="825499" y="439201"/>
            <a:ext cx="1727201" cy="523220"/>
          </a:xfrm>
          <a:prstGeom prst="rect">
            <a:avLst/>
          </a:prstGeom>
          <a:noFill/>
        </p:spPr>
        <p:txBody>
          <a:bodyPr wrap="square" rtlCol="0">
            <a:spAutoFit/>
          </a:bodyPr>
          <a:lstStyle/>
          <a:p>
            <a:pPr algn="ctr"/>
            <a:r>
              <a:rPr lang="fr-FR" sz="2800" b="1" dirty="0">
                <a:solidFill>
                  <a:schemeClr val="accent1">
                    <a:lumMod val="60000"/>
                    <a:lumOff val="40000"/>
                  </a:schemeClr>
                </a:solidFill>
                <a:latin typeface="Space Grotesk Medium"/>
              </a:rPr>
              <a:t>Module 2</a:t>
            </a:r>
            <a:endParaRPr lang="en-US" sz="2800" b="1" dirty="0">
              <a:solidFill>
                <a:schemeClr val="accent1">
                  <a:lumMod val="60000"/>
                  <a:lumOff val="40000"/>
                </a:schemeClr>
              </a:solidFill>
              <a:latin typeface="Space Grotesk Medium"/>
              <a:sym typeface="Manrope"/>
            </a:endParaRPr>
          </a:p>
        </p:txBody>
      </p:sp>
      <p:sp>
        <p:nvSpPr>
          <p:cNvPr id="2" name="TextBox 1">
            <a:extLst>
              <a:ext uri="{FF2B5EF4-FFF2-40B4-BE49-F238E27FC236}">
                <a16:creationId xmlns:a16="http://schemas.microsoft.com/office/drawing/2014/main" id="{67665C77-4A1F-3726-D984-B7F90AF07A45}"/>
              </a:ext>
            </a:extLst>
          </p:cNvPr>
          <p:cNvSpPr txBox="1"/>
          <p:nvPr/>
        </p:nvSpPr>
        <p:spPr>
          <a:xfrm>
            <a:off x="3495795" y="302802"/>
            <a:ext cx="7641391" cy="523220"/>
          </a:xfrm>
          <a:prstGeom prst="rect">
            <a:avLst/>
          </a:prstGeom>
          <a:noFill/>
        </p:spPr>
        <p:txBody>
          <a:bodyPr wrap="square" rtlCol="0">
            <a:spAutoFit/>
          </a:bodyPr>
          <a:lstStyle/>
          <a:p>
            <a:pPr algn="ctr"/>
            <a:r>
              <a:rPr lang="fr-FR" sz="2800" dirty="0">
                <a:solidFill>
                  <a:schemeClr val="tx2"/>
                </a:solidFill>
                <a:latin typeface="Space Grotesk Medium" pitchFamily="2" charset="0"/>
              </a:rPr>
              <a:t>Description et analyse des biens par l'IA</a:t>
            </a:r>
          </a:p>
        </p:txBody>
      </p:sp>
      <p:sp>
        <p:nvSpPr>
          <p:cNvPr id="5" name="TextBox 1">
            <a:extLst>
              <a:ext uri="{FF2B5EF4-FFF2-40B4-BE49-F238E27FC236}">
                <a16:creationId xmlns:a16="http://schemas.microsoft.com/office/drawing/2014/main" id="{AB95BB1F-0D0A-A64B-A682-F02CAA64C650}"/>
              </a:ext>
            </a:extLst>
          </p:cNvPr>
          <p:cNvSpPr txBox="1"/>
          <p:nvPr/>
        </p:nvSpPr>
        <p:spPr>
          <a:xfrm>
            <a:off x="825498" y="826022"/>
            <a:ext cx="1727201" cy="400110"/>
          </a:xfrm>
          <a:prstGeom prst="rect">
            <a:avLst/>
          </a:prstGeom>
          <a:noFill/>
        </p:spPr>
        <p:txBody>
          <a:bodyPr wrap="square" rtlCol="0">
            <a:spAutoFit/>
          </a:bodyPr>
          <a:lstStyle/>
          <a:p>
            <a:pPr algn="ctr"/>
            <a:r>
              <a:rPr lang="fr-FR" sz="2000" b="1" dirty="0">
                <a:solidFill>
                  <a:schemeClr val="accent2"/>
                </a:solidFill>
                <a:latin typeface="Space Grotesk Medium"/>
              </a:rPr>
              <a:t>partie 2</a:t>
            </a:r>
            <a:endParaRPr lang="en-US" sz="2000" b="1" dirty="0">
              <a:solidFill>
                <a:schemeClr val="accent2"/>
              </a:solidFill>
              <a:latin typeface="Space Grotesk Medium"/>
              <a:sym typeface="Manrope"/>
            </a:endParaRPr>
          </a:p>
        </p:txBody>
      </p:sp>
      <p:sp>
        <p:nvSpPr>
          <p:cNvPr id="11" name="ZoneTexte 10">
            <a:extLst>
              <a:ext uri="{FF2B5EF4-FFF2-40B4-BE49-F238E27FC236}">
                <a16:creationId xmlns:a16="http://schemas.microsoft.com/office/drawing/2014/main" id="{E0D01D8D-BD5E-AAA3-1EFB-9611C3D71FFE}"/>
              </a:ext>
            </a:extLst>
          </p:cNvPr>
          <p:cNvSpPr txBox="1"/>
          <p:nvPr/>
        </p:nvSpPr>
        <p:spPr>
          <a:xfrm>
            <a:off x="825498" y="2786835"/>
            <a:ext cx="7051562" cy="954107"/>
          </a:xfrm>
          <a:prstGeom prst="rect">
            <a:avLst/>
          </a:prstGeom>
          <a:noFill/>
        </p:spPr>
        <p:txBody>
          <a:bodyPr wrap="square" rtlCol="0">
            <a:spAutoFit/>
          </a:bodyPr>
          <a:lstStyle/>
          <a:p>
            <a:r>
              <a:rPr lang="fr-FR" sz="2800" dirty="0">
                <a:latin typeface="Figtree"/>
              </a:rPr>
              <a:t>Le mauvais prompt</a:t>
            </a:r>
          </a:p>
          <a:p>
            <a:r>
              <a:rPr lang="fr-FR" sz="2800" b="1" dirty="0">
                <a:latin typeface="Figtree"/>
              </a:rPr>
              <a:t>	« Décris cet appartement… »</a:t>
            </a:r>
          </a:p>
        </p:txBody>
      </p:sp>
      <p:sp>
        <p:nvSpPr>
          <p:cNvPr id="28" name="TextBox 7">
            <a:extLst>
              <a:ext uri="{FF2B5EF4-FFF2-40B4-BE49-F238E27FC236}">
                <a16:creationId xmlns:a16="http://schemas.microsoft.com/office/drawing/2014/main" id="{78E25CEB-9DEB-94EE-A286-03536C7C05B3}"/>
              </a:ext>
            </a:extLst>
          </p:cNvPr>
          <p:cNvSpPr txBox="1"/>
          <p:nvPr/>
        </p:nvSpPr>
        <p:spPr>
          <a:xfrm>
            <a:off x="3495794" y="735036"/>
            <a:ext cx="7641392" cy="132343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nSpc>
                <a:spcPct val="100000"/>
              </a:lnSpc>
            </a:pPr>
            <a:r>
              <a:rPr lang="fr-FR" sz="4000" b="1" dirty="0">
                <a:solidFill>
                  <a:schemeClr val="tx2">
                    <a:alpha val="60000"/>
                  </a:schemeClr>
                </a:solidFill>
              </a:rPr>
              <a:t>Notes brutes </a:t>
            </a:r>
          </a:p>
          <a:p>
            <a:pPr>
              <a:lnSpc>
                <a:spcPct val="100000"/>
              </a:lnSpc>
            </a:pPr>
            <a:r>
              <a:rPr lang="fr-FR" sz="4000" b="1" dirty="0">
                <a:solidFill>
                  <a:schemeClr val="tx2">
                    <a:alpha val="60000"/>
                  </a:schemeClr>
                </a:solidFill>
              </a:rPr>
              <a:t>vs description générée</a:t>
            </a:r>
            <a:endParaRPr lang="en-US" sz="4000" b="1" dirty="0">
              <a:solidFill>
                <a:schemeClr val="tx2">
                  <a:alpha val="60000"/>
                </a:schemeClr>
              </a:solidFill>
            </a:endParaRPr>
          </a:p>
        </p:txBody>
      </p:sp>
      <p:sp>
        <p:nvSpPr>
          <p:cNvPr id="4" name="ZoneTexte 3">
            <a:extLst>
              <a:ext uri="{FF2B5EF4-FFF2-40B4-BE49-F238E27FC236}">
                <a16:creationId xmlns:a16="http://schemas.microsoft.com/office/drawing/2014/main" id="{EAE22336-CC3D-BA33-CFD3-75D70BFB0249}"/>
              </a:ext>
            </a:extLst>
          </p:cNvPr>
          <p:cNvSpPr txBox="1"/>
          <p:nvPr/>
        </p:nvSpPr>
        <p:spPr>
          <a:xfrm>
            <a:off x="1822202" y="4469122"/>
            <a:ext cx="8547596" cy="646331"/>
          </a:xfrm>
          <a:prstGeom prst="rect">
            <a:avLst/>
          </a:prstGeom>
          <a:noFill/>
        </p:spPr>
        <p:txBody>
          <a:bodyPr wrap="none" rtlCol="0">
            <a:spAutoFit/>
          </a:bodyPr>
          <a:lstStyle/>
          <a:p>
            <a:r>
              <a:rPr lang="fr-FR" sz="3600" dirty="0">
                <a:latin typeface="Figtree"/>
              </a:rPr>
              <a:t>Qu'est-ce qui manque dans cette demande ?</a:t>
            </a:r>
          </a:p>
        </p:txBody>
      </p:sp>
      <p:sp>
        <p:nvSpPr>
          <p:cNvPr id="6" name="ZoneTexte 5">
            <a:extLst>
              <a:ext uri="{FF2B5EF4-FFF2-40B4-BE49-F238E27FC236}">
                <a16:creationId xmlns:a16="http://schemas.microsoft.com/office/drawing/2014/main" id="{39BCCA73-A5E4-BD01-FF66-1E1F1DBC9383}"/>
              </a:ext>
            </a:extLst>
          </p:cNvPr>
          <p:cNvSpPr txBox="1"/>
          <p:nvPr/>
        </p:nvSpPr>
        <p:spPr>
          <a:xfrm>
            <a:off x="12341221" y="4907618"/>
            <a:ext cx="4098366" cy="2862322"/>
          </a:xfrm>
          <a:prstGeom prst="rect">
            <a:avLst/>
          </a:prstGeom>
          <a:noFill/>
        </p:spPr>
        <p:txBody>
          <a:bodyPr wrap="none" rtlCol="0">
            <a:spAutoFit/>
          </a:bodyPr>
          <a:lstStyle/>
          <a:p>
            <a:r>
              <a:rPr lang="fr-FR" dirty="0"/>
              <a:t>Faire rechercher par le groupe  :</a:t>
            </a:r>
          </a:p>
          <a:p>
            <a:pPr lvl="0"/>
            <a:r>
              <a:rPr lang="fr-FR" dirty="0"/>
              <a:t>pour qui ? </a:t>
            </a:r>
          </a:p>
          <a:p>
            <a:pPr lvl="0"/>
            <a:r>
              <a:rPr lang="fr-FR" dirty="0"/>
              <a:t>pour quel document ? </a:t>
            </a:r>
          </a:p>
          <a:p>
            <a:pPr lvl="0"/>
            <a:r>
              <a:rPr lang="fr-FR" dirty="0"/>
              <a:t>quel ton ? </a:t>
            </a:r>
          </a:p>
          <a:p>
            <a:pPr lvl="0"/>
            <a:r>
              <a:rPr lang="fr-FR" dirty="0"/>
              <a:t>quelle longueur ? </a:t>
            </a:r>
          </a:p>
          <a:p>
            <a:pPr lvl="0"/>
            <a:r>
              <a:rPr lang="fr-FR" dirty="0"/>
              <a:t>quelles informations privilégier ? </a:t>
            </a:r>
          </a:p>
          <a:p>
            <a:pPr lvl="0"/>
            <a:r>
              <a:rPr lang="fr-FR" dirty="0"/>
              <a:t>peut-on compléter les informations ? </a:t>
            </a:r>
          </a:p>
          <a:p>
            <a:pPr lvl="0"/>
            <a:r>
              <a:rPr lang="fr-FR" dirty="0"/>
              <a:t>doit-on analyser ou simplement décrire ? </a:t>
            </a:r>
          </a:p>
          <a:p>
            <a:pPr lvl="0"/>
            <a:r>
              <a:rPr lang="fr-FR" dirty="0"/>
              <a:t>que faire des informations incertaines ?</a:t>
            </a:r>
          </a:p>
          <a:p>
            <a:endParaRPr lang="fr-FR" dirty="0"/>
          </a:p>
        </p:txBody>
      </p:sp>
    </p:spTree>
    <p:extLst>
      <p:ext uri="{BB962C8B-B14F-4D97-AF65-F5344CB8AC3E}">
        <p14:creationId xmlns:p14="http://schemas.microsoft.com/office/powerpoint/2010/main" val="32470014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9A6F3E4-49DC-7AA0-4A52-CA57EB5B73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FEEBF7-5BAD-6BAE-69D9-B741580A030A}"/>
              </a:ext>
            </a:extLst>
          </p:cNvPr>
          <p:cNvSpPr txBox="1"/>
          <p:nvPr/>
        </p:nvSpPr>
        <p:spPr>
          <a:xfrm>
            <a:off x="755087" y="1122647"/>
            <a:ext cx="6101245" cy="1446550"/>
          </a:xfrm>
          <a:prstGeom prst="rect">
            <a:avLst/>
          </a:prstGeom>
          <a:noFill/>
        </p:spPr>
        <p:txBody>
          <a:bodyPr wrap="square" rtlCol="0">
            <a:spAutoFit/>
          </a:bodyPr>
          <a:lstStyle/>
          <a:p>
            <a:r>
              <a:rPr lang="fr-FR" sz="4400" dirty="0">
                <a:latin typeface="Space Grotesk Medium"/>
              </a:rPr>
              <a:t>Panorama de l'IA pour les experts immobiliers</a:t>
            </a:r>
            <a:endParaRPr lang="en-US" sz="4400" dirty="0">
              <a:solidFill>
                <a:schemeClr val="tx2"/>
              </a:solidFill>
              <a:latin typeface="Space Grotesk Medium"/>
              <a:sym typeface="Manrope"/>
            </a:endParaRPr>
          </a:p>
        </p:txBody>
      </p:sp>
      <p:sp>
        <p:nvSpPr>
          <p:cNvPr id="4" name="TextBox 3">
            <a:extLst>
              <a:ext uri="{FF2B5EF4-FFF2-40B4-BE49-F238E27FC236}">
                <a16:creationId xmlns:a16="http://schemas.microsoft.com/office/drawing/2014/main" id="{38243360-5D60-8BB4-21D6-401CDAC45A4D}"/>
              </a:ext>
            </a:extLst>
          </p:cNvPr>
          <p:cNvSpPr txBox="1"/>
          <p:nvPr/>
        </p:nvSpPr>
        <p:spPr>
          <a:xfrm>
            <a:off x="7405270" y="1216262"/>
            <a:ext cx="3887825" cy="1259319"/>
          </a:xfrm>
          <a:prstGeom prst="rect">
            <a:avLst/>
          </a:prstGeom>
          <a:noFill/>
        </p:spPr>
        <p:txBody>
          <a:bodyPr wrap="square" rtlCol="0">
            <a:spAutoFit/>
          </a:bodyPr>
          <a:lstStyle/>
          <a:p>
            <a:pPr>
              <a:lnSpc>
                <a:spcPct val="150000"/>
              </a:lnSpc>
            </a:pPr>
            <a:r>
              <a:rPr lang="en-US" sz="1300" dirty="0">
                <a:solidFill>
                  <a:schemeClr val="tx2"/>
                </a:solidFill>
                <a:latin typeface="Figtree" pitchFamily="2" charset="0"/>
                <a:ea typeface="Manrope Medium"/>
                <a:cs typeface="Manrope Medium"/>
                <a:sym typeface="Manrope Medium"/>
              </a:rPr>
              <a:t>Welcome, ladies and gentlemen, to a captivating journey into the realm of AI Future, where the marvels of artificial intelligence converge to shape a better tomorrow.</a:t>
            </a:r>
          </a:p>
        </p:txBody>
      </p:sp>
      <p:grpSp>
        <p:nvGrpSpPr>
          <p:cNvPr id="5" name="Groupe 4">
            <a:extLst>
              <a:ext uri="{FF2B5EF4-FFF2-40B4-BE49-F238E27FC236}">
                <a16:creationId xmlns:a16="http://schemas.microsoft.com/office/drawing/2014/main" id="{0BF4DD5E-AAE0-2412-92A1-AD74BB043AAE}"/>
              </a:ext>
            </a:extLst>
          </p:cNvPr>
          <p:cNvGrpSpPr/>
          <p:nvPr/>
        </p:nvGrpSpPr>
        <p:grpSpPr>
          <a:xfrm>
            <a:off x="755087" y="5882029"/>
            <a:ext cx="495856" cy="495856"/>
            <a:chOff x="5126124" y="1788280"/>
            <a:chExt cx="495856" cy="495856"/>
          </a:xfrm>
        </p:grpSpPr>
        <p:sp>
          <p:nvSpPr>
            <p:cNvPr id="27" name="Oval 26">
              <a:extLst>
                <a:ext uri="{FF2B5EF4-FFF2-40B4-BE49-F238E27FC236}">
                  <a16:creationId xmlns:a16="http://schemas.microsoft.com/office/drawing/2014/main" id="{FD70A6F7-4DD1-3899-5902-5CCCF6986FE9}"/>
                </a:ext>
              </a:extLst>
            </p:cNvPr>
            <p:cNvSpPr/>
            <p:nvPr/>
          </p:nvSpPr>
          <p:spPr>
            <a:xfrm>
              <a:off x="5126124" y="1788280"/>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8" name="Straight Arrow Connector 27">
              <a:extLst>
                <a:ext uri="{FF2B5EF4-FFF2-40B4-BE49-F238E27FC236}">
                  <a16:creationId xmlns:a16="http://schemas.microsoft.com/office/drawing/2014/main" id="{6754F40C-2E35-19E3-55F3-942691A066FF}"/>
                </a:ext>
              </a:extLst>
            </p:cNvPr>
            <p:cNvCxnSpPr>
              <a:cxnSpLocks/>
            </p:cNvCxnSpPr>
            <p:nvPr/>
          </p:nvCxnSpPr>
          <p:spPr>
            <a:xfrm flipV="1">
              <a:off x="5297852" y="1960008"/>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grpSp>
      <p:sp>
        <p:nvSpPr>
          <p:cNvPr id="11" name="Freeform: Shape 10">
            <a:extLst>
              <a:ext uri="{FF2B5EF4-FFF2-40B4-BE49-F238E27FC236}">
                <a16:creationId xmlns:a16="http://schemas.microsoft.com/office/drawing/2014/main" id="{4F1DA36A-67D0-F6CB-8873-337C04430E26}"/>
              </a:ext>
            </a:extLst>
          </p:cNvPr>
          <p:cNvSpPr/>
          <p:nvPr/>
        </p:nvSpPr>
        <p:spPr>
          <a:xfrm rot="20482559">
            <a:off x="4123318" y="-2150625"/>
            <a:ext cx="8824686" cy="5123543"/>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269760 w 8824686"/>
              <a:gd name="connsiteY1" fmla="*/ 1849852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653488 w 8824686"/>
              <a:gd name="connsiteY2" fmla="*/ 2397198 h 5132278"/>
              <a:gd name="connsiteX3" fmla="*/ 6560457 w 8824686"/>
              <a:gd name="connsiteY3" fmla="*/ 4688114 h 5132278"/>
              <a:gd name="connsiteX4" fmla="*/ 8824686 w 8824686"/>
              <a:gd name="connsiteY4" fmla="*/ 5123543 h 5132278"/>
              <a:gd name="connsiteX0" fmla="*/ 0 w 8824686"/>
              <a:gd name="connsiteY0" fmla="*/ 0 h 5132278"/>
              <a:gd name="connsiteX1" fmla="*/ 1633220 w 8824686"/>
              <a:gd name="connsiteY1" fmla="*/ 1965699 h 5132278"/>
              <a:gd name="connsiteX2" fmla="*/ 4516493 w 8824686"/>
              <a:gd name="connsiteY2" fmla="*/ 2617127 h 5132278"/>
              <a:gd name="connsiteX3" fmla="*/ 6560457 w 8824686"/>
              <a:gd name="connsiteY3" fmla="*/ 4688114 h 5132278"/>
              <a:gd name="connsiteX4" fmla="*/ 8824686 w 8824686"/>
              <a:gd name="connsiteY4" fmla="*/ 5123543 h 5132278"/>
              <a:gd name="connsiteX0" fmla="*/ 0 w 8824686"/>
              <a:gd name="connsiteY0" fmla="*/ 0 h 5123543"/>
              <a:gd name="connsiteX1" fmla="*/ 1633220 w 8824686"/>
              <a:gd name="connsiteY1" fmla="*/ 1965699 h 5123543"/>
              <a:gd name="connsiteX2" fmla="*/ 4516493 w 8824686"/>
              <a:gd name="connsiteY2" fmla="*/ 2617127 h 5123543"/>
              <a:gd name="connsiteX3" fmla="*/ 6749969 w 8824686"/>
              <a:gd name="connsiteY3" fmla="*/ 4344140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 name="connsiteX0" fmla="*/ 0 w 8824686"/>
              <a:gd name="connsiteY0" fmla="*/ 0 h 5123543"/>
              <a:gd name="connsiteX1" fmla="*/ 1633220 w 8824686"/>
              <a:gd name="connsiteY1" fmla="*/ 1965699 h 5123543"/>
              <a:gd name="connsiteX2" fmla="*/ 4516493 w 8824686"/>
              <a:gd name="connsiteY2" fmla="*/ 2617127 h 5123543"/>
              <a:gd name="connsiteX3" fmla="*/ 6669292 w 8824686"/>
              <a:gd name="connsiteY3" fmla="*/ 4500147 h 5123543"/>
              <a:gd name="connsiteX4" fmla="*/ 8824686 w 8824686"/>
              <a:gd name="connsiteY4" fmla="*/ 5123543 h 512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23543">
                <a:moveTo>
                  <a:pt x="0" y="0"/>
                </a:moveTo>
                <a:cubicBezTo>
                  <a:pt x="618067" y="705152"/>
                  <a:pt x="880471" y="1529511"/>
                  <a:pt x="1633220" y="1965699"/>
                </a:cubicBezTo>
                <a:cubicBezTo>
                  <a:pt x="2385969" y="2401887"/>
                  <a:pt x="3677148" y="2194719"/>
                  <a:pt x="4516493" y="2617127"/>
                </a:cubicBezTo>
                <a:cubicBezTo>
                  <a:pt x="5355838" y="3039535"/>
                  <a:pt x="5921806" y="3934090"/>
                  <a:pt x="6669292" y="4500147"/>
                </a:cubicBezTo>
                <a:cubicBezTo>
                  <a:pt x="7509930" y="5012024"/>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217E74-11D1-5402-24FB-4E31C26246DE}"/>
              </a:ext>
            </a:extLst>
          </p:cNvPr>
          <p:cNvSpPr/>
          <p:nvPr/>
        </p:nvSpPr>
        <p:spPr>
          <a:xfrm>
            <a:off x="920319"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B76B7D5D-0A71-67CF-E0E7-5C5F6EEEB06B}"/>
              </a:ext>
            </a:extLst>
          </p:cNvPr>
          <p:cNvSpPr>
            <a:spLocks noGrp="1"/>
          </p:cNvSpPr>
          <p:nvPr>
            <p:ph type="pic" sz="quarter" idx="10"/>
          </p:nvPr>
        </p:nvSpPr>
        <p:spPr/>
        <p:txBody>
          <a:bodyPr/>
          <a:lstStyle/>
          <a:p>
            <a:endParaRPr lang="en-US"/>
          </a:p>
        </p:txBody>
      </p:sp>
      <p:sp>
        <p:nvSpPr>
          <p:cNvPr id="102" name="Oval 101">
            <a:extLst>
              <a:ext uri="{FF2B5EF4-FFF2-40B4-BE49-F238E27FC236}">
                <a16:creationId xmlns:a16="http://schemas.microsoft.com/office/drawing/2014/main" id="{523A435A-8957-D3C7-ADF5-D47E05D4C483}"/>
              </a:ext>
            </a:extLst>
          </p:cNvPr>
          <p:cNvSpPr/>
          <p:nvPr/>
        </p:nvSpPr>
        <p:spPr>
          <a:xfrm>
            <a:off x="2363015"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Picture Placeholder 7">
            <a:extLst>
              <a:ext uri="{FF2B5EF4-FFF2-40B4-BE49-F238E27FC236}">
                <a16:creationId xmlns:a16="http://schemas.microsoft.com/office/drawing/2014/main" id="{4EBD5945-2F6E-2DB8-7717-838ABAC58D89}"/>
              </a:ext>
            </a:extLst>
          </p:cNvPr>
          <p:cNvSpPr>
            <a:spLocks noGrp="1"/>
          </p:cNvSpPr>
          <p:nvPr>
            <p:ph type="pic" sz="quarter" idx="11"/>
          </p:nvPr>
        </p:nvSpPr>
        <p:spPr/>
        <p:txBody>
          <a:bodyPr/>
          <a:lstStyle/>
          <a:p>
            <a:endParaRPr lang="en-US"/>
          </a:p>
        </p:txBody>
      </p:sp>
      <p:sp>
        <p:nvSpPr>
          <p:cNvPr id="99" name="Oval 98">
            <a:extLst>
              <a:ext uri="{FF2B5EF4-FFF2-40B4-BE49-F238E27FC236}">
                <a16:creationId xmlns:a16="http://schemas.microsoft.com/office/drawing/2014/main" id="{71A6CB5B-2D10-9A43-722E-0D5D847B9C28}"/>
              </a:ext>
            </a:extLst>
          </p:cNvPr>
          <p:cNvSpPr/>
          <p:nvPr/>
        </p:nvSpPr>
        <p:spPr>
          <a:xfrm>
            <a:off x="3805711"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Picture Placeholder 9">
            <a:extLst>
              <a:ext uri="{FF2B5EF4-FFF2-40B4-BE49-F238E27FC236}">
                <a16:creationId xmlns:a16="http://schemas.microsoft.com/office/drawing/2014/main" id="{0C1E7CBB-716C-C68B-FDA2-0729AD0BD2BF}"/>
              </a:ext>
            </a:extLst>
          </p:cNvPr>
          <p:cNvSpPr>
            <a:spLocks noGrp="1"/>
          </p:cNvSpPr>
          <p:nvPr>
            <p:ph type="pic" sz="quarter" idx="12"/>
          </p:nvPr>
        </p:nvSpPr>
        <p:spPr/>
        <p:txBody>
          <a:bodyPr/>
          <a:lstStyle/>
          <a:p>
            <a:endParaRPr lang="en-US"/>
          </a:p>
        </p:txBody>
      </p:sp>
      <p:sp>
        <p:nvSpPr>
          <p:cNvPr id="96" name="Oval 95">
            <a:extLst>
              <a:ext uri="{FF2B5EF4-FFF2-40B4-BE49-F238E27FC236}">
                <a16:creationId xmlns:a16="http://schemas.microsoft.com/office/drawing/2014/main" id="{353DC7F2-F758-3E77-71F3-9505C3C50EB5}"/>
              </a:ext>
            </a:extLst>
          </p:cNvPr>
          <p:cNvSpPr/>
          <p:nvPr/>
        </p:nvSpPr>
        <p:spPr>
          <a:xfrm>
            <a:off x="5248408"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Picture Placeholder 12">
            <a:extLst>
              <a:ext uri="{FF2B5EF4-FFF2-40B4-BE49-F238E27FC236}">
                <a16:creationId xmlns:a16="http://schemas.microsoft.com/office/drawing/2014/main" id="{C650BB94-4E95-BF47-1BF2-DA403A4BB276}"/>
              </a:ext>
            </a:extLst>
          </p:cNvPr>
          <p:cNvSpPr>
            <a:spLocks noGrp="1"/>
          </p:cNvSpPr>
          <p:nvPr>
            <p:ph type="pic" sz="quarter" idx="13"/>
          </p:nvPr>
        </p:nvSpPr>
        <p:spPr/>
        <p:txBody>
          <a:bodyPr/>
          <a:lstStyle/>
          <a:p>
            <a:endParaRPr lang="en-US"/>
          </a:p>
        </p:txBody>
      </p:sp>
      <p:sp>
        <p:nvSpPr>
          <p:cNvPr id="93" name="Oval 92">
            <a:extLst>
              <a:ext uri="{FF2B5EF4-FFF2-40B4-BE49-F238E27FC236}">
                <a16:creationId xmlns:a16="http://schemas.microsoft.com/office/drawing/2014/main" id="{BC6F2086-0D7B-7981-7CA1-AA02253A0EBA}"/>
              </a:ext>
            </a:extLst>
          </p:cNvPr>
          <p:cNvSpPr/>
          <p:nvPr/>
        </p:nvSpPr>
        <p:spPr>
          <a:xfrm>
            <a:off x="6691106" y="3426670"/>
            <a:ext cx="2112652" cy="2112652"/>
          </a:xfrm>
          <a:prstGeom prst="ellipse">
            <a:avLst/>
          </a:prstGeom>
          <a:gradFill flip="none" rotWithShape="1">
            <a:gsLst>
              <a:gs pos="100000">
                <a:schemeClr val="accent1"/>
              </a:gs>
              <a:gs pos="31000">
                <a:schemeClr val="accent1">
                  <a:alpha val="0"/>
                </a:schemeClr>
              </a:gs>
            </a:gsLst>
            <a:path path="circle">
              <a:fillToRect l="50000" t="50000" r="50000" b="50000"/>
            </a:path>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Picture Placeholder 16">
            <a:extLst>
              <a:ext uri="{FF2B5EF4-FFF2-40B4-BE49-F238E27FC236}">
                <a16:creationId xmlns:a16="http://schemas.microsoft.com/office/drawing/2014/main" id="{4B416E22-A68A-D28C-4E99-C3AC8A61083B}"/>
              </a:ext>
            </a:extLst>
          </p:cNvPr>
          <p:cNvSpPr>
            <a:spLocks noGrp="1"/>
          </p:cNvSpPr>
          <p:nvPr>
            <p:ph type="pic" sz="quarter" idx="14"/>
          </p:nvPr>
        </p:nvSpPr>
        <p:spPr/>
        <p:txBody>
          <a:bodyPr/>
          <a:lstStyle/>
          <a:p>
            <a:endParaRPr lang="en-US"/>
          </a:p>
        </p:txBody>
      </p:sp>
      <p:grpSp>
        <p:nvGrpSpPr>
          <p:cNvPr id="16" name="Groupe 15">
            <a:extLst>
              <a:ext uri="{FF2B5EF4-FFF2-40B4-BE49-F238E27FC236}">
                <a16:creationId xmlns:a16="http://schemas.microsoft.com/office/drawing/2014/main" id="{D6212A15-A26F-8827-A20F-77E0155678A6}"/>
              </a:ext>
            </a:extLst>
          </p:cNvPr>
          <p:cNvGrpSpPr/>
          <p:nvPr/>
        </p:nvGrpSpPr>
        <p:grpSpPr>
          <a:xfrm>
            <a:off x="8877165" y="2372362"/>
            <a:ext cx="3446286" cy="1054308"/>
            <a:chOff x="7694576" y="3955842"/>
            <a:chExt cx="3446286" cy="1054308"/>
          </a:xfrm>
        </p:grpSpPr>
        <p:sp>
          <p:nvSpPr>
            <p:cNvPr id="109" name="Rectangle: Rounded Corners 108">
              <a:extLst>
                <a:ext uri="{FF2B5EF4-FFF2-40B4-BE49-F238E27FC236}">
                  <a16:creationId xmlns:a16="http://schemas.microsoft.com/office/drawing/2014/main" id="{CD17FA87-C663-679E-017F-2BDA8023C7D3}"/>
                </a:ext>
              </a:extLst>
            </p:cNvPr>
            <p:cNvSpPr/>
            <p:nvPr/>
          </p:nvSpPr>
          <p:spPr>
            <a:xfrm>
              <a:off x="7694576" y="3955842"/>
              <a:ext cx="3446286" cy="1054308"/>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10" name="TextBox 109">
              <a:extLst>
                <a:ext uri="{FF2B5EF4-FFF2-40B4-BE49-F238E27FC236}">
                  <a16:creationId xmlns:a16="http://schemas.microsoft.com/office/drawing/2014/main" id="{C3728EE7-0313-1CC8-55FF-02CCC4C1F62C}"/>
                </a:ext>
              </a:extLst>
            </p:cNvPr>
            <p:cNvSpPr txBox="1"/>
            <p:nvPr/>
          </p:nvSpPr>
          <p:spPr>
            <a:xfrm>
              <a:off x="8672939" y="4151752"/>
              <a:ext cx="2343251" cy="662489"/>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nSpc>
                  <a:spcPct val="150000"/>
                </a:lnSpc>
              </a:pPr>
              <a:r>
                <a:rPr lang="en-US" sz="1300" dirty="0">
                  <a:solidFill>
                    <a:schemeClr val="tx2"/>
                  </a:solidFill>
                  <a:latin typeface="Figtree" pitchFamily="2" charset="0"/>
                  <a:ea typeface="Manrope Medium"/>
                  <a:cs typeface="Manrope Medium"/>
                  <a:sym typeface="Manrope Medium"/>
                </a:rPr>
                <a:t>Today, we embark on an exploration that transcends</a:t>
              </a:r>
            </a:p>
          </p:txBody>
        </p:sp>
        <p:sp>
          <p:nvSpPr>
            <p:cNvPr id="111" name="Oval 110">
              <a:extLst>
                <a:ext uri="{FF2B5EF4-FFF2-40B4-BE49-F238E27FC236}">
                  <a16:creationId xmlns:a16="http://schemas.microsoft.com/office/drawing/2014/main" id="{08832A13-FC80-2288-B0EF-8D33792EBC37}"/>
                </a:ext>
              </a:extLst>
            </p:cNvPr>
            <p:cNvSpPr/>
            <p:nvPr/>
          </p:nvSpPr>
          <p:spPr>
            <a:xfrm>
              <a:off x="8021084" y="4223580"/>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2" name="Graphic 111">
              <a:extLst>
                <a:ext uri="{FF2B5EF4-FFF2-40B4-BE49-F238E27FC236}">
                  <a16:creationId xmlns:a16="http://schemas.microsoft.com/office/drawing/2014/main" id="{566276E6-AE28-2728-EF5A-43D39F7435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43340" y="4345836"/>
              <a:ext cx="274320" cy="274320"/>
            </a:xfrm>
            <a:prstGeom prst="rect">
              <a:avLst/>
            </a:prstGeom>
          </p:spPr>
        </p:pic>
      </p:grpSp>
      <p:sp>
        <p:nvSpPr>
          <p:cNvPr id="9" name="TextBox 1">
            <a:extLst>
              <a:ext uri="{FF2B5EF4-FFF2-40B4-BE49-F238E27FC236}">
                <a16:creationId xmlns:a16="http://schemas.microsoft.com/office/drawing/2014/main" id="{42847186-17FC-4E7A-3AB4-1737C0E71A56}"/>
              </a:ext>
            </a:extLst>
          </p:cNvPr>
          <p:cNvSpPr txBox="1"/>
          <p:nvPr/>
        </p:nvSpPr>
        <p:spPr>
          <a:xfrm>
            <a:off x="755087" y="480115"/>
            <a:ext cx="6101245" cy="523220"/>
          </a:xfrm>
          <a:prstGeom prst="rect">
            <a:avLst/>
          </a:prstGeom>
          <a:noFill/>
        </p:spPr>
        <p:txBody>
          <a:bodyPr wrap="square" rtlCol="0">
            <a:spAutoFit/>
          </a:bodyPr>
          <a:lstStyle/>
          <a:p>
            <a:r>
              <a:rPr lang="fr-FR" sz="2800" b="1" dirty="0">
                <a:solidFill>
                  <a:schemeClr val="accent1">
                    <a:lumMod val="60000"/>
                    <a:lumOff val="40000"/>
                  </a:schemeClr>
                </a:solidFill>
                <a:latin typeface="Space Grotesk Medium"/>
              </a:rPr>
              <a:t>Module 1</a:t>
            </a:r>
            <a:endParaRPr lang="en-US" sz="2800" b="1" dirty="0">
              <a:solidFill>
                <a:schemeClr val="accent1">
                  <a:lumMod val="60000"/>
                  <a:lumOff val="40000"/>
                </a:schemeClr>
              </a:solidFill>
              <a:latin typeface="Space Grotesk Medium"/>
              <a:sym typeface="Manrope"/>
            </a:endParaRPr>
          </a:p>
        </p:txBody>
      </p:sp>
      <p:cxnSp>
        <p:nvCxnSpPr>
          <p:cNvPr id="7" name="Connecteur droit 6">
            <a:extLst>
              <a:ext uri="{FF2B5EF4-FFF2-40B4-BE49-F238E27FC236}">
                <a16:creationId xmlns:a16="http://schemas.microsoft.com/office/drawing/2014/main" id="{D514B9A3-A176-A66E-FB20-E981BB9104B2}"/>
              </a:ext>
            </a:extLst>
          </p:cNvPr>
          <p:cNvCxnSpPr/>
          <p:nvPr/>
        </p:nvCxnSpPr>
        <p:spPr>
          <a:xfrm flipV="1">
            <a:off x="82296" y="832104"/>
            <a:ext cx="11137392" cy="5943600"/>
          </a:xfrm>
          <a:prstGeom prst="line">
            <a:avLst/>
          </a:prstGeom>
          <a:ln w="3810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26631012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543D8D-E062-2E7E-C341-27B2305D718C}"/>
              </a:ext>
            </a:extLst>
          </p:cNvPr>
          <p:cNvSpPr txBox="1"/>
          <p:nvPr/>
        </p:nvSpPr>
        <p:spPr>
          <a:xfrm>
            <a:off x="1196411" y="928274"/>
            <a:ext cx="3114676" cy="2308324"/>
          </a:xfrm>
          <a:prstGeom prst="rect">
            <a:avLst/>
          </a:prstGeom>
          <a:noFill/>
        </p:spPr>
        <p:txBody>
          <a:bodyPr wrap="square" rtlCol="0">
            <a:spAutoFit/>
          </a:bodyPr>
          <a:lstStyle/>
          <a:p>
            <a:r>
              <a:rPr lang="en-US" sz="3600" dirty="0">
                <a:solidFill>
                  <a:schemeClr val="tx2"/>
                </a:solidFill>
                <a:latin typeface="Space Grotesk Medium" pitchFamily="2" charset="0"/>
              </a:rPr>
              <a:t>Enhancing Intelligence Through Innovation</a:t>
            </a:r>
          </a:p>
        </p:txBody>
      </p:sp>
      <p:sp>
        <p:nvSpPr>
          <p:cNvPr id="3" name="TextBox 2">
            <a:extLst>
              <a:ext uri="{FF2B5EF4-FFF2-40B4-BE49-F238E27FC236}">
                <a16:creationId xmlns:a16="http://schemas.microsoft.com/office/drawing/2014/main" id="{AF824764-62E7-5A47-1C40-AD8ED5BD1D6D}"/>
              </a:ext>
            </a:extLst>
          </p:cNvPr>
          <p:cNvSpPr txBox="1"/>
          <p:nvPr/>
        </p:nvSpPr>
        <p:spPr>
          <a:xfrm>
            <a:off x="1196412" y="3555134"/>
            <a:ext cx="2667000" cy="2159566"/>
          </a:xfrm>
          <a:prstGeom prst="rect">
            <a:avLst/>
          </a:prstGeom>
          <a:noFill/>
        </p:spPr>
        <p:txBody>
          <a:bodyPr wrap="square" rtlCol="0">
            <a:spAutoFit/>
          </a:bodyPr>
          <a:lstStyle/>
          <a:p>
            <a:pPr lvl="0" indent="0">
              <a:lnSpc>
                <a:spcPct val="150000"/>
              </a:lnSpc>
              <a:spcBef>
                <a:spcPts val="0"/>
              </a:spcBef>
              <a:spcAft>
                <a:spcPts val="0"/>
              </a:spcAft>
              <a:buNone/>
            </a:pPr>
            <a:r>
              <a:rPr lang="en-US" sz="1300">
                <a:solidFill>
                  <a:schemeClr val="tx2"/>
                </a:solidFill>
                <a:latin typeface="Figtree" pitchFamily="2" charset="0"/>
              </a:rPr>
              <a:t>Today, we are thrilled to embark on an enlightening journey into the world of Future AI, an extraordinary technological marvel that is revolutionizing the way we perceive and interact with artificial intelligence.</a:t>
            </a:r>
          </a:p>
        </p:txBody>
      </p:sp>
      <p:sp>
        <p:nvSpPr>
          <p:cNvPr id="4" name="TextBox 3">
            <a:extLst>
              <a:ext uri="{FF2B5EF4-FFF2-40B4-BE49-F238E27FC236}">
                <a16:creationId xmlns:a16="http://schemas.microsoft.com/office/drawing/2014/main" id="{F834D7CE-A8BD-2C53-10A1-8F2327DC26D9}"/>
              </a:ext>
            </a:extLst>
          </p:cNvPr>
          <p:cNvSpPr txBox="1"/>
          <p:nvPr/>
        </p:nvSpPr>
        <p:spPr>
          <a:xfrm>
            <a:off x="1196411" y="635886"/>
            <a:ext cx="2124299" cy="292388"/>
          </a:xfrm>
          <a:prstGeom prst="rect">
            <a:avLst/>
          </a:prstGeom>
          <a:noFill/>
        </p:spPr>
        <p:txBody>
          <a:bodyPr wrap="none" rtlCol="0">
            <a:spAutoFit/>
          </a:bodyPr>
          <a:lstStyle/>
          <a:p>
            <a:r>
              <a:rPr lang="en-US" sz="1300">
                <a:solidFill>
                  <a:schemeClr val="tx2"/>
                </a:solidFill>
                <a:latin typeface="Figtree Medium" pitchFamily="2" charset="0"/>
              </a:rPr>
              <a:t>Introduction to Future AI!</a:t>
            </a:r>
          </a:p>
        </p:txBody>
      </p:sp>
      <p:sp>
        <p:nvSpPr>
          <p:cNvPr id="6" name="Rectangle 5">
            <a:extLst>
              <a:ext uri="{FF2B5EF4-FFF2-40B4-BE49-F238E27FC236}">
                <a16:creationId xmlns:a16="http://schemas.microsoft.com/office/drawing/2014/main" id="{74A7F0CD-8EEB-C9EE-6764-6120FE93B5D9}"/>
              </a:ext>
            </a:extLst>
          </p:cNvPr>
          <p:cNvSpPr/>
          <p:nvPr/>
        </p:nvSpPr>
        <p:spPr>
          <a:xfrm>
            <a:off x="5919831" y="59186"/>
            <a:ext cx="6272170" cy="6858000"/>
          </a:xfrm>
          <a:prstGeom prst="rect">
            <a:avLst/>
          </a:prstGeom>
          <a:gradFill flip="none" rotWithShape="1">
            <a:gsLst>
              <a:gs pos="0">
                <a:schemeClr val="accent1"/>
              </a:gs>
              <a:gs pos="100000">
                <a:schemeClr val="accent2"/>
              </a:gs>
            </a:gsLst>
            <a:lin ang="2700000" scaled="1"/>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Rounded Corners 13">
            <a:extLst>
              <a:ext uri="{FF2B5EF4-FFF2-40B4-BE49-F238E27FC236}">
                <a16:creationId xmlns:a16="http://schemas.microsoft.com/office/drawing/2014/main" id="{D77D61C8-D578-535E-334B-C11346FA7F4E}"/>
              </a:ext>
            </a:extLst>
          </p:cNvPr>
          <p:cNvSpPr/>
          <p:nvPr/>
        </p:nvSpPr>
        <p:spPr>
          <a:xfrm>
            <a:off x="6693715" y="380999"/>
            <a:ext cx="4724402" cy="6096002"/>
          </a:xfrm>
          <a:prstGeom prst="roundRect">
            <a:avLst>
              <a:gd name="adj" fmla="val 4503"/>
            </a:avLst>
          </a:prstGeom>
          <a:gradFill>
            <a:gsLst>
              <a:gs pos="0">
                <a:schemeClr val="accent1">
                  <a:lumMod val="20000"/>
                  <a:lumOff val="80000"/>
                  <a:alpha val="40000"/>
                </a:schemeClr>
              </a:gs>
              <a:gs pos="69000">
                <a:srgbClr val="E5E3FF">
                  <a:alpha val="40000"/>
                </a:srgbClr>
              </a:gs>
              <a:gs pos="41000">
                <a:srgbClr val="E5E3FF">
                  <a:alpha val="0"/>
                </a:srgbClr>
              </a:gs>
              <a:gs pos="100000">
                <a:schemeClr val="accent1">
                  <a:lumMod val="20000"/>
                  <a:lumOff val="80000"/>
                  <a:alpha val="0"/>
                </a:schemeClr>
              </a:gs>
            </a:gsLst>
            <a:lin ang="2700000" scaled="1"/>
          </a:gradFill>
          <a:ln w="12700" cap="flat">
            <a:gradFill>
              <a:gsLst>
                <a:gs pos="67000">
                  <a:schemeClr val="accent1">
                    <a:lumMod val="20000"/>
                    <a:lumOff val="80000"/>
                  </a:schemeClr>
                </a:gs>
                <a:gs pos="41000">
                  <a:schemeClr val="accent1">
                    <a:lumMod val="20000"/>
                    <a:lumOff val="80000"/>
                    <a:alpha val="60000"/>
                  </a:schemeClr>
                </a:gs>
                <a:gs pos="100000">
                  <a:schemeClr val="accent1">
                    <a:lumMod val="20000"/>
                    <a:lumOff val="80000"/>
                    <a:alpha val="60000"/>
                  </a:schemeClr>
                </a:gs>
                <a:gs pos="0">
                  <a:schemeClr val="accent1">
                    <a:lumMod val="20000"/>
                    <a:lumOff val="80000"/>
                    <a:alpha val="0"/>
                  </a:schemeClr>
                </a:gs>
              </a:gsLst>
              <a:lin ang="5400000" scaled="1"/>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1" name="Oval 20">
            <a:extLst>
              <a:ext uri="{FF2B5EF4-FFF2-40B4-BE49-F238E27FC236}">
                <a16:creationId xmlns:a16="http://schemas.microsoft.com/office/drawing/2014/main" id="{F5F73E2A-DEF5-D17F-150E-03BB4B95CED1}"/>
              </a:ext>
            </a:extLst>
          </p:cNvPr>
          <p:cNvSpPr/>
          <p:nvPr/>
        </p:nvSpPr>
        <p:spPr>
          <a:xfrm>
            <a:off x="3353611" y="2131990"/>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2" name="Straight Arrow Connector 21">
            <a:extLst>
              <a:ext uri="{FF2B5EF4-FFF2-40B4-BE49-F238E27FC236}">
                <a16:creationId xmlns:a16="http://schemas.microsoft.com/office/drawing/2014/main" id="{366D14D7-C63F-5606-9196-6CCDEB4568EC}"/>
              </a:ext>
            </a:extLst>
          </p:cNvPr>
          <p:cNvCxnSpPr>
            <a:cxnSpLocks/>
          </p:cNvCxnSpPr>
          <p:nvPr/>
        </p:nvCxnSpPr>
        <p:spPr>
          <a:xfrm flipV="1">
            <a:off x="3525339" y="2303718"/>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7" name="Picture Placeholder 6">
            <a:extLst>
              <a:ext uri="{FF2B5EF4-FFF2-40B4-BE49-F238E27FC236}">
                <a16:creationId xmlns:a16="http://schemas.microsoft.com/office/drawing/2014/main" id="{A767E127-F9A2-EA0C-2FD0-C207ACCB9192}"/>
              </a:ext>
            </a:extLst>
          </p:cNvPr>
          <p:cNvSpPr>
            <a:spLocks noGrp="1"/>
          </p:cNvSpPr>
          <p:nvPr>
            <p:ph type="pic" sz="quarter" idx="10"/>
          </p:nvPr>
        </p:nvSpPr>
        <p:spPr/>
        <p:txBody>
          <a:bodyPr/>
          <a:lstStyle/>
          <a:p>
            <a:endParaRPr lang="en-US"/>
          </a:p>
        </p:txBody>
      </p:sp>
      <p:sp>
        <p:nvSpPr>
          <p:cNvPr id="10" name="Rectangle: Rounded Corners 9">
            <a:extLst>
              <a:ext uri="{FF2B5EF4-FFF2-40B4-BE49-F238E27FC236}">
                <a16:creationId xmlns:a16="http://schemas.microsoft.com/office/drawing/2014/main" id="{39BC2A3B-8DA3-D808-80B7-B902411170AD}"/>
              </a:ext>
            </a:extLst>
          </p:cNvPr>
          <p:cNvSpPr/>
          <p:nvPr/>
        </p:nvSpPr>
        <p:spPr>
          <a:xfrm>
            <a:off x="5000712" y="2698966"/>
            <a:ext cx="2733588" cy="3244634"/>
          </a:xfrm>
          <a:prstGeom prst="roundRect">
            <a:avLst>
              <a:gd name="adj" fmla="val 5665"/>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1" name="TextBox 10">
            <a:extLst>
              <a:ext uri="{FF2B5EF4-FFF2-40B4-BE49-F238E27FC236}">
                <a16:creationId xmlns:a16="http://schemas.microsoft.com/office/drawing/2014/main" id="{573D2651-C557-BD1E-066F-FD02E9B44929}"/>
              </a:ext>
            </a:extLst>
          </p:cNvPr>
          <p:cNvSpPr txBox="1"/>
          <p:nvPr/>
        </p:nvSpPr>
        <p:spPr>
          <a:xfrm>
            <a:off x="5247943" y="3555134"/>
            <a:ext cx="2343251" cy="2159566"/>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nSpc>
                <a:spcPct val="150000"/>
              </a:lnSpc>
            </a:pPr>
            <a:r>
              <a:rPr lang="en-US" sz="1300">
                <a:solidFill>
                  <a:schemeClr val="tx2"/>
                </a:solidFill>
                <a:latin typeface="Figtree" pitchFamily="2" charset="0"/>
                <a:ea typeface="Manrope Medium"/>
                <a:cs typeface="Manrope Medium"/>
                <a:sym typeface="Manrope Medium"/>
              </a:rPr>
              <a:t>Future AI is not just another advancement in technology; it is a groundbreaking paradigm that transcends traditional AI limitations. Developed with passion &amp; precision, </a:t>
            </a:r>
          </a:p>
        </p:txBody>
      </p:sp>
      <p:sp>
        <p:nvSpPr>
          <p:cNvPr id="12" name="Oval 11">
            <a:extLst>
              <a:ext uri="{FF2B5EF4-FFF2-40B4-BE49-F238E27FC236}">
                <a16:creationId xmlns:a16="http://schemas.microsoft.com/office/drawing/2014/main" id="{06FF157C-9F85-81A8-E516-38ED986D781C}"/>
              </a:ext>
            </a:extLst>
          </p:cNvPr>
          <p:cNvSpPr/>
          <p:nvPr/>
        </p:nvSpPr>
        <p:spPr>
          <a:xfrm>
            <a:off x="5330493" y="2969354"/>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3" name="Graphic 12">
            <a:extLst>
              <a:ext uri="{FF2B5EF4-FFF2-40B4-BE49-F238E27FC236}">
                <a16:creationId xmlns:a16="http://schemas.microsoft.com/office/drawing/2014/main" id="{9E887291-D3B5-10AE-C7DF-29DFE67194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452749" y="3091610"/>
            <a:ext cx="274320" cy="274320"/>
          </a:xfrm>
          <a:prstGeom prst="rect">
            <a:avLst/>
          </a:prstGeom>
        </p:spPr>
      </p:pic>
    </p:spTree>
    <p:extLst>
      <p:ext uri="{BB962C8B-B14F-4D97-AF65-F5344CB8AC3E}">
        <p14:creationId xmlns:p14="http://schemas.microsoft.com/office/powerpoint/2010/main" val="157705521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A2D7272-DEED-F234-4712-11F0D6A2FC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B37A1A-6FCC-F4A7-983D-06184C8B53B9}"/>
              </a:ext>
            </a:extLst>
          </p:cNvPr>
          <p:cNvSpPr txBox="1"/>
          <p:nvPr/>
        </p:nvSpPr>
        <p:spPr>
          <a:xfrm>
            <a:off x="2355025" y="1130245"/>
            <a:ext cx="7481951" cy="1446550"/>
          </a:xfrm>
          <a:prstGeom prst="rect">
            <a:avLst/>
          </a:prstGeom>
          <a:noFill/>
        </p:spPr>
        <p:txBody>
          <a:bodyPr wrap="square" rtlCol="0">
            <a:spAutoFit/>
          </a:bodyPr>
          <a:lstStyle/>
          <a:p>
            <a:pPr algn="ctr"/>
            <a:r>
              <a:rPr lang="en-US" sz="4400">
                <a:solidFill>
                  <a:schemeClr val="tx2"/>
                </a:solidFill>
                <a:latin typeface="Space Grotesk Medium" pitchFamily="2" charset="0"/>
              </a:rPr>
              <a:t>Empowering the Future with Future AI</a:t>
            </a:r>
          </a:p>
        </p:txBody>
      </p:sp>
      <p:sp>
        <p:nvSpPr>
          <p:cNvPr id="4" name="TextBox 3">
            <a:extLst>
              <a:ext uri="{FF2B5EF4-FFF2-40B4-BE49-F238E27FC236}">
                <a16:creationId xmlns:a16="http://schemas.microsoft.com/office/drawing/2014/main" id="{3094884C-8EE7-17AC-EF01-B95ABF0E34C6}"/>
              </a:ext>
            </a:extLst>
          </p:cNvPr>
          <p:cNvSpPr txBox="1"/>
          <p:nvPr/>
        </p:nvSpPr>
        <p:spPr>
          <a:xfrm>
            <a:off x="5332810" y="837857"/>
            <a:ext cx="1526380" cy="292388"/>
          </a:xfrm>
          <a:prstGeom prst="rect">
            <a:avLst/>
          </a:prstGeom>
          <a:noFill/>
        </p:spPr>
        <p:txBody>
          <a:bodyPr wrap="none" rtlCol="0">
            <a:spAutoFit/>
          </a:bodyPr>
          <a:lstStyle/>
          <a:p>
            <a:pPr algn="ctr"/>
            <a:r>
              <a:rPr lang="en-US" sz="1300">
                <a:solidFill>
                  <a:schemeClr val="tx2"/>
                </a:solidFill>
                <a:latin typeface="Figtree Medium" pitchFamily="2" charset="0"/>
              </a:rPr>
              <a:t>Our Commitment</a:t>
            </a:r>
          </a:p>
        </p:txBody>
      </p:sp>
      <p:sp>
        <p:nvSpPr>
          <p:cNvPr id="5" name="Oval 4">
            <a:extLst>
              <a:ext uri="{FF2B5EF4-FFF2-40B4-BE49-F238E27FC236}">
                <a16:creationId xmlns:a16="http://schemas.microsoft.com/office/drawing/2014/main" id="{CC9D38E6-7E00-CD84-D759-A0DDA3D43BA0}"/>
              </a:ext>
            </a:extLst>
          </p:cNvPr>
          <p:cNvSpPr/>
          <p:nvPr/>
        </p:nvSpPr>
        <p:spPr>
          <a:xfrm>
            <a:off x="8150684" y="1961414"/>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6" name="Straight Arrow Connector 5">
            <a:extLst>
              <a:ext uri="{FF2B5EF4-FFF2-40B4-BE49-F238E27FC236}">
                <a16:creationId xmlns:a16="http://schemas.microsoft.com/office/drawing/2014/main" id="{984AADB5-78F4-F585-BDD0-DD625076FBB3}"/>
              </a:ext>
            </a:extLst>
          </p:cNvPr>
          <p:cNvCxnSpPr>
            <a:cxnSpLocks/>
          </p:cNvCxnSpPr>
          <p:nvPr/>
        </p:nvCxnSpPr>
        <p:spPr>
          <a:xfrm flipV="1">
            <a:off x="8322412" y="2133142"/>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15" name="Rectangle: Rounded Corners 14">
            <a:extLst>
              <a:ext uri="{FF2B5EF4-FFF2-40B4-BE49-F238E27FC236}">
                <a16:creationId xmlns:a16="http://schemas.microsoft.com/office/drawing/2014/main" id="{01870910-5F0D-93C5-43BF-25AEDEF8C79C}"/>
              </a:ext>
            </a:extLst>
          </p:cNvPr>
          <p:cNvSpPr/>
          <p:nvPr/>
        </p:nvSpPr>
        <p:spPr>
          <a:xfrm>
            <a:off x="648412" y="3130033"/>
            <a:ext cx="3463166"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TextBox 6">
            <a:extLst>
              <a:ext uri="{FF2B5EF4-FFF2-40B4-BE49-F238E27FC236}">
                <a16:creationId xmlns:a16="http://schemas.microsoft.com/office/drawing/2014/main" id="{EF56EBA9-A2D9-B6B9-0E3D-A594D2CD3B99}"/>
              </a:ext>
            </a:extLst>
          </p:cNvPr>
          <p:cNvSpPr txBox="1"/>
          <p:nvPr/>
        </p:nvSpPr>
        <p:spPr>
          <a:xfrm>
            <a:off x="1537875" y="3293715"/>
            <a:ext cx="1191352"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Innovation</a:t>
            </a:r>
          </a:p>
        </p:txBody>
      </p:sp>
      <p:sp>
        <p:nvSpPr>
          <p:cNvPr id="8" name="TextBox 7">
            <a:extLst>
              <a:ext uri="{FF2B5EF4-FFF2-40B4-BE49-F238E27FC236}">
                <a16:creationId xmlns:a16="http://schemas.microsoft.com/office/drawing/2014/main" id="{BDE96948-B4B6-D0D1-7A4D-DE8519420CA3}"/>
              </a:ext>
            </a:extLst>
          </p:cNvPr>
          <p:cNvSpPr txBox="1"/>
          <p:nvPr/>
        </p:nvSpPr>
        <p:spPr>
          <a:xfrm>
            <a:off x="1537875" y="3632269"/>
            <a:ext cx="2387949" cy="1559401"/>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We push the boundaries of what's possible, constantly exploring new horizons in AI research and development of Artificial Intelegence</a:t>
            </a:r>
          </a:p>
        </p:txBody>
      </p:sp>
      <p:sp>
        <p:nvSpPr>
          <p:cNvPr id="23" name="Oval 22">
            <a:extLst>
              <a:ext uri="{FF2B5EF4-FFF2-40B4-BE49-F238E27FC236}">
                <a16:creationId xmlns:a16="http://schemas.microsoft.com/office/drawing/2014/main" id="{AF23C8A0-8725-AA76-E0CD-B08B9A6509D1}"/>
              </a:ext>
            </a:extLst>
          </p:cNvPr>
          <p:cNvSpPr/>
          <p:nvPr/>
        </p:nvSpPr>
        <p:spPr>
          <a:xfrm>
            <a:off x="965274" y="3372853"/>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4" name="Graphic 23">
            <a:extLst>
              <a:ext uri="{FF2B5EF4-FFF2-40B4-BE49-F238E27FC236}">
                <a16:creationId xmlns:a16="http://schemas.microsoft.com/office/drawing/2014/main" id="{66908080-D1DE-D8A7-9340-CE9827BED9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87530" y="3495109"/>
            <a:ext cx="274320" cy="274320"/>
          </a:xfrm>
          <a:prstGeom prst="rect">
            <a:avLst/>
          </a:prstGeom>
        </p:spPr>
      </p:pic>
      <p:sp>
        <p:nvSpPr>
          <p:cNvPr id="27" name="Rectangle: Rounded Corners 26">
            <a:extLst>
              <a:ext uri="{FF2B5EF4-FFF2-40B4-BE49-F238E27FC236}">
                <a16:creationId xmlns:a16="http://schemas.microsoft.com/office/drawing/2014/main" id="{DAFC2789-2B5A-CDD1-1471-47BF8C2F0CC4}"/>
              </a:ext>
            </a:extLst>
          </p:cNvPr>
          <p:cNvSpPr/>
          <p:nvPr/>
        </p:nvSpPr>
        <p:spPr>
          <a:xfrm>
            <a:off x="4364417" y="3130033"/>
            <a:ext cx="3463166"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TextBox 27">
            <a:extLst>
              <a:ext uri="{FF2B5EF4-FFF2-40B4-BE49-F238E27FC236}">
                <a16:creationId xmlns:a16="http://schemas.microsoft.com/office/drawing/2014/main" id="{3C379858-E867-7B5B-354C-BFC415625F3D}"/>
              </a:ext>
            </a:extLst>
          </p:cNvPr>
          <p:cNvSpPr txBox="1"/>
          <p:nvPr/>
        </p:nvSpPr>
        <p:spPr>
          <a:xfrm>
            <a:off x="5253880" y="3293715"/>
            <a:ext cx="1592103"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Empowerment</a:t>
            </a:r>
          </a:p>
        </p:txBody>
      </p:sp>
      <p:sp>
        <p:nvSpPr>
          <p:cNvPr id="29" name="TextBox 28">
            <a:extLst>
              <a:ext uri="{FF2B5EF4-FFF2-40B4-BE49-F238E27FC236}">
                <a16:creationId xmlns:a16="http://schemas.microsoft.com/office/drawing/2014/main" id="{974C98FC-3108-517A-5F5C-5D4158BAE62C}"/>
              </a:ext>
            </a:extLst>
          </p:cNvPr>
          <p:cNvSpPr txBox="1"/>
          <p:nvPr/>
        </p:nvSpPr>
        <p:spPr>
          <a:xfrm>
            <a:off x="5253880" y="3632269"/>
            <a:ext cx="2387949" cy="1559401"/>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dirty="0">
                <a:solidFill>
                  <a:schemeClr val="tx2">
                    <a:alpha val="60000"/>
                  </a:schemeClr>
                </a:solidFill>
              </a:rPr>
              <a:t>We aim to equip individuals, businesses, and communities with cutting-edge AI tools that enhance decision-making and drive progress</a:t>
            </a:r>
          </a:p>
        </p:txBody>
      </p:sp>
      <p:sp>
        <p:nvSpPr>
          <p:cNvPr id="30" name="Oval 29">
            <a:extLst>
              <a:ext uri="{FF2B5EF4-FFF2-40B4-BE49-F238E27FC236}">
                <a16:creationId xmlns:a16="http://schemas.microsoft.com/office/drawing/2014/main" id="{2E18403B-ED4B-F84A-54EF-1F7AD944F3FC}"/>
              </a:ext>
            </a:extLst>
          </p:cNvPr>
          <p:cNvSpPr/>
          <p:nvPr/>
        </p:nvSpPr>
        <p:spPr>
          <a:xfrm>
            <a:off x="4681279" y="3372853"/>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1" name="Graphic 30">
            <a:extLst>
              <a:ext uri="{FF2B5EF4-FFF2-40B4-BE49-F238E27FC236}">
                <a16:creationId xmlns:a16="http://schemas.microsoft.com/office/drawing/2014/main" id="{0F75B244-3F2B-CA00-4EBB-6D059B7212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803535" y="3495109"/>
            <a:ext cx="274320" cy="274320"/>
          </a:xfrm>
          <a:prstGeom prst="rect">
            <a:avLst/>
          </a:prstGeom>
        </p:spPr>
      </p:pic>
      <p:sp>
        <p:nvSpPr>
          <p:cNvPr id="33" name="Rectangle: Rounded Corners 32">
            <a:extLst>
              <a:ext uri="{FF2B5EF4-FFF2-40B4-BE49-F238E27FC236}">
                <a16:creationId xmlns:a16="http://schemas.microsoft.com/office/drawing/2014/main" id="{A9D1FEC9-DCFB-1E09-5046-55F3E927F8A0}"/>
              </a:ext>
            </a:extLst>
          </p:cNvPr>
          <p:cNvSpPr/>
          <p:nvPr/>
        </p:nvSpPr>
        <p:spPr>
          <a:xfrm>
            <a:off x="8080422" y="3130033"/>
            <a:ext cx="3463166" cy="225778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TextBox 33">
            <a:extLst>
              <a:ext uri="{FF2B5EF4-FFF2-40B4-BE49-F238E27FC236}">
                <a16:creationId xmlns:a16="http://schemas.microsoft.com/office/drawing/2014/main" id="{7472A224-CE1C-33CA-532D-F126A7FB2B9D}"/>
              </a:ext>
            </a:extLst>
          </p:cNvPr>
          <p:cNvSpPr txBox="1"/>
          <p:nvPr/>
        </p:nvSpPr>
        <p:spPr>
          <a:xfrm>
            <a:off x="8969885" y="3293715"/>
            <a:ext cx="1460656"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Collaboration</a:t>
            </a:r>
          </a:p>
        </p:txBody>
      </p:sp>
      <p:sp>
        <p:nvSpPr>
          <p:cNvPr id="35" name="TextBox 34">
            <a:extLst>
              <a:ext uri="{FF2B5EF4-FFF2-40B4-BE49-F238E27FC236}">
                <a16:creationId xmlns:a16="http://schemas.microsoft.com/office/drawing/2014/main" id="{B76E4630-50DB-7527-2C76-2956E4FE49B3}"/>
              </a:ext>
            </a:extLst>
          </p:cNvPr>
          <p:cNvSpPr txBox="1"/>
          <p:nvPr/>
        </p:nvSpPr>
        <p:spPr>
          <a:xfrm>
            <a:off x="8969885" y="3632269"/>
            <a:ext cx="2387949" cy="1559401"/>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We foster a culture of collaboration, embracing diverse perspectives to create solutions that positively impact society</a:t>
            </a:r>
          </a:p>
        </p:txBody>
      </p:sp>
      <p:sp>
        <p:nvSpPr>
          <p:cNvPr id="36" name="Oval 35">
            <a:extLst>
              <a:ext uri="{FF2B5EF4-FFF2-40B4-BE49-F238E27FC236}">
                <a16:creationId xmlns:a16="http://schemas.microsoft.com/office/drawing/2014/main" id="{192333F6-18B1-8864-D929-A1E7FCBB00CB}"/>
              </a:ext>
            </a:extLst>
          </p:cNvPr>
          <p:cNvSpPr/>
          <p:nvPr/>
        </p:nvSpPr>
        <p:spPr>
          <a:xfrm>
            <a:off x="8397284" y="3372853"/>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7" name="Graphic 36">
            <a:extLst>
              <a:ext uri="{FF2B5EF4-FFF2-40B4-BE49-F238E27FC236}">
                <a16:creationId xmlns:a16="http://schemas.microsoft.com/office/drawing/2014/main" id="{9A34360A-C7C2-53D3-8378-72C749A678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519540" y="3495109"/>
            <a:ext cx="274320" cy="274320"/>
          </a:xfrm>
          <a:prstGeom prst="rect">
            <a:avLst/>
          </a:prstGeom>
        </p:spPr>
      </p:pic>
      <p:sp>
        <p:nvSpPr>
          <p:cNvPr id="3" name="Oval 2">
            <a:extLst>
              <a:ext uri="{FF2B5EF4-FFF2-40B4-BE49-F238E27FC236}">
                <a16:creationId xmlns:a16="http://schemas.microsoft.com/office/drawing/2014/main" id="{F493DBE1-8686-621D-3491-13E85FB627E4}"/>
              </a:ext>
            </a:extLst>
          </p:cNvPr>
          <p:cNvSpPr/>
          <p:nvPr/>
        </p:nvSpPr>
        <p:spPr>
          <a:xfrm rot="1091072">
            <a:off x="8034126" y="-2497321"/>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5CDF984-4AAC-C42D-E940-118EEE37D872}"/>
              </a:ext>
            </a:extLst>
          </p:cNvPr>
          <p:cNvSpPr/>
          <p:nvPr/>
        </p:nvSpPr>
        <p:spPr>
          <a:xfrm rot="1091072">
            <a:off x="-787563" y="6035669"/>
            <a:ext cx="5963980" cy="3468543"/>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592947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BA107B-F033-3270-2511-2E3F1C934D51}"/>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EA2D5403-ACDE-5002-EAFB-90426E8AA69A}"/>
              </a:ext>
            </a:extLst>
          </p:cNvPr>
          <p:cNvSpPr/>
          <p:nvPr/>
        </p:nvSpPr>
        <p:spPr>
          <a:xfrm>
            <a:off x="5844357" y="805079"/>
            <a:ext cx="5247842" cy="5247842"/>
          </a:xfrm>
          <a:prstGeom prst="ellipse">
            <a:avLst/>
          </a:prstGeom>
          <a:gradFill>
            <a:gsLst>
              <a:gs pos="0">
                <a:schemeClr val="accent1"/>
              </a:gs>
              <a:gs pos="100000">
                <a:schemeClr val="accent2"/>
              </a:gs>
            </a:gsLst>
            <a:lin ang="2700000" scaled="1"/>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4040B252-082F-C217-7D9A-AAE295F09EA4}"/>
              </a:ext>
            </a:extLst>
          </p:cNvPr>
          <p:cNvSpPr txBox="1"/>
          <p:nvPr/>
        </p:nvSpPr>
        <p:spPr>
          <a:xfrm>
            <a:off x="1099801" y="1982450"/>
            <a:ext cx="3853199"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Why Future AI Matters</a:t>
            </a:r>
          </a:p>
        </p:txBody>
      </p:sp>
      <p:sp>
        <p:nvSpPr>
          <p:cNvPr id="3" name="TextBox 2">
            <a:extLst>
              <a:ext uri="{FF2B5EF4-FFF2-40B4-BE49-F238E27FC236}">
                <a16:creationId xmlns:a16="http://schemas.microsoft.com/office/drawing/2014/main" id="{D4DFB1AF-5705-EE69-3DFF-E1B7399B8F08}"/>
              </a:ext>
            </a:extLst>
          </p:cNvPr>
          <p:cNvSpPr txBox="1"/>
          <p:nvPr/>
        </p:nvSpPr>
        <p:spPr>
          <a:xfrm>
            <a:off x="1099801" y="1690062"/>
            <a:ext cx="883575"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About Us</a:t>
            </a:r>
          </a:p>
        </p:txBody>
      </p:sp>
      <p:sp>
        <p:nvSpPr>
          <p:cNvPr id="16" name="Oval 15">
            <a:extLst>
              <a:ext uri="{FF2B5EF4-FFF2-40B4-BE49-F238E27FC236}">
                <a16:creationId xmlns:a16="http://schemas.microsoft.com/office/drawing/2014/main" id="{9A49DF52-2FC3-CB89-A830-EA766B94265C}"/>
              </a:ext>
            </a:extLst>
          </p:cNvPr>
          <p:cNvSpPr/>
          <p:nvPr/>
        </p:nvSpPr>
        <p:spPr>
          <a:xfrm>
            <a:off x="4226384" y="2839799"/>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7" name="Straight Arrow Connector 16">
            <a:extLst>
              <a:ext uri="{FF2B5EF4-FFF2-40B4-BE49-F238E27FC236}">
                <a16:creationId xmlns:a16="http://schemas.microsoft.com/office/drawing/2014/main" id="{C55EF797-4F44-6C03-E9D9-ABA237B9D97B}"/>
              </a:ext>
            </a:extLst>
          </p:cNvPr>
          <p:cNvCxnSpPr>
            <a:cxnSpLocks/>
          </p:cNvCxnSpPr>
          <p:nvPr/>
        </p:nvCxnSpPr>
        <p:spPr>
          <a:xfrm flipV="1">
            <a:off x="4398112" y="3011527"/>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6" name="Picture Placeholder 5">
            <a:extLst>
              <a:ext uri="{FF2B5EF4-FFF2-40B4-BE49-F238E27FC236}">
                <a16:creationId xmlns:a16="http://schemas.microsoft.com/office/drawing/2014/main" id="{77C58F47-A4A8-46BC-7271-BB4BA2BF66E4}"/>
              </a:ext>
            </a:extLst>
          </p:cNvPr>
          <p:cNvSpPr>
            <a:spLocks noGrp="1"/>
          </p:cNvSpPr>
          <p:nvPr>
            <p:ph type="pic" sz="quarter" idx="10"/>
          </p:nvPr>
        </p:nvSpPr>
        <p:spPr/>
        <p:txBody>
          <a:bodyPr/>
          <a:lstStyle/>
          <a:p>
            <a:endParaRPr lang="en-US"/>
          </a:p>
        </p:txBody>
      </p:sp>
      <p:sp>
        <p:nvSpPr>
          <p:cNvPr id="5" name="Rectangle: Rounded Corners 4">
            <a:extLst>
              <a:ext uri="{FF2B5EF4-FFF2-40B4-BE49-F238E27FC236}">
                <a16:creationId xmlns:a16="http://schemas.microsoft.com/office/drawing/2014/main" id="{103B5783-D4C0-34D4-293F-BD8CB2F86E16}"/>
              </a:ext>
            </a:extLst>
          </p:cNvPr>
          <p:cNvSpPr/>
          <p:nvPr/>
        </p:nvSpPr>
        <p:spPr>
          <a:xfrm>
            <a:off x="1099801" y="3827750"/>
            <a:ext cx="7696160" cy="1506250"/>
          </a:xfrm>
          <a:prstGeom prst="roundRect">
            <a:avLst>
              <a:gd name="adj" fmla="val 9613"/>
            </a:avLst>
          </a:prstGeom>
          <a:solidFill>
            <a:schemeClr val="tx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9" name="Oval 8">
            <a:extLst>
              <a:ext uri="{FF2B5EF4-FFF2-40B4-BE49-F238E27FC236}">
                <a16:creationId xmlns:a16="http://schemas.microsoft.com/office/drawing/2014/main" id="{C5869A34-2789-4FF3-D837-9BF84C202BE4}"/>
              </a:ext>
            </a:extLst>
          </p:cNvPr>
          <p:cNvSpPr/>
          <p:nvPr/>
        </p:nvSpPr>
        <p:spPr>
          <a:xfrm>
            <a:off x="1429583" y="4175642"/>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Graphic 10">
            <a:extLst>
              <a:ext uri="{FF2B5EF4-FFF2-40B4-BE49-F238E27FC236}">
                <a16:creationId xmlns:a16="http://schemas.microsoft.com/office/drawing/2014/main" id="{985AF34D-79A8-83D8-A991-D572A2016E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551839" y="4297898"/>
            <a:ext cx="274320" cy="274320"/>
          </a:xfrm>
          <a:prstGeom prst="rect">
            <a:avLst/>
          </a:prstGeom>
        </p:spPr>
      </p:pic>
      <p:sp>
        <p:nvSpPr>
          <p:cNvPr id="12" name="TextBox 11">
            <a:extLst>
              <a:ext uri="{FF2B5EF4-FFF2-40B4-BE49-F238E27FC236}">
                <a16:creationId xmlns:a16="http://schemas.microsoft.com/office/drawing/2014/main" id="{30C922A4-4263-A3BE-29C8-6E9705925516}"/>
              </a:ext>
            </a:extLst>
          </p:cNvPr>
          <p:cNvSpPr txBox="1"/>
          <p:nvPr/>
        </p:nvSpPr>
        <p:spPr>
          <a:xfrm>
            <a:off x="2070671" y="4076982"/>
            <a:ext cx="6590729" cy="959237"/>
          </a:xfrm>
          <a:prstGeom prst="rect">
            <a:avLst/>
          </a:prstGeom>
          <a:noFill/>
        </p:spPr>
        <p:txBody>
          <a:bodyPr wrap="square" rtlCol="0">
            <a:spAutoFit/>
          </a:bodyPr>
          <a:lstStyle/>
          <a:p>
            <a:pPr>
              <a:lnSpc>
                <a:spcPct val="150000"/>
              </a:lnSpc>
            </a:pPr>
            <a:r>
              <a:rPr lang="en-US" sz="1300">
                <a:solidFill>
                  <a:schemeClr val="bg2"/>
                </a:solidFill>
                <a:latin typeface="Figtree" pitchFamily="2" charset="0"/>
              </a:rPr>
              <a:t>In a world where technology's role is ever-evolving, Future AI stands out as a game-changer. From augmenting decision-making processes to automating mundane tasks, Future AI has the potential to revolutionize industries, empowering individuals and </a:t>
            </a:r>
            <a:endParaRPr lang="en-US" sz="1300">
              <a:solidFill>
                <a:schemeClr val="bg2"/>
              </a:solidFill>
              <a:latin typeface="Figtree" pitchFamily="2" charset="0"/>
              <a:sym typeface="Manrope Medium"/>
            </a:endParaRPr>
          </a:p>
        </p:txBody>
      </p:sp>
      <p:sp>
        <p:nvSpPr>
          <p:cNvPr id="15" name="Freeform: Shape 14">
            <a:extLst>
              <a:ext uri="{FF2B5EF4-FFF2-40B4-BE49-F238E27FC236}">
                <a16:creationId xmlns:a16="http://schemas.microsoft.com/office/drawing/2014/main" id="{A1A779F0-9881-FB0E-5837-5F1B6641CD44}"/>
              </a:ext>
            </a:extLst>
          </p:cNvPr>
          <p:cNvSpPr/>
          <p:nvPr/>
        </p:nvSpPr>
        <p:spPr>
          <a:xfrm rot="7775267">
            <a:off x="-825965" y="-1938065"/>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019255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4B855871-283F-FA14-2BDA-DC9388961052}"/>
              </a:ext>
            </a:extLst>
          </p:cNvPr>
          <p:cNvSpPr txBox="1"/>
          <p:nvPr/>
        </p:nvSpPr>
        <p:spPr>
          <a:xfrm>
            <a:off x="963744" y="890196"/>
            <a:ext cx="4471856" cy="2123658"/>
          </a:xfrm>
          <a:prstGeom prst="rect">
            <a:avLst/>
          </a:prstGeom>
          <a:noFill/>
        </p:spPr>
        <p:txBody>
          <a:bodyPr wrap="square" rtlCol="0">
            <a:spAutoFit/>
          </a:bodyPr>
          <a:lstStyle/>
          <a:p>
            <a:r>
              <a:rPr lang="en-US" sz="4400">
                <a:solidFill>
                  <a:schemeClr val="tx2"/>
                </a:solidFill>
                <a:latin typeface="Space Grotesk Medium" pitchFamily="2" charset="0"/>
                <a:sym typeface="Manrope"/>
              </a:rPr>
              <a:t>Understanding the Building Blocks</a:t>
            </a:r>
          </a:p>
        </p:txBody>
      </p:sp>
      <p:sp>
        <p:nvSpPr>
          <p:cNvPr id="16" name="TextBox 15">
            <a:extLst>
              <a:ext uri="{FF2B5EF4-FFF2-40B4-BE49-F238E27FC236}">
                <a16:creationId xmlns:a16="http://schemas.microsoft.com/office/drawing/2014/main" id="{53C16BF2-FC6F-CFF9-B6B8-61C88B072FC2}"/>
              </a:ext>
            </a:extLst>
          </p:cNvPr>
          <p:cNvSpPr txBox="1"/>
          <p:nvPr/>
        </p:nvSpPr>
        <p:spPr>
          <a:xfrm>
            <a:off x="963744" y="597808"/>
            <a:ext cx="1451038"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Neural Networks</a:t>
            </a:r>
          </a:p>
        </p:txBody>
      </p:sp>
      <p:sp>
        <p:nvSpPr>
          <p:cNvPr id="17" name="Rectangle: Rounded Corners 16">
            <a:extLst>
              <a:ext uri="{FF2B5EF4-FFF2-40B4-BE49-F238E27FC236}">
                <a16:creationId xmlns:a16="http://schemas.microsoft.com/office/drawing/2014/main" id="{506AF38E-238D-77E2-0F54-908F98DBCAE6}"/>
              </a:ext>
            </a:extLst>
          </p:cNvPr>
          <p:cNvSpPr/>
          <p:nvPr/>
        </p:nvSpPr>
        <p:spPr>
          <a:xfrm>
            <a:off x="1052644" y="4122348"/>
            <a:ext cx="2018145" cy="471054"/>
          </a:xfrm>
          <a:prstGeom prst="roundRect">
            <a:avLst>
              <a:gd name="adj" fmla="val 18489"/>
            </a:avLst>
          </a:prstGeom>
          <a:gradFill flip="none" rotWithShape="1">
            <a:gsLst>
              <a:gs pos="100000">
                <a:schemeClr val="accent1"/>
              </a:gs>
              <a:gs pos="0">
                <a:schemeClr val="accent1">
                  <a:lumMod val="60000"/>
                  <a:lumOff val="40000"/>
                </a:schemeClr>
              </a:gs>
            </a:gsLst>
            <a:lin ang="2700000" scaled="1"/>
            <a:tileRect/>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1300">
                <a:solidFill>
                  <a:schemeClr val="bg2"/>
                </a:solidFill>
                <a:latin typeface="Figtree Medium" pitchFamily="2" charset="0"/>
                <a:sym typeface="Manrope Medium"/>
              </a:rPr>
              <a:t>Get Started</a:t>
            </a:r>
          </a:p>
        </p:txBody>
      </p:sp>
      <p:sp>
        <p:nvSpPr>
          <p:cNvPr id="22" name="TextBox 21">
            <a:extLst>
              <a:ext uri="{FF2B5EF4-FFF2-40B4-BE49-F238E27FC236}">
                <a16:creationId xmlns:a16="http://schemas.microsoft.com/office/drawing/2014/main" id="{A07B5F53-94BA-76AA-C6A8-9F33179B196D}"/>
              </a:ext>
            </a:extLst>
          </p:cNvPr>
          <p:cNvSpPr txBox="1"/>
          <p:nvPr/>
        </p:nvSpPr>
        <p:spPr>
          <a:xfrm>
            <a:off x="1012144" y="3090895"/>
            <a:ext cx="2571172" cy="659155"/>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nSpc>
                <a:spcPct val="150000"/>
              </a:lnSpc>
            </a:pPr>
            <a:r>
              <a:rPr lang="en-US" sz="1300">
                <a:solidFill>
                  <a:schemeClr val="tx2"/>
                </a:solidFill>
                <a:latin typeface="Figtree" pitchFamily="2" charset="0"/>
              </a:rPr>
              <a:t>Welcome to the core of AI's intelligence—Neural Networks. </a:t>
            </a:r>
            <a:endParaRPr lang="en-US" sz="1300">
              <a:solidFill>
                <a:schemeClr val="tx2"/>
              </a:solidFill>
              <a:latin typeface="Figtree" pitchFamily="2" charset="0"/>
              <a:sym typeface="Manrope Medium"/>
            </a:endParaRPr>
          </a:p>
        </p:txBody>
      </p:sp>
      <p:sp>
        <p:nvSpPr>
          <p:cNvPr id="23" name="Oval 22">
            <a:extLst>
              <a:ext uri="{FF2B5EF4-FFF2-40B4-BE49-F238E27FC236}">
                <a16:creationId xmlns:a16="http://schemas.microsoft.com/office/drawing/2014/main" id="{DC48BF2D-C5B2-1FEC-0475-CD4246ABE804}"/>
              </a:ext>
            </a:extLst>
          </p:cNvPr>
          <p:cNvSpPr/>
          <p:nvPr/>
        </p:nvSpPr>
        <p:spPr>
          <a:xfrm>
            <a:off x="3087460" y="2370070"/>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4" name="Straight Arrow Connector 23">
            <a:extLst>
              <a:ext uri="{FF2B5EF4-FFF2-40B4-BE49-F238E27FC236}">
                <a16:creationId xmlns:a16="http://schemas.microsoft.com/office/drawing/2014/main" id="{0A23FFF2-78B8-0C1C-48DA-C362C2B7F742}"/>
              </a:ext>
            </a:extLst>
          </p:cNvPr>
          <p:cNvCxnSpPr>
            <a:cxnSpLocks/>
          </p:cNvCxnSpPr>
          <p:nvPr/>
        </p:nvCxnSpPr>
        <p:spPr>
          <a:xfrm flipV="1">
            <a:off x="3259188" y="2541798"/>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3" name="Picture Placeholder 2">
            <a:extLst>
              <a:ext uri="{FF2B5EF4-FFF2-40B4-BE49-F238E27FC236}">
                <a16:creationId xmlns:a16="http://schemas.microsoft.com/office/drawing/2014/main" id="{A11B63E3-1739-DD5D-C0DD-C9105DA8AB7E}"/>
              </a:ext>
            </a:extLst>
          </p:cNvPr>
          <p:cNvSpPr>
            <a:spLocks noGrp="1"/>
          </p:cNvSpPr>
          <p:nvPr>
            <p:ph type="pic" sz="quarter" idx="10"/>
          </p:nvPr>
        </p:nvSpPr>
        <p:spPr/>
        <p:txBody>
          <a:bodyPr/>
          <a:lstStyle/>
          <a:p>
            <a:endParaRPr lang="en-US"/>
          </a:p>
        </p:txBody>
      </p:sp>
      <p:sp>
        <p:nvSpPr>
          <p:cNvPr id="9" name="Picture Placeholder 8">
            <a:extLst>
              <a:ext uri="{FF2B5EF4-FFF2-40B4-BE49-F238E27FC236}">
                <a16:creationId xmlns:a16="http://schemas.microsoft.com/office/drawing/2014/main" id="{4E833BCC-14CF-D7AA-4C26-A9E62A409A5E}"/>
              </a:ext>
            </a:extLst>
          </p:cNvPr>
          <p:cNvSpPr>
            <a:spLocks noGrp="1"/>
          </p:cNvSpPr>
          <p:nvPr>
            <p:ph type="pic" sz="quarter" idx="11"/>
          </p:nvPr>
        </p:nvSpPr>
        <p:spPr/>
        <p:txBody>
          <a:bodyPr/>
          <a:lstStyle/>
          <a:p>
            <a:endParaRPr lang="en-US"/>
          </a:p>
        </p:txBody>
      </p:sp>
      <p:sp>
        <p:nvSpPr>
          <p:cNvPr id="4" name="Rectangle: Rounded Corners 3">
            <a:extLst>
              <a:ext uri="{FF2B5EF4-FFF2-40B4-BE49-F238E27FC236}">
                <a16:creationId xmlns:a16="http://schemas.microsoft.com/office/drawing/2014/main" id="{DD0B731C-E3E8-790F-3ED6-474385A34DCD}"/>
              </a:ext>
            </a:extLst>
          </p:cNvPr>
          <p:cNvSpPr/>
          <p:nvPr/>
        </p:nvSpPr>
        <p:spPr>
          <a:xfrm>
            <a:off x="5236241" y="2696478"/>
            <a:ext cx="2375476" cy="2982552"/>
          </a:xfrm>
          <a:prstGeom prst="roundRect">
            <a:avLst>
              <a:gd name="adj" fmla="val 5665"/>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5" name="TextBox 4">
            <a:extLst>
              <a:ext uri="{FF2B5EF4-FFF2-40B4-BE49-F238E27FC236}">
                <a16:creationId xmlns:a16="http://schemas.microsoft.com/office/drawing/2014/main" id="{C6AC7B5B-9AFB-ABB5-9880-C7365BE72772}"/>
              </a:ext>
            </a:extLst>
          </p:cNvPr>
          <p:cNvSpPr txBox="1"/>
          <p:nvPr/>
        </p:nvSpPr>
        <p:spPr>
          <a:xfrm>
            <a:off x="5562933" y="3590746"/>
            <a:ext cx="1901002" cy="1859483"/>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ea typeface="Manrope Medium"/>
                <a:cs typeface="Manrope Medium"/>
              </a:defRPr>
            </a:lvl1pPr>
          </a:lstStyle>
          <a:p>
            <a:pPr>
              <a:lnSpc>
                <a:spcPct val="150000"/>
              </a:lnSpc>
            </a:pPr>
            <a:r>
              <a:rPr lang="en-US" sz="1300">
                <a:solidFill>
                  <a:schemeClr val="tx2"/>
                </a:solidFill>
                <a:latin typeface="Figtree" pitchFamily="2" charset="0"/>
              </a:rPr>
              <a:t>In this segment, we'll dive deep into the fundamental building blocks that power the incredible cognitive abilities of Future AI.</a:t>
            </a:r>
            <a:endParaRPr lang="en-US" sz="1300">
              <a:solidFill>
                <a:schemeClr val="tx2"/>
              </a:solidFill>
              <a:latin typeface="Figtree" pitchFamily="2" charset="0"/>
              <a:sym typeface="Manrope Medium"/>
            </a:endParaRPr>
          </a:p>
        </p:txBody>
      </p:sp>
      <p:sp>
        <p:nvSpPr>
          <p:cNvPr id="6" name="Oval 5">
            <a:extLst>
              <a:ext uri="{FF2B5EF4-FFF2-40B4-BE49-F238E27FC236}">
                <a16:creationId xmlns:a16="http://schemas.microsoft.com/office/drawing/2014/main" id="{E94F109D-6301-56BC-2A4D-C1B96E655195}"/>
              </a:ext>
            </a:extLst>
          </p:cNvPr>
          <p:cNvSpPr/>
          <p:nvPr/>
        </p:nvSpPr>
        <p:spPr>
          <a:xfrm>
            <a:off x="5645482" y="3004966"/>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Graphic 7">
            <a:extLst>
              <a:ext uri="{FF2B5EF4-FFF2-40B4-BE49-F238E27FC236}">
                <a16:creationId xmlns:a16="http://schemas.microsoft.com/office/drawing/2014/main" id="{E691E85B-1F1E-43D9-C6D7-F99DA36990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767738" y="3127222"/>
            <a:ext cx="274320" cy="274320"/>
          </a:xfrm>
          <a:prstGeom prst="rect">
            <a:avLst/>
          </a:prstGeom>
        </p:spPr>
      </p:pic>
    </p:spTree>
    <p:extLst>
      <p:ext uri="{BB962C8B-B14F-4D97-AF65-F5344CB8AC3E}">
        <p14:creationId xmlns:p14="http://schemas.microsoft.com/office/powerpoint/2010/main" val="179659423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DCE93D0-5B49-2121-4E18-CE9C9E14B15E}"/>
              </a:ext>
            </a:extLst>
          </p:cNvPr>
          <p:cNvSpPr>
            <a:spLocks noGrp="1"/>
          </p:cNvSpPr>
          <p:nvPr>
            <p:ph type="pic" sz="quarter" idx="10"/>
          </p:nvPr>
        </p:nvSpPr>
        <p:spPr/>
        <p:txBody>
          <a:bodyPr/>
          <a:lstStyle/>
          <a:p>
            <a:endParaRPr lang="en-US"/>
          </a:p>
        </p:txBody>
      </p:sp>
      <p:sp>
        <p:nvSpPr>
          <p:cNvPr id="2" name="TextBox 1">
            <a:extLst>
              <a:ext uri="{FF2B5EF4-FFF2-40B4-BE49-F238E27FC236}">
                <a16:creationId xmlns:a16="http://schemas.microsoft.com/office/drawing/2014/main" id="{A886124F-72E9-1680-8CFB-6E9F3F166B6F}"/>
              </a:ext>
            </a:extLst>
          </p:cNvPr>
          <p:cNvSpPr txBox="1"/>
          <p:nvPr/>
        </p:nvSpPr>
        <p:spPr>
          <a:xfrm>
            <a:off x="740755" y="687727"/>
            <a:ext cx="4379033"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Neural Network Key Concepts</a:t>
            </a:r>
          </a:p>
        </p:txBody>
      </p:sp>
      <p:sp>
        <p:nvSpPr>
          <p:cNvPr id="25" name="Rectangle: Rounded Corners 24">
            <a:extLst>
              <a:ext uri="{FF2B5EF4-FFF2-40B4-BE49-F238E27FC236}">
                <a16:creationId xmlns:a16="http://schemas.microsoft.com/office/drawing/2014/main" id="{E7ED21EF-FCB4-E223-D218-5633CF4FC95B}"/>
              </a:ext>
            </a:extLst>
          </p:cNvPr>
          <p:cNvSpPr/>
          <p:nvPr/>
        </p:nvSpPr>
        <p:spPr>
          <a:xfrm>
            <a:off x="840996" y="2658482"/>
            <a:ext cx="2778172" cy="306960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TextBox 25">
            <a:extLst>
              <a:ext uri="{FF2B5EF4-FFF2-40B4-BE49-F238E27FC236}">
                <a16:creationId xmlns:a16="http://schemas.microsoft.com/office/drawing/2014/main" id="{BAEB70FA-1488-E30D-76D6-97793640C16A}"/>
              </a:ext>
            </a:extLst>
          </p:cNvPr>
          <p:cNvSpPr txBox="1"/>
          <p:nvPr/>
        </p:nvSpPr>
        <p:spPr>
          <a:xfrm>
            <a:off x="1167879" y="3796678"/>
            <a:ext cx="984565"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Neurons</a:t>
            </a:r>
          </a:p>
        </p:txBody>
      </p:sp>
      <p:sp>
        <p:nvSpPr>
          <p:cNvPr id="27" name="TextBox 26">
            <a:extLst>
              <a:ext uri="{FF2B5EF4-FFF2-40B4-BE49-F238E27FC236}">
                <a16:creationId xmlns:a16="http://schemas.microsoft.com/office/drawing/2014/main" id="{6B0C37F3-1C6E-042A-978D-22BA1EE1729C}"/>
              </a:ext>
            </a:extLst>
          </p:cNvPr>
          <p:cNvSpPr txBox="1"/>
          <p:nvPr/>
        </p:nvSpPr>
        <p:spPr>
          <a:xfrm>
            <a:off x="1164985" y="4135232"/>
            <a:ext cx="2307323" cy="125931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The basic computational units of a neural network, responsible for information processing.</a:t>
            </a:r>
          </a:p>
        </p:txBody>
      </p:sp>
      <p:sp>
        <p:nvSpPr>
          <p:cNvPr id="28" name="Oval 27">
            <a:extLst>
              <a:ext uri="{FF2B5EF4-FFF2-40B4-BE49-F238E27FC236}">
                <a16:creationId xmlns:a16="http://schemas.microsoft.com/office/drawing/2014/main" id="{5C454310-6F84-8040-286C-33C3C4032332}"/>
              </a:ext>
            </a:extLst>
          </p:cNvPr>
          <p:cNvSpPr/>
          <p:nvPr/>
        </p:nvSpPr>
        <p:spPr>
          <a:xfrm>
            <a:off x="1242103" y="2997650"/>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9" name="Graphic 28">
            <a:extLst>
              <a:ext uri="{FF2B5EF4-FFF2-40B4-BE49-F238E27FC236}">
                <a16:creationId xmlns:a16="http://schemas.microsoft.com/office/drawing/2014/main" id="{92831780-36C4-E17B-A35A-621801B267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364359" y="3119906"/>
            <a:ext cx="274320" cy="274320"/>
          </a:xfrm>
          <a:prstGeom prst="rect">
            <a:avLst/>
          </a:prstGeom>
        </p:spPr>
      </p:pic>
      <p:sp>
        <p:nvSpPr>
          <p:cNvPr id="32" name="Rectangle: Rounded Corners 31">
            <a:extLst>
              <a:ext uri="{FF2B5EF4-FFF2-40B4-BE49-F238E27FC236}">
                <a16:creationId xmlns:a16="http://schemas.microsoft.com/office/drawing/2014/main" id="{2B4CA6DE-D8A6-E2AC-D9E6-E2D72300DEB2}"/>
              </a:ext>
            </a:extLst>
          </p:cNvPr>
          <p:cNvSpPr/>
          <p:nvPr/>
        </p:nvSpPr>
        <p:spPr>
          <a:xfrm>
            <a:off x="3792514" y="2658482"/>
            <a:ext cx="2778172" cy="306960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TextBox 32">
            <a:extLst>
              <a:ext uri="{FF2B5EF4-FFF2-40B4-BE49-F238E27FC236}">
                <a16:creationId xmlns:a16="http://schemas.microsoft.com/office/drawing/2014/main" id="{36214B21-1171-AC6B-16F9-78F535276939}"/>
              </a:ext>
            </a:extLst>
          </p:cNvPr>
          <p:cNvSpPr txBox="1"/>
          <p:nvPr/>
        </p:nvSpPr>
        <p:spPr>
          <a:xfrm>
            <a:off x="4119397" y="3796678"/>
            <a:ext cx="811441"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Layers</a:t>
            </a:r>
          </a:p>
        </p:txBody>
      </p:sp>
      <p:sp>
        <p:nvSpPr>
          <p:cNvPr id="34" name="TextBox 33">
            <a:extLst>
              <a:ext uri="{FF2B5EF4-FFF2-40B4-BE49-F238E27FC236}">
                <a16:creationId xmlns:a16="http://schemas.microsoft.com/office/drawing/2014/main" id="{FE63DE84-AEA2-15DD-84A7-3240C2EC5724}"/>
              </a:ext>
            </a:extLst>
          </p:cNvPr>
          <p:cNvSpPr txBox="1"/>
          <p:nvPr/>
        </p:nvSpPr>
        <p:spPr>
          <a:xfrm>
            <a:off x="4116503" y="4135232"/>
            <a:ext cx="2307323" cy="125931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Neurons are organized into layers, such as input, hidden, and output layers, forming a hierarchy of computation</a:t>
            </a:r>
          </a:p>
        </p:txBody>
      </p:sp>
      <p:sp>
        <p:nvSpPr>
          <p:cNvPr id="35" name="Oval 34">
            <a:extLst>
              <a:ext uri="{FF2B5EF4-FFF2-40B4-BE49-F238E27FC236}">
                <a16:creationId xmlns:a16="http://schemas.microsoft.com/office/drawing/2014/main" id="{2BEBA87D-57B2-5DEE-1B9D-C9A43C481CA5}"/>
              </a:ext>
            </a:extLst>
          </p:cNvPr>
          <p:cNvSpPr/>
          <p:nvPr/>
        </p:nvSpPr>
        <p:spPr>
          <a:xfrm>
            <a:off x="4193621" y="2997650"/>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6" name="Graphic 35">
            <a:extLst>
              <a:ext uri="{FF2B5EF4-FFF2-40B4-BE49-F238E27FC236}">
                <a16:creationId xmlns:a16="http://schemas.microsoft.com/office/drawing/2014/main" id="{7CF3CB9B-94B6-430E-3698-2438AA8BC5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15877" y="3119906"/>
            <a:ext cx="274320" cy="274320"/>
          </a:xfrm>
          <a:prstGeom prst="rect">
            <a:avLst/>
          </a:prstGeom>
        </p:spPr>
      </p:pic>
      <p:sp>
        <p:nvSpPr>
          <p:cNvPr id="38" name="Rectangle: Rounded Corners 37">
            <a:extLst>
              <a:ext uri="{FF2B5EF4-FFF2-40B4-BE49-F238E27FC236}">
                <a16:creationId xmlns:a16="http://schemas.microsoft.com/office/drawing/2014/main" id="{5B090382-A171-A82B-C379-41024B82A0F5}"/>
              </a:ext>
            </a:extLst>
          </p:cNvPr>
          <p:cNvSpPr/>
          <p:nvPr/>
        </p:nvSpPr>
        <p:spPr>
          <a:xfrm>
            <a:off x="6744032" y="2658482"/>
            <a:ext cx="2778172" cy="3069609"/>
          </a:xfrm>
          <a:prstGeom prst="roundRect">
            <a:avLst>
              <a:gd name="adj" fmla="val 4503"/>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Box 38">
            <a:extLst>
              <a:ext uri="{FF2B5EF4-FFF2-40B4-BE49-F238E27FC236}">
                <a16:creationId xmlns:a16="http://schemas.microsoft.com/office/drawing/2014/main" id="{97604210-522A-7B3A-5A9D-A33E3A161328}"/>
              </a:ext>
            </a:extLst>
          </p:cNvPr>
          <p:cNvSpPr txBox="1"/>
          <p:nvPr/>
        </p:nvSpPr>
        <p:spPr>
          <a:xfrm>
            <a:off x="7070915" y="3796678"/>
            <a:ext cx="2012089"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Weights and Biases</a:t>
            </a:r>
          </a:p>
        </p:txBody>
      </p:sp>
      <p:sp>
        <p:nvSpPr>
          <p:cNvPr id="40" name="TextBox 39">
            <a:extLst>
              <a:ext uri="{FF2B5EF4-FFF2-40B4-BE49-F238E27FC236}">
                <a16:creationId xmlns:a16="http://schemas.microsoft.com/office/drawing/2014/main" id="{B3D717E1-25B2-8A91-430E-9B3E00891EAF}"/>
              </a:ext>
            </a:extLst>
          </p:cNvPr>
          <p:cNvSpPr txBox="1"/>
          <p:nvPr/>
        </p:nvSpPr>
        <p:spPr>
          <a:xfrm>
            <a:off x="7068021" y="4135232"/>
            <a:ext cx="2307323" cy="1259319"/>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Parameters that determine the strength of connections between neurons, crucial for learning.</a:t>
            </a:r>
          </a:p>
        </p:txBody>
      </p:sp>
      <p:sp>
        <p:nvSpPr>
          <p:cNvPr id="41" name="Oval 40">
            <a:extLst>
              <a:ext uri="{FF2B5EF4-FFF2-40B4-BE49-F238E27FC236}">
                <a16:creationId xmlns:a16="http://schemas.microsoft.com/office/drawing/2014/main" id="{6D357475-BC20-B6DA-BFD5-8B8BE0CC80E5}"/>
              </a:ext>
            </a:extLst>
          </p:cNvPr>
          <p:cNvSpPr/>
          <p:nvPr/>
        </p:nvSpPr>
        <p:spPr>
          <a:xfrm>
            <a:off x="7145139" y="2997650"/>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2" name="Graphic 41">
            <a:extLst>
              <a:ext uri="{FF2B5EF4-FFF2-40B4-BE49-F238E27FC236}">
                <a16:creationId xmlns:a16="http://schemas.microsoft.com/office/drawing/2014/main" id="{6EEFB765-7A36-2A9E-21BD-8E56364EB0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67395" y="3119906"/>
            <a:ext cx="274320" cy="274320"/>
          </a:xfrm>
          <a:prstGeom prst="rect">
            <a:avLst/>
          </a:prstGeom>
        </p:spPr>
      </p:pic>
    </p:spTree>
    <p:extLst>
      <p:ext uri="{BB962C8B-B14F-4D97-AF65-F5344CB8AC3E}">
        <p14:creationId xmlns:p14="http://schemas.microsoft.com/office/powerpoint/2010/main" val="382247286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E22262-386F-E7E2-EE08-7EADDDF14309}"/>
              </a:ext>
            </a:extLst>
          </p:cNvPr>
          <p:cNvSpPr txBox="1"/>
          <p:nvPr/>
        </p:nvSpPr>
        <p:spPr>
          <a:xfrm>
            <a:off x="1310566" y="938067"/>
            <a:ext cx="4734634"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How Neural Networks Learn</a:t>
            </a:r>
          </a:p>
        </p:txBody>
      </p:sp>
      <p:sp>
        <p:nvSpPr>
          <p:cNvPr id="3" name="TextBox 2">
            <a:extLst>
              <a:ext uri="{FF2B5EF4-FFF2-40B4-BE49-F238E27FC236}">
                <a16:creationId xmlns:a16="http://schemas.microsoft.com/office/drawing/2014/main" id="{6AB840FD-4339-AD9C-901B-C9EE95FF86F9}"/>
              </a:ext>
            </a:extLst>
          </p:cNvPr>
          <p:cNvSpPr txBox="1"/>
          <p:nvPr/>
        </p:nvSpPr>
        <p:spPr>
          <a:xfrm>
            <a:off x="1310566" y="645679"/>
            <a:ext cx="1374094"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Neural Network</a:t>
            </a:r>
          </a:p>
        </p:txBody>
      </p:sp>
      <p:sp>
        <p:nvSpPr>
          <p:cNvPr id="4" name="TextBox 3">
            <a:extLst>
              <a:ext uri="{FF2B5EF4-FFF2-40B4-BE49-F238E27FC236}">
                <a16:creationId xmlns:a16="http://schemas.microsoft.com/office/drawing/2014/main" id="{F4AAFFAF-D8D6-0CB7-FBFF-1F84F5717CB7}"/>
              </a:ext>
            </a:extLst>
          </p:cNvPr>
          <p:cNvSpPr txBox="1"/>
          <p:nvPr/>
        </p:nvSpPr>
        <p:spPr>
          <a:xfrm>
            <a:off x="6858002" y="965200"/>
            <a:ext cx="4175834" cy="1265283"/>
          </a:xfrm>
          <a:prstGeom prst="rect">
            <a:avLst/>
          </a:prstGeom>
          <a:noFill/>
        </p:spPr>
        <p:txBody>
          <a:bodyPr wrap="square" rtlCol="0">
            <a:spAutoFit/>
          </a:bodyPr>
          <a:lstStyle/>
          <a:p>
            <a:pPr>
              <a:lnSpc>
                <a:spcPct val="150000"/>
              </a:lnSpc>
            </a:pPr>
            <a:r>
              <a:rPr lang="en-US" sz="1300">
                <a:solidFill>
                  <a:schemeClr val="tx2"/>
                </a:solidFill>
                <a:latin typeface="Figtree" pitchFamily="2" charset="0"/>
                <a:ea typeface="Manrope Medium"/>
                <a:cs typeface="Manrope Medium"/>
                <a:sym typeface="Manrope Medium"/>
              </a:rPr>
              <a:t>Neural networks learn through a process called "training." By feeding them labeled data and adjusting their weights and biases iteratively, they improve their performance and predictive capabilities.</a:t>
            </a:r>
          </a:p>
        </p:txBody>
      </p:sp>
      <p:sp>
        <p:nvSpPr>
          <p:cNvPr id="5" name="Oval 4">
            <a:extLst>
              <a:ext uri="{FF2B5EF4-FFF2-40B4-BE49-F238E27FC236}">
                <a16:creationId xmlns:a16="http://schemas.microsoft.com/office/drawing/2014/main" id="{A6689EF9-FFC8-37FD-CBFB-F8CB0435C76A}"/>
              </a:ext>
            </a:extLst>
          </p:cNvPr>
          <p:cNvSpPr/>
          <p:nvPr/>
        </p:nvSpPr>
        <p:spPr>
          <a:xfrm>
            <a:off x="4700360" y="1098337"/>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6" name="Straight Arrow Connector 5">
            <a:extLst>
              <a:ext uri="{FF2B5EF4-FFF2-40B4-BE49-F238E27FC236}">
                <a16:creationId xmlns:a16="http://schemas.microsoft.com/office/drawing/2014/main" id="{A4AA1D2A-7FD3-9042-FACE-094BF8E75CFE}"/>
              </a:ext>
            </a:extLst>
          </p:cNvPr>
          <p:cNvCxnSpPr>
            <a:cxnSpLocks/>
          </p:cNvCxnSpPr>
          <p:nvPr/>
        </p:nvCxnSpPr>
        <p:spPr>
          <a:xfrm flipV="1">
            <a:off x="4872088" y="1270065"/>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8" name="Picture Placeholder 7">
            <a:extLst>
              <a:ext uri="{FF2B5EF4-FFF2-40B4-BE49-F238E27FC236}">
                <a16:creationId xmlns:a16="http://schemas.microsoft.com/office/drawing/2014/main" id="{D75825A1-15C3-FE3B-9A1E-5FAC37C59DC6}"/>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45962936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C070B4A-B499-9A81-0B04-1886E7E16C8C}"/>
              </a:ext>
            </a:extLst>
          </p:cNvPr>
          <p:cNvSpPr/>
          <p:nvPr/>
        </p:nvSpPr>
        <p:spPr>
          <a:xfrm>
            <a:off x="2120902" y="444501"/>
            <a:ext cx="7950198" cy="7950198"/>
          </a:xfrm>
          <a:custGeom>
            <a:avLst/>
            <a:gdLst>
              <a:gd name="connsiteX0" fmla="*/ 2867023 w 5734048"/>
              <a:gd name="connsiteY0" fmla="*/ 869767 h 5734048"/>
              <a:gd name="connsiteX1" fmla="*/ 892645 w 5734048"/>
              <a:gd name="connsiteY1" fmla="*/ 2844145 h 5734048"/>
              <a:gd name="connsiteX2" fmla="*/ 2867023 w 5734048"/>
              <a:gd name="connsiteY2" fmla="*/ 4818523 h 5734048"/>
              <a:gd name="connsiteX3" fmla="*/ 4841401 w 5734048"/>
              <a:gd name="connsiteY3" fmla="*/ 2844145 h 5734048"/>
              <a:gd name="connsiteX4" fmla="*/ 2867023 w 5734048"/>
              <a:gd name="connsiteY4" fmla="*/ 869767 h 5734048"/>
              <a:gd name="connsiteX5" fmla="*/ 2867025 w 5734048"/>
              <a:gd name="connsiteY5" fmla="*/ 0 h 5734048"/>
              <a:gd name="connsiteX6" fmla="*/ 5734048 w 5734048"/>
              <a:gd name="connsiteY6" fmla="*/ 2867024 h 5734048"/>
              <a:gd name="connsiteX7" fmla="*/ 2867025 w 5734048"/>
              <a:gd name="connsiteY7" fmla="*/ 5734048 h 5734048"/>
              <a:gd name="connsiteX8" fmla="*/ 0 w 5734048"/>
              <a:gd name="connsiteY8" fmla="*/ 2867024 h 5734048"/>
              <a:gd name="connsiteX9" fmla="*/ 2867025 w 5734048"/>
              <a:gd name="connsiteY9" fmla="*/ 0 h 5734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34048" h="5734048">
                <a:moveTo>
                  <a:pt x="2867023" y="869767"/>
                </a:moveTo>
                <a:cubicBezTo>
                  <a:pt x="1776604" y="869767"/>
                  <a:pt x="892645" y="1753726"/>
                  <a:pt x="892645" y="2844145"/>
                </a:cubicBezTo>
                <a:cubicBezTo>
                  <a:pt x="892645" y="3934564"/>
                  <a:pt x="1776604" y="4818523"/>
                  <a:pt x="2867023" y="4818523"/>
                </a:cubicBezTo>
                <a:cubicBezTo>
                  <a:pt x="3957442" y="4818523"/>
                  <a:pt x="4841401" y="3934564"/>
                  <a:pt x="4841401" y="2844145"/>
                </a:cubicBezTo>
                <a:cubicBezTo>
                  <a:pt x="4841401" y="1753726"/>
                  <a:pt x="3957442" y="869767"/>
                  <a:pt x="2867023" y="869767"/>
                </a:cubicBezTo>
                <a:close/>
                <a:moveTo>
                  <a:pt x="2867025" y="0"/>
                </a:moveTo>
                <a:cubicBezTo>
                  <a:pt x="4450438" y="0"/>
                  <a:pt x="5734048" y="1283611"/>
                  <a:pt x="5734048" y="2867024"/>
                </a:cubicBezTo>
                <a:cubicBezTo>
                  <a:pt x="5734048" y="4450438"/>
                  <a:pt x="4450438" y="5734048"/>
                  <a:pt x="2867025" y="5734048"/>
                </a:cubicBezTo>
                <a:cubicBezTo>
                  <a:pt x="1283611" y="5734048"/>
                  <a:pt x="0" y="4450438"/>
                  <a:pt x="0" y="2867024"/>
                </a:cubicBezTo>
                <a:cubicBezTo>
                  <a:pt x="0" y="1283611"/>
                  <a:pt x="1283611" y="0"/>
                  <a:pt x="2867025" y="0"/>
                </a:cubicBezTo>
                <a:close/>
              </a:path>
            </a:pathLst>
          </a:custGeom>
          <a:gradFill>
            <a:gsLst>
              <a:gs pos="0">
                <a:schemeClr val="accent1"/>
              </a:gs>
              <a:gs pos="55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8536DD74-B9E6-B9FB-0F53-85B48FF89985}"/>
              </a:ext>
            </a:extLst>
          </p:cNvPr>
          <p:cNvSpPr txBox="1"/>
          <p:nvPr/>
        </p:nvSpPr>
        <p:spPr>
          <a:xfrm>
            <a:off x="1714500" y="3214940"/>
            <a:ext cx="8763000" cy="1446550"/>
          </a:xfrm>
          <a:prstGeom prst="rect">
            <a:avLst/>
          </a:prstGeom>
          <a:noFill/>
        </p:spPr>
        <p:txBody>
          <a:bodyPr wrap="square" rtlCol="0">
            <a:spAutoFit/>
          </a:bodyPr>
          <a:lstStyle/>
          <a:p>
            <a:pPr algn="ctr"/>
            <a:r>
              <a:rPr lang="en-US" sz="4400">
                <a:solidFill>
                  <a:schemeClr val="tx2"/>
                </a:solidFill>
                <a:latin typeface="Space Grotesk Medium" pitchFamily="2" charset="0"/>
                <a:sym typeface="Manrope"/>
              </a:rPr>
              <a:t>Artificial Intelligence Is The Future, And The Future Is Here.</a:t>
            </a:r>
          </a:p>
        </p:txBody>
      </p:sp>
      <p:sp>
        <p:nvSpPr>
          <p:cNvPr id="4" name="TextBox 3">
            <a:extLst>
              <a:ext uri="{FF2B5EF4-FFF2-40B4-BE49-F238E27FC236}">
                <a16:creationId xmlns:a16="http://schemas.microsoft.com/office/drawing/2014/main" id="{DFD78DC9-1686-D79C-A2DE-87B86FC16A8D}"/>
              </a:ext>
            </a:extLst>
          </p:cNvPr>
          <p:cNvSpPr txBox="1"/>
          <p:nvPr/>
        </p:nvSpPr>
        <p:spPr>
          <a:xfrm>
            <a:off x="5360061" y="4927600"/>
            <a:ext cx="1471878" cy="338554"/>
          </a:xfrm>
          <a:prstGeom prst="rect">
            <a:avLst/>
          </a:prstGeom>
          <a:noFill/>
        </p:spPr>
        <p:txBody>
          <a:bodyPr wrap="none" rtlCol="0">
            <a:spAutoFit/>
          </a:bodyPr>
          <a:lstStyle/>
          <a:p>
            <a:pPr algn="ctr"/>
            <a:r>
              <a:rPr lang="en-US" sz="1600" b="1">
                <a:solidFill>
                  <a:schemeClr val="tx2"/>
                </a:solidFill>
                <a:latin typeface="Figtree" pitchFamily="2" charset="0"/>
              </a:rPr>
              <a:t>Sundar Pichai</a:t>
            </a:r>
          </a:p>
        </p:txBody>
      </p:sp>
      <p:sp>
        <p:nvSpPr>
          <p:cNvPr id="5" name="TextBox 4">
            <a:extLst>
              <a:ext uri="{FF2B5EF4-FFF2-40B4-BE49-F238E27FC236}">
                <a16:creationId xmlns:a16="http://schemas.microsoft.com/office/drawing/2014/main" id="{8C5FF65B-977C-CA9A-EC43-35836E612F1B}"/>
              </a:ext>
            </a:extLst>
          </p:cNvPr>
          <p:cNvSpPr txBox="1"/>
          <p:nvPr/>
        </p:nvSpPr>
        <p:spPr>
          <a:xfrm>
            <a:off x="5433799" y="5266154"/>
            <a:ext cx="1324402" cy="292388"/>
          </a:xfrm>
          <a:prstGeom prst="rect">
            <a:avLst/>
          </a:prstGeom>
          <a:noFill/>
        </p:spPr>
        <p:txBody>
          <a:bodyPr wrap="none" rtlCol="0">
            <a:spAutoFit/>
          </a:bodyPr>
          <a:lstStyle/>
          <a:p>
            <a:pPr algn="ctr"/>
            <a:r>
              <a:rPr lang="en-US" sz="1300">
                <a:solidFill>
                  <a:schemeClr val="tx2">
                    <a:alpha val="60000"/>
                  </a:schemeClr>
                </a:solidFill>
                <a:latin typeface="Figtree" pitchFamily="2" charset="0"/>
              </a:rPr>
              <a:t>CEO of Google</a:t>
            </a:r>
          </a:p>
        </p:txBody>
      </p:sp>
      <p:sp>
        <p:nvSpPr>
          <p:cNvPr id="8" name="Freeform: Shape 7">
            <a:extLst>
              <a:ext uri="{FF2B5EF4-FFF2-40B4-BE49-F238E27FC236}">
                <a16:creationId xmlns:a16="http://schemas.microsoft.com/office/drawing/2014/main" id="{9ADACE07-467C-594F-CA6A-E22A808A9F15}"/>
              </a:ext>
            </a:extLst>
          </p:cNvPr>
          <p:cNvSpPr/>
          <p:nvPr/>
        </p:nvSpPr>
        <p:spPr>
          <a:xfrm>
            <a:off x="5707882" y="2370843"/>
            <a:ext cx="667518" cy="527766"/>
          </a:xfrm>
          <a:custGeom>
            <a:avLst/>
            <a:gdLst/>
            <a:ahLst/>
            <a:cxnLst/>
            <a:rect l="l" t="t" r="r" b="b"/>
            <a:pathLst>
              <a:path w="228162" h="180394">
                <a:moveTo>
                  <a:pt x="175898" y="0"/>
                </a:moveTo>
                <a:cubicBezTo>
                  <a:pt x="191259" y="0"/>
                  <a:pt x="203810" y="4777"/>
                  <a:pt x="213551" y="14330"/>
                </a:cubicBezTo>
                <a:cubicBezTo>
                  <a:pt x="223292" y="23884"/>
                  <a:pt x="228162" y="36716"/>
                  <a:pt x="228162" y="52826"/>
                </a:cubicBezTo>
                <a:lnTo>
                  <a:pt x="228162" y="117453"/>
                </a:lnTo>
                <a:cubicBezTo>
                  <a:pt x="228162" y="159413"/>
                  <a:pt x="207182" y="180394"/>
                  <a:pt x="165221" y="180394"/>
                </a:cubicBezTo>
                <a:lnTo>
                  <a:pt x="137684" y="180394"/>
                </a:lnTo>
                <a:lnTo>
                  <a:pt x="137684" y="142180"/>
                </a:lnTo>
                <a:lnTo>
                  <a:pt x="159601" y="142180"/>
                </a:lnTo>
                <a:cubicBezTo>
                  <a:pt x="176835" y="142180"/>
                  <a:pt x="185452" y="133563"/>
                  <a:pt x="185452" y="116329"/>
                </a:cubicBezTo>
                <a:lnTo>
                  <a:pt x="185452" y="98346"/>
                </a:lnTo>
                <a:lnTo>
                  <a:pt x="175898" y="98346"/>
                </a:lnTo>
                <a:cubicBezTo>
                  <a:pt x="160912" y="98346"/>
                  <a:pt x="148455" y="93850"/>
                  <a:pt x="138527" y="84858"/>
                </a:cubicBezTo>
                <a:cubicBezTo>
                  <a:pt x="128599" y="75867"/>
                  <a:pt x="123635" y="64440"/>
                  <a:pt x="123635" y="50578"/>
                </a:cubicBezTo>
                <a:cubicBezTo>
                  <a:pt x="123635" y="35592"/>
                  <a:pt x="128599" y="23416"/>
                  <a:pt x="138527" y="14049"/>
                </a:cubicBezTo>
                <a:cubicBezTo>
                  <a:pt x="148455" y="4683"/>
                  <a:pt x="160912" y="0"/>
                  <a:pt x="175898" y="0"/>
                </a:cubicBezTo>
                <a:close/>
                <a:moveTo>
                  <a:pt x="52264" y="0"/>
                </a:moveTo>
                <a:cubicBezTo>
                  <a:pt x="67625" y="0"/>
                  <a:pt x="80175" y="4777"/>
                  <a:pt x="89916" y="14330"/>
                </a:cubicBezTo>
                <a:cubicBezTo>
                  <a:pt x="99657" y="23884"/>
                  <a:pt x="104528" y="36716"/>
                  <a:pt x="104528" y="52826"/>
                </a:cubicBezTo>
                <a:lnTo>
                  <a:pt x="104528" y="117453"/>
                </a:lnTo>
                <a:cubicBezTo>
                  <a:pt x="104528" y="159413"/>
                  <a:pt x="83547" y="180394"/>
                  <a:pt x="41586" y="180394"/>
                </a:cubicBezTo>
                <a:lnTo>
                  <a:pt x="14050" y="180394"/>
                </a:lnTo>
                <a:lnTo>
                  <a:pt x="14050" y="142180"/>
                </a:lnTo>
                <a:lnTo>
                  <a:pt x="35967" y="142180"/>
                </a:lnTo>
                <a:cubicBezTo>
                  <a:pt x="53201" y="142180"/>
                  <a:pt x="61818" y="133563"/>
                  <a:pt x="61818" y="116329"/>
                </a:cubicBezTo>
                <a:lnTo>
                  <a:pt x="61818" y="98346"/>
                </a:lnTo>
                <a:lnTo>
                  <a:pt x="52264" y="98346"/>
                </a:lnTo>
                <a:cubicBezTo>
                  <a:pt x="37278" y="98346"/>
                  <a:pt x="24821" y="93850"/>
                  <a:pt x="14893" y="84858"/>
                </a:cubicBezTo>
                <a:cubicBezTo>
                  <a:pt x="4964" y="75867"/>
                  <a:pt x="0" y="64440"/>
                  <a:pt x="0" y="50578"/>
                </a:cubicBezTo>
                <a:cubicBezTo>
                  <a:pt x="0" y="35592"/>
                  <a:pt x="4964" y="23416"/>
                  <a:pt x="14893" y="14049"/>
                </a:cubicBezTo>
                <a:cubicBezTo>
                  <a:pt x="24821" y="4683"/>
                  <a:pt x="37278" y="0"/>
                  <a:pt x="52264" y="0"/>
                </a:cubicBezTo>
                <a:close/>
              </a:path>
            </a:pathLst>
          </a:custGeom>
          <a:solidFill>
            <a:schemeClr val="tx2"/>
          </a:soli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6" name="Freeform: Shape 5">
            <a:extLst>
              <a:ext uri="{FF2B5EF4-FFF2-40B4-BE49-F238E27FC236}">
                <a16:creationId xmlns:a16="http://schemas.microsoft.com/office/drawing/2014/main" id="{A6D616E4-C142-1C0C-34DC-E13C2E6DC968}"/>
              </a:ext>
            </a:extLst>
          </p:cNvPr>
          <p:cNvSpPr/>
          <p:nvPr/>
        </p:nvSpPr>
        <p:spPr>
          <a:xfrm rot="7768357">
            <a:off x="4242908" y="3770651"/>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353784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9559BD-1E7F-F1AD-1926-9314ACD2A3D9}"/>
              </a:ext>
            </a:extLst>
          </p:cNvPr>
          <p:cNvSpPr txBox="1"/>
          <p:nvPr/>
        </p:nvSpPr>
        <p:spPr>
          <a:xfrm>
            <a:off x="799294" y="1896199"/>
            <a:ext cx="4006876" cy="1754326"/>
          </a:xfrm>
          <a:prstGeom prst="rect">
            <a:avLst/>
          </a:prstGeom>
          <a:noFill/>
        </p:spPr>
        <p:txBody>
          <a:bodyPr wrap="square" lIns="91440" tIns="45720" rIns="91440" bIns="45720" rtlCol="0" anchor="t">
            <a:spAutoFit/>
          </a:bodyPr>
          <a:lstStyle/>
          <a:p>
            <a:r>
              <a:rPr lang="en-US" sz="3600" dirty="0">
                <a:solidFill>
                  <a:schemeClr val="tx2"/>
                </a:solidFill>
                <a:latin typeface="Space Grotesk Medium" pitchFamily="2" charset="0"/>
              </a:rPr>
              <a:t>Visionary Leader in Artificial Intelligence</a:t>
            </a:r>
          </a:p>
        </p:txBody>
      </p:sp>
      <p:sp>
        <p:nvSpPr>
          <p:cNvPr id="3" name="TextBox 2">
            <a:extLst>
              <a:ext uri="{FF2B5EF4-FFF2-40B4-BE49-F238E27FC236}">
                <a16:creationId xmlns:a16="http://schemas.microsoft.com/office/drawing/2014/main" id="{EA3882C5-1EB7-E78C-5C06-031F852344F3}"/>
              </a:ext>
            </a:extLst>
          </p:cNvPr>
          <p:cNvSpPr txBox="1"/>
          <p:nvPr/>
        </p:nvSpPr>
        <p:spPr>
          <a:xfrm>
            <a:off x="799294" y="1617410"/>
            <a:ext cx="1521570"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Meet the Founder</a:t>
            </a:r>
          </a:p>
        </p:txBody>
      </p:sp>
      <p:sp>
        <p:nvSpPr>
          <p:cNvPr id="4" name="TextBox 3">
            <a:extLst>
              <a:ext uri="{FF2B5EF4-FFF2-40B4-BE49-F238E27FC236}">
                <a16:creationId xmlns:a16="http://schemas.microsoft.com/office/drawing/2014/main" id="{33C78C2E-B939-829E-BED3-D59648FF0D5A}"/>
              </a:ext>
            </a:extLst>
          </p:cNvPr>
          <p:cNvSpPr txBox="1"/>
          <p:nvPr/>
        </p:nvSpPr>
        <p:spPr>
          <a:xfrm>
            <a:off x="6346091" y="4324608"/>
            <a:ext cx="1452642" cy="338554"/>
          </a:xfrm>
          <a:prstGeom prst="rect">
            <a:avLst/>
          </a:prstGeom>
          <a:noFill/>
        </p:spPr>
        <p:txBody>
          <a:bodyPr wrap="none" rtlCol="0">
            <a:spAutoFit/>
          </a:bodyPr>
          <a:lstStyle/>
          <a:p>
            <a:pPr algn="ctr"/>
            <a:r>
              <a:rPr lang="en-US" sz="1600" b="1">
                <a:solidFill>
                  <a:schemeClr val="tx2"/>
                </a:solidFill>
                <a:latin typeface="Figtree" pitchFamily="2" charset="0"/>
              </a:rPr>
              <a:t>Harper Smith</a:t>
            </a:r>
          </a:p>
        </p:txBody>
      </p:sp>
      <p:sp>
        <p:nvSpPr>
          <p:cNvPr id="5" name="TextBox 4">
            <a:extLst>
              <a:ext uri="{FF2B5EF4-FFF2-40B4-BE49-F238E27FC236}">
                <a16:creationId xmlns:a16="http://schemas.microsoft.com/office/drawing/2014/main" id="{266DC78B-5EA8-7A0C-02E7-42CEC029FD26}"/>
              </a:ext>
            </a:extLst>
          </p:cNvPr>
          <p:cNvSpPr txBox="1"/>
          <p:nvPr/>
        </p:nvSpPr>
        <p:spPr>
          <a:xfrm>
            <a:off x="6382159" y="4663450"/>
            <a:ext cx="1380506" cy="292388"/>
          </a:xfrm>
          <a:prstGeom prst="rect">
            <a:avLst/>
          </a:prstGeom>
          <a:noFill/>
        </p:spPr>
        <p:txBody>
          <a:bodyPr wrap="none" rtlCol="0">
            <a:spAutoFit/>
          </a:bodyPr>
          <a:lstStyle>
            <a:defPPr>
              <a:defRPr lang="en-US"/>
            </a:defPPr>
            <a:lvl1pPr>
              <a:defRPr sz="1300">
                <a:solidFill>
                  <a:schemeClr val="tx2">
                    <a:alpha val="60000"/>
                  </a:schemeClr>
                </a:solidFill>
                <a:latin typeface="DM Sans" pitchFamily="2" charset="0"/>
              </a:defRPr>
            </a:lvl1pPr>
          </a:lstStyle>
          <a:p>
            <a:pPr algn="ctr"/>
            <a:r>
              <a:rPr lang="en-US">
                <a:latin typeface="Figtree" pitchFamily="2" charset="0"/>
              </a:rPr>
              <a:t>CEO &amp; Founder</a:t>
            </a:r>
          </a:p>
        </p:txBody>
      </p:sp>
      <p:sp>
        <p:nvSpPr>
          <p:cNvPr id="8" name="TextBox 7">
            <a:extLst>
              <a:ext uri="{FF2B5EF4-FFF2-40B4-BE49-F238E27FC236}">
                <a16:creationId xmlns:a16="http://schemas.microsoft.com/office/drawing/2014/main" id="{A24AF6B9-953E-0300-D237-C0558FE5E5B7}"/>
              </a:ext>
            </a:extLst>
          </p:cNvPr>
          <p:cNvSpPr txBox="1"/>
          <p:nvPr/>
        </p:nvSpPr>
        <p:spPr>
          <a:xfrm>
            <a:off x="799293" y="3996601"/>
            <a:ext cx="3323255" cy="959237"/>
          </a:xfrm>
          <a:prstGeom prst="rect">
            <a:avLst/>
          </a:prstGeom>
          <a:noFill/>
        </p:spPr>
        <p:txBody>
          <a:bodyPr wrap="square" rtlCol="0">
            <a:spAutoFit/>
          </a:bodyPr>
          <a:lstStyle/>
          <a:p>
            <a:pPr>
              <a:lnSpc>
                <a:spcPct val="150000"/>
              </a:lnSpc>
            </a:pPr>
            <a:r>
              <a:rPr lang="en-US" sz="1300">
                <a:solidFill>
                  <a:schemeClr val="tx2"/>
                </a:solidFill>
                <a:latin typeface="Figtree" pitchFamily="2" charset="0"/>
                <a:ea typeface="Manrope Medium"/>
                <a:cs typeface="Manrope Medium"/>
                <a:sym typeface="Manrope Medium"/>
              </a:rPr>
              <a:t>Our company's foundation is built upon the visionary leadership of our founders. As the driving force behind Future, our</a:t>
            </a:r>
          </a:p>
        </p:txBody>
      </p:sp>
      <p:sp>
        <p:nvSpPr>
          <p:cNvPr id="22" name="TextBox 21">
            <a:extLst>
              <a:ext uri="{FF2B5EF4-FFF2-40B4-BE49-F238E27FC236}">
                <a16:creationId xmlns:a16="http://schemas.microsoft.com/office/drawing/2014/main" id="{C53EC30A-5C26-D36B-02DA-3E44E6FFEC9C}"/>
              </a:ext>
            </a:extLst>
          </p:cNvPr>
          <p:cNvSpPr txBox="1"/>
          <p:nvPr/>
        </p:nvSpPr>
        <p:spPr>
          <a:xfrm>
            <a:off x="9349262" y="4324608"/>
            <a:ext cx="1348446" cy="338554"/>
          </a:xfrm>
          <a:prstGeom prst="rect">
            <a:avLst/>
          </a:prstGeom>
          <a:noFill/>
        </p:spPr>
        <p:txBody>
          <a:bodyPr wrap="none" rtlCol="0">
            <a:spAutoFit/>
          </a:bodyPr>
          <a:lstStyle/>
          <a:p>
            <a:pPr algn="ctr"/>
            <a:r>
              <a:rPr lang="en-US" sz="1600" b="1">
                <a:solidFill>
                  <a:schemeClr val="tx2"/>
                </a:solidFill>
                <a:latin typeface="Figtree" pitchFamily="2" charset="0"/>
              </a:rPr>
              <a:t>Ethan Harris</a:t>
            </a:r>
          </a:p>
        </p:txBody>
      </p:sp>
      <p:sp>
        <p:nvSpPr>
          <p:cNvPr id="23" name="TextBox 22">
            <a:extLst>
              <a:ext uri="{FF2B5EF4-FFF2-40B4-BE49-F238E27FC236}">
                <a16:creationId xmlns:a16="http://schemas.microsoft.com/office/drawing/2014/main" id="{5CBF3CEE-7A0E-C897-E91A-C0BA36D12824}"/>
              </a:ext>
            </a:extLst>
          </p:cNvPr>
          <p:cNvSpPr txBox="1"/>
          <p:nvPr/>
        </p:nvSpPr>
        <p:spPr>
          <a:xfrm>
            <a:off x="9479907" y="4663450"/>
            <a:ext cx="1087157" cy="292388"/>
          </a:xfrm>
          <a:prstGeom prst="rect">
            <a:avLst/>
          </a:prstGeom>
          <a:noFill/>
        </p:spPr>
        <p:txBody>
          <a:bodyPr wrap="none" rtlCol="0">
            <a:spAutoFit/>
          </a:bodyPr>
          <a:lstStyle>
            <a:defPPr>
              <a:defRPr lang="en-US"/>
            </a:defPPr>
            <a:lvl1pPr>
              <a:defRPr sz="1300">
                <a:solidFill>
                  <a:schemeClr val="tx2">
                    <a:alpha val="60000"/>
                  </a:schemeClr>
                </a:solidFill>
                <a:latin typeface="DM Sans" pitchFamily="2" charset="0"/>
              </a:defRPr>
            </a:lvl1pPr>
          </a:lstStyle>
          <a:p>
            <a:pPr algn="ctr"/>
            <a:r>
              <a:rPr lang="en-US">
                <a:latin typeface="Figtree" pitchFamily="2" charset="0"/>
              </a:rPr>
              <a:t>Co-Founder</a:t>
            </a:r>
          </a:p>
        </p:txBody>
      </p:sp>
      <p:sp>
        <p:nvSpPr>
          <p:cNvPr id="26" name="Oval 25">
            <a:extLst>
              <a:ext uri="{FF2B5EF4-FFF2-40B4-BE49-F238E27FC236}">
                <a16:creationId xmlns:a16="http://schemas.microsoft.com/office/drawing/2014/main" id="{375F57F4-A744-4EA1-584B-70BCC141CAE7}"/>
              </a:ext>
            </a:extLst>
          </p:cNvPr>
          <p:cNvSpPr/>
          <p:nvPr/>
        </p:nvSpPr>
        <p:spPr>
          <a:xfrm>
            <a:off x="5803144" y="1343558"/>
            <a:ext cx="2538536" cy="2538536"/>
          </a:xfrm>
          <a:prstGeom prst="ellipse">
            <a:avLst/>
          </a:prstGeom>
          <a:gradFill>
            <a:gsLst>
              <a:gs pos="0">
                <a:schemeClr val="accent1"/>
              </a:gs>
              <a:gs pos="55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Oval 35">
            <a:extLst>
              <a:ext uri="{FF2B5EF4-FFF2-40B4-BE49-F238E27FC236}">
                <a16:creationId xmlns:a16="http://schemas.microsoft.com/office/drawing/2014/main" id="{529A1343-36C1-1829-6A40-AF13B7C666EE}"/>
              </a:ext>
            </a:extLst>
          </p:cNvPr>
          <p:cNvSpPr/>
          <p:nvPr/>
        </p:nvSpPr>
        <p:spPr>
          <a:xfrm>
            <a:off x="8754217" y="1343558"/>
            <a:ext cx="2538536" cy="2538536"/>
          </a:xfrm>
          <a:prstGeom prst="ellipse">
            <a:avLst/>
          </a:prstGeom>
          <a:gradFill>
            <a:gsLst>
              <a:gs pos="0">
                <a:schemeClr val="accent1"/>
              </a:gs>
              <a:gs pos="55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DDE17CD1-AEBA-2366-639B-24FDC86FB4B2}"/>
              </a:ext>
            </a:extLst>
          </p:cNvPr>
          <p:cNvSpPr/>
          <p:nvPr/>
        </p:nvSpPr>
        <p:spPr>
          <a:xfrm>
            <a:off x="3526558" y="2525434"/>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9" name="Straight Arrow Connector 38">
            <a:extLst>
              <a:ext uri="{FF2B5EF4-FFF2-40B4-BE49-F238E27FC236}">
                <a16:creationId xmlns:a16="http://schemas.microsoft.com/office/drawing/2014/main" id="{1634FA7F-6E7F-096C-530C-F3B59F6543A5}"/>
              </a:ext>
            </a:extLst>
          </p:cNvPr>
          <p:cNvCxnSpPr>
            <a:cxnSpLocks/>
          </p:cNvCxnSpPr>
          <p:nvPr/>
        </p:nvCxnSpPr>
        <p:spPr>
          <a:xfrm flipV="1">
            <a:off x="3698286" y="2697162"/>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7" name="Picture Placeholder 6">
            <a:extLst>
              <a:ext uri="{FF2B5EF4-FFF2-40B4-BE49-F238E27FC236}">
                <a16:creationId xmlns:a16="http://schemas.microsoft.com/office/drawing/2014/main" id="{14BA85D1-5756-1239-39E0-FF9F11B5FA97}"/>
              </a:ext>
            </a:extLst>
          </p:cNvPr>
          <p:cNvSpPr>
            <a:spLocks noGrp="1"/>
          </p:cNvSpPr>
          <p:nvPr>
            <p:ph type="pic" sz="quarter" idx="10"/>
          </p:nvPr>
        </p:nvSpPr>
        <p:spPr/>
        <p:txBody>
          <a:bodyPr/>
          <a:lstStyle/>
          <a:p>
            <a:endParaRPr lang="en-US"/>
          </a:p>
        </p:txBody>
      </p:sp>
      <p:sp>
        <p:nvSpPr>
          <p:cNvPr id="10" name="Picture Placeholder 9">
            <a:extLst>
              <a:ext uri="{FF2B5EF4-FFF2-40B4-BE49-F238E27FC236}">
                <a16:creationId xmlns:a16="http://schemas.microsoft.com/office/drawing/2014/main" id="{573F3A63-55F5-97EB-3200-C0BC9843BDB6}"/>
              </a:ext>
            </a:extLst>
          </p:cNvPr>
          <p:cNvSpPr>
            <a:spLocks noGrp="1"/>
          </p:cNvSpPr>
          <p:nvPr>
            <p:ph type="pic" sz="quarter" idx="11"/>
          </p:nvPr>
        </p:nvSpPr>
        <p:spPr/>
        <p:txBody>
          <a:bodyPr/>
          <a:lstStyle/>
          <a:p>
            <a:endParaRPr lang="en-US"/>
          </a:p>
        </p:txBody>
      </p:sp>
      <p:sp>
        <p:nvSpPr>
          <p:cNvPr id="11" name="Oval 10">
            <a:extLst>
              <a:ext uri="{FF2B5EF4-FFF2-40B4-BE49-F238E27FC236}">
                <a16:creationId xmlns:a16="http://schemas.microsoft.com/office/drawing/2014/main" id="{0D14178D-1F6F-43E2-0166-F5AF5FE98FFE}"/>
              </a:ext>
            </a:extLst>
          </p:cNvPr>
          <p:cNvSpPr/>
          <p:nvPr/>
        </p:nvSpPr>
        <p:spPr>
          <a:xfrm rot="21132669">
            <a:off x="-1814065" y="-3153434"/>
            <a:ext cx="8549969" cy="4006231"/>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CD1D0FB-06F8-2F95-2A34-F2CFF4A47223}"/>
              </a:ext>
            </a:extLst>
          </p:cNvPr>
          <p:cNvSpPr/>
          <p:nvPr/>
        </p:nvSpPr>
        <p:spPr>
          <a:xfrm rot="21132669">
            <a:off x="5748500" y="5887061"/>
            <a:ext cx="8549969" cy="4006231"/>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5823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62ADB5A1-19C7-E699-5145-FEEC836AAB17}"/>
              </a:ext>
            </a:extLst>
          </p:cNvPr>
          <p:cNvSpPr/>
          <p:nvPr/>
        </p:nvSpPr>
        <p:spPr>
          <a:xfrm rot="8259699">
            <a:off x="90140" y="-1113245"/>
            <a:ext cx="12521757" cy="9691792"/>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619610 w 8824686"/>
              <a:gd name="connsiteY2" fmla="*/ 2304813 h 5132278"/>
              <a:gd name="connsiteX3" fmla="*/ 6560457 w 8824686"/>
              <a:gd name="connsiteY3" fmla="*/ 4688114 h 5132278"/>
              <a:gd name="connsiteX4" fmla="*/ 8824686 w 8824686"/>
              <a:gd name="connsiteY4" fmla="*/ 5123543 h 5132278"/>
              <a:gd name="connsiteX0" fmla="*/ 0 w 8824686"/>
              <a:gd name="connsiteY0" fmla="*/ 0 h 5132278"/>
              <a:gd name="connsiteX1" fmla="*/ 1946052 w 8824686"/>
              <a:gd name="connsiteY1" fmla="*/ 1413101 h 5132278"/>
              <a:gd name="connsiteX2" fmla="*/ 4619610 w 8824686"/>
              <a:gd name="connsiteY2" fmla="*/ 2304813 h 5132278"/>
              <a:gd name="connsiteX3" fmla="*/ 6560457 w 8824686"/>
              <a:gd name="connsiteY3" fmla="*/ 4688114 h 5132278"/>
              <a:gd name="connsiteX4" fmla="*/ 8824686 w 8824686"/>
              <a:gd name="connsiteY4" fmla="*/ 5123543 h 5132278"/>
              <a:gd name="connsiteX0" fmla="*/ 0 w 9143195"/>
              <a:gd name="connsiteY0" fmla="*/ 0 h 5519457"/>
              <a:gd name="connsiteX1" fmla="*/ 2264561 w 9143195"/>
              <a:gd name="connsiteY1" fmla="*/ 1800280 h 5519457"/>
              <a:gd name="connsiteX2" fmla="*/ 4938119 w 9143195"/>
              <a:gd name="connsiteY2" fmla="*/ 2691992 h 5519457"/>
              <a:gd name="connsiteX3" fmla="*/ 6878966 w 9143195"/>
              <a:gd name="connsiteY3" fmla="*/ 5075293 h 5519457"/>
              <a:gd name="connsiteX4" fmla="*/ 9143195 w 9143195"/>
              <a:gd name="connsiteY4" fmla="*/ 5510722 h 5519457"/>
              <a:gd name="connsiteX0" fmla="*/ 0 w 9143195"/>
              <a:gd name="connsiteY0" fmla="*/ 0 h 5510722"/>
              <a:gd name="connsiteX1" fmla="*/ 2264561 w 9143195"/>
              <a:gd name="connsiteY1" fmla="*/ 1800280 h 5510722"/>
              <a:gd name="connsiteX2" fmla="*/ 4938119 w 9143195"/>
              <a:gd name="connsiteY2" fmla="*/ 2691992 h 5510722"/>
              <a:gd name="connsiteX3" fmla="*/ 7107465 w 9143195"/>
              <a:gd name="connsiteY3" fmla="*/ 4944341 h 5510722"/>
              <a:gd name="connsiteX4" fmla="*/ 9143195 w 9143195"/>
              <a:gd name="connsiteY4" fmla="*/ 5510722 h 5510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3195" h="5510722">
                <a:moveTo>
                  <a:pt x="0" y="0"/>
                </a:moveTo>
                <a:cubicBezTo>
                  <a:pt x="618067" y="705152"/>
                  <a:pt x="1441541" y="1351615"/>
                  <a:pt x="2264561" y="1800280"/>
                </a:cubicBezTo>
                <a:cubicBezTo>
                  <a:pt x="3087581" y="2248945"/>
                  <a:pt x="4130968" y="2167982"/>
                  <a:pt x="4938119" y="2691992"/>
                </a:cubicBezTo>
                <a:cubicBezTo>
                  <a:pt x="5745270" y="3216002"/>
                  <a:pt x="6359979" y="4378284"/>
                  <a:pt x="7107465" y="4944341"/>
                </a:cubicBezTo>
                <a:cubicBezTo>
                  <a:pt x="7854951" y="5510398"/>
                  <a:pt x="9024662" y="5501046"/>
                  <a:pt x="9143195" y="5510722"/>
                </a:cubicBezTo>
              </a:path>
            </a:pathLst>
          </a:custGeom>
          <a:noFill/>
          <a:ln w="1270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1E22262-386F-E7E2-EE08-7EADDDF14309}"/>
              </a:ext>
            </a:extLst>
          </p:cNvPr>
          <p:cNvSpPr txBox="1"/>
          <p:nvPr/>
        </p:nvSpPr>
        <p:spPr>
          <a:xfrm>
            <a:off x="4395988" y="938532"/>
            <a:ext cx="3400025" cy="769441"/>
          </a:xfrm>
          <a:prstGeom prst="rect">
            <a:avLst/>
          </a:prstGeom>
          <a:noFill/>
        </p:spPr>
        <p:txBody>
          <a:bodyPr wrap="square" rtlCol="0">
            <a:spAutoFit/>
          </a:bodyPr>
          <a:lstStyle/>
          <a:p>
            <a:pPr algn="ctr"/>
            <a:r>
              <a:rPr lang="en-US" sz="4400">
                <a:solidFill>
                  <a:schemeClr val="tx2"/>
                </a:solidFill>
                <a:latin typeface="Space Grotesk Medium" pitchFamily="2" charset="0"/>
                <a:sym typeface="Manrope"/>
              </a:rPr>
              <a:t>The Expert</a:t>
            </a:r>
          </a:p>
        </p:txBody>
      </p:sp>
      <p:sp>
        <p:nvSpPr>
          <p:cNvPr id="3" name="TextBox 2">
            <a:extLst>
              <a:ext uri="{FF2B5EF4-FFF2-40B4-BE49-F238E27FC236}">
                <a16:creationId xmlns:a16="http://schemas.microsoft.com/office/drawing/2014/main" id="{6AB840FD-4339-AD9C-901B-C9EE95FF86F9}"/>
              </a:ext>
            </a:extLst>
          </p:cNvPr>
          <p:cNvSpPr txBox="1"/>
          <p:nvPr/>
        </p:nvSpPr>
        <p:spPr>
          <a:xfrm>
            <a:off x="5418571" y="646144"/>
            <a:ext cx="1354858" cy="292388"/>
          </a:xfrm>
          <a:prstGeom prst="rect">
            <a:avLst/>
          </a:prstGeom>
          <a:noFill/>
        </p:spPr>
        <p:txBody>
          <a:bodyPr wrap="square" rtlCol="0">
            <a:spAutoFit/>
          </a:bodyPr>
          <a:lstStyle/>
          <a:p>
            <a:pPr algn="ctr"/>
            <a:r>
              <a:rPr lang="en-US" sz="1300">
                <a:solidFill>
                  <a:schemeClr val="tx2"/>
                </a:solidFill>
                <a:latin typeface="Figtree Medium" pitchFamily="2" charset="0"/>
                <a:sym typeface="Manrope Medium"/>
              </a:rPr>
              <a:t>Meet Our Team</a:t>
            </a:r>
          </a:p>
        </p:txBody>
      </p:sp>
      <p:sp>
        <p:nvSpPr>
          <p:cNvPr id="4" name="Oval 3">
            <a:extLst>
              <a:ext uri="{FF2B5EF4-FFF2-40B4-BE49-F238E27FC236}">
                <a16:creationId xmlns:a16="http://schemas.microsoft.com/office/drawing/2014/main" id="{08B878E7-0094-748D-DE58-3BC513D30BC0}"/>
              </a:ext>
            </a:extLst>
          </p:cNvPr>
          <p:cNvSpPr/>
          <p:nvPr/>
        </p:nvSpPr>
        <p:spPr>
          <a:xfrm>
            <a:off x="7883126" y="1110383"/>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3" name="Straight Arrow Connector 12">
            <a:extLst>
              <a:ext uri="{FF2B5EF4-FFF2-40B4-BE49-F238E27FC236}">
                <a16:creationId xmlns:a16="http://schemas.microsoft.com/office/drawing/2014/main" id="{02C43F49-1AF2-B484-A3ED-65F70A61453B}"/>
              </a:ext>
            </a:extLst>
          </p:cNvPr>
          <p:cNvCxnSpPr>
            <a:cxnSpLocks/>
          </p:cNvCxnSpPr>
          <p:nvPr/>
        </p:nvCxnSpPr>
        <p:spPr>
          <a:xfrm flipV="1">
            <a:off x="8054854" y="1282111"/>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5" name="TextBox 4">
            <a:extLst>
              <a:ext uri="{FF2B5EF4-FFF2-40B4-BE49-F238E27FC236}">
                <a16:creationId xmlns:a16="http://schemas.microsoft.com/office/drawing/2014/main" id="{2912E6CF-75B4-A4A0-934B-5209ABC6F643}"/>
              </a:ext>
            </a:extLst>
          </p:cNvPr>
          <p:cNvSpPr txBox="1"/>
          <p:nvPr/>
        </p:nvSpPr>
        <p:spPr>
          <a:xfrm>
            <a:off x="1311798" y="5018393"/>
            <a:ext cx="1468672" cy="338554"/>
          </a:xfrm>
          <a:prstGeom prst="rect">
            <a:avLst/>
          </a:prstGeom>
          <a:noFill/>
        </p:spPr>
        <p:txBody>
          <a:bodyPr wrap="none" rtlCol="0">
            <a:spAutoFit/>
          </a:bodyPr>
          <a:lstStyle/>
          <a:p>
            <a:pPr algn="ctr"/>
            <a:r>
              <a:rPr lang="en-US" sz="1600" b="1">
                <a:solidFill>
                  <a:schemeClr val="tx2"/>
                </a:solidFill>
                <a:latin typeface="Figtree" pitchFamily="2" charset="0"/>
              </a:rPr>
              <a:t>Daniel Hayes</a:t>
            </a:r>
          </a:p>
        </p:txBody>
      </p:sp>
      <p:sp>
        <p:nvSpPr>
          <p:cNvPr id="6" name="TextBox 5">
            <a:extLst>
              <a:ext uri="{FF2B5EF4-FFF2-40B4-BE49-F238E27FC236}">
                <a16:creationId xmlns:a16="http://schemas.microsoft.com/office/drawing/2014/main" id="{3785063B-4D71-9C41-3BC0-EB509E6F8FF8}"/>
              </a:ext>
            </a:extLst>
          </p:cNvPr>
          <p:cNvSpPr txBox="1"/>
          <p:nvPr/>
        </p:nvSpPr>
        <p:spPr>
          <a:xfrm>
            <a:off x="1336314" y="5356947"/>
            <a:ext cx="1441421" cy="292388"/>
          </a:xfrm>
          <a:prstGeom prst="rect">
            <a:avLst/>
          </a:prstGeom>
          <a:noFill/>
        </p:spPr>
        <p:txBody>
          <a:bodyPr wrap="none" rtlCol="0">
            <a:spAutoFit/>
          </a:bodyPr>
          <a:lstStyle/>
          <a:p>
            <a:pPr algn="ctr"/>
            <a:r>
              <a:rPr lang="en-US" sz="1300">
                <a:solidFill>
                  <a:schemeClr val="tx2">
                    <a:alpha val="60000"/>
                  </a:schemeClr>
                </a:solidFill>
                <a:latin typeface="Figtree" pitchFamily="2" charset="0"/>
                <a:sym typeface="Manrope Medium"/>
              </a:rPr>
              <a:t>Project Manager</a:t>
            </a:r>
          </a:p>
        </p:txBody>
      </p:sp>
      <p:sp>
        <p:nvSpPr>
          <p:cNvPr id="17" name="TextBox 16">
            <a:extLst>
              <a:ext uri="{FF2B5EF4-FFF2-40B4-BE49-F238E27FC236}">
                <a16:creationId xmlns:a16="http://schemas.microsoft.com/office/drawing/2014/main" id="{4ACBA6B4-FE85-50E5-B4F4-2E5D51B2AAE8}"/>
              </a:ext>
            </a:extLst>
          </p:cNvPr>
          <p:cNvSpPr txBox="1"/>
          <p:nvPr/>
        </p:nvSpPr>
        <p:spPr>
          <a:xfrm>
            <a:off x="3965176" y="5018393"/>
            <a:ext cx="1547218" cy="338554"/>
          </a:xfrm>
          <a:prstGeom prst="rect">
            <a:avLst/>
          </a:prstGeom>
          <a:noFill/>
        </p:spPr>
        <p:txBody>
          <a:bodyPr wrap="none" rtlCol="0">
            <a:spAutoFit/>
          </a:bodyPr>
          <a:lstStyle/>
          <a:p>
            <a:pPr algn="ctr"/>
            <a:r>
              <a:rPr lang="en-US" sz="1600" b="1">
                <a:solidFill>
                  <a:schemeClr val="tx2"/>
                </a:solidFill>
                <a:latin typeface="Figtree" pitchFamily="2" charset="0"/>
              </a:rPr>
              <a:t>Amelia Wright</a:t>
            </a:r>
          </a:p>
        </p:txBody>
      </p:sp>
      <p:sp>
        <p:nvSpPr>
          <p:cNvPr id="18" name="TextBox 17">
            <a:extLst>
              <a:ext uri="{FF2B5EF4-FFF2-40B4-BE49-F238E27FC236}">
                <a16:creationId xmlns:a16="http://schemas.microsoft.com/office/drawing/2014/main" id="{71F11859-A0D8-AEDC-D394-5D99FD80E552}"/>
              </a:ext>
            </a:extLst>
          </p:cNvPr>
          <p:cNvSpPr txBox="1"/>
          <p:nvPr/>
        </p:nvSpPr>
        <p:spPr>
          <a:xfrm>
            <a:off x="4134763" y="5356947"/>
            <a:ext cx="1229824" cy="292388"/>
          </a:xfrm>
          <a:prstGeom prst="rect">
            <a:avLst/>
          </a:prstGeom>
          <a:noFill/>
        </p:spPr>
        <p:txBody>
          <a:bodyPr wrap="none" rtlCol="0">
            <a:spAutoFit/>
          </a:bodyPr>
          <a:lstStyle/>
          <a:p>
            <a:pPr algn="ctr"/>
            <a:r>
              <a:rPr lang="en-US" sz="1300">
                <a:solidFill>
                  <a:schemeClr val="tx2">
                    <a:alpha val="60000"/>
                  </a:schemeClr>
                </a:solidFill>
                <a:latin typeface="Figtree" pitchFamily="2" charset="0"/>
              </a:rPr>
              <a:t>Data Scientist</a:t>
            </a:r>
          </a:p>
        </p:txBody>
      </p:sp>
      <p:sp>
        <p:nvSpPr>
          <p:cNvPr id="21" name="TextBox 20">
            <a:extLst>
              <a:ext uri="{FF2B5EF4-FFF2-40B4-BE49-F238E27FC236}">
                <a16:creationId xmlns:a16="http://schemas.microsoft.com/office/drawing/2014/main" id="{40FF09A8-7B3D-5651-5DFE-B6E5E6AB5DE5}"/>
              </a:ext>
            </a:extLst>
          </p:cNvPr>
          <p:cNvSpPr txBox="1"/>
          <p:nvPr/>
        </p:nvSpPr>
        <p:spPr>
          <a:xfrm>
            <a:off x="6661834" y="5018393"/>
            <a:ext cx="1539204" cy="338554"/>
          </a:xfrm>
          <a:prstGeom prst="rect">
            <a:avLst/>
          </a:prstGeom>
          <a:noFill/>
        </p:spPr>
        <p:txBody>
          <a:bodyPr wrap="none" rtlCol="0">
            <a:spAutoFit/>
          </a:bodyPr>
          <a:lstStyle/>
          <a:p>
            <a:pPr algn="ctr"/>
            <a:r>
              <a:rPr lang="en-US" sz="1600" b="1">
                <a:solidFill>
                  <a:schemeClr val="tx2"/>
                </a:solidFill>
                <a:latin typeface="Figtree" pitchFamily="2" charset="0"/>
              </a:rPr>
              <a:t>William Foster</a:t>
            </a:r>
          </a:p>
        </p:txBody>
      </p:sp>
      <p:sp>
        <p:nvSpPr>
          <p:cNvPr id="22" name="TextBox 21">
            <a:extLst>
              <a:ext uri="{FF2B5EF4-FFF2-40B4-BE49-F238E27FC236}">
                <a16:creationId xmlns:a16="http://schemas.microsoft.com/office/drawing/2014/main" id="{670CA7A7-BECC-FDE2-CC55-86BCC2642CC5}"/>
              </a:ext>
            </a:extLst>
          </p:cNvPr>
          <p:cNvSpPr txBox="1"/>
          <p:nvPr/>
        </p:nvSpPr>
        <p:spPr>
          <a:xfrm>
            <a:off x="7019775" y="5356947"/>
            <a:ext cx="845103" cy="292388"/>
          </a:xfrm>
          <a:prstGeom prst="rect">
            <a:avLst/>
          </a:prstGeom>
          <a:noFill/>
        </p:spPr>
        <p:txBody>
          <a:bodyPr wrap="none" rtlCol="0">
            <a:spAutoFit/>
          </a:bodyPr>
          <a:lstStyle/>
          <a:p>
            <a:pPr algn="ctr"/>
            <a:r>
              <a:rPr lang="en-US" sz="1300">
                <a:solidFill>
                  <a:schemeClr val="tx2">
                    <a:alpha val="60000"/>
                  </a:schemeClr>
                </a:solidFill>
                <a:latin typeface="Figtree" pitchFamily="2" charset="0"/>
              </a:rPr>
              <a:t>Engineer</a:t>
            </a:r>
          </a:p>
        </p:txBody>
      </p:sp>
      <p:sp>
        <p:nvSpPr>
          <p:cNvPr id="25" name="TextBox 24">
            <a:extLst>
              <a:ext uri="{FF2B5EF4-FFF2-40B4-BE49-F238E27FC236}">
                <a16:creationId xmlns:a16="http://schemas.microsoft.com/office/drawing/2014/main" id="{525A7CB4-E647-6A27-7796-FC8EDF3C8284}"/>
              </a:ext>
            </a:extLst>
          </p:cNvPr>
          <p:cNvSpPr txBox="1"/>
          <p:nvPr/>
        </p:nvSpPr>
        <p:spPr>
          <a:xfrm>
            <a:off x="9229450" y="5018393"/>
            <a:ext cx="1789272" cy="338554"/>
          </a:xfrm>
          <a:prstGeom prst="rect">
            <a:avLst/>
          </a:prstGeom>
          <a:noFill/>
        </p:spPr>
        <p:txBody>
          <a:bodyPr wrap="none" rtlCol="0">
            <a:spAutoFit/>
          </a:bodyPr>
          <a:lstStyle/>
          <a:p>
            <a:pPr algn="ctr"/>
            <a:r>
              <a:rPr lang="en-US" sz="1600" b="1">
                <a:solidFill>
                  <a:schemeClr val="tx2"/>
                </a:solidFill>
                <a:latin typeface="Figtree" pitchFamily="2" charset="0"/>
              </a:rPr>
              <a:t>Charlotte Adams</a:t>
            </a:r>
          </a:p>
        </p:txBody>
      </p:sp>
      <p:sp>
        <p:nvSpPr>
          <p:cNvPr id="26" name="TextBox 25">
            <a:extLst>
              <a:ext uri="{FF2B5EF4-FFF2-40B4-BE49-F238E27FC236}">
                <a16:creationId xmlns:a16="http://schemas.microsoft.com/office/drawing/2014/main" id="{C0F85FBD-13C1-858A-B8A8-A57751FCD0AC}"/>
              </a:ext>
            </a:extLst>
          </p:cNvPr>
          <p:cNvSpPr txBox="1"/>
          <p:nvPr/>
        </p:nvSpPr>
        <p:spPr>
          <a:xfrm>
            <a:off x="9712425" y="5356947"/>
            <a:ext cx="845103" cy="292388"/>
          </a:xfrm>
          <a:prstGeom prst="rect">
            <a:avLst/>
          </a:prstGeom>
          <a:noFill/>
        </p:spPr>
        <p:txBody>
          <a:bodyPr wrap="none" rtlCol="0">
            <a:spAutoFit/>
          </a:bodyPr>
          <a:lstStyle/>
          <a:p>
            <a:pPr algn="ctr"/>
            <a:r>
              <a:rPr lang="en-US" sz="1300">
                <a:solidFill>
                  <a:schemeClr val="tx2">
                    <a:alpha val="60000"/>
                  </a:schemeClr>
                </a:solidFill>
                <a:latin typeface="Figtree" pitchFamily="2" charset="0"/>
              </a:rPr>
              <a:t>Engineer</a:t>
            </a:r>
          </a:p>
        </p:txBody>
      </p:sp>
      <p:sp>
        <p:nvSpPr>
          <p:cNvPr id="8" name="Picture Placeholder 7">
            <a:extLst>
              <a:ext uri="{FF2B5EF4-FFF2-40B4-BE49-F238E27FC236}">
                <a16:creationId xmlns:a16="http://schemas.microsoft.com/office/drawing/2014/main" id="{E7921E83-B514-EC65-BB7D-43F74D39BBC5}"/>
              </a:ext>
            </a:extLst>
          </p:cNvPr>
          <p:cNvSpPr>
            <a:spLocks noGrp="1"/>
          </p:cNvSpPr>
          <p:nvPr>
            <p:ph type="pic" sz="quarter" idx="13"/>
          </p:nvPr>
        </p:nvSpPr>
        <p:spPr/>
        <p:txBody>
          <a:bodyPr/>
          <a:lstStyle/>
          <a:p>
            <a:endParaRPr lang="en-US"/>
          </a:p>
        </p:txBody>
      </p:sp>
      <p:sp>
        <p:nvSpPr>
          <p:cNvPr id="10" name="Picture Placeholder 9">
            <a:extLst>
              <a:ext uri="{FF2B5EF4-FFF2-40B4-BE49-F238E27FC236}">
                <a16:creationId xmlns:a16="http://schemas.microsoft.com/office/drawing/2014/main" id="{447547F7-94A2-CFAB-3B40-6F21ACA74981}"/>
              </a:ext>
            </a:extLst>
          </p:cNvPr>
          <p:cNvSpPr>
            <a:spLocks noGrp="1"/>
          </p:cNvSpPr>
          <p:nvPr>
            <p:ph type="pic" sz="quarter" idx="12"/>
          </p:nvPr>
        </p:nvSpPr>
        <p:spPr/>
        <p:txBody>
          <a:bodyPr/>
          <a:lstStyle/>
          <a:p>
            <a:endParaRPr lang="en-US"/>
          </a:p>
        </p:txBody>
      </p:sp>
      <p:sp>
        <p:nvSpPr>
          <p:cNvPr id="14" name="Picture Placeholder 13">
            <a:extLst>
              <a:ext uri="{FF2B5EF4-FFF2-40B4-BE49-F238E27FC236}">
                <a16:creationId xmlns:a16="http://schemas.microsoft.com/office/drawing/2014/main" id="{C429CB88-D0C7-2582-8322-B66CE9DB5B73}"/>
              </a:ext>
            </a:extLst>
          </p:cNvPr>
          <p:cNvSpPr>
            <a:spLocks noGrp="1"/>
          </p:cNvSpPr>
          <p:nvPr>
            <p:ph type="pic" sz="quarter" idx="11"/>
          </p:nvPr>
        </p:nvSpPr>
        <p:spPr/>
        <p:txBody>
          <a:bodyPr/>
          <a:lstStyle/>
          <a:p>
            <a:endParaRPr lang="en-US"/>
          </a:p>
        </p:txBody>
      </p:sp>
      <p:sp>
        <p:nvSpPr>
          <p:cNvPr id="19" name="Picture Placeholder 18">
            <a:extLst>
              <a:ext uri="{FF2B5EF4-FFF2-40B4-BE49-F238E27FC236}">
                <a16:creationId xmlns:a16="http://schemas.microsoft.com/office/drawing/2014/main" id="{8E1D3781-5A66-4E93-054A-7BA04AFCCD72}"/>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45058499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496661A6-9348-8863-6901-2E823AC056DE}"/>
              </a:ext>
            </a:extLst>
          </p:cNvPr>
          <p:cNvSpPr/>
          <p:nvPr/>
        </p:nvSpPr>
        <p:spPr>
          <a:xfrm>
            <a:off x="7851458" y="0"/>
            <a:ext cx="4342493" cy="6858000"/>
          </a:xfrm>
          <a:prstGeom prst="rect">
            <a:avLst/>
          </a:prstGeom>
          <a:gradFill>
            <a:gsLst>
              <a:gs pos="0">
                <a:schemeClr val="accent1"/>
              </a:gs>
              <a:gs pos="55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1D2F6462-EB54-0082-A989-117FAD765074}"/>
              </a:ext>
            </a:extLst>
          </p:cNvPr>
          <p:cNvSpPr txBox="1"/>
          <p:nvPr/>
        </p:nvSpPr>
        <p:spPr>
          <a:xfrm>
            <a:off x="1018932" y="1991328"/>
            <a:ext cx="4019624" cy="769441"/>
          </a:xfrm>
          <a:prstGeom prst="rect">
            <a:avLst/>
          </a:prstGeom>
          <a:noFill/>
        </p:spPr>
        <p:txBody>
          <a:bodyPr wrap="square" rtlCol="0">
            <a:spAutoFit/>
          </a:bodyPr>
          <a:lstStyle/>
          <a:p>
            <a:r>
              <a:rPr lang="en-US" sz="4400">
                <a:solidFill>
                  <a:schemeClr val="tx2"/>
                </a:solidFill>
                <a:latin typeface="Space Grotesk Medium" pitchFamily="2" charset="0"/>
                <a:sym typeface="Manrope"/>
              </a:rPr>
              <a:t>Daniel Hayes</a:t>
            </a:r>
          </a:p>
        </p:txBody>
      </p:sp>
      <p:sp>
        <p:nvSpPr>
          <p:cNvPr id="6" name="TextBox 5">
            <a:extLst>
              <a:ext uri="{FF2B5EF4-FFF2-40B4-BE49-F238E27FC236}">
                <a16:creationId xmlns:a16="http://schemas.microsoft.com/office/drawing/2014/main" id="{1352EB1C-97D1-5A1E-52B7-2AF0BFA0BF28}"/>
              </a:ext>
            </a:extLst>
          </p:cNvPr>
          <p:cNvSpPr txBox="1"/>
          <p:nvPr/>
        </p:nvSpPr>
        <p:spPr>
          <a:xfrm>
            <a:off x="1018933" y="1698940"/>
            <a:ext cx="1422184"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Project Manager</a:t>
            </a:r>
          </a:p>
        </p:txBody>
      </p:sp>
      <p:sp>
        <p:nvSpPr>
          <p:cNvPr id="7" name="TextBox 6">
            <a:extLst>
              <a:ext uri="{FF2B5EF4-FFF2-40B4-BE49-F238E27FC236}">
                <a16:creationId xmlns:a16="http://schemas.microsoft.com/office/drawing/2014/main" id="{C1A8BA5B-497F-5CB6-6743-11DE639B101E}"/>
              </a:ext>
            </a:extLst>
          </p:cNvPr>
          <p:cNvSpPr txBox="1"/>
          <p:nvPr/>
        </p:nvSpPr>
        <p:spPr>
          <a:xfrm>
            <a:off x="1018932" y="3239679"/>
            <a:ext cx="3268748" cy="1259319"/>
          </a:xfrm>
          <a:prstGeom prst="rect">
            <a:avLst/>
          </a:prstGeom>
          <a:noFill/>
        </p:spPr>
        <p:txBody>
          <a:bodyPr wrap="square" rtlCol="0">
            <a:spAutoFit/>
          </a:bodyPr>
          <a:lstStyle/>
          <a:p>
            <a:pPr>
              <a:lnSpc>
                <a:spcPct val="150000"/>
              </a:lnSpc>
            </a:pPr>
            <a:r>
              <a:rPr lang="en-US" sz="1300">
                <a:solidFill>
                  <a:schemeClr val="tx2"/>
                </a:solidFill>
                <a:latin typeface="Figtree" pitchFamily="2" charset="0"/>
                <a:sym typeface="Manrope Medium"/>
              </a:rPr>
              <a:t>At Future AI, Coordinates and oversees AI projects, ensuring timely delivery, resource allocation, and effective communication among team members.</a:t>
            </a:r>
          </a:p>
        </p:txBody>
      </p:sp>
      <p:sp>
        <p:nvSpPr>
          <p:cNvPr id="17" name="Picture Placeholder 16">
            <a:extLst>
              <a:ext uri="{FF2B5EF4-FFF2-40B4-BE49-F238E27FC236}">
                <a16:creationId xmlns:a16="http://schemas.microsoft.com/office/drawing/2014/main" id="{F7A80A75-F01F-36CB-7DD1-31DAC5DBBD27}"/>
              </a:ext>
            </a:extLst>
          </p:cNvPr>
          <p:cNvSpPr>
            <a:spLocks noGrp="1"/>
          </p:cNvSpPr>
          <p:nvPr>
            <p:ph type="pic" sz="quarter" idx="10"/>
          </p:nvPr>
        </p:nvSpPr>
        <p:spPr/>
        <p:txBody>
          <a:bodyPr/>
          <a:lstStyle/>
          <a:p>
            <a:endParaRPr lang="en-US"/>
          </a:p>
        </p:txBody>
      </p:sp>
      <p:sp>
        <p:nvSpPr>
          <p:cNvPr id="4" name="Rectangle: Rounded Corners 3">
            <a:extLst>
              <a:ext uri="{FF2B5EF4-FFF2-40B4-BE49-F238E27FC236}">
                <a16:creationId xmlns:a16="http://schemas.microsoft.com/office/drawing/2014/main" id="{B31E3EEF-657D-B04F-7506-D1F2FAEACA1A}"/>
              </a:ext>
            </a:extLst>
          </p:cNvPr>
          <p:cNvSpPr/>
          <p:nvPr/>
        </p:nvSpPr>
        <p:spPr>
          <a:xfrm>
            <a:off x="4218313" y="5018177"/>
            <a:ext cx="2993380" cy="832418"/>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8" name="Oval 7">
            <a:extLst>
              <a:ext uri="{FF2B5EF4-FFF2-40B4-BE49-F238E27FC236}">
                <a16:creationId xmlns:a16="http://schemas.microsoft.com/office/drawing/2014/main" id="{8A6D66A7-221D-F492-049C-31102FB917C3}"/>
              </a:ext>
            </a:extLst>
          </p:cNvPr>
          <p:cNvSpPr/>
          <p:nvPr/>
        </p:nvSpPr>
        <p:spPr>
          <a:xfrm>
            <a:off x="4442776" y="5174970"/>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Graphic 8">
            <a:extLst>
              <a:ext uri="{FF2B5EF4-FFF2-40B4-BE49-F238E27FC236}">
                <a16:creationId xmlns:a16="http://schemas.microsoft.com/office/drawing/2014/main" id="{01E4C584-2956-65BA-BA3C-24FD27C0CE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4565032" y="5297226"/>
            <a:ext cx="274320" cy="274320"/>
          </a:xfrm>
          <a:prstGeom prst="rect">
            <a:avLst/>
          </a:prstGeom>
        </p:spPr>
      </p:pic>
      <p:sp>
        <p:nvSpPr>
          <p:cNvPr id="10" name="TextBox 9">
            <a:extLst>
              <a:ext uri="{FF2B5EF4-FFF2-40B4-BE49-F238E27FC236}">
                <a16:creationId xmlns:a16="http://schemas.microsoft.com/office/drawing/2014/main" id="{DDFB4CBF-2A1D-65A4-D032-9D90E1B670C5}"/>
              </a:ext>
            </a:extLst>
          </p:cNvPr>
          <p:cNvSpPr txBox="1"/>
          <p:nvPr/>
        </p:nvSpPr>
        <p:spPr>
          <a:xfrm>
            <a:off x="5062139" y="5288192"/>
            <a:ext cx="1874231" cy="292388"/>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
                <a:latin typeface="Figtree" pitchFamily="2" charset="0"/>
                <a:sym typeface="Manrope Medium"/>
              </a:rPr>
              <a:t>linked.in/daniel-hayes</a:t>
            </a:r>
            <a:endParaRPr lang="en-US">
              <a:latin typeface="Figtree" pitchFamily="2" charset="0"/>
            </a:endParaRPr>
          </a:p>
        </p:txBody>
      </p:sp>
      <p:sp>
        <p:nvSpPr>
          <p:cNvPr id="12" name="Rectangle: Rounded Corners 11">
            <a:extLst>
              <a:ext uri="{FF2B5EF4-FFF2-40B4-BE49-F238E27FC236}">
                <a16:creationId xmlns:a16="http://schemas.microsoft.com/office/drawing/2014/main" id="{BCA9FFCB-062B-7085-67E4-265058E053E9}"/>
              </a:ext>
            </a:extLst>
          </p:cNvPr>
          <p:cNvSpPr/>
          <p:nvPr/>
        </p:nvSpPr>
        <p:spPr>
          <a:xfrm>
            <a:off x="9078233" y="2564054"/>
            <a:ext cx="2679427" cy="832418"/>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3" name="Oval 12">
            <a:extLst>
              <a:ext uri="{FF2B5EF4-FFF2-40B4-BE49-F238E27FC236}">
                <a16:creationId xmlns:a16="http://schemas.microsoft.com/office/drawing/2014/main" id="{596D678D-9C87-8A9A-C094-324AC996D12A}"/>
              </a:ext>
            </a:extLst>
          </p:cNvPr>
          <p:cNvSpPr/>
          <p:nvPr/>
        </p:nvSpPr>
        <p:spPr>
          <a:xfrm>
            <a:off x="9302696" y="2720847"/>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Graphic 13">
            <a:extLst>
              <a:ext uri="{FF2B5EF4-FFF2-40B4-BE49-F238E27FC236}">
                <a16:creationId xmlns:a16="http://schemas.microsoft.com/office/drawing/2014/main" id="{DFC28DED-C99A-18C7-E72D-AA72DF0566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424952" y="2843103"/>
            <a:ext cx="274320" cy="274320"/>
          </a:xfrm>
          <a:prstGeom prst="rect">
            <a:avLst/>
          </a:prstGeom>
        </p:spPr>
      </p:pic>
      <p:sp>
        <p:nvSpPr>
          <p:cNvPr id="15" name="TextBox 14">
            <a:extLst>
              <a:ext uri="{FF2B5EF4-FFF2-40B4-BE49-F238E27FC236}">
                <a16:creationId xmlns:a16="http://schemas.microsoft.com/office/drawing/2014/main" id="{2F51FE38-29AA-E313-5AA2-CAEFB7506DAF}"/>
              </a:ext>
            </a:extLst>
          </p:cNvPr>
          <p:cNvSpPr txBox="1"/>
          <p:nvPr/>
        </p:nvSpPr>
        <p:spPr>
          <a:xfrm>
            <a:off x="9922059" y="2834069"/>
            <a:ext cx="1656223" cy="292388"/>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US">
                <a:latin typeface="Figtree" pitchFamily="2" charset="0"/>
                <a:sym typeface="Manrope Medium"/>
              </a:rPr>
              <a:t>hayes@</a:t>
            </a:r>
            <a:r>
              <a:rPr lang="en-US">
                <a:latin typeface="Figtree" pitchFamily="2" charset="0"/>
                <a:sym typeface="Manrope"/>
              </a:rPr>
              <a:t>future</a:t>
            </a:r>
            <a:r>
              <a:rPr lang="en-US">
                <a:latin typeface="Figtree" pitchFamily="2" charset="0"/>
                <a:sym typeface="Manrope Medium"/>
              </a:rPr>
              <a:t>.com</a:t>
            </a:r>
          </a:p>
        </p:txBody>
      </p:sp>
      <p:sp>
        <p:nvSpPr>
          <p:cNvPr id="18" name="Rectangle: Rounded Corners 17">
            <a:extLst>
              <a:ext uri="{FF2B5EF4-FFF2-40B4-BE49-F238E27FC236}">
                <a16:creationId xmlns:a16="http://schemas.microsoft.com/office/drawing/2014/main" id="{D9B6B65F-0403-6F9E-B4DE-DFBB99E74D8D}"/>
              </a:ext>
            </a:extLst>
          </p:cNvPr>
          <p:cNvSpPr/>
          <p:nvPr/>
        </p:nvSpPr>
        <p:spPr>
          <a:xfrm>
            <a:off x="8862471" y="4996882"/>
            <a:ext cx="2210788" cy="832418"/>
          </a:xfrm>
          <a:prstGeom prst="roundRect">
            <a:avLst>
              <a:gd name="adj" fmla="val 1217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35" name="Oval 34">
            <a:extLst>
              <a:ext uri="{FF2B5EF4-FFF2-40B4-BE49-F238E27FC236}">
                <a16:creationId xmlns:a16="http://schemas.microsoft.com/office/drawing/2014/main" id="{7C26586A-F57E-74F9-1A22-C26AC3B27FAB}"/>
              </a:ext>
            </a:extLst>
          </p:cNvPr>
          <p:cNvSpPr/>
          <p:nvPr/>
        </p:nvSpPr>
        <p:spPr>
          <a:xfrm>
            <a:off x="9086934" y="5153675"/>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6" name="Graphic 35">
            <a:extLst>
              <a:ext uri="{FF2B5EF4-FFF2-40B4-BE49-F238E27FC236}">
                <a16:creationId xmlns:a16="http://schemas.microsoft.com/office/drawing/2014/main" id="{91BF3A22-2977-BAED-2394-A905D9A1F6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09190" y="5275931"/>
            <a:ext cx="274320" cy="274320"/>
          </a:xfrm>
          <a:prstGeom prst="rect">
            <a:avLst/>
          </a:prstGeom>
        </p:spPr>
      </p:pic>
      <p:sp>
        <p:nvSpPr>
          <p:cNvPr id="37" name="TextBox 36">
            <a:extLst>
              <a:ext uri="{FF2B5EF4-FFF2-40B4-BE49-F238E27FC236}">
                <a16:creationId xmlns:a16="http://schemas.microsoft.com/office/drawing/2014/main" id="{CE652EC6-5187-F60C-3CE4-55B3CBFDE46B}"/>
              </a:ext>
            </a:extLst>
          </p:cNvPr>
          <p:cNvSpPr txBox="1"/>
          <p:nvPr/>
        </p:nvSpPr>
        <p:spPr>
          <a:xfrm>
            <a:off x="9706297" y="5266897"/>
            <a:ext cx="1165704" cy="292388"/>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US">
                <a:latin typeface="Figtree" pitchFamily="2" charset="0"/>
                <a:sym typeface="Manrope Medium"/>
              </a:rPr>
              <a:t>danielhayes_</a:t>
            </a:r>
            <a:endParaRPr lang="en-US">
              <a:latin typeface="Figtree" pitchFamily="2" charset="0"/>
            </a:endParaRPr>
          </a:p>
        </p:txBody>
      </p:sp>
    </p:spTree>
    <p:extLst>
      <p:ext uri="{BB962C8B-B14F-4D97-AF65-F5344CB8AC3E}">
        <p14:creationId xmlns:p14="http://schemas.microsoft.com/office/powerpoint/2010/main" val="8706407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2D7813B-0AEF-7D46-1A32-A497320CB468}"/>
              </a:ext>
            </a:extLst>
          </p:cNvPr>
          <p:cNvSpPr/>
          <p:nvPr/>
        </p:nvSpPr>
        <p:spPr>
          <a:xfrm rot="8259699">
            <a:off x="-240634" y="-628361"/>
            <a:ext cx="12865852" cy="8114722"/>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1270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2F6462-EB54-0082-A989-117FAD765074}"/>
              </a:ext>
            </a:extLst>
          </p:cNvPr>
          <p:cNvSpPr txBox="1"/>
          <p:nvPr/>
        </p:nvSpPr>
        <p:spPr>
          <a:xfrm>
            <a:off x="1488471" y="837294"/>
            <a:ext cx="5960184" cy="769441"/>
          </a:xfrm>
          <a:prstGeom prst="rect">
            <a:avLst/>
          </a:prstGeom>
          <a:noFill/>
        </p:spPr>
        <p:txBody>
          <a:bodyPr wrap="square" rtlCol="0">
            <a:spAutoFit/>
          </a:bodyPr>
          <a:lstStyle/>
          <a:p>
            <a:r>
              <a:rPr lang="en-US" sz="4400">
                <a:solidFill>
                  <a:schemeClr val="tx2"/>
                </a:solidFill>
                <a:latin typeface="Space Grotesk Medium" pitchFamily="2" charset="0"/>
                <a:sym typeface="Manrope"/>
              </a:rPr>
              <a:t>Financial Intelligence</a:t>
            </a:r>
          </a:p>
        </p:txBody>
      </p:sp>
      <p:sp>
        <p:nvSpPr>
          <p:cNvPr id="6" name="TextBox 5">
            <a:extLst>
              <a:ext uri="{FF2B5EF4-FFF2-40B4-BE49-F238E27FC236}">
                <a16:creationId xmlns:a16="http://schemas.microsoft.com/office/drawing/2014/main" id="{1352EB1C-97D1-5A1E-52B7-2AF0BFA0BF28}"/>
              </a:ext>
            </a:extLst>
          </p:cNvPr>
          <p:cNvSpPr txBox="1"/>
          <p:nvPr/>
        </p:nvSpPr>
        <p:spPr>
          <a:xfrm>
            <a:off x="1488471" y="544906"/>
            <a:ext cx="1290738"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Our Innovation</a:t>
            </a:r>
          </a:p>
        </p:txBody>
      </p:sp>
      <p:sp>
        <p:nvSpPr>
          <p:cNvPr id="4" name="Rectangle: Rounded Corners 3">
            <a:extLst>
              <a:ext uri="{FF2B5EF4-FFF2-40B4-BE49-F238E27FC236}">
                <a16:creationId xmlns:a16="http://schemas.microsoft.com/office/drawing/2014/main" id="{FFD2FD75-8148-561B-C8AE-E3EA44EB08E1}"/>
              </a:ext>
            </a:extLst>
          </p:cNvPr>
          <p:cNvSpPr/>
          <p:nvPr/>
        </p:nvSpPr>
        <p:spPr>
          <a:xfrm>
            <a:off x="1603919" y="3894178"/>
            <a:ext cx="4395789" cy="1806387"/>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9133900F-C044-A69E-8AC9-25D845B25A7A}"/>
              </a:ext>
            </a:extLst>
          </p:cNvPr>
          <p:cNvSpPr txBox="1"/>
          <p:nvPr/>
        </p:nvSpPr>
        <p:spPr>
          <a:xfrm>
            <a:off x="2602048" y="4128293"/>
            <a:ext cx="1710725"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Fraud Detection</a:t>
            </a:r>
          </a:p>
        </p:txBody>
      </p:sp>
      <p:sp>
        <p:nvSpPr>
          <p:cNvPr id="9" name="TextBox 8">
            <a:extLst>
              <a:ext uri="{FF2B5EF4-FFF2-40B4-BE49-F238E27FC236}">
                <a16:creationId xmlns:a16="http://schemas.microsoft.com/office/drawing/2014/main" id="{424F289B-7B5F-B890-E2A4-BF4A2BFCEAFF}"/>
              </a:ext>
            </a:extLst>
          </p:cNvPr>
          <p:cNvSpPr txBox="1"/>
          <p:nvPr/>
        </p:nvSpPr>
        <p:spPr>
          <a:xfrm>
            <a:off x="2599154" y="4466847"/>
            <a:ext cx="3257680" cy="959237"/>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Future AI detects anomalies in financial transactions, safeguarding businesses and customers from fraudulent activities.</a:t>
            </a:r>
          </a:p>
        </p:txBody>
      </p:sp>
      <p:sp>
        <p:nvSpPr>
          <p:cNvPr id="10" name="Oval 9">
            <a:extLst>
              <a:ext uri="{FF2B5EF4-FFF2-40B4-BE49-F238E27FC236}">
                <a16:creationId xmlns:a16="http://schemas.microsoft.com/office/drawing/2014/main" id="{9F2A1682-17EF-5158-1709-8F4C8091F738}"/>
              </a:ext>
            </a:extLst>
          </p:cNvPr>
          <p:cNvSpPr/>
          <p:nvPr/>
        </p:nvSpPr>
        <p:spPr>
          <a:xfrm>
            <a:off x="1916881" y="4207431"/>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Graphic 10">
            <a:extLst>
              <a:ext uri="{FF2B5EF4-FFF2-40B4-BE49-F238E27FC236}">
                <a16:creationId xmlns:a16="http://schemas.microsoft.com/office/drawing/2014/main" id="{69608942-B9A9-6CC9-BA5E-1FB24AAD06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2039137" y="4329687"/>
            <a:ext cx="274320" cy="274320"/>
          </a:xfrm>
          <a:prstGeom prst="rect">
            <a:avLst/>
          </a:prstGeom>
        </p:spPr>
      </p:pic>
      <p:sp>
        <p:nvSpPr>
          <p:cNvPr id="12" name="Rectangle: Rounded Corners 11">
            <a:extLst>
              <a:ext uri="{FF2B5EF4-FFF2-40B4-BE49-F238E27FC236}">
                <a16:creationId xmlns:a16="http://schemas.microsoft.com/office/drawing/2014/main" id="{991E7942-7DD5-076F-E84D-1A40EAB11DC4}"/>
              </a:ext>
            </a:extLst>
          </p:cNvPr>
          <p:cNvSpPr/>
          <p:nvPr/>
        </p:nvSpPr>
        <p:spPr>
          <a:xfrm>
            <a:off x="6192293" y="3894178"/>
            <a:ext cx="4395789" cy="1806387"/>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TextBox 12">
            <a:extLst>
              <a:ext uri="{FF2B5EF4-FFF2-40B4-BE49-F238E27FC236}">
                <a16:creationId xmlns:a16="http://schemas.microsoft.com/office/drawing/2014/main" id="{69A6FAE1-4E51-0EAD-7D77-BF0C40D4A57B}"/>
              </a:ext>
            </a:extLst>
          </p:cNvPr>
          <p:cNvSpPr txBox="1"/>
          <p:nvPr/>
        </p:nvSpPr>
        <p:spPr>
          <a:xfrm>
            <a:off x="7190422" y="4128293"/>
            <a:ext cx="2085827" cy="338554"/>
          </a:xfrm>
          <a:prstGeom prst="rect">
            <a:avLst/>
          </a:prstGeom>
        </p:spPr>
        <p:txBody>
          <a:bodyPr wrap="none" rtlCol="0">
            <a:spAutoFit/>
          </a:bodyPr>
          <a:lstStyle>
            <a:defPPr>
              <a:defRPr lang="en-US"/>
            </a:defPPr>
            <a:lvl1pPr algn="ctr">
              <a:defRPr sz="1600" b="1">
                <a:solidFill>
                  <a:schemeClr val="tx2"/>
                </a:solidFill>
                <a:latin typeface="Figtree" pitchFamily="2" charset="0"/>
              </a:defRPr>
            </a:lvl1pPr>
          </a:lstStyle>
          <a:p>
            <a:pPr algn="l"/>
            <a:r>
              <a:rPr lang="en-US"/>
              <a:t>Predictive Analytics</a:t>
            </a:r>
          </a:p>
        </p:txBody>
      </p:sp>
      <p:sp>
        <p:nvSpPr>
          <p:cNvPr id="14" name="TextBox 13">
            <a:extLst>
              <a:ext uri="{FF2B5EF4-FFF2-40B4-BE49-F238E27FC236}">
                <a16:creationId xmlns:a16="http://schemas.microsoft.com/office/drawing/2014/main" id="{7E49DA4B-9BF2-7EE7-BB27-7E8331298F22}"/>
              </a:ext>
            </a:extLst>
          </p:cNvPr>
          <p:cNvSpPr txBox="1"/>
          <p:nvPr/>
        </p:nvSpPr>
        <p:spPr>
          <a:xfrm>
            <a:off x="7187528" y="4466847"/>
            <a:ext cx="3257680" cy="959237"/>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algn="l"/>
            <a:r>
              <a:rPr lang="en-US">
                <a:solidFill>
                  <a:schemeClr val="tx2">
                    <a:alpha val="60000"/>
                  </a:schemeClr>
                </a:solidFill>
              </a:rPr>
              <a:t>Empowers data-driven decisions in finance, predicting market trends, optimizing investments &amp; mitigating risks</a:t>
            </a:r>
          </a:p>
        </p:txBody>
      </p:sp>
      <p:sp>
        <p:nvSpPr>
          <p:cNvPr id="15" name="Oval 14">
            <a:extLst>
              <a:ext uri="{FF2B5EF4-FFF2-40B4-BE49-F238E27FC236}">
                <a16:creationId xmlns:a16="http://schemas.microsoft.com/office/drawing/2014/main" id="{5B798B07-2466-FAEE-5E44-10C18635C742}"/>
              </a:ext>
            </a:extLst>
          </p:cNvPr>
          <p:cNvSpPr/>
          <p:nvPr/>
        </p:nvSpPr>
        <p:spPr>
          <a:xfrm>
            <a:off x="6505255" y="4207431"/>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F783A23F-87E7-A3C5-5F08-506474510D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627511" y="4329687"/>
            <a:ext cx="274320" cy="274320"/>
          </a:xfrm>
          <a:prstGeom prst="rect">
            <a:avLst/>
          </a:prstGeom>
        </p:spPr>
      </p:pic>
      <p:sp>
        <p:nvSpPr>
          <p:cNvPr id="7" name="Picture Placeholder 6">
            <a:extLst>
              <a:ext uri="{FF2B5EF4-FFF2-40B4-BE49-F238E27FC236}">
                <a16:creationId xmlns:a16="http://schemas.microsoft.com/office/drawing/2014/main" id="{D818EF79-082B-ED4B-7E65-AF101D40BEAA}"/>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08919340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066884-7628-958B-69B0-9792D82D2A42}"/>
              </a:ext>
            </a:extLst>
          </p:cNvPr>
          <p:cNvSpPr txBox="1"/>
          <p:nvPr/>
        </p:nvSpPr>
        <p:spPr>
          <a:xfrm>
            <a:off x="954966" y="903269"/>
            <a:ext cx="7341309"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Applications of Future AI in Real-World Scenarios</a:t>
            </a:r>
          </a:p>
        </p:txBody>
      </p:sp>
      <p:sp>
        <p:nvSpPr>
          <p:cNvPr id="3" name="TextBox 2">
            <a:extLst>
              <a:ext uri="{FF2B5EF4-FFF2-40B4-BE49-F238E27FC236}">
                <a16:creationId xmlns:a16="http://schemas.microsoft.com/office/drawing/2014/main" id="{4CF85177-4DC8-17EF-664D-FDC9EE9995DE}"/>
              </a:ext>
            </a:extLst>
          </p:cNvPr>
          <p:cNvSpPr txBox="1"/>
          <p:nvPr/>
        </p:nvSpPr>
        <p:spPr>
          <a:xfrm>
            <a:off x="954966" y="610881"/>
            <a:ext cx="2220480"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Our Service and Innovation</a:t>
            </a:r>
          </a:p>
        </p:txBody>
      </p:sp>
      <p:sp>
        <p:nvSpPr>
          <p:cNvPr id="4" name="Rectangle: Rounded Corners 3">
            <a:extLst>
              <a:ext uri="{FF2B5EF4-FFF2-40B4-BE49-F238E27FC236}">
                <a16:creationId xmlns:a16="http://schemas.microsoft.com/office/drawing/2014/main" id="{8AF9103E-2A7C-F47F-4ACE-767535BCC880}"/>
              </a:ext>
            </a:extLst>
          </p:cNvPr>
          <p:cNvSpPr/>
          <p:nvPr/>
        </p:nvSpPr>
        <p:spPr>
          <a:xfrm>
            <a:off x="624603" y="2841266"/>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Oval 6">
            <a:extLst>
              <a:ext uri="{FF2B5EF4-FFF2-40B4-BE49-F238E27FC236}">
                <a16:creationId xmlns:a16="http://schemas.microsoft.com/office/drawing/2014/main" id="{23A7B939-60DD-95AA-A02A-26595A7B433A}"/>
              </a:ext>
            </a:extLst>
          </p:cNvPr>
          <p:cNvSpPr/>
          <p:nvPr/>
        </p:nvSpPr>
        <p:spPr>
          <a:xfrm>
            <a:off x="1042101" y="3177778"/>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8" name="Graphic 7">
            <a:extLst>
              <a:ext uri="{FF2B5EF4-FFF2-40B4-BE49-F238E27FC236}">
                <a16:creationId xmlns:a16="http://schemas.microsoft.com/office/drawing/2014/main" id="{174DF1F0-8380-FF91-89F9-9C1D19B80A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209741" y="3346942"/>
            <a:ext cx="274320" cy="274320"/>
          </a:xfrm>
          <a:prstGeom prst="rect">
            <a:avLst/>
          </a:prstGeom>
        </p:spPr>
      </p:pic>
      <p:sp>
        <p:nvSpPr>
          <p:cNvPr id="9" name="TextBox 8">
            <a:extLst>
              <a:ext uri="{FF2B5EF4-FFF2-40B4-BE49-F238E27FC236}">
                <a16:creationId xmlns:a16="http://schemas.microsoft.com/office/drawing/2014/main" id="{6FE968D1-AFDF-B531-1C67-9FF819FAB991}"/>
              </a:ext>
            </a:extLst>
          </p:cNvPr>
          <p:cNvSpPr txBox="1"/>
          <p:nvPr/>
        </p:nvSpPr>
        <p:spPr>
          <a:xfrm>
            <a:off x="963886" y="4361000"/>
            <a:ext cx="2327324" cy="9625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Spark AI detects anomalies in financial transactions and safe guarding businesses</a:t>
            </a:r>
          </a:p>
        </p:txBody>
      </p:sp>
      <p:sp>
        <p:nvSpPr>
          <p:cNvPr id="10" name="TextBox 9">
            <a:extLst>
              <a:ext uri="{FF2B5EF4-FFF2-40B4-BE49-F238E27FC236}">
                <a16:creationId xmlns:a16="http://schemas.microsoft.com/office/drawing/2014/main" id="{DD3CF107-1D62-D62D-0452-8028B8A85C24}"/>
              </a:ext>
            </a:extLst>
          </p:cNvPr>
          <p:cNvSpPr txBox="1"/>
          <p:nvPr/>
        </p:nvSpPr>
        <p:spPr>
          <a:xfrm>
            <a:off x="963887" y="4105692"/>
            <a:ext cx="2175596"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ym typeface="Manrope"/>
              </a:rPr>
              <a:t>Financial Intelligence</a:t>
            </a:r>
          </a:p>
        </p:txBody>
      </p:sp>
      <p:sp>
        <p:nvSpPr>
          <p:cNvPr id="11" name="Rectangle: Rounded Corners 10">
            <a:extLst>
              <a:ext uri="{FF2B5EF4-FFF2-40B4-BE49-F238E27FC236}">
                <a16:creationId xmlns:a16="http://schemas.microsoft.com/office/drawing/2014/main" id="{C345EA8C-C920-8BE7-502E-EB7B032570C7}"/>
              </a:ext>
            </a:extLst>
          </p:cNvPr>
          <p:cNvSpPr/>
          <p:nvPr/>
        </p:nvSpPr>
        <p:spPr>
          <a:xfrm>
            <a:off x="3309686" y="2841266"/>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Oval 11">
            <a:extLst>
              <a:ext uri="{FF2B5EF4-FFF2-40B4-BE49-F238E27FC236}">
                <a16:creationId xmlns:a16="http://schemas.microsoft.com/office/drawing/2014/main" id="{1852CF3E-8211-9B93-610C-152B4D016F69}"/>
              </a:ext>
            </a:extLst>
          </p:cNvPr>
          <p:cNvSpPr/>
          <p:nvPr/>
        </p:nvSpPr>
        <p:spPr>
          <a:xfrm>
            <a:off x="3727184" y="3177778"/>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15" name="Graphic 14">
            <a:extLst>
              <a:ext uri="{FF2B5EF4-FFF2-40B4-BE49-F238E27FC236}">
                <a16:creationId xmlns:a16="http://schemas.microsoft.com/office/drawing/2014/main" id="{E64B3B85-819C-86F5-EAFF-0117AC5BC0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894824" y="3346942"/>
            <a:ext cx="274320" cy="274320"/>
          </a:xfrm>
          <a:prstGeom prst="rect">
            <a:avLst/>
          </a:prstGeom>
        </p:spPr>
      </p:pic>
      <p:sp>
        <p:nvSpPr>
          <p:cNvPr id="18" name="TextBox 17">
            <a:extLst>
              <a:ext uri="{FF2B5EF4-FFF2-40B4-BE49-F238E27FC236}">
                <a16:creationId xmlns:a16="http://schemas.microsoft.com/office/drawing/2014/main" id="{25095629-F60B-8363-FE3E-6150A79D1994}"/>
              </a:ext>
            </a:extLst>
          </p:cNvPr>
          <p:cNvSpPr txBox="1"/>
          <p:nvPr/>
        </p:nvSpPr>
        <p:spPr>
          <a:xfrm>
            <a:off x="3648969" y="4361000"/>
            <a:ext cx="2327324" cy="9625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Spark AI optimizes maintenance schedules, minimizing downtime, and</a:t>
            </a:r>
          </a:p>
        </p:txBody>
      </p:sp>
      <p:sp>
        <p:nvSpPr>
          <p:cNvPr id="21" name="TextBox 20">
            <a:extLst>
              <a:ext uri="{FF2B5EF4-FFF2-40B4-BE49-F238E27FC236}">
                <a16:creationId xmlns:a16="http://schemas.microsoft.com/office/drawing/2014/main" id="{E2B5BC99-8C9A-0DD3-5B6D-3E9CF543392B}"/>
              </a:ext>
            </a:extLst>
          </p:cNvPr>
          <p:cNvSpPr txBox="1"/>
          <p:nvPr/>
        </p:nvSpPr>
        <p:spPr>
          <a:xfrm>
            <a:off x="3648970" y="4105692"/>
            <a:ext cx="2204450"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ym typeface="Manrope"/>
              </a:rPr>
              <a:t>Smart Manufacturing</a:t>
            </a:r>
          </a:p>
        </p:txBody>
      </p:sp>
      <p:sp>
        <p:nvSpPr>
          <p:cNvPr id="22" name="Rectangle: Rounded Corners 21">
            <a:extLst>
              <a:ext uri="{FF2B5EF4-FFF2-40B4-BE49-F238E27FC236}">
                <a16:creationId xmlns:a16="http://schemas.microsoft.com/office/drawing/2014/main" id="{B5FDC2CE-191A-BEC5-7E4D-E5B074D530A7}"/>
              </a:ext>
            </a:extLst>
          </p:cNvPr>
          <p:cNvSpPr/>
          <p:nvPr/>
        </p:nvSpPr>
        <p:spPr>
          <a:xfrm>
            <a:off x="5994769" y="2841266"/>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Oval 22">
            <a:extLst>
              <a:ext uri="{FF2B5EF4-FFF2-40B4-BE49-F238E27FC236}">
                <a16:creationId xmlns:a16="http://schemas.microsoft.com/office/drawing/2014/main" id="{F0F7DAE0-F1DC-7709-F695-63D0084C2679}"/>
              </a:ext>
            </a:extLst>
          </p:cNvPr>
          <p:cNvSpPr/>
          <p:nvPr/>
        </p:nvSpPr>
        <p:spPr>
          <a:xfrm>
            <a:off x="6412267" y="3177778"/>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24" name="Graphic 23">
            <a:extLst>
              <a:ext uri="{FF2B5EF4-FFF2-40B4-BE49-F238E27FC236}">
                <a16:creationId xmlns:a16="http://schemas.microsoft.com/office/drawing/2014/main" id="{266641F2-4358-D75A-F7D3-4D031389FA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579907" y="3346942"/>
            <a:ext cx="274320" cy="274320"/>
          </a:xfrm>
          <a:prstGeom prst="rect">
            <a:avLst/>
          </a:prstGeom>
        </p:spPr>
      </p:pic>
      <p:sp>
        <p:nvSpPr>
          <p:cNvPr id="25" name="TextBox 24">
            <a:extLst>
              <a:ext uri="{FF2B5EF4-FFF2-40B4-BE49-F238E27FC236}">
                <a16:creationId xmlns:a16="http://schemas.microsoft.com/office/drawing/2014/main" id="{985DAC22-129C-6E0C-F3DD-0D118E2EED08}"/>
              </a:ext>
            </a:extLst>
          </p:cNvPr>
          <p:cNvSpPr txBox="1"/>
          <p:nvPr/>
        </p:nvSpPr>
        <p:spPr>
          <a:xfrm>
            <a:off x="6334052" y="4361000"/>
            <a:ext cx="2327324" cy="9625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Spark AI aids in accurate and timely diagnosis, enabling early detection of</a:t>
            </a:r>
          </a:p>
        </p:txBody>
      </p:sp>
      <p:sp>
        <p:nvSpPr>
          <p:cNvPr id="26" name="TextBox 25">
            <a:extLst>
              <a:ext uri="{FF2B5EF4-FFF2-40B4-BE49-F238E27FC236}">
                <a16:creationId xmlns:a16="http://schemas.microsoft.com/office/drawing/2014/main" id="{DECC717E-8AF0-3FE5-4A3A-DE11F7239C58}"/>
              </a:ext>
            </a:extLst>
          </p:cNvPr>
          <p:cNvSpPr txBox="1"/>
          <p:nvPr/>
        </p:nvSpPr>
        <p:spPr>
          <a:xfrm>
            <a:off x="6334053" y="4105692"/>
            <a:ext cx="2289409"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ym typeface="Manrope"/>
              </a:rPr>
              <a:t>Healthcare Revolution</a:t>
            </a:r>
          </a:p>
        </p:txBody>
      </p:sp>
      <p:sp>
        <p:nvSpPr>
          <p:cNvPr id="27" name="Rectangle: Rounded Corners 26">
            <a:extLst>
              <a:ext uri="{FF2B5EF4-FFF2-40B4-BE49-F238E27FC236}">
                <a16:creationId xmlns:a16="http://schemas.microsoft.com/office/drawing/2014/main" id="{DD35F057-F44D-FB5B-490A-CA3AD38EF0C3}"/>
              </a:ext>
            </a:extLst>
          </p:cNvPr>
          <p:cNvSpPr/>
          <p:nvPr/>
        </p:nvSpPr>
        <p:spPr>
          <a:xfrm>
            <a:off x="8679853" y="2841266"/>
            <a:ext cx="2887544" cy="2769138"/>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Oval 27">
            <a:extLst>
              <a:ext uri="{FF2B5EF4-FFF2-40B4-BE49-F238E27FC236}">
                <a16:creationId xmlns:a16="http://schemas.microsoft.com/office/drawing/2014/main" id="{235CE26F-2B9D-3A34-D5D5-B191FBEBF635}"/>
              </a:ext>
            </a:extLst>
          </p:cNvPr>
          <p:cNvSpPr/>
          <p:nvPr/>
        </p:nvSpPr>
        <p:spPr>
          <a:xfrm>
            <a:off x="9097351" y="3177778"/>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29" name="Graphic 28">
            <a:extLst>
              <a:ext uri="{FF2B5EF4-FFF2-40B4-BE49-F238E27FC236}">
                <a16:creationId xmlns:a16="http://schemas.microsoft.com/office/drawing/2014/main" id="{9C94F3C9-F1C5-9EA4-8CD3-FCCEAB1B71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264991" y="3346942"/>
            <a:ext cx="274320" cy="274320"/>
          </a:xfrm>
          <a:prstGeom prst="rect">
            <a:avLst/>
          </a:prstGeom>
        </p:spPr>
      </p:pic>
      <p:sp>
        <p:nvSpPr>
          <p:cNvPr id="30" name="TextBox 29">
            <a:extLst>
              <a:ext uri="{FF2B5EF4-FFF2-40B4-BE49-F238E27FC236}">
                <a16:creationId xmlns:a16="http://schemas.microsoft.com/office/drawing/2014/main" id="{4DB759D9-907C-460F-B661-66B767CCBEA9}"/>
              </a:ext>
            </a:extLst>
          </p:cNvPr>
          <p:cNvSpPr txBox="1"/>
          <p:nvPr/>
        </p:nvSpPr>
        <p:spPr>
          <a:xfrm>
            <a:off x="9019136" y="4361000"/>
            <a:ext cx="2327324" cy="962571"/>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Spark AI enables seamless translation of text and speech, breaking</a:t>
            </a:r>
          </a:p>
        </p:txBody>
      </p:sp>
      <p:sp>
        <p:nvSpPr>
          <p:cNvPr id="31" name="TextBox 30">
            <a:extLst>
              <a:ext uri="{FF2B5EF4-FFF2-40B4-BE49-F238E27FC236}">
                <a16:creationId xmlns:a16="http://schemas.microsoft.com/office/drawing/2014/main" id="{3A9E1BBD-509F-7722-7D25-F03B38BB395B}"/>
              </a:ext>
            </a:extLst>
          </p:cNvPr>
          <p:cNvSpPr txBox="1"/>
          <p:nvPr/>
        </p:nvSpPr>
        <p:spPr>
          <a:xfrm>
            <a:off x="9019137" y="4105692"/>
            <a:ext cx="2190023"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ym typeface="Manrope"/>
              </a:rPr>
              <a:t>Language Processing</a:t>
            </a:r>
          </a:p>
        </p:txBody>
      </p:sp>
      <p:sp>
        <p:nvSpPr>
          <p:cNvPr id="45" name="Oval 44">
            <a:extLst>
              <a:ext uri="{FF2B5EF4-FFF2-40B4-BE49-F238E27FC236}">
                <a16:creationId xmlns:a16="http://schemas.microsoft.com/office/drawing/2014/main" id="{30AD358A-9A79-35BA-C446-8008E6969B78}"/>
              </a:ext>
            </a:extLst>
          </p:cNvPr>
          <p:cNvSpPr/>
          <p:nvPr/>
        </p:nvSpPr>
        <p:spPr>
          <a:xfrm>
            <a:off x="7645001" y="1749452"/>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6" name="Straight Arrow Connector 45">
            <a:extLst>
              <a:ext uri="{FF2B5EF4-FFF2-40B4-BE49-F238E27FC236}">
                <a16:creationId xmlns:a16="http://schemas.microsoft.com/office/drawing/2014/main" id="{F491D60F-DD5B-6523-41E4-87B85BEC34FB}"/>
              </a:ext>
            </a:extLst>
          </p:cNvPr>
          <p:cNvCxnSpPr>
            <a:cxnSpLocks/>
          </p:cNvCxnSpPr>
          <p:nvPr/>
        </p:nvCxnSpPr>
        <p:spPr>
          <a:xfrm flipV="1">
            <a:off x="7816729" y="1921180"/>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580759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066884-7628-958B-69B0-9792D82D2A42}"/>
              </a:ext>
            </a:extLst>
          </p:cNvPr>
          <p:cNvSpPr txBox="1"/>
          <p:nvPr/>
        </p:nvSpPr>
        <p:spPr>
          <a:xfrm>
            <a:off x="1245249" y="899233"/>
            <a:ext cx="6447322"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Glimpse of The Real-World Transformations</a:t>
            </a:r>
          </a:p>
        </p:txBody>
      </p:sp>
      <p:sp>
        <p:nvSpPr>
          <p:cNvPr id="3" name="TextBox 2">
            <a:extLst>
              <a:ext uri="{FF2B5EF4-FFF2-40B4-BE49-F238E27FC236}">
                <a16:creationId xmlns:a16="http://schemas.microsoft.com/office/drawing/2014/main" id="{4CF85177-4DC8-17EF-664D-FDC9EE9995DE}"/>
              </a:ext>
            </a:extLst>
          </p:cNvPr>
          <p:cNvSpPr txBox="1"/>
          <p:nvPr/>
        </p:nvSpPr>
        <p:spPr>
          <a:xfrm>
            <a:off x="1245251" y="606845"/>
            <a:ext cx="1502334"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Our Technologies</a:t>
            </a:r>
          </a:p>
        </p:txBody>
      </p:sp>
      <p:sp>
        <p:nvSpPr>
          <p:cNvPr id="5" name="Oval 4">
            <a:extLst>
              <a:ext uri="{FF2B5EF4-FFF2-40B4-BE49-F238E27FC236}">
                <a16:creationId xmlns:a16="http://schemas.microsoft.com/office/drawing/2014/main" id="{CC758284-857A-462B-2AE2-D048090CC931}"/>
              </a:ext>
            </a:extLst>
          </p:cNvPr>
          <p:cNvSpPr/>
          <p:nvPr/>
        </p:nvSpPr>
        <p:spPr>
          <a:xfrm>
            <a:off x="7075763" y="1020093"/>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6" name="Straight Arrow Connector 5">
            <a:extLst>
              <a:ext uri="{FF2B5EF4-FFF2-40B4-BE49-F238E27FC236}">
                <a16:creationId xmlns:a16="http://schemas.microsoft.com/office/drawing/2014/main" id="{B165279A-65B6-C846-B43C-9160276FE09A}"/>
              </a:ext>
            </a:extLst>
          </p:cNvPr>
          <p:cNvCxnSpPr>
            <a:cxnSpLocks/>
          </p:cNvCxnSpPr>
          <p:nvPr/>
        </p:nvCxnSpPr>
        <p:spPr>
          <a:xfrm flipV="1">
            <a:off x="7247491" y="1191821"/>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13" name="Rectangle: Rounded Corners 12">
            <a:extLst>
              <a:ext uri="{FF2B5EF4-FFF2-40B4-BE49-F238E27FC236}">
                <a16:creationId xmlns:a16="http://schemas.microsoft.com/office/drawing/2014/main" id="{545FFA02-1B04-CD3B-F6C1-15780C76722F}"/>
              </a:ext>
            </a:extLst>
          </p:cNvPr>
          <p:cNvSpPr/>
          <p:nvPr/>
        </p:nvSpPr>
        <p:spPr>
          <a:xfrm>
            <a:off x="1228767" y="2864991"/>
            <a:ext cx="2820114" cy="2481654"/>
          </a:xfrm>
          <a:prstGeom prst="roundRect">
            <a:avLst>
              <a:gd name="adj" fmla="val 6556"/>
            </a:avLst>
          </a:prstGeom>
          <a:solidFill>
            <a:schemeClr val="tx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Oval 13">
            <a:extLst>
              <a:ext uri="{FF2B5EF4-FFF2-40B4-BE49-F238E27FC236}">
                <a16:creationId xmlns:a16="http://schemas.microsoft.com/office/drawing/2014/main" id="{F9C67C6D-CEF9-19EF-6F63-7EE2B26D47FA}"/>
              </a:ext>
            </a:extLst>
          </p:cNvPr>
          <p:cNvSpPr/>
          <p:nvPr/>
        </p:nvSpPr>
        <p:spPr>
          <a:xfrm>
            <a:off x="1665894" y="3150217"/>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15" name="Graphic 14">
            <a:extLst>
              <a:ext uri="{FF2B5EF4-FFF2-40B4-BE49-F238E27FC236}">
                <a16:creationId xmlns:a16="http://schemas.microsoft.com/office/drawing/2014/main" id="{446B5843-AE11-9176-3FF8-A79571EDC5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833534" y="3319381"/>
            <a:ext cx="274320" cy="274320"/>
          </a:xfrm>
          <a:prstGeom prst="rect">
            <a:avLst/>
          </a:prstGeom>
        </p:spPr>
      </p:pic>
      <p:sp>
        <p:nvSpPr>
          <p:cNvPr id="16" name="TextBox 15">
            <a:extLst>
              <a:ext uri="{FF2B5EF4-FFF2-40B4-BE49-F238E27FC236}">
                <a16:creationId xmlns:a16="http://schemas.microsoft.com/office/drawing/2014/main" id="{0003BD66-8B96-830B-8C55-87791A99F4FC}"/>
              </a:ext>
            </a:extLst>
          </p:cNvPr>
          <p:cNvSpPr txBox="1"/>
          <p:nvPr/>
        </p:nvSpPr>
        <p:spPr>
          <a:xfrm>
            <a:off x="1562015" y="4133486"/>
            <a:ext cx="2204450" cy="959237"/>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olidFill>
                  <a:schemeClr val="bg2">
                    <a:alpha val="60000"/>
                  </a:schemeClr>
                </a:solidFill>
                <a:sym typeface="Manrope Medium"/>
              </a:rPr>
              <a:t>Spark AI detects anomalies in financial transactions, safe guarding businesses</a:t>
            </a:r>
          </a:p>
        </p:txBody>
      </p:sp>
      <p:sp>
        <p:nvSpPr>
          <p:cNvPr id="17" name="TextBox 16">
            <a:extLst>
              <a:ext uri="{FF2B5EF4-FFF2-40B4-BE49-F238E27FC236}">
                <a16:creationId xmlns:a16="http://schemas.microsoft.com/office/drawing/2014/main" id="{27D6701D-43BD-FDD0-244D-01092372820B}"/>
              </a:ext>
            </a:extLst>
          </p:cNvPr>
          <p:cNvSpPr txBox="1"/>
          <p:nvPr/>
        </p:nvSpPr>
        <p:spPr>
          <a:xfrm>
            <a:off x="1562015" y="3878178"/>
            <a:ext cx="2175596"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olidFill>
                  <a:schemeClr val="bg2"/>
                </a:solidFill>
                <a:sym typeface="Manrope"/>
              </a:rPr>
              <a:t>Financial Intelligence</a:t>
            </a:r>
          </a:p>
        </p:txBody>
      </p:sp>
      <p:sp>
        <p:nvSpPr>
          <p:cNvPr id="18" name="Rectangle: Rounded Corners 17">
            <a:extLst>
              <a:ext uri="{FF2B5EF4-FFF2-40B4-BE49-F238E27FC236}">
                <a16:creationId xmlns:a16="http://schemas.microsoft.com/office/drawing/2014/main" id="{ACA30291-1F43-D075-252F-60D92E8791C3}"/>
              </a:ext>
            </a:extLst>
          </p:cNvPr>
          <p:cNvSpPr/>
          <p:nvPr/>
        </p:nvSpPr>
        <p:spPr>
          <a:xfrm>
            <a:off x="4665780" y="2864991"/>
            <a:ext cx="2820114" cy="2481654"/>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Oval 18">
            <a:extLst>
              <a:ext uri="{FF2B5EF4-FFF2-40B4-BE49-F238E27FC236}">
                <a16:creationId xmlns:a16="http://schemas.microsoft.com/office/drawing/2014/main" id="{4910CF4B-855F-7A74-309F-011E8B56A95E}"/>
              </a:ext>
            </a:extLst>
          </p:cNvPr>
          <p:cNvSpPr/>
          <p:nvPr/>
        </p:nvSpPr>
        <p:spPr>
          <a:xfrm>
            <a:off x="5102907" y="3150217"/>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20" name="Graphic 19">
            <a:extLst>
              <a:ext uri="{FF2B5EF4-FFF2-40B4-BE49-F238E27FC236}">
                <a16:creationId xmlns:a16="http://schemas.microsoft.com/office/drawing/2014/main" id="{2B772D05-AD95-CDBF-4B9B-B0167780D4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270547" y="3319381"/>
            <a:ext cx="274320" cy="274320"/>
          </a:xfrm>
          <a:prstGeom prst="rect">
            <a:avLst/>
          </a:prstGeom>
        </p:spPr>
      </p:pic>
      <p:sp>
        <p:nvSpPr>
          <p:cNvPr id="21" name="TextBox 20">
            <a:extLst>
              <a:ext uri="{FF2B5EF4-FFF2-40B4-BE49-F238E27FC236}">
                <a16:creationId xmlns:a16="http://schemas.microsoft.com/office/drawing/2014/main" id="{56AE20CF-9A3E-3B3F-9B1F-58A2D1BA0BFF}"/>
              </a:ext>
            </a:extLst>
          </p:cNvPr>
          <p:cNvSpPr txBox="1"/>
          <p:nvPr/>
        </p:nvSpPr>
        <p:spPr>
          <a:xfrm>
            <a:off x="4999028" y="4133486"/>
            <a:ext cx="2204450" cy="959237"/>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Spark AI optimizes maintenance schedules and minimizing downtime</a:t>
            </a:r>
          </a:p>
        </p:txBody>
      </p:sp>
      <p:sp>
        <p:nvSpPr>
          <p:cNvPr id="22" name="TextBox 21">
            <a:extLst>
              <a:ext uri="{FF2B5EF4-FFF2-40B4-BE49-F238E27FC236}">
                <a16:creationId xmlns:a16="http://schemas.microsoft.com/office/drawing/2014/main" id="{2C9A6794-966C-FD7A-E6B8-69B8681B0507}"/>
              </a:ext>
            </a:extLst>
          </p:cNvPr>
          <p:cNvSpPr txBox="1"/>
          <p:nvPr/>
        </p:nvSpPr>
        <p:spPr>
          <a:xfrm>
            <a:off x="4999028" y="3878178"/>
            <a:ext cx="2204450"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ym typeface="Manrope"/>
              </a:rPr>
              <a:t>Smart Manufacturing</a:t>
            </a:r>
          </a:p>
        </p:txBody>
      </p:sp>
      <p:sp>
        <p:nvSpPr>
          <p:cNvPr id="23" name="Rectangle: Rounded Corners 22">
            <a:extLst>
              <a:ext uri="{FF2B5EF4-FFF2-40B4-BE49-F238E27FC236}">
                <a16:creationId xmlns:a16="http://schemas.microsoft.com/office/drawing/2014/main" id="{134C1C8D-67E3-DAC9-CD92-4FBF0F5F9962}"/>
              </a:ext>
            </a:extLst>
          </p:cNvPr>
          <p:cNvSpPr/>
          <p:nvPr/>
        </p:nvSpPr>
        <p:spPr>
          <a:xfrm>
            <a:off x="8102793" y="2864991"/>
            <a:ext cx="2820114" cy="2481654"/>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Oval 23">
            <a:extLst>
              <a:ext uri="{FF2B5EF4-FFF2-40B4-BE49-F238E27FC236}">
                <a16:creationId xmlns:a16="http://schemas.microsoft.com/office/drawing/2014/main" id="{F9D91181-F0B4-3CB2-5AC1-7E8CDFE676E4}"/>
              </a:ext>
            </a:extLst>
          </p:cNvPr>
          <p:cNvSpPr/>
          <p:nvPr/>
        </p:nvSpPr>
        <p:spPr>
          <a:xfrm>
            <a:off x="8539920" y="3150217"/>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25" name="Graphic 24">
            <a:extLst>
              <a:ext uri="{FF2B5EF4-FFF2-40B4-BE49-F238E27FC236}">
                <a16:creationId xmlns:a16="http://schemas.microsoft.com/office/drawing/2014/main" id="{F2F80545-65EB-8646-5D28-6C0F53D11C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707560" y="3319381"/>
            <a:ext cx="274320" cy="274320"/>
          </a:xfrm>
          <a:prstGeom prst="rect">
            <a:avLst/>
          </a:prstGeom>
        </p:spPr>
      </p:pic>
      <p:sp>
        <p:nvSpPr>
          <p:cNvPr id="26" name="TextBox 25">
            <a:extLst>
              <a:ext uri="{FF2B5EF4-FFF2-40B4-BE49-F238E27FC236}">
                <a16:creationId xmlns:a16="http://schemas.microsoft.com/office/drawing/2014/main" id="{43872D62-FBB0-D572-3484-A5CFC7120DE9}"/>
              </a:ext>
            </a:extLst>
          </p:cNvPr>
          <p:cNvSpPr txBox="1"/>
          <p:nvPr/>
        </p:nvSpPr>
        <p:spPr>
          <a:xfrm>
            <a:off x="8436041" y="4133486"/>
            <a:ext cx="2204450" cy="959237"/>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Spark AI aids in accurate and timely diagnosis, enabling early detection</a:t>
            </a:r>
          </a:p>
        </p:txBody>
      </p:sp>
      <p:sp>
        <p:nvSpPr>
          <p:cNvPr id="27" name="TextBox 26">
            <a:extLst>
              <a:ext uri="{FF2B5EF4-FFF2-40B4-BE49-F238E27FC236}">
                <a16:creationId xmlns:a16="http://schemas.microsoft.com/office/drawing/2014/main" id="{2FFCBF8E-6160-B085-793E-13599566DDF9}"/>
              </a:ext>
            </a:extLst>
          </p:cNvPr>
          <p:cNvSpPr txBox="1"/>
          <p:nvPr/>
        </p:nvSpPr>
        <p:spPr>
          <a:xfrm>
            <a:off x="8436041" y="3878178"/>
            <a:ext cx="2289409" cy="338554"/>
          </a:xfrm>
          <a:prstGeom prst="rect">
            <a:avLst/>
          </a:prstGeom>
        </p:spPr>
        <p:txBody>
          <a:bodyPr wrap="none" rtlCol="0">
            <a:spAutoFit/>
          </a:bodyPr>
          <a:lstStyle>
            <a:defPPr>
              <a:defRPr lang="en-US"/>
            </a:defPPr>
            <a:lvl1pPr>
              <a:defRPr sz="1600" b="1">
                <a:solidFill>
                  <a:schemeClr val="tx2"/>
                </a:solidFill>
                <a:latin typeface="Figtree" pitchFamily="2" charset="0"/>
              </a:defRPr>
            </a:lvl1pPr>
          </a:lstStyle>
          <a:p>
            <a:r>
              <a:rPr lang="en-US">
                <a:sym typeface="Manrope"/>
              </a:rPr>
              <a:t>Healthcare Revolution</a:t>
            </a:r>
          </a:p>
        </p:txBody>
      </p:sp>
      <p:sp>
        <p:nvSpPr>
          <p:cNvPr id="4" name="Freeform: Shape 3">
            <a:extLst>
              <a:ext uri="{FF2B5EF4-FFF2-40B4-BE49-F238E27FC236}">
                <a16:creationId xmlns:a16="http://schemas.microsoft.com/office/drawing/2014/main" id="{52BE8154-D723-9695-765B-46A4DCCB4BC7}"/>
              </a:ext>
            </a:extLst>
          </p:cNvPr>
          <p:cNvSpPr/>
          <p:nvPr/>
        </p:nvSpPr>
        <p:spPr>
          <a:xfrm rot="11657861">
            <a:off x="7687457" y="-48171"/>
            <a:ext cx="5885054" cy="3422641"/>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54386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C5C1C-3A02-B81D-BC47-A613D1DB8CE8}"/>
              </a:ext>
            </a:extLst>
          </p:cNvPr>
          <p:cNvSpPr txBox="1"/>
          <p:nvPr/>
        </p:nvSpPr>
        <p:spPr>
          <a:xfrm>
            <a:off x="2534883" y="876441"/>
            <a:ext cx="7122234" cy="769441"/>
          </a:xfrm>
          <a:prstGeom prst="rect">
            <a:avLst/>
          </a:prstGeom>
          <a:noFill/>
        </p:spPr>
        <p:txBody>
          <a:bodyPr wrap="square" rtlCol="0">
            <a:spAutoFit/>
          </a:bodyPr>
          <a:lstStyle/>
          <a:p>
            <a:pPr algn="ctr"/>
            <a:r>
              <a:rPr lang="en-US" sz="4400">
                <a:solidFill>
                  <a:schemeClr val="tx2"/>
                </a:solidFill>
                <a:latin typeface="Space Grotesk Medium" pitchFamily="2" charset="0"/>
                <a:sym typeface="Manrope"/>
              </a:rPr>
              <a:t>How to Use Future AI</a:t>
            </a:r>
          </a:p>
        </p:txBody>
      </p:sp>
      <p:sp>
        <p:nvSpPr>
          <p:cNvPr id="9" name="TextBox 8">
            <a:extLst>
              <a:ext uri="{FF2B5EF4-FFF2-40B4-BE49-F238E27FC236}">
                <a16:creationId xmlns:a16="http://schemas.microsoft.com/office/drawing/2014/main" id="{446ADD13-7EE6-6A24-F9D5-780DC1A05A1A}"/>
              </a:ext>
            </a:extLst>
          </p:cNvPr>
          <p:cNvSpPr txBox="1"/>
          <p:nvPr/>
        </p:nvSpPr>
        <p:spPr>
          <a:xfrm>
            <a:off x="5255866" y="584053"/>
            <a:ext cx="1680268" cy="292388"/>
          </a:xfrm>
          <a:prstGeom prst="rect">
            <a:avLst/>
          </a:prstGeom>
          <a:noFill/>
        </p:spPr>
        <p:txBody>
          <a:bodyPr wrap="none" rtlCol="0">
            <a:spAutoFit/>
          </a:bodyPr>
          <a:lstStyle/>
          <a:p>
            <a:pPr algn="ctr"/>
            <a:r>
              <a:rPr lang="en-US" sz="1300">
                <a:solidFill>
                  <a:schemeClr val="tx2"/>
                </a:solidFill>
                <a:latin typeface="Figtree Medium" pitchFamily="2" charset="0"/>
                <a:sym typeface="Manrope Medium"/>
              </a:rPr>
              <a:t>#BringsWorldBetter</a:t>
            </a:r>
          </a:p>
        </p:txBody>
      </p:sp>
      <p:sp>
        <p:nvSpPr>
          <p:cNvPr id="4" name="TextBox 3">
            <a:extLst>
              <a:ext uri="{FF2B5EF4-FFF2-40B4-BE49-F238E27FC236}">
                <a16:creationId xmlns:a16="http://schemas.microsoft.com/office/drawing/2014/main" id="{46EB26CC-9F40-5C8C-FF04-6AB67BDAFC83}"/>
              </a:ext>
            </a:extLst>
          </p:cNvPr>
          <p:cNvSpPr txBox="1"/>
          <p:nvPr/>
        </p:nvSpPr>
        <p:spPr>
          <a:xfrm>
            <a:off x="663221" y="2419731"/>
            <a:ext cx="1607014" cy="584775"/>
          </a:xfrm>
          <a:prstGeom prst="rect">
            <a:avLst/>
          </a:prstGeom>
          <a:noFill/>
        </p:spPr>
        <p:txBody>
          <a:bodyPr wrap="square" rtlCol="0">
            <a:spAutoFit/>
          </a:bodyPr>
          <a:lstStyle/>
          <a:p>
            <a:r>
              <a:rPr lang="en-US" sz="1600" b="1">
                <a:solidFill>
                  <a:schemeClr val="tx2"/>
                </a:solidFill>
                <a:latin typeface="Figtree" pitchFamily="2" charset="0"/>
              </a:rPr>
              <a:t>Define Your Objective</a:t>
            </a:r>
          </a:p>
        </p:txBody>
      </p:sp>
      <p:sp>
        <p:nvSpPr>
          <p:cNvPr id="5" name="TextBox 4">
            <a:extLst>
              <a:ext uri="{FF2B5EF4-FFF2-40B4-BE49-F238E27FC236}">
                <a16:creationId xmlns:a16="http://schemas.microsoft.com/office/drawing/2014/main" id="{5BE77A70-7620-0ADD-E04B-2430EDE4F694}"/>
              </a:ext>
            </a:extLst>
          </p:cNvPr>
          <p:cNvSpPr txBox="1"/>
          <p:nvPr/>
        </p:nvSpPr>
        <p:spPr>
          <a:xfrm>
            <a:off x="663221" y="1814445"/>
            <a:ext cx="617477" cy="584775"/>
          </a:xfrm>
          <a:prstGeom prst="rect">
            <a:avLst/>
          </a:prstGeom>
          <a:noFill/>
        </p:spPr>
        <p:txBody>
          <a:bodyPr wrap="none" rtlCol="0">
            <a:spAutoFit/>
          </a:bodyPr>
          <a:lstStyle/>
          <a:p>
            <a:r>
              <a:rPr lang="en-US" sz="3200">
                <a:solidFill>
                  <a:schemeClr val="accent1"/>
                </a:solidFill>
                <a:latin typeface="Figtree" pitchFamily="2" charset="0"/>
                <a:sym typeface="Manrope Medium"/>
              </a:rPr>
              <a:t>01</a:t>
            </a:r>
          </a:p>
        </p:txBody>
      </p:sp>
      <p:sp>
        <p:nvSpPr>
          <p:cNvPr id="6" name="TextBox 5">
            <a:extLst>
              <a:ext uri="{FF2B5EF4-FFF2-40B4-BE49-F238E27FC236}">
                <a16:creationId xmlns:a16="http://schemas.microsoft.com/office/drawing/2014/main" id="{312DCA1B-6805-162E-7144-FC998AC18B99}"/>
              </a:ext>
            </a:extLst>
          </p:cNvPr>
          <p:cNvSpPr txBox="1"/>
          <p:nvPr/>
        </p:nvSpPr>
        <p:spPr>
          <a:xfrm>
            <a:off x="666424" y="2992194"/>
            <a:ext cx="2289855" cy="659155"/>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Clearly outline the problem or goal you want to address</a:t>
            </a:r>
          </a:p>
        </p:txBody>
      </p:sp>
      <p:sp>
        <p:nvSpPr>
          <p:cNvPr id="10" name="TextBox 9">
            <a:extLst>
              <a:ext uri="{FF2B5EF4-FFF2-40B4-BE49-F238E27FC236}">
                <a16:creationId xmlns:a16="http://schemas.microsoft.com/office/drawing/2014/main" id="{962B4986-27C5-B33C-17D7-7FC20B542225}"/>
              </a:ext>
            </a:extLst>
          </p:cNvPr>
          <p:cNvSpPr txBox="1"/>
          <p:nvPr/>
        </p:nvSpPr>
        <p:spPr>
          <a:xfrm>
            <a:off x="3468357" y="1814445"/>
            <a:ext cx="676788" cy="584775"/>
          </a:xfrm>
          <a:prstGeom prst="rect">
            <a:avLst/>
          </a:prstGeom>
          <a:noFill/>
        </p:spPr>
        <p:txBody>
          <a:bodyPr wrap="none" rtlCol="0">
            <a:spAutoFit/>
          </a:bodyPr>
          <a:lstStyle>
            <a:defPPr>
              <a:defRPr lang="en-US"/>
            </a:defPPr>
            <a:lvl1pPr>
              <a:defRPr sz="4400">
                <a:solidFill>
                  <a:schemeClr val="tx2">
                    <a:alpha val="60000"/>
                  </a:schemeClr>
                </a:solidFill>
                <a:latin typeface="Figtree" pitchFamily="2" charset="0"/>
              </a:defRPr>
            </a:lvl1pPr>
          </a:lstStyle>
          <a:p>
            <a:r>
              <a:rPr lang="en-US" sz="3200">
                <a:solidFill>
                  <a:schemeClr val="accent1"/>
                </a:solidFill>
                <a:sym typeface="Manrope Medium"/>
              </a:rPr>
              <a:t>02</a:t>
            </a:r>
          </a:p>
        </p:txBody>
      </p:sp>
      <p:sp>
        <p:nvSpPr>
          <p:cNvPr id="11" name="TextBox 10">
            <a:extLst>
              <a:ext uri="{FF2B5EF4-FFF2-40B4-BE49-F238E27FC236}">
                <a16:creationId xmlns:a16="http://schemas.microsoft.com/office/drawing/2014/main" id="{203FE7F3-1785-21BC-28EB-F6B48C085063}"/>
              </a:ext>
            </a:extLst>
          </p:cNvPr>
          <p:cNvSpPr txBox="1"/>
          <p:nvPr/>
        </p:nvSpPr>
        <p:spPr>
          <a:xfrm>
            <a:off x="3523923" y="2992194"/>
            <a:ext cx="2289857" cy="659155"/>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Collect relevant data that aligns with your objective. </a:t>
            </a:r>
          </a:p>
        </p:txBody>
      </p:sp>
      <p:sp>
        <p:nvSpPr>
          <p:cNvPr id="14" name="TextBox 13">
            <a:extLst>
              <a:ext uri="{FF2B5EF4-FFF2-40B4-BE49-F238E27FC236}">
                <a16:creationId xmlns:a16="http://schemas.microsoft.com/office/drawing/2014/main" id="{1CC05B52-B73C-0C90-09A5-004D173D72B7}"/>
              </a:ext>
            </a:extLst>
          </p:cNvPr>
          <p:cNvSpPr txBox="1"/>
          <p:nvPr/>
        </p:nvSpPr>
        <p:spPr>
          <a:xfrm>
            <a:off x="6356849" y="1814445"/>
            <a:ext cx="670376" cy="584775"/>
          </a:xfrm>
          <a:prstGeom prst="rect">
            <a:avLst/>
          </a:prstGeom>
          <a:noFill/>
        </p:spPr>
        <p:txBody>
          <a:bodyPr wrap="none" rtlCol="0">
            <a:spAutoFit/>
          </a:bodyPr>
          <a:lstStyle>
            <a:defPPr>
              <a:defRPr lang="en-US"/>
            </a:defPPr>
            <a:lvl1pPr>
              <a:defRPr sz="4400">
                <a:solidFill>
                  <a:schemeClr val="tx2">
                    <a:alpha val="60000"/>
                  </a:schemeClr>
                </a:solidFill>
                <a:latin typeface="Figtree" pitchFamily="2" charset="0"/>
              </a:defRPr>
            </a:lvl1pPr>
          </a:lstStyle>
          <a:p>
            <a:r>
              <a:rPr lang="en-US" sz="3200">
                <a:solidFill>
                  <a:schemeClr val="accent1"/>
                </a:solidFill>
                <a:sym typeface="Manrope Medium"/>
              </a:rPr>
              <a:t>03</a:t>
            </a:r>
          </a:p>
        </p:txBody>
      </p:sp>
      <p:sp>
        <p:nvSpPr>
          <p:cNvPr id="15" name="TextBox 14">
            <a:extLst>
              <a:ext uri="{FF2B5EF4-FFF2-40B4-BE49-F238E27FC236}">
                <a16:creationId xmlns:a16="http://schemas.microsoft.com/office/drawing/2014/main" id="{C5E1FAB7-F2F3-3514-C48C-9ACE47D61CCF}"/>
              </a:ext>
            </a:extLst>
          </p:cNvPr>
          <p:cNvSpPr txBox="1"/>
          <p:nvPr/>
        </p:nvSpPr>
        <p:spPr>
          <a:xfrm>
            <a:off x="6381424" y="2992194"/>
            <a:ext cx="2289856" cy="659155"/>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Select the most suitable Future AI model for your</a:t>
            </a:r>
          </a:p>
        </p:txBody>
      </p:sp>
      <p:sp>
        <p:nvSpPr>
          <p:cNvPr id="18" name="TextBox 17">
            <a:extLst>
              <a:ext uri="{FF2B5EF4-FFF2-40B4-BE49-F238E27FC236}">
                <a16:creationId xmlns:a16="http://schemas.microsoft.com/office/drawing/2014/main" id="{EEB1876B-F659-8767-66C4-7E5ABC6B3911}"/>
              </a:ext>
            </a:extLst>
          </p:cNvPr>
          <p:cNvSpPr txBox="1"/>
          <p:nvPr/>
        </p:nvSpPr>
        <p:spPr>
          <a:xfrm>
            <a:off x="9235721" y="1814445"/>
            <a:ext cx="702436" cy="584775"/>
          </a:xfrm>
          <a:prstGeom prst="rect">
            <a:avLst/>
          </a:prstGeom>
          <a:noFill/>
        </p:spPr>
        <p:txBody>
          <a:bodyPr wrap="none" rtlCol="0">
            <a:spAutoFit/>
          </a:bodyPr>
          <a:lstStyle>
            <a:defPPr>
              <a:defRPr lang="en-US"/>
            </a:defPPr>
            <a:lvl1pPr>
              <a:defRPr sz="4400">
                <a:solidFill>
                  <a:schemeClr val="tx2">
                    <a:alpha val="60000"/>
                  </a:schemeClr>
                </a:solidFill>
                <a:latin typeface="Figtree" pitchFamily="2" charset="0"/>
              </a:defRPr>
            </a:lvl1pPr>
          </a:lstStyle>
          <a:p>
            <a:r>
              <a:rPr lang="en-US" sz="3200">
                <a:solidFill>
                  <a:schemeClr val="accent1"/>
                </a:solidFill>
                <a:sym typeface="Manrope Medium"/>
              </a:rPr>
              <a:t>04</a:t>
            </a:r>
          </a:p>
        </p:txBody>
      </p:sp>
      <p:sp>
        <p:nvSpPr>
          <p:cNvPr id="19" name="TextBox 18">
            <a:extLst>
              <a:ext uri="{FF2B5EF4-FFF2-40B4-BE49-F238E27FC236}">
                <a16:creationId xmlns:a16="http://schemas.microsoft.com/office/drawing/2014/main" id="{A5B7B9B7-D755-F40C-3469-C2DBD33CE583}"/>
              </a:ext>
            </a:extLst>
          </p:cNvPr>
          <p:cNvSpPr txBox="1"/>
          <p:nvPr/>
        </p:nvSpPr>
        <p:spPr>
          <a:xfrm>
            <a:off x="9238924" y="2992194"/>
            <a:ext cx="2289856" cy="659155"/>
          </a:xfrm>
          <a:prstGeom prst="rect">
            <a:avLst/>
          </a:prstGeom>
          <a:noFill/>
        </p:spPr>
        <p:txBody>
          <a:bodyPr wrap="square" rtlCol="0">
            <a:spAutoFit/>
          </a:bodyPr>
          <a:lstStyle>
            <a:defPPr>
              <a:defRPr lang="en-US"/>
            </a:defPPr>
            <a:lvl1pPr>
              <a:lnSpc>
                <a:spcPct val="150000"/>
              </a:lnSpc>
              <a:defRPr sz="1300">
                <a:solidFill>
                  <a:schemeClr val="tx2">
                    <a:alpha val="60000"/>
                  </a:schemeClr>
                </a:solidFill>
                <a:latin typeface="Figtree" pitchFamily="2" charset="0"/>
              </a:defRPr>
            </a:lvl1pPr>
          </a:lstStyle>
          <a:p>
            <a:r>
              <a:rPr lang="en-US">
                <a:sym typeface="Manrope Medium"/>
              </a:rPr>
              <a:t>Train your selected Future AI model using the prepared</a:t>
            </a:r>
          </a:p>
        </p:txBody>
      </p:sp>
      <p:sp>
        <p:nvSpPr>
          <p:cNvPr id="7" name="TextBox 6">
            <a:extLst>
              <a:ext uri="{FF2B5EF4-FFF2-40B4-BE49-F238E27FC236}">
                <a16:creationId xmlns:a16="http://schemas.microsoft.com/office/drawing/2014/main" id="{A122F787-8DD8-ADC9-B9C7-ACAED97614B0}"/>
              </a:ext>
            </a:extLst>
          </p:cNvPr>
          <p:cNvSpPr txBox="1"/>
          <p:nvPr/>
        </p:nvSpPr>
        <p:spPr>
          <a:xfrm>
            <a:off x="3520722" y="2435120"/>
            <a:ext cx="1853092" cy="584775"/>
          </a:xfrm>
          <a:prstGeom prst="rect">
            <a:avLst/>
          </a:prstGeom>
          <a:noFill/>
        </p:spPr>
        <p:txBody>
          <a:bodyPr wrap="square" rtlCol="0">
            <a:spAutoFit/>
          </a:bodyPr>
          <a:lstStyle/>
          <a:p>
            <a:r>
              <a:rPr lang="en-US" sz="1600" b="1">
                <a:solidFill>
                  <a:schemeClr val="tx2"/>
                </a:solidFill>
                <a:latin typeface="Figtree" pitchFamily="2" charset="0"/>
              </a:rPr>
              <a:t>Gather And Prepare Data</a:t>
            </a:r>
          </a:p>
        </p:txBody>
      </p:sp>
      <p:sp>
        <p:nvSpPr>
          <p:cNvPr id="8" name="TextBox 7">
            <a:extLst>
              <a:ext uri="{FF2B5EF4-FFF2-40B4-BE49-F238E27FC236}">
                <a16:creationId xmlns:a16="http://schemas.microsoft.com/office/drawing/2014/main" id="{5AC19651-8567-524A-7C87-E1807A904914}"/>
              </a:ext>
            </a:extLst>
          </p:cNvPr>
          <p:cNvSpPr txBox="1"/>
          <p:nvPr/>
        </p:nvSpPr>
        <p:spPr>
          <a:xfrm>
            <a:off x="6378222" y="2419731"/>
            <a:ext cx="1731084" cy="584775"/>
          </a:xfrm>
          <a:prstGeom prst="rect">
            <a:avLst/>
          </a:prstGeom>
          <a:noFill/>
        </p:spPr>
        <p:txBody>
          <a:bodyPr wrap="square" rtlCol="0">
            <a:spAutoFit/>
          </a:bodyPr>
          <a:lstStyle/>
          <a:p>
            <a:r>
              <a:rPr lang="en-US" sz="1600" b="1">
                <a:solidFill>
                  <a:schemeClr val="tx2"/>
                </a:solidFill>
                <a:latin typeface="Figtree" pitchFamily="2" charset="0"/>
              </a:rPr>
              <a:t>Choose The Right Model</a:t>
            </a:r>
          </a:p>
        </p:txBody>
      </p:sp>
      <p:sp>
        <p:nvSpPr>
          <p:cNvPr id="12" name="TextBox 11">
            <a:extLst>
              <a:ext uri="{FF2B5EF4-FFF2-40B4-BE49-F238E27FC236}">
                <a16:creationId xmlns:a16="http://schemas.microsoft.com/office/drawing/2014/main" id="{D839EBF9-9107-A441-1E33-F4E07D46222D}"/>
              </a:ext>
            </a:extLst>
          </p:cNvPr>
          <p:cNvSpPr txBox="1"/>
          <p:nvPr/>
        </p:nvSpPr>
        <p:spPr>
          <a:xfrm>
            <a:off x="9235722" y="2358790"/>
            <a:ext cx="1607014" cy="584775"/>
          </a:xfrm>
          <a:prstGeom prst="rect">
            <a:avLst/>
          </a:prstGeom>
          <a:noFill/>
        </p:spPr>
        <p:txBody>
          <a:bodyPr wrap="square" rtlCol="0">
            <a:spAutoFit/>
          </a:bodyPr>
          <a:lstStyle/>
          <a:p>
            <a:r>
              <a:rPr lang="en-US" sz="1600" b="1">
                <a:solidFill>
                  <a:schemeClr val="tx2"/>
                </a:solidFill>
                <a:latin typeface="Figtree" pitchFamily="2" charset="0"/>
              </a:rPr>
              <a:t>Train And Deploy</a:t>
            </a:r>
          </a:p>
        </p:txBody>
      </p:sp>
      <p:cxnSp>
        <p:nvCxnSpPr>
          <p:cNvPr id="16" name="Straight Connector 15">
            <a:extLst>
              <a:ext uri="{FF2B5EF4-FFF2-40B4-BE49-F238E27FC236}">
                <a16:creationId xmlns:a16="http://schemas.microsoft.com/office/drawing/2014/main" id="{2202B62A-C309-32C8-1015-01FE4499483A}"/>
              </a:ext>
            </a:extLst>
          </p:cNvPr>
          <p:cNvCxnSpPr>
            <a:cxnSpLocks/>
          </p:cNvCxnSpPr>
          <p:nvPr/>
        </p:nvCxnSpPr>
        <p:spPr>
          <a:xfrm>
            <a:off x="1530634" y="2098318"/>
            <a:ext cx="1849691"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arrow" w="lg" len="med"/>
          </a:ln>
          <a:effectLst>
            <a:outerShdw blurRad="381000" dist="190500" dir="5400000" algn="t" rotWithShape="0">
              <a:schemeClr val="accent1">
                <a:lumMod val="75000"/>
                <a:alpha val="10000"/>
              </a:schemeClr>
            </a:outerShdw>
          </a:effectLst>
        </p:spPr>
      </p:cxnSp>
      <p:cxnSp>
        <p:nvCxnSpPr>
          <p:cNvPr id="24" name="Straight Connector 23">
            <a:extLst>
              <a:ext uri="{FF2B5EF4-FFF2-40B4-BE49-F238E27FC236}">
                <a16:creationId xmlns:a16="http://schemas.microsoft.com/office/drawing/2014/main" id="{D104D94E-78AA-0840-D4FD-4B7B4AEC9070}"/>
              </a:ext>
            </a:extLst>
          </p:cNvPr>
          <p:cNvCxnSpPr>
            <a:cxnSpLocks/>
          </p:cNvCxnSpPr>
          <p:nvPr/>
        </p:nvCxnSpPr>
        <p:spPr>
          <a:xfrm>
            <a:off x="4419126" y="2098318"/>
            <a:ext cx="1849691"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arrow" w="lg" len="med"/>
          </a:ln>
          <a:effectLst>
            <a:outerShdw blurRad="381000" dist="190500" dir="5400000" algn="t" rotWithShape="0">
              <a:schemeClr val="accent1">
                <a:lumMod val="75000"/>
                <a:alpha val="10000"/>
              </a:schemeClr>
            </a:outerShdw>
          </a:effectLst>
        </p:spPr>
      </p:cxnSp>
      <p:cxnSp>
        <p:nvCxnSpPr>
          <p:cNvPr id="25" name="Straight Connector 24">
            <a:extLst>
              <a:ext uri="{FF2B5EF4-FFF2-40B4-BE49-F238E27FC236}">
                <a16:creationId xmlns:a16="http://schemas.microsoft.com/office/drawing/2014/main" id="{74AB3A2D-C47B-D6B4-2866-7505EA789196}"/>
              </a:ext>
            </a:extLst>
          </p:cNvPr>
          <p:cNvCxnSpPr>
            <a:cxnSpLocks/>
          </p:cNvCxnSpPr>
          <p:nvPr/>
        </p:nvCxnSpPr>
        <p:spPr>
          <a:xfrm>
            <a:off x="7298000" y="2098318"/>
            <a:ext cx="1849691"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arrow" w="lg" len="med"/>
          </a:ln>
          <a:effectLst>
            <a:outerShdw blurRad="381000" dist="190500" dir="5400000" algn="t" rotWithShape="0">
              <a:schemeClr val="accent1">
                <a:lumMod val="75000"/>
                <a:alpha val="10000"/>
              </a:schemeClr>
            </a:outerShdw>
          </a:effectLst>
        </p:spPr>
      </p:cxnSp>
      <p:sp>
        <p:nvSpPr>
          <p:cNvPr id="13" name="Picture Placeholder 12">
            <a:extLst>
              <a:ext uri="{FF2B5EF4-FFF2-40B4-BE49-F238E27FC236}">
                <a16:creationId xmlns:a16="http://schemas.microsoft.com/office/drawing/2014/main" id="{4F5B4FAC-262D-2DDE-6F3F-667433CE6B52}"/>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7444791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36818035-D65A-9C7A-DAA7-0FC46690149E}"/>
              </a:ext>
            </a:extLst>
          </p:cNvPr>
          <p:cNvSpPr/>
          <p:nvPr/>
        </p:nvSpPr>
        <p:spPr>
          <a:xfrm rot="3600000">
            <a:off x="8651193" y="-390026"/>
            <a:ext cx="7968580" cy="4100414"/>
          </a:xfrm>
          <a:prstGeom prst="ellipse">
            <a:avLst/>
          </a:pr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73C5C1C-3A02-B81D-BC47-A613D1DB8CE8}"/>
              </a:ext>
            </a:extLst>
          </p:cNvPr>
          <p:cNvSpPr txBox="1"/>
          <p:nvPr/>
        </p:nvSpPr>
        <p:spPr>
          <a:xfrm>
            <a:off x="954967" y="1346200"/>
            <a:ext cx="3326748"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What Our Users Say</a:t>
            </a:r>
          </a:p>
        </p:txBody>
      </p:sp>
      <p:sp>
        <p:nvSpPr>
          <p:cNvPr id="6" name="TextBox 5">
            <a:extLst>
              <a:ext uri="{FF2B5EF4-FFF2-40B4-BE49-F238E27FC236}">
                <a16:creationId xmlns:a16="http://schemas.microsoft.com/office/drawing/2014/main" id="{312DCA1B-6805-162E-7144-FC998AC18B99}"/>
              </a:ext>
            </a:extLst>
          </p:cNvPr>
          <p:cNvSpPr txBox="1"/>
          <p:nvPr/>
        </p:nvSpPr>
        <p:spPr>
          <a:xfrm>
            <a:off x="954966" y="3985637"/>
            <a:ext cx="3442437" cy="1559401"/>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a:latin typeface="Figtree" pitchFamily="2" charset="0"/>
                <a:sym typeface="Manrope"/>
              </a:rPr>
              <a:t>"Working with Future AI has been a game-changer for our business. Its predictive analytics capabilities have revolutionized our decision-making process, leading to increased efficiency and profitability."</a:t>
            </a:r>
          </a:p>
        </p:txBody>
      </p:sp>
      <p:sp>
        <p:nvSpPr>
          <p:cNvPr id="3" name="TextBox 2">
            <a:extLst>
              <a:ext uri="{FF2B5EF4-FFF2-40B4-BE49-F238E27FC236}">
                <a16:creationId xmlns:a16="http://schemas.microsoft.com/office/drawing/2014/main" id="{751E6B97-ABE4-3EFA-DBC1-CCAC66E34E30}"/>
              </a:ext>
            </a:extLst>
          </p:cNvPr>
          <p:cNvSpPr txBox="1"/>
          <p:nvPr/>
        </p:nvSpPr>
        <p:spPr>
          <a:xfrm>
            <a:off x="954966" y="1053812"/>
            <a:ext cx="1055097"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Testimonial</a:t>
            </a:r>
          </a:p>
        </p:txBody>
      </p:sp>
      <p:sp>
        <p:nvSpPr>
          <p:cNvPr id="17" name="Rectangle 16">
            <a:extLst>
              <a:ext uri="{FF2B5EF4-FFF2-40B4-BE49-F238E27FC236}">
                <a16:creationId xmlns:a16="http://schemas.microsoft.com/office/drawing/2014/main" id="{1CE32149-EE79-D4B0-84DE-309F800B59B4}"/>
              </a:ext>
            </a:extLst>
          </p:cNvPr>
          <p:cNvSpPr/>
          <p:nvPr/>
        </p:nvSpPr>
        <p:spPr>
          <a:xfrm>
            <a:off x="6311900" y="1053812"/>
            <a:ext cx="4925133" cy="5804188"/>
          </a:xfrm>
          <a:prstGeom prst="rect">
            <a:avLst/>
          </a:prstGeom>
          <a:gradFill>
            <a:gsLst>
              <a:gs pos="0">
                <a:schemeClr val="accent1"/>
              </a:gs>
              <a:gs pos="55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Picture Placeholder 4">
            <a:extLst>
              <a:ext uri="{FF2B5EF4-FFF2-40B4-BE49-F238E27FC236}">
                <a16:creationId xmlns:a16="http://schemas.microsoft.com/office/drawing/2014/main" id="{D7CEE6E3-569F-A5A3-A6DE-B7C7FEDA44A8}"/>
              </a:ext>
            </a:extLst>
          </p:cNvPr>
          <p:cNvSpPr>
            <a:spLocks noGrp="1"/>
          </p:cNvSpPr>
          <p:nvPr>
            <p:ph type="pic" sz="quarter" idx="10"/>
          </p:nvPr>
        </p:nvSpPr>
        <p:spPr/>
        <p:txBody>
          <a:bodyPr/>
          <a:lstStyle/>
          <a:p>
            <a:endParaRPr lang="en-US"/>
          </a:p>
        </p:txBody>
      </p:sp>
      <p:sp>
        <p:nvSpPr>
          <p:cNvPr id="9" name="Rectangle: Rounded Corners 8">
            <a:extLst>
              <a:ext uri="{FF2B5EF4-FFF2-40B4-BE49-F238E27FC236}">
                <a16:creationId xmlns:a16="http://schemas.microsoft.com/office/drawing/2014/main" id="{A98C4CE0-95C8-B297-437A-8AE8695A0A7F}"/>
              </a:ext>
            </a:extLst>
          </p:cNvPr>
          <p:cNvSpPr/>
          <p:nvPr/>
        </p:nvSpPr>
        <p:spPr>
          <a:xfrm>
            <a:off x="5435600" y="4307125"/>
            <a:ext cx="2558444" cy="1134600"/>
          </a:xfrm>
          <a:prstGeom prst="roundRect">
            <a:avLst>
              <a:gd name="adj" fmla="val 1394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TextBox 9">
            <a:extLst>
              <a:ext uri="{FF2B5EF4-FFF2-40B4-BE49-F238E27FC236}">
                <a16:creationId xmlns:a16="http://schemas.microsoft.com/office/drawing/2014/main" id="{79CED55B-6EB0-AE11-4C35-98FE4A408507}"/>
              </a:ext>
            </a:extLst>
          </p:cNvPr>
          <p:cNvSpPr txBox="1"/>
          <p:nvPr/>
        </p:nvSpPr>
        <p:spPr>
          <a:xfrm>
            <a:off x="5713563" y="4536211"/>
            <a:ext cx="1297150" cy="338554"/>
          </a:xfrm>
          <a:prstGeom prst="rect">
            <a:avLst/>
          </a:prstGeom>
          <a:noFill/>
        </p:spPr>
        <p:txBody>
          <a:bodyPr wrap="none" rtlCol="0">
            <a:spAutoFit/>
          </a:bodyPr>
          <a:lstStyle/>
          <a:p>
            <a:r>
              <a:rPr lang="en-ID" sz="1600" b="1">
                <a:solidFill>
                  <a:schemeClr val="tx2"/>
                </a:solidFill>
                <a:latin typeface="Figtree" pitchFamily="2" charset="0"/>
                <a:sym typeface="Manrope"/>
              </a:rPr>
              <a:t>John Smith</a:t>
            </a:r>
            <a:endParaRPr lang="en-US" sz="1600" b="1">
              <a:solidFill>
                <a:schemeClr val="tx2"/>
              </a:solidFill>
              <a:latin typeface="Figtree" pitchFamily="2" charset="0"/>
            </a:endParaRPr>
          </a:p>
        </p:txBody>
      </p:sp>
      <p:sp>
        <p:nvSpPr>
          <p:cNvPr id="11" name="TextBox 10">
            <a:extLst>
              <a:ext uri="{FF2B5EF4-FFF2-40B4-BE49-F238E27FC236}">
                <a16:creationId xmlns:a16="http://schemas.microsoft.com/office/drawing/2014/main" id="{8759B765-2748-A5E7-DD16-7388265E6FF7}"/>
              </a:ext>
            </a:extLst>
          </p:cNvPr>
          <p:cNvSpPr txBox="1"/>
          <p:nvPr/>
        </p:nvSpPr>
        <p:spPr>
          <a:xfrm>
            <a:off x="5713563" y="4874765"/>
            <a:ext cx="2071401" cy="292388"/>
          </a:xfrm>
          <a:prstGeom prst="rect">
            <a:avLst/>
          </a:prstGeom>
          <a:noFill/>
        </p:spPr>
        <p:txBody>
          <a:bodyPr wrap="none" rtlCol="0">
            <a:spAutoFit/>
          </a:bodyPr>
          <a:lstStyle/>
          <a:p>
            <a:r>
              <a:rPr lang="en-ID" sz="1300">
                <a:solidFill>
                  <a:schemeClr val="tx2">
                    <a:alpha val="60000"/>
                  </a:schemeClr>
                </a:solidFill>
                <a:latin typeface="Figtree" pitchFamily="2" charset="0"/>
                <a:sym typeface="Manrope Medium"/>
              </a:rPr>
              <a:t>CEO of XYZ Corporation</a:t>
            </a:r>
            <a:endParaRPr lang="en-US" sz="1300">
              <a:solidFill>
                <a:schemeClr val="tx2">
                  <a:alpha val="60000"/>
                </a:schemeClr>
              </a:solidFill>
              <a:latin typeface="Figtree" pitchFamily="2" charset="0"/>
              <a:sym typeface="Manrope Medium"/>
            </a:endParaRPr>
          </a:p>
        </p:txBody>
      </p:sp>
    </p:spTree>
    <p:extLst>
      <p:ext uri="{BB962C8B-B14F-4D97-AF65-F5344CB8AC3E}">
        <p14:creationId xmlns:p14="http://schemas.microsoft.com/office/powerpoint/2010/main" val="9964089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AB3C2E-36E1-9BAB-CAA2-1F248EBD9CBD}"/>
              </a:ext>
            </a:extLst>
          </p:cNvPr>
          <p:cNvSpPr>
            <a:spLocks noGrp="1"/>
          </p:cNvSpPr>
          <p:nvPr>
            <p:ph type="pic" sz="quarter" idx="11"/>
          </p:nvPr>
        </p:nvSpPr>
        <p:spPr/>
        <p:txBody>
          <a:bodyPr/>
          <a:lstStyle/>
          <a:p>
            <a:endParaRPr lang="en-US"/>
          </a:p>
        </p:txBody>
      </p:sp>
      <p:sp>
        <p:nvSpPr>
          <p:cNvPr id="2" name="TextBox 1">
            <a:extLst>
              <a:ext uri="{FF2B5EF4-FFF2-40B4-BE49-F238E27FC236}">
                <a16:creationId xmlns:a16="http://schemas.microsoft.com/office/drawing/2014/main" id="{073C5C1C-3A02-B81D-BC47-A613D1DB8CE8}"/>
              </a:ext>
            </a:extLst>
          </p:cNvPr>
          <p:cNvSpPr txBox="1"/>
          <p:nvPr/>
        </p:nvSpPr>
        <p:spPr>
          <a:xfrm>
            <a:off x="1515001" y="3518770"/>
            <a:ext cx="4175833" cy="2123658"/>
          </a:xfrm>
          <a:prstGeom prst="rect">
            <a:avLst/>
          </a:prstGeom>
          <a:noFill/>
        </p:spPr>
        <p:txBody>
          <a:bodyPr wrap="square" rtlCol="0">
            <a:spAutoFit/>
          </a:bodyPr>
          <a:lstStyle/>
          <a:p>
            <a:r>
              <a:rPr lang="en-US" sz="4400">
                <a:solidFill>
                  <a:schemeClr val="tx2"/>
                </a:solidFill>
                <a:latin typeface="Space Grotesk Medium" pitchFamily="2" charset="0"/>
                <a:sym typeface="Manrope"/>
              </a:rPr>
              <a:t>Empowering Businesses With AI</a:t>
            </a:r>
          </a:p>
        </p:txBody>
      </p:sp>
      <p:sp>
        <p:nvSpPr>
          <p:cNvPr id="3" name="TextBox 2">
            <a:extLst>
              <a:ext uri="{FF2B5EF4-FFF2-40B4-BE49-F238E27FC236}">
                <a16:creationId xmlns:a16="http://schemas.microsoft.com/office/drawing/2014/main" id="{7872989F-8CA6-5797-1A6F-C02FEC2CCC55}"/>
              </a:ext>
            </a:extLst>
          </p:cNvPr>
          <p:cNvSpPr txBox="1"/>
          <p:nvPr/>
        </p:nvSpPr>
        <p:spPr>
          <a:xfrm>
            <a:off x="1515000" y="3226382"/>
            <a:ext cx="1542410"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Client Testimonial</a:t>
            </a:r>
          </a:p>
        </p:txBody>
      </p:sp>
      <p:sp>
        <p:nvSpPr>
          <p:cNvPr id="7" name="Oval 6">
            <a:extLst>
              <a:ext uri="{FF2B5EF4-FFF2-40B4-BE49-F238E27FC236}">
                <a16:creationId xmlns:a16="http://schemas.microsoft.com/office/drawing/2014/main" id="{E00A303C-4B43-509E-4332-4C5EB4CB320F}"/>
              </a:ext>
            </a:extLst>
          </p:cNvPr>
          <p:cNvSpPr/>
          <p:nvPr/>
        </p:nvSpPr>
        <p:spPr>
          <a:xfrm>
            <a:off x="3762297" y="502788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Arrow Connector 7">
            <a:extLst>
              <a:ext uri="{FF2B5EF4-FFF2-40B4-BE49-F238E27FC236}">
                <a16:creationId xmlns:a16="http://schemas.microsoft.com/office/drawing/2014/main" id="{95ADA749-4FD4-1493-E5BE-22239EA027D8}"/>
              </a:ext>
            </a:extLst>
          </p:cNvPr>
          <p:cNvCxnSpPr>
            <a:cxnSpLocks/>
          </p:cNvCxnSpPr>
          <p:nvPr/>
        </p:nvCxnSpPr>
        <p:spPr>
          <a:xfrm flipV="1">
            <a:off x="3934025" y="519961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9" name="Rectangle: Rounded Corners 8">
            <a:extLst>
              <a:ext uri="{FF2B5EF4-FFF2-40B4-BE49-F238E27FC236}">
                <a16:creationId xmlns:a16="http://schemas.microsoft.com/office/drawing/2014/main" id="{79E4C765-5425-410D-495D-9A28B7BD3B65}"/>
              </a:ext>
            </a:extLst>
          </p:cNvPr>
          <p:cNvSpPr/>
          <p:nvPr/>
        </p:nvSpPr>
        <p:spPr>
          <a:xfrm>
            <a:off x="6203523" y="2139358"/>
            <a:ext cx="4473478" cy="3384383"/>
          </a:xfrm>
          <a:prstGeom prst="roundRect">
            <a:avLst>
              <a:gd name="adj" fmla="val 4754"/>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TextBox 5">
            <a:extLst>
              <a:ext uri="{FF2B5EF4-FFF2-40B4-BE49-F238E27FC236}">
                <a16:creationId xmlns:a16="http://schemas.microsoft.com/office/drawing/2014/main" id="{312DCA1B-6805-162E-7144-FC998AC18B99}"/>
              </a:ext>
            </a:extLst>
          </p:cNvPr>
          <p:cNvSpPr txBox="1"/>
          <p:nvPr/>
        </p:nvSpPr>
        <p:spPr>
          <a:xfrm>
            <a:off x="6546148" y="2413670"/>
            <a:ext cx="3869596" cy="1559401"/>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a:latin typeface="Figtree" pitchFamily="2" charset="0"/>
                <a:sym typeface="Manrope Medium"/>
              </a:rPr>
              <a:t>"Future AI's language translation feature has been instrumental in expanding our global reach. We can now communicate seamlessly with clients from different countries, strengthening our international presence."</a:t>
            </a:r>
          </a:p>
        </p:txBody>
      </p:sp>
      <p:sp>
        <p:nvSpPr>
          <p:cNvPr id="10" name="Oval 9">
            <a:extLst>
              <a:ext uri="{FF2B5EF4-FFF2-40B4-BE49-F238E27FC236}">
                <a16:creationId xmlns:a16="http://schemas.microsoft.com/office/drawing/2014/main" id="{AA07BC9C-6948-6961-9ABC-D642B5AA68A4}"/>
              </a:ext>
            </a:extLst>
          </p:cNvPr>
          <p:cNvSpPr/>
          <p:nvPr/>
        </p:nvSpPr>
        <p:spPr>
          <a:xfrm>
            <a:off x="6626923" y="4423097"/>
            <a:ext cx="781442" cy="785350"/>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1" name="TextBox 10">
            <a:extLst>
              <a:ext uri="{FF2B5EF4-FFF2-40B4-BE49-F238E27FC236}">
                <a16:creationId xmlns:a16="http://schemas.microsoft.com/office/drawing/2014/main" id="{D731BF8A-3328-BF7C-B32C-468E37A58A2D}"/>
              </a:ext>
            </a:extLst>
          </p:cNvPr>
          <p:cNvSpPr txBox="1"/>
          <p:nvPr/>
        </p:nvSpPr>
        <p:spPr>
          <a:xfrm>
            <a:off x="7494286" y="4477558"/>
            <a:ext cx="1718740" cy="338554"/>
          </a:xfrm>
          <a:prstGeom prst="rect">
            <a:avLst/>
          </a:prstGeom>
          <a:noFill/>
        </p:spPr>
        <p:txBody>
          <a:bodyPr wrap="none" rtlCol="0">
            <a:spAutoFit/>
          </a:bodyPr>
          <a:lstStyle/>
          <a:p>
            <a:r>
              <a:rPr lang="en-ID" sz="1600" b="1">
                <a:solidFill>
                  <a:schemeClr val="tx2"/>
                </a:solidFill>
                <a:latin typeface="Figtree" pitchFamily="2" charset="0"/>
                <a:sym typeface="Manrope"/>
              </a:rPr>
              <a:t>Maria Rodriguez</a:t>
            </a:r>
            <a:endParaRPr lang="en-US" sz="1600" b="1">
              <a:solidFill>
                <a:schemeClr val="tx2"/>
              </a:solidFill>
              <a:latin typeface="Figtree" pitchFamily="2" charset="0"/>
            </a:endParaRPr>
          </a:p>
        </p:txBody>
      </p:sp>
      <p:sp>
        <p:nvSpPr>
          <p:cNvPr id="12" name="TextBox 11">
            <a:extLst>
              <a:ext uri="{FF2B5EF4-FFF2-40B4-BE49-F238E27FC236}">
                <a16:creationId xmlns:a16="http://schemas.microsoft.com/office/drawing/2014/main" id="{4302CA24-4B27-D0E6-F606-C32FB82BC916}"/>
              </a:ext>
            </a:extLst>
          </p:cNvPr>
          <p:cNvSpPr txBox="1"/>
          <p:nvPr/>
        </p:nvSpPr>
        <p:spPr>
          <a:xfrm>
            <a:off x="7494286" y="4816112"/>
            <a:ext cx="2247731" cy="292388"/>
          </a:xfrm>
          <a:prstGeom prst="rect">
            <a:avLst/>
          </a:prstGeom>
          <a:noFill/>
        </p:spPr>
        <p:txBody>
          <a:bodyPr wrap="none" rtlCol="0">
            <a:spAutoFit/>
          </a:bodyPr>
          <a:lstStyle/>
          <a:p>
            <a:r>
              <a:rPr lang="en-ID" sz="1300">
                <a:solidFill>
                  <a:schemeClr val="tx2">
                    <a:alpha val="60000"/>
                  </a:schemeClr>
                </a:solidFill>
                <a:latin typeface="Figtree" pitchFamily="2" charset="0"/>
                <a:sym typeface="Manrope Medium"/>
              </a:rPr>
              <a:t>International Sales Manager</a:t>
            </a:r>
            <a:endParaRPr lang="en-US" sz="1300">
              <a:solidFill>
                <a:schemeClr val="tx2">
                  <a:alpha val="60000"/>
                </a:schemeClr>
              </a:solidFill>
              <a:latin typeface="Figtree" pitchFamily="2" charset="0"/>
              <a:sym typeface="Manrope Medium"/>
            </a:endParaRPr>
          </a:p>
        </p:txBody>
      </p:sp>
      <p:sp>
        <p:nvSpPr>
          <p:cNvPr id="14" name="Picture Placeholder 13">
            <a:extLst>
              <a:ext uri="{FF2B5EF4-FFF2-40B4-BE49-F238E27FC236}">
                <a16:creationId xmlns:a16="http://schemas.microsoft.com/office/drawing/2014/main" id="{FEB49F77-A374-B3BE-96A0-6DBC4D20D318}"/>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8152726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6DD99EA-308C-FB52-6DC5-93EACC72A538}"/>
              </a:ext>
            </a:extLst>
          </p:cNvPr>
          <p:cNvSpPr>
            <a:spLocks noGrp="1"/>
          </p:cNvSpPr>
          <p:nvPr>
            <p:ph type="pic" sz="quarter" idx="10"/>
          </p:nvPr>
        </p:nvSpPr>
        <p:spPr/>
        <p:txBody>
          <a:bodyPr/>
          <a:lstStyle/>
          <a:p>
            <a:endParaRPr lang="en-US"/>
          </a:p>
        </p:txBody>
      </p:sp>
      <p:sp>
        <p:nvSpPr>
          <p:cNvPr id="2" name="TextBox 1">
            <a:extLst>
              <a:ext uri="{FF2B5EF4-FFF2-40B4-BE49-F238E27FC236}">
                <a16:creationId xmlns:a16="http://schemas.microsoft.com/office/drawing/2014/main" id="{073C5C1C-3A02-B81D-BC47-A613D1DB8CE8}"/>
              </a:ext>
            </a:extLst>
          </p:cNvPr>
          <p:cNvSpPr txBox="1"/>
          <p:nvPr/>
        </p:nvSpPr>
        <p:spPr>
          <a:xfrm>
            <a:off x="593778" y="981716"/>
            <a:ext cx="3755871" cy="2123658"/>
          </a:xfrm>
          <a:prstGeom prst="rect">
            <a:avLst/>
          </a:prstGeom>
          <a:noFill/>
        </p:spPr>
        <p:txBody>
          <a:bodyPr wrap="square" rtlCol="0">
            <a:spAutoFit/>
          </a:bodyPr>
          <a:lstStyle/>
          <a:p>
            <a:r>
              <a:rPr lang="en-US" sz="4400">
                <a:solidFill>
                  <a:schemeClr val="tx2"/>
                </a:solidFill>
                <a:latin typeface="Space Grotesk Medium" pitchFamily="2" charset="0"/>
                <a:sym typeface="Manrope"/>
              </a:rPr>
              <a:t>Recognizing Future AI's Success</a:t>
            </a:r>
          </a:p>
        </p:txBody>
      </p:sp>
      <p:sp>
        <p:nvSpPr>
          <p:cNvPr id="3" name="TextBox 2">
            <a:extLst>
              <a:ext uri="{FF2B5EF4-FFF2-40B4-BE49-F238E27FC236}">
                <a16:creationId xmlns:a16="http://schemas.microsoft.com/office/drawing/2014/main" id="{367BD920-4C85-599C-A428-1A651CDE643D}"/>
              </a:ext>
            </a:extLst>
          </p:cNvPr>
          <p:cNvSpPr txBox="1"/>
          <p:nvPr/>
        </p:nvSpPr>
        <p:spPr>
          <a:xfrm>
            <a:off x="593778" y="689328"/>
            <a:ext cx="1588897" cy="292388"/>
          </a:xfrm>
          <a:prstGeom prst="rect">
            <a:avLst/>
          </a:prstGeom>
          <a:noFill/>
        </p:spPr>
        <p:txBody>
          <a:bodyPr wrap="none" rtlCol="0">
            <a:spAutoFit/>
          </a:bodyPr>
          <a:lstStyle/>
          <a:p>
            <a:r>
              <a:rPr lang="en-US" sz="1300">
                <a:solidFill>
                  <a:schemeClr val="tx2"/>
                </a:solidFill>
                <a:latin typeface="Figtree Medium" pitchFamily="2" charset="0"/>
                <a:sym typeface="Manrope Medium"/>
              </a:rPr>
              <a:t>Our Achievements</a:t>
            </a:r>
          </a:p>
        </p:txBody>
      </p:sp>
      <p:sp>
        <p:nvSpPr>
          <p:cNvPr id="18" name="Rectangle: Rounded Corners 17">
            <a:extLst>
              <a:ext uri="{FF2B5EF4-FFF2-40B4-BE49-F238E27FC236}">
                <a16:creationId xmlns:a16="http://schemas.microsoft.com/office/drawing/2014/main" id="{49E50101-DB76-7726-6723-29FD328BFD59}"/>
              </a:ext>
            </a:extLst>
          </p:cNvPr>
          <p:cNvSpPr/>
          <p:nvPr/>
        </p:nvSpPr>
        <p:spPr>
          <a:xfrm>
            <a:off x="4506336" y="667355"/>
            <a:ext cx="2355341" cy="2354994"/>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Oval 18">
            <a:extLst>
              <a:ext uri="{FF2B5EF4-FFF2-40B4-BE49-F238E27FC236}">
                <a16:creationId xmlns:a16="http://schemas.microsoft.com/office/drawing/2014/main" id="{8A0D9615-465A-E4B5-4013-B6A09C3C4AB8}"/>
              </a:ext>
            </a:extLst>
          </p:cNvPr>
          <p:cNvSpPr/>
          <p:nvPr/>
        </p:nvSpPr>
        <p:spPr>
          <a:xfrm>
            <a:off x="4829162" y="920664"/>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20" name="Graphic 19">
            <a:extLst>
              <a:ext uri="{FF2B5EF4-FFF2-40B4-BE49-F238E27FC236}">
                <a16:creationId xmlns:a16="http://schemas.microsoft.com/office/drawing/2014/main" id="{7A22FAA1-44DB-6168-FFA3-EDA0521691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4996802" y="1089828"/>
            <a:ext cx="274320" cy="274320"/>
          </a:xfrm>
          <a:prstGeom prst="rect">
            <a:avLst/>
          </a:prstGeom>
        </p:spPr>
      </p:pic>
      <p:sp>
        <p:nvSpPr>
          <p:cNvPr id="23" name="TextBox 22">
            <a:extLst>
              <a:ext uri="{FF2B5EF4-FFF2-40B4-BE49-F238E27FC236}">
                <a16:creationId xmlns:a16="http://schemas.microsoft.com/office/drawing/2014/main" id="{CC516742-CADA-3537-6E9C-2B3992EEC935}"/>
              </a:ext>
            </a:extLst>
          </p:cNvPr>
          <p:cNvSpPr txBox="1"/>
          <p:nvPr/>
        </p:nvSpPr>
        <p:spPr>
          <a:xfrm>
            <a:off x="4742848" y="1735103"/>
            <a:ext cx="1965681" cy="584775"/>
          </a:xfrm>
          <a:prstGeom prst="rect">
            <a:avLst/>
          </a:prstGeom>
          <a:noFill/>
        </p:spPr>
        <p:txBody>
          <a:bodyPr wrap="square" rtlCol="0">
            <a:spAutoFit/>
          </a:bodyPr>
          <a:lstStyle/>
          <a:p>
            <a:r>
              <a:rPr lang="en-US" sz="1600" b="1">
                <a:solidFill>
                  <a:schemeClr val="tx2"/>
                </a:solidFill>
                <a:latin typeface="Figtree" pitchFamily="2" charset="0"/>
                <a:sym typeface="Manrope"/>
              </a:rPr>
              <a:t>AI Innovation Excellence Award</a:t>
            </a:r>
          </a:p>
        </p:txBody>
      </p:sp>
      <p:sp>
        <p:nvSpPr>
          <p:cNvPr id="24" name="TextBox 23">
            <a:extLst>
              <a:ext uri="{FF2B5EF4-FFF2-40B4-BE49-F238E27FC236}">
                <a16:creationId xmlns:a16="http://schemas.microsoft.com/office/drawing/2014/main" id="{8917820E-B4E4-AECD-FB60-A40D42A278C1}"/>
              </a:ext>
            </a:extLst>
          </p:cNvPr>
          <p:cNvSpPr txBox="1"/>
          <p:nvPr/>
        </p:nvSpPr>
        <p:spPr>
          <a:xfrm>
            <a:off x="4742847" y="2319877"/>
            <a:ext cx="1953825" cy="492443"/>
          </a:xfrm>
          <a:prstGeom prst="rect">
            <a:avLst/>
          </a:prstGeom>
          <a:noFill/>
        </p:spPr>
        <p:txBody>
          <a:bodyPr wrap="square" rtlCol="0">
            <a:spAutoFit/>
          </a:bodyPr>
          <a:lstStyle/>
          <a:p>
            <a:r>
              <a:rPr lang="en-US" sz="1300">
                <a:solidFill>
                  <a:schemeClr val="tx2">
                    <a:alpha val="60000"/>
                  </a:schemeClr>
                </a:solidFill>
                <a:latin typeface="Figtree" pitchFamily="2" charset="0"/>
                <a:sym typeface="Manrope Medium"/>
              </a:rPr>
              <a:t>Industry Association for AI Advancement</a:t>
            </a:r>
          </a:p>
        </p:txBody>
      </p:sp>
      <p:sp>
        <p:nvSpPr>
          <p:cNvPr id="27" name="Rectangle: Rounded Corners 26">
            <a:extLst>
              <a:ext uri="{FF2B5EF4-FFF2-40B4-BE49-F238E27FC236}">
                <a16:creationId xmlns:a16="http://schemas.microsoft.com/office/drawing/2014/main" id="{6AC3DED5-38A5-8E7C-9446-6EC76E7737C6}"/>
              </a:ext>
            </a:extLst>
          </p:cNvPr>
          <p:cNvSpPr/>
          <p:nvPr/>
        </p:nvSpPr>
        <p:spPr>
          <a:xfrm>
            <a:off x="1163307" y="3429000"/>
            <a:ext cx="2355341" cy="2354994"/>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Oval 27">
            <a:extLst>
              <a:ext uri="{FF2B5EF4-FFF2-40B4-BE49-F238E27FC236}">
                <a16:creationId xmlns:a16="http://schemas.microsoft.com/office/drawing/2014/main" id="{1AFBA17E-B096-472F-ADEF-2EE898367CB8}"/>
              </a:ext>
            </a:extLst>
          </p:cNvPr>
          <p:cNvSpPr/>
          <p:nvPr/>
        </p:nvSpPr>
        <p:spPr>
          <a:xfrm>
            <a:off x="1486133" y="3744773"/>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29" name="Graphic 28">
            <a:extLst>
              <a:ext uri="{FF2B5EF4-FFF2-40B4-BE49-F238E27FC236}">
                <a16:creationId xmlns:a16="http://schemas.microsoft.com/office/drawing/2014/main" id="{80CA1550-EA45-F212-2F2F-321517C21F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53773" y="3913937"/>
            <a:ext cx="274320" cy="274320"/>
          </a:xfrm>
          <a:prstGeom prst="rect">
            <a:avLst/>
          </a:prstGeom>
        </p:spPr>
      </p:pic>
      <p:sp>
        <p:nvSpPr>
          <p:cNvPr id="30" name="TextBox 29">
            <a:extLst>
              <a:ext uri="{FF2B5EF4-FFF2-40B4-BE49-F238E27FC236}">
                <a16:creationId xmlns:a16="http://schemas.microsoft.com/office/drawing/2014/main" id="{3F1C6329-004A-E241-F26C-4EFB3F150B48}"/>
              </a:ext>
            </a:extLst>
          </p:cNvPr>
          <p:cNvSpPr txBox="1"/>
          <p:nvPr/>
        </p:nvSpPr>
        <p:spPr>
          <a:xfrm>
            <a:off x="1399819" y="4559212"/>
            <a:ext cx="1965681" cy="584775"/>
          </a:xfrm>
          <a:prstGeom prst="rect">
            <a:avLst/>
          </a:prstGeom>
          <a:noFill/>
        </p:spPr>
        <p:txBody>
          <a:bodyPr wrap="square" rtlCol="0">
            <a:spAutoFit/>
          </a:bodyPr>
          <a:lstStyle/>
          <a:p>
            <a:r>
              <a:rPr lang="en-US" sz="1600" b="1">
                <a:solidFill>
                  <a:schemeClr val="tx2"/>
                </a:solidFill>
                <a:latin typeface="Figtree" pitchFamily="2" charset="0"/>
                <a:sym typeface="Manrope"/>
              </a:rPr>
              <a:t>Tech Visionary Award</a:t>
            </a:r>
          </a:p>
        </p:txBody>
      </p:sp>
      <p:sp>
        <p:nvSpPr>
          <p:cNvPr id="31" name="TextBox 30">
            <a:extLst>
              <a:ext uri="{FF2B5EF4-FFF2-40B4-BE49-F238E27FC236}">
                <a16:creationId xmlns:a16="http://schemas.microsoft.com/office/drawing/2014/main" id="{FC37A14B-0599-10DB-4603-1323CF1F5392}"/>
              </a:ext>
            </a:extLst>
          </p:cNvPr>
          <p:cNvSpPr txBox="1"/>
          <p:nvPr/>
        </p:nvSpPr>
        <p:spPr>
          <a:xfrm>
            <a:off x="1399818" y="5143986"/>
            <a:ext cx="1953825" cy="492443"/>
          </a:xfrm>
          <a:prstGeom prst="rect">
            <a:avLst/>
          </a:prstGeom>
          <a:noFill/>
        </p:spPr>
        <p:txBody>
          <a:bodyPr wrap="square" rtlCol="0">
            <a:spAutoFit/>
          </a:bodyPr>
          <a:lstStyle/>
          <a:p>
            <a:r>
              <a:rPr lang="en-US" sz="1300">
                <a:solidFill>
                  <a:schemeClr val="tx2">
                    <a:alpha val="60000"/>
                  </a:schemeClr>
                </a:solidFill>
                <a:latin typeface="Figtree" pitchFamily="2" charset="0"/>
                <a:sym typeface="Manrope Medium"/>
              </a:rPr>
              <a:t>Technology Leaders Forum</a:t>
            </a:r>
          </a:p>
        </p:txBody>
      </p:sp>
      <p:sp>
        <p:nvSpPr>
          <p:cNvPr id="33" name="Rectangle: Rounded Corners 32">
            <a:extLst>
              <a:ext uri="{FF2B5EF4-FFF2-40B4-BE49-F238E27FC236}">
                <a16:creationId xmlns:a16="http://schemas.microsoft.com/office/drawing/2014/main" id="{48BD725A-7CAF-DE89-D204-DC0FC56E70D6}"/>
              </a:ext>
            </a:extLst>
          </p:cNvPr>
          <p:cNvSpPr/>
          <p:nvPr/>
        </p:nvSpPr>
        <p:spPr>
          <a:xfrm>
            <a:off x="3925311" y="3429000"/>
            <a:ext cx="2355341" cy="2354994"/>
          </a:xfrm>
          <a:prstGeom prst="roundRect">
            <a:avLst>
              <a:gd name="adj" fmla="val 6556"/>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Oval 33">
            <a:extLst>
              <a:ext uri="{FF2B5EF4-FFF2-40B4-BE49-F238E27FC236}">
                <a16:creationId xmlns:a16="http://schemas.microsoft.com/office/drawing/2014/main" id="{A77D2DC2-9C70-EF2D-7252-5B72E16E686A}"/>
              </a:ext>
            </a:extLst>
          </p:cNvPr>
          <p:cNvSpPr/>
          <p:nvPr/>
        </p:nvSpPr>
        <p:spPr>
          <a:xfrm>
            <a:off x="4248137" y="3744773"/>
            <a:ext cx="609600" cy="612648"/>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pic>
        <p:nvPicPr>
          <p:cNvPr id="35" name="Graphic 34">
            <a:extLst>
              <a:ext uri="{FF2B5EF4-FFF2-40B4-BE49-F238E27FC236}">
                <a16:creationId xmlns:a16="http://schemas.microsoft.com/office/drawing/2014/main" id="{04BEFF54-85AC-94C8-7DFE-959D0627E7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415777" y="3913937"/>
            <a:ext cx="274320" cy="274320"/>
          </a:xfrm>
          <a:prstGeom prst="rect">
            <a:avLst/>
          </a:prstGeom>
        </p:spPr>
      </p:pic>
      <p:sp>
        <p:nvSpPr>
          <p:cNvPr id="36" name="TextBox 35">
            <a:extLst>
              <a:ext uri="{FF2B5EF4-FFF2-40B4-BE49-F238E27FC236}">
                <a16:creationId xmlns:a16="http://schemas.microsoft.com/office/drawing/2014/main" id="{4F3E4DBA-77FD-4812-56D9-01576FBD06CE}"/>
              </a:ext>
            </a:extLst>
          </p:cNvPr>
          <p:cNvSpPr txBox="1"/>
          <p:nvPr/>
        </p:nvSpPr>
        <p:spPr>
          <a:xfrm>
            <a:off x="4161823" y="4559212"/>
            <a:ext cx="1965681" cy="584775"/>
          </a:xfrm>
          <a:prstGeom prst="rect">
            <a:avLst/>
          </a:prstGeom>
          <a:noFill/>
        </p:spPr>
        <p:txBody>
          <a:bodyPr wrap="square" rtlCol="0">
            <a:spAutoFit/>
          </a:bodyPr>
          <a:lstStyle/>
          <a:p>
            <a:r>
              <a:rPr lang="en-US" sz="1600" b="1">
                <a:solidFill>
                  <a:schemeClr val="tx2"/>
                </a:solidFill>
                <a:latin typeface="Figtree" pitchFamily="2" charset="0"/>
                <a:sym typeface="Manrope"/>
              </a:rPr>
              <a:t>Customer Impact Award</a:t>
            </a:r>
          </a:p>
        </p:txBody>
      </p:sp>
      <p:sp>
        <p:nvSpPr>
          <p:cNvPr id="37" name="TextBox 36">
            <a:extLst>
              <a:ext uri="{FF2B5EF4-FFF2-40B4-BE49-F238E27FC236}">
                <a16:creationId xmlns:a16="http://schemas.microsoft.com/office/drawing/2014/main" id="{2DE1A0DD-D90E-3BD6-5483-10D063741AD9}"/>
              </a:ext>
            </a:extLst>
          </p:cNvPr>
          <p:cNvSpPr txBox="1"/>
          <p:nvPr/>
        </p:nvSpPr>
        <p:spPr>
          <a:xfrm>
            <a:off x="4161822" y="5143986"/>
            <a:ext cx="1953825" cy="492443"/>
          </a:xfrm>
          <a:prstGeom prst="rect">
            <a:avLst/>
          </a:prstGeom>
          <a:noFill/>
        </p:spPr>
        <p:txBody>
          <a:bodyPr wrap="square" rtlCol="0">
            <a:spAutoFit/>
          </a:bodyPr>
          <a:lstStyle/>
          <a:p>
            <a:r>
              <a:rPr lang="en-US" sz="1300">
                <a:solidFill>
                  <a:schemeClr val="tx2">
                    <a:alpha val="60000"/>
                  </a:schemeClr>
                </a:solidFill>
                <a:latin typeface="Figtree" pitchFamily="2" charset="0"/>
                <a:sym typeface="Manrope Medium"/>
              </a:rPr>
              <a:t>Global Business Excellence Awards</a:t>
            </a:r>
          </a:p>
        </p:txBody>
      </p:sp>
    </p:spTree>
    <p:extLst>
      <p:ext uri="{BB962C8B-B14F-4D97-AF65-F5344CB8AC3E}">
        <p14:creationId xmlns:p14="http://schemas.microsoft.com/office/powerpoint/2010/main" val="44487100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29632D5-B17F-70C9-F0FC-D3D521F98C6F}"/>
              </a:ext>
            </a:extLst>
          </p:cNvPr>
          <p:cNvSpPr>
            <a:spLocks noGrp="1"/>
          </p:cNvSpPr>
          <p:nvPr>
            <p:ph type="pic" sz="quarter" idx="10"/>
          </p:nvPr>
        </p:nvSpPr>
        <p:spPr/>
        <p:txBody>
          <a:bodyPr/>
          <a:lstStyle/>
          <a:p>
            <a:endParaRPr lang="en-US"/>
          </a:p>
        </p:txBody>
      </p:sp>
      <p:sp>
        <p:nvSpPr>
          <p:cNvPr id="2" name="TextBox 1">
            <a:extLst>
              <a:ext uri="{FF2B5EF4-FFF2-40B4-BE49-F238E27FC236}">
                <a16:creationId xmlns:a16="http://schemas.microsoft.com/office/drawing/2014/main" id="{4C066884-7628-958B-69B0-9792D82D2A42}"/>
              </a:ext>
            </a:extLst>
          </p:cNvPr>
          <p:cNvSpPr txBox="1"/>
          <p:nvPr/>
        </p:nvSpPr>
        <p:spPr>
          <a:xfrm>
            <a:off x="1232822" y="1314390"/>
            <a:ext cx="4248405" cy="1446550"/>
          </a:xfrm>
          <a:prstGeom prst="rect">
            <a:avLst/>
          </a:prstGeom>
          <a:noFill/>
        </p:spPr>
        <p:txBody>
          <a:bodyPr wrap="square" rtlCol="0">
            <a:spAutoFit/>
          </a:bodyPr>
          <a:lstStyle/>
          <a:p>
            <a:r>
              <a:rPr lang="en-US" sz="4400">
                <a:solidFill>
                  <a:schemeClr val="tx2"/>
                </a:solidFill>
                <a:latin typeface="Space Grotesk Medium" pitchFamily="2" charset="0"/>
                <a:sym typeface="Manrope"/>
              </a:rPr>
              <a:t>Scalable Cloud Architecture</a:t>
            </a:r>
          </a:p>
        </p:txBody>
      </p:sp>
      <p:sp>
        <p:nvSpPr>
          <p:cNvPr id="3" name="TextBox 2">
            <a:extLst>
              <a:ext uri="{FF2B5EF4-FFF2-40B4-BE49-F238E27FC236}">
                <a16:creationId xmlns:a16="http://schemas.microsoft.com/office/drawing/2014/main" id="{4CF85177-4DC8-17EF-664D-FDC9EE9995DE}"/>
              </a:ext>
            </a:extLst>
          </p:cNvPr>
          <p:cNvSpPr txBox="1"/>
          <p:nvPr/>
        </p:nvSpPr>
        <p:spPr>
          <a:xfrm>
            <a:off x="1232822" y="1022002"/>
            <a:ext cx="1946367" cy="292388"/>
          </a:xfrm>
          <a:prstGeom prst="rect">
            <a:avLst/>
          </a:prstGeom>
          <a:noFill/>
        </p:spPr>
        <p:txBody>
          <a:bodyPr wrap="none" rtlCol="0">
            <a:spAutoFit/>
          </a:bodyPr>
          <a:lstStyle/>
          <a:p>
            <a:pPr algn="ctr"/>
            <a:r>
              <a:rPr lang="en-US" sz="1300">
                <a:solidFill>
                  <a:schemeClr val="tx2"/>
                </a:solidFill>
                <a:latin typeface="Figtree Medium" pitchFamily="2" charset="0"/>
                <a:sym typeface="Manrope Medium"/>
              </a:rPr>
              <a:t>Our Tech Infrastructure</a:t>
            </a:r>
          </a:p>
        </p:txBody>
      </p:sp>
      <p:sp>
        <p:nvSpPr>
          <p:cNvPr id="5" name="Rectangle: Rounded Corners 4">
            <a:extLst>
              <a:ext uri="{FF2B5EF4-FFF2-40B4-BE49-F238E27FC236}">
                <a16:creationId xmlns:a16="http://schemas.microsoft.com/office/drawing/2014/main" id="{8F65B3B9-9E16-0F56-CCD5-E67664DBF8EF}"/>
              </a:ext>
            </a:extLst>
          </p:cNvPr>
          <p:cNvSpPr/>
          <p:nvPr/>
        </p:nvSpPr>
        <p:spPr>
          <a:xfrm>
            <a:off x="6096000" y="1028700"/>
            <a:ext cx="4814221" cy="1348226"/>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FFB6A40D-0386-E99F-382B-B898118F2706}"/>
              </a:ext>
            </a:extLst>
          </p:cNvPr>
          <p:cNvSpPr txBox="1"/>
          <p:nvPr/>
        </p:nvSpPr>
        <p:spPr>
          <a:xfrm>
            <a:off x="7100759" y="1196663"/>
            <a:ext cx="3504663" cy="959237"/>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300" b="0" i="0" u="none" strike="noStrike" kern="1200" cap="none" spc="0" normalizeH="0" baseline="0" noProof="0">
                <a:ln>
                  <a:noFill/>
                </a:ln>
                <a:solidFill>
                  <a:srgbClr val="262935"/>
                </a:solidFill>
                <a:effectLst/>
                <a:uLnTx/>
                <a:uFillTx/>
                <a:latin typeface="Figtree" pitchFamily="2" charset="0"/>
                <a:ea typeface="+mn-ea"/>
                <a:cs typeface="+mn-cs"/>
                <a:sym typeface="Manrope Medium"/>
              </a:rPr>
              <a:t>AI is built on a scalable cloud infrastructure, allowing it to handle varying workloads efficiently in AI capabilities.</a:t>
            </a:r>
            <a:endParaRPr kumimoji="0" lang="en-US" sz="1300" b="0" i="0" u="none" strike="noStrike" kern="1200" cap="none" spc="0" normalizeH="0" baseline="0" noProof="0" dirty="0">
              <a:ln>
                <a:noFill/>
              </a:ln>
              <a:solidFill>
                <a:srgbClr val="262935"/>
              </a:solidFill>
              <a:effectLst/>
              <a:uLnTx/>
              <a:uFillTx/>
              <a:latin typeface="Figtree" pitchFamily="2" charset="0"/>
              <a:ea typeface="+mn-ea"/>
              <a:cs typeface="+mn-cs"/>
              <a:sym typeface="Manrope Medium"/>
            </a:endParaRPr>
          </a:p>
        </p:txBody>
      </p:sp>
      <p:sp>
        <p:nvSpPr>
          <p:cNvPr id="9" name="Oval 8">
            <a:extLst>
              <a:ext uri="{FF2B5EF4-FFF2-40B4-BE49-F238E27FC236}">
                <a16:creationId xmlns:a16="http://schemas.microsoft.com/office/drawing/2014/main" id="{D577678A-7521-5DD2-A388-32F5A403F7BC}"/>
              </a:ext>
            </a:extLst>
          </p:cNvPr>
          <p:cNvSpPr/>
          <p:nvPr/>
        </p:nvSpPr>
        <p:spPr>
          <a:xfrm>
            <a:off x="6418487" y="1314390"/>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a:extLst>
              <a:ext uri="{FF2B5EF4-FFF2-40B4-BE49-F238E27FC236}">
                <a16:creationId xmlns:a16="http://schemas.microsoft.com/office/drawing/2014/main" id="{FEAFF8ED-E299-D41B-55AE-62A5160B69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6540743" y="1436646"/>
            <a:ext cx="274320" cy="274320"/>
          </a:xfrm>
          <a:prstGeom prst="rect">
            <a:avLst/>
          </a:prstGeom>
        </p:spPr>
      </p:pic>
      <p:sp>
        <p:nvSpPr>
          <p:cNvPr id="11" name="Rectangle: Rounded Corners 10">
            <a:extLst>
              <a:ext uri="{FF2B5EF4-FFF2-40B4-BE49-F238E27FC236}">
                <a16:creationId xmlns:a16="http://schemas.microsoft.com/office/drawing/2014/main" id="{DB1C5E76-1FB7-7754-56F4-3845D1F9810C}"/>
              </a:ext>
            </a:extLst>
          </p:cNvPr>
          <p:cNvSpPr/>
          <p:nvPr/>
        </p:nvSpPr>
        <p:spPr>
          <a:xfrm>
            <a:off x="6096000" y="2603521"/>
            <a:ext cx="4814221" cy="1348226"/>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TextBox 11">
            <a:extLst>
              <a:ext uri="{FF2B5EF4-FFF2-40B4-BE49-F238E27FC236}">
                <a16:creationId xmlns:a16="http://schemas.microsoft.com/office/drawing/2014/main" id="{89BFEF48-5F0D-EF4C-61A5-6D89BF0B6CA2}"/>
              </a:ext>
            </a:extLst>
          </p:cNvPr>
          <p:cNvSpPr txBox="1"/>
          <p:nvPr/>
        </p:nvSpPr>
        <p:spPr>
          <a:xfrm>
            <a:off x="7100759" y="2771484"/>
            <a:ext cx="3504663" cy="959237"/>
          </a:xfrm>
          <a:prstGeom prst="rect">
            <a:avLst/>
          </a:prstGeom>
          <a:noFill/>
        </p:spPr>
        <p:txBody>
          <a:bodyPr wrap="square" rtlCol="0">
            <a:spAutoFit/>
          </a:bodyPr>
          <a:lstStyle>
            <a:defPPr>
              <a:defRPr lang="en-US"/>
            </a:defPPr>
            <a:lvl1pPr algn="ctr">
              <a:lnSpc>
                <a:spcPct val="150000"/>
              </a:lnSpc>
              <a:defRPr sz="1300">
                <a:solidFill>
                  <a:schemeClr val="tx2"/>
                </a:solidFill>
                <a:latin typeface="Figtree" pitchFamily="2" charset="0"/>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300" b="0" i="0" u="none" strike="noStrike" kern="1200" cap="none" spc="0" normalizeH="0" baseline="0" noProof="0">
                <a:ln>
                  <a:noFill/>
                </a:ln>
                <a:solidFill>
                  <a:srgbClr val="262935"/>
                </a:solidFill>
                <a:effectLst/>
                <a:uLnTx/>
                <a:uFillTx/>
                <a:latin typeface="Figtree" pitchFamily="2" charset="0"/>
                <a:ea typeface="+mn-ea"/>
                <a:cs typeface="+mn-cs"/>
                <a:sym typeface="Manrope Medium"/>
              </a:rPr>
              <a:t>Cloud services ensure seamless deployment, automatic scaling, and high availability, enabling real-time AI capabilities.</a:t>
            </a:r>
            <a:endParaRPr kumimoji="0" lang="en-US" sz="1300" b="0" i="0" u="none" strike="noStrike" kern="1200" cap="none" spc="0" normalizeH="0" baseline="0" noProof="0" dirty="0">
              <a:ln>
                <a:noFill/>
              </a:ln>
              <a:solidFill>
                <a:srgbClr val="262935"/>
              </a:solidFill>
              <a:effectLst/>
              <a:uLnTx/>
              <a:uFillTx/>
              <a:latin typeface="Figtree" pitchFamily="2" charset="0"/>
              <a:ea typeface="+mn-ea"/>
              <a:cs typeface="+mn-cs"/>
              <a:sym typeface="Manrope Medium"/>
            </a:endParaRPr>
          </a:p>
        </p:txBody>
      </p:sp>
      <p:sp>
        <p:nvSpPr>
          <p:cNvPr id="13" name="Oval 12">
            <a:extLst>
              <a:ext uri="{FF2B5EF4-FFF2-40B4-BE49-F238E27FC236}">
                <a16:creationId xmlns:a16="http://schemas.microsoft.com/office/drawing/2014/main" id="{A56A9CEF-FACD-2E7D-33CD-54D478B04D93}"/>
              </a:ext>
            </a:extLst>
          </p:cNvPr>
          <p:cNvSpPr/>
          <p:nvPr/>
        </p:nvSpPr>
        <p:spPr>
          <a:xfrm>
            <a:off x="6418487" y="2889211"/>
            <a:ext cx="518832" cy="518832"/>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Graphic 13">
            <a:extLst>
              <a:ext uri="{FF2B5EF4-FFF2-40B4-BE49-F238E27FC236}">
                <a16:creationId xmlns:a16="http://schemas.microsoft.com/office/drawing/2014/main" id="{17B9E2CD-23B6-0A92-D9DA-159C959DB1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540743" y="3011467"/>
            <a:ext cx="274320" cy="274320"/>
          </a:xfrm>
          <a:prstGeom prst="rect">
            <a:avLst/>
          </a:prstGeom>
        </p:spPr>
      </p:pic>
    </p:spTree>
    <p:extLst>
      <p:ext uri="{BB962C8B-B14F-4D97-AF65-F5344CB8AC3E}">
        <p14:creationId xmlns:p14="http://schemas.microsoft.com/office/powerpoint/2010/main" val="278319225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98686215-A812-9144-BECA-4C3C084EA755}"/>
              </a:ext>
            </a:extLst>
          </p:cNvPr>
          <p:cNvSpPr/>
          <p:nvPr/>
        </p:nvSpPr>
        <p:spPr>
          <a:xfrm>
            <a:off x="5969000" y="1053035"/>
            <a:ext cx="4572000" cy="4572000"/>
          </a:xfrm>
          <a:prstGeom prst="ellipse">
            <a:avLst/>
          </a:prstGeom>
          <a:gradFill>
            <a:gsLst>
              <a:gs pos="0">
                <a:schemeClr val="accent1"/>
              </a:gs>
              <a:gs pos="97000">
                <a:schemeClr val="accent2">
                  <a:alpha val="0"/>
                </a:schemeClr>
              </a:gs>
            </a:gsLst>
            <a:lin ang="5400000" scaled="1"/>
          </a:gradFill>
          <a:ln w="762000">
            <a:noFill/>
          </a:ln>
          <a:effectLst>
            <a:outerShdw blurRad="584200" dist="4953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29543D8D-E062-2E7E-C341-27B2305D718C}"/>
              </a:ext>
            </a:extLst>
          </p:cNvPr>
          <p:cNvSpPr txBox="1"/>
          <p:nvPr/>
        </p:nvSpPr>
        <p:spPr>
          <a:xfrm>
            <a:off x="1073360" y="2404412"/>
            <a:ext cx="3289300" cy="1446550"/>
          </a:xfrm>
          <a:prstGeom prst="rect">
            <a:avLst/>
          </a:prstGeom>
          <a:noFill/>
        </p:spPr>
        <p:txBody>
          <a:bodyPr wrap="square" rtlCol="0">
            <a:spAutoFit/>
          </a:bodyPr>
          <a:lstStyle/>
          <a:p>
            <a:r>
              <a:rPr lang="en-US" sz="4400">
                <a:solidFill>
                  <a:schemeClr val="tx2"/>
                </a:solidFill>
                <a:latin typeface="Space Grotesk Medium" pitchFamily="2" charset="0"/>
              </a:rPr>
              <a:t>Future AI Gallery</a:t>
            </a:r>
          </a:p>
        </p:txBody>
      </p:sp>
      <p:sp>
        <p:nvSpPr>
          <p:cNvPr id="3" name="TextBox 2">
            <a:extLst>
              <a:ext uri="{FF2B5EF4-FFF2-40B4-BE49-F238E27FC236}">
                <a16:creationId xmlns:a16="http://schemas.microsoft.com/office/drawing/2014/main" id="{AF824764-62E7-5A47-1C40-AD8ED5BD1D6D}"/>
              </a:ext>
            </a:extLst>
          </p:cNvPr>
          <p:cNvSpPr txBox="1"/>
          <p:nvPr/>
        </p:nvSpPr>
        <p:spPr>
          <a:xfrm>
            <a:off x="1073360" y="4181092"/>
            <a:ext cx="2389741" cy="1259319"/>
          </a:xfrm>
          <a:prstGeom prst="rect">
            <a:avLst/>
          </a:prstGeom>
          <a:noFill/>
        </p:spPr>
        <p:txBody>
          <a:bodyPr wrap="square" rtlCol="0">
            <a:spAutoFit/>
          </a:bodyPr>
          <a:lstStyle/>
          <a:p>
            <a:pPr>
              <a:lnSpc>
                <a:spcPct val="150000"/>
              </a:lnSpc>
            </a:pPr>
            <a:r>
              <a:rPr lang="en-US" sz="1300">
                <a:solidFill>
                  <a:schemeClr val="tx2"/>
                </a:solidFill>
                <a:latin typeface="Figtree" pitchFamily="2" charset="0"/>
              </a:rPr>
              <a:t>Take a glimpse into some of the memorable moments and achievements we've celebrated on our journey</a:t>
            </a:r>
            <a:endParaRPr lang="en-ID" sz="1300">
              <a:solidFill>
                <a:schemeClr val="tx2"/>
              </a:solidFill>
              <a:latin typeface="Figtree" pitchFamily="2" charset="0"/>
            </a:endParaRPr>
          </a:p>
        </p:txBody>
      </p:sp>
      <p:sp>
        <p:nvSpPr>
          <p:cNvPr id="4" name="TextBox 3">
            <a:extLst>
              <a:ext uri="{FF2B5EF4-FFF2-40B4-BE49-F238E27FC236}">
                <a16:creationId xmlns:a16="http://schemas.microsoft.com/office/drawing/2014/main" id="{F834D7CE-A8BD-2C53-10A1-8F2327DC26D9}"/>
              </a:ext>
            </a:extLst>
          </p:cNvPr>
          <p:cNvSpPr txBox="1"/>
          <p:nvPr/>
        </p:nvSpPr>
        <p:spPr>
          <a:xfrm>
            <a:off x="1073360" y="2112024"/>
            <a:ext cx="1024639"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Our Gallery</a:t>
            </a:r>
          </a:p>
        </p:txBody>
      </p:sp>
      <p:sp>
        <p:nvSpPr>
          <p:cNvPr id="15" name="Oval 14">
            <a:extLst>
              <a:ext uri="{FF2B5EF4-FFF2-40B4-BE49-F238E27FC236}">
                <a16:creationId xmlns:a16="http://schemas.microsoft.com/office/drawing/2014/main" id="{A1265FE6-73DF-2A6F-5339-EF4FE1E9E5E3}"/>
              </a:ext>
            </a:extLst>
          </p:cNvPr>
          <p:cNvSpPr/>
          <p:nvPr/>
        </p:nvSpPr>
        <p:spPr>
          <a:xfrm>
            <a:off x="3291373" y="3260207"/>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6" name="Straight Arrow Connector 15">
            <a:extLst>
              <a:ext uri="{FF2B5EF4-FFF2-40B4-BE49-F238E27FC236}">
                <a16:creationId xmlns:a16="http://schemas.microsoft.com/office/drawing/2014/main" id="{6C957CC5-264D-C331-B12F-2D2F020DDD3D}"/>
              </a:ext>
            </a:extLst>
          </p:cNvPr>
          <p:cNvCxnSpPr>
            <a:cxnSpLocks/>
          </p:cNvCxnSpPr>
          <p:nvPr/>
        </p:nvCxnSpPr>
        <p:spPr>
          <a:xfrm flipV="1">
            <a:off x="3463101" y="3431935"/>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6" name="Picture Placeholder 5">
            <a:extLst>
              <a:ext uri="{FF2B5EF4-FFF2-40B4-BE49-F238E27FC236}">
                <a16:creationId xmlns:a16="http://schemas.microsoft.com/office/drawing/2014/main" id="{F4753E0C-5530-7E8E-E93A-6E5F376FCDD3}"/>
              </a:ext>
            </a:extLst>
          </p:cNvPr>
          <p:cNvSpPr>
            <a:spLocks noGrp="1"/>
          </p:cNvSpPr>
          <p:nvPr>
            <p:ph type="pic" sz="quarter" idx="11"/>
          </p:nvPr>
        </p:nvSpPr>
        <p:spPr/>
        <p:txBody>
          <a:bodyPr/>
          <a:lstStyle/>
          <a:p>
            <a:endParaRPr lang="en-US"/>
          </a:p>
        </p:txBody>
      </p:sp>
      <p:sp>
        <p:nvSpPr>
          <p:cNvPr id="8" name="Picture Placeholder 7">
            <a:extLst>
              <a:ext uri="{FF2B5EF4-FFF2-40B4-BE49-F238E27FC236}">
                <a16:creationId xmlns:a16="http://schemas.microsoft.com/office/drawing/2014/main" id="{4B48208A-C3E0-5E5F-3E64-53CDF5ADAE2F}"/>
              </a:ext>
            </a:extLst>
          </p:cNvPr>
          <p:cNvSpPr>
            <a:spLocks noGrp="1"/>
          </p:cNvSpPr>
          <p:nvPr>
            <p:ph type="pic" sz="quarter" idx="12"/>
          </p:nvPr>
        </p:nvSpPr>
        <p:spPr/>
        <p:txBody>
          <a:bodyPr/>
          <a:lstStyle/>
          <a:p>
            <a:endParaRPr lang="en-US"/>
          </a:p>
        </p:txBody>
      </p:sp>
      <p:sp>
        <p:nvSpPr>
          <p:cNvPr id="11" name="Picture Placeholder 10">
            <a:extLst>
              <a:ext uri="{FF2B5EF4-FFF2-40B4-BE49-F238E27FC236}">
                <a16:creationId xmlns:a16="http://schemas.microsoft.com/office/drawing/2014/main" id="{164762DF-4820-645D-DDEB-4433CADEB262}"/>
              </a:ext>
            </a:extLst>
          </p:cNvPr>
          <p:cNvSpPr>
            <a:spLocks noGrp="1"/>
          </p:cNvSpPr>
          <p:nvPr>
            <p:ph type="pic" sz="quarter" idx="13"/>
          </p:nvPr>
        </p:nvSpPr>
        <p:spPr/>
        <p:txBody>
          <a:bodyPr/>
          <a:lstStyle/>
          <a:p>
            <a:endParaRPr lang="en-US"/>
          </a:p>
        </p:txBody>
      </p:sp>
      <p:sp>
        <p:nvSpPr>
          <p:cNvPr id="13" name="Picture Placeholder 12">
            <a:extLst>
              <a:ext uri="{FF2B5EF4-FFF2-40B4-BE49-F238E27FC236}">
                <a16:creationId xmlns:a16="http://schemas.microsoft.com/office/drawing/2014/main" id="{A6A9CAE6-DB88-F560-FED2-A41E4286AD20}"/>
              </a:ext>
            </a:extLst>
          </p:cNvPr>
          <p:cNvSpPr>
            <a:spLocks noGrp="1"/>
          </p:cNvSpPr>
          <p:nvPr>
            <p:ph type="pic" sz="quarter" idx="10"/>
          </p:nvPr>
        </p:nvSpPr>
        <p:spPr/>
        <p:txBody>
          <a:bodyPr/>
          <a:lstStyle/>
          <a:p>
            <a:endParaRPr lang="en-US"/>
          </a:p>
        </p:txBody>
      </p:sp>
      <p:sp>
        <p:nvSpPr>
          <p:cNvPr id="17" name="Picture Placeholder 16">
            <a:extLst>
              <a:ext uri="{FF2B5EF4-FFF2-40B4-BE49-F238E27FC236}">
                <a16:creationId xmlns:a16="http://schemas.microsoft.com/office/drawing/2014/main" id="{10F3617B-49B7-266A-3CAD-FCA6650A5D00}"/>
              </a:ext>
            </a:extLst>
          </p:cNvPr>
          <p:cNvSpPr>
            <a:spLocks noGrp="1"/>
          </p:cNvSpPr>
          <p:nvPr>
            <p:ph type="pic" sz="quarter" idx="15"/>
          </p:nvPr>
        </p:nvSpPr>
        <p:spPr/>
        <p:txBody>
          <a:bodyPr/>
          <a:lstStyle/>
          <a:p>
            <a:endParaRPr lang="en-US"/>
          </a:p>
        </p:txBody>
      </p:sp>
      <p:sp>
        <p:nvSpPr>
          <p:cNvPr id="19" name="Picture Placeholder 18">
            <a:extLst>
              <a:ext uri="{FF2B5EF4-FFF2-40B4-BE49-F238E27FC236}">
                <a16:creationId xmlns:a16="http://schemas.microsoft.com/office/drawing/2014/main" id="{5DCD0CE8-49CF-1D23-B071-AC3595701DD3}"/>
              </a:ext>
            </a:extLst>
          </p:cNvPr>
          <p:cNvSpPr>
            <a:spLocks noGrp="1"/>
          </p:cNvSpPr>
          <p:nvPr>
            <p:ph type="pic" sz="quarter" idx="14"/>
          </p:nvPr>
        </p:nvSpPr>
        <p:spPr/>
        <p:txBody>
          <a:bodyPr/>
          <a:lstStyle/>
          <a:p>
            <a:endParaRPr lang="en-US"/>
          </a:p>
        </p:txBody>
      </p:sp>
      <p:sp>
        <p:nvSpPr>
          <p:cNvPr id="20" name="Freeform: Shape 19">
            <a:extLst>
              <a:ext uri="{FF2B5EF4-FFF2-40B4-BE49-F238E27FC236}">
                <a16:creationId xmlns:a16="http://schemas.microsoft.com/office/drawing/2014/main" id="{0E46AAC2-BE5A-22F3-A13F-72503BEEB7A4}"/>
              </a:ext>
            </a:extLst>
          </p:cNvPr>
          <p:cNvSpPr/>
          <p:nvPr/>
        </p:nvSpPr>
        <p:spPr>
          <a:xfrm rot="18699756">
            <a:off x="-807255" y="-1046537"/>
            <a:ext cx="6692063" cy="3419095"/>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9581246"/>
              <a:gd name="connsiteY0" fmla="*/ 0 h 4856962"/>
              <a:gd name="connsiteX1" fmla="*/ 1915886 w 9581246"/>
              <a:gd name="connsiteY1" fmla="*/ 1567543 h 4856962"/>
              <a:gd name="connsiteX2" fmla="*/ 4833258 w 9581246"/>
              <a:gd name="connsiteY2" fmla="*/ 2090057 h 4856962"/>
              <a:gd name="connsiteX3" fmla="*/ 6560457 w 9581246"/>
              <a:gd name="connsiteY3" fmla="*/ 4688114 h 4856962"/>
              <a:gd name="connsiteX4" fmla="*/ 9581246 w 9581246"/>
              <a:gd name="connsiteY4" fmla="*/ 4224398 h 4856962"/>
              <a:gd name="connsiteX0" fmla="*/ 0 w 9883460"/>
              <a:gd name="connsiteY0" fmla="*/ 0 h 4864027"/>
              <a:gd name="connsiteX1" fmla="*/ 1915886 w 9883460"/>
              <a:gd name="connsiteY1" fmla="*/ 1567543 h 4864027"/>
              <a:gd name="connsiteX2" fmla="*/ 4833258 w 9883460"/>
              <a:gd name="connsiteY2" fmla="*/ 2090057 h 4864027"/>
              <a:gd name="connsiteX3" fmla="*/ 6560457 w 9883460"/>
              <a:gd name="connsiteY3" fmla="*/ 4688114 h 4864027"/>
              <a:gd name="connsiteX4" fmla="*/ 9883459 w 9883460"/>
              <a:gd name="connsiteY4" fmla="*/ 4281879 h 4864027"/>
              <a:gd name="connsiteX0" fmla="*/ 0 w 9883459"/>
              <a:gd name="connsiteY0" fmla="*/ 0 h 5049635"/>
              <a:gd name="connsiteX1" fmla="*/ 1915886 w 9883459"/>
              <a:gd name="connsiteY1" fmla="*/ 1567543 h 5049635"/>
              <a:gd name="connsiteX2" fmla="*/ 4833258 w 9883459"/>
              <a:gd name="connsiteY2" fmla="*/ 2090057 h 5049635"/>
              <a:gd name="connsiteX3" fmla="*/ 6560457 w 9883459"/>
              <a:gd name="connsiteY3" fmla="*/ 4688114 h 5049635"/>
              <a:gd name="connsiteX4" fmla="*/ 9883459 w 9883459"/>
              <a:gd name="connsiteY4" fmla="*/ 4281879 h 5049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3459" h="5049635">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967873" y="5182272"/>
                  <a:pt x="9883459" y="4281879"/>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083638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1F255F4B-8183-4810-CCA3-1CEFC4B01FB4}"/>
              </a:ext>
            </a:extLst>
          </p:cNvPr>
          <p:cNvSpPr/>
          <p:nvPr/>
        </p:nvSpPr>
        <p:spPr>
          <a:xfrm rot="11716791">
            <a:off x="2594217" y="467406"/>
            <a:ext cx="8824686" cy="601914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1270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CEE2E85-DDCD-310D-246C-78C6FA30B8A2}"/>
              </a:ext>
            </a:extLst>
          </p:cNvPr>
          <p:cNvSpPr txBox="1"/>
          <p:nvPr/>
        </p:nvSpPr>
        <p:spPr>
          <a:xfrm>
            <a:off x="581025" y="3771900"/>
            <a:ext cx="4626429" cy="1446550"/>
          </a:xfrm>
          <a:prstGeom prst="rect">
            <a:avLst/>
          </a:prstGeom>
          <a:noFill/>
        </p:spPr>
        <p:txBody>
          <a:bodyPr wrap="square" lIns="91440" tIns="45720" rIns="91440" bIns="45720" rtlCol="0" anchor="t">
            <a:spAutoFit/>
          </a:bodyPr>
          <a:lstStyle/>
          <a:p>
            <a:r>
              <a:rPr lang="en-US" sz="4400">
                <a:solidFill>
                  <a:schemeClr val="tx2"/>
                </a:solidFill>
                <a:latin typeface="Space Grotesk Medium" pitchFamily="2" charset="0"/>
                <a:ea typeface="+mn-lt"/>
                <a:cs typeface="+mn-lt"/>
              </a:rPr>
              <a:t>Automate Your Task With AI</a:t>
            </a:r>
            <a:endParaRPr lang="en-US" sz="2400" dirty="0">
              <a:solidFill>
                <a:schemeClr val="tx2"/>
              </a:solidFill>
            </a:endParaRPr>
          </a:p>
        </p:txBody>
      </p:sp>
      <p:sp>
        <p:nvSpPr>
          <p:cNvPr id="3" name="TextBox 2">
            <a:extLst>
              <a:ext uri="{FF2B5EF4-FFF2-40B4-BE49-F238E27FC236}">
                <a16:creationId xmlns:a16="http://schemas.microsoft.com/office/drawing/2014/main" id="{412106FD-BD78-CAAA-C3CB-3BDEF50B22A7}"/>
              </a:ext>
            </a:extLst>
          </p:cNvPr>
          <p:cNvSpPr txBox="1"/>
          <p:nvPr/>
        </p:nvSpPr>
        <p:spPr>
          <a:xfrm>
            <a:off x="581025" y="5218450"/>
            <a:ext cx="3268844" cy="292388"/>
          </a:xfrm>
          <a:prstGeom prst="rect">
            <a:avLst/>
          </a:prstGeom>
          <a:noFill/>
        </p:spPr>
        <p:txBody>
          <a:bodyPr wrap="none" lIns="91440" tIns="45720" rIns="91440" bIns="45720" rtlCol="0" anchor="t">
            <a:spAutoFit/>
          </a:bodyPr>
          <a:lstStyle>
            <a:defPPr>
              <a:defRPr lang="en-US"/>
            </a:defPPr>
            <a:lvl1pPr>
              <a:defRPr sz="1300">
                <a:solidFill>
                  <a:schemeClr val="tx2"/>
                </a:solidFill>
                <a:latin typeface="Courgette" panose="02000603070400060004" pitchFamily="2" charset="0"/>
              </a:defRPr>
            </a:lvl1pPr>
          </a:lstStyle>
          <a:p>
            <a:r>
              <a:rPr lang="en-US" dirty="0">
                <a:latin typeface="Figtree Medium" pitchFamily="2" charset="0"/>
              </a:rPr>
              <a:t>AI automation will make your work easier</a:t>
            </a:r>
          </a:p>
        </p:txBody>
      </p:sp>
      <p:sp>
        <p:nvSpPr>
          <p:cNvPr id="4" name="Oval 3">
            <a:extLst>
              <a:ext uri="{FF2B5EF4-FFF2-40B4-BE49-F238E27FC236}">
                <a16:creationId xmlns:a16="http://schemas.microsoft.com/office/drawing/2014/main" id="{E9176A66-B307-512D-87BB-4BAB90BF0DC3}"/>
              </a:ext>
            </a:extLst>
          </p:cNvPr>
          <p:cNvSpPr/>
          <p:nvPr/>
        </p:nvSpPr>
        <p:spPr>
          <a:xfrm>
            <a:off x="4209972" y="4620860"/>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 name="Straight Arrow Connector 4">
            <a:extLst>
              <a:ext uri="{FF2B5EF4-FFF2-40B4-BE49-F238E27FC236}">
                <a16:creationId xmlns:a16="http://schemas.microsoft.com/office/drawing/2014/main" id="{8B027B9E-5431-F622-BD4B-70056B4BDA78}"/>
              </a:ext>
            </a:extLst>
          </p:cNvPr>
          <p:cNvCxnSpPr>
            <a:cxnSpLocks/>
          </p:cNvCxnSpPr>
          <p:nvPr/>
        </p:nvCxnSpPr>
        <p:spPr>
          <a:xfrm flipV="1">
            <a:off x="4381700" y="4792588"/>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
        <p:nvSpPr>
          <p:cNvPr id="7" name="Picture Placeholder 6">
            <a:extLst>
              <a:ext uri="{FF2B5EF4-FFF2-40B4-BE49-F238E27FC236}">
                <a16:creationId xmlns:a16="http://schemas.microsoft.com/office/drawing/2014/main" id="{43A2EE9F-3DBF-A496-A000-E8A3D22FCDF4}"/>
              </a:ext>
            </a:extLst>
          </p:cNvPr>
          <p:cNvSpPr>
            <a:spLocks noGrp="1"/>
          </p:cNvSpPr>
          <p:nvPr>
            <p:ph type="pic" sz="quarter" idx="10"/>
          </p:nvPr>
        </p:nvSpPr>
        <p:spPr/>
        <p:txBody>
          <a:bodyPr/>
          <a:lstStyle/>
          <a:p>
            <a:endParaRPr lang="en-US"/>
          </a:p>
        </p:txBody>
      </p:sp>
      <p:sp>
        <p:nvSpPr>
          <p:cNvPr id="9" name="Picture Placeholder 8">
            <a:extLst>
              <a:ext uri="{FF2B5EF4-FFF2-40B4-BE49-F238E27FC236}">
                <a16:creationId xmlns:a16="http://schemas.microsoft.com/office/drawing/2014/main" id="{EF86943E-7DFC-29E6-1354-A07A470AF23B}"/>
              </a:ext>
            </a:extLst>
          </p:cNvPr>
          <p:cNvSpPr>
            <a:spLocks noGrp="1"/>
          </p:cNvSpPr>
          <p:nvPr>
            <p:ph type="pic" sz="quarter" idx="11"/>
          </p:nvPr>
        </p:nvSpPr>
        <p:spPr/>
        <p:txBody>
          <a:bodyPr/>
          <a:lstStyle/>
          <a:p>
            <a:endParaRPr lang="en-US"/>
          </a:p>
        </p:txBody>
      </p:sp>
      <p:sp>
        <p:nvSpPr>
          <p:cNvPr id="11" name="Picture Placeholder 10">
            <a:extLst>
              <a:ext uri="{FF2B5EF4-FFF2-40B4-BE49-F238E27FC236}">
                <a16:creationId xmlns:a16="http://schemas.microsoft.com/office/drawing/2014/main" id="{0D7D315F-0D97-BE93-02B1-E0708BC9B18E}"/>
              </a:ext>
            </a:extLst>
          </p:cNvPr>
          <p:cNvSpPr>
            <a:spLocks noGrp="1"/>
          </p:cNvSpPr>
          <p:nvPr>
            <p:ph type="pic" sz="quarter" idx="12"/>
          </p:nvPr>
        </p:nvSpPr>
        <p:spPr/>
        <p:txBody>
          <a:bodyPr/>
          <a:lstStyle/>
          <a:p>
            <a:endParaRPr lang="en-US"/>
          </a:p>
        </p:txBody>
      </p:sp>
      <p:sp>
        <p:nvSpPr>
          <p:cNvPr id="13" name="Picture Placeholder 12">
            <a:extLst>
              <a:ext uri="{FF2B5EF4-FFF2-40B4-BE49-F238E27FC236}">
                <a16:creationId xmlns:a16="http://schemas.microsoft.com/office/drawing/2014/main" id="{EE7FB474-AD9B-5D57-CC04-31FF9667F327}"/>
              </a:ext>
            </a:extLst>
          </p:cNvPr>
          <p:cNvSpPr>
            <a:spLocks noGrp="1"/>
          </p:cNvSpPr>
          <p:nvPr>
            <p:ph type="pic" sz="quarter" idx="13"/>
          </p:nvPr>
        </p:nvSpPr>
        <p:spPr/>
        <p:txBody>
          <a:bodyPr/>
          <a:lstStyle/>
          <a:p>
            <a:endParaRPr lang="en-US"/>
          </a:p>
        </p:txBody>
      </p:sp>
      <p:sp>
        <p:nvSpPr>
          <p:cNvPr id="15" name="Picture Placeholder 14">
            <a:extLst>
              <a:ext uri="{FF2B5EF4-FFF2-40B4-BE49-F238E27FC236}">
                <a16:creationId xmlns:a16="http://schemas.microsoft.com/office/drawing/2014/main" id="{2874C231-FE21-E69A-74F2-0081E8201A01}"/>
              </a:ext>
            </a:extLst>
          </p:cNvPr>
          <p:cNvSpPr>
            <a:spLocks noGrp="1"/>
          </p:cNvSpPr>
          <p:nvPr>
            <p:ph type="pic" sz="quarter" idx="16"/>
          </p:nvPr>
        </p:nvSpPr>
        <p:spPr/>
        <p:txBody>
          <a:bodyPr/>
          <a:lstStyle/>
          <a:p>
            <a:endParaRPr lang="en-US"/>
          </a:p>
        </p:txBody>
      </p:sp>
      <p:sp>
        <p:nvSpPr>
          <p:cNvPr id="17" name="Picture Placeholder 16">
            <a:extLst>
              <a:ext uri="{FF2B5EF4-FFF2-40B4-BE49-F238E27FC236}">
                <a16:creationId xmlns:a16="http://schemas.microsoft.com/office/drawing/2014/main" id="{D24EF9BF-8082-CB1E-E42B-201188F8A4EB}"/>
              </a:ext>
            </a:extLst>
          </p:cNvPr>
          <p:cNvSpPr>
            <a:spLocks noGrp="1"/>
          </p:cNvSpPr>
          <p:nvPr>
            <p:ph type="pic" sz="quarter" idx="14"/>
          </p:nvPr>
        </p:nvSpPr>
        <p:spPr/>
        <p:txBody>
          <a:bodyPr/>
          <a:lstStyle/>
          <a:p>
            <a:endParaRPr lang="en-US"/>
          </a:p>
        </p:txBody>
      </p:sp>
      <p:sp>
        <p:nvSpPr>
          <p:cNvPr id="19" name="Picture Placeholder 18">
            <a:extLst>
              <a:ext uri="{FF2B5EF4-FFF2-40B4-BE49-F238E27FC236}">
                <a16:creationId xmlns:a16="http://schemas.microsoft.com/office/drawing/2014/main" id="{68FFCDF0-6917-A885-FBC8-530757D4478B}"/>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17250558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2EFBA3E5-F7B4-250E-FDB3-CA2C655B439A}"/>
              </a:ext>
            </a:extLst>
          </p:cNvPr>
          <p:cNvSpPr/>
          <p:nvPr/>
        </p:nvSpPr>
        <p:spPr>
          <a:xfrm rot="7127251">
            <a:off x="5064650" y="2862278"/>
            <a:ext cx="8824686" cy="513227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0C1146-A580-E534-0F34-B1149D4B3131}"/>
              </a:ext>
            </a:extLst>
          </p:cNvPr>
          <p:cNvSpPr txBox="1"/>
          <p:nvPr/>
        </p:nvSpPr>
        <p:spPr>
          <a:xfrm>
            <a:off x="1740244" y="3921181"/>
            <a:ext cx="4445101" cy="646331"/>
          </a:xfrm>
          <a:prstGeom prst="rect">
            <a:avLst/>
          </a:prstGeom>
          <a:noFill/>
        </p:spPr>
        <p:txBody>
          <a:bodyPr wrap="square" rtlCol="0">
            <a:spAutoFit/>
          </a:bodyPr>
          <a:lstStyle/>
          <a:p>
            <a:r>
              <a:rPr lang="en-US" sz="3600">
                <a:solidFill>
                  <a:schemeClr val="tx2"/>
                </a:solidFill>
                <a:latin typeface="Space Grotesk Medium" pitchFamily="2" charset="0"/>
              </a:rPr>
              <a:t>Company Overview</a:t>
            </a:r>
          </a:p>
        </p:txBody>
      </p:sp>
      <p:sp>
        <p:nvSpPr>
          <p:cNvPr id="5" name="TextBox 4">
            <a:extLst>
              <a:ext uri="{FF2B5EF4-FFF2-40B4-BE49-F238E27FC236}">
                <a16:creationId xmlns:a16="http://schemas.microsoft.com/office/drawing/2014/main" id="{5CC844C0-21C3-2B6C-F1B6-16CCE4F19595}"/>
              </a:ext>
            </a:extLst>
          </p:cNvPr>
          <p:cNvSpPr txBox="1"/>
          <p:nvPr/>
        </p:nvSpPr>
        <p:spPr>
          <a:xfrm>
            <a:off x="1740245" y="5079208"/>
            <a:ext cx="4305300" cy="659155"/>
          </a:xfrm>
          <a:prstGeom prst="rect">
            <a:avLst/>
          </a:prstGeom>
          <a:noFill/>
        </p:spPr>
        <p:txBody>
          <a:bodyPr wrap="square" rtlCol="0">
            <a:spAutoFit/>
          </a:bodyPr>
          <a:lstStyle/>
          <a:p>
            <a:pPr>
              <a:lnSpc>
                <a:spcPct val="150000"/>
              </a:lnSpc>
            </a:pPr>
            <a:r>
              <a:rPr lang="en-US" sz="1300">
                <a:solidFill>
                  <a:schemeClr val="tx2"/>
                </a:solidFill>
                <a:latin typeface="Figtree" pitchFamily="2" charset="0"/>
              </a:rPr>
              <a:t>As we reflect on the last years, we are thrilled to share a glimpse of our journey of growth and success</a:t>
            </a:r>
            <a:endParaRPr lang="en-ID" sz="1300">
              <a:solidFill>
                <a:schemeClr val="tx2"/>
              </a:solidFill>
              <a:latin typeface="Figtree" pitchFamily="2" charset="0"/>
            </a:endParaRPr>
          </a:p>
        </p:txBody>
      </p:sp>
      <p:sp>
        <p:nvSpPr>
          <p:cNvPr id="6" name="TextBox 5">
            <a:extLst>
              <a:ext uri="{FF2B5EF4-FFF2-40B4-BE49-F238E27FC236}">
                <a16:creationId xmlns:a16="http://schemas.microsoft.com/office/drawing/2014/main" id="{786B3051-B77F-1518-7BFC-783116365C48}"/>
              </a:ext>
            </a:extLst>
          </p:cNvPr>
          <p:cNvSpPr txBox="1"/>
          <p:nvPr/>
        </p:nvSpPr>
        <p:spPr>
          <a:xfrm>
            <a:off x="1740245" y="4567512"/>
            <a:ext cx="954107"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Last Years</a:t>
            </a:r>
          </a:p>
        </p:txBody>
      </p:sp>
      <p:sp>
        <p:nvSpPr>
          <p:cNvPr id="19" name="Picture Placeholder 18">
            <a:extLst>
              <a:ext uri="{FF2B5EF4-FFF2-40B4-BE49-F238E27FC236}">
                <a16:creationId xmlns:a16="http://schemas.microsoft.com/office/drawing/2014/main" id="{D272D411-5763-D699-861F-39391A26CB07}"/>
              </a:ext>
            </a:extLst>
          </p:cNvPr>
          <p:cNvSpPr>
            <a:spLocks noGrp="1"/>
          </p:cNvSpPr>
          <p:nvPr>
            <p:ph type="pic" sz="quarter" idx="10"/>
          </p:nvPr>
        </p:nvSpPr>
        <p:spPr/>
        <p:txBody>
          <a:bodyPr/>
          <a:lstStyle/>
          <a:p>
            <a:endParaRPr lang="en-US"/>
          </a:p>
        </p:txBody>
      </p:sp>
      <p:sp>
        <p:nvSpPr>
          <p:cNvPr id="3" name="Rectangle: Rounded Corners 2">
            <a:extLst>
              <a:ext uri="{FF2B5EF4-FFF2-40B4-BE49-F238E27FC236}">
                <a16:creationId xmlns:a16="http://schemas.microsoft.com/office/drawing/2014/main" id="{EF25D8D6-9BC9-2795-CC5C-8CF952BDF5A0}"/>
              </a:ext>
            </a:extLst>
          </p:cNvPr>
          <p:cNvSpPr/>
          <p:nvPr/>
        </p:nvSpPr>
        <p:spPr>
          <a:xfrm>
            <a:off x="7388219" y="1835839"/>
            <a:ext cx="2858836" cy="3981450"/>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57568E17-0D7B-119D-C9D5-D7C92A89B4B4}"/>
              </a:ext>
            </a:extLst>
          </p:cNvPr>
          <p:cNvSpPr txBox="1"/>
          <p:nvPr/>
        </p:nvSpPr>
        <p:spPr>
          <a:xfrm>
            <a:off x="8298465" y="2077501"/>
            <a:ext cx="1178528" cy="769441"/>
          </a:xfrm>
          <a:prstGeom prst="rect">
            <a:avLst/>
          </a:prstGeom>
          <a:noFill/>
        </p:spPr>
        <p:txBody>
          <a:bodyPr wrap="none" rtlCol="0">
            <a:spAutoFit/>
          </a:bodyPr>
          <a:lstStyle>
            <a:defPPr>
              <a:defRPr lang="en-US"/>
            </a:defPPr>
            <a:lvl1pPr>
              <a:defRPr sz="4400" b="0">
                <a:solidFill>
                  <a:schemeClr val="tx2"/>
                </a:solidFill>
                <a:latin typeface="Figtree" pitchFamily="2" charset="0"/>
              </a:defRPr>
            </a:lvl1pPr>
          </a:lstStyle>
          <a:p>
            <a:r>
              <a:rPr lang="en-US"/>
              <a:t>564</a:t>
            </a:r>
          </a:p>
        </p:txBody>
      </p:sp>
      <p:sp>
        <p:nvSpPr>
          <p:cNvPr id="9" name="TextBox 8">
            <a:extLst>
              <a:ext uri="{FF2B5EF4-FFF2-40B4-BE49-F238E27FC236}">
                <a16:creationId xmlns:a16="http://schemas.microsoft.com/office/drawing/2014/main" id="{74792DB1-040F-68F5-6EB0-9860C1305EA0}"/>
              </a:ext>
            </a:extLst>
          </p:cNvPr>
          <p:cNvSpPr txBox="1"/>
          <p:nvPr/>
        </p:nvSpPr>
        <p:spPr>
          <a:xfrm>
            <a:off x="8298465" y="2749389"/>
            <a:ext cx="623889" cy="292388"/>
          </a:xfrm>
          <a:prstGeom prst="rect">
            <a:avLst/>
          </a:prstGeom>
          <a:noFill/>
        </p:spPr>
        <p:txBody>
          <a:bodyPr wrap="none" rtlCol="0">
            <a:spAutoFit/>
          </a:bodyPr>
          <a:lstStyle>
            <a:defPPr>
              <a:defRPr lang="en-US"/>
            </a:defPPr>
            <a:lvl1pPr>
              <a:defRPr sz="1300">
                <a:solidFill>
                  <a:schemeClr val="tx2">
                    <a:alpha val="60000"/>
                  </a:schemeClr>
                </a:solidFill>
                <a:latin typeface="Figtree" pitchFamily="2" charset="0"/>
              </a:defRPr>
            </a:lvl1pPr>
          </a:lstStyle>
          <a:p>
            <a:r>
              <a:rPr lang="en-US"/>
              <a:t>Users</a:t>
            </a:r>
          </a:p>
        </p:txBody>
      </p:sp>
      <p:sp>
        <p:nvSpPr>
          <p:cNvPr id="11" name="TextBox 10">
            <a:extLst>
              <a:ext uri="{FF2B5EF4-FFF2-40B4-BE49-F238E27FC236}">
                <a16:creationId xmlns:a16="http://schemas.microsoft.com/office/drawing/2014/main" id="{18F492AD-0A07-69DA-F398-70579ECECFCF}"/>
              </a:ext>
            </a:extLst>
          </p:cNvPr>
          <p:cNvSpPr txBox="1"/>
          <p:nvPr/>
        </p:nvSpPr>
        <p:spPr>
          <a:xfrm>
            <a:off x="8298465" y="3343917"/>
            <a:ext cx="508473" cy="769441"/>
          </a:xfrm>
          <a:prstGeom prst="rect">
            <a:avLst/>
          </a:prstGeom>
          <a:noFill/>
        </p:spPr>
        <p:txBody>
          <a:bodyPr wrap="none" rtlCol="0">
            <a:spAutoFit/>
          </a:bodyPr>
          <a:lstStyle>
            <a:defPPr>
              <a:defRPr lang="en-US"/>
            </a:defPPr>
            <a:lvl1pPr>
              <a:defRPr sz="4400" b="0">
                <a:solidFill>
                  <a:schemeClr val="tx2"/>
                </a:solidFill>
                <a:latin typeface="Figtree" pitchFamily="2" charset="0"/>
              </a:defRPr>
            </a:lvl1pPr>
          </a:lstStyle>
          <a:p>
            <a:r>
              <a:rPr lang="en-US"/>
              <a:t>5</a:t>
            </a:r>
          </a:p>
        </p:txBody>
      </p:sp>
      <p:sp>
        <p:nvSpPr>
          <p:cNvPr id="12" name="TextBox 11">
            <a:extLst>
              <a:ext uri="{FF2B5EF4-FFF2-40B4-BE49-F238E27FC236}">
                <a16:creationId xmlns:a16="http://schemas.microsoft.com/office/drawing/2014/main" id="{0BB06E2F-F5DE-1D24-DAC5-6356038D067D}"/>
              </a:ext>
            </a:extLst>
          </p:cNvPr>
          <p:cNvSpPr txBox="1"/>
          <p:nvPr/>
        </p:nvSpPr>
        <p:spPr>
          <a:xfrm>
            <a:off x="8298465" y="4015805"/>
            <a:ext cx="745717" cy="292388"/>
          </a:xfrm>
          <a:prstGeom prst="rect">
            <a:avLst/>
          </a:prstGeom>
          <a:noFill/>
        </p:spPr>
        <p:txBody>
          <a:bodyPr wrap="none" rtlCol="0">
            <a:spAutoFit/>
          </a:bodyPr>
          <a:lstStyle>
            <a:defPPr>
              <a:defRPr lang="en-US"/>
            </a:defPPr>
            <a:lvl1pPr>
              <a:defRPr sz="1300">
                <a:solidFill>
                  <a:schemeClr val="tx2">
                    <a:alpha val="60000"/>
                  </a:schemeClr>
                </a:solidFill>
                <a:latin typeface="Figtree" pitchFamily="2" charset="0"/>
              </a:defRPr>
            </a:lvl1pPr>
          </a:lstStyle>
          <a:p>
            <a:r>
              <a:rPr lang="en-US"/>
              <a:t>Awards</a:t>
            </a:r>
          </a:p>
        </p:txBody>
      </p:sp>
      <p:sp>
        <p:nvSpPr>
          <p:cNvPr id="14" name="TextBox 13">
            <a:extLst>
              <a:ext uri="{FF2B5EF4-FFF2-40B4-BE49-F238E27FC236}">
                <a16:creationId xmlns:a16="http://schemas.microsoft.com/office/drawing/2014/main" id="{DD84B8A4-644D-82C0-B04C-CC90C6BE3CD5}"/>
              </a:ext>
            </a:extLst>
          </p:cNvPr>
          <p:cNvSpPr txBox="1"/>
          <p:nvPr/>
        </p:nvSpPr>
        <p:spPr>
          <a:xfrm>
            <a:off x="8298465" y="4610335"/>
            <a:ext cx="971741" cy="769441"/>
          </a:xfrm>
          <a:prstGeom prst="rect">
            <a:avLst/>
          </a:prstGeom>
          <a:noFill/>
        </p:spPr>
        <p:txBody>
          <a:bodyPr wrap="none" rtlCol="0">
            <a:spAutoFit/>
          </a:bodyPr>
          <a:lstStyle>
            <a:defPPr>
              <a:defRPr lang="en-US"/>
            </a:defPPr>
            <a:lvl1pPr>
              <a:defRPr sz="4400" b="0">
                <a:solidFill>
                  <a:schemeClr val="tx2"/>
                </a:solidFill>
                <a:latin typeface="Figtree" pitchFamily="2" charset="0"/>
              </a:defRPr>
            </a:lvl1pPr>
          </a:lstStyle>
          <a:p>
            <a:r>
              <a:rPr lang="en-US"/>
              <a:t>4.9</a:t>
            </a:r>
          </a:p>
        </p:txBody>
      </p:sp>
      <p:sp>
        <p:nvSpPr>
          <p:cNvPr id="15" name="TextBox 14">
            <a:extLst>
              <a:ext uri="{FF2B5EF4-FFF2-40B4-BE49-F238E27FC236}">
                <a16:creationId xmlns:a16="http://schemas.microsoft.com/office/drawing/2014/main" id="{272BBE1C-4BA0-513E-FC91-47191E14FD0F}"/>
              </a:ext>
            </a:extLst>
          </p:cNvPr>
          <p:cNvSpPr txBox="1"/>
          <p:nvPr/>
        </p:nvSpPr>
        <p:spPr>
          <a:xfrm>
            <a:off x="8298465" y="5282223"/>
            <a:ext cx="663964" cy="292388"/>
          </a:xfrm>
          <a:prstGeom prst="rect">
            <a:avLst/>
          </a:prstGeom>
          <a:noFill/>
        </p:spPr>
        <p:txBody>
          <a:bodyPr wrap="none" rtlCol="0">
            <a:spAutoFit/>
          </a:bodyPr>
          <a:lstStyle>
            <a:defPPr>
              <a:defRPr lang="en-US"/>
            </a:defPPr>
            <a:lvl1pPr>
              <a:defRPr sz="1300">
                <a:solidFill>
                  <a:schemeClr val="tx2">
                    <a:alpha val="60000"/>
                  </a:schemeClr>
                </a:solidFill>
                <a:latin typeface="Figtree" pitchFamily="2" charset="0"/>
              </a:defRPr>
            </a:lvl1pPr>
          </a:lstStyle>
          <a:p>
            <a:r>
              <a:rPr lang="en-US"/>
              <a:t>Ratins</a:t>
            </a:r>
          </a:p>
        </p:txBody>
      </p:sp>
      <p:cxnSp>
        <p:nvCxnSpPr>
          <p:cNvPr id="16" name="Straight Connector 15">
            <a:extLst>
              <a:ext uri="{FF2B5EF4-FFF2-40B4-BE49-F238E27FC236}">
                <a16:creationId xmlns:a16="http://schemas.microsoft.com/office/drawing/2014/main" id="{8B5DB63B-3D0A-2491-A2DE-284F09886F9C}"/>
              </a:ext>
            </a:extLst>
          </p:cNvPr>
          <p:cNvCxnSpPr>
            <a:cxnSpLocks/>
          </p:cNvCxnSpPr>
          <p:nvPr/>
        </p:nvCxnSpPr>
        <p:spPr>
          <a:xfrm>
            <a:off x="7987526" y="3192847"/>
            <a:ext cx="1660222"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cxnSp>
        <p:nvCxnSpPr>
          <p:cNvPr id="17" name="Straight Connector 16">
            <a:extLst>
              <a:ext uri="{FF2B5EF4-FFF2-40B4-BE49-F238E27FC236}">
                <a16:creationId xmlns:a16="http://schemas.microsoft.com/office/drawing/2014/main" id="{F2C4A727-B49F-2C26-FA2B-3F78520AD49A}"/>
              </a:ext>
            </a:extLst>
          </p:cNvPr>
          <p:cNvCxnSpPr>
            <a:cxnSpLocks/>
          </p:cNvCxnSpPr>
          <p:nvPr/>
        </p:nvCxnSpPr>
        <p:spPr>
          <a:xfrm>
            <a:off x="7987526" y="4459263"/>
            <a:ext cx="1660222"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spTree>
    <p:extLst>
      <p:ext uri="{BB962C8B-B14F-4D97-AF65-F5344CB8AC3E}">
        <p14:creationId xmlns:p14="http://schemas.microsoft.com/office/powerpoint/2010/main" val="264167950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3E3A2D05-8322-0CF6-167C-7ADC1E09ABB1}"/>
              </a:ext>
            </a:extLst>
          </p:cNvPr>
          <p:cNvSpPr/>
          <p:nvPr/>
        </p:nvSpPr>
        <p:spPr>
          <a:xfrm>
            <a:off x="6995411" y="3817494"/>
            <a:ext cx="5777526" cy="5777526"/>
          </a:xfrm>
          <a:prstGeom prst="ellipse">
            <a:avLst/>
          </a:prstGeom>
          <a:noFill/>
          <a:ln w="1270000">
            <a:gradFill flip="none" rotWithShape="1">
              <a:gsLst>
                <a:gs pos="0">
                  <a:schemeClr val="accent1"/>
                </a:gs>
                <a:gs pos="100000">
                  <a:schemeClr val="accent2"/>
                </a:gs>
              </a:gsLst>
              <a:lin ang="27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0C1146-A580-E534-0F34-B1149D4B3131}"/>
              </a:ext>
            </a:extLst>
          </p:cNvPr>
          <p:cNvSpPr txBox="1"/>
          <p:nvPr/>
        </p:nvSpPr>
        <p:spPr>
          <a:xfrm>
            <a:off x="912799" y="1387149"/>
            <a:ext cx="3021648" cy="1446550"/>
          </a:xfrm>
          <a:prstGeom prst="rect">
            <a:avLst/>
          </a:prstGeom>
          <a:noFill/>
        </p:spPr>
        <p:txBody>
          <a:bodyPr wrap="square" rtlCol="0">
            <a:spAutoFit/>
          </a:bodyPr>
          <a:lstStyle/>
          <a:p>
            <a:r>
              <a:rPr lang="en-US" sz="4400">
                <a:solidFill>
                  <a:schemeClr val="tx2"/>
                </a:solidFill>
                <a:latin typeface="Space Grotesk Medium" pitchFamily="2" charset="0"/>
              </a:rPr>
              <a:t>Future Overview</a:t>
            </a:r>
          </a:p>
        </p:txBody>
      </p:sp>
      <p:sp>
        <p:nvSpPr>
          <p:cNvPr id="5" name="TextBox 4">
            <a:extLst>
              <a:ext uri="{FF2B5EF4-FFF2-40B4-BE49-F238E27FC236}">
                <a16:creationId xmlns:a16="http://schemas.microsoft.com/office/drawing/2014/main" id="{5CC844C0-21C3-2B6C-F1B6-16CCE4F19595}"/>
              </a:ext>
            </a:extLst>
          </p:cNvPr>
          <p:cNvSpPr txBox="1"/>
          <p:nvPr/>
        </p:nvSpPr>
        <p:spPr>
          <a:xfrm>
            <a:off x="912799" y="4136380"/>
            <a:ext cx="3012622" cy="1259319"/>
          </a:xfrm>
          <a:prstGeom prst="rect">
            <a:avLst/>
          </a:prstGeom>
          <a:noFill/>
        </p:spPr>
        <p:txBody>
          <a:bodyPr wrap="square" rtlCol="0">
            <a:spAutoFit/>
          </a:bodyPr>
          <a:lstStyle/>
          <a:p>
            <a:pPr>
              <a:lnSpc>
                <a:spcPct val="150000"/>
              </a:lnSpc>
            </a:pPr>
            <a:r>
              <a:rPr lang="en-US" sz="1300">
                <a:solidFill>
                  <a:schemeClr val="tx2"/>
                </a:solidFill>
                <a:latin typeface="Figtree" pitchFamily="2" charset="0"/>
              </a:rPr>
              <a:t>We take immense pride in the progress we have made and the positive impact we have had on our clients, our team, and the community.</a:t>
            </a:r>
            <a:endParaRPr lang="en-ID" sz="1300">
              <a:solidFill>
                <a:schemeClr val="tx2"/>
              </a:solidFill>
              <a:latin typeface="Figtree" pitchFamily="2" charset="0"/>
            </a:endParaRPr>
          </a:p>
        </p:txBody>
      </p:sp>
      <p:sp>
        <p:nvSpPr>
          <p:cNvPr id="6" name="TextBox 5">
            <a:extLst>
              <a:ext uri="{FF2B5EF4-FFF2-40B4-BE49-F238E27FC236}">
                <a16:creationId xmlns:a16="http://schemas.microsoft.com/office/drawing/2014/main" id="{786B3051-B77F-1518-7BFC-783116365C48}"/>
              </a:ext>
            </a:extLst>
          </p:cNvPr>
          <p:cNvSpPr txBox="1"/>
          <p:nvPr/>
        </p:nvSpPr>
        <p:spPr>
          <a:xfrm>
            <a:off x="912799" y="2833699"/>
            <a:ext cx="849913"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Our Data</a:t>
            </a:r>
          </a:p>
        </p:txBody>
      </p:sp>
      <p:sp>
        <p:nvSpPr>
          <p:cNvPr id="9" name="Picture Placeholder 8">
            <a:extLst>
              <a:ext uri="{FF2B5EF4-FFF2-40B4-BE49-F238E27FC236}">
                <a16:creationId xmlns:a16="http://schemas.microsoft.com/office/drawing/2014/main" id="{4B1C8F27-7734-38D8-3AAA-5E5E3C16A247}"/>
              </a:ext>
            </a:extLst>
          </p:cNvPr>
          <p:cNvSpPr>
            <a:spLocks noGrp="1"/>
          </p:cNvSpPr>
          <p:nvPr>
            <p:ph type="pic" sz="quarter" idx="10"/>
          </p:nvPr>
        </p:nvSpPr>
        <p:spPr/>
        <p:txBody>
          <a:bodyPr/>
          <a:lstStyle/>
          <a:p>
            <a:endParaRPr lang="en-US"/>
          </a:p>
        </p:txBody>
      </p:sp>
      <p:sp>
        <p:nvSpPr>
          <p:cNvPr id="31" name="Rectangle: Rounded Corners 30">
            <a:extLst>
              <a:ext uri="{FF2B5EF4-FFF2-40B4-BE49-F238E27FC236}">
                <a16:creationId xmlns:a16="http://schemas.microsoft.com/office/drawing/2014/main" id="{44B7FB98-F16A-5FAB-FE60-C69C6294E178}"/>
              </a:ext>
            </a:extLst>
          </p:cNvPr>
          <p:cNvSpPr/>
          <p:nvPr/>
        </p:nvSpPr>
        <p:spPr>
          <a:xfrm>
            <a:off x="5165590" y="1956523"/>
            <a:ext cx="1610026" cy="1611848"/>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TextBox 31">
            <a:extLst>
              <a:ext uri="{FF2B5EF4-FFF2-40B4-BE49-F238E27FC236}">
                <a16:creationId xmlns:a16="http://schemas.microsoft.com/office/drawing/2014/main" id="{343A0461-C933-C913-540E-B6BCE797CEE1}"/>
              </a:ext>
            </a:extLst>
          </p:cNvPr>
          <p:cNvSpPr txBox="1"/>
          <p:nvPr/>
        </p:nvSpPr>
        <p:spPr>
          <a:xfrm>
            <a:off x="5452673" y="2622973"/>
            <a:ext cx="1035861"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pPr algn="ctr"/>
            <a:r>
              <a:rPr lang="en-US" sz="3600" b="0">
                <a:latin typeface="Figtree" pitchFamily="2" charset="0"/>
              </a:rPr>
              <a:t>564</a:t>
            </a:r>
          </a:p>
        </p:txBody>
      </p:sp>
      <p:sp>
        <p:nvSpPr>
          <p:cNvPr id="33" name="TextBox 32">
            <a:extLst>
              <a:ext uri="{FF2B5EF4-FFF2-40B4-BE49-F238E27FC236}">
                <a16:creationId xmlns:a16="http://schemas.microsoft.com/office/drawing/2014/main" id="{3A20281D-EFE2-084F-CA12-5C8C52A5A56C}"/>
              </a:ext>
            </a:extLst>
          </p:cNvPr>
          <p:cNvSpPr txBox="1"/>
          <p:nvPr/>
        </p:nvSpPr>
        <p:spPr>
          <a:xfrm>
            <a:off x="5662666" y="3126955"/>
            <a:ext cx="615874"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pPr algn="ctr"/>
            <a:r>
              <a:rPr lang="en-US">
                <a:solidFill>
                  <a:schemeClr val="tx2">
                    <a:alpha val="60000"/>
                  </a:schemeClr>
                </a:solidFill>
                <a:latin typeface="Figtree" pitchFamily="2" charset="0"/>
              </a:rPr>
              <a:t>Users</a:t>
            </a:r>
          </a:p>
        </p:txBody>
      </p:sp>
      <p:pic>
        <p:nvPicPr>
          <p:cNvPr id="34" name="Graphic 33">
            <a:extLst>
              <a:ext uri="{FF2B5EF4-FFF2-40B4-BE49-F238E27FC236}">
                <a16:creationId xmlns:a16="http://schemas.microsoft.com/office/drawing/2014/main" id="{08BA3E57-261E-057D-77FF-C4EEA78D42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833443" y="2224219"/>
            <a:ext cx="274320" cy="274320"/>
          </a:xfrm>
          <a:prstGeom prst="rect">
            <a:avLst/>
          </a:prstGeom>
        </p:spPr>
      </p:pic>
      <p:sp>
        <p:nvSpPr>
          <p:cNvPr id="36" name="Rectangle: Rounded Corners 35">
            <a:extLst>
              <a:ext uri="{FF2B5EF4-FFF2-40B4-BE49-F238E27FC236}">
                <a16:creationId xmlns:a16="http://schemas.microsoft.com/office/drawing/2014/main" id="{09901502-CE94-ED4A-2585-11AC715274A0}"/>
              </a:ext>
            </a:extLst>
          </p:cNvPr>
          <p:cNvSpPr/>
          <p:nvPr/>
        </p:nvSpPr>
        <p:spPr>
          <a:xfrm>
            <a:off x="6995411" y="1951835"/>
            <a:ext cx="1610026" cy="1611848"/>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TextBox 36">
            <a:extLst>
              <a:ext uri="{FF2B5EF4-FFF2-40B4-BE49-F238E27FC236}">
                <a16:creationId xmlns:a16="http://schemas.microsoft.com/office/drawing/2014/main" id="{66697F81-F77D-A8EC-D2D8-0919E4A8AD6C}"/>
              </a:ext>
            </a:extLst>
          </p:cNvPr>
          <p:cNvSpPr txBox="1"/>
          <p:nvPr/>
        </p:nvSpPr>
        <p:spPr>
          <a:xfrm>
            <a:off x="7575042" y="2618285"/>
            <a:ext cx="450764"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pPr algn="ctr"/>
            <a:r>
              <a:rPr lang="en-US" sz="3600" b="0">
                <a:latin typeface="Figtree" pitchFamily="2" charset="0"/>
              </a:rPr>
              <a:t>5</a:t>
            </a:r>
          </a:p>
        </p:txBody>
      </p:sp>
      <p:sp>
        <p:nvSpPr>
          <p:cNvPr id="38" name="TextBox 37">
            <a:extLst>
              <a:ext uri="{FF2B5EF4-FFF2-40B4-BE49-F238E27FC236}">
                <a16:creationId xmlns:a16="http://schemas.microsoft.com/office/drawing/2014/main" id="{52611DE2-D1E7-042A-52DA-D7BCF406B934}"/>
              </a:ext>
            </a:extLst>
          </p:cNvPr>
          <p:cNvSpPr txBox="1"/>
          <p:nvPr/>
        </p:nvSpPr>
        <p:spPr>
          <a:xfrm>
            <a:off x="7428367" y="3122267"/>
            <a:ext cx="744114"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pPr algn="ctr"/>
            <a:r>
              <a:rPr lang="en-US">
                <a:solidFill>
                  <a:schemeClr val="tx2">
                    <a:alpha val="60000"/>
                  </a:schemeClr>
                </a:solidFill>
                <a:latin typeface="Figtree" pitchFamily="2" charset="0"/>
              </a:rPr>
              <a:t>Awards</a:t>
            </a:r>
          </a:p>
        </p:txBody>
      </p:sp>
      <p:pic>
        <p:nvPicPr>
          <p:cNvPr id="39" name="Graphic 38">
            <a:extLst>
              <a:ext uri="{FF2B5EF4-FFF2-40B4-BE49-F238E27FC236}">
                <a16:creationId xmlns:a16="http://schemas.microsoft.com/office/drawing/2014/main" id="{100BE42A-F26E-05CC-A280-E87626DE4A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663264" y="2219531"/>
            <a:ext cx="274320" cy="274320"/>
          </a:xfrm>
          <a:prstGeom prst="rect">
            <a:avLst/>
          </a:prstGeom>
        </p:spPr>
      </p:pic>
      <p:sp>
        <p:nvSpPr>
          <p:cNvPr id="41" name="Rectangle: Rounded Corners 40">
            <a:extLst>
              <a:ext uri="{FF2B5EF4-FFF2-40B4-BE49-F238E27FC236}">
                <a16:creationId xmlns:a16="http://schemas.microsoft.com/office/drawing/2014/main" id="{A7F2D53C-A391-63F3-4E53-EA3CD7D8F8FC}"/>
              </a:ext>
            </a:extLst>
          </p:cNvPr>
          <p:cNvSpPr/>
          <p:nvPr/>
        </p:nvSpPr>
        <p:spPr>
          <a:xfrm>
            <a:off x="6995411" y="3783851"/>
            <a:ext cx="1610026" cy="1611848"/>
          </a:xfrm>
          <a:prstGeom prst="roundRect">
            <a:avLst>
              <a:gd name="adj" fmla="val 872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TextBox 41">
            <a:extLst>
              <a:ext uri="{FF2B5EF4-FFF2-40B4-BE49-F238E27FC236}">
                <a16:creationId xmlns:a16="http://schemas.microsoft.com/office/drawing/2014/main" id="{7D22C359-8703-C477-2392-AC6737477825}"/>
              </a:ext>
            </a:extLst>
          </p:cNvPr>
          <p:cNvSpPr txBox="1"/>
          <p:nvPr/>
        </p:nvSpPr>
        <p:spPr>
          <a:xfrm>
            <a:off x="7374666" y="4450301"/>
            <a:ext cx="851516"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pPr algn="ctr"/>
            <a:r>
              <a:rPr lang="en-US" sz="3600" b="0">
                <a:latin typeface="Figtree" pitchFamily="2" charset="0"/>
              </a:rPr>
              <a:t>4.8</a:t>
            </a:r>
          </a:p>
        </p:txBody>
      </p:sp>
      <p:sp>
        <p:nvSpPr>
          <p:cNvPr id="43" name="TextBox 42">
            <a:extLst>
              <a:ext uri="{FF2B5EF4-FFF2-40B4-BE49-F238E27FC236}">
                <a16:creationId xmlns:a16="http://schemas.microsoft.com/office/drawing/2014/main" id="{97290284-7F97-3EED-51E6-B3C96B67A1DF}"/>
              </a:ext>
            </a:extLst>
          </p:cNvPr>
          <p:cNvSpPr txBox="1"/>
          <p:nvPr/>
        </p:nvSpPr>
        <p:spPr>
          <a:xfrm>
            <a:off x="7428367" y="4954283"/>
            <a:ext cx="744114"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pPr algn="ctr"/>
            <a:r>
              <a:rPr lang="en-US">
                <a:solidFill>
                  <a:schemeClr val="tx2">
                    <a:alpha val="60000"/>
                  </a:schemeClr>
                </a:solidFill>
                <a:latin typeface="Figtree" pitchFamily="2" charset="0"/>
              </a:rPr>
              <a:t>Ratings</a:t>
            </a:r>
          </a:p>
        </p:txBody>
      </p:sp>
      <p:pic>
        <p:nvPicPr>
          <p:cNvPr id="44" name="Graphic 43">
            <a:extLst>
              <a:ext uri="{FF2B5EF4-FFF2-40B4-BE49-F238E27FC236}">
                <a16:creationId xmlns:a16="http://schemas.microsoft.com/office/drawing/2014/main" id="{0232E9A2-A59A-BFC2-DE1D-C466499FE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663264" y="4051547"/>
            <a:ext cx="274320" cy="274320"/>
          </a:xfrm>
          <a:prstGeom prst="rect">
            <a:avLst/>
          </a:prstGeom>
        </p:spPr>
      </p:pic>
      <p:sp>
        <p:nvSpPr>
          <p:cNvPr id="3" name="Oval 2">
            <a:extLst>
              <a:ext uri="{FF2B5EF4-FFF2-40B4-BE49-F238E27FC236}">
                <a16:creationId xmlns:a16="http://schemas.microsoft.com/office/drawing/2014/main" id="{2A2F90B4-65AE-C2C6-C62C-FD08EB03E913}"/>
              </a:ext>
            </a:extLst>
          </p:cNvPr>
          <p:cNvSpPr/>
          <p:nvPr/>
        </p:nvSpPr>
        <p:spPr>
          <a:xfrm>
            <a:off x="2968295" y="1527134"/>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7" name="Straight Arrow Connector 6">
            <a:extLst>
              <a:ext uri="{FF2B5EF4-FFF2-40B4-BE49-F238E27FC236}">
                <a16:creationId xmlns:a16="http://schemas.microsoft.com/office/drawing/2014/main" id="{CCC1A4BB-30B9-89DE-5A76-6AF4E6AD1C32}"/>
              </a:ext>
            </a:extLst>
          </p:cNvPr>
          <p:cNvCxnSpPr>
            <a:cxnSpLocks/>
          </p:cNvCxnSpPr>
          <p:nvPr/>
        </p:nvCxnSpPr>
        <p:spPr>
          <a:xfrm flipV="1">
            <a:off x="3140023" y="1698862"/>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97894524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7" name="Freeform: Shape 56">
            <a:extLst>
              <a:ext uri="{FF2B5EF4-FFF2-40B4-BE49-F238E27FC236}">
                <a16:creationId xmlns:a16="http://schemas.microsoft.com/office/drawing/2014/main" id="{6A879B28-954A-1863-352B-7FC0C83E0F2C}"/>
              </a:ext>
            </a:extLst>
          </p:cNvPr>
          <p:cNvSpPr/>
          <p:nvPr/>
        </p:nvSpPr>
        <p:spPr>
          <a:xfrm>
            <a:off x="3510426" y="-769562"/>
            <a:ext cx="9462624" cy="6065358"/>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1270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0C1146-A580-E534-0F34-B1149D4B3131}"/>
              </a:ext>
            </a:extLst>
          </p:cNvPr>
          <p:cNvSpPr txBox="1"/>
          <p:nvPr/>
        </p:nvSpPr>
        <p:spPr>
          <a:xfrm>
            <a:off x="883256" y="1423333"/>
            <a:ext cx="3255237" cy="1446550"/>
          </a:xfrm>
          <a:prstGeom prst="rect">
            <a:avLst/>
          </a:prstGeom>
          <a:noFill/>
        </p:spPr>
        <p:txBody>
          <a:bodyPr wrap="square" rtlCol="0">
            <a:spAutoFit/>
          </a:bodyPr>
          <a:lstStyle/>
          <a:p>
            <a:r>
              <a:rPr lang="en-US" sz="4400">
                <a:solidFill>
                  <a:schemeClr val="tx2"/>
                </a:solidFill>
                <a:latin typeface="Space Grotesk Medium" pitchFamily="2" charset="0"/>
              </a:rPr>
              <a:t>Pricing Package</a:t>
            </a:r>
          </a:p>
        </p:txBody>
      </p:sp>
      <p:sp>
        <p:nvSpPr>
          <p:cNvPr id="5" name="TextBox 4">
            <a:extLst>
              <a:ext uri="{FF2B5EF4-FFF2-40B4-BE49-F238E27FC236}">
                <a16:creationId xmlns:a16="http://schemas.microsoft.com/office/drawing/2014/main" id="{5CC844C0-21C3-2B6C-F1B6-16CCE4F19595}"/>
              </a:ext>
            </a:extLst>
          </p:cNvPr>
          <p:cNvSpPr txBox="1"/>
          <p:nvPr/>
        </p:nvSpPr>
        <p:spPr>
          <a:xfrm>
            <a:off x="883256" y="3447207"/>
            <a:ext cx="2675744" cy="1559401"/>
          </a:xfrm>
          <a:prstGeom prst="rect">
            <a:avLst/>
          </a:prstGeom>
          <a:noFill/>
        </p:spPr>
        <p:txBody>
          <a:bodyPr wrap="square" rtlCol="0">
            <a:spAutoFit/>
          </a:bodyPr>
          <a:lstStyle/>
          <a:p>
            <a:pPr>
              <a:lnSpc>
                <a:spcPct val="150000"/>
              </a:lnSpc>
            </a:pPr>
            <a:r>
              <a:rPr lang="en-US" sz="1300">
                <a:solidFill>
                  <a:schemeClr val="tx2"/>
                </a:solidFill>
                <a:latin typeface="Figtree" pitchFamily="2" charset="0"/>
              </a:rPr>
              <a:t>At Future AI, we offer flexible pricing options to accommodate the diverse needs of our clients. Choose the plan that best aligns with your requirements &amp; budget.</a:t>
            </a:r>
            <a:endParaRPr lang="en-ID" sz="1300">
              <a:solidFill>
                <a:schemeClr val="tx2"/>
              </a:solidFill>
              <a:latin typeface="Figtree" pitchFamily="2" charset="0"/>
            </a:endParaRPr>
          </a:p>
        </p:txBody>
      </p:sp>
      <p:sp>
        <p:nvSpPr>
          <p:cNvPr id="6" name="TextBox 5">
            <a:extLst>
              <a:ext uri="{FF2B5EF4-FFF2-40B4-BE49-F238E27FC236}">
                <a16:creationId xmlns:a16="http://schemas.microsoft.com/office/drawing/2014/main" id="{786B3051-B77F-1518-7BFC-783116365C48}"/>
              </a:ext>
            </a:extLst>
          </p:cNvPr>
          <p:cNvSpPr txBox="1"/>
          <p:nvPr/>
        </p:nvSpPr>
        <p:spPr>
          <a:xfrm>
            <a:off x="883257" y="2869883"/>
            <a:ext cx="817853"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Package</a:t>
            </a:r>
          </a:p>
        </p:txBody>
      </p:sp>
      <p:sp>
        <p:nvSpPr>
          <p:cNvPr id="2" name="Rectangle: Rounded Corners 1">
            <a:extLst>
              <a:ext uri="{FF2B5EF4-FFF2-40B4-BE49-F238E27FC236}">
                <a16:creationId xmlns:a16="http://schemas.microsoft.com/office/drawing/2014/main" id="{DB4E58E2-093D-A5D1-7D3B-7A88C0B84A61}"/>
              </a:ext>
            </a:extLst>
          </p:cNvPr>
          <p:cNvSpPr/>
          <p:nvPr/>
        </p:nvSpPr>
        <p:spPr>
          <a:xfrm>
            <a:off x="4847668" y="1213859"/>
            <a:ext cx="3037964" cy="4081937"/>
          </a:xfrm>
          <a:prstGeom prst="roundRect">
            <a:avLst>
              <a:gd name="adj" fmla="val 613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a:extLst>
              <a:ext uri="{FF2B5EF4-FFF2-40B4-BE49-F238E27FC236}">
                <a16:creationId xmlns:a16="http://schemas.microsoft.com/office/drawing/2014/main" id="{091A75A7-3561-1A62-D344-CB2FAC8E7319}"/>
              </a:ext>
            </a:extLst>
          </p:cNvPr>
          <p:cNvSpPr txBox="1"/>
          <p:nvPr/>
        </p:nvSpPr>
        <p:spPr>
          <a:xfrm>
            <a:off x="5259136" y="1596522"/>
            <a:ext cx="805029" cy="400110"/>
          </a:xfrm>
          <a:prstGeom prst="rect">
            <a:avLst/>
          </a:prstGeom>
          <a:noFill/>
        </p:spPr>
        <p:txBody>
          <a:bodyPr wrap="none" rtlCol="0">
            <a:spAutoFit/>
          </a:bodyPr>
          <a:lstStyle/>
          <a:p>
            <a:r>
              <a:rPr lang="en-US" sz="2000" b="1">
                <a:solidFill>
                  <a:schemeClr val="tx2"/>
                </a:solidFill>
                <a:latin typeface="Figtree" pitchFamily="2" charset="0"/>
              </a:rPr>
              <a:t>Basic</a:t>
            </a:r>
          </a:p>
        </p:txBody>
      </p:sp>
      <p:sp>
        <p:nvSpPr>
          <p:cNvPr id="7" name="TextBox 6">
            <a:extLst>
              <a:ext uri="{FF2B5EF4-FFF2-40B4-BE49-F238E27FC236}">
                <a16:creationId xmlns:a16="http://schemas.microsoft.com/office/drawing/2014/main" id="{37434CD2-3E78-09D5-871A-838339C9EE3E}"/>
              </a:ext>
            </a:extLst>
          </p:cNvPr>
          <p:cNvSpPr txBox="1"/>
          <p:nvPr/>
        </p:nvSpPr>
        <p:spPr>
          <a:xfrm>
            <a:off x="5259136" y="2398811"/>
            <a:ext cx="2253129" cy="659155"/>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defRPr>
            </a:lvl1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8" name="Freeform: Shape 7">
            <a:extLst>
              <a:ext uri="{FF2B5EF4-FFF2-40B4-BE49-F238E27FC236}">
                <a16:creationId xmlns:a16="http://schemas.microsoft.com/office/drawing/2014/main" id="{715415F4-9443-3D88-656F-F4E1E16E9F40}"/>
              </a:ext>
            </a:extLst>
          </p:cNvPr>
          <p:cNvSpPr/>
          <p:nvPr/>
        </p:nvSpPr>
        <p:spPr>
          <a:xfrm>
            <a:off x="5310654" y="322625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FDAF175-CA79-9AE5-387B-AB0D7DB46020}"/>
              </a:ext>
            </a:extLst>
          </p:cNvPr>
          <p:cNvSpPr txBox="1"/>
          <p:nvPr/>
        </p:nvSpPr>
        <p:spPr>
          <a:xfrm>
            <a:off x="5548957" y="3162271"/>
            <a:ext cx="1853778" cy="292388"/>
          </a:xfrm>
          <a:prstGeom prst="rect">
            <a:avLst/>
          </a:prstGeom>
          <a:noFill/>
        </p:spPr>
        <p:txBody>
          <a:bodyPr wrap="square" rtlCol="0">
            <a:spAutoFit/>
          </a:bodyPr>
          <a:lstStyle/>
          <a:p>
            <a:r>
              <a:rPr lang="en-US" sz="1300">
                <a:solidFill>
                  <a:schemeClr val="tx2"/>
                </a:solidFill>
                <a:latin typeface="Figtree" pitchFamily="2" charset="0"/>
                <a:cs typeface="Plus Jakarta Sans" pitchFamily="2" charset="0"/>
              </a:rPr>
              <a:t>Sed ut perspiciatis</a:t>
            </a:r>
          </a:p>
        </p:txBody>
      </p:sp>
      <p:sp>
        <p:nvSpPr>
          <p:cNvPr id="10" name="Freeform: Shape 9">
            <a:extLst>
              <a:ext uri="{FF2B5EF4-FFF2-40B4-BE49-F238E27FC236}">
                <a16:creationId xmlns:a16="http://schemas.microsoft.com/office/drawing/2014/main" id="{DB2F7050-6CAE-3620-6976-E361BD8F558D}"/>
              </a:ext>
            </a:extLst>
          </p:cNvPr>
          <p:cNvSpPr/>
          <p:nvPr/>
        </p:nvSpPr>
        <p:spPr>
          <a:xfrm>
            <a:off x="5310654" y="358816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0EFF8E2-5966-160F-6945-1289227C86ED}"/>
              </a:ext>
            </a:extLst>
          </p:cNvPr>
          <p:cNvSpPr txBox="1"/>
          <p:nvPr/>
        </p:nvSpPr>
        <p:spPr>
          <a:xfrm>
            <a:off x="5548956" y="3524182"/>
            <a:ext cx="1853779" cy="292388"/>
          </a:xfrm>
          <a:prstGeom prst="rect">
            <a:avLst/>
          </a:prstGeom>
          <a:noFill/>
        </p:spPr>
        <p:txBody>
          <a:bodyPr wrap="square" rtlCol="0">
            <a:spAutoFit/>
          </a:bodyPr>
          <a:lstStyle/>
          <a:p>
            <a:r>
              <a:rPr lang="en-US" sz="1300">
                <a:solidFill>
                  <a:schemeClr val="tx2"/>
                </a:solidFill>
                <a:latin typeface="Figtree" pitchFamily="2" charset="0"/>
                <a:cs typeface="Plus Jakarta Sans" pitchFamily="2" charset="0"/>
              </a:rPr>
              <a:t>Duis aute irure nulla</a:t>
            </a:r>
          </a:p>
        </p:txBody>
      </p:sp>
      <p:sp>
        <p:nvSpPr>
          <p:cNvPr id="40" name="Freeform: Shape 39">
            <a:extLst>
              <a:ext uri="{FF2B5EF4-FFF2-40B4-BE49-F238E27FC236}">
                <a16:creationId xmlns:a16="http://schemas.microsoft.com/office/drawing/2014/main" id="{CE9F50FA-8436-E92B-B1C9-F5BF466D326D}"/>
              </a:ext>
            </a:extLst>
          </p:cNvPr>
          <p:cNvSpPr/>
          <p:nvPr/>
        </p:nvSpPr>
        <p:spPr>
          <a:xfrm>
            <a:off x="5310654" y="3950072"/>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750F6877-CAAA-838E-C010-B2E8E7DC1755}"/>
              </a:ext>
            </a:extLst>
          </p:cNvPr>
          <p:cNvSpPr txBox="1"/>
          <p:nvPr/>
        </p:nvSpPr>
        <p:spPr>
          <a:xfrm>
            <a:off x="5548958" y="3886093"/>
            <a:ext cx="18537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t>Reprehendet volup</a:t>
            </a:r>
          </a:p>
        </p:txBody>
      </p:sp>
      <p:sp>
        <p:nvSpPr>
          <p:cNvPr id="42" name="TextBox 41">
            <a:extLst>
              <a:ext uri="{FF2B5EF4-FFF2-40B4-BE49-F238E27FC236}">
                <a16:creationId xmlns:a16="http://schemas.microsoft.com/office/drawing/2014/main" id="{0288FC3E-C3B5-1198-8ED8-8D2CA7C87BF6}"/>
              </a:ext>
            </a:extLst>
          </p:cNvPr>
          <p:cNvSpPr txBox="1"/>
          <p:nvPr/>
        </p:nvSpPr>
        <p:spPr>
          <a:xfrm>
            <a:off x="5241985" y="4330219"/>
            <a:ext cx="1024639" cy="830997"/>
          </a:xfrm>
          <a:prstGeom prst="rect">
            <a:avLst/>
          </a:prstGeom>
          <a:noFill/>
        </p:spPr>
        <p:txBody>
          <a:bodyPr wrap="none" rtlCol="0">
            <a:spAutoFit/>
          </a:bodyPr>
          <a:lstStyle/>
          <a:p>
            <a:r>
              <a:rPr lang="en-US" sz="4800" baseline="30000">
                <a:solidFill>
                  <a:schemeClr val="tx2"/>
                </a:solidFill>
                <a:latin typeface="Figtree" pitchFamily="2" charset="0"/>
                <a:cs typeface="Plus Jakarta Sans ExtraBold" pitchFamily="2" charset="0"/>
              </a:rPr>
              <a:t>$</a:t>
            </a:r>
            <a:r>
              <a:rPr lang="en-US" sz="4800">
                <a:solidFill>
                  <a:schemeClr val="tx2"/>
                </a:solidFill>
                <a:latin typeface="Figtree" pitchFamily="2" charset="0"/>
                <a:cs typeface="Plus Jakarta Sans ExtraBold" pitchFamily="2" charset="0"/>
              </a:rPr>
              <a:t>15</a:t>
            </a:r>
          </a:p>
        </p:txBody>
      </p:sp>
      <p:sp>
        <p:nvSpPr>
          <p:cNvPr id="43" name="TextBox 42">
            <a:extLst>
              <a:ext uri="{FF2B5EF4-FFF2-40B4-BE49-F238E27FC236}">
                <a16:creationId xmlns:a16="http://schemas.microsoft.com/office/drawing/2014/main" id="{C20A28F0-9D76-83EE-2305-BB0FA29930C0}"/>
              </a:ext>
            </a:extLst>
          </p:cNvPr>
          <p:cNvSpPr txBox="1"/>
          <p:nvPr/>
        </p:nvSpPr>
        <p:spPr>
          <a:xfrm>
            <a:off x="6163513" y="4714220"/>
            <a:ext cx="10372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t>/month</a:t>
            </a:r>
          </a:p>
        </p:txBody>
      </p:sp>
      <p:cxnSp>
        <p:nvCxnSpPr>
          <p:cNvPr id="44" name="Straight Connector 43">
            <a:extLst>
              <a:ext uri="{FF2B5EF4-FFF2-40B4-BE49-F238E27FC236}">
                <a16:creationId xmlns:a16="http://schemas.microsoft.com/office/drawing/2014/main" id="{90B1ECB8-D45A-2FD8-8A6F-C7B762866C9E}"/>
              </a:ext>
            </a:extLst>
          </p:cNvPr>
          <p:cNvCxnSpPr>
            <a:cxnSpLocks/>
          </p:cNvCxnSpPr>
          <p:nvPr/>
        </p:nvCxnSpPr>
        <p:spPr>
          <a:xfrm>
            <a:off x="5259136" y="2180736"/>
            <a:ext cx="2225470"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sp>
        <p:nvSpPr>
          <p:cNvPr id="45" name="Rectangle: Rounded Corners 44">
            <a:extLst>
              <a:ext uri="{FF2B5EF4-FFF2-40B4-BE49-F238E27FC236}">
                <a16:creationId xmlns:a16="http://schemas.microsoft.com/office/drawing/2014/main" id="{E2A30E0D-5721-DFA1-E8A0-3FDBB150D0DC}"/>
              </a:ext>
            </a:extLst>
          </p:cNvPr>
          <p:cNvSpPr/>
          <p:nvPr/>
        </p:nvSpPr>
        <p:spPr>
          <a:xfrm>
            <a:off x="8301160" y="1213859"/>
            <a:ext cx="3037964" cy="4081937"/>
          </a:xfrm>
          <a:prstGeom prst="roundRect">
            <a:avLst>
              <a:gd name="adj" fmla="val 6131"/>
            </a:avLst>
          </a:prstGeom>
          <a:solidFill>
            <a:schemeClr val="tx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6" name="TextBox 45">
            <a:extLst>
              <a:ext uri="{FF2B5EF4-FFF2-40B4-BE49-F238E27FC236}">
                <a16:creationId xmlns:a16="http://schemas.microsoft.com/office/drawing/2014/main" id="{1A1D55D6-A569-44CC-7DBC-3FC10CDE4ACB}"/>
              </a:ext>
            </a:extLst>
          </p:cNvPr>
          <p:cNvSpPr txBox="1"/>
          <p:nvPr/>
        </p:nvSpPr>
        <p:spPr>
          <a:xfrm>
            <a:off x="8712628" y="1596522"/>
            <a:ext cx="1226618" cy="400110"/>
          </a:xfrm>
          <a:prstGeom prst="rect">
            <a:avLst/>
          </a:prstGeom>
          <a:noFill/>
        </p:spPr>
        <p:txBody>
          <a:bodyPr wrap="none" rtlCol="0">
            <a:spAutoFit/>
          </a:bodyPr>
          <a:lstStyle/>
          <a:p>
            <a:r>
              <a:rPr lang="en-US" sz="2000" b="1">
                <a:solidFill>
                  <a:schemeClr val="bg2"/>
                </a:solidFill>
                <a:latin typeface="Figtree" pitchFamily="2" charset="0"/>
              </a:rPr>
              <a:t>Advance</a:t>
            </a:r>
          </a:p>
        </p:txBody>
      </p:sp>
      <p:sp>
        <p:nvSpPr>
          <p:cNvPr id="47" name="TextBox 46">
            <a:extLst>
              <a:ext uri="{FF2B5EF4-FFF2-40B4-BE49-F238E27FC236}">
                <a16:creationId xmlns:a16="http://schemas.microsoft.com/office/drawing/2014/main" id="{CE2E2EB6-852B-228A-F7EF-43C53CF03134}"/>
              </a:ext>
            </a:extLst>
          </p:cNvPr>
          <p:cNvSpPr txBox="1"/>
          <p:nvPr/>
        </p:nvSpPr>
        <p:spPr>
          <a:xfrm>
            <a:off x="8712628" y="2398811"/>
            <a:ext cx="2253129" cy="659155"/>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defRPr>
            </a:lvl1pPr>
          </a:lstStyle>
          <a:p>
            <a:r>
              <a:rPr lang="en-US">
                <a:solidFill>
                  <a:schemeClr val="bg2"/>
                </a:solidFill>
              </a:rPr>
              <a:t>Lorem ipsum dolor sit amet consectetur adipiscing elit</a:t>
            </a:r>
          </a:p>
        </p:txBody>
      </p:sp>
      <p:sp>
        <p:nvSpPr>
          <p:cNvPr id="48" name="Freeform: Shape 47">
            <a:extLst>
              <a:ext uri="{FF2B5EF4-FFF2-40B4-BE49-F238E27FC236}">
                <a16:creationId xmlns:a16="http://schemas.microsoft.com/office/drawing/2014/main" id="{32D20A11-92ED-5FEC-5BDC-9F4584DA8815}"/>
              </a:ext>
            </a:extLst>
          </p:cNvPr>
          <p:cNvSpPr/>
          <p:nvPr/>
        </p:nvSpPr>
        <p:spPr>
          <a:xfrm>
            <a:off x="8764146" y="322625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51D21E19-DC80-FB0C-1925-DA5AF3A776F3}"/>
              </a:ext>
            </a:extLst>
          </p:cNvPr>
          <p:cNvSpPr txBox="1"/>
          <p:nvPr/>
        </p:nvSpPr>
        <p:spPr>
          <a:xfrm>
            <a:off x="9002449" y="3162271"/>
            <a:ext cx="1853778" cy="292388"/>
          </a:xfrm>
          <a:prstGeom prst="rect">
            <a:avLst/>
          </a:prstGeom>
          <a:noFill/>
        </p:spPr>
        <p:txBody>
          <a:bodyPr wrap="square" rtlCol="0">
            <a:spAutoFit/>
          </a:bodyPr>
          <a:lstStyle/>
          <a:p>
            <a:r>
              <a:rPr lang="en-US" sz="1300">
                <a:solidFill>
                  <a:schemeClr val="bg2"/>
                </a:solidFill>
                <a:latin typeface="Figtree" pitchFamily="2" charset="0"/>
                <a:cs typeface="Plus Jakarta Sans" pitchFamily="2" charset="0"/>
              </a:rPr>
              <a:t>Sed ut perspiciatis</a:t>
            </a:r>
          </a:p>
        </p:txBody>
      </p:sp>
      <p:sp>
        <p:nvSpPr>
          <p:cNvPr id="50" name="Freeform: Shape 49">
            <a:extLst>
              <a:ext uri="{FF2B5EF4-FFF2-40B4-BE49-F238E27FC236}">
                <a16:creationId xmlns:a16="http://schemas.microsoft.com/office/drawing/2014/main" id="{0D692794-58E6-87C4-3275-E9E6AF833959}"/>
              </a:ext>
            </a:extLst>
          </p:cNvPr>
          <p:cNvSpPr/>
          <p:nvPr/>
        </p:nvSpPr>
        <p:spPr>
          <a:xfrm>
            <a:off x="8764146" y="3588161"/>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6AB851C0-E8B7-B8C7-7EE0-781D201F2CC6}"/>
              </a:ext>
            </a:extLst>
          </p:cNvPr>
          <p:cNvSpPr txBox="1"/>
          <p:nvPr/>
        </p:nvSpPr>
        <p:spPr>
          <a:xfrm>
            <a:off x="9002448" y="3524182"/>
            <a:ext cx="1853779" cy="292388"/>
          </a:xfrm>
          <a:prstGeom prst="rect">
            <a:avLst/>
          </a:prstGeom>
          <a:noFill/>
        </p:spPr>
        <p:txBody>
          <a:bodyPr wrap="square" rtlCol="0">
            <a:spAutoFit/>
          </a:bodyPr>
          <a:lstStyle/>
          <a:p>
            <a:r>
              <a:rPr lang="en-US" sz="1300">
                <a:solidFill>
                  <a:schemeClr val="bg2"/>
                </a:solidFill>
                <a:latin typeface="Figtree" pitchFamily="2" charset="0"/>
                <a:cs typeface="Plus Jakarta Sans" pitchFamily="2" charset="0"/>
              </a:rPr>
              <a:t>Duis aute irure nulla</a:t>
            </a:r>
          </a:p>
        </p:txBody>
      </p:sp>
      <p:sp>
        <p:nvSpPr>
          <p:cNvPr id="52" name="Freeform: Shape 51">
            <a:extLst>
              <a:ext uri="{FF2B5EF4-FFF2-40B4-BE49-F238E27FC236}">
                <a16:creationId xmlns:a16="http://schemas.microsoft.com/office/drawing/2014/main" id="{D75C2BD0-187D-271E-6088-13B46E49B7DC}"/>
              </a:ext>
            </a:extLst>
          </p:cNvPr>
          <p:cNvSpPr/>
          <p:nvPr/>
        </p:nvSpPr>
        <p:spPr>
          <a:xfrm>
            <a:off x="8764146" y="3950072"/>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25FE5475-F42D-6A08-A8F3-77D0C246F5F9}"/>
              </a:ext>
            </a:extLst>
          </p:cNvPr>
          <p:cNvSpPr txBox="1"/>
          <p:nvPr/>
        </p:nvSpPr>
        <p:spPr>
          <a:xfrm>
            <a:off x="9002450" y="3886093"/>
            <a:ext cx="18537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solidFill>
                  <a:schemeClr val="bg2"/>
                </a:solidFill>
              </a:rPr>
              <a:t>Reprehendet volup</a:t>
            </a:r>
          </a:p>
        </p:txBody>
      </p:sp>
      <p:sp>
        <p:nvSpPr>
          <p:cNvPr id="54" name="TextBox 53">
            <a:extLst>
              <a:ext uri="{FF2B5EF4-FFF2-40B4-BE49-F238E27FC236}">
                <a16:creationId xmlns:a16="http://schemas.microsoft.com/office/drawing/2014/main" id="{D3CAB4E9-DC80-2BF6-1CCB-6053E2CCF463}"/>
              </a:ext>
            </a:extLst>
          </p:cNvPr>
          <p:cNvSpPr txBox="1"/>
          <p:nvPr/>
        </p:nvSpPr>
        <p:spPr>
          <a:xfrm>
            <a:off x="8695477" y="4330219"/>
            <a:ext cx="1114408" cy="830997"/>
          </a:xfrm>
          <a:prstGeom prst="rect">
            <a:avLst/>
          </a:prstGeom>
          <a:noFill/>
        </p:spPr>
        <p:txBody>
          <a:bodyPr wrap="none" rtlCol="0">
            <a:spAutoFit/>
          </a:bodyPr>
          <a:lstStyle/>
          <a:p>
            <a:r>
              <a:rPr lang="en-US" sz="4800" baseline="30000">
                <a:solidFill>
                  <a:schemeClr val="bg2"/>
                </a:solidFill>
                <a:latin typeface="Figtree" pitchFamily="2" charset="0"/>
                <a:cs typeface="Plus Jakarta Sans ExtraBold" pitchFamily="2" charset="0"/>
              </a:rPr>
              <a:t>$</a:t>
            </a:r>
            <a:r>
              <a:rPr lang="en-US" sz="4800">
                <a:solidFill>
                  <a:schemeClr val="bg2"/>
                </a:solidFill>
                <a:latin typeface="Figtree" pitchFamily="2" charset="0"/>
                <a:cs typeface="Plus Jakarta Sans ExtraBold" pitchFamily="2" charset="0"/>
              </a:rPr>
              <a:t>25</a:t>
            </a:r>
          </a:p>
        </p:txBody>
      </p:sp>
      <p:sp>
        <p:nvSpPr>
          <p:cNvPr id="55" name="TextBox 54">
            <a:extLst>
              <a:ext uri="{FF2B5EF4-FFF2-40B4-BE49-F238E27FC236}">
                <a16:creationId xmlns:a16="http://schemas.microsoft.com/office/drawing/2014/main" id="{7A5127A3-3A86-002E-8A59-F97E98CF9B2D}"/>
              </a:ext>
            </a:extLst>
          </p:cNvPr>
          <p:cNvSpPr txBox="1"/>
          <p:nvPr/>
        </p:nvSpPr>
        <p:spPr>
          <a:xfrm>
            <a:off x="9720116" y="4714220"/>
            <a:ext cx="10372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solidFill>
                  <a:schemeClr val="bg2"/>
                </a:solidFill>
              </a:rPr>
              <a:t>/month</a:t>
            </a:r>
          </a:p>
        </p:txBody>
      </p:sp>
      <p:cxnSp>
        <p:nvCxnSpPr>
          <p:cNvPr id="56" name="Straight Connector 55">
            <a:extLst>
              <a:ext uri="{FF2B5EF4-FFF2-40B4-BE49-F238E27FC236}">
                <a16:creationId xmlns:a16="http://schemas.microsoft.com/office/drawing/2014/main" id="{154175BE-3F27-81F4-E7FB-C1D34410B313}"/>
              </a:ext>
            </a:extLst>
          </p:cNvPr>
          <p:cNvCxnSpPr>
            <a:cxnSpLocks/>
          </p:cNvCxnSpPr>
          <p:nvPr/>
        </p:nvCxnSpPr>
        <p:spPr>
          <a:xfrm>
            <a:off x="8712628" y="2180736"/>
            <a:ext cx="2225470"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spTree>
    <p:extLst>
      <p:ext uri="{BB962C8B-B14F-4D97-AF65-F5344CB8AC3E}">
        <p14:creationId xmlns:p14="http://schemas.microsoft.com/office/powerpoint/2010/main" val="299233912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7" name="Freeform: Shape 86">
            <a:extLst>
              <a:ext uri="{FF2B5EF4-FFF2-40B4-BE49-F238E27FC236}">
                <a16:creationId xmlns:a16="http://schemas.microsoft.com/office/drawing/2014/main" id="{EABC39FD-3CA5-98E4-3C2D-9B3E5CD8BA76}"/>
              </a:ext>
            </a:extLst>
          </p:cNvPr>
          <p:cNvSpPr/>
          <p:nvPr/>
        </p:nvSpPr>
        <p:spPr>
          <a:xfrm>
            <a:off x="93240" y="-547352"/>
            <a:ext cx="11017110" cy="8205452"/>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1270000">
            <a:gradFill flip="none" rotWithShape="1">
              <a:gsLst>
                <a:gs pos="0">
                  <a:schemeClr val="accent1"/>
                </a:gs>
                <a:gs pos="100000">
                  <a:schemeClr val="accent2"/>
                </a:gs>
              </a:gsLst>
              <a:lin ang="27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F23B02-1336-E4FB-6859-C45BAD859EDD}"/>
              </a:ext>
            </a:extLst>
          </p:cNvPr>
          <p:cNvSpPr txBox="1"/>
          <p:nvPr/>
        </p:nvSpPr>
        <p:spPr>
          <a:xfrm>
            <a:off x="2772231" y="575416"/>
            <a:ext cx="6647540" cy="769441"/>
          </a:xfrm>
          <a:prstGeom prst="rect">
            <a:avLst/>
          </a:prstGeom>
          <a:noFill/>
        </p:spPr>
        <p:txBody>
          <a:bodyPr wrap="square" rtlCol="0">
            <a:spAutoFit/>
          </a:bodyPr>
          <a:lstStyle/>
          <a:p>
            <a:pPr algn="ctr"/>
            <a:r>
              <a:rPr lang="en-US" sz="4400">
                <a:solidFill>
                  <a:schemeClr val="tx2"/>
                </a:solidFill>
                <a:latin typeface="Space Grotesk Medium" pitchFamily="2" charset="0"/>
                <a:cs typeface="Rubik" pitchFamily="2" charset="-79"/>
              </a:rPr>
              <a:t>Three Fintech Option</a:t>
            </a:r>
          </a:p>
        </p:txBody>
      </p:sp>
      <p:sp>
        <p:nvSpPr>
          <p:cNvPr id="2" name="Rectangle: Rounded Corners 1">
            <a:extLst>
              <a:ext uri="{FF2B5EF4-FFF2-40B4-BE49-F238E27FC236}">
                <a16:creationId xmlns:a16="http://schemas.microsoft.com/office/drawing/2014/main" id="{24087286-2F72-3936-DBBA-25BE76B9C2AB}"/>
              </a:ext>
            </a:extLst>
          </p:cNvPr>
          <p:cNvSpPr/>
          <p:nvPr/>
        </p:nvSpPr>
        <p:spPr>
          <a:xfrm>
            <a:off x="1123526" y="1711267"/>
            <a:ext cx="3037964" cy="4081937"/>
          </a:xfrm>
          <a:prstGeom prst="roundRect">
            <a:avLst>
              <a:gd name="adj" fmla="val 613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a:extLst>
              <a:ext uri="{FF2B5EF4-FFF2-40B4-BE49-F238E27FC236}">
                <a16:creationId xmlns:a16="http://schemas.microsoft.com/office/drawing/2014/main" id="{04367119-56E1-7E0E-6BEC-A8C3D31D2F00}"/>
              </a:ext>
            </a:extLst>
          </p:cNvPr>
          <p:cNvSpPr txBox="1"/>
          <p:nvPr/>
        </p:nvSpPr>
        <p:spPr>
          <a:xfrm>
            <a:off x="1534994" y="2093930"/>
            <a:ext cx="805029" cy="400110"/>
          </a:xfrm>
          <a:prstGeom prst="rect">
            <a:avLst/>
          </a:prstGeom>
          <a:noFill/>
        </p:spPr>
        <p:txBody>
          <a:bodyPr wrap="none" rtlCol="0">
            <a:spAutoFit/>
          </a:bodyPr>
          <a:lstStyle/>
          <a:p>
            <a:r>
              <a:rPr lang="en-US" sz="2000" b="1">
                <a:solidFill>
                  <a:schemeClr val="tx2"/>
                </a:solidFill>
                <a:latin typeface="Figtree" pitchFamily="2" charset="0"/>
              </a:rPr>
              <a:t>Basic</a:t>
            </a:r>
          </a:p>
        </p:txBody>
      </p:sp>
      <p:sp>
        <p:nvSpPr>
          <p:cNvPr id="7" name="TextBox 6">
            <a:extLst>
              <a:ext uri="{FF2B5EF4-FFF2-40B4-BE49-F238E27FC236}">
                <a16:creationId xmlns:a16="http://schemas.microsoft.com/office/drawing/2014/main" id="{207EC1E0-4473-FCEB-0B53-DD12C37D9F36}"/>
              </a:ext>
            </a:extLst>
          </p:cNvPr>
          <p:cNvSpPr txBox="1"/>
          <p:nvPr/>
        </p:nvSpPr>
        <p:spPr>
          <a:xfrm>
            <a:off x="1534994" y="2896219"/>
            <a:ext cx="2253129" cy="659155"/>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defRPr>
            </a:lvl1pPr>
          </a:lstStyle>
          <a:p>
            <a:r>
              <a:rPr lang="en-US"/>
              <a:t>Lorem ipsum dolor sit amet consectetur adipiscing elit</a:t>
            </a:r>
          </a:p>
        </p:txBody>
      </p:sp>
      <p:sp>
        <p:nvSpPr>
          <p:cNvPr id="8" name="Freeform: Shape 7">
            <a:extLst>
              <a:ext uri="{FF2B5EF4-FFF2-40B4-BE49-F238E27FC236}">
                <a16:creationId xmlns:a16="http://schemas.microsoft.com/office/drawing/2014/main" id="{CAB20CA0-32E3-9D4A-0E2F-86D7B0D478B5}"/>
              </a:ext>
            </a:extLst>
          </p:cNvPr>
          <p:cNvSpPr/>
          <p:nvPr/>
        </p:nvSpPr>
        <p:spPr>
          <a:xfrm>
            <a:off x="1586512" y="3723658"/>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43695632-19EC-B3A7-04E4-8BA4DA578997}"/>
              </a:ext>
            </a:extLst>
          </p:cNvPr>
          <p:cNvSpPr txBox="1"/>
          <p:nvPr/>
        </p:nvSpPr>
        <p:spPr>
          <a:xfrm>
            <a:off x="1824815" y="3659679"/>
            <a:ext cx="1853778" cy="292388"/>
          </a:xfrm>
          <a:prstGeom prst="rect">
            <a:avLst/>
          </a:prstGeom>
          <a:noFill/>
        </p:spPr>
        <p:txBody>
          <a:bodyPr wrap="square" rtlCol="0">
            <a:spAutoFit/>
          </a:bodyPr>
          <a:lstStyle/>
          <a:p>
            <a:r>
              <a:rPr lang="en-US" sz="1300">
                <a:solidFill>
                  <a:schemeClr val="tx2"/>
                </a:solidFill>
                <a:latin typeface="Figtree" pitchFamily="2" charset="0"/>
                <a:cs typeface="Plus Jakarta Sans" pitchFamily="2" charset="0"/>
              </a:rPr>
              <a:t>Sed ut perspiciatis</a:t>
            </a:r>
          </a:p>
        </p:txBody>
      </p:sp>
      <p:sp>
        <p:nvSpPr>
          <p:cNvPr id="21" name="Freeform: Shape 20">
            <a:extLst>
              <a:ext uri="{FF2B5EF4-FFF2-40B4-BE49-F238E27FC236}">
                <a16:creationId xmlns:a16="http://schemas.microsoft.com/office/drawing/2014/main" id="{62E70EC5-53BB-9F7A-4D92-24CC39B1CFB9}"/>
              </a:ext>
            </a:extLst>
          </p:cNvPr>
          <p:cNvSpPr/>
          <p:nvPr/>
        </p:nvSpPr>
        <p:spPr>
          <a:xfrm>
            <a:off x="1586512" y="408556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10B5A397-A1B7-89D6-E14F-B6DADD556850}"/>
              </a:ext>
            </a:extLst>
          </p:cNvPr>
          <p:cNvSpPr txBox="1"/>
          <p:nvPr/>
        </p:nvSpPr>
        <p:spPr>
          <a:xfrm>
            <a:off x="1824814" y="4021590"/>
            <a:ext cx="1853779" cy="292388"/>
          </a:xfrm>
          <a:prstGeom prst="rect">
            <a:avLst/>
          </a:prstGeom>
          <a:noFill/>
        </p:spPr>
        <p:txBody>
          <a:bodyPr wrap="square" rtlCol="0">
            <a:spAutoFit/>
          </a:bodyPr>
          <a:lstStyle/>
          <a:p>
            <a:r>
              <a:rPr lang="en-US" sz="1300">
                <a:solidFill>
                  <a:schemeClr val="tx2"/>
                </a:solidFill>
                <a:latin typeface="Figtree" pitchFamily="2" charset="0"/>
                <a:cs typeface="Plus Jakarta Sans" pitchFamily="2" charset="0"/>
              </a:rPr>
              <a:t>Duis aute irure nulla</a:t>
            </a:r>
          </a:p>
        </p:txBody>
      </p:sp>
      <p:sp>
        <p:nvSpPr>
          <p:cNvPr id="23" name="Freeform: Shape 22">
            <a:extLst>
              <a:ext uri="{FF2B5EF4-FFF2-40B4-BE49-F238E27FC236}">
                <a16:creationId xmlns:a16="http://schemas.microsoft.com/office/drawing/2014/main" id="{353CEEBF-5713-237D-1F3B-62C46C6C2CEB}"/>
              </a:ext>
            </a:extLst>
          </p:cNvPr>
          <p:cNvSpPr/>
          <p:nvPr/>
        </p:nvSpPr>
        <p:spPr>
          <a:xfrm>
            <a:off x="1586512" y="444748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075E152-CE41-1BB5-F363-5E2066B117EA}"/>
              </a:ext>
            </a:extLst>
          </p:cNvPr>
          <p:cNvSpPr txBox="1"/>
          <p:nvPr/>
        </p:nvSpPr>
        <p:spPr>
          <a:xfrm>
            <a:off x="1824816" y="4383501"/>
            <a:ext cx="18537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t>Reprehendet volup</a:t>
            </a:r>
          </a:p>
        </p:txBody>
      </p:sp>
      <p:sp>
        <p:nvSpPr>
          <p:cNvPr id="27" name="TextBox 26">
            <a:extLst>
              <a:ext uri="{FF2B5EF4-FFF2-40B4-BE49-F238E27FC236}">
                <a16:creationId xmlns:a16="http://schemas.microsoft.com/office/drawing/2014/main" id="{A4B878D3-FC9A-B896-97D6-6634D9C663AF}"/>
              </a:ext>
            </a:extLst>
          </p:cNvPr>
          <p:cNvSpPr txBox="1"/>
          <p:nvPr/>
        </p:nvSpPr>
        <p:spPr>
          <a:xfrm>
            <a:off x="1517843" y="4827627"/>
            <a:ext cx="1024639" cy="830997"/>
          </a:xfrm>
          <a:prstGeom prst="rect">
            <a:avLst/>
          </a:prstGeom>
          <a:noFill/>
        </p:spPr>
        <p:txBody>
          <a:bodyPr wrap="none" rtlCol="0">
            <a:spAutoFit/>
          </a:bodyPr>
          <a:lstStyle/>
          <a:p>
            <a:r>
              <a:rPr lang="en-US" sz="4800" baseline="30000">
                <a:solidFill>
                  <a:schemeClr val="tx2"/>
                </a:solidFill>
                <a:latin typeface="Figtree" pitchFamily="2" charset="0"/>
                <a:cs typeface="Plus Jakarta Sans ExtraBold" pitchFamily="2" charset="0"/>
              </a:rPr>
              <a:t>$</a:t>
            </a:r>
            <a:r>
              <a:rPr lang="en-US" sz="4800">
                <a:solidFill>
                  <a:schemeClr val="tx2"/>
                </a:solidFill>
                <a:latin typeface="Figtree" pitchFamily="2" charset="0"/>
                <a:cs typeface="Plus Jakarta Sans ExtraBold" pitchFamily="2" charset="0"/>
              </a:rPr>
              <a:t>15</a:t>
            </a:r>
          </a:p>
        </p:txBody>
      </p:sp>
      <p:sp>
        <p:nvSpPr>
          <p:cNvPr id="28" name="TextBox 27">
            <a:extLst>
              <a:ext uri="{FF2B5EF4-FFF2-40B4-BE49-F238E27FC236}">
                <a16:creationId xmlns:a16="http://schemas.microsoft.com/office/drawing/2014/main" id="{99D04410-31CE-E260-F0DA-00B28ED0F6D1}"/>
              </a:ext>
            </a:extLst>
          </p:cNvPr>
          <p:cNvSpPr txBox="1"/>
          <p:nvPr/>
        </p:nvSpPr>
        <p:spPr>
          <a:xfrm>
            <a:off x="2439371" y="5211628"/>
            <a:ext cx="10372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t>/month</a:t>
            </a:r>
          </a:p>
        </p:txBody>
      </p:sp>
      <p:cxnSp>
        <p:nvCxnSpPr>
          <p:cNvPr id="29" name="Straight Connector 28">
            <a:extLst>
              <a:ext uri="{FF2B5EF4-FFF2-40B4-BE49-F238E27FC236}">
                <a16:creationId xmlns:a16="http://schemas.microsoft.com/office/drawing/2014/main" id="{17E93CA4-FD04-0A6B-C7D2-9E23E0310388}"/>
              </a:ext>
            </a:extLst>
          </p:cNvPr>
          <p:cNvCxnSpPr>
            <a:cxnSpLocks/>
          </p:cNvCxnSpPr>
          <p:nvPr/>
        </p:nvCxnSpPr>
        <p:spPr>
          <a:xfrm>
            <a:off x="1534994" y="2678144"/>
            <a:ext cx="2225470"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sp>
        <p:nvSpPr>
          <p:cNvPr id="33" name="Rectangle: Rounded Corners 32">
            <a:extLst>
              <a:ext uri="{FF2B5EF4-FFF2-40B4-BE49-F238E27FC236}">
                <a16:creationId xmlns:a16="http://schemas.microsoft.com/office/drawing/2014/main" id="{76A8DE0E-60A8-390F-8337-D6549629EFA5}"/>
              </a:ext>
            </a:extLst>
          </p:cNvPr>
          <p:cNvSpPr/>
          <p:nvPr/>
        </p:nvSpPr>
        <p:spPr>
          <a:xfrm>
            <a:off x="4577018" y="1711267"/>
            <a:ext cx="3037964" cy="4081937"/>
          </a:xfrm>
          <a:prstGeom prst="roundRect">
            <a:avLst>
              <a:gd name="adj" fmla="val 6131"/>
            </a:avLst>
          </a:prstGeom>
          <a:solidFill>
            <a:schemeClr val="tx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TextBox 33">
            <a:extLst>
              <a:ext uri="{FF2B5EF4-FFF2-40B4-BE49-F238E27FC236}">
                <a16:creationId xmlns:a16="http://schemas.microsoft.com/office/drawing/2014/main" id="{8C067043-EAB7-92DF-C7C0-22CA3D0410BC}"/>
              </a:ext>
            </a:extLst>
          </p:cNvPr>
          <p:cNvSpPr txBox="1"/>
          <p:nvPr/>
        </p:nvSpPr>
        <p:spPr>
          <a:xfrm>
            <a:off x="4988486" y="2093930"/>
            <a:ext cx="1226618" cy="400110"/>
          </a:xfrm>
          <a:prstGeom prst="rect">
            <a:avLst/>
          </a:prstGeom>
          <a:noFill/>
        </p:spPr>
        <p:txBody>
          <a:bodyPr wrap="none" rtlCol="0">
            <a:spAutoFit/>
          </a:bodyPr>
          <a:lstStyle/>
          <a:p>
            <a:r>
              <a:rPr lang="en-US" sz="2000" b="1">
                <a:solidFill>
                  <a:schemeClr val="bg2"/>
                </a:solidFill>
                <a:latin typeface="Figtree" pitchFamily="2" charset="0"/>
              </a:rPr>
              <a:t>Advance</a:t>
            </a:r>
          </a:p>
        </p:txBody>
      </p:sp>
      <p:sp>
        <p:nvSpPr>
          <p:cNvPr id="35" name="TextBox 34">
            <a:extLst>
              <a:ext uri="{FF2B5EF4-FFF2-40B4-BE49-F238E27FC236}">
                <a16:creationId xmlns:a16="http://schemas.microsoft.com/office/drawing/2014/main" id="{A5C476FA-9259-4C04-6716-CD309C9FF826}"/>
              </a:ext>
            </a:extLst>
          </p:cNvPr>
          <p:cNvSpPr txBox="1"/>
          <p:nvPr/>
        </p:nvSpPr>
        <p:spPr>
          <a:xfrm>
            <a:off x="4988486" y="2896219"/>
            <a:ext cx="2253129" cy="659155"/>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defRPr>
            </a:lvl1pPr>
          </a:lstStyle>
          <a:p>
            <a:r>
              <a:rPr lang="en-US">
                <a:solidFill>
                  <a:schemeClr val="bg2"/>
                </a:solidFill>
              </a:rPr>
              <a:t>Lorem ipsum dolor sit amet consectetur adipiscing elit</a:t>
            </a:r>
          </a:p>
        </p:txBody>
      </p:sp>
      <p:sp>
        <p:nvSpPr>
          <p:cNvPr id="36" name="Freeform: Shape 35">
            <a:extLst>
              <a:ext uri="{FF2B5EF4-FFF2-40B4-BE49-F238E27FC236}">
                <a16:creationId xmlns:a16="http://schemas.microsoft.com/office/drawing/2014/main" id="{269C8DBD-C509-A9B1-8FEA-A34041FD4A5C}"/>
              </a:ext>
            </a:extLst>
          </p:cNvPr>
          <p:cNvSpPr/>
          <p:nvPr/>
        </p:nvSpPr>
        <p:spPr>
          <a:xfrm>
            <a:off x="5040004" y="3723658"/>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FDBA5BC8-2EC2-B6C2-AEA3-8E1DDDB32844}"/>
              </a:ext>
            </a:extLst>
          </p:cNvPr>
          <p:cNvSpPr txBox="1"/>
          <p:nvPr/>
        </p:nvSpPr>
        <p:spPr>
          <a:xfrm>
            <a:off x="5278307" y="3659679"/>
            <a:ext cx="1853778" cy="292388"/>
          </a:xfrm>
          <a:prstGeom prst="rect">
            <a:avLst/>
          </a:prstGeom>
          <a:noFill/>
        </p:spPr>
        <p:txBody>
          <a:bodyPr wrap="square" rtlCol="0">
            <a:spAutoFit/>
          </a:bodyPr>
          <a:lstStyle/>
          <a:p>
            <a:r>
              <a:rPr lang="en-US" sz="1300">
                <a:solidFill>
                  <a:schemeClr val="bg2"/>
                </a:solidFill>
                <a:latin typeface="Figtree" pitchFamily="2" charset="0"/>
                <a:cs typeface="Plus Jakarta Sans" pitchFamily="2" charset="0"/>
              </a:rPr>
              <a:t>Sed ut perspiciatis</a:t>
            </a:r>
          </a:p>
        </p:txBody>
      </p:sp>
      <p:sp>
        <p:nvSpPr>
          <p:cNvPr id="38" name="Freeform: Shape 37">
            <a:extLst>
              <a:ext uri="{FF2B5EF4-FFF2-40B4-BE49-F238E27FC236}">
                <a16:creationId xmlns:a16="http://schemas.microsoft.com/office/drawing/2014/main" id="{A30A1D9D-DB7D-D154-4680-92E2D9F6EF05}"/>
              </a:ext>
            </a:extLst>
          </p:cNvPr>
          <p:cNvSpPr/>
          <p:nvPr/>
        </p:nvSpPr>
        <p:spPr>
          <a:xfrm>
            <a:off x="5040004" y="408556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DD761D6C-0DAC-CB38-B8B0-D13A667DC1A3}"/>
              </a:ext>
            </a:extLst>
          </p:cNvPr>
          <p:cNvSpPr txBox="1"/>
          <p:nvPr/>
        </p:nvSpPr>
        <p:spPr>
          <a:xfrm>
            <a:off x="5278306" y="4021590"/>
            <a:ext cx="1853779" cy="292388"/>
          </a:xfrm>
          <a:prstGeom prst="rect">
            <a:avLst/>
          </a:prstGeom>
          <a:noFill/>
        </p:spPr>
        <p:txBody>
          <a:bodyPr wrap="square" rtlCol="0">
            <a:spAutoFit/>
          </a:bodyPr>
          <a:lstStyle/>
          <a:p>
            <a:r>
              <a:rPr lang="en-US" sz="1300">
                <a:solidFill>
                  <a:schemeClr val="bg2"/>
                </a:solidFill>
                <a:latin typeface="Figtree" pitchFamily="2" charset="0"/>
                <a:cs typeface="Plus Jakarta Sans" pitchFamily="2" charset="0"/>
              </a:rPr>
              <a:t>Duis aute irure nulla</a:t>
            </a:r>
          </a:p>
        </p:txBody>
      </p:sp>
      <p:sp>
        <p:nvSpPr>
          <p:cNvPr id="40" name="Freeform: Shape 39">
            <a:extLst>
              <a:ext uri="{FF2B5EF4-FFF2-40B4-BE49-F238E27FC236}">
                <a16:creationId xmlns:a16="http://schemas.microsoft.com/office/drawing/2014/main" id="{12C0D9BD-E081-ED96-27DD-C203B0261228}"/>
              </a:ext>
            </a:extLst>
          </p:cNvPr>
          <p:cNvSpPr/>
          <p:nvPr/>
        </p:nvSpPr>
        <p:spPr>
          <a:xfrm>
            <a:off x="5040004" y="444748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03E213E3-1039-579C-CC6D-7FD442D9681B}"/>
              </a:ext>
            </a:extLst>
          </p:cNvPr>
          <p:cNvSpPr txBox="1"/>
          <p:nvPr/>
        </p:nvSpPr>
        <p:spPr>
          <a:xfrm>
            <a:off x="5278308" y="4383501"/>
            <a:ext cx="18537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solidFill>
                  <a:schemeClr val="bg2"/>
                </a:solidFill>
              </a:rPr>
              <a:t>Reprehendet volup</a:t>
            </a:r>
          </a:p>
        </p:txBody>
      </p:sp>
      <p:sp>
        <p:nvSpPr>
          <p:cNvPr id="42" name="TextBox 41">
            <a:extLst>
              <a:ext uri="{FF2B5EF4-FFF2-40B4-BE49-F238E27FC236}">
                <a16:creationId xmlns:a16="http://schemas.microsoft.com/office/drawing/2014/main" id="{F4B26E2A-AC6C-8B84-C833-1677C1993C38}"/>
              </a:ext>
            </a:extLst>
          </p:cNvPr>
          <p:cNvSpPr txBox="1"/>
          <p:nvPr/>
        </p:nvSpPr>
        <p:spPr>
          <a:xfrm>
            <a:off x="4971335" y="4827627"/>
            <a:ext cx="1114408" cy="830997"/>
          </a:xfrm>
          <a:prstGeom prst="rect">
            <a:avLst/>
          </a:prstGeom>
          <a:noFill/>
        </p:spPr>
        <p:txBody>
          <a:bodyPr wrap="none" rtlCol="0">
            <a:spAutoFit/>
          </a:bodyPr>
          <a:lstStyle/>
          <a:p>
            <a:r>
              <a:rPr lang="en-US" sz="4800" baseline="30000">
                <a:solidFill>
                  <a:schemeClr val="bg2"/>
                </a:solidFill>
                <a:latin typeface="Figtree" pitchFamily="2" charset="0"/>
                <a:cs typeface="Plus Jakarta Sans ExtraBold" pitchFamily="2" charset="0"/>
              </a:rPr>
              <a:t>$</a:t>
            </a:r>
            <a:r>
              <a:rPr lang="en-US" sz="4800">
                <a:solidFill>
                  <a:schemeClr val="bg2"/>
                </a:solidFill>
                <a:latin typeface="Figtree" pitchFamily="2" charset="0"/>
                <a:cs typeface="Plus Jakarta Sans ExtraBold" pitchFamily="2" charset="0"/>
              </a:rPr>
              <a:t>25</a:t>
            </a:r>
          </a:p>
        </p:txBody>
      </p:sp>
      <p:sp>
        <p:nvSpPr>
          <p:cNvPr id="43" name="TextBox 42">
            <a:extLst>
              <a:ext uri="{FF2B5EF4-FFF2-40B4-BE49-F238E27FC236}">
                <a16:creationId xmlns:a16="http://schemas.microsoft.com/office/drawing/2014/main" id="{57596EC6-5B30-9DBA-0B28-E842054A0609}"/>
              </a:ext>
            </a:extLst>
          </p:cNvPr>
          <p:cNvSpPr txBox="1"/>
          <p:nvPr/>
        </p:nvSpPr>
        <p:spPr>
          <a:xfrm>
            <a:off x="5995974" y="5211628"/>
            <a:ext cx="10372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solidFill>
                  <a:schemeClr val="bg2"/>
                </a:solidFill>
              </a:rPr>
              <a:t>/month</a:t>
            </a:r>
          </a:p>
        </p:txBody>
      </p:sp>
      <p:cxnSp>
        <p:nvCxnSpPr>
          <p:cNvPr id="44" name="Straight Connector 43">
            <a:extLst>
              <a:ext uri="{FF2B5EF4-FFF2-40B4-BE49-F238E27FC236}">
                <a16:creationId xmlns:a16="http://schemas.microsoft.com/office/drawing/2014/main" id="{9B852C02-51C3-4702-49E8-1C94CA1B4DE1}"/>
              </a:ext>
            </a:extLst>
          </p:cNvPr>
          <p:cNvCxnSpPr>
            <a:cxnSpLocks/>
          </p:cNvCxnSpPr>
          <p:nvPr/>
        </p:nvCxnSpPr>
        <p:spPr>
          <a:xfrm>
            <a:off x="4988486" y="2678144"/>
            <a:ext cx="2225470"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sp>
        <p:nvSpPr>
          <p:cNvPr id="60" name="Rectangle: Rounded Corners 59">
            <a:extLst>
              <a:ext uri="{FF2B5EF4-FFF2-40B4-BE49-F238E27FC236}">
                <a16:creationId xmlns:a16="http://schemas.microsoft.com/office/drawing/2014/main" id="{12AF1423-A1D6-3249-6316-8A232AD184BD}"/>
              </a:ext>
            </a:extLst>
          </p:cNvPr>
          <p:cNvSpPr/>
          <p:nvPr/>
        </p:nvSpPr>
        <p:spPr>
          <a:xfrm>
            <a:off x="8030510" y="1711267"/>
            <a:ext cx="3037964" cy="4081937"/>
          </a:xfrm>
          <a:prstGeom prst="roundRect">
            <a:avLst>
              <a:gd name="adj" fmla="val 613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5" name="TextBox 74">
            <a:extLst>
              <a:ext uri="{FF2B5EF4-FFF2-40B4-BE49-F238E27FC236}">
                <a16:creationId xmlns:a16="http://schemas.microsoft.com/office/drawing/2014/main" id="{CD58A6CD-0889-620B-8BA6-60951E2BA7BC}"/>
              </a:ext>
            </a:extLst>
          </p:cNvPr>
          <p:cNvSpPr txBox="1"/>
          <p:nvPr/>
        </p:nvSpPr>
        <p:spPr>
          <a:xfrm>
            <a:off x="8441978" y="2093930"/>
            <a:ext cx="1406154" cy="400110"/>
          </a:xfrm>
          <a:prstGeom prst="rect">
            <a:avLst/>
          </a:prstGeom>
          <a:noFill/>
        </p:spPr>
        <p:txBody>
          <a:bodyPr wrap="none" rtlCol="0">
            <a:spAutoFit/>
          </a:bodyPr>
          <a:lstStyle/>
          <a:p>
            <a:r>
              <a:rPr lang="en-US" sz="2000" b="1">
                <a:solidFill>
                  <a:schemeClr val="tx2"/>
                </a:solidFill>
                <a:latin typeface="Figtree" pitchFamily="2" charset="0"/>
              </a:rPr>
              <a:t>Enterprise</a:t>
            </a:r>
          </a:p>
        </p:txBody>
      </p:sp>
      <p:sp>
        <p:nvSpPr>
          <p:cNvPr id="76" name="TextBox 75">
            <a:extLst>
              <a:ext uri="{FF2B5EF4-FFF2-40B4-BE49-F238E27FC236}">
                <a16:creationId xmlns:a16="http://schemas.microsoft.com/office/drawing/2014/main" id="{29EB0C21-1EFA-24C9-3BEF-479333C0D4F9}"/>
              </a:ext>
            </a:extLst>
          </p:cNvPr>
          <p:cNvSpPr txBox="1"/>
          <p:nvPr/>
        </p:nvSpPr>
        <p:spPr>
          <a:xfrm>
            <a:off x="8441978" y="2896219"/>
            <a:ext cx="2253129" cy="659155"/>
          </a:xfrm>
          <a:prstGeom prst="rect">
            <a:avLst/>
          </a:prstGeom>
          <a:noFill/>
        </p:spPr>
        <p:txBody>
          <a:bodyPr wrap="square" rtlCol="0">
            <a:spAutoFit/>
          </a:bodyPr>
          <a:lstStyle>
            <a:defPPr>
              <a:defRPr lang="en-US"/>
            </a:defPPr>
            <a:lvl1pPr>
              <a:lnSpc>
                <a:spcPct val="150000"/>
              </a:lnSpc>
              <a:defRPr sz="1300">
                <a:solidFill>
                  <a:schemeClr val="tx2"/>
                </a:solidFill>
                <a:latin typeface="Figtree" pitchFamily="2" charset="0"/>
              </a:defRPr>
            </a:lvl1pPr>
          </a:lstStyle>
          <a:p>
            <a:r>
              <a:rPr lang="en-US"/>
              <a:t>Lorem ipsum dolor sit amet consectetur adipiscing elit</a:t>
            </a:r>
          </a:p>
        </p:txBody>
      </p:sp>
      <p:sp>
        <p:nvSpPr>
          <p:cNvPr id="77" name="Freeform: Shape 76">
            <a:extLst>
              <a:ext uri="{FF2B5EF4-FFF2-40B4-BE49-F238E27FC236}">
                <a16:creationId xmlns:a16="http://schemas.microsoft.com/office/drawing/2014/main" id="{127C7B05-91F3-CCF4-88E0-0935C3F92EB2}"/>
              </a:ext>
            </a:extLst>
          </p:cNvPr>
          <p:cNvSpPr/>
          <p:nvPr/>
        </p:nvSpPr>
        <p:spPr>
          <a:xfrm>
            <a:off x="8493496" y="3723658"/>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DE20162D-C5B5-4B1F-BDB9-6AE786AD5570}"/>
              </a:ext>
            </a:extLst>
          </p:cNvPr>
          <p:cNvSpPr txBox="1"/>
          <p:nvPr/>
        </p:nvSpPr>
        <p:spPr>
          <a:xfrm>
            <a:off x="8731799" y="3659679"/>
            <a:ext cx="1853778" cy="292388"/>
          </a:xfrm>
          <a:prstGeom prst="rect">
            <a:avLst/>
          </a:prstGeom>
          <a:noFill/>
        </p:spPr>
        <p:txBody>
          <a:bodyPr wrap="square" rtlCol="0">
            <a:spAutoFit/>
          </a:bodyPr>
          <a:lstStyle/>
          <a:p>
            <a:r>
              <a:rPr lang="en-US" sz="1300">
                <a:solidFill>
                  <a:schemeClr val="tx2"/>
                </a:solidFill>
                <a:latin typeface="Figtree" pitchFamily="2" charset="0"/>
                <a:cs typeface="Plus Jakarta Sans" pitchFamily="2" charset="0"/>
              </a:rPr>
              <a:t>Sed ut perspiciatis</a:t>
            </a:r>
          </a:p>
        </p:txBody>
      </p:sp>
      <p:sp>
        <p:nvSpPr>
          <p:cNvPr id="79" name="Freeform: Shape 78">
            <a:extLst>
              <a:ext uri="{FF2B5EF4-FFF2-40B4-BE49-F238E27FC236}">
                <a16:creationId xmlns:a16="http://schemas.microsoft.com/office/drawing/2014/main" id="{6A2C9703-CB85-6E4D-2261-447ED8387DAB}"/>
              </a:ext>
            </a:extLst>
          </p:cNvPr>
          <p:cNvSpPr/>
          <p:nvPr/>
        </p:nvSpPr>
        <p:spPr>
          <a:xfrm>
            <a:off x="8493496" y="4085569"/>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404FE031-1924-40D2-B1E5-89A9549DD161}"/>
              </a:ext>
            </a:extLst>
          </p:cNvPr>
          <p:cNvSpPr txBox="1"/>
          <p:nvPr/>
        </p:nvSpPr>
        <p:spPr>
          <a:xfrm>
            <a:off x="8731798" y="4021590"/>
            <a:ext cx="1853779" cy="292388"/>
          </a:xfrm>
          <a:prstGeom prst="rect">
            <a:avLst/>
          </a:prstGeom>
          <a:noFill/>
        </p:spPr>
        <p:txBody>
          <a:bodyPr wrap="square" rtlCol="0">
            <a:spAutoFit/>
          </a:bodyPr>
          <a:lstStyle/>
          <a:p>
            <a:r>
              <a:rPr lang="en-US" sz="1300">
                <a:solidFill>
                  <a:schemeClr val="tx2"/>
                </a:solidFill>
                <a:latin typeface="Figtree" pitchFamily="2" charset="0"/>
                <a:cs typeface="Plus Jakarta Sans" pitchFamily="2" charset="0"/>
              </a:rPr>
              <a:t>Duis aute irure nulla</a:t>
            </a:r>
          </a:p>
        </p:txBody>
      </p:sp>
      <p:sp>
        <p:nvSpPr>
          <p:cNvPr id="81" name="Freeform: Shape 80">
            <a:extLst>
              <a:ext uri="{FF2B5EF4-FFF2-40B4-BE49-F238E27FC236}">
                <a16:creationId xmlns:a16="http://schemas.microsoft.com/office/drawing/2014/main" id="{532D5ADF-660D-5CFF-4FC4-D2739374725B}"/>
              </a:ext>
            </a:extLst>
          </p:cNvPr>
          <p:cNvSpPr/>
          <p:nvPr/>
        </p:nvSpPr>
        <p:spPr>
          <a:xfrm>
            <a:off x="8493496" y="4447480"/>
            <a:ext cx="164592" cy="164431"/>
          </a:xfrm>
          <a:custGeom>
            <a:avLst/>
            <a:gdLst>
              <a:gd name="connsiteX0" fmla="*/ 208306 w 275244"/>
              <a:gd name="connsiteY0" fmla="*/ 77420 h 275244"/>
              <a:gd name="connsiteX1" fmla="*/ 113319 w 275244"/>
              <a:gd name="connsiteY1" fmla="*/ 167213 h 275244"/>
              <a:gd name="connsiteX2" fmla="*/ 67681 w 275244"/>
              <a:gd name="connsiteY2" fmla="*/ 120461 h 275244"/>
              <a:gd name="connsiteX3" fmla="*/ 51911 w 275244"/>
              <a:gd name="connsiteY3" fmla="*/ 135489 h 275244"/>
              <a:gd name="connsiteX4" fmla="*/ 112577 w 275244"/>
              <a:gd name="connsiteY4" fmla="*/ 197824 h 275244"/>
              <a:gd name="connsiteX5" fmla="*/ 128532 w 275244"/>
              <a:gd name="connsiteY5" fmla="*/ 182982 h 275244"/>
              <a:gd name="connsiteX6" fmla="*/ 223334 w 275244"/>
              <a:gd name="connsiteY6" fmla="*/ 93004 h 275244"/>
              <a:gd name="connsiteX7" fmla="*/ 137622 w 275244"/>
              <a:gd name="connsiteY7" fmla="*/ 0 h 275244"/>
              <a:gd name="connsiteX8" fmla="*/ 275244 w 275244"/>
              <a:gd name="connsiteY8" fmla="*/ 137622 h 275244"/>
              <a:gd name="connsiteX9" fmla="*/ 137622 w 275244"/>
              <a:gd name="connsiteY9" fmla="*/ 275244 h 275244"/>
              <a:gd name="connsiteX10" fmla="*/ 0 w 275244"/>
              <a:gd name="connsiteY10" fmla="*/ 137622 h 275244"/>
              <a:gd name="connsiteX11" fmla="*/ 137622 w 275244"/>
              <a:gd name="connsiteY11" fmla="*/ 0 h 27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244" h="275244">
                <a:moveTo>
                  <a:pt x="208306" y="77420"/>
                </a:moveTo>
                <a:lnTo>
                  <a:pt x="113319" y="167213"/>
                </a:lnTo>
                <a:lnTo>
                  <a:pt x="67681" y="120461"/>
                </a:lnTo>
                <a:lnTo>
                  <a:pt x="51911" y="135489"/>
                </a:lnTo>
                <a:lnTo>
                  <a:pt x="112577" y="197824"/>
                </a:lnTo>
                <a:lnTo>
                  <a:pt x="128532" y="182982"/>
                </a:lnTo>
                <a:lnTo>
                  <a:pt x="223334" y="93004"/>
                </a:lnTo>
                <a:close/>
                <a:moveTo>
                  <a:pt x="137622" y="0"/>
                </a:moveTo>
                <a:cubicBezTo>
                  <a:pt x="213629" y="0"/>
                  <a:pt x="275244" y="61615"/>
                  <a:pt x="275244" y="137622"/>
                </a:cubicBezTo>
                <a:cubicBezTo>
                  <a:pt x="275244" y="213629"/>
                  <a:pt x="213629" y="275244"/>
                  <a:pt x="137622" y="275244"/>
                </a:cubicBezTo>
                <a:cubicBezTo>
                  <a:pt x="61615" y="275244"/>
                  <a:pt x="0" y="213629"/>
                  <a:pt x="0" y="137622"/>
                </a:cubicBezTo>
                <a:cubicBezTo>
                  <a:pt x="0" y="61615"/>
                  <a:pt x="61615" y="0"/>
                  <a:pt x="1376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D2C49F23-9584-D727-C302-0190314A278D}"/>
              </a:ext>
            </a:extLst>
          </p:cNvPr>
          <p:cNvSpPr txBox="1"/>
          <p:nvPr/>
        </p:nvSpPr>
        <p:spPr>
          <a:xfrm>
            <a:off x="8731800" y="4383501"/>
            <a:ext cx="18537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t>Reprehendet volup</a:t>
            </a:r>
          </a:p>
        </p:txBody>
      </p:sp>
      <p:sp>
        <p:nvSpPr>
          <p:cNvPr id="83" name="TextBox 82">
            <a:extLst>
              <a:ext uri="{FF2B5EF4-FFF2-40B4-BE49-F238E27FC236}">
                <a16:creationId xmlns:a16="http://schemas.microsoft.com/office/drawing/2014/main" id="{2AACEF0C-315E-08D6-F244-E7080B55841E}"/>
              </a:ext>
            </a:extLst>
          </p:cNvPr>
          <p:cNvSpPr txBox="1"/>
          <p:nvPr/>
        </p:nvSpPr>
        <p:spPr>
          <a:xfrm>
            <a:off x="8424827" y="4827627"/>
            <a:ext cx="1191352" cy="830997"/>
          </a:xfrm>
          <a:prstGeom prst="rect">
            <a:avLst/>
          </a:prstGeom>
          <a:noFill/>
        </p:spPr>
        <p:txBody>
          <a:bodyPr wrap="none" rtlCol="0">
            <a:spAutoFit/>
          </a:bodyPr>
          <a:lstStyle/>
          <a:p>
            <a:r>
              <a:rPr lang="en-US" sz="4800" baseline="30000">
                <a:solidFill>
                  <a:schemeClr val="tx2"/>
                </a:solidFill>
                <a:latin typeface="Figtree" pitchFamily="2" charset="0"/>
                <a:cs typeface="Plus Jakarta Sans ExtraBold" pitchFamily="2" charset="0"/>
              </a:rPr>
              <a:t>$</a:t>
            </a:r>
            <a:r>
              <a:rPr lang="en-US" sz="4800">
                <a:solidFill>
                  <a:schemeClr val="tx2"/>
                </a:solidFill>
                <a:latin typeface="Figtree" pitchFamily="2" charset="0"/>
                <a:cs typeface="Plus Jakarta Sans ExtraBold" pitchFamily="2" charset="0"/>
              </a:rPr>
              <a:t>40</a:t>
            </a:r>
          </a:p>
        </p:txBody>
      </p:sp>
      <p:sp>
        <p:nvSpPr>
          <p:cNvPr id="84" name="TextBox 83">
            <a:extLst>
              <a:ext uri="{FF2B5EF4-FFF2-40B4-BE49-F238E27FC236}">
                <a16:creationId xmlns:a16="http://schemas.microsoft.com/office/drawing/2014/main" id="{8299A809-BB67-80E6-C360-98C81482F282}"/>
              </a:ext>
            </a:extLst>
          </p:cNvPr>
          <p:cNvSpPr txBox="1"/>
          <p:nvPr/>
        </p:nvSpPr>
        <p:spPr>
          <a:xfrm>
            <a:off x="9513068" y="5211628"/>
            <a:ext cx="1037278" cy="292388"/>
          </a:xfrm>
          <a:prstGeom prst="rect">
            <a:avLst/>
          </a:prstGeom>
          <a:noFill/>
        </p:spPr>
        <p:txBody>
          <a:bodyPr wrap="square" rtlCol="0">
            <a:spAutoFit/>
          </a:bodyPr>
          <a:lstStyle>
            <a:defPPr>
              <a:defRPr lang="en-US"/>
            </a:defPPr>
            <a:lvl1pPr>
              <a:defRPr sz="1300">
                <a:solidFill>
                  <a:schemeClr val="tx2"/>
                </a:solidFill>
                <a:latin typeface="Figtree" pitchFamily="2" charset="0"/>
                <a:cs typeface="Plus Jakarta Sans" pitchFamily="2" charset="0"/>
              </a:defRPr>
            </a:lvl1pPr>
          </a:lstStyle>
          <a:p>
            <a:r>
              <a:rPr lang="en-US"/>
              <a:t>/month</a:t>
            </a:r>
          </a:p>
        </p:txBody>
      </p:sp>
      <p:cxnSp>
        <p:nvCxnSpPr>
          <p:cNvPr id="85" name="Straight Connector 84">
            <a:extLst>
              <a:ext uri="{FF2B5EF4-FFF2-40B4-BE49-F238E27FC236}">
                <a16:creationId xmlns:a16="http://schemas.microsoft.com/office/drawing/2014/main" id="{52E6736D-7116-701D-EEF7-D86B4D781FEB}"/>
              </a:ext>
            </a:extLst>
          </p:cNvPr>
          <p:cNvCxnSpPr>
            <a:cxnSpLocks/>
          </p:cNvCxnSpPr>
          <p:nvPr/>
        </p:nvCxnSpPr>
        <p:spPr>
          <a:xfrm>
            <a:off x="8441978" y="2678144"/>
            <a:ext cx="2225470" cy="0"/>
          </a:xfrm>
          <a:prstGeom prst="line">
            <a:avLst/>
          </a:prstGeom>
          <a:solidFill>
            <a:schemeClr val="bg2"/>
          </a:solidFill>
          <a:ln w="25400" cap="flat">
            <a:gradFill flip="none" rotWithShape="1">
              <a:gsLst>
                <a:gs pos="0">
                  <a:schemeClr val="accent1">
                    <a:alpha val="60000"/>
                  </a:schemeClr>
                </a:gs>
                <a:gs pos="100000">
                  <a:schemeClr val="accent1">
                    <a:alpha val="0"/>
                  </a:schemeClr>
                </a:gs>
              </a:gsLst>
              <a:lin ang="10800000" scaled="1"/>
              <a:tileRect/>
            </a:gradFill>
            <a:prstDash val="solid"/>
            <a:miter/>
            <a:tailEnd type="none" w="lg" len="med"/>
          </a:ln>
          <a:effectLst>
            <a:outerShdw blurRad="381000" dist="190500" dir="5400000" algn="t" rotWithShape="0">
              <a:schemeClr val="accent1">
                <a:lumMod val="75000"/>
                <a:alpha val="10000"/>
              </a:schemeClr>
            </a:outerShdw>
          </a:effectLst>
        </p:spPr>
      </p:cxnSp>
    </p:spTree>
    <p:extLst>
      <p:ext uri="{BB962C8B-B14F-4D97-AF65-F5344CB8AC3E}">
        <p14:creationId xmlns:p14="http://schemas.microsoft.com/office/powerpoint/2010/main" val="293575409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784C4181-315D-089C-7F17-09734EC7B551}"/>
              </a:ext>
            </a:extLst>
          </p:cNvPr>
          <p:cNvSpPr/>
          <p:nvPr/>
        </p:nvSpPr>
        <p:spPr>
          <a:xfrm flipH="1">
            <a:off x="-1312260" y="365258"/>
            <a:ext cx="14285310" cy="5261414"/>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4686" h="5132278">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706153" y="5113867"/>
                  <a:pt x="8824686" y="5123543"/>
                </a:cubicBezTo>
              </a:path>
            </a:pathLst>
          </a:custGeom>
          <a:noFill/>
          <a:ln w="1270000">
            <a:gradFill flip="none" rotWithShape="1">
              <a:gsLst>
                <a:gs pos="0">
                  <a:schemeClr val="accent1"/>
                </a:gs>
                <a:gs pos="100000">
                  <a:schemeClr val="accent2"/>
                </a:gs>
              </a:gsLst>
              <a:lin ang="27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2F51F68-A66E-6336-E6DD-823715083D22}"/>
              </a:ext>
            </a:extLst>
          </p:cNvPr>
          <p:cNvSpPr txBox="1"/>
          <p:nvPr/>
        </p:nvSpPr>
        <p:spPr>
          <a:xfrm>
            <a:off x="654734" y="773323"/>
            <a:ext cx="5838371" cy="769441"/>
          </a:xfrm>
          <a:prstGeom prst="rect">
            <a:avLst/>
          </a:prstGeom>
          <a:noFill/>
        </p:spPr>
        <p:txBody>
          <a:bodyPr wrap="square" rtlCol="0">
            <a:spAutoFit/>
          </a:bodyPr>
          <a:lstStyle/>
          <a:p>
            <a:r>
              <a:rPr lang="en-US" sz="4400">
                <a:solidFill>
                  <a:schemeClr val="tx2"/>
                </a:solidFill>
                <a:latin typeface="Space Grotesk Medium" pitchFamily="2" charset="0"/>
              </a:rPr>
              <a:t>Take A Short Break</a:t>
            </a:r>
          </a:p>
        </p:txBody>
      </p:sp>
      <p:sp>
        <p:nvSpPr>
          <p:cNvPr id="3" name="TextBox 2">
            <a:extLst>
              <a:ext uri="{FF2B5EF4-FFF2-40B4-BE49-F238E27FC236}">
                <a16:creationId xmlns:a16="http://schemas.microsoft.com/office/drawing/2014/main" id="{261D4F95-1D7F-533C-A54F-DD2EDAFAF35D}"/>
              </a:ext>
            </a:extLst>
          </p:cNvPr>
          <p:cNvSpPr txBox="1"/>
          <p:nvPr/>
        </p:nvSpPr>
        <p:spPr>
          <a:xfrm>
            <a:off x="654735" y="1542764"/>
            <a:ext cx="1093569"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Break Slides</a:t>
            </a:r>
          </a:p>
        </p:txBody>
      </p:sp>
      <p:sp>
        <p:nvSpPr>
          <p:cNvPr id="5" name="Picture Placeholder 4">
            <a:extLst>
              <a:ext uri="{FF2B5EF4-FFF2-40B4-BE49-F238E27FC236}">
                <a16:creationId xmlns:a16="http://schemas.microsoft.com/office/drawing/2014/main" id="{4E0ABD94-B1F7-F9E8-4BE4-EC2A92CC7592}"/>
              </a:ext>
            </a:extLst>
          </p:cNvPr>
          <p:cNvSpPr>
            <a:spLocks noGrp="1"/>
          </p:cNvSpPr>
          <p:nvPr>
            <p:ph type="pic" sz="quarter" idx="10"/>
          </p:nvPr>
        </p:nvSpPr>
        <p:spPr/>
        <p:txBody>
          <a:bodyPr/>
          <a:lstStyle/>
          <a:p>
            <a:endParaRPr lang="en-US"/>
          </a:p>
        </p:txBody>
      </p:sp>
      <p:sp>
        <p:nvSpPr>
          <p:cNvPr id="7" name="Picture Placeholder 6">
            <a:extLst>
              <a:ext uri="{FF2B5EF4-FFF2-40B4-BE49-F238E27FC236}">
                <a16:creationId xmlns:a16="http://schemas.microsoft.com/office/drawing/2014/main" id="{26DDC13C-8B16-78F0-E6A8-3B9A6CBD01BE}"/>
              </a:ext>
            </a:extLst>
          </p:cNvPr>
          <p:cNvSpPr>
            <a:spLocks noGrp="1"/>
          </p:cNvSpPr>
          <p:nvPr>
            <p:ph type="pic" sz="quarter" idx="11"/>
          </p:nvPr>
        </p:nvSpPr>
        <p:spPr/>
        <p:txBody>
          <a:bodyPr/>
          <a:lstStyle/>
          <a:p>
            <a:endParaRPr lang="en-US"/>
          </a:p>
        </p:txBody>
      </p:sp>
      <p:sp>
        <p:nvSpPr>
          <p:cNvPr id="9" name="Picture Placeholder 8">
            <a:extLst>
              <a:ext uri="{FF2B5EF4-FFF2-40B4-BE49-F238E27FC236}">
                <a16:creationId xmlns:a16="http://schemas.microsoft.com/office/drawing/2014/main" id="{45E46389-0AD2-CB96-13E6-AF07C2922CF9}"/>
              </a:ext>
            </a:extLst>
          </p:cNvPr>
          <p:cNvSpPr>
            <a:spLocks noGrp="1"/>
          </p:cNvSpPr>
          <p:nvPr>
            <p:ph type="pic" sz="quarter" idx="12"/>
          </p:nvPr>
        </p:nvSpPr>
        <p:spPr/>
        <p:txBody>
          <a:bodyPr/>
          <a:lstStyle/>
          <a:p>
            <a:endParaRPr lang="en-US"/>
          </a:p>
        </p:txBody>
      </p:sp>
      <p:sp>
        <p:nvSpPr>
          <p:cNvPr id="11" name="Picture Placeholder 10">
            <a:extLst>
              <a:ext uri="{FF2B5EF4-FFF2-40B4-BE49-F238E27FC236}">
                <a16:creationId xmlns:a16="http://schemas.microsoft.com/office/drawing/2014/main" id="{B117A044-065C-E3F0-117D-3CC93F08929A}"/>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199929844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0DA0E15A-D964-A3E1-3B2A-670CBFFCD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3429"/>
          <a:stretch>
            <a:fillRect/>
          </a:stretch>
        </p:blipFill>
        <p:spPr bwMode="auto">
          <a:xfrm>
            <a:off x="5033636" y="418911"/>
            <a:ext cx="7158365" cy="5455926"/>
          </a:xfrm>
          <a:custGeom>
            <a:avLst/>
            <a:gdLst>
              <a:gd name="connsiteX0" fmla="*/ 0 w 7158365"/>
              <a:gd name="connsiteY0" fmla="*/ 0 h 5455926"/>
              <a:gd name="connsiteX1" fmla="*/ 7158365 w 7158365"/>
              <a:gd name="connsiteY1" fmla="*/ 0 h 5455926"/>
              <a:gd name="connsiteX2" fmla="*/ 7158365 w 7158365"/>
              <a:gd name="connsiteY2" fmla="*/ 299427 h 5455926"/>
              <a:gd name="connsiteX3" fmla="*/ 1116158 w 7158365"/>
              <a:gd name="connsiteY3" fmla="*/ 299427 h 5455926"/>
              <a:gd name="connsiteX4" fmla="*/ 1116158 w 7158365"/>
              <a:gd name="connsiteY4" fmla="*/ 4801844 h 5455926"/>
              <a:gd name="connsiteX5" fmla="*/ 7158365 w 7158365"/>
              <a:gd name="connsiteY5" fmla="*/ 4801844 h 5455926"/>
              <a:gd name="connsiteX6" fmla="*/ 7158365 w 7158365"/>
              <a:gd name="connsiteY6" fmla="*/ 5455926 h 5455926"/>
              <a:gd name="connsiteX7" fmla="*/ 0 w 7158365"/>
              <a:gd name="connsiteY7" fmla="*/ 5455926 h 545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8365" h="5455926">
                <a:moveTo>
                  <a:pt x="0" y="0"/>
                </a:moveTo>
                <a:lnTo>
                  <a:pt x="7158365" y="0"/>
                </a:lnTo>
                <a:lnTo>
                  <a:pt x="7158365" y="299427"/>
                </a:lnTo>
                <a:lnTo>
                  <a:pt x="1116158" y="299427"/>
                </a:lnTo>
                <a:lnTo>
                  <a:pt x="1116158" y="4801844"/>
                </a:lnTo>
                <a:lnTo>
                  <a:pt x="7158365" y="4801844"/>
                </a:lnTo>
                <a:lnTo>
                  <a:pt x="7158365" y="5455926"/>
                </a:lnTo>
                <a:lnTo>
                  <a:pt x="0" y="5455926"/>
                </a:lnTo>
                <a:close/>
              </a:path>
            </a:pathLst>
          </a:custGeom>
          <a:noFill/>
          <a:effectLst/>
          <a:extLst>
            <a:ext uri="{909E8E84-426E-40DD-AFC4-6F175D3DCCD1}">
              <a14:hiddenFill xmlns:a14="http://schemas.microsoft.com/office/drawing/2010/main">
                <a:solidFill>
                  <a:srgbClr val="FFFFFF"/>
                </a:solidFill>
              </a14:hiddenFill>
            </a:ext>
          </a:extLst>
        </p:spPr>
      </p:pic>
      <p:sp>
        <p:nvSpPr>
          <p:cNvPr id="4" name="Picture Placeholder 3">
            <a:extLst>
              <a:ext uri="{FF2B5EF4-FFF2-40B4-BE49-F238E27FC236}">
                <a16:creationId xmlns:a16="http://schemas.microsoft.com/office/drawing/2014/main" id="{1FA0196A-1743-B8C1-D2A5-2859E51DE970}"/>
              </a:ext>
            </a:extLst>
          </p:cNvPr>
          <p:cNvSpPr>
            <a:spLocks noGrp="1"/>
          </p:cNvSpPr>
          <p:nvPr>
            <p:ph type="pic" sz="quarter" idx="10"/>
          </p:nvPr>
        </p:nvSpPr>
        <p:spPr/>
        <p:txBody>
          <a:bodyPr/>
          <a:lstStyle/>
          <a:p>
            <a:endParaRPr lang="en-US"/>
          </a:p>
        </p:txBody>
      </p:sp>
      <p:sp>
        <p:nvSpPr>
          <p:cNvPr id="2" name="TextBox 1">
            <a:extLst>
              <a:ext uri="{FF2B5EF4-FFF2-40B4-BE49-F238E27FC236}">
                <a16:creationId xmlns:a16="http://schemas.microsoft.com/office/drawing/2014/main" id="{BAFD869D-A17B-3B4A-4606-E4A52FA5D7C1}"/>
              </a:ext>
            </a:extLst>
          </p:cNvPr>
          <p:cNvSpPr txBox="1"/>
          <p:nvPr/>
        </p:nvSpPr>
        <p:spPr>
          <a:xfrm>
            <a:off x="606957" y="1464532"/>
            <a:ext cx="5126059" cy="1446550"/>
          </a:xfrm>
          <a:prstGeom prst="rect">
            <a:avLst/>
          </a:prstGeom>
          <a:noFill/>
        </p:spPr>
        <p:txBody>
          <a:bodyPr wrap="square" rtlCol="0">
            <a:spAutoFit/>
          </a:bodyPr>
          <a:lstStyle/>
          <a:p>
            <a:pPr lvl="0" indent="0">
              <a:spcBef>
                <a:spcPts val="0"/>
              </a:spcBef>
              <a:spcAft>
                <a:spcPts val="0"/>
              </a:spcAft>
              <a:buNone/>
            </a:pPr>
            <a:r>
              <a:rPr lang="en-US" sz="4400">
                <a:solidFill>
                  <a:schemeClr val="tx2"/>
                </a:solidFill>
                <a:latin typeface="Space Grotesk Medium" pitchFamily="2" charset="0"/>
                <a:sym typeface="Manrope"/>
              </a:rPr>
              <a:t>Welcome To Future AI Website</a:t>
            </a:r>
          </a:p>
        </p:txBody>
      </p:sp>
      <p:sp>
        <p:nvSpPr>
          <p:cNvPr id="7" name="TextBox 6">
            <a:extLst>
              <a:ext uri="{FF2B5EF4-FFF2-40B4-BE49-F238E27FC236}">
                <a16:creationId xmlns:a16="http://schemas.microsoft.com/office/drawing/2014/main" id="{A1470D1C-2620-C8B7-FD36-134110BA059A}"/>
              </a:ext>
            </a:extLst>
          </p:cNvPr>
          <p:cNvSpPr txBox="1"/>
          <p:nvPr/>
        </p:nvSpPr>
        <p:spPr>
          <a:xfrm>
            <a:off x="606957" y="1172144"/>
            <a:ext cx="1409360"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Website Service</a:t>
            </a:r>
          </a:p>
        </p:txBody>
      </p:sp>
      <p:sp>
        <p:nvSpPr>
          <p:cNvPr id="29" name="Rectangle: Rounded Corners 28">
            <a:extLst>
              <a:ext uri="{FF2B5EF4-FFF2-40B4-BE49-F238E27FC236}">
                <a16:creationId xmlns:a16="http://schemas.microsoft.com/office/drawing/2014/main" id="{073E29BC-C258-4E41-7D1A-8E6C619EFE22}"/>
              </a:ext>
            </a:extLst>
          </p:cNvPr>
          <p:cNvSpPr/>
          <p:nvPr/>
        </p:nvSpPr>
        <p:spPr>
          <a:xfrm>
            <a:off x="615323" y="3211646"/>
            <a:ext cx="8090980" cy="1745794"/>
          </a:xfrm>
          <a:prstGeom prst="roundRect">
            <a:avLst>
              <a:gd name="adj" fmla="val 9613"/>
            </a:avLst>
          </a:prstGeom>
          <a:solidFill>
            <a:schemeClr val="tx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30" name="TextBox 29">
            <a:extLst>
              <a:ext uri="{FF2B5EF4-FFF2-40B4-BE49-F238E27FC236}">
                <a16:creationId xmlns:a16="http://schemas.microsoft.com/office/drawing/2014/main" id="{5EE632CE-CA85-FD20-541E-76C959F845D2}"/>
              </a:ext>
            </a:extLst>
          </p:cNvPr>
          <p:cNvSpPr txBox="1"/>
          <p:nvPr/>
        </p:nvSpPr>
        <p:spPr>
          <a:xfrm>
            <a:off x="1048327" y="3585874"/>
            <a:ext cx="3276532" cy="959237"/>
          </a:xfrm>
          <a:prstGeom prst="rect">
            <a:avLst/>
          </a:prstGeom>
          <a:noFill/>
        </p:spPr>
        <p:txBody>
          <a:bodyPr wrap="square" rtlCol="0">
            <a:spAutoFit/>
          </a:bodyPr>
          <a:lstStyle/>
          <a:p>
            <a:pPr>
              <a:lnSpc>
                <a:spcPct val="150000"/>
              </a:lnSpc>
            </a:pPr>
            <a:r>
              <a:rPr lang="en-US" sz="1300">
                <a:solidFill>
                  <a:schemeClr val="bg2"/>
                </a:solidFill>
                <a:latin typeface="Figtree" pitchFamily="2" charset="0"/>
              </a:rPr>
              <a:t>We are at the forefront of revolutionizing the cyber security landscape through technology and innovation</a:t>
            </a:r>
            <a:endParaRPr lang="en-US" sz="1300">
              <a:solidFill>
                <a:schemeClr val="bg2"/>
              </a:solidFill>
              <a:latin typeface="Figtree" pitchFamily="2" charset="0"/>
              <a:sym typeface="Manrope Medium"/>
            </a:endParaRPr>
          </a:p>
        </p:txBody>
      </p:sp>
      <p:sp>
        <p:nvSpPr>
          <p:cNvPr id="33" name="TextBox 32">
            <a:extLst>
              <a:ext uri="{FF2B5EF4-FFF2-40B4-BE49-F238E27FC236}">
                <a16:creationId xmlns:a16="http://schemas.microsoft.com/office/drawing/2014/main" id="{E7161473-770A-4608-98E0-CB77C58B9AFF}"/>
              </a:ext>
            </a:extLst>
          </p:cNvPr>
          <p:cNvSpPr txBox="1"/>
          <p:nvPr/>
        </p:nvSpPr>
        <p:spPr>
          <a:xfrm>
            <a:off x="5261017" y="3927513"/>
            <a:ext cx="1133644"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US" sz="3600" b="0">
                <a:solidFill>
                  <a:schemeClr val="bg2"/>
                </a:solidFill>
                <a:latin typeface="Figtree" pitchFamily="2" charset="0"/>
              </a:rPr>
              <a:t>18K</a:t>
            </a:r>
            <a:r>
              <a:rPr lang="en-US" sz="3600" b="0" baseline="30000">
                <a:solidFill>
                  <a:schemeClr val="bg2"/>
                </a:solidFill>
                <a:latin typeface="Figtree" pitchFamily="2" charset="0"/>
              </a:rPr>
              <a:t>+</a:t>
            </a:r>
          </a:p>
        </p:txBody>
      </p:sp>
      <p:sp>
        <p:nvSpPr>
          <p:cNvPr id="34" name="TextBox 33">
            <a:extLst>
              <a:ext uri="{FF2B5EF4-FFF2-40B4-BE49-F238E27FC236}">
                <a16:creationId xmlns:a16="http://schemas.microsoft.com/office/drawing/2014/main" id="{F0385C4E-7D28-7CC0-4361-B46451BB438A}"/>
              </a:ext>
            </a:extLst>
          </p:cNvPr>
          <p:cNvSpPr txBox="1"/>
          <p:nvPr/>
        </p:nvSpPr>
        <p:spPr>
          <a:xfrm>
            <a:off x="5261017" y="3680965"/>
            <a:ext cx="745718"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r>
              <a:rPr lang="en-US">
                <a:solidFill>
                  <a:schemeClr val="bg2">
                    <a:alpha val="60000"/>
                  </a:schemeClr>
                </a:solidFill>
                <a:latin typeface="Figtree" pitchFamily="2" charset="0"/>
              </a:rPr>
              <a:t>Visitors</a:t>
            </a:r>
          </a:p>
        </p:txBody>
      </p:sp>
      <p:pic>
        <p:nvPicPr>
          <p:cNvPr id="35" name="Graphic 34">
            <a:extLst>
              <a:ext uri="{FF2B5EF4-FFF2-40B4-BE49-F238E27FC236}">
                <a16:creationId xmlns:a16="http://schemas.microsoft.com/office/drawing/2014/main" id="{95A1AA0A-AC69-AE52-9CCA-767A891E2E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86697" y="3691528"/>
            <a:ext cx="274320" cy="274320"/>
          </a:xfrm>
          <a:prstGeom prst="rect">
            <a:avLst/>
          </a:prstGeom>
        </p:spPr>
      </p:pic>
      <p:sp>
        <p:nvSpPr>
          <p:cNvPr id="38" name="TextBox 37">
            <a:extLst>
              <a:ext uri="{FF2B5EF4-FFF2-40B4-BE49-F238E27FC236}">
                <a16:creationId xmlns:a16="http://schemas.microsoft.com/office/drawing/2014/main" id="{5A227A80-EF4D-90EF-9C7B-9FF4D320C6A7}"/>
              </a:ext>
            </a:extLst>
          </p:cNvPr>
          <p:cNvSpPr txBox="1"/>
          <p:nvPr/>
        </p:nvSpPr>
        <p:spPr>
          <a:xfrm>
            <a:off x="7043609" y="3927513"/>
            <a:ext cx="1168910"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US" sz="3600" b="0">
                <a:solidFill>
                  <a:schemeClr val="bg2"/>
                </a:solidFill>
                <a:latin typeface="Figtree" pitchFamily="2" charset="0"/>
              </a:rPr>
              <a:t>32K</a:t>
            </a:r>
            <a:r>
              <a:rPr lang="en-US" sz="3600" b="0" baseline="30000">
                <a:solidFill>
                  <a:schemeClr val="bg2"/>
                </a:solidFill>
                <a:latin typeface="Figtree" pitchFamily="2" charset="0"/>
              </a:rPr>
              <a:t>+</a:t>
            </a:r>
          </a:p>
        </p:txBody>
      </p:sp>
      <p:sp>
        <p:nvSpPr>
          <p:cNvPr id="39" name="TextBox 38">
            <a:extLst>
              <a:ext uri="{FF2B5EF4-FFF2-40B4-BE49-F238E27FC236}">
                <a16:creationId xmlns:a16="http://schemas.microsoft.com/office/drawing/2014/main" id="{13BAB193-A475-96AA-981C-4681F63B625C}"/>
              </a:ext>
            </a:extLst>
          </p:cNvPr>
          <p:cNvSpPr txBox="1"/>
          <p:nvPr/>
        </p:nvSpPr>
        <p:spPr>
          <a:xfrm>
            <a:off x="7043609" y="3680965"/>
            <a:ext cx="604653"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r>
              <a:rPr lang="en-US">
                <a:solidFill>
                  <a:schemeClr val="bg2">
                    <a:alpha val="60000"/>
                  </a:schemeClr>
                </a:solidFill>
                <a:latin typeface="Figtree" pitchFamily="2" charset="0"/>
              </a:rPr>
              <a:t>Users</a:t>
            </a:r>
          </a:p>
        </p:txBody>
      </p:sp>
      <p:pic>
        <p:nvPicPr>
          <p:cNvPr id="40" name="Graphic 39">
            <a:extLst>
              <a:ext uri="{FF2B5EF4-FFF2-40B4-BE49-F238E27FC236}">
                <a16:creationId xmlns:a16="http://schemas.microsoft.com/office/drawing/2014/main" id="{4636A9FA-B121-6C0C-CB97-29AC9A0C8C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769289" y="3691528"/>
            <a:ext cx="274320" cy="274320"/>
          </a:xfrm>
          <a:prstGeom prst="rect">
            <a:avLst/>
          </a:prstGeom>
        </p:spPr>
      </p:pic>
      <p:sp>
        <p:nvSpPr>
          <p:cNvPr id="44" name="Oval 43">
            <a:extLst>
              <a:ext uri="{FF2B5EF4-FFF2-40B4-BE49-F238E27FC236}">
                <a16:creationId xmlns:a16="http://schemas.microsoft.com/office/drawing/2014/main" id="{6D2E6105-A75D-9BC2-1AD7-D37AC9E4C3EE}"/>
              </a:ext>
            </a:extLst>
          </p:cNvPr>
          <p:cNvSpPr/>
          <p:nvPr/>
        </p:nvSpPr>
        <p:spPr>
          <a:xfrm>
            <a:off x="4237990" y="163532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44">
            <a:extLst>
              <a:ext uri="{FF2B5EF4-FFF2-40B4-BE49-F238E27FC236}">
                <a16:creationId xmlns:a16="http://schemas.microsoft.com/office/drawing/2014/main" id="{E2A13A52-4405-CA15-2419-9C68403E3D33}"/>
              </a:ext>
            </a:extLst>
          </p:cNvPr>
          <p:cNvCxnSpPr>
            <a:cxnSpLocks/>
          </p:cNvCxnSpPr>
          <p:nvPr/>
        </p:nvCxnSpPr>
        <p:spPr>
          <a:xfrm flipV="1">
            <a:off x="4409718" y="180705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98360981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31AD957-4CEF-C61D-E50D-56901610104A}"/>
            </a:ext>
          </a:extLst>
        </p:cNvPr>
        <p:cNvGrpSpPr/>
        <p:nvPr/>
      </p:nvGrpSpPr>
      <p:grpSpPr>
        <a:xfrm>
          <a:off x="0" y="0"/>
          <a:ext cx="0" cy="0"/>
          <a:chOff x="0" y="0"/>
          <a:chExt cx="0" cy="0"/>
        </a:xfrm>
      </p:grpSpPr>
      <p:pic>
        <p:nvPicPr>
          <p:cNvPr id="43" name="Picture 42">
            <a:extLst>
              <a:ext uri="{FF2B5EF4-FFF2-40B4-BE49-F238E27FC236}">
                <a16:creationId xmlns:a16="http://schemas.microsoft.com/office/drawing/2014/main" id="{9733DE08-EFC0-186E-07BB-B4FED44C63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3429"/>
          <a:stretch>
            <a:fillRect/>
          </a:stretch>
        </p:blipFill>
        <p:spPr bwMode="auto">
          <a:xfrm>
            <a:off x="5033636" y="418911"/>
            <a:ext cx="7158365" cy="5455926"/>
          </a:xfrm>
          <a:custGeom>
            <a:avLst/>
            <a:gdLst>
              <a:gd name="connsiteX0" fmla="*/ 0 w 7158365"/>
              <a:gd name="connsiteY0" fmla="*/ 0 h 5455926"/>
              <a:gd name="connsiteX1" fmla="*/ 7158365 w 7158365"/>
              <a:gd name="connsiteY1" fmla="*/ 0 h 5455926"/>
              <a:gd name="connsiteX2" fmla="*/ 7158365 w 7158365"/>
              <a:gd name="connsiteY2" fmla="*/ 299427 h 5455926"/>
              <a:gd name="connsiteX3" fmla="*/ 1116158 w 7158365"/>
              <a:gd name="connsiteY3" fmla="*/ 299427 h 5455926"/>
              <a:gd name="connsiteX4" fmla="*/ 1116158 w 7158365"/>
              <a:gd name="connsiteY4" fmla="*/ 4801844 h 5455926"/>
              <a:gd name="connsiteX5" fmla="*/ 7158365 w 7158365"/>
              <a:gd name="connsiteY5" fmla="*/ 4801844 h 5455926"/>
              <a:gd name="connsiteX6" fmla="*/ 7158365 w 7158365"/>
              <a:gd name="connsiteY6" fmla="*/ 5455926 h 5455926"/>
              <a:gd name="connsiteX7" fmla="*/ 0 w 7158365"/>
              <a:gd name="connsiteY7" fmla="*/ 5455926 h 545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8365" h="5455926">
                <a:moveTo>
                  <a:pt x="0" y="0"/>
                </a:moveTo>
                <a:lnTo>
                  <a:pt x="7158365" y="0"/>
                </a:lnTo>
                <a:lnTo>
                  <a:pt x="7158365" y="299427"/>
                </a:lnTo>
                <a:lnTo>
                  <a:pt x="1116158" y="299427"/>
                </a:lnTo>
                <a:lnTo>
                  <a:pt x="1116158" y="4801844"/>
                </a:lnTo>
                <a:lnTo>
                  <a:pt x="7158365" y="4801844"/>
                </a:lnTo>
                <a:lnTo>
                  <a:pt x="7158365" y="5455926"/>
                </a:lnTo>
                <a:lnTo>
                  <a:pt x="0" y="5455926"/>
                </a:lnTo>
                <a:close/>
              </a:path>
            </a:pathLst>
          </a:custGeom>
          <a:noFill/>
          <a:effectLst/>
          <a:extLst>
            <a:ext uri="{909E8E84-426E-40DD-AFC4-6F175D3DCCD1}">
              <a14:hiddenFill xmlns:a14="http://schemas.microsoft.com/office/drawing/2010/main">
                <a:solidFill>
                  <a:srgbClr val="FFFFFF"/>
                </a:solidFill>
              </a14:hiddenFill>
            </a:ext>
          </a:extLst>
        </p:spPr>
      </p:pic>
      <p:sp>
        <p:nvSpPr>
          <p:cNvPr id="4" name="Picture Placeholder 3">
            <a:extLst>
              <a:ext uri="{FF2B5EF4-FFF2-40B4-BE49-F238E27FC236}">
                <a16:creationId xmlns:a16="http://schemas.microsoft.com/office/drawing/2014/main" id="{DE4647AF-E92F-8895-7378-990F94721A13}"/>
              </a:ext>
            </a:extLst>
          </p:cNvPr>
          <p:cNvSpPr>
            <a:spLocks noGrp="1"/>
          </p:cNvSpPr>
          <p:nvPr>
            <p:ph type="pic" sz="quarter" idx="10"/>
          </p:nvPr>
        </p:nvSpPr>
        <p:spPr/>
        <p:txBody>
          <a:bodyPr/>
          <a:lstStyle/>
          <a:p>
            <a:endParaRPr lang="en-US"/>
          </a:p>
        </p:txBody>
      </p:sp>
      <p:sp>
        <p:nvSpPr>
          <p:cNvPr id="2" name="TextBox 1">
            <a:extLst>
              <a:ext uri="{FF2B5EF4-FFF2-40B4-BE49-F238E27FC236}">
                <a16:creationId xmlns:a16="http://schemas.microsoft.com/office/drawing/2014/main" id="{E5545176-733C-2910-4B35-415CEB782864}"/>
              </a:ext>
            </a:extLst>
          </p:cNvPr>
          <p:cNvSpPr txBox="1"/>
          <p:nvPr/>
        </p:nvSpPr>
        <p:spPr>
          <a:xfrm>
            <a:off x="606957" y="1464532"/>
            <a:ext cx="5126059" cy="1446550"/>
          </a:xfrm>
          <a:prstGeom prst="rect">
            <a:avLst/>
          </a:prstGeom>
          <a:noFill/>
        </p:spPr>
        <p:txBody>
          <a:bodyPr wrap="square" rtlCol="0">
            <a:spAutoFit/>
          </a:bodyPr>
          <a:lstStyle/>
          <a:p>
            <a:pPr lvl="0" indent="0">
              <a:spcBef>
                <a:spcPts val="0"/>
              </a:spcBef>
              <a:spcAft>
                <a:spcPts val="0"/>
              </a:spcAft>
              <a:buNone/>
            </a:pPr>
            <a:r>
              <a:rPr lang="en-US" sz="4400">
                <a:solidFill>
                  <a:schemeClr val="tx2"/>
                </a:solidFill>
                <a:latin typeface="Space Grotesk Medium" pitchFamily="2" charset="0"/>
                <a:sym typeface="Manrope"/>
              </a:rPr>
              <a:t>Welcome To Future AI Website</a:t>
            </a:r>
          </a:p>
        </p:txBody>
      </p:sp>
      <p:sp>
        <p:nvSpPr>
          <p:cNvPr id="7" name="TextBox 6">
            <a:extLst>
              <a:ext uri="{FF2B5EF4-FFF2-40B4-BE49-F238E27FC236}">
                <a16:creationId xmlns:a16="http://schemas.microsoft.com/office/drawing/2014/main" id="{28FA5B4D-34BD-44DB-DE2C-F6A09B12A856}"/>
              </a:ext>
            </a:extLst>
          </p:cNvPr>
          <p:cNvSpPr txBox="1"/>
          <p:nvPr/>
        </p:nvSpPr>
        <p:spPr>
          <a:xfrm>
            <a:off x="606957" y="1172144"/>
            <a:ext cx="1409360" cy="292388"/>
          </a:xfrm>
          <a:prstGeom prst="rect">
            <a:avLst/>
          </a:prstGeom>
          <a:noFill/>
        </p:spPr>
        <p:txBody>
          <a:bodyPr wrap="none" rtlCol="0">
            <a:spAutoFit/>
          </a:bodyPr>
          <a:lstStyle>
            <a:defPPr>
              <a:defRPr lang="en-US"/>
            </a:defPPr>
            <a:lvl1pPr>
              <a:defRPr sz="1300">
                <a:solidFill>
                  <a:schemeClr val="tx2"/>
                </a:solidFill>
                <a:latin typeface="Courgette" panose="02000603070400060004" pitchFamily="2" charset="0"/>
              </a:defRPr>
            </a:lvl1pPr>
          </a:lstStyle>
          <a:p>
            <a:r>
              <a:rPr lang="en-US">
                <a:latin typeface="Figtree Medium" pitchFamily="2" charset="0"/>
              </a:rPr>
              <a:t>Website Service</a:t>
            </a:r>
          </a:p>
        </p:txBody>
      </p:sp>
      <p:sp>
        <p:nvSpPr>
          <p:cNvPr id="29" name="Rectangle: Rounded Corners 28">
            <a:extLst>
              <a:ext uri="{FF2B5EF4-FFF2-40B4-BE49-F238E27FC236}">
                <a16:creationId xmlns:a16="http://schemas.microsoft.com/office/drawing/2014/main" id="{29F530E4-4B3D-7EE5-68BF-99F144B35B9E}"/>
              </a:ext>
            </a:extLst>
          </p:cNvPr>
          <p:cNvSpPr/>
          <p:nvPr/>
        </p:nvSpPr>
        <p:spPr>
          <a:xfrm>
            <a:off x="615323" y="3211646"/>
            <a:ext cx="8090980" cy="1745794"/>
          </a:xfrm>
          <a:prstGeom prst="roundRect">
            <a:avLst>
              <a:gd name="adj" fmla="val 9613"/>
            </a:avLst>
          </a:prstGeom>
          <a:solidFill>
            <a:schemeClr val="tx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30" name="TextBox 29">
            <a:extLst>
              <a:ext uri="{FF2B5EF4-FFF2-40B4-BE49-F238E27FC236}">
                <a16:creationId xmlns:a16="http://schemas.microsoft.com/office/drawing/2014/main" id="{BFFFD49A-7721-FB18-DD57-3EB393489ED4}"/>
              </a:ext>
            </a:extLst>
          </p:cNvPr>
          <p:cNvSpPr txBox="1"/>
          <p:nvPr/>
        </p:nvSpPr>
        <p:spPr>
          <a:xfrm>
            <a:off x="1048327" y="3585874"/>
            <a:ext cx="3276532" cy="959237"/>
          </a:xfrm>
          <a:prstGeom prst="rect">
            <a:avLst/>
          </a:prstGeom>
          <a:noFill/>
        </p:spPr>
        <p:txBody>
          <a:bodyPr wrap="square" rtlCol="0">
            <a:spAutoFit/>
          </a:bodyPr>
          <a:lstStyle/>
          <a:p>
            <a:pPr>
              <a:lnSpc>
                <a:spcPct val="150000"/>
              </a:lnSpc>
            </a:pPr>
            <a:r>
              <a:rPr lang="en-US" sz="1300">
                <a:solidFill>
                  <a:schemeClr val="bg2"/>
                </a:solidFill>
                <a:latin typeface="Figtree" pitchFamily="2" charset="0"/>
              </a:rPr>
              <a:t>We are at the forefront of revolutionizing the cyber security landscape through technology and innovation</a:t>
            </a:r>
            <a:endParaRPr lang="en-US" sz="1300">
              <a:solidFill>
                <a:schemeClr val="bg2"/>
              </a:solidFill>
              <a:latin typeface="Figtree" pitchFamily="2" charset="0"/>
              <a:sym typeface="Manrope Medium"/>
            </a:endParaRPr>
          </a:p>
        </p:txBody>
      </p:sp>
      <p:sp>
        <p:nvSpPr>
          <p:cNvPr id="33" name="TextBox 32">
            <a:extLst>
              <a:ext uri="{FF2B5EF4-FFF2-40B4-BE49-F238E27FC236}">
                <a16:creationId xmlns:a16="http://schemas.microsoft.com/office/drawing/2014/main" id="{40E0E96C-C033-19BA-DEA5-0A41F601A3E0}"/>
              </a:ext>
            </a:extLst>
          </p:cNvPr>
          <p:cNvSpPr txBox="1"/>
          <p:nvPr/>
        </p:nvSpPr>
        <p:spPr>
          <a:xfrm>
            <a:off x="5261017" y="3927513"/>
            <a:ext cx="1133644"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US" sz="3600" b="0">
                <a:solidFill>
                  <a:schemeClr val="bg2"/>
                </a:solidFill>
                <a:latin typeface="Figtree" pitchFamily="2" charset="0"/>
              </a:rPr>
              <a:t>18K</a:t>
            </a:r>
            <a:r>
              <a:rPr lang="en-US" sz="3600" b="0" baseline="30000">
                <a:solidFill>
                  <a:schemeClr val="bg2"/>
                </a:solidFill>
                <a:latin typeface="Figtree" pitchFamily="2" charset="0"/>
              </a:rPr>
              <a:t>+</a:t>
            </a:r>
          </a:p>
        </p:txBody>
      </p:sp>
      <p:sp>
        <p:nvSpPr>
          <p:cNvPr id="34" name="TextBox 33">
            <a:extLst>
              <a:ext uri="{FF2B5EF4-FFF2-40B4-BE49-F238E27FC236}">
                <a16:creationId xmlns:a16="http://schemas.microsoft.com/office/drawing/2014/main" id="{2AA4C11A-CB37-20E0-EB02-81C9F4CF1CAF}"/>
              </a:ext>
            </a:extLst>
          </p:cNvPr>
          <p:cNvSpPr txBox="1"/>
          <p:nvPr/>
        </p:nvSpPr>
        <p:spPr>
          <a:xfrm>
            <a:off x="5261017" y="3680965"/>
            <a:ext cx="745718"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r>
              <a:rPr lang="en-US">
                <a:solidFill>
                  <a:schemeClr val="bg2">
                    <a:alpha val="60000"/>
                  </a:schemeClr>
                </a:solidFill>
                <a:latin typeface="Figtree" pitchFamily="2" charset="0"/>
              </a:rPr>
              <a:t>Visitors</a:t>
            </a:r>
          </a:p>
        </p:txBody>
      </p:sp>
      <p:pic>
        <p:nvPicPr>
          <p:cNvPr id="35" name="Graphic 34">
            <a:extLst>
              <a:ext uri="{FF2B5EF4-FFF2-40B4-BE49-F238E27FC236}">
                <a16:creationId xmlns:a16="http://schemas.microsoft.com/office/drawing/2014/main" id="{284A3A40-2815-9DAC-58F1-DA42F711B5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86697" y="3691528"/>
            <a:ext cx="274320" cy="274320"/>
          </a:xfrm>
          <a:prstGeom prst="rect">
            <a:avLst/>
          </a:prstGeom>
        </p:spPr>
      </p:pic>
      <p:sp>
        <p:nvSpPr>
          <p:cNvPr id="38" name="TextBox 37">
            <a:extLst>
              <a:ext uri="{FF2B5EF4-FFF2-40B4-BE49-F238E27FC236}">
                <a16:creationId xmlns:a16="http://schemas.microsoft.com/office/drawing/2014/main" id="{59992C66-13DE-200B-D25A-AC4E445B47C2}"/>
              </a:ext>
            </a:extLst>
          </p:cNvPr>
          <p:cNvSpPr txBox="1"/>
          <p:nvPr/>
        </p:nvSpPr>
        <p:spPr>
          <a:xfrm>
            <a:off x="7043609" y="3927513"/>
            <a:ext cx="1168910" cy="646331"/>
          </a:xfrm>
          <a:prstGeom prst="rect">
            <a:avLst/>
          </a:prstGeom>
          <a:noFill/>
        </p:spPr>
        <p:txBody>
          <a:bodyPr wrap="none" rtlCol="0">
            <a:spAutoFit/>
          </a:bodyPr>
          <a:lstStyle>
            <a:defPPr>
              <a:defRPr lang="en-US"/>
            </a:defPPr>
            <a:lvl1pPr>
              <a:defRPr sz="1300" b="1">
                <a:solidFill>
                  <a:schemeClr val="tx2"/>
                </a:solidFill>
                <a:latin typeface="DM Sans" pitchFamily="2" charset="0"/>
              </a:defRPr>
            </a:lvl1pPr>
          </a:lstStyle>
          <a:p>
            <a:r>
              <a:rPr lang="en-US" sz="3600" b="0">
                <a:solidFill>
                  <a:schemeClr val="bg2"/>
                </a:solidFill>
                <a:latin typeface="Figtree" pitchFamily="2" charset="0"/>
              </a:rPr>
              <a:t>32K</a:t>
            </a:r>
            <a:r>
              <a:rPr lang="en-US" sz="3600" b="0" baseline="30000">
                <a:solidFill>
                  <a:schemeClr val="bg2"/>
                </a:solidFill>
                <a:latin typeface="Figtree" pitchFamily="2" charset="0"/>
              </a:rPr>
              <a:t>+</a:t>
            </a:r>
          </a:p>
        </p:txBody>
      </p:sp>
      <p:sp>
        <p:nvSpPr>
          <p:cNvPr id="39" name="TextBox 38">
            <a:extLst>
              <a:ext uri="{FF2B5EF4-FFF2-40B4-BE49-F238E27FC236}">
                <a16:creationId xmlns:a16="http://schemas.microsoft.com/office/drawing/2014/main" id="{4DF6EB72-8597-6E9A-592C-9A9B6BCA5E78}"/>
              </a:ext>
            </a:extLst>
          </p:cNvPr>
          <p:cNvSpPr txBox="1"/>
          <p:nvPr/>
        </p:nvSpPr>
        <p:spPr>
          <a:xfrm>
            <a:off x="7043609" y="3680965"/>
            <a:ext cx="604653" cy="292388"/>
          </a:xfrm>
          <a:prstGeom prst="rect">
            <a:avLst/>
          </a:prstGeom>
          <a:noFill/>
        </p:spPr>
        <p:txBody>
          <a:bodyPr wrap="none" rtlCol="0">
            <a:spAutoFit/>
          </a:bodyPr>
          <a:lstStyle>
            <a:defPPr>
              <a:defRPr lang="en-US"/>
            </a:defPPr>
            <a:lvl1pPr>
              <a:defRPr sz="1300">
                <a:solidFill>
                  <a:schemeClr val="tx2"/>
                </a:solidFill>
                <a:latin typeface="DM Sans" pitchFamily="2" charset="0"/>
              </a:defRPr>
            </a:lvl1pPr>
          </a:lstStyle>
          <a:p>
            <a:r>
              <a:rPr lang="en-US">
                <a:solidFill>
                  <a:schemeClr val="bg2">
                    <a:alpha val="60000"/>
                  </a:schemeClr>
                </a:solidFill>
                <a:latin typeface="Figtree" pitchFamily="2" charset="0"/>
              </a:rPr>
              <a:t>Users</a:t>
            </a:r>
          </a:p>
        </p:txBody>
      </p:sp>
      <p:pic>
        <p:nvPicPr>
          <p:cNvPr id="40" name="Graphic 39">
            <a:extLst>
              <a:ext uri="{FF2B5EF4-FFF2-40B4-BE49-F238E27FC236}">
                <a16:creationId xmlns:a16="http://schemas.microsoft.com/office/drawing/2014/main" id="{5397DAE0-16AB-23A3-E999-740DD017EC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769289" y="3691528"/>
            <a:ext cx="274320" cy="274320"/>
          </a:xfrm>
          <a:prstGeom prst="rect">
            <a:avLst/>
          </a:prstGeom>
        </p:spPr>
      </p:pic>
      <p:sp>
        <p:nvSpPr>
          <p:cNvPr id="44" name="Oval 43">
            <a:extLst>
              <a:ext uri="{FF2B5EF4-FFF2-40B4-BE49-F238E27FC236}">
                <a16:creationId xmlns:a16="http://schemas.microsoft.com/office/drawing/2014/main" id="{AAB64F7A-8FF8-2C81-EA01-2717265A66BA}"/>
              </a:ext>
            </a:extLst>
          </p:cNvPr>
          <p:cNvSpPr/>
          <p:nvPr/>
        </p:nvSpPr>
        <p:spPr>
          <a:xfrm>
            <a:off x="4237990" y="1635325"/>
            <a:ext cx="495856" cy="495856"/>
          </a:xfrm>
          <a:prstGeom prst="ellipse">
            <a:avLst/>
          </a:prstGeom>
          <a:gradFill>
            <a:gsLst>
              <a:gs pos="0">
                <a:schemeClr val="accent1"/>
              </a:gs>
              <a:gs pos="100000">
                <a:schemeClr val="accent2">
                  <a:alpha val="0"/>
                </a:schemeClr>
              </a:gs>
            </a:gsLst>
            <a:lin ang="5400000" scaled="1"/>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5" name="Straight Arrow Connector 44">
            <a:extLst>
              <a:ext uri="{FF2B5EF4-FFF2-40B4-BE49-F238E27FC236}">
                <a16:creationId xmlns:a16="http://schemas.microsoft.com/office/drawing/2014/main" id="{4A637B1B-7423-4E56-1CD3-CDE636E23755}"/>
              </a:ext>
            </a:extLst>
          </p:cNvPr>
          <p:cNvCxnSpPr>
            <a:cxnSpLocks/>
          </p:cNvCxnSpPr>
          <p:nvPr/>
        </p:nvCxnSpPr>
        <p:spPr>
          <a:xfrm flipV="1">
            <a:off x="4409718" y="1807053"/>
            <a:ext cx="152400" cy="152400"/>
          </a:xfrm>
          <a:prstGeom prst="straightConnector1">
            <a:avLst/>
          </a:prstGeom>
          <a:noFill/>
          <a:ln w="25400" cap="rnd">
            <a:solidFill>
              <a:schemeClr val="bg2"/>
            </a:solidFill>
            <a:round/>
            <a:tailEnd type="arrow" w="lg"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13718361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971BE94-D4A4-0E02-FC49-DC042BD4D50B}"/>
              </a:ext>
            </a:extLst>
          </p:cNvPr>
          <p:cNvSpPr/>
          <p:nvPr/>
        </p:nvSpPr>
        <p:spPr>
          <a:xfrm>
            <a:off x="6718299" y="0"/>
            <a:ext cx="5473701" cy="6858000"/>
          </a:xfrm>
          <a:prstGeom prst="rect">
            <a:avLst/>
          </a:prstGeom>
          <a:gradFill flip="none" rotWithShape="1">
            <a:gsLst>
              <a:gs pos="0">
                <a:schemeClr val="accent1"/>
              </a:gs>
              <a:gs pos="100000">
                <a:schemeClr val="accent2"/>
              </a:gs>
            </a:gsLst>
            <a:lin ang="2700000" scaled="1"/>
            <a:tileRect/>
          </a:gradFill>
          <a:ln w="7620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34798A65-6DFD-618B-A4B6-7B9CA5ED38E3}"/>
              </a:ext>
            </a:extLst>
          </p:cNvPr>
          <p:cNvSpPr txBox="1"/>
          <p:nvPr/>
        </p:nvSpPr>
        <p:spPr>
          <a:xfrm>
            <a:off x="1210061" y="1001592"/>
            <a:ext cx="2415297" cy="2123658"/>
          </a:xfrm>
          <a:prstGeom prst="rect">
            <a:avLst/>
          </a:prstGeom>
          <a:noFill/>
        </p:spPr>
        <p:txBody>
          <a:bodyPr wrap="square" rtlCol="0">
            <a:spAutoFit/>
          </a:bodyPr>
          <a:lstStyle/>
          <a:p>
            <a:pPr lvl="0" indent="0">
              <a:spcBef>
                <a:spcPts val="0"/>
              </a:spcBef>
              <a:spcAft>
                <a:spcPts val="0"/>
              </a:spcAft>
              <a:buNone/>
            </a:pPr>
            <a:r>
              <a:rPr lang="en-US" sz="4400">
                <a:solidFill>
                  <a:schemeClr val="tx2"/>
                </a:solidFill>
                <a:latin typeface="Space Grotesk Medium" pitchFamily="2" charset="0"/>
                <a:sym typeface="Manrope"/>
              </a:rPr>
              <a:t>Try Our Mobile Apps</a:t>
            </a:r>
          </a:p>
        </p:txBody>
      </p:sp>
      <p:sp>
        <p:nvSpPr>
          <p:cNvPr id="5" name="TextBox 4">
            <a:extLst>
              <a:ext uri="{FF2B5EF4-FFF2-40B4-BE49-F238E27FC236}">
                <a16:creationId xmlns:a16="http://schemas.microsoft.com/office/drawing/2014/main" id="{2DCF22B5-833F-601C-3147-B81C0B2455C4}"/>
              </a:ext>
            </a:extLst>
          </p:cNvPr>
          <p:cNvSpPr txBox="1"/>
          <p:nvPr/>
        </p:nvSpPr>
        <p:spPr>
          <a:xfrm>
            <a:off x="1210061" y="3515158"/>
            <a:ext cx="2313697" cy="1259319"/>
          </a:xfrm>
          <a:prstGeom prst="rect">
            <a:avLst/>
          </a:prstGeom>
          <a:noFill/>
        </p:spPr>
        <p:txBody>
          <a:bodyPr wrap="square" rtlCol="0">
            <a:spAutoFit/>
          </a:bodyPr>
          <a:lstStyle/>
          <a:p>
            <a:pPr>
              <a:lnSpc>
                <a:spcPct val="150000"/>
              </a:lnSpc>
            </a:pPr>
            <a:r>
              <a:rPr lang="en-US" sz="1300">
                <a:solidFill>
                  <a:schemeClr val="tx2"/>
                </a:solidFill>
                <a:latin typeface="Figtree" pitchFamily="2" charset="0"/>
                <a:sym typeface="Manrope Medium"/>
              </a:rPr>
              <a:t>Our platform is designed with you in mind, providing a seamless and user-friendly experience.</a:t>
            </a:r>
          </a:p>
        </p:txBody>
      </p:sp>
      <p:sp>
        <p:nvSpPr>
          <p:cNvPr id="6" name="TextBox 5">
            <a:extLst>
              <a:ext uri="{FF2B5EF4-FFF2-40B4-BE49-F238E27FC236}">
                <a16:creationId xmlns:a16="http://schemas.microsoft.com/office/drawing/2014/main" id="{38ED75E2-5BBC-D64E-1DF0-53B7F3B6521E}"/>
              </a:ext>
            </a:extLst>
          </p:cNvPr>
          <p:cNvSpPr txBox="1"/>
          <p:nvPr/>
        </p:nvSpPr>
        <p:spPr>
          <a:xfrm>
            <a:off x="1210060" y="709204"/>
            <a:ext cx="1362874" cy="292388"/>
          </a:xfrm>
          <a:prstGeom prst="rect">
            <a:avLst/>
          </a:prstGeom>
          <a:noFill/>
        </p:spPr>
        <p:txBody>
          <a:bodyPr wrap="none" rtlCol="0">
            <a:spAutoFit/>
          </a:bodyPr>
          <a:lstStyle/>
          <a:p>
            <a:pPr lvl="0" indent="0">
              <a:spcBef>
                <a:spcPts val="0"/>
              </a:spcBef>
              <a:spcAft>
                <a:spcPts val="0"/>
              </a:spcAft>
              <a:buNone/>
            </a:pPr>
            <a:r>
              <a:rPr lang="en-US" sz="1300">
                <a:solidFill>
                  <a:schemeClr val="tx2"/>
                </a:solidFill>
                <a:latin typeface="Figtree Medium" pitchFamily="2" charset="0"/>
                <a:sym typeface="Manrope"/>
              </a:rPr>
              <a:t>Our Mobile App</a:t>
            </a:r>
          </a:p>
        </p:txBody>
      </p:sp>
      <p:sp>
        <p:nvSpPr>
          <p:cNvPr id="16" name="Rectangle: Rounded Corners 15">
            <a:extLst>
              <a:ext uri="{FF2B5EF4-FFF2-40B4-BE49-F238E27FC236}">
                <a16:creationId xmlns:a16="http://schemas.microsoft.com/office/drawing/2014/main" id="{BE3D8BDC-B56A-487E-7937-50AF4071681C}"/>
              </a:ext>
            </a:extLst>
          </p:cNvPr>
          <p:cNvSpPr/>
          <p:nvPr/>
        </p:nvSpPr>
        <p:spPr>
          <a:xfrm>
            <a:off x="1281357" y="5084373"/>
            <a:ext cx="2018145" cy="471054"/>
          </a:xfrm>
          <a:prstGeom prst="roundRect">
            <a:avLst>
              <a:gd name="adj" fmla="val 18489"/>
            </a:avLst>
          </a:prstGeom>
          <a:gradFill flip="none" rotWithShape="1">
            <a:gsLst>
              <a:gs pos="100000">
                <a:schemeClr val="accent1"/>
              </a:gs>
              <a:gs pos="0">
                <a:schemeClr val="accent1">
                  <a:lumMod val="60000"/>
                  <a:lumOff val="40000"/>
                </a:schemeClr>
              </a:gs>
            </a:gsLst>
            <a:lin ang="2700000" scaled="1"/>
            <a:tileRect/>
          </a:gradFill>
          <a:ln w="762000">
            <a:noFill/>
          </a:ln>
          <a:effectLst>
            <a:outerShdw blurRad="584200" dist="1905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1300">
                <a:solidFill>
                  <a:schemeClr val="bg2"/>
                </a:solidFill>
                <a:latin typeface="Figtree Medium" pitchFamily="2" charset="0"/>
                <a:sym typeface="Manrope Medium"/>
              </a:rPr>
              <a:t>Download Now</a:t>
            </a:r>
          </a:p>
        </p:txBody>
      </p:sp>
      <p:sp>
        <p:nvSpPr>
          <p:cNvPr id="8" name="Picture Placeholder 7">
            <a:extLst>
              <a:ext uri="{FF2B5EF4-FFF2-40B4-BE49-F238E27FC236}">
                <a16:creationId xmlns:a16="http://schemas.microsoft.com/office/drawing/2014/main" id="{4BB6DD48-C6FD-7378-A217-7CA36199C0EE}"/>
              </a:ext>
            </a:extLst>
          </p:cNvPr>
          <p:cNvSpPr>
            <a:spLocks noGrp="1"/>
          </p:cNvSpPr>
          <p:nvPr>
            <p:ph type="pic" sz="quarter" idx="11"/>
          </p:nvPr>
        </p:nvSpPr>
        <p:spPr/>
        <p:txBody>
          <a:bodyPr/>
          <a:lstStyle/>
          <a:p>
            <a:endParaRPr lang="en-US"/>
          </a:p>
        </p:txBody>
      </p:sp>
      <p:pic>
        <p:nvPicPr>
          <p:cNvPr id="27" name="Picture 26">
            <a:extLst>
              <a:ext uri="{FF2B5EF4-FFF2-40B4-BE49-F238E27FC236}">
                <a16:creationId xmlns:a16="http://schemas.microsoft.com/office/drawing/2014/main" id="{3A916521-4538-CDBE-968E-1F0D7CEB6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4243"/>
          <a:stretch>
            <a:fillRect/>
          </a:stretch>
        </p:blipFill>
        <p:spPr bwMode="auto">
          <a:xfrm>
            <a:off x="4891924" y="655826"/>
            <a:ext cx="3586006" cy="6202175"/>
          </a:xfrm>
          <a:custGeom>
            <a:avLst/>
            <a:gdLst>
              <a:gd name="connsiteX0" fmla="*/ 0 w 3586006"/>
              <a:gd name="connsiteY0" fmla="*/ 0 h 6202175"/>
              <a:gd name="connsiteX1" fmla="*/ 3586006 w 3586006"/>
              <a:gd name="connsiteY1" fmla="*/ 0 h 6202175"/>
              <a:gd name="connsiteX2" fmla="*/ 3586006 w 3586006"/>
              <a:gd name="connsiteY2" fmla="*/ 6202175 h 6202175"/>
              <a:gd name="connsiteX3" fmla="*/ 3371049 w 3586006"/>
              <a:gd name="connsiteY3" fmla="*/ 6202175 h 6202175"/>
              <a:gd name="connsiteX4" fmla="*/ 3371049 w 3586006"/>
              <a:gd name="connsiteY4" fmla="*/ 530426 h 6202175"/>
              <a:gd name="connsiteX5" fmla="*/ 3371049 w 3586006"/>
              <a:gd name="connsiteY5" fmla="*/ 529082 h 6202175"/>
              <a:gd name="connsiteX6" fmla="*/ 3059526 w 3586006"/>
              <a:gd name="connsiteY6" fmla="*/ 220246 h 6202175"/>
              <a:gd name="connsiteX7" fmla="*/ 2720493 w 3586006"/>
              <a:gd name="connsiteY7" fmla="*/ 220246 h 6202175"/>
              <a:gd name="connsiteX8" fmla="*/ 2653391 w 3586006"/>
              <a:gd name="connsiteY8" fmla="*/ 287348 h 6202175"/>
              <a:gd name="connsiteX9" fmla="*/ 2476072 w 3586006"/>
              <a:gd name="connsiteY9" fmla="*/ 464667 h 6202175"/>
              <a:gd name="connsiteX10" fmla="*/ 1119941 w 3586006"/>
              <a:gd name="connsiteY10" fmla="*/ 464667 h 6202175"/>
              <a:gd name="connsiteX11" fmla="*/ 942622 w 3586006"/>
              <a:gd name="connsiteY11" fmla="*/ 287348 h 6202175"/>
              <a:gd name="connsiteX12" fmla="*/ 875521 w 3586006"/>
              <a:gd name="connsiteY12" fmla="*/ 220246 h 6202175"/>
              <a:gd name="connsiteX13" fmla="*/ 536151 w 3586006"/>
              <a:gd name="connsiteY13" fmla="*/ 220246 h 6202175"/>
              <a:gd name="connsiteX14" fmla="*/ 225972 w 3586006"/>
              <a:gd name="connsiteY14" fmla="*/ 530426 h 6202175"/>
              <a:gd name="connsiteX15" fmla="*/ 225972 w 3586006"/>
              <a:gd name="connsiteY15" fmla="*/ 6202175 h 6202175"/>
              <a:gd name="connsiteX16" fmla="*/ 0 w 3586006"/>
              <a:gd name="connsiteY16" fmla="*/ 6202175 h 62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86006" h="6202175">
                <a:moveTo>
                  <a:pt x="0" y="0"/>
                </a:moveTo>
                <a:lnTo>
                  <a:pt x="3586006" y="0"/>
                </a:lnTo>
                <a:lnTo>
                  <a:pt x="3586006" y="6202175"/>
                </a:lnTo>
                <a:lnTo>
                  <a:pt x="3371049" y="6202175"/>
                </a:lnTo>
                <a:lnTo>
                  <a:pt x="3371049" y="530426"/>
                </a:lnTo>
                <a:cubicBezTo>
                  <a:pt x="3371049" y="529978"/>
                  <a:pt x="3371049" y="529530"/>
                  <a:pt x="3371049" y="529082"/>
                </a:cubicBezTo>
                <a:cubicBezTo>
                  <a:pt x="3370378" y="357775"/>
                  <a:pt x="3230804" y="219505"/>
                  <a:pt x="3059526" y="220246"/>
                </a:cubicBezTo>
                <a:lnTo>
                  <a:pt x="2720493" y="220246"/>
                </a:lnTo>
                <a:cubicBezTo>
                  <a:pt x="2683420" y="220246"/>
                  <a:pt x="2653391" y="250290"/>
                  <a:pt x="2653391" y="287348"/>
                </a:cubicBezTo>
                <a:cubicBezTo>
                  <a:pt x="2653391" y="385280"/>
                  <a:pt x="2574043" y="464667"/>
                  <a:pt x="2476072" y="464667"/>
                </a:cubicBezTo>
                <a:lnTo>
                  <a:pt x="1119941" y="464667"/>
                </a:lnTo>
                <a:cubicBezTo>
                  <a:pt x="1021970" y="464667"/>
                  <a:pt x="942622" y="385280"/>
                  <a:pt x="942622" y="287348"/>
                </a:cubicBezTo>
                <a:cubicBezTo>
                  <a:pt x="942622" y="250290"/>
                  <a:pt x="912595" y="220246"/>
                  <a:pt x="875521" y="220246"/>
                </a:cubicBezTo>
                <a:lnTo>
                  <a:pt x="536151" y="220246"/>
                </a:lnTo>
                <a:cubicBezTo>
                  <a:pt x="364876" y="220246"/>
                  <a:pt x="225972" y="359119"/>
                  <a:pt x="225972" y="530426"/>
                </a:cubicBezTo>
                <a:lnTo>
                  <a:pt x="225972" y="6202175"/>
                </a:lnTo>
                <a:lnTo>
                  <a:pt x="0" y="6202175"/>
                </a:lnTo>
                <a:close/>
              </a:path>
            </a:pathLst>
          </a:custGeom>
          <a:noFill/>
          <a:extLst>
            <a:ext uri="{909E8E84-426E-40DD-AFC4-6F175D3DCCD1}">
              <a14:hiddenFill xmlns:a14="http://schemas.microsoft.com/office/drawing/2010/main">
                <a:solidFill>
                  <a:srgbClr val="FFFFFF"/>
                </a:solidFill>
              </a14:hiddenFill>
            </a:ext>
          </a:extLst>
        </p:spPr>
      </p:pic>
      <p:sp>
        <p:nvSpPr>
          <p:cNvPr id="3" name="Picture Placeholder 2">
            <a:extLst>
              <a:ext uri="{FF2B5EF4-FFF2-40B4-BE49-F238E27FC236}">
                <a16:creationId xmlns:a16="http://schemas.microsoft.com/office/drawing/2014/main" id="{759F4E3D-B0C0-6CEE-6273-73D2E85F53B7}"/>
              </a:ext>
            </a:extLst>
          </p:cNvPr>
          <p:cNvSpPr>
            <a:spLocks noGrp="1"/>
          </p:cNvSpPr>
          <p:nvPr>
            <p:ph type="pic" sz="quarter" idx="10"/>
          </p:nvPr>
        </p:nvSpPr>
        <p:spPr/>
        <p:txBody>
          <a:bodyPr/>
          <a:lstStyle/>
          <a:p>
            <a:endParaRPr lang="en-US"/>
          </a:p>
        </p:txBody>
      </p:sp>
      <p:pic>
        <p:nvPicPr>
          <p:cNvPr id="23" name="Picture 22">
            <a:extLst>
              <a:ext uri="{FF2B5EF4-FFF2-40B4-BE49-F238E27FC236}">
                <a16:creationId xmlns:a16="http://schemas.microsoft.com/office/drawing/2014/main" id="{7507B0C9-242C-8BEE-A288-633C4A68B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8486"/>
          <a:stretch>
            <a:fillRect/>
          </a:stretch>
        </p:blipFill>
        <p:spPr bwMode="auto">
          <a:xfrm>
            <a:off x="7395532" y="1685926"/>
            <a:ext cx="3586006" cy="5172075"/>
          </a:xfrm>
          <a:custGeom>
            <a:avLst/>
            <a:gdLst>
              <a:gd name="connsiteX0" fmla="*/ 0 w 3586006"/>
              <a:gd name="connsiteY0" fmla="*/ 0 h 5172075"/>
              <a:gd name="connsiteX1" fmla="*/ 3586006 w 3586006"/>
              <a:gd name="connsiteY1" fmla="*/ 0 h 5172075"/>
              <a:gd name="connsiteX2" fmla="*/ 3586006 w 3586006"/>
              <a:gd name="connsiteY2" fmla="*/ 5172075 h 5172075"/>
              <a:gd name="connsiteX3" fmla="*/ 3371049 w 3586006"/>
              <a:gd name="connsiteY3" fmla="*/ 5172075 h 5172075"/>
              <a:gd name="connsiteX4" fmla="*/ 3371049 w 3586006"/>
              <a:gd name="connsiteY4" fmla="*/ 530426 h 5172075"/>
              <a:gd name="connsiteX5" fmla="*/ 3371049 w 3586006"/>
              <a:gd name="connsiteY5" fmla="*/ 529082 h 5172075"/>
              <a:gd name="connsiteX6" fmla="*/ 3059526 w 3586006"/>
              <a:gd name="connsiteY6" fmla="*/ 220246 h 5172075"/>
              <a:gd name="connsiteX7" fmla="*/ 2720493 w 3586006"/>
              <a:gd name="connsiteY7" fmla="*/ 220246 h 5172075"/>
              <a:gd name="connsiteX8" fmla="*/ 2653390 w 3586006"/>
              <a:gd name="connsiteY8" fmla="*/ 287348 h 5172075"/>
              <a:gd name="connsiteX9" fmla="*/ 2476072 w 3586006"/>
              <a:gd name="connsiteY9" fmla="*/ 464667 h 5172075"/>
              <a:gd name="connsiteX10" fmla="*/ 1119941 w 3586006"/>
              <a:gd name="connsiteY10" fmla="*/ 464667 h 5172075"/>
              <a:gd name="connsiteX11" fmla="*/ 942622 w 3586006"/>
              <a:gd name="connsiteY11" fmla="*/ 287348 h 5172075"/>
              <a:gd name="connsiteX12" fmla="*/ 875521 w 3586006"/>
              <a:gd name="connsiteY12" fmla="*/ 220246 h 5172075"/>
              <a:gd name="connsiteX13" fmla="*/ 536151 w 3586006"/>
              <a:gd name="connsiteY13" fmla="*/ 220246 h 5172075"/>
              <a:gd name="connsiteX14" fmla="*/ 225972 w 3586006"/>
              <a:gd name="connsiteY14" fmla="*/ 530426 h 5172075"/>
              <a:gd name="connsiteX15" fmla="*/ 225972 w 3586006"/>
              <a:gd name="connsiteY15" fmla="*/ 5172075 h 5172075"/>
              <a:gd name="connsiteX16" fmla="*/ 0 w 3586006"/>
              <a:gd name="connsiteY16" fmla="*/ 5172075 h 517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86006" h="5172075">
                <a:moveTo>
                  <a:pt x="0" y="0"/>
                </a:moveTo>
                <a:lnTo>
                  <a:pt x="3586006" y="0"/>
                </a:lnTo>
                <a:lnTo>
                  <a:pt x="3586006" y="5172075"/>
                </a:lnTo>
                <a:lnTo>
                  <a:pt x="3371049" y="5172075"/>
                </a:lnTo>
                <a:lnTo>
                  <a:pt x="3371049" y="530426"/>
                </a:lnTo>
                <a:cubicBezTo>
                  <a:pt x="3371049" y="529978"/>
                  <a:pt x="3371049" y="529530"/>
                  <a:pt x="3371049" y="529082"/>
                </a:cubicBezTo>
                <a:cubicBezTo>
                  <a:pt x="3370378" y="357775"/>
                  <a:pt x="3230804" y="219505"/>
                  <a:pt x="3059526" y="220246"/>
                </a:cubicBezTo>
                <a:lnTo>
                  <a:pt x="2720493" y="220246"/>
                </a:lnTo>
                <a:cubicBezTo>
                  <a:pt x="2683420" y="220246"/>
                  <a:pt x="2653390" y="250290"/>
                  <a:pt x="2653390" y="287348"/>
                </a:cubicBezTo>
                <a:cubicBezTo>
                  <a:pt x="2653390" y="385280"/>
                  <a:pt x="2574043" y="464667"/>
                  <a:pt x="2476072" y="464667"/>
                </a:cubicBezTo>
                <a:lnTo>
                  <a:pt x="1119941" y="464667"/>
                </a:lnTo>
                <a:cubicBezTo>
                  <a:pt x="1021970" y="464667"/>
                  <a:pt x="942622" y="385280"/>
                  <a:pt x="942622" y="287348"/>
                </a:cubicBezTo>
                <a:cubicBezTo>
                  <a:pt x="942622" y="250290"/>
                  <a:pt x="912595" y="220246"/>
                  <a:pt x="875521" y="220246"/>
                </a:cubicBezTo>
                <a:lnTo>
                  <a:pt x="536151" y="220246"/>
                </a:lnTo>
                <a:cubicBezTo>
                  <a:pt x="364876" y="220246"/>
                  <a:pt x="225972" y="359119"/>
                  <a:pt x="225972" y="530426"/>
                </a:cubicBezTo>
                <a:lnTo>
                  <a:pt x="225972" y="5172075"/>
                </a:lnTo>
                <a:lnTo>
                  <a:pt x="0" y="5172075"/>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35598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5580BB61-9CE3-3810-BBD8-D25FD90F4543}"/>
              </a:ext>
            </a:extLst>
          </p:cNvPr>
          <p:cNvSpPr/>
          <p:nvPr/>
        </p:nvSpPr>
        <p:spPr>
          <a:xfrm rot="7182188">
            <a:off x="6117952" y="3914670"/>
            <a:ext cx="7463466" cy="3899264"/>
          </a:xfrm>
          <a:custGeom>
            <a:avLst/>
            <a:gdLst>
              <a:gd name="connsiteX0" fmla="*/ 0 w 8824686"/>
              <a:gd name="connsiteY0" fmla="*/ 0 h 5132278"/>
              <a:gd name="connsiteX1" fmla="*/ 1959429 w 8824686"/>
              <a:gd name="connsiteY1" fmla="*/ 1698171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339772 w 8824686"/>
              <a:gd name="connsiteY2" fmla="*/ 1727200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8824686"/>
              <a:gd name="connsiteY0" fmla="*/ 0 h 5132278"/>
              <a:gd name="connsiteX1" fmla="*/ 1915886 w 8824686"/>
              <a:gd name="connsiteY1" fmla="*/ 1567543 h 5132278"/>
              <a:gd name="connsiteX2" fmla="*/ 4833258 w 8824686"/>
              <a:gd name="connsiteY2" fmla="*/ 2090057 h 5132278"/>
              <a:gd name="connsiteX3" fmla="*/ 6560457 w 8824686"/>
              <a:gd name="connsiteY3" fmla="*/ 4688114 h 5132278"/>
              <a:gd name="connsiteX4" fmla="*/ 8824686 w 8824686"/>
              <a:gd name="connsiteY4" fmla="*/ 5123543 h 5132278"/>
              <a:gd name="connsiteX0" fmla="*/ 0 w 9581246"/>
              <a:gd name="connsiteY0" fmla="*/ 0 h 4856962"/>
              <a:gd name="connsiteX1" fmla="*/ 1915886 w 9581246"/>
              <a:gd name="connsiteY1" fmla="*/ 1567543 h 4856962"/>
              <a:gd name="connsiteX2" fmla="*/ 4833258 w 9581246"/>
              <a:gd name="connsiteY2" fmla="*/ 2090057 h 4856962"/>
              <a:gd name="connsiteX3" fmla="*/ 6560457 w 9581246"/>
              <a:gd name="connsiteY3" fmla="*/ 4688114 h 4856962"/>
              <a:gd name="connsiteX4" fmla="*/ 9581246 w 9581246"/>
              <a:gd name="connsiteY4" fmla="*/ 4224398 h 4856962"/>
              <a:gd name="connsiteX0" fmla="*/ 0 w 9883460"/>
              <a:gd name="connsiteY0" fmla="*/ 0 h 4864027"/>
              <a:gd name="connsiteX1" fmla="*/ 1915886 w 9883460"/>
              <a:gd name="connsiteY1" fmla="*/ 1567543 h 4864027"/>
              <a:gd name="connsiteX2" fmla="*/ 4833258 w 9883460"/>
              <a:gd name="connsiteY2" fmla="*/ 2090057 h 4864027"/>
              <a:gd name="connsiteX3" fmla="*/ 6560457 w 9883460"/>
              <a:gd name="connsiteY3" fmla="*/ 4688114 h 4864027"/>
              <a:gd name="connsiteX4" fmla="*/ 9883459 w 9883460"/>
              <a:gd name="connsiteY4" fmla="*/ 4281879 h 4864027"/>
              <a:gd name="connsiteX0" fmla="*/ 0 w 9883459"/>
              <a:gd name="connsiteY0" fmla="*/ 0 h 5049635"/>
              <a:gd name="connsiteX1" fmla="*/ 1915886 w 9883459"/>
              <a:gd name="connsiteY1" fmla="*/ 1567543 h 5049635"/>
              <a:gd name="connsiteX2" fmla="*/ 4833258 w 9883459"/>
              <a:gd name="connsiteY2" fmla="*/ 2090057 h 5049635"/>
              <a:gd name="connsiteX3" fmla="*/ 6560457 w 9883459"/>
              <a:gd name="connsiteY3" fmla="*/ 4688114 h 5049635"/>
              <a:gd name="connsiteX4" fmla="*/ 9883459 w 9883459"/>
              <a:gd name="connsiteY4" fmla="*/ 4281879 h 5049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3459" h="5049635">
                <a:moveTo>
                  <a:pt x="0" y="0"/>
                </a:moveTo>
                <a:cubicBezTo>
                  <a:pt x="618067" y="705152"/>
                  <a:pt x="1110343" y="1219200"/>
                  <a:pt x="1915886" y="1567543"/>
                </a:cubicBezTo>
                <a:cubicBezTo>
                  <a:pt x="2721429" y="1915886"/>
                  <a:pt x="3870477" y="1294191"/>
                  <a:pt x="4833258" y="2090057"/>
                </a:cubicBezTo>
                <a:cubicBezTo>
                  <a:pt x="5796039" y="2885923"/>
                  <a:pt x="5812971" y="4122057"/>
                  <a:pt x="6560457" y="4688114"/>
                </a:cubicBezTo>
                <a:cubicBezTo>
                  <a:pt x="7307943" y="5254171"/>
                  <a:pt x="8967873" y="5182272"/>
                  <a:pt x="9883459" y="4281879"/>
                </a:cubicBezTo>
              </a:path>
            </a:pathLst>
          </a:custGeom>
          <a:noFill/>
          <a:ln w="762000">
            <a:gradFill flip="none" rotWithShape="1">
              <a:gsLst>
                <a:gs pos="0">
                  <a:schemeClr val="accent1"/>
                </a:gs>
                <a:gs pos="100000">
                  <a:schemeClr val="accent2"/>
                </a:gs>
              </a:gsLst>
              <a:lin ang="16200000" scaled="1"/>
              <a:tileRect/>
            </a:grad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AF9D129-0257-C552-EB28-81D898A2BE34}"/>
              </a:ext>
            </a:extLst>
          </p:cNvPr>
          <p:cNvSpPr txBox="1"/>
          <p:nvPr/>
        </p:nvSpPr>
        <p:spPr>
          <a:xfrm>
            <a:off x="1792565" y="4457197"/>
            <a:ext cx="4092307" cy="769441"/>
          </a:xfrm>
          <a:prstGeom prst="rect">
            <a:avLst/>
          </a:prstGeom>
          <a:noFill/>
        </p:spPr>
        <p:txBody>
          <a:bodyPr wrap="square" rtlCol="0">
            <a:spAutoFit/>
          </a:bodyPr>
          <a:lstStyle/>
          <a:p>
            <a:r>
              <a:rPr lang="en-US" sz="4400">
                <a:solidFill>
                  <a:schemeClr val="tx2"/>
                </a:solidFill>
                <a:latin typeface="Space Grotesk Medium" pitchFamily="2" charset="0"/>
                <a:sym typeface="Manrope"/>
              </a:rPr>
              <a:t>Get In Touch</a:t>
            </a:r>
          </a:p>
        </p:txBody>
      </p:sp>
      <p:sp>
        <p:nvSpPr>
          <p:cNvPr id="12" name="TextBox 11">
            <a:extLst>
              <a:ext uri="{FF2B5EF4-FFF2-40B4-BE49-F238E27FC236}">
                <a16:creationId xmlns:a16="http://schemas.microsoft.com/office/drawing/2014/main" id="{AE12CA6B-B6CC-351C-2D15-C45D9D9D920B}"/>
              </a:ext>
            </a:extLst>
          </p:cNvPr>
          <p:cNvSpPr txBox="1"/>
          <p:nvPr/>
        </p:nvSpPr>
        <p:spPr>
          <a:xfrm>
            <a:off x="1792566" y="4164809"/>
            <a:ext cx="1032655" cy="292388"/>
          </a:xfrm>
          <a:prstGeom prst="rect">
            <a:avLst/>
          </a:prstGeom>
          <a:noFill/>
        </p:spPr>
        <p:txBody>
          <a:bodyPr wrap="none" rtlCol="0">
            <a:spAutoFit/>
          </a:bodyPr>
          <a:lstStyle/>
          <a:p>
            <a:pPr lvl="0" indent="0">
              <a:spcBef>
                <a:spcPts val="0"/>
              </a:spcBef>
              <a:spcAft>
                <a:spcPts val="0"/>
              </a:spcAft>
              <a:buNone/>
            </a:pPr>
            <a:r>
              <a:rPr lang="en-US" sz="1300">
                <a:solidFill>
                  <a:schemeClr val="tx2"/>
                </a:solidFill>
                <a:latin typeface="Figtree Medium" pitchFamily="2" charset="0"/>
                <a:sym typeface="Manrope"/>
              </a:rPr>
              <a:t>Contact Us</a:t>
            </a:r>
          </a:p>
        </p:txBody>
      </p:sp>
      <p:sp>
        <p:nvSpPr>
          <p:cNvPr id="3" name="Picture Placeholder 2">
            <a:extLst>
              <a:ext uri="{FF2B5EF4-FFF2-40B4-BE49-F238E27FC236}">
                <a16:creationId xmlns:a16="http://schemas.microsoft.com/office/drawing/2014/main" id="{10684F51-4FB8-2E10-7B20-4800AFAD15FB}"/>
              </a:ext>
            </a:extLst>
          </p:cNvPr>
          <p:cNvSpPr>
            <a:spLocks noGrp="1"/>
          </p:cNvSpPr>
          <p:nvPr>
            <p:ph type="pic" sz="quarter" idx="10"/>
          </p:nvPr>
        </p:nvSpPr>
        <p:spPr/>
        <p:txBody>
          <a:bodyPr/>
          <a:lstStyle/>
          <a:p>
            <a:endParaRPr lang="en-US"/>
          </a:p>
        </p:txBody>
      </p:sp>
      <p:sp>
        <p:nvSpPr>
          <p:cNvPr id="11" name="Rectangle: Rounded Corners 10">
            <a:extLst>
              <a:ext uri="{FF2B5EF4-FFF2-40B4-BE49-F238E27FC236}">
                <a16:creationId xmlns:a16="http://schemas.microsoft.com/office/drawing/2014/main" id="{FD6FAA91-176F-A5D4-E820-ED5935752C5D}"/>
              </a:ext>
            </a:extLst>
          </p:cNvPr>
          <p:cNvSpPr/>
          <p:nvPr/>
        </p:nvSpPr>
        <p:spPr>
          <a:xfrm>
            <a:off x="7342357" y="2216219"/>
            <a:ext cx="3057079" cy="3345171"/>
          </a:xfrm>
          <a:prstGeom prst="roundRect">
            <a:avLst>
              <a:gd name="adj" fmla="val 6131"/>
            </a:avLst>
          </a:prstGeom>
          <a:solidFill>
            <a:schemeClr val="bg2"/>
          </a:solidFill>
          <a:ln w="12700" cap="flat">
            <a:gradFill flip="none" rotWithShape="1">
              <a:gsLst>
                <a:gs pos="0">
                  <a:schemeClr val="accent1">
                    <a:alpha val="60000"/>
                  </a:schemeClr>
                </a:gs>
                <a:gs pos="35000">
                  <a:schemeClr val="accent1">
                    <a:alpha val="0"/>
                  </a:schemeClr>
                </a:gs>
                <a:gs pos="100000">
                  <a:schemeClr val="accent1">
                    <a:alpha val="0"/>
                  </a:schemeClr>
                </a:gs>
                <a:gs pos="69000">
                  <a:schemeClr val="accent1">
                    <a:alpha val="60000"/>
                  </a:schemeClr>
                </a:gs>
              </a:gsLst>
              <a:lin ang="2700000" scaled="1"/>
              <a:tileRect/>
            </a:gradFill>
            <a:prstDash val="solid"/>
            <a:miter/>
          </a:ln>
          <a:effectLst>
            <a:outerShdw blurRad="381000" dist="190500" dir="5400000" algn="t" rotWithShape="0">
              <a:schemeClr val="accent1">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Box 20">
            <a:extLst>
              <a:ext uri="{FF2B5EF4-FFF2-40B4-BE49-F238E27FC236}">
                <a16:creationId xmlns:a16="http://schemas.microsoft.com/office/drawing/2014/main" id="{82E27AC9-9C4E-14C7-60B6-2059242B4968}"/>
              </a:ext>
            </a:extLst>
          </p:cNvPr>
          <p:cNvSpPr txBox="1"/>
          <p:nvPr/>
        </p:nvSpPr>
        <p:spPr>
          <a:xfrm>
            <a:off x="8268136" y="3341416"/>
            <a:ext cx="1674497" cy="292388"/>
          </a:xfrm>
          <a:prstGeom prst="rect">
            <a:avLst/>
          </a:prstGeom>
          <a:noFill/>
        </p:spPr>
        <p:txBody>
          <a:bodyPr wrap="square" rtlCol="0">
            <a:spAutoFit/>
          </a:bodyPr>
          <a:lstStyle>
            <a:defPPr>
              <a:defRPr lang="en-US"/>
            </a:defPPr>
            <a:lvl1pPr>
              <a:defRPr sz="1300">
                <a:solidFill>
                  <a:schemeClr val="tx2"/>
                </a:solidFill>
                <a:latin typeface="DM Sans" pitchFamily="2" charset="0"/>
              </a:defRPr>
            </a:lvl1pPr>
          </a:lstStyle>
          <a:p>
            <a:r>
              <a:rPr lang="en" b="1">
                <a:latin typeface="Figtree" pitchFamily="2" charset="0"/>
              </a:rPr>
              <a:t>(403) 555-0120</a:t>
            </a:r>
            <a:endParaRPr lang="en-US" b="1">
              <a:latin typeface="Figtree" pitchFamily="2" charset="0"/>
            </a:endParaRPr>
          </a:p>
        </p:txBody>
      </p:sp>
      <p:pic>
        <p:nvPicPr>
          <p:cNvPr id="22" name="Graphic 21">
            <a:extLst>
              <a:ext uri="{FF2B5EF4-FFF2-40B4-BE49-F238E27FC236}">
                <a16:creationId xmlns:a16="http://schemas.microsoft.com/office/drawing/2014/main" id="{E62E53E1-AE38-1C7E-DB7B-E67721A3E32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35234" y="3350450"/>
            <a:ext cx="274320" cy="274320"/>
          </a:xfrm>
          <a:prstGeom prst="rect">
            <a:avLst/>
          </a:prstGeom>
        </p:spPr>
      </p:pic>
      <p:sp>
        <p:nvSpPr>
          <p:cNvPr id="23" name="TextBox 22">
            <a:extLst>
              <a:ext uri="{FF2B5EF4-FFF2-40B4-BE49-F238E27FC236}">
                <a16:creationId xmlns:a16="http://schemas.microsoft.com/office/drawing/2014/main" id="{F21D5483-CFFA-78D8-571A-5E3A640AD756}"/>
              </a:ext>
            </a:extLst>
          </p:cNvPr>
          <p:cNvSpPr txBox="1"/>
          <p:nvPr/>
        </p:nvSpPr>
        <p:spPr>
          <a:xfrm>
            <a:off x="8268137" y="3964800"/>
            <a:ext cx="1674496" cy="292388"/>
          </a:xfrm>
          <a:prstGeom prst="rect">
            <a:avLst/>
          </a:prstGeom>
          <a:noFill/>
        </p:spPr>
        <p:txBody>
          <a:bodyPr wrap="square" rtlCol="0">
            <a:spAutoFit/>
          </a:bodyPr>
          <a:lstStyle>
            <a:defPPr>
              <a:defRPr lang="en-US"/>
            </a:defPPr>
            <a:lvl1pPr>
              <a:defRPr sz="1300">
                <a:solidFill>
                  <a:schemeClr val="tx2"/>
                </a:solidFill>
                <a:latin typeface="DM Sans" pitchFamily="2" charset="0"/>
              </a:defRPr>
            </a:lvl1pPr>
          </a:lstStyle>
          <a:p>
            <a:pPr>
              <a:spcBef>
                <a:spcPts val="0"/>
              </a:spcBef>
              <a:spcAft>
                <a:spcPts val="0"/>
              </a:spcAft>
            </a:pPr>
            <a:r>
              <a:rPr lang="en-US" b="1">
                <a:latin typeface="Figtree" pitchFamily="2" charset="0"/>
              </a:rPr>
              <a:t>alex@future.com</a:t>
            </a:r>
          </a:p>
        </p:txBody>
      </p:sp>
      <p:pic>
        <p:nvPicPr>
          <p:cNvPr id="24" name="Graphic 23">
            <a:extLst>
              <a:ext uri="{FF2B5EF4-FFF2-40B4-BE49-F238E27FC236}">
                <a16:creationId xmlns:a16="http://schemas.microsoft.com/office/drawing/2014/main" id="{CBF12E3E-37F8-F63C-7D15-062834E994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5234" y="3973834"/>
            <a:ext cx="274320" cy="274320"/>
          </a:xfrm>
          <a:prstGeom prst="rect">
            <a:avLst/>
          </a:prstGeom>
        </p:spPr>
      </p:pic>
      <p:sp>
        <p:nvSpPr>
          <p:cNvPr id="25" name="TextBox 24">
            <a:extLst>
              <a:ext uri="{FF2B5EF4-FFF2-40B4-BE49-F238E27FC236}">
                <a16:creationId xmlns:a16="http://schemas.microsoft.com/office/drawing/2014/main" id="{57D744F0-216D-296C-62AF-261864FA456D}"/>
              </a:ext>
            </a:extLst>
          </p:cNvPr>
          <p:cNvSpPr txBox="1"/>
          <p:nvPr/>
        </p:nvSpPr>
        <p:spPr>
          <a:xfrm>
            <a:off x="8268136" y="4588185"/>
            <a:ext cx="1900295" cy="492443"/>
          </a:xfrm>
          <a:prstGeom prst="rect">
            <a:avLst/>
          </a:prstGeom>
          <a:noFill/>
        </p:spPr>
        <p:txBody>
          <a:bodyPr wrap="square" rtlCol="0">
            <a:spAutoFit/>
          </a:bodyPr>
          <a:lstStyle>
            <a:defPPr>
              <a:defRPr lang="en-US"/>
            </a:defPPr>
            <a:lvl1pPr>
              <a:defRPr sz="1300">
                <a:solidFill>
                  <a:schemeClr val="tx2"/>
                </a:solidFill>
                <a:latin typeface="DM Sans" pitchFamily="2" charset="0"/>
              </a:defRPr>
            </a:lvl1pPr>
          </a:lstStyle>
          <a:p>
            <a:r>
              <a:rPr lang="en" b="1">
                <a:latin typeface="Figtree" pitchFamily="2" charset="0"/>
              </a:rPr>
              <a:t>1901 Thornridge Cir. Shiloh, Hawaii 81063</a:t>
            </a:r>
            <a:endParaRPr lang="en-US" b="1">
              <a:latin typeface="Figtree" pitchFamily="2" charset="0"/>
            </a:endParaRPr>
          </a:p>
        </p:txBody>
      </p:sp>
      <p:pic>
        <p:nvPicPr>
          <p:cNvPr id="26" name="Graphic 25">
            <a:extLst>
              <a:ext uri="{FF2B5EF4-FFF2-40B4-BE49-F238E27FC236}">
                <a16:creationId xmlns:a16="http://schemas.microsoft.com/office/drawing/2014/main" id="{0C05E1BF-B344-ADAC-569E-79F2E2D6E9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35234" y="4601756"/>
            <a:ext cx="274320" cy="274320"/>
          </a:xfrm>
          <a:prstGeom prst="rect">
            <a:avLst/>
          </a:prstGeom>
        </p:spPr>
      </p:pic>
      <p:sp>
        <p:nvSpPr>
          <p:cNvPr id="27" name="TextBox 26">
            <a:extLst>
              <a:ext uri="{FF2B5EF4-FFF2-40B4-BE49-F238E27FC236}">
                <a16:creationId xmlns:a16="http://schemas.microsoft.com/office/drawing/2014/main" id="{C51FE5F7-7205-7187-C4E2-66F57704B7BA}"/>
              </a:ext>
            </a:extLst>
          </p:cNvPr>
          <p:cNvSpPr txBox="1"/>
          <p:nvPr/>
        </p:nvSpPr>
        <p:spPr>
          <a:xfrm>
            <a:off x="8268136" y="2718032"/>
            <a:ext cx="1900295" cy="292388"/>
          </a:xfrm>
          <a:prstGeom prst="rect">
            <a:avLst/>
          </a:prstGeom>
          <a:noFill/>
        </p:spPr>
        <p:txBody>
          <a:bodyPr wrap="square" rtlCol="0">
            <a:spAutoFit/>
          </a:bodyPr>
          <a:lstStyle/>
          <a:p>
            <a:r>
              <a:rPr lang="en-US" sz="1300" b="1">
                <a:solidFill>
                  <a:schemeClr val="tx2"/>
                </a:solidFill>
                <a:latin typeface="Figtree" pitchFamily="2" charset="0"/>
              </a:rPr>
              <a:t>Alexander Reed</a:t>
            </a:r>
          </a:p>
        </p:txBody>
      </p:sp>
      <p:pic>
        <p:nvPicPr>
          <p:cNvPr id="28" name="Graphic 27">
            <a:extLst>
              <a:ext uri="{FF2B5EF4-FFF2-40B4-BE49-F238E27FC236}">
                <a16:creationId xmlns:a16="http://schemas.microsoft.com/office/drawing/2014/main" id="{C14B1E99-79C0-2B2D-EEA7-7F3E984864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35234" y="2718032"/>
            <a:ext cx="263637" cy="274320"/>
          </a:xfrm>
          <a:prstGeom prst="rect">
            <a:avLst/>
          </a:prstGeom>
        </p:spPr>
      </p:pic>
    </p:spTree>
    <p:extLst>
      <p:ext uri="{BB962C8B-B14F-4D97-AF65-F5344CB8AC3E}">
        <p14:creationId xmlns:p14="http://schemas.microsoft.com/office/powerpoint/2010/main" val="20556978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23.0.8116"/>
  <p:tag name="SLIDO_PRESENTATION_ID" val="cc2f1419-a96a-46e5-a769-9812b5de7f1e"/>
  <p:tag name="SLIDO_EVENT_UUID" val="7e25e46a-97a7-42d8-a12a-11997e8bbbb4"/>
  <p:tag name="SLIDO_EVENT_SECTION_UUID" val="71ff5249-bcf8-4a05-b3c2-e1dd76479676"/>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ODk1NTA5OTR9"/>
  <p:tag name="SLIDO_TYPE" val="SlidoJoining"/>
  <p:tag name="SLIDO_KEEP_POLL_ACTIVE" val="false"/>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Join"/>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ags/tag6.xml><?xml version="1.0" encoding="utf-8"?>
<p:tagLst xmlns:a="http://schemas.openxmlformats.org/drawingml/2006/main" xmlns:r="http://schemas.openxmlformats.org/officeDocument/2006/relationships" xmlns:p="http://schemas.openxmlformats.org/presentationml/2006/main">
  <p:tag name="SLIDO_ELEMENT" val="corner"/>
</p:tagLst>
</file>

<file path=ppt/tags/tag7.xml><?xml version="1.0" encoding="utf-8"?>
<p:tagLst xmlns:a="http://schemas.openxmlformats.org/drawingml/2006/main" xmlns:r="http://schemas.openxmlformats.org/officeDocument/2006/relationships" xmlns:p="http://schemas.openxmlformats.org/presentationml/2006/main">
  <p:tag name="SLIDO_METADATA" val="eyJUaW1lc3RhbXAiOjE3ODk1NDkxOTF9"/>
  <p:tag name="SLIDO_TYPE" val="SlidoPoll"/>
  <p:tag name="SLIDO_POLL_UUID" val="4884a4e1-04ba-4b87-9dff-644c705ab46b"/>
  <p:tag name="SLIDO_KEEP_POLL_ACTIVE" val="false"/>
  <p:tag name="SLIDO_TIMELINE" val="W3sicG9sbFF1ZXN0aW9uVXVpZCI6ImYzMGFmMjFlLTFmNzgtNGNmMS1iY2M3LTRmNGI5Yjg5ZDM3NSIsInNob3dSZXN1bHRzIjp0cnVlLCJzaG93Q29ycmVjdEFuc3dlcnMiOmZhbHNlLCJ2b3RpbmdMb2NrZWQiOmZhbHNlfV0="/>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1.xml><?xml version="1.0" encoding="utf-8"?>
<p:tagLst xmlns:a="http://schemas.openxmlformats.org/drawingml/2006/main" xmlns:r="http://schemas.openxmlformats.org/officeDocument/2006/relationships" xmlns:p="http://schemas.openxmlformats.org/presentationml/2006/main">
  <p:tag name="SLIDO_ELEMENT" val="title"/>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ags/tag1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5.xml><?xml version="1.0" encoding="utf-8"?>
<p:tagLst xmlns:a="http://schemas.openxmlformats.org/drawingml/2006/main" xmlns:r="http://schemas.openxmlformats.org/officeDocument/2006/relationships" xmlns:p="http://schemas.openxmlformats.org/presentationml/2006/main">
  <p:tag name="SLIDO_ELEMENT" val="title"/>
</p:tagLst>
</file>

<file path=ppt/tags/tag1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7.xml><?xml version="1.0" encoding="utf-8"?>
<p:tagLst xmlns:a="http://schemas.openxmlformats.org/drawingml/2006/main" xmlns:r="http://schemas.openxmlformats.org/officeDocument/2006/relationships" xmlns:p="http://schemas.openxmlformats.org/presentationml/2006/main">
  <p:tag name="SLIDO_ELEMENT" val="title"/>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ags/tag2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1.xml><?xml version="1.0" encoding="utf-8"?>
<p:tagLst xmlns:a="http://schemas.openxmlformats.org/drawingml/2006/main" xmlns:r="http://schemas.openxmlformats.org/officeDocument/2006/relationships" xmlns:p="http://schemas.openxmlformats.org/presentationml/2006/main">
  <p:tag name="SLIDO_ELEMENT" val="title"/>
</p:tagLst>
</file>

<file path=ppt/tags/tag2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3.xml><?xml version="1.0" encoding="utf-8"?>
<p:tagLst xmlns:a="http://schemas.openxmlformats.org/drawingml/2006/main" xmlns:r="http://schemas.openxmlformats.org/officeDocument/2006/relationships" xmlns:p="http://schemas.openxmlformats.org/presentationml/2006/main">
  <p:tag name="SLIDO_ELEMENT" val="title"/>
</p:tagLst>
</file>

<file path=ppt/tags/tag2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5.xml><?xml version="1.0" encoding="utf-8"?>
<p:tagLst xmlns:a="http://schemas.openxmlformats.org/drawingml/2006/main" xmlns:r="http://schemas.openxmlformats.org/officeDocument/2006/relationships" xmlns:p="http://schemas.openxmlformats.org/presentationml/2006/main">
  <p:tag name="SLIDO_ELEMENT" val="title"/>
</p:tagLst>
</file>

<file path=ppt/tags/tag2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7.xml><?xml version="1.0" encoding="utf-8"?>
<p:tagLst xmlns:a="http://schemas.openxmlformats.org/drawingml/2006/main" xmlns:r="http://schemas.openxmlformats.org/officeDocument/2006/relationships" xmlns:p="http://schemas.openxmlformats.org/presentationml/2006/main">
  <p:tag name="SLIDO_ELEMENT" val="title"/>
</p:tagLst>
</file>

<file path=ppt/tags/tag2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9.xml><?xml version="1.0" encoding="utf-8"?>
<p:tagLst xmlns:a="http://schemas.openxmlformats.org/drawingml/2006/main" xmlns:r="http://schemas.openxmlformats.org/officeDocument/2006/relationships" xmlns:p="http://schemas.openxmlformats.org/presentationml/2006/main">
  <p:tag name="SLIDO_ELEMENT" val="title"/>
</p:tagLst>
</file>

<file path=ppt/tags/tag3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31.xml><?xml version="1.0" encoding="utf-8"?>
<p:tagLst xmlns:a="http://schemas.openxmlformats.org/drawingml/2006/main" xmlns:r="http://schemas.openxmlformats.org/officeDocument/2006/relationships" xmlns:p="http://schemas.openxmlformats.org/presentationml/2006/main">
  <p:tag name="SLIDO_ELEMENT" val="title"/>
</p:tagLst>
</file>

<file path=ppt/tags/tag3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33.xml><?xml version="1.0" encoding="utf-8"?>
<p:tagLst xmlns:a="http://schemas.openxmlformats.org/drawingml/2006/main" xmlns:r="http://schemas.openxmlformats.org/officeDocument/2006/relationships" xmlns:p="http://schemas.openxmlformats.org/presentationml/2006/main">
  <p:tag name="SLIDO_ELEMENT" val="title"/>
</p:tagLst>
</file>

<file path=ppt/tags/tag3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35.xml><?xml version="1.0" encoding="utf-8"?>
<p:tagLst xmlns:a="http://schemas.openxmlformats.org/drawingml/2006/main" xmlns:r="http://schemas.openxmlformats.org/officeDocument/2006/relationships" xmlns:p="http://schemas.openxmlformats.org/presentationml/2006/main">
  <p:tag name="SLIDO_ELEMENT" val="title"/>
</p:tagLst>
</file>

<file path=ppt/tags/tag3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37.xml><?xml version="1.0" encoding="utf-8"?>
<p:tagLst xmlns:a="http://schemas.openxmlformats.org/drawingml/2006/main" xmlns:r="http://schemas.openxmlformats.org/officeDocument/2006/relationships" xmlns:p="http://schemas.openxmlformats.org/presentationml/2006/main">
  <p:tag name="SLIDO_ELEMENT" val="title"/>
</p:tagLst>
</file>

<file path=ppt/tags/tag3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39.xml><?xml version="1.0" encoding="utf-8"?>
<p:tagLst xmlns:a="http://schemas.openxmlformats.org/drawingml/2006/main" xmlns:r="http://schemas.openxmlformats.org/officeDocument/2006/relationships" xmlns:p="http://schemas.openxmlformats.org/presentationml/2006/main">
  <p:tag name="SLIDO_ELEMENT" val="title"/>
</p:tagLst>
</file>

<file path=ppt/tags/tag4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41.xml><?xml version="1.0" encoding="utf-8"?>
<p:tagLst xmlns:a="http://schemas.openxmlformats.org/drawingml/2006/main" xmlns:r="http://schemas.openxmlformats.org/officeDocument/2006/relationships" xmlns:p="http://schemas.openxmlformats.org/presentationml/2006/main">
  <p:tag name="SLIDO_ELEMENT" val="title"/>
</p:tagLst>
</file>

<file path=ppt/tags/tag4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43.xml><?xml version="1.0" encoding="utf-8"?>
<p:tagLst xmlns:a="http://schemas.openxmlformats.org/drawingml/2006/main" xmlns:r="http://schemas.openxmlformats.org/officeDocument/2006/relationships" xmlns:p="http://schemas.openxmlformats.org/presentationml/2006/main">
  <p:tag name="SLIDO_ELEMENT" val="title"/>
</p:tagLst>
</file>

<file path=ppt/tags/tag4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45.xml><?xml version="1.0" encoding="utf-8"?>
<p:tagLst xmlns:a="http://schemas.openxmlformats.org/drawingml/2006/main" xmlns:r="http://schemas.openxmlformats.org/officeDocument/2006/relationships" xmlns:p="http://schemas.openxmlformats.org/presentationml/2006/main">
  <p:tag name="SLIDO_ELEMENT" val="title"/>
</p:tagLst>
</file>

<file path=ppt/tags/tag4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47.xml><?xml version="1.0" encoding="utf-8"?>
<p:tagLst xmlns:a="http://schemas.openxmlformats.org/drawingml/2006/main" xmlns:r="http://schemas.openxmlformats.org/officeDocument/2006/relationships" xmlns:p="http://schemas.openxmlformats.org/presentationml/2006/main">
  <p:tag name="SLIDO_ELEMENT" val="title"/>
</p:tagLst>
</file>

<file path=ppt/tags/tag4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49.xml><?xml version="1.0" encoding="utf-8"?>
<p:tagLst xmlns:a="http://schemas.openxmlformats.org/drawingml/2006/main" xmlns:r="http://schemas.openxmlformats.org/officeDocument/2006/relationships" xmlns:p="http://schemas.openxmlformats.org/presentationml/2006/main">
  <p:tag name="SLIDO_ELEMENT" val="title"/>
</p:tagLst>
</file>

<file path=ppt/tags/tag5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51.xml><?xml version="1.0" encoding="utf-8"?>
<p:tagLst xmlns:a="http://schemas.openxmlformats.org/drawingml/2006/main" xmlns:r="http://schemas.openxmlformats.org/officeDocument/2006/relationships" xmlns:p="http://schemas.openxmlformats.org/presentationml/2006/main">
  <p:tag name="SLIDO_ELEMENT" val="title"/>
</p:tagLst>
</file>

<file path=ppt/tags/tag5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53.xml><?xml version="1.0" encoding="utf-8"?>
<p:tagLst xmlns:a="http://schemas.openxmlformats.org/drawingml/2006/main" xmlns:r="http://schemas.openxmlformats.org/officeDocument/2006/relationships" xmlns:p="http://schemas.openxmlformats.org/presentationml/2006/main">
  <p:tag name="SLIDO_ELEMENT" val="title"/>
</p:tagLst>
</file>

<file path=ppt/tags/tag5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55.xml><?xml version="1.0" encoding="utf-8"?>
<p:tagLst xmlns:a="http://schemas.openxmlformats.org/drawingml/2006/main" xmlns:r="http://schemas.openxmlformats.org/officeDocument/2006/relationships" xmlns:p="http://schemas.openxmlformats.org/presentationml/2006/main">
  <p:tag name="SLIDO_ELEMENT" val="title"/>
</p:tagLst>
</file>

<file path=ppt/tags/tag5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57.xml><?xml version="1.0" encoding="utf-8"?>
<p:tagLst xmlns:a="http://schemas.openxmlformats.org/drawingml/2006/main" xmlns:r="http://schemas.openxmlformats.org/officeDocument/2006/relationships" xmlns:p="http://schemas.openxmlformats.org/presentationml/2006/main">
  <p:tag name="SLIDO_ELEMENT" val="title"/>
</p:tagLst>
</file>

<file path=ppt/tags/tag5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59.xml><?xml version="1.0" encoding="utf-8"?>
<p:tagLst xmlns:a="http://schemas.openxmlformats.org/drawingml/2006/main" xmlns:r="http://schemas.openxmlformats.org/officeDocument/2006/relationships" xmlns:p="http://schemas.openxmlformats.org/presentationml/2006/main">
  <p:tag name="SLIDO_ELEMENT" val="title"/>
</p:tagLst>
</file>

<file path=ppt/tags/tag6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61.xml><?xml version="1.0" encoding="utf-8"?>
<p:tagLst xmlns:a="http://schemas.openxmlformats.org/drawingml/2006/main" xmlns:r="http://schemas.openxmlformats.org/officeDocument/2006/relationships" xmlns:p="http://schemas.openxmlformats.org/presentationml/2006/main">
  <p:tag name="SLIDO_ELEMENT" val="title"/>
</p:tagLst>
</file>

<file path=ppt/tags/tag6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63.xml><?xml version="1.0" encoding="utf-8"?>
<p:tagLst xmlns:a="http://schemas.openxmlformats.org/drawingml/2006/main" xmlns:r="http://schemas.openxmlformats.org/officeDocument/2006/relationships" xmlns:p="http://schemas.openxmlformats.org/presentationml/2006/main">
  <p:tag name="SLIDO_ELEMENT" val="title"/>
</p:tagLst>
</file>

<file path=ppt/tags/tag6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65.xml><?xml version="1.0" encoding="utf-8"?>
<p:tagLst xmlns:a="http://schemas.openxmlformats.org/drawingml/2006/main" xmlns:r="http://schemas.openxmlformats.org/officeDocument/2006/relationships" xmlns:p="http://schemas.openxmlformats.org/presentationml/2006/main">
  <p:tag name="SLIDO_ELEMENT" val="title"/>
</p:tagLst>
</file>

<file path=ppt/tags/tag6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67.xml><?xml version="1.0" encoding="utf-8"?>
<p:tagLst xmlns:a="http://schemas.openxmlformats.org/drawingml/2006/main" xmlns:r="http://schemas.openxmlformats.org/officeDocument/2006/relationships" xmlns:p="http://schemas.openxmlformats.org/presentationml/2006/main">
  <p:tag name="SLIDO_ELEMENT" val="title"/>
</p:tagLst>
</file>

<file path=ppt/tags/tag6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69.xml><?xml version="1.0" encoding="utf-8"?>
<p:tagLst xmlns:a="http://schemas.openxmlformats.org/drawingml/2006/main" xmlns:r="http://schemas.openxmlformats.org/officeDocument/2006/relationships" xmlns:p="http://schemas.openxmlformats.org/presentationml/2006/main">
  <p:tag name="SLIDO_ELEMENT" val="title"/>
</p:tagLst>
</file>

<file path=ppt/tags/tag70.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Light - Medium Slate Blue">
      <a:dk1>
        <a:sysClr val="windowText" lastClr="000000"/>
      </a:dk1>
      <a:lt1>
        <a:sysClr val="window" lastClr="FFFFFF"/>
      </a:lt1>
      <a:dk2>
        <a:srgbClr val="262935"/>
      </a:dk2>
      <a:lt2>
        <a:srgbClr val="FFFFFF"/>
      </a:lt2>
      <a:accent1>
        <a:srgbClr val="7E71FF"/>
      </a:accent1>
      <a:accent2>
        <a:srgbClr val="EF7FDA"/>
      </a:accent2>
      <a:accent3>
        <a:srgbClr val="FF7D9F"/>
      </a:accent3>
      <a:accent4>
        <a:srgbClr val="FF9966"/>
      </a:accent4>
      <a:accent5>
        <a:srgbClr val="51E0A3"/>
      </a:accent5>
      <a:accent6>
        <a:srgbClr val="51DBF2"/>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Dark - Medium Slate Blue">
      <a:dk1>
        <a:sysClr val="windowText" lastClr="000000"/>
      </a:dk1>
      <a:lt1>
        <a:sysClr val="window" lastClr="FFFFFF"/>
      </a:lt1>
      <a:dk2>
        <a:srgbClr val="FFFFFF"/>
      </a:dk2>
      <a:lt2>
        <a:srgbClr val="262935"/>
      </a:lt2>
      <a:accent1>
        <a:srgbClr val="7E71FF"/>
      </a:accent1>
      <a:accent2>
        <a:srgbClr val="EF7FDA"/>
      </a:accent2>
      <a:accent3>
        <a:srgbClr val="FF7D9F"/>
      </a:accent3>
      <a:accent4>
        <a:srgbClr val="FF9966"/>
      </a:accent4>
      <a:accent5>
        <a:srgbClr val="51E0A3"/>
      </a:accent5>
      <a:accent6>
        <a:srgbClr val="51DBF2"/>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Light - Medium Slate Blue">
      <a:dk1>
        <a:sysClr val="windowText" lastClr="000000"/>
      </a:dk1>
      <a:lt1>
        <a:sysClr val="window" lastClr="FFFFFF"/>
      </a:lt1>
      <a:dk2>
        <a:srgbClr val="262935"/>
      </a:dk2>
      <a:lt2>
        <a:srgbClr val="FFFFFF"/>
      </a:lt2>
      <a:accent1>
        <a:srgbClr val="7E71FF"/>
      </a:accent1>
      <a:accent2>
        <a:srgbClr val="EF7FDA"/>
      </a:accent2>
      <a:accent3>
        <a:srgbClr val="FF7D9F"/>
      </a:accent3>
      <a:accent4>
        <a:srgbClr val="FF9966"/>
      </a:accent4>
      <a:accent5>
        <a:srgbClr val="51E0A3"/>
      </a:accent5>
      <a:accent6>
        <a:srgbClr val="51DBF2"/>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22625</TotalTime>
  <Words>37997</Words>
  <Application>Microsoft Office PowerPoint</Application>
  <PresentationFormat>Grand écran</PresentationFormat>
  <Paragraphs>3882</Paragraphs>
  <Slides>192</Slides>
  <Notes>134</Notes>
  <HiddenSlides>0</HiddenSlides>
  <MMClips>0</MMClips>
  <ScaleCrop>false</ScaleCrop>
  <HeadingPairs>
    <vt:vector size="6" baseType="variant">
      <vt:variant>
        <vt:lpstr>Polices utilisées</vt:lpstr>
      </vt:variant>
      <vt:variant>
        <vt:i4>9</vt:i4>
      </vt:variant>
      <vt:variant>
        <vt:lpstr>Thème</vt:lpstr>
      </vt:variant>
      <vt:variant>
        <vt:i4>3</vt:i4>
      </vt:variant>
      <vt:variant>
        <vt:lpstr>Titres des diapositives</vt:lpstr>
      </vt:variant>
      <vt:variant>
        <vt:i4>192</vt:i4>
      </vt:variant>
    </vt:vector>
  </HeadingPairs>
  <TitlesOfParts>
    <vt:vector size="204" baseType="lpstr">
      <vt:lpstr>Aeroportal</vt:lpstr>
      <vt:lpstr>Arial</vt:lpstr>
      <vt:lpstr>Calibri</vt:lpstr>
      <vt:lpstr>Courier New</vt:lpstr>
      <vt:lpstr>Figtree</vt:lpstr>
      <vt:lpstr>Figtree Medium</vt:lpstr>
      <vt:lpstr>Manrope</vt:lpstr>
      <vt:lpstr>Manrope Medium</vt:lpstr>
      <vt:lpstr>Space Grotesk Medium</vt:lpstr>
      <vt:lpstr>Office Theme</vt:lpstr>
      <vt:lpstr>1_Office Theme</vt:lpstr>
      <vt:lpstr>2_Office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Kreev Studio</dc:creator>
  <cp:lastModifiedBy>Robert Bessoudo</cp:lastModifiedBy>
  <cp:revision>203</cp:revision>
  <dcterms:created xsi:type="dcterms:W3CDTF">2023-07-25T04:42:20Z</dcterms:created>
  <dcterms:modified xsi:type="dcterms:W3CDTF">2026-10-06T12:41:39Z</dcterms:modified>
</cp:coreProperties>
</file>